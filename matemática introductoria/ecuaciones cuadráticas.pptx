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618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8EC3FB-877C-4226-A391-727AB2F87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21A5C4-F80D-4E23-9808-72ADD8AA2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4F7241-0B15-494F-BB23-8B14BFC9E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E1CD-629A-4C28-AD9D-0A073C16302D}" type="datetimeFigureOut">
              <a:rPr lang="es-NI" smtClean="0"/>
              <a:t>26/5/2020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8E8400-7D42-419F-BEB3-79A61AAB3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275292-3C24-4785-91D5-866F23391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7502-9C0D-4122-90EC-194FEB90A57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96274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6CF8F-37E3-4423-9A98-B98E55761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F102D1-E4F4-4BCF-88CC-91CFA180A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C50BE9-7667-490A-8B63-7E14546BA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E1CD-629A-4C28-AD9D-0A073C16302D}" type="datetimeFigureOut">
              <a:rPr lang="es-NI" smtClean="0"/>
              <a:t>26/5/2020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44838E-11E1-4511-A288-6F8F32CB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CBE486-7A39-48AF-AD3C-6A50E0E9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7502-9C0D-4122-90EC-194FEB90A57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5433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45A88-D749-4400-AE07-331E068DB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C96F49-428F-4A43-8E33-EDF6115BB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5E5E3D-CC6A-4AE9-953D-F182C446C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E1CD-629A-4C28-AD9D-0A073C16302D}" type="datetimeFigureOut">
              <a:rPr lang="es-NI" smtClean="0"/>
              <a:t>26/5/2020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5987A1-59A2-42B7-B166-393400376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0662FD-AD7F-4629-ABBA-22BE5525A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7502-9C0D-4122-90EC-194FEB90A57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423886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94A264-05C2-4CCB-9847-A1CC75B0A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9C23F5-0325-44B9-B4A3-0A30DF03D2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6BAA51-93AD-41AF-829E-A9804620A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808804-1D87-472E-AA92-B557629AA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E1CD-629A-4C28-AD9D-0A073C16302D}" type="datetimeFigureOut">
              <a:rPr lang="es-NI" smtClean="0"/>
              <a:t>26/5/2020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5926D8-0F5D-42DE-9BE6-1FC468CAD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B750EB-1749-4778-9A09-AB888AA90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7502-9C0D-4122-90EC-194FEB90A57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291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A24820-9B26-4842-863C-93F290EC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ACA43B-1ECD-4204-BCF9-54F5C21D6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8C61BC-A4DF-4B2B-8503-E10541D6B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974111B-1F3C-44F4-B0CE-BC8FD6CEB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DD6B5A7-2F52-4278-AEA1-F5B754ABE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DEC4DD7-0284-4EC0-9B52-223CEA303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E1CD-629A-4C28-AD9D-0A073C16302D}" type="datetimeFigureOut">
              <a:rPr lang="es-NI" smtClean="0"/>
              <a:t>26/5/2020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4B6DD8A-520D-40B2-A0A8-F5F7BBBEF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2E60769-CACD-48FC-91D5-2380C4CE8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7502-9C0D-4122-90EC-194FEB90A57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8251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784D5-4318-4DA5-9BCF-34BAC038D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2BA0B76-6D8B-4C3B-A54E-C31DA0CAA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E1CD-629A-4C28-AD9D-0A073C16302D}" type="datetimeFigureOut">
              <a:rPr lang="es-NI" smtClean="0"/>
              <a:t>26/5/2020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841A03-61CB-4D9C-B5AA-F99FBE40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78E905-D215-483E-B5D2-8C106BA5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7502-9C0D-4122-90EC-194FEB90A57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386390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FFC6440-02A9-4C07-B4BB-54A9046D4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E1CD-629A-4C28-AD9D-0A073C16302D}" type="datetimeFigureOut">
              <a:rPr lang="es-NI" smtClean="0"/>
              <a:t>26/5/2020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85A4D2D-9B07-4F73-BA62-9CFBADD39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C8B711-7E1A-409B-A825-A479A1D8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7502-9C0D-4122-90EC-194FEB90A57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387008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C488C-DBB7-4410-806B-F27D9D7A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DADED3-9929-49BD-9207-D744F1F8F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8F78E6-C37B-4A14-BCD4-BFF05E0C4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65571F-4581-4C97-A76B-BCA1CA2C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E1CD-629A-4C28-AD9D-0A073C16302D}" type="datetimeFigureOut">
              <a:rPr lang="es-NI" smtClean="0"/>
              <a:t>26/5/2020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7AA88B-A0CE-476E-9908-49A3B893F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A838B6-B8B1-4985-9F88-40ED7E53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7502-9C0D-4122-90EC-194FEB90A57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070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8D6824-1060-4897-B539-096D86B28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E3D86F2-8B3B-4AF7-BA0D-C51940B305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80FD3D-15BC-49EF-9402-59B53B299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FB847C-A2E1-4CE4-A3DD-0A350EC75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E1CD-629A-4C28-AD9D-0A073C16302D}" type="datetimeFigureOut">
              <a:rPr lang="es-NI" smtClean="0"/>
              <a:t>26/5/2020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1C3EF4-656B-49FC-85CE-3B0CE21B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67C598-D5B4-425E-9D76-6B5CD7573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7502-9C0D-4122-90EC-194FEB90A57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635096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B2528-0CFD-4299-BBFE-98B10DDC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C9B4ED-B84A-44A2-A950-E0E02922C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8182ED-3D46-495F-BA7E-6CDEB3654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E1CD-629A-4C28-AD9D-0A073C16302D}" type="datetimeFigureOut">
              <a:rPr lang="es-NI" smtClean="0"/>
              <a:t>26/5/2020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47621D-A41B-4F01-826C-045718893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59371B-7AFD-4DA8-9843-17E2ACE4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7502-9C0D-4122-90EC-194FEB90A57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907143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1628B7-EE13-4D20-8807-859148F04D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09B5B4-9581-42B7-B6A6-C30C77046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E05A40-83E9-47A5-AB4E-C312BE81D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E1CD-629A-4C28-AD9D-0A073C16302D}" type="datetimeFigureOut">
              <a:rPr lang="es-NI" smtClean="0"/>
              <a:t>26/5/2020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3CA6A4-184E-48A9-99FB-C9F10E660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935879-ABDB-47D4-A747-8EF57622E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7502-9C0D-4122-90EC-194FEB90A57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471230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37D9CA3-B4E1-49D3-9A79-C69A8F74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D59D1C-8D1D-4D86-A714-E655C1D97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9863EA-B660-4000-AB57-C2B6FA4A52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8E1CD-629A-4C28-AD9D-0A073C16302D}" type="datetimeFigureOut">
              <a:rPr lang="es-NI" smtClean="0"/>
              <a:t>26/5/2020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4EACDC-5265-4A95-A74D-06C5226CC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EA8C45-BDEF-459B-979A-7F06A92B2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F7502-9C0D-4122-90EC-194FEB90A575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0192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054C7B8-0717-4A27-AA15-D0405361E7E5}"/>
              </a:ext>
            </a:extLst>
          </p:cNvPr>
          <p:cNvSpPr/>
          <p:nvPr/>
        </p:nvSpPr>
        <p:spPr>
          <a:xfrm>
            <a:off x="1135797" y="2732204"/>
            <a:ext cx="9920408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Ecuaciones cuadráticas</a:t>
            </a:r>
          </a:p>
        </p:txBody>
      </p:sp>
    </p:spTree>
    <p:extLst>
      <p:ext uri="{BB962C8B-B14F-4D97-AF65-F5344CB8AC3E}">
        <p14:creationId xmlns:p14="http://schemas.microsoft.com/office/powerpoint/2010/main" val="2416216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054C7B8-0717-4A27-AA15-D0405361E7E5}"/>
              </a:ext>
            </a:extLst>
          </p:cNvPr>
          <p:cNvSpPr/>
          <p:nvPr/>
        </p:nvSpPr>
        <p:spPr>
          <a:xfrm>
            <a:off x="3810118" y="158822"/>
            <a:ext cx="457176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Ecuaciones cuadráticas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0B3A6-E30C-4042-8545-945DF5E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976" y="889843"/>
            <a:ext cx="1167204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Las ecuaciones cuadráticas o ecuaciones de segundo grado son </a:t>
            </a:r>
            <a:r>
              <a:rPr kumimoji="0" lang="es-NI" altLang="es-NI" sz="3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aquellas en donde</a:t>
            </a:r>
            <a:r>
              <a:rPr kumimoji="0" lang="es-NI" altLang="es-NI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 </a:t>
            </a:r>
            <a:r>
              <a:rPr kumimoji="0" lang="es-NI" altLang="es-NI" sz="3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el exponente del término desconocido está elevado al cuadrado</a:t>
            </a:r>
            <a:r>
              <a:rPr kumimoji="0" lang="es-NI" altLang="es-NI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, es decir, la incógnita está elevada al exponente 2. Tienen la forma general de un trinomio:</a:t>
            </a:r>
            <a:endParaRPr kumimoji="0" lang="es-NI" altLang="es-NI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  </a:t>
            </a:r>
            <a:r>
              <a:rPr kumimoji="0" lang="es-NI" altLang="es-NI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                                                  </a:t>
            </a:r>
            <a:endParaRPr kumimoji="0" lang="es-NI" altLang="es-NI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donde </a:t>
            </a:r>
            <a:r>
              <a:rPr kumimoji="0" lang="es-NI" altLang="es-NI" sz="36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a</a:t>
            </a:r>
            <a:r>
              <a:rPr kumimoji="0" lang="es-NI" altLang="es-NI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, </a:t>
            </a:r>
            <a:r>
              <a:rPr kumimoji="0" lang="es-NI" altLang="es-NI" sz="36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b</a:t>
            </a:r>
            <a:r>
              <a:rPr kumimoji="0" lang="es-NI" altLang="es-NI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 y </a:t>
            </a:r>
            <a:r>
              <a:rPr kumimoji="0" lang="es-NI" altLang="es-NI" sz="36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c</a:t>
            </a:r>
            <a:r>
              <a:rPr kumimoji="0" lang="es-NI" altLang="es-NI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 son números reales y se conocen como coeficientes. Así, </a:t>
            </a:r>
            <a:r>
              <a:rPr kumimoji="0" lang="es-NI" altLang="es-NI" sz="36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a</a:t>
            </a:r>
            <a:r>
              <a:rPr kumimoji="0" lang="es-NI" altLang="es-NI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 es el coeficiente de </a:t>
            </a:r>
            <a:r>
              <a:rPr kumimoji="0" lang="es-NI" altLang="es-NI" sz="36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x</a:t>
            </a:r>
            <a:r>
              <a:rPr kumimoji="0" lang="es-NI" altLang="es-NI" sz="3600" b="0" i="0" u="none" strike="noStrike" cap="none" normalizeH="0" baseline="3000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2</a:t>
            </a:r>
            <a:r>
              <a:rPr kumimoji="0" lang="es-NI" altLang="es-NI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, </a:t>
            </a:r>
            <a:r>
              <a:rPr kumimoji="0" lang="es-NI" altLang="es-NI" sz="36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b</a:t>
            </a:r>
            <a:r>
              <a:rPr kumimoji="0" lang="es-NI" altLang="es-NI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 es el término o coeficiente de </a:t>
            </a:r>
            <a:r>
              <a:rPr kumimoji="0" lang="es-NI" altLang="es-NI" sz="36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x</a:t>
            </a:r>
            <a:r>
              <a:rPr kumimoji="0" lang="es-NI" altLang="es-NI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 y </a:t>
            </a:r>
            <a:r>
              <a:rPr kumimoji="0" lang="es-NI" altLang="es-NI" sz="36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c</a:t>
            </a:r>
            <a:r>
              <a:rPr kumimoji="0" lang="es-NI" altLang="es-NI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 es el término independiente.</a:t>
            </a:r>
            <a:endParaRPr kumimoji="0" lang="es-NI" altLang="es-NI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estilo tamaño 14px negrita ax elevado a negrita 2 negrita más negrita bx negrita más negrita c negrita igual negrita 0 fin estilo">
            <a:extLst>
              <a:ext uri="{FF2B5EF4-FFF2-40B4-BE49-F238E27FC236}">
                <a16:creationId xmlns:a16="http://schemas.microsoft.com/office/drawing/2014/main" id="{866A17C2-F141-48B9-984E-038B606F1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954" y="3344309"/>
            <a:ext cx="5633149" cy="71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691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054C7B8-0717-4A27-AA15-D0405361E7E5}"/>
              </a:ext>
            </a:extLst>
          </p:cNvPr>
          <p:cNvSpPr/>
          <p:nvPr/>
        </p:nvSpPr>
        <p:spPr>
          <a:xfrm>
            <a:off x="2946486" y="158822"/>
            <a:ext cx="629903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Tipos de e</a:t>
            </a:r>
            <a:r>
              <a:rPr lang="es-E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cuaciones cuadráticas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D96179D-0765-492D-B7B0-D0E4721D0468}"/>
              </a:ext>
            </a:extLst>
          </p:cNvPr>
          <p:cNvSpPr/>
          <p:nvPr/>
        </p:nvSpPr>
        <p:spPr>
          <a:xfrm>
            <a:off x="582706" y="805153"/>
            <a:ext cx="11026588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200" b="0" i="0" dirty="0">
                <a:solidFill>
                  <a:srgbClr val="404040"/>
                </a:solidFill>
                <a:effectLst/>
                <a:latin typeface="DroidSerif"/>
              </a:rPr>
              <a:t>Las ecuaciones cuadráticas pueden ser completas o incompletas, dependiendo de si existen los términos dependiente de </a:t>
            </a:r>
            <a:r>
              <a:rPr lang="es-ES" sz="3200" b="0" i="1" dirty="0">
                <a:solidFill>
                  <a:srgbClr val="404040"/>
                </a:solidFill>
                <a:effectLst/>
                <a:latin typeface="DroidSerif"/>
              </a:rPr>
              <a:t>x</a:t>
            </a:r>
            <a:r>
              <a:rPr lang="es-ES" sz="3200" b="0" i="0" dirty="0">
                <a:solidFill>
                  <a:srgbClr val="404040"/>
                </a:solidFill>
                <a:effectLst/>
                <a:latin typeface="DroidSerif"/>
              </a:rPr>
              <a:t> (</a:t>
            </a:r>
            <a:r>
              <a:rPr lang="es-ES" sz="3200" b="0" i="1" dirty="0">
                <a:solidFill>
                  <a:srgbClr val="404040"/>
                </a:solidFill>
                <a:effectLst/>
                <a:latin typeface="DroidSerif"/>
              </a:rPr>
              <a:t>b</a:t>
            </a:r>
            <a:r>
              <a:rPr lang="es-ES" sz="3200" b="0" i="0" dirty="0">
                <a:solidFill>
                  <a:srgbClr val="404040"/>
                </a:solidFill>
                <a:effectLst/>
                <a:latin typeface="DroidSerif"/>
              </a:rPr>
              <a:t>) o independiente (</a:t>
            </a:r>
            <a:r>
              <a:rPr lang="es-ES" sz="3200" b="0" i="1" dirty="0">
                <a:solidFill>
                  <a:srgbClr val="404040"/>
                </a:solidFill>
                <a:effectLst/>
                <a:latin typeface="DroidSerif"/>
              </a:rPr>
              <a:t>c</a:t>
            </a:r>
            <a:r>
              <a:rPr lang="es-ES" sz="3200" b="0" i="0" dirty="0">
                <a:solidFill>
                  <a:srgbClr val="404040"/>
                </a:solidFill>
                <a:effectLst/>
                <a:latin typeface="DroidSerif"/>
              </a:rPr>
              <a:t>).</a:t>
            </a:r>
          </a:p>
          <a:p>
            <a:endParaRPr lang="es-ES" sz="3200" b="0" i="0" dirty="0">
              <a:solidFill>
                <a:srgbClr val="404040"/>
              </a:solidFill>
              <a:effectLst/>
              <a:latin typeface="DroidSerif"/>
            </a:endParaRPr>
          </a:p>
          <a:p>
            <a:r>
              <a:rPr lang="es-ES" sz="3200" b="1" i="0" dirty="0">
                <a:solidFill>
                  <a:srgbClr val="404040"/>
                </a:solidFill>
                <a:effectLst/>
                <a:latin typeface="OpenSans"/>
              </a:rPr>
              <a:t>Ecuaciones completas de segundo grado</a:t>
            </a:r>
          </a:p>
          <a:p>
            <a:r>
              <a:rPr lang="es-ES" sz="3200" b="0" i="0" dirty="0">
                <a:solidFill>
                  <a:srgbClr val="404040"/>
                </a:solidFill>
                <a:effectLst/>
                <a:latin typeface="DroidSerif"/>
              </a:rPr>
              <a:t>Las ecuaciones completas de segundo grado tienen la forma </a:t>
            </a:r>
            <a:r>
              <a:rPr lang="es-ES" sz="3200" b="1" i="0" dirty="0">
                <a:solidFill>
                  <a:srgbClr val="404040"/>
                </a:solidFill>
                <a:effectLst/>
                <a:latin typeface="DroidSerif"/>
              </a:rPr>
              <a:t>ax</a:t>
            </a:r>
            <a:r>
              <a:rPr lang="es-ES" sz="3200" b="1" i="0" baseline="30000" dirty="0">
                <a:solidFill>
                  <a:srgbClr val="404040"/>
                </a:solidFill>
                <a:effectLst/>
                <a:latin typeface="DroidSerif"/>
              </a:rPr>
              <a:t>2 </a:t>
            </a:r>
            <a:r>
              <a:rPr lang="es-ES" sz="3200" b="1" i="0" dirty="0">
                <a:solidFill>
                  <a:srgbClr val="404040"/>
                </a:solidFill>
                <a:effectLst/>
                <a:latin typeface="DroidSerif"/>
              </a:rPr>
              <a:t>+ </a:t>
            </a:r>
            <a:r>
              <a:rPr lang="es-ES" sz="3200" b="1" i="0" dirty="0" err="1">
                <a:solidFill>
                  <a:srgbClr val="404040"/>
                </a:solidFill>
                <a:effectLst/>
                <a:latin typeface="DroidSerif"/>
              </a:rPr>
              <a:t>bx</a:t>
            </a:r>
            <a:r>
              <a:rPr lang="es-ES" sz="3200" b="1" i="0" dirty="0">
                <a:solidFill>
                  <a:srgbClr val="404040"/>
                </a:solidFill>
                <a:effectLst/>
                <a:latin typeface="DroidSerif"/>
              </a:rPr>
              <a:t> + c = 0</a:t>
            </a:r>
            <a:r>
              <a:rPr lang="es-ES" sz="3200" b="0" i="0" dirty="0">
                <a:solidFill>
                  <a:srgbClr val="404040"/>
                </a:solidFill>
                <a:effectLst/>
                <a:latin typeface="DroidSerif"/>
              </a:rPr>
              <a:t>, es decir, todos los términos se encuentran presentes; por ejemplo:</a:t>
            </a:r>
          </a:p>
          <a:p>
            <a:endParaRPr lang="es-ES" sz="3200" dirty="0">
              <a:solidFill>
                <a:srgbClr val="404040"/>
              </a:solidFill>
              <a:latin typeface="DroidSerif"/>
            </a:endParaRPr>
          </a:p>
          <a:p>
            <a:endParaRPr lang="es-ES" sz="3200" b="0" i="0" dirty="0">
              <a:solidFill>
                <a:srgbClr val="404040"/>
              </a:solidFill>
              <a:effectLst/>
              <a:latin typeface="DroidSerif"/>
            </a:endParaRPr>
          </a:p>
          <a:p>
            <a:r>
              <a:rPr kumimoji="0" lang="es-NI" altLang="es-NI" sz="3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En este caso </a:t>
            </a:r>
            <a:r>
              <a:rPr kumimoji="0" lang="es-NI" altLang="es-NI" sz="3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a </a:t>
            </a:r>
            <a:r>
              <a:rPr kumimoji="0" lang="es-NI" altLang="es-NI" sz="3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= 2, </a:t>
            </a:r>
            <a:r>
              <a:rPr kumimoji="0" lang="es-NI" altLang="es-NI" sz="3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b </a:t>
            </a:r>
            <a:r>
              <a:rPr kumimoji="0" lang="es-NI" altLang="es-NI" sz="3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= 3 y </a:t>
            </a:r>
            <a:r>
              <a:rPr kumimoji="0" lang="es-NI" altLang="es-NI" sz="3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c </a:t>
            </a:r>
            <a:r>
              <a:rPr kumimoji="0" lang="es-NI" altLang="es-NI" sz="3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= 4.</a:t>
            </a:r>
            <a:endParaRPr kumimoji="0" lang="es-NI" altLang="es-NI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" name="Picture 2" descr="estilo tamaño 14px negrita 2 negrita x elevado a negrita 2 negrita más negrita 3 negrita x negrita más negrita 4 negrita igual negrita 0 fin estilo">
            <a:extLst>
              <a:ext uri="{FF2B5EF4-FFF2-40B4-BE49-F238E27FC236}">
                <a16:creationId xmlns:a16="http://schemas.microsoft.com/office/drawing/2014/main" id="{03B481A7-7AAD-45AD-AB12-3B46831D3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637" y="4666131"/>
            <a:ext cx="5117525" cy="60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8574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054C7B8-0717-4A27-AA15-D0405361E7E5}"/>
              </a:ext>
            </a:extLst>
          </p:cNvPr>
          <p:cNvSpPr/>
          <p:nvPr/>
        </p:nvSpPr>
        <p:spPr>
          <a:xfrm>
            <a:off x="2946486" y="158822"/>
            <a:ext cx="629903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Tipos de e</a:t>
            </a:r>
            <a:r>
              <a:rPr lang="es-E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cuaciones cuadráticas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D3E794-6295-4D24-AEF4-84A6ABF28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624" y="643636"/>
            <a:ext cx="11497235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5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  </a:t>
            </a:r>
            <a:r>
              <a:rPr kumimoji="0" lang="es-NI" altLang="es-NI" sz="3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                                                   </a:t>
            </a:r>
            <a:endParaRPr kumimoji="0" lang="es-NI" altLang="es-NI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3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                                                  </a:t>
            </a:r>
            <a:endParaRPr kumimoji="0" lang="es-NI" altLang="es-NI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5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En este caso </a:t>
            </a:r>
            <a:r>
              <a:rPr kumimoji="0" lang="es-NI" altLang="es-NI" sz="54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a </a:t>
            </a:r>
            <a:r>
              <a:rPr kumimoji="0" lang="es-NI" altLang="es-NI" sz="5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= 1, </a:t>
            </a:r>
            <a:r>
              <a:rPr kumimoji="0" lang="es-NI" altLang="es-NI" sz="54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b </a:t>
            </a:r>
            <a:r>
              <a:rPr kumimoji="0" lang="es-NI" altLang="es-NI" sz="5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= 10 y </a:t>
            </a:r>
            <a:r>
              <a:rPr kumimoji="0" lang="es-NI" altLang="es-NI" sz="54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c </a:t>
            </a:r>
            <a:r>
              <a:rPr kumimoji="0" lang="es-NI" altLang="es-NI" sz="5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= 20, pues el (-20) del lado derecho de la ecuación pasa al lado izquierdo cambiando de signo, así:</a:t>
            </a:r>
            <a:endParaRPr kumimoji="0" lang="es-NI" altLang="es-NI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5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  </a:t>
            </a:r>
            <a:r>
              <a:rPr kumimoji="0" lang="es-NI" altLang="es-NI" sz="3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                                                       </a:t>
            </a:r>
            <a:endParaRPr kumimoji="0" lang="es-NI" altLang="es-NI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1" name="Picture 3" descr="estilo tamaño 14px negrita x elevado a negrita 2 negrita más negrita 10 negrita x negrita igual negrita menos negrita 20 fin estilo">
            <a:extLst>
              <a:ext uri="{FF2B5EF4-FFF2-40B4-BE49-F238E27FC236}">
                <a16:creationId xmlns:a16="http://schemas.microsoft.com/office/drawing/2014/main" id="{59BE0096-5F5A-4ECF-AE2B-032C9678F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39" y="1042220"/>
            <a:ext cx="4140914" cy="495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stilo tamaño 14px negrita x elevado a negrita 2 negrita más negrita 10 negrita x negrita más negrita 20 negrita igual negrita 0 fin estilo">
            <a:extLst>
              <a:ext uri="{FF2B5EF4-FFF2-40B4-BE49-F238E27FC236}">
                <a16:creationId xmlns:a16="http://schemas.microsoft.com/office/drawing/2014/main" id="{18A9091D-7483-4627-BC0C-C16E9E757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540" y="5102125"/>
            <a:ext cx="4988709" cy="54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626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054C7B8-0717-4A27-AA15-D0405361E7E5}"/>
              </a:ext>
            </a:extLst>
          </p:cNvPr>
          <p:cNvSpPr/>
          <p:nvPr/>
        </p:nvSpPr>
        <p:spPr>
          <a:xfrm>
            <a:off x="2946486" y="158822"/>
            <a:ext cx="629903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Tipos de e</a:t>
            </a:r>
            <a:r>
              <a:rPr lang="es-E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cuaciones cuadráticas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D894328-F411-44DA-9F79-46852D9EB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406" y="775602"/>
            <a:ext cx="11255188" cy="24622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32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OpenSans"/>
              </a:rPr>
              <a:t>Ecuaciones incompletas de segundo grado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3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Cuando no existe el coeficiente de </a:t>
            </a:r>
            <a:r>
              <a:rPr kumimoji="0" lang="es-NI" altLang="es-NI" sz="3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x</a:t>
            </a:r>
            <a:r>
              <a:rPr kumimoji="0" lang="es-NI" altLang="es-NI" sz="3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, es decir, el término</a:t>
            </a:r>
            <a:r>
              <a:rPr kumimoji="0" lang="es-NI" altLang="es-NI" sz="3200" b="0" i="1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 b</a:t>
            </a:r>
            <a:r>
              <a:rPr kumimoji="0" lang="es-NI" altLang="es-NI" sz="3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, la ecuación toma la forma:</a:t>
            </a:r>
            <a:endParaRPr kumimoji="0" lang="es-NI" altLang="es-NI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3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  </a:t>
            </a:r>
            <a:r>
              <a:rPr kumimoji="0" lang="es-NI" altLang="es-NI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                                  </a:t>
            </a:r>
            <a:endParaRPr kumimoji="0" lang="es-NI" altLang="es-NI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3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Ejemplos:</a:t>
            </a:r>
            <a:endParaRPr kumimoji="0" lang="es-NI" altLang="es-NI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estilo tamaño 14px negrita ax elevado a negrita 2 negrita más negrita c negrita igual negrita 0 fin estilo">
            <a:extLst>
              <a:ext uri="{FF2B5EF4-FFF2-40B4-BE49-F238E27FC236}">
                <a16:creationId xmlns:a16="http://schemas.microsoft.com/office/drawing/2014/main" id="{C3E21306-FD5C-4379-9CA1-7A19B2179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980" y="2208415"/>
            <a:ext cx="2424707" cy="52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estilo tamaño 14px negrita 27 negrita x elevado a negrita 2 negrita menos negrita 9 negrita igual negrita 0 negrita flecha doble derecha negrita a negrita igual negrita 27 negrita coma negrita espacio negrita c negrita igual negrita menos negrita 9 fin estilo">
            <a:extLst>
              <a:ext uri="{FF2B5EF4-FFF2-40B4-BE49-F238E27FC236}">
                <a16:creationId xmlns:a16="http://schemas.microsoft.com/office/drawing/2014/main" id="{2048DF18-B1C5-414A-BD6D-85BB07834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952" y="3763393"/>
            <a:ext cx="6197592" cy="710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estilo tamaño 14px negrita 12 negrita x elevado a negrita 2 negrita igual negrita menos negrita 6 negrita espacio negrita flecha doble derecha negrita a negrita igual negrita 12 negrita coma negrita espacio negrita c negrita igual negrita 6 fin estilo">
            <a:extLst>
              <a:ext uri="{FF2B5EF4-FFF2-40B4-BE49-F238E27FC236}">
                <a16:creationId xmlns:a16="http://schemas.microsoft.com/office/drawing/2014/main" id="{28FBA52A-4597-4ADE-9894-16D20272A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951" y="4546487"/>
            <a:ext cx="6197593" cy="505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8567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054C7B8-0717-4A27-AA15-D0405361E7E5}"/>
              </a:ext>
            </a:extLst>
          </p:cNvPr>
          <p:cNvSpPr/>
          <p:nvPr/>
        </p:nvSpPr>
        <p:spPr>
          <a:xfrm>
            <a:off x="2946486" y="158822"/>
            <a:ext cx="629903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Tipos de e</a:t>
            </a:r>
            <a:r>
              <a:rPr lang="es-E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cuaciones cuadráticas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1F351D-7F36-48D1-AEB4-4EDDE5EF0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83" y="805153"/>
            <a:ext cx="1156062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3600" b="0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Cuando no existe el término independiente, es decir, el término</a:t>
            </a:r>
            <a:r>
              <a:rPr kumimoji="0" lang="es-NI" altLang="es-NI" sz="3600" b="0" i="1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 c</a:t>
            </a:r>
            <a:r>
              <a:rPr kumimoji="0" lang="es-NI" altLang="es-NI" sz="3600" b="0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, la ecuación tiene la forma:</a:t>
            </a:r>
            <a:endParaRPr kumimoji="0" lang="es-NI" altLang="es-NI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3600" b="0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  </a:t>
            </a:r>
            <a:r>
              <a:rPr kumimoji="0" lang="es-NI" altLang="es-NI" b="0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                                       </a:t>
            </a:r>
            <a:endParaRPr kumimoji="0" lang="es-NI" altLang="es-NI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NI" altLang="es-NI" sz="3600" b="0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DroidSerif"/>
              </a:rPr>
              <a:t>Ejemplos:</a:t>
            </a:r>
            <a:endParaRPr kumimoji="0" lang="es-NI" altLang="es-NI" sz="4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estilo tamaño 14px negrita ax elevado a negrita 2 negrita más negrita bx negrita igual negrita 0 fin estilo">
            <a:extLst>
              <a:ext uri="{FF2B5EF4-FFF2-40B4-BE49-F238E27FC236}">
                <a16:creationId xmlns:a16="http://schemas.microsoft.com/office/drawing/2014/main" id="{91B27C2A-33D8-4DE0-A385-EDEA51E99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5246" y="2108896"/>
            <a:ext cx="2284104" cy="42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estilo tamaño 14px negrita 48 negrita x elevado a negrita 2 negrita más negrita 8 negrita x negrita igual negrita 0 negrita espacio negrita flecha doble derecha negrita a negrita igual negrita 48 negrita coma negrita espacio negrita b negrita igual negrita 8 fin estilo">
            <a:extLst>
              <a:ext uri="{FF2B5EF4-FFF2-40B4-BE49-F238E27FC236}">
                <a16:creationId xmlns:a16="http://schemas.microsoft.com/office/drawing/2014/main" id="{C28C2B34-5683-44EB-B338-E74B264B8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486" y="3274671"/>
            <a:ext cx="6579671" cy="48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estilo tamaño 14px negrita menos negrita 5 negrita x elevado a negrita 2 negrita igual negrita menos negrita 5 negrita x negrita espacio negrita flecha doble derecha negrita a negrita igual negrita menos negrita 5 negrita coma negrita espacio negrita b negrita igual negrita 5 fin estilo">
            <a:extLst>
              <a:ext uri="{FF2B5EF4-FFF2-40B4-BE49-F238E27FC236}">
                <a16:creationId xmlns:a16="http://schemas.microsoft.com/office/drawing/2014/main" id="{5FC486FA-8F11-40CE-9BFC-3BE78622C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486" y="4174652"/>
            <a:ext cx="6549336" cy="48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9297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054C7B8-0717-4A27-AA15-D0405361E7E5}"/>
              </a:ext>
            </a:extLst>
          </p:cNvPr>
          <p:cNvSpPr/>
          <p:nvPr/>
        </p:nvSpPr>
        <p:spPr>
          <a:xfrm>
            <a:off x="2852713" y="158822"/>
            <a:ext cx="648658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Raíces de e</a:t>
            </a:r>
            <a:r>
              <a:rPr lang="es-E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cuaciones cuadráticas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BEF63C5-61AF-4EE7-BCCD-46192B150116}"/>
              </a:ext>
            </a:extLst>
          </p:cNvPr>
          <p:cNvSpPr txBox="1"/>
          <p:nvPr/>
        </p:nvSpPr>
        <p:spPr>
          <a:xfrm>
            <a:off x="391885" y="805153"/>
            <a:ext cx="108421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400" b="1" dirty="0"/>
              <a:t>Factorización</a:t>
            </a:r>
          </a:p>
          <a:p>
            <a:endParaRPr lang="es-NI" sz="2400" dirty="0"/>
          </a:p>
          <a:p>
            <a:r>
              <a:rPr lang="es-NI" sz="2400" dirty="0"/>
              <a:t>Para resolver ax</a:t>
            </a:r>
            <a:r>
              <a:rPr lang="es-NI" sz="2400" baseline="30000" dirty="0"/>
              <a:t>2</a:t>
            </a:r>
            <a:r>
              <a:rPr lang="es-NI" sz="2400" dirty="0"/>
              <a:t>+bx+c=0, se utilizan los casos de factorización convenientes y se despeja la variable aplicando el teorema del factor, esto se aplica siempre y cuando el polinomio sea factorizable en caso contrario no es recomendable perder demasiado tiempo buscando factores que es probable que no puedan existir</a:t>
            </a:r>
          </a:p>
          <a:p>
            <a:endParaRPr lang="es-NI" sz="2400" dirty="0"/>
          </a:p>
          <a:p>
            <a:r>
              <a:rPr lang="es-NI" sz="2400" b="1" dirty="0"/>
              <a:t>Ejemplos</a:t>
            </a:r>
          </a:p>
          <a:p>
            <a:endParaRPr lang="es-NI" sz="2400" b="1" dirty="0"/>
          </a:p>
          <a:p>
            <a:r>
              <a:rPr lang="es-NI" sz="2400" b="1" dirty="0"/>
              <a:t>1. Resolver la ecuación x</a:t>
            </a:r>
            <a:r>
              <a:rPr lang="es-NI" sz="2400" b="1" baseline="30000" dirty="0"/>
              <a:t>2</a:t>
            </a:r>
            <a:r>
              <a:rPr lang="es-NI" sz="2400" b="1" dirty="0"/>
              <a:t>-x-30=0</a:t>
            </a:r>
          </a:p>
        </p:txBody>
      </p:sp>
    </p:spTree>
    <p:extLst>
      <p:ext uri="{BB962C8B-B14F-4D97-AF65-F5344CB8AC3E}">
        <p14:creationId xmlns:p14="http://schemas.microsoft.com/office/powerpoint/2010/main" val="349385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054C7B8-0717-4A27-AA15-D0405361E7E5}"/>
              </a:ext>
            </a:extLst>
          </p:cNvPr>
          <p:cNvSpPr/>
          <p:nvPr/>
        </p:nvSpPr>
        <p:spPr>
          <a:xfrm>
            <a:off x="2852713" y="158822"/>
            <a:ext cx="648658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Raíces de e</a:t>
            </a:r>
            <a:r>
              <a:rPr lang="es-E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cuaciones cuadráticas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BEF63C5-61AF-4EE7-BCCD-46192B150116}"/>
              </a:ext>
            </a:extLst>
          </p:cNvPr>
          <p:cNvSpPr txBox="1"/>
          <p:nvPr/>
        </p:nvSpPr>
        <p:spPr>
          <a:xfrm>
            <a:off x="326571" y="805153"/>
            <a:ext cx="10842171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400" b="1" dirty="0"/>
              <a:t>x</a:t>
            </a:r>
            <a:r>
              <a:rPr lang="es-NI" sz="2400" b="1" baseline="30000" dirty="0"/>
              <a:t>2</a:t>
            </a:r>
            <a:r>
              <a:rPr lang="es-NI" sz="2400" b="1" dirty="0"/>
              <a:t>-x-30=0</a:t>
            </a:r>
          </a:p>
          <a:p>
            <a:endParaRPr lang="es-NI" sz="900" dirty="0"/>
          </a:p>
          <a:p>
            <a:r>
              <a:rPr lang="es-NI" sz="2400" dirty="0"/>
              <a:t>(x-6)(x+5)=0</a:t>
            </a:r>
          </a:p>
          <a:p>
            <a:endParaRPr lang="es-NI" sz="2400" dirty="0"/>
          </a:p>
          <a:p>
            <a:endParaRPr lang="es-NI" sz="2400" dirty="0"/>
          </a:p>
          <a:p>
            <a:r>
              <a:rPr lang="es-NI" sz="2400" b="1" dirty="0"/>
              <a:t>2. Resuelva la ecuación (x-2)</a:t>
            </a:r>
            <a:r>
              <a:rPr lang="es-NI" sz="2400" b="1" baseline="30000" dirty="0"/>
              <a:t>2</a:t>
            </a:r>
            <a:r>
              <a:rPr lang="es-NI" sz="2400" b="1" dirty="0"/>
              <a:t>+(x+1)</a:t>
            </a:r>
            <a:r>
              <a:rPr lang="es-NI" sz="2400" b="1" baseline="30000" dirty="0"/>
              <a:t>2</a:t>
            </a:r>
            <a:r>
              <a:rPr lang="es-NI" sz="2400" b="1" dirty="0"/>
              <a:t>=x+7</a:t>
            </a:r>
          </a:p>
          <a:p>
            <a:endParaRPr lang="es-NI" sz="2400" b="1" dirty="0"/>
          </a:p>
          <a:p>
            <a:r>
              <a:rPr lang="es-NI" sz="2400" dirty="0">
                <a:solidFill>
                  <a:srgbClr val="7030A0"/>
                </a:solidFill>
              </a:rPr>
              <a:t>x</a:t>
            </a:r>
            <a:r>
              <a:rPr lang="es-NI" sz="2400" baseline="30000" dirty="0">
                <a:solidFill>
                  <a:srgbClr val="7030A0"/>
                </a:solidFill>
              </a:rPr>
              <a:t>2</a:t>
            </a:r>
            <a:r>
              <a:rPr lang="es-NI" sz="2400" baseline="30000" dirty="0"/>
              <a:t> </a:t>
            </a:r>
            <a:r>
              <a:rPr lang="es-NI" sz="2400" dirty="0">
                <a:solidFill>
                  <a:srgbClr val="00B0F0"/>
                </a:solidFill>
              </a:rPr>
              <a:t>- 4x </a:t>
            </a:r>
            <a:r>
              <a:rPr lang="es-NI" sz="2400" dirty="0"/>
              <a:t>+ 4 + </a:t>
            </a:r>
            <a:r>
              <a:rPr lang="es-NI" sz="2400" dirty="0">
                <a:solidFill>
                  <a:srgbClr val="7030A0"/>
                </a:solidFill>
              </a:rPr>
              <a:t>x</a:t>
            </a:r>
            <a:r>
              <a:rPr lang="es-NI" sz="2400" baseline="30000" dirty="0">
                <a:solidFill>
                  <a:srgbClr val="7030A0"/>
                </a:solidFill>
              </a:rPr>
              <a:t>2</a:t>
            </a:r>
            <a:r>
              <a:rPr lang="es-NI" sz="2400" baseline="30000" dirty="0"/>
              <a:t> </a:t>
            </a:r>
            <a:r>
              <a:rPr lang="es-NI" sz="2400" dirty="0">
                <a:solidFill>
                  <a:srgbClr val="00B0F0"/>
                </a:solidFill>
              </a:rPr>
              <a:t>+ 2x </a:t>
            </a:r>
            <a:r>
              <a:rPr lang="es-NI" sz="2400" dirty="0"/>
              <a:t>+ 1 = x + 7	(Reducimos los términos semejantes)</a:t>
            </a:r>
          </a:p>
          <a:p>
            <a:r>
              <a:rPr lang="es-NI" sz="2400" dirty="0">
                <a:solidFill>
                  <a:srgbClr val="7030A0"/>
                </a:solidFill>
              </a:rPr>
              <a:t>2x</a:t>
            </a:r>
            <a:r>
              <a:rPr lang="es-NI" sz="2400" baseline="30000" dirty="0">
                <a:solidFill>
                  <a:srgbClr val="7030A0"/>
                </a:solidFill>
              </a:rPr>
              <a:t>2</a:t>
            </a:r>
            <a:r>
              <a:rPr lang="es-NI" sz="2400" dirty="0">
                <a:solidFill>
                  <a:srgbClr val="00B0F0"/>
                </a:solidFill>
              </a:rPr>
              <a:t> - 2x </a:t>
            </a:r>
            <a:r>
              <a:rPr lang="es-NI" sz="2400" dirty="0"/>
              <a:t>+ 5 = x + 7		(Transponemos los términos)</a:t>
            </a:r>
          </a:p>
          <a:p>
            <a:r>
              <a:rPr lang="es-NI" sz="2400" dirty="0"/>
              <a:t>2x</a:t>
            </a:r>
            <a:r>
              <a:rPr lang="es-NI" sz="2400" baseline="30000" dirty="0"/>
              <a:t>2</a:t>
            </a:r>
            <a:r>
              <a:rPr lang="es-NI" sz="2400" dirty="0"/>
              <a:t> - 2x + 5 - x - 7 = 0		(Reducimos los términos semejantes)</a:t>
            </a:r>
          </a:p>
          <a:p>
            <a:r>
              <a:rPr lang="es-NI" sz="2400" dirty="0"/>
              <a:t>2x</a:t>
            </a:r>
            <a:r>
              <a:rPr lang="es-NI" sz="2400" baseline="30000" dirty="0"/>
              <a:t>2</a:t>
            </a:r>
            <a:r>
              <a:rPr lang="es-NI" sz="2400" dirty="0"/>
              <a:t> - 3x - 2 = 0			(Factorizamos)</a:t>
            </a:r>
          </a:p>
          <a:p>
            <a:r>
              <a:rPr lang="es-NI" sz="2400" dirty="0"/>
              <a:t>(x - 2)(2x + 1) = 0		(Aplicamos teorema del factor)</a:t>
            </a:r>
          </a:p>
          <a:p>
            <a:endParaRPr lang="es-NI" sz="2400" dirty="0"/>
          </a:p>
          <a:p>
            <a:r>
              <a:rPr lang="es-NI" sz="2400" dirty="0"/>
              <a:t>x – 2 = 0 o 2x + 1 = 0</a:t>
            </a:r>
          </a:p>
          <a:p>
            <a:r>
              <a:rPr lang="es-NI" sz="2400" b="1" dirty="0"/>
              <a:t>x</a:t>
            </a:r>
            <a:r>
              <a:rPr lang="es-NI" sz="2400" b="1" baseline="-25000" dirty="0"/>
              <a:t>1</a:t>
            </a:r>
            <a:r>
              <a:rPr lang="es-NI" sz="2400" dirty="0"/>
              <a:t> = 2 o </a:t>
            </a:r>
            <a:r>
              <a:rPr lang="es-NI" sz="2400" b="1" dirty="0"/>
              <a:t>x</a:t>
            </a:r>
            <a:r>
              <a:rPr lang="es-NI" sz="2400" b="1" baseline="-25000" dirty="0"/>
              <a:t>2</a:t>
            </a:r>
            <a:r>
              <a:rPr lang="es-NI" sz="2400" dirty="0"/>
              <a:t> = -1/2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4562DBC-D11C-4A07-90A1-C5412F3C29BB}"/>
              </a:ext>
            </a:extLst>
          </p:cNvPr>
          <p:cNvSpPr txBox="1"/>
          <p:nvPr/>
        </p:nvSpPr>
        <p:spPr>
          <a:xfrm>
            <a:off x="1998615" y="1280159"/>
            <a:ext cx="7707087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400" dirty="0"/>
              <a:t>Aplicamos el teorema del factor    x-6 =0 o x+5=0</a:t>
            </a:r>
          </a:p>
          <a:p>
            <a:endParaRPr lang="es-NI" sz="1050" dirty="0"/>
          </a:p>
          <a:p>
            <a:r>
              <a:rPr lang="es-NI" sz="2400" b="1" dirty="0"/>
              <a:t>x</a:t>
            </a:r>
            <a:r>
              <a:rPr lang="es-NI" sz="2400" b="1" baseline="-25000" dirty="0"/>
              <a:t>1</a:t>
            </a:r>
            <a:r>
              <a:rPr lang="es-NI" sz="2400" dirty="0"/>
              <a:t>=6		</a:t>
            </a:r>
            <a:r>
              <a:rPr lang="es-NI" sz="2400" b="1" dirty="0"/>
              <a:t>x</a:t>
            </a:r>
            <a:r>
              <a:rPr lang="es-NI" sz="2400" b="1" baseline="-25000" dirty="0"/>
              <a:t>2</a:t>
            </a:r>
            <a:r>
              <a:rPr lang="es-NI" sz="2400" dirty="0"/>
              <a:t>=-5</a:t>
            </a:r>
          </a:p>
        </p:txBody>
      </p:sp>
    </p:spTree>
    <p:extLst>
      <p:ext uri="{BB962C8B-B14F-4D97-AF65-F5344CB8AC3E}">
        <p14:creationId xmlns:p14="http://schemas.microsoft.com/office/powerpoint/2010/main" val="3773168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054C7B8-0717-4A27-AA15-D0405361E7E5}"/>
              </a:ext>
            </a:extLst>
          </p:cNvPr>
          <p:cNvSpPr/>
          <p:nvPr/>
        </p:nvSpPr>
        <p:spPr>
          <a:xfrm>
            <a:off x="2852713" y="158822"/>
            <a:ext cx="648658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Raíces de e</a:t>
            </a:r>
            <a:r>
              <a:rPr lang="es-E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cuaciones cuadráticas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BEF63C5-61AF-4EE7-BCCD-46192B150116}"/>
              </a:ext>
            </a:extLst>
          </p:cNvPr>
          <p:cNvSpPr txBox="1"/>
          <p:nvPr/>
        </p:nvSpPr>
        <p:spPr>
          <a:xfrm>
            <a:off x="326571" y="805153"/>
            <a:ext cx="10842171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400" b="1" dirty="0"/>
              <a:t>x</a:t>
            </a:r>
            <a:r>
              <a:rPr lang="es-NI" sz="2400" b="1" baseline="30000" dirty="0"/>
              <a:t>2</a:t>
            </a:r>
            <a:r>
              <a:rPr lang="es-NI" sz="2400" b="1" dirty="0"/>
              <a:t>-x-30=0</a:t>
            </a:r>
          </a:p>
          <a:p>
            <a:endParaRPr lang="es-NI" sz="900" dirty="0"/>
          </a:p>
          <a:p>
            <a:r>
              <a:rPr lang="es-NI" sz="2400" dirty="0"/>
              <a:t>(x-6)(x+5)=0</a:t>
            </a:r>
          </a:p>
          <a:p>
            <a:endParaRPr lang="es-NI" sz="2400" dirty="0"/>
          </a:p>
          <a:p>
            <a:endParaRPr lang="es-NI" sz="2400" dirty="0"/>
          </a:p>
          <a:p>
            <a:r>
              <a:rPr lang="es-NI" sz="2400" b="1" dirty="0"/>
              <a:t>2. Resuelva la ecuación (x-2)</a:t>
            </a:r>
            <a:r>
              <a:rPr lang="es-NI" sz="2400" b="1" baseline="30000" dirty="0"/>
              <a:t>2</a:t>
            </a:r>
            <a:r>
              <a:rPr lang="es-NI" sz="2400" b="1" dirty="0"/>
              <a:t>+(x+1)</a:t>
            </a:r>
            <a:r>
              <a:rPr lang="es-NI" sz="2400" b="1" baseline="30000" dirty="0"/>
              <a:t>2</a:t>
            </a:r>
            <a:r>
              <a:rPr lang="es-NI" sz="2400" b="1" dirty="0"/>
              <a:t>=x+7</a:t>
            </a:r>
          </a:p>
          <a:p>
            <a:endParaRPr lang="es-NI" sz="2400" b="1" dirty="0"/>
          </a:p>
          <a:p>
            <a:r>
              <a:rPr lang="es-NI" sz="2400" dirty="0">
                <a:solidFill>
                  <a:srgbClr val="7030A0"/>
                </a:solidFill>
              </a:rPr>
              <a:t>x</a:t>
            </a:r>
            <a:r>
              <a:rPr lang="es-NI" sz="2400" baseline="30000" dirty="0">
                <a:solidFill>
                  <a:srgbClr val="7030A0"/>
                </a:solidFill>
              </a:rPr>
              <a:t>2</a:t>
            </a:r>
            <a:r>
              <a:rPr lang="es-NI" sz="2400" baseline="30000" dirty="0"/>
              <a:t> </a:t>
            </a:r>
            <a:r>
              <a:rPr lang="es-NI" sz="2400" dirty="0">
                <a:solidFill>
                  <a:srgbClr val="00B0F0"/>
                </a:solidFill>
              </a:rPr>
              <a:t>- 4x </a:t>
            </a:r>
            <a:r>
              <a:rPr lang="es-NI" sz="2400" dirty="0"/>
              <a:t>+ 4 + </a:t>
            </a:r>
            <a:r>
              <a:rPr lang="es-NI" sz="2400" dirty="0">
                <a:solidFill>
                  <a:srgbClr val="7030A0"/>
                </a:solidFill>
              </a:rPr>
              <a:t>x</a:t>
            </a:r>
            <a:r>
              <a:rPr lang="es-NI" sz="2400" baseline="30000" dirty="0">
                <a:solidFill>
                  <a:srgbClr val="7030A0"/>
                </a:solidFill>
              </a:rPr>
              <a:t>2</a:t>
            </a:r>
            <a:r>
              <a:rPr lang="es-NI" sz="2400" baseline="30000" dirty="0"/>
              <a:t> </a:t>
            </a:r>
            <a:r>
              <a:rPr lang="es-NI" sz="2400" dirty="0">
                <a:solidFill>
                  <a:srgbClr val="00B0F0"/>
                </a:solidFill>
              </a:rPr>
              <a:t>+ 2x </a:t>
            </a:r>
            <a:r>
              <a:rPr lang="es-NI" sz="2400" dirty="0"/>
              <a:t>+ 1 = x + 7	(Reducimos los términos semejantes)</a:t>
            </a:r>
          </a:p>
          <a:p>
            <a:r>
              <a:rPr lang="es-NI" sz="2400" dirty="0">
                <a:solidFill>
                  <a:srgbClr val="7030A0"/>
                </a:solidFill>
              </a:rPr>
              <a:t>2x</a:t>
            </a:r>
            <a:r>
              <a:rPr lang="es-NI" sz="2400" baseline="30000" dirty="0">
                <a:solidFill>
                  <a:srgbClr val="7030A0"/>
                </a:solidFill>
              </a:rPr>
              <a:t>2</a:t>
            </a:r>
            <a:r>
              <a:rPr lang="es-NI" sz="2400" dirty="0">
                <a:solidFill>
                  <a:srgbClr val="00B0F0"/>
                </a:solidFill>
              </a:rPr>
              <a:t> - 2x </a:t>
            </a:r>
            <a:r>
              <a:rPr lang="es-NI" sz="2400" dirty="0"/>
              <a:t>+ 5 = x + 7		(Transponemos los términos)</a:t>
            </a:r>
          </a:p>
          <a:p>
            <a:r>
              <a:rPr lang="es-NI" sz="2400" dirty="0"/>
              <a:t>2x</a:t>
            </a:r>
            <a:r>
              <a:rPr lang="es-NI" sz="2400" baseline="30000" dirty="0"/>
              <a:t>2</a:t>
            </a:r>
            <a:r>
              <a:rPr lang="es-NI" sz="2400" dirty="0"/>
              <a:t> - 2x + 5 - x - 7 = 0		(Reducimos los términos semejantes)</a:t>
            </a:r>
          </a:p>
          <a:p>
            <a:r>
              <a:rPr lang="es-NI" sz="2400" dirty="0"/>
              <a:t>2x</a:t>
            </a:r>
            <a:r>
              <a:rPr lang="es-NI" sz="2400" baseline="30000" dirty="0"/>
              <a:t>2</a:t>
            </a:r>
            <a:r>
              <a:rPr lang="es-NI" sz="2400" dirty="0"/>
              <a:t> - 3x - 2 = 0			(Factorizamos)</a:t>
            </a:r>
          </a:p>
          <a:p>
            <a:r>
              <a:rPr lang="es-NI" sz="2400" dirty="0"/>
              <a:t>(x - 2)(2x + 1) = 0		(Aplicamos teorema del factor)</a:t>
            </a:r>
          </a:p>
          <a:p>
            <a:endParaRPr lang="es-NI" sz="2400" dirty="0"/>
          </a:p>
          <a:p>
            <a:r>
              <a:rPr lang="es-NI" sz="2400" dirty="0"/>
              <a:t>x – 2 = 0 o 2x + 1 = 0</a:t>
            </a:r>
          </a:p>
          <a:p>
            <a:r>
              <a:rPr lang="es-NI" sz="2400" b="1" dirty="0"/>
              <a:t>x</a:t>
            </a:r>
            <a:r>
              <a:rPr lang="es-NI" sz="2400" b="1" baseline="-25000" dirty="0"/>
              <a:t>1</a:t>
            </a:r>
            <a:r>
              <a:rPr lang="es-NI" sz="2400" dirty="0"/>
              <a:t> = 2 o </a:t>
            </a:r>
            <a:r>
              <a:rPr lang="es-NI" sz="2400" b="1" dirty="0"/>
              <a:t>x</a:t>
            </a:r>
            <a:r>
              <a:rPr lang="es-NI" sz="2400" b="1" baseline="-25000" dirty="0"/>
              <a:t>2</a:t>
            </a:r>
            <a:r>
              <a:rPr lang="es-NI" sz="2400" dirty="0"/>
              <a:t> = -1/2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4562DBC-D11C-4A07-90A1-C5412F3C29BB}"/>
              </a:ext>
            </a:extLst>
          </p:cNvPr>
          <p:cNvSpPr txBox="1"/>
          <p:nvPr/>
        </p:nvSpPr>
        <p:spPr>
          <a:xfrm>
            <a:off x="1998615" y="1280159"/>
            <a:ext cx="7707087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400" dirty="0"/>
              <a:t>Aplicamos el teorema del factor    x-6 =0 o x+5=0</a:t>
            </a:r>
          </a:p>
          <a:p>
            <a:endParaRPr lang="es-NI" sz="1050" dirty="0"/>
          </a:p>
          <a:p>
            <a:r>
              <a:rPr lang="es-NI" sz="2400" b="1" dirty="0"/>
              <a:t>x</a:t>
            </a:r>
            <a:r>
              <a:rPr lang="es-NI" sz="2400" b="1" baseline="-25000" dirty="0"/>
              <a:t>1</a:t>
            </a:r>
            <a:r>
              <a:rPr lang="es-NI" sz="2400" dirty="0"/>
              <a:t>=6		</a:t>
            </a:r>
            <a:r>
              <a:rPr lang="es-NI" sz="2400" b="1" dirty="0"/>
              <a:t>x</a:t>
            </a:r>
            <a:r>
              <a:rPr lang="es-NI" sz="2400" b="1" baseline="-25000" dirty="0"/>
              <a:t>2</a:t>
            </a:r>
            <a:r>
              <a:rPr lang="es-NI" sz="2400" dirty="0"/>
              <a:t>=-5</a:t>
            </a:r>
          </a:p>
        </p:txBody>
      </p:sp>
    </p:spTree>
    <p:extLst>
      <p:ext uri="{BB962C8B-B14F-4D97-AF65-F5344CB8AC3E}">
        <p14:creationId xmlns:p14="http://schemas.microsoft.com/office/powerpoint/2010/main" val="2800145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054C7B8-0717-4A27-AA15-D0405361E7E5}"/>
              </a:ext>
            </a:extLst>
          </p:cNvPr>
          <p:cNvSpPr/>
          <p:nvPr/>
        </p:nvSpPr>
        <p:spPr>
          <a:xfrm>
            <a:off x="2852713" y="158822"/>
            <a:ext cx="648658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Raíces de e</a:t>
            </a:r>
            <a:r>
              <a:rPr lang="es-E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cuaciones cuadráticas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BEF63C5-61AF-4EE7-BCCD-46192B150116}"/>
              </a:ext>
            </a:extLst>
          </p:cNvPr>
          <p:cNvSpPr txBox="1"/>
          <p:nvPr/>
        </p:nvSpPr>
        <p:spPr>
          <a:xfrm>
            <a:off x="326571" y="805153"/>
            <a:ext cx="1084217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400" b="1" dirty="0"/>
              <a:t>Fórmula General</a:t>
            </a:r>
          </a:p>
          <a:p>
            <a:r>
              <a:rPr lang="es-ES" sz="2400" dirty="0"/>
              <a:t>Toda ecuación de segundo grado tiene dos raíces que son los valores de la incógnita. Resolver una ecuación de segundo grado es buscar las raíces de la ecuación.</a:t>
            </a:r>
          </a:p>
          <a:p>
            <a:endParaRPr lang="es-ES" sz="2400" dirty="0"/>
          </a:p>
          <a:p>
            <a:r>
              <a:rPr lang="es-ES" sz="2400" dirty="0"/>
              <a:t>Las raíces de la ecuación cuadrática se calculan por la fórmula general:</a:t>
            </a:r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r>
              <a:rPr lang="es-ES" sz="2400" dirty="0"/>
              <a:t>La expresión dentro de la raíz cuadrada b2 - 4(a)(c) se llama discriminante de la ecuación cuadrática. Obsérvese que delante de la raíz de la discriminante esta el signo ±. Esto significa que, para hallar el valor de x, en un caso sumamos el valor de la discriminante, y, en otro caso, restamos. A esto nos referimos cuando decimos que hay dos raíces en la ecuación de segundo grado.</a:t>
            </a:r>
          </a:p>
          <a:p>
            <a:endParaRPr lang="es-NI" sz="2400" dirty="0"/>
          </a:p>
        </p:txBody>
      </p:sp>
      <p:pic>
        <p:nvPicPr>
          <p:cNvPr id="6146" name="Picture 2" descr="estilo tamaño 14px negrita x subíndice negrita 1 negrita coma negrita 2 fin subíndice negrita igual fracción numerador negrita menos negrita b negrita más-menos raíz cuadrada de negrita b elevado a negrita 2 negrita menos negrita 4 negrita paréntesis izquierdo negrita a negrita paréntesis derecho negrita paréntesis izquierdo negrita c negrita paréntesis derecho fin raíz entre denominador negrita 2 negrita paréntesis izquierdo negrita a negrita paréntesis derecho fin fracción fin estilo">
            <a:extLst>
              <a:ext uri="{FF2B5EF4-FFF2-40B4-BE49-F238E27FC236}">
                <a16:creationId xmlns:a16="http://schemas.microsoft.com/office/drawing/2014/main" id="{E23B6A73-E748-429D-9F46-6522DCA78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417" y="3045483"/>
            <a:ext cx="3717165" cy="76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60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054C7B8-0717-4A27-AA15-D0405361E7E5}"/>
              </a:ext>
            </a:extLst>
          </p:cNvPr>
          <p:cNvSpPr/>
          <p:nvPr/>
        </p:nvSpPr>
        <p:spPr>
          <a:xfrm>
            <a:off x="2852713" y="158822"/>
            <a:ext cx="648658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Raíces de e</a:t>
            </a:r>
            <a:r>
              <a:rPr lang="es-E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cuaciones cuadráticas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BEF63C5-61AF-4EE7-BCCD-46192B150116}"/>
              </a:ext>
            </a:extLst>
          </p:cNvPr>
          <p:cNvSpPr txBox="1"/>
          <p:nvPr/>
        </p:nvSpPr>
        <p:spPr>
          <a:xfrm>
            <a:off x="2002971" y="920603"/>
            <a:ext cx="982257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sz="2400" dirty="0"/>
              <a:t>  &gt; 0 La ecuación tiene dos soluciones reales distintas</a:t>
            </a:r>
          </a:p>
          <a:p>
            <a:endParaRPr lang="es-NI" sz="900" dirty="0"/>
          </a:p>
          <a:p>
            <a:endParaRPr lang="es-NI" sz="900" dirty="0"/>
          </a:p>
          <a:p>
            <a:endParaRPr lang="es-NI" sz="900" dirty="0"/>
          </a:p>
          <a:p>
            <a:r>
              <a:rPr lang="es-NI" sz="2400" dirty="0"/>
              <a:t>  = 0 La ecuación tiene raíz doble o de multiplicidad 2</a:t>
            </a:r>
          </a:p>
          <a:p>
            <a:endParaRPr lang="es-NI" sz="1600" dirty="0"/>
          </a:p>
          <a:p>
            <a:r>
              <a:rPr lang="es-NI" sz="2400" dirty="0"/>
              <a:t>  &lt; 0 La ecuación no tiene soluciones reales</a:t>
            </a:r>
          </a:p>
        </p:txBody>
      </p:sp>
      <p:pic>
        <p:nvPicPr>
          <p:cNvPr id="6146" name="Picture 2" descr="estilo tamaño 14px negrita x subíndice negrita 1 negrita coma negrita 2 fin subíndice negrita igual fracción numerador negrita menos negrita b negrita más-menos raíz cuadrada de negrita b elevado a negrita 2 negrita menos negrita 4 negrita paréntesis izquierdo negrita a negrita paréntesis derecho negrita paréntesis izquierdo negrita c negrita paréntesis derecho fin raíz entre denominador negrita 2 negrita paréntesis izquierdo negrita a negrita paréntesis derecho fin fracción fin estilo">
            <a:extLst>
              <a:ext uri="{FF2B5EF4-FFF2-40B4-BE49-F238E27FC236}">
                <a16:creationId xmlns:a16="http://schemas.microsoft.com/office/drawing/2014/main" id="{E23B6A73-E748-429D-9F46-6522DCA780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166" b="50000"/>
          <a:stretch/>
        </p:blipFill>
        <p:spPr bwMode="auto">
          <a:xfrm>
            <a:off x="405646" y="976285"/>
            <a:ext cx="1858582" cy="35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stilo tamaño 14px negrita x subíndice negrita 1 negrita coma negrita 2 fin subíndice negrita igual fracción numerador negrita menos negrita b negrita más-menos raíz cuadrada de negrita b elevado a negrita 2 negrita menos negrita 4 negrita paréntesis izquierdo negrita a negrita paréntesis derecho negrita paréntesis izquierdo negrita c negrita paréntesis derecho fin raíz entre denominador negrita 2 negrita paréntesis izquierdo negrita a negrita paréntesis derecho fin fracción fin estilo">
            <a:extLst>
              <a:ext uri="{FF2B5EF4-FFF2-40B4-BE49-F238E27FC236}">
                <a16:creationId xmlns:a16="http://schemas.microsoft.com/office/drawing/2014/main" id="{AF79852C-1309-421D-9B3C-87A7B2A836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166" b="50000"/>
          <a:stretch/>
        </p:blipFill>
        <p:spPr bwMode="auto">
          <a:xfrm>
            <a:off x="366457" y="1762737"/>
            <a:ext cx="1858582" cy="35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estilo tamaño 14px negrita x subíndice negrita 1 negrita coma negrita 2 fin subíndice negrita igual fracción numerador negrita menos negrita b negrita más-menos raíz cuadrada de negrita b elevado a negrita 2 negrita menos negrita 4 negrita paréntesis izquierdo negrita a negrita paréntesis derecho negrita paréntesis izquierdo negrita c negrita paréntesis derecho fin raíz entre denominador negrita 2 negrita paréntesis izquierdo negrita a negrita paréntesis derecho fin fracción fin estilo">
            <a:extLst>
              <a:ext uri="{FF2B5EF4-FFF2-40B4-BE49-F238E27FC236}">
                <a16:creationId xmlns:a16="http://schemas.microsoft.com/office/drawing/2014/main" id="{4A83B68C-5D07-4DE8-82A9-B7BFAA15DC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166" b="50000"/>
          <a:stretch/>
        </p:blipFill>
        <p:spPr bwMode="auto">
          <a:xfrm>
            <a:off x="405646" y="2379583"/>
            <a:ext cx="1858582" cy="35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A05EF07-1E2C-4DC8-81CD-BEACC5548CA9}"/>
                  </a:ext>
                </a:extLst>
              </p:cNvPr>
              <p:cNvSpPr txBox="1"/>
              <p:nvPr/>
            </p:nvSpPr>
            <p:spPr>
              <a:xfrm>
                <a:off x="366457" y="2951884"/>
                <a:ext cx="11419897" cy="3620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NI" sz="2400" b="1" dirty="0"/>
                  <a:t>Ejemplos</a:t>
                </a:r>
              </a:p>
              <a:p>
                <a:pPr marL="457200" indent="-457200">
                  <a:buAutoNum type="arabicPeriod"/>
                </a:pPr>
                <a:r>
                  <a:rPr lang="es-NI" sz="2400" b="1" dirty="0"/>
                  <a:t>Resuelva 6x</a:t>
                </a:r>
                <a:r>
                  <a:rPr lang="es-NI" sz="2400" b="1" baseline="30000" dirty="0"/>
                  <a:t>2</a:t>
                </a:r>
                <a:r>
                  <a:rPr lang="es-NI" sz="2400" b="1" dirty="0"/>
                  <a:t> – 7x – 5 = 0</a:t>
                </a:r>
              </a:p>
              <a:p>
                <a:r>
                  <a:rPr lang="es-NI" sz="2400" dirty="0"/>
                  <a:t>	a = 6 ; b = – 7 ; c = – 5</a:t>
                </a:r>
              </a:p>
              <a:p>
                <a:endParaRPr lang="es-NI" sz="2400" dirty="0"/>
              </a:p>
              <a:p>
                <a:r>
                  <a:rPr lang="es-NI" sz="2400" dirty="0"/>
                  <a:t>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−(−7)±</m:t>
                        </m:r>
                        <m:rad>
                          <m:radPr>
                            <m:degHide m:val="on"/>
                            <m:ctrlPr>
                              <a:rPr lang="es-NI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s-NI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NI" sz="2400" b="0" i="1" smtClean="0">
                                    <a:latin typeface="Cambria Math" panose="02040503050406030204" pitchFamily="18" charset="0"/>
                                  </a:rPr>
                                  <m:t>(−7)</m:t>
                                </m:r>
                              </m:e>
                              <m:sup>
                                <m:r>
                                  <a:rPr lang="es-NI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NI" sz="2400" b="0" i="1" smtClean="0">
                                <a:latin typeface="Cambria Math" panose="02040503050406030204" pitchFamily="18" charset="0"/>
                              </a:rPr>
                              <m:t> −4 (6)(−5)</m:t>
                            </m:r>
                          </m:e>
                        </m:rad>
                      </m:num>
                      <m:den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2(6)</m:t>
                        </m:r>
                      </m:den>
                    </m:f>
                  </m:oMath>
                </a14:m>
                <a:endParaRPr lang="es-NI" sz="2400" dirty="0"/>
              </a:p>
              <a:p>
                <a:endParaRPr lang="es-NI" sz="2000" dirty="0"/>
              </a:p>
              <a:p>
                <a:r>
                  <a:rPr lang="es-NI" sz="2400" dirty="0"/>
                  <a:t>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7±</m:t>
                        </m:r>
                        <m:rad>
                          <m:radPr>
                            <m:degHide m:val="on"/>
                            <m:ctrlPr>
                              <a:rPr lang="es-NI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NI" sz="2400" b="0" i="1" smtClean="0">
                                <a:latin typeface="Cambria Math" panose="02040503050406030204" pitchFamily="18" charset="0"/>
                              </a:rPr>
                              <m:t>169</m:t>
                            </m:r>
                          </m:e>
                        </m:rad>
                      </m:num>
                      <m:den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s-NI" sz="2400" dirty="0"/>
              </a:p>
              <a:p>
                <a:endParaRPr lang="es-NI" sz="2400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A05EF07-1E2C-4DC8-81CD-BEACC5548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57" y="2951884"/>
                <a:ext cx="11419897" cy="3620350"/>
              </a:xfrm>
              <a:prstGeom prst="rect">
                <a:avLst/>
              </a:prstGeom>
              <a:blipFill>
                <a:blip r:embed="rId3"/>
                <a:stretch>
                  <a:fillRect l="-854" t="-134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 descr="estilo tamaño 14px negrita x subíndice negrita 1 negrita coma negrita 2 fin subíndice negrita igual fracción numerador negrita menos negrita b negrita más-menos raíz cuadrada de negrita b elevado a negrita 2 negrita menos negrita 4 negrita paréntesis izquierdo negrita a negrita paréntesis derecho negrita paréntesis izquierdo negrita c negrita paréntesis derecho fin raíz entre denominador negrita 2 negrita paréntesis izquierdo negrita a negrita paréntesis derecho fin fracción fin estilo">
            <a:extLst>
              <a:ext uri="{FF2B5EF4-FFF2-40B4-BE49-F238E27FC236}">
                <a16:creationId xmlns:a16="http://schemas.microsoft.com/office/drawing/2014/main" id="{03490885-353C-4814-A180-DF2165C61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674" y="3429000"/>
            <a:ext cx="3717165" cy="76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CB9C7CA-DCFA-47E3-801D-7BF9D866EC8E}"/>
                  </a:ext>
                </a:extLst>
              </p:cNvPr>
              <p:cNvSpPr txBox="1"/>
              <p:nvPr/>
            </p:nvSpPr>
            <p:spPr>
              <a:xfrm>
                <a:off x="4650378" y="4380012"/>
                <a:ext cx="5891348" cy="16040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NI" sz="2400" dirty="0"/>
                  <a:t>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7±</m:t>
                        </m:r>
                        <m:rad>
                          <m:radPr>
                            <m:degHide m:val="on"/>
                            <m:ctrlPr>
                              <a:rPr lang="es-NI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NI" sz="2400" i="1">
                                <a:latin typeface="Cambria Math" panose="02040503050406030204" pitchFamily="18" charset="0"/>
                              </a:rPr>
                              <m:t>49+120</m:t>
                            </m:r>
                          </m:e>
                        </m:rad>
                      </m:num>
                      <m:den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s-NI" sz="2400" dirty="0"/>
              </a:p>
              <a:p>
                <a:endParaRPr lang="es-NI" sz="2400" dirty="0"/>
              </a:p>
              <a:p>
                <a:r>
                  <a:rPr lang="es-NI" sz="2400" dirty="0"/>
                  <a:t>x</a:t>
                </a:r>
                <a:r>
                  <a:rPr lang="es-NI" sz="2400" baseline="-25000" dirty="0"/>
                  <a:t>1</a:t>
                </a:r>
                <a:r>
                  <a:rPr lang="es-NI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7+13</m:t>
                        </m:r>
                      </m:num>
                      <m:den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s-NI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s-NI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s-NI" sz="2400" dirty="0"/>
                  <a:t>	 x</a:t>
                </a:r>
                <a:r>
                  <a:rPr lang="es-NI" sz="2400" baseline="-25000" dirty="0"/>
                  <a:t>1</a:t>
                </a:r>
                <a:r>
                  <a:rPr lang="es-NI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s-NI" sz="2400" dirty="0"/>
                  <a:t> =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s-NI" sz="2400" dirty="0"/>
                  <a:t> =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s-NI" sz="240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CB9C7CA-DCFA-47E3-801D-7BF9D866E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0378" y="4380012"/>
                <a:ext cx="5891348" cy="1604029"/>
              </a:xfrm>
              <a:prstGeom prst="rect">
                <a:avLst/>
              </a:prstGeom>
              <a:blipFill>
                <a:blip r:embed="rId4"/>
                <a:stretch>
                  <a:fillRect l="-1656" b="-1521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166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054C7B8-0717-4A27-AA15-D0405361E7E5}"/>
              </a:ext>
            </a:extLst>
          </p:cNvPr>
          <p:cNvSpPr/>
          <p:nvPr/>
        </p:nvSpPr>
        <p:spPr>
          <a:xfrm>
            <a:off x="2852713" y="158822"/>
            <a:ext cx="648658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Raíces de e</a:t>
            </a:r>
            <a:r>
              <a:rPr lang="es-ES" sz="36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cuaciones cuadráticas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A05EF07-1E2C-4DC8-81CD-BEACC5548CA9}"/>
                  </a:ext>
                </a:extLst>
              </p:cNvPr>
              <p:cNvSpPr txBox="1"/>
              <p:nvPr/>
            </p:nvSpPr>
            <p:spPr>
              <a:xfrm>
                <a:off x="386051" y="857026"/>
                <a:ext cx="11419897" cy="6333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NI" sz="2400" b="1" dirty="0"/>
                  <a:t>Ejemplos</a:t>
                </a:r>
              </a:p>
              <a:p>
                <a:r>
                  <a:rPr lang="es-NI" sz="2400" b="1" dirty="0"/>
                  <a:t>2. Resuelva (3x + 2)</a:t>
                </a:r>
                <a:r>
                  <a:rPr lang="es-NI" sz="2400" b="1" baseline="30000" dirty="0"/>
                  <a:t>2</a:t>
                </a:r>
                <a:r>
                  <a:rPr lang="es-NI" sz="2400" b="1" dirty="0"/>
                  <a:t> + (x – 1)</a:t>
                </a:r>
                <a:r>
                  <a:rPr lang="es-NI" sz="2400" b="1" baseline="30000" dirty="0"/>
                  <a:t>2</a:t>
                </a:r>
                <a:r>
                  <a:rPr lang="es-NI" sz="2400" b="1" dirty="0"/>
                  <a:t> = 6</a:t>
                </a:r>
              </a:p>
              <a:p>
                <a:r>
                  <a:rPr lang="es-NI" sz="2400" dirty="0"/>
                  <a:t>(3x)</a:t>
                </a:r>
                <a:r>
                  <a:rPr lang="es-NI" sz="2400" baseline="30000" dirty="0"/>
                  <a:t>2</a:t>
                </a:r>
                <a:r>
                  <a:rPr lang="es-NI" sz="2400" dirty="0"/>
                  <a:t> + 2 (3x)(2) + 2</a:t>
                </a:r>
                <a:r>
                  <a:rPr lang="es-NI" sz="2400" baseline="30000" dirty="0"/>
                  <a:t>2</a:t>
                </a:r>
                <a:r>
                  <a:rPr lang="es-NI" sz="2400" dirty="0"/>
                  <a:t> + x</a:t>
                </a:r>
                <a:r>
                  <a:rPr lang="es-NI" sz="2400" baseline="30000" dirty="0"/>
                  <a:t>2</a:t>
                </a:r>
                <a:r>
                  <a:rPr lang="es-NI" sz="2400" dirty="0"/>
                  <a:t> – 2x + 1 = 6</a:t>
                </a:r>
              </a:p>
              <a:p>
                <a:r>
                  <a:rPr lang="es-NI" sz="2400" dirty="0"/>
                  <a:t>9x</a:t>
                </a:r>
                <a:r>
                  <a:rPr lang="es-NI" sz="2400" baseline="30000" dirty="0"/>
                  <a:t> 2 </a:t>
                </a:r>
                <a:r>
                  <a:rPr lang="es-NI" sz="2400" dirty="0"/>
                  <a:t>+ 12x + 4 + x</a:t>
                </a:r>
                <a:r>
                  <a:rPr lang="es-NI" sz="2400" baseline="30000" dirty="0"/>
                  <a:t>2</a:t>
                </a:r>
                <a:r>
                  <a:rPr lang="es-NI" sz="2400" dirty="0"/>
                  <a:t> – 2x + 1 – 6 = 0</a:t>
                </a:r>
              </a:p>
              <a:p>
                <a:r>
                  <a:rPr lang="es-NI" sz="2400" dirty="0"/>
                  <a:t>10x</a:t>
                </a:r>
                <a:r>
                  <a:rPr lang="es-NI" sz="2400" baseline="30000" dirty="0"/>
                  <a:t> 2 </a:t>
                </a:r>
                <a:r>
                  <a:rPr lang="es-NI" sz="2400" dirty="0"/>
                  <a:t>+ 10x  – 1 = 0</a:t>
                </a:r>
              </a:p>
              <a:p>
                <a:r>
                  <a:rPr lang="es-NI" sz="2400" b="1" dirty="0"/>
                  <a:t>Aplicamos Formula general</a:t>
                </a:r>
              </a:p>
              <a:p>
                <a:r>
                  <a:rPr lang="es-NI" sz="2400" dirty="0"/>
                  <a:t>	a = 10 ; b = 10 ; c = – 1</a:t>
                </a:r>
              </a:p>
              <a:p>
                <a:endParaRPr lang="es-NI" sz="2400" dirty="0"/>
              </a:p>
              <a:p>
                <a:r>
                  <a:rPr lang="es-NI" sz="2400" dirty="0"/>
                  <a:t>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−(10)±</m:t>
                        </m:r>
                        <m:rad>
                          <m:radPr>
                            <m:degHide m:val="on"/>
                            <m:ctrlPr>
                              <a:rPr lang="es-NI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s-NI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NI" sz="2400" b="0" i="1" smtClean="0">
                                    <a:latin typeface="Cambria Math" panose="02040503050406030204" pitchFamily="18" charset="0"/>
                                  </a:rPr>
                                  <m:t>(10)</m:t>
                                </m:r>
                              </m:e>
                              <m:sup>
                                <m:r>
                                  <a:rPr lang="es-NI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NI" sz="2400" b="0" i="1" smtClean="0">
                                <a:latin typeface="Cambria Math" panose="02040503050406030204" pitchFamily="18" charset="0"/>
                              </a:rPr>
                              <m:t> −4 (10)(−1)</m:t>
                            </m:r>
                          </m:e>
                        </m:rad>
                      </m:num>
                      <m:den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2(10)</m:t>
                        </m:r>
                      </m:den>
                    </m:f>
                  </m:oMath>
                </a14:m>
                <a:r>
                  <a:rPr lang="es-NI" sz="2400" dirty="0"/>
                  <a:t>		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s-NI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NI" sz="2400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  <m:r>
                              <a:rPr lang="es-NI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s-NI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s-NI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rad>
                      </m:num>
                      <m:den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endParaRPr lang="es-NI" sz="2400" dirty="0"/>
              </a:p>
              <a:p>
                <a:endParaRPr lang="es-NI" sz="2000" dirty="0"/>
              </a:p>
              <a:p>
                <a:r>
                  <a:rPr lang="es-NI" sz="2400" dirty="0"/>
                  <a:t>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s-NI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NI" sz="2400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  <m:r>
                              <a:rPr lang="es-NI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rad>
                      </m:num>
                      <m:den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s-NI" sz="2400" dirty="0"/>
                  <a:t>		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s-NI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NI" sz="2400" b="0" i="1" smtClean="0">
                                <a:latin typeface="Cambria Math" panose="02040503050406030204" pitchFamily="18" charset="0"/>
                              </a:rPr>
                              <m:t>(4)(35)</m:t>
                            </m:r>
                          </m:e>
                        </m:rad>
                      </m:num>
                      <m:den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s-NI" sz="2400" dirty="0"/>
                  <a:t>	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s-NI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NI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s-NI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NI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s-NI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NI" sz="2400" b="0" i="1" smtClean="0">
                                <a:latin typeface="Cambria Math" panose="02040503050406030204" pitchFamily="18" charset="0"/>
                              </a:rPr>
                              <m:t>)(35)</m:t>
                            </m:r>
                          </m:e>
                        </m:rad>
                      </m:num>
                      <m:den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s-NI" sz="2400" dirty="0"/>
                  <a:t>	 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s-NI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NI" sz="2400" b="0" i="1" smtClean="0"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rad>
                      </m:num>
                      <m:den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endParaRPr lang="es-NI" sz="2400" dirty="0"/>
              </a:p>
              <a:p>
                <a:endParaRPr lang="es-NI" sz="2400" dirty="0"/>
              </a:p>
              <a:p>
                <a:r>
                  <a:rPr lang="es-NI" sz="2400" dirty="0"/>
                  <a:t>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trike="sngStrike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s-NI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NI" sz="2400" b="0" i="1" smtClean="0"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rad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NI" sz="2400" i="1" strike="sngStrik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NI" sz="2400" b="0" i="1" strike="sngStrike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s-NI" sz="2400" dirty="0"/>
                  <a:t>		 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s-NI" sz="2400" i="1"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s-NI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NI" sz="2400" b="0" i="1" smtClean="0"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rad>
                      </m:num>
                      <m:den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s-NI" sz="2400" dirty="0"/>
                  <a:t>		x</a:t>
                </a:r>
                <a:r>
                  <a:rPr lang="es-NI" sz="2400" baseline="-25000" dirty="0"/>
                  <a:t>1</a:t>
                </a:r>
                <a:r>
                  <a:rPr lang="es-NI" sz="2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rad>
                          <m:radPr>
                            <m:degHide m:val="on"/>
                            <m:ctrlPr>
                              <a:rPr lang="es-NI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NI" sz="2400" b="0" i="1" smtClean="0"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rad>
                      </m:num>
                      <m:den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s-NI" sz="2400" dirty="0"/>
                  <a:t> ~ 0.91608	   x</a:t>
                </a:r>
                <a:r>
                  <a:rPr lang="es-NI" sz="2400" baseline="-25000" dirty="0"/>
                  <a:t>2</a:t>
                </a:r>
                <a:r>
                  <a:rPr lang="es-NI" sz="2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NI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−5 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ad>
                          <m:radPr>
                            <m:degHide m:val="on"/>
                            <m:ctrlPr>
                              <a:rPr lang="es-NI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NI" sz="2400" b="0" i="1" smtClean="0"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rad>
                      </m:num>
                      <m:den>
                        <m:r>
                          <a:rPr lang="es-NI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s-NI" sz="2400" dirty="0"/>
                  <a:t> </a:t>
                </a:r>
                <a:r>
                  <a:rPr lang="es-NI" sz="2400"/>
                  <a:t>~ 1.91608</a:t>
                </a:r>
                <a:endParaRPr lang="es-NI" sz="2400" dirty="0"/>
              </a:p>
              <a:p>
                <a:endParaRPr lang="es-NI" sz="2400" dirty="0"/>
              </a:p>
              <a:p>
                <a:endParaRPr lang="es-NI" sz="2400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A05EF07-1E2C-4DC8-81CD-BEACC5548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51" y="857026"/>
                <a:ext cx="11419897" cy="6333978"/>
              </a:xfrm>
              <a:prstGeom prst="rect">
                <a:avLst/>
              </a:prstGeom>
              <a:blipFill>
                <a:blip r:embed="rId2"/>
                <a:stretch>
                  <a:fillRect l="-800" t="-770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 descr="estilo tamaño 14px negrita x subíndice negrita 1 negrita coma negrita 2 fin subíndice negrita igual fracción numerador negrita menos negrita b negrita más-menos raíz cuadrada de negrita b elevado a negrita 2 negrita menos negrita 4 negrita paréntesis izquierdo negrita a negrita paréntesis derecho negrita paréntesis izquierdo negrita c negrita paréntesis derecho fin raíz entre denominador negrita 2 negrita paréntesis izquierdo negrita a negrita paréntesis derecho fin fracción fin estilo">
            <a:extLst>
              <a:ext uri="{FF2B5EF4-FFF2-40B4-BE49-F238E27FC236}">
                <a16:creationId xmlns:a16="http://schemas.microsoft.com/office/drawing/2014/main" id="{03490885-353C-4814-A180-DF2165C61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835" y="2831783"/>
            <a:ext cx="3717165" cy="76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34954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502</Words>
  <Application>Microsoft Office PowerPoint</Application>
  <PresentationFormat>Panorámica</PresentationFormat>
  <Paragraphs>115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DroidSerif</vt:lpstr>
      <vt:lpstr>OpenSans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14</cp:revision>
  <dcterms:created xsi:type="dcterms:W3CDTF">2020-05-26T13:13:44Z</dcterms:created>
  <dcterms:modified xsi:type="dcterms:W3CDTF">2020-05-26T15:08:40Z</dcterms:modified>
</cp:coreProperties>
</file>