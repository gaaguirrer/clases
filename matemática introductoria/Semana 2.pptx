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261" r:id="rId3"/>
    <p:sldId id="260" r:id="rId4"/>
    <p:sldId id="262" r:id="rId5"/>
    <p:sldId id="263" r:id="rId6"/>
    <p:sldId id="264" r:id="rId7"/>
    <p:sldId id="267" r:id="rId8"/>
    <p:sldId id="268" r:id="rId9"/>
    <p:sldId id="269" r:id="rId10"/>
    <p:sldId id="270" r:id="rId11"/>
    <p:sldId id="271" r:id="rId12"/>
    <p:sldId id="272" r:id="rId13"/>
    <p:sldId id="273" r:id="rId14"/>
    <p:sldId id="274" r:id="rId15"/>
    <p:sldId id="275" r:id="rId16"/>
    <p:sldId id="277" r:id="rId17"/>
    <p:sldId id="276" r:id="rId18"/>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712" autoAdjust="0"/>
  </p:normalViewPr>
  <p:slideViewPr>
    <p:cSldViewPr snapToGrid="0">
      <p:cViewPr varScale="1">
        <p:scale>
          <a:sx n="66" d="100"/>
          <a:sy n="66" d="100"/>
        </p:scale>
        <p:origin x="90" y="150"/>
      </p:cViewPr>
      <p:guideLst/>
    </p:cSldViewPr>
  </p:slideViewPr>
  <p:notesTextViewPr>
    <p:cViewPr>
      <p:scale>
        <a:sx n="1" d="1"/>
        <a:sy n="1" d="1"/>
      </p:scale>
      <p:origin x="0" y="0"/>
    </p:cViewPr>
  </p:notesTextViewPr>
  <p:notesViewPr>
    <p:cSldViewPr snapToGrid="0" showGuides="1">
      <p:cViewPr varScale="1">
        <p:scale>
          <a:sx n="85" d="100"/>
          <a:sy n="85" d="100"/>
        </p:scale>
        <p:origin x="387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2BC10188-DC2C-458D-AB41-143A0BE9A3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C9634E15-7196-43FC-B912-C4D8B4A2CE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92BDE8F-2D4C-4419-A60F-2DE0B7B90856}" type="datetime1">
              <a:rPr lang="es-ES" smtClean="0"/>
              <a:t>15/03/2022</a:t>
            </a:fld>
            <a:endParaRPr lang="es-ES" dirty="0"/>
          </a:p>
        </p:txBody>
      </p:sp>
      <p:sp>
        <p:nvSpPr>
          <p:cNvPr id="4" name="Marcador de pie de página 3">
            <a:extLst>
              <a:ext uri="{FF2B5EF4-FFF2-40B4-BE49-F238E27FC236}">
                <a16:creationId xmlns:a16="http://schemas.microsoft.com/office/drawing/2014/main" id="{89EA2570-D5B6-41CB-96C2-FFC9944668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15C31B37-7A69-4C30-9B63-29F8242FC2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89B6C8-888A-401B-9F9B-D41D36B6C3E9}" type="slidenum">
              <a:rPr lang="es-ES" smtClean="0"/>
              <a:t>‹Nº›</a:t>
            </a:fld>
            <a:endParaRPr lang="es-ES"/>
          </a:p>
        </p:txBody>
      </p:sp>
    </p:spTree>
    <p:extLst>
      <p:ext uri="{BB962C8B-B14F-4D97-AF65-F5344CB8AC3E}">
        <p14:creationId xmlns:p14="http://schemas.microsoft.com/office/powerpoint/2010/main" val="241310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2087C2-CFAB-44D5-BFAB-ABDC7CE34427}" type="datetime1">
              <a:rPr lang="es-ES" smtClean="0"/>
              <a:pPr/>
              <a:t>15/03/2022</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F28A1F-3E69-47E5-AE93-E7F2155A242D}" type="slidenum">
              <a:rPr lang="es-ES" noProof="0" smtClean="0"/>
              <a:t>‹Nº›</a:t>
            </a:fld>
            <a:endParaRPr lang="es-ES" noProof="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a:t>
            </a:fld>
            <a:endParaRPr lang="es-ES"/>
          </a:p>
        </p:txBody>
      </p:sp>
    </p:spTree>
    <p:extLst>
      <p:ext uri="{BB962C8B-B14F-4D97-AF65-F5344CB8AC3E}">
        <p14:creationId xmlns:p14="http://schemas.microsoft.com/office/powerpoint/2010/main" val="1750897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2</a:t>
            </a:fld>
            <a:endParaRPr lang="es-ES"/>
          </a:p>
        </p:txBody>
      </p:sp>
    </p:spTree>
    <p:extLst>
      <p:ext uri="{BB962C8B-B14F-4D97-AF65-F5344CB8AC3E}">
        <p14:creationId xmlns:p14="http://schemas.microsoft.com/office/powerpoint/2010/main" val="755354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3</a:t>
            </a:fld>
            <a:endParaRPr lang="es-ES"/>
          </a:p>
        </p:txBody>
      </p:sp>
    </p:spTree>
    <p:extLst>
      <p:ext uri="{BB962C8B-B14F-4D97-AF65-F5344CB8AC3E}">
        <p14:creationId xmlns:p14="http://schemas.microsoft.com/office/powerpoint/2010/main" val="92477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4</a:t>
            </a:fld>
            <a:endParaRPr lang="es-ES"/>
          </a:p>
        </p:txBody>
      </p:sp>
    </p:spTree>
    <p:extLst>
      <p:ext uri="{BB962C8B-B14F-4D97-AF65-F5344CB8AC3E}">
        <p14:creationId xmlns:p14="http://schemas.microsoft.com/office/powerpoint/2010/main" val="2642592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5</a:t>
            </a:fld>
            <a:endParaRPr lang="es-ES"/>
          </a:p>
        </p:txBody>
      </p:sp>
    </p:spTree>
    <p:extLst>
      <p:ext uri="{BB962C8B-B14F-4D97-AF65-F5344CB8AC3E}">
        <p14:creationId xmlns:p14="http://schemas.microsoft.com/office/powerpoint/2010/main" val="1253743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6</a:t>
            </a:fld>
            <a:endParaRPr lang="es-ES"/>
          </a:p>
        </p:txBody>
      </p:sp>
    </p:spTree>
    <p:extLst>
      <p:ext uri="{BB962C8B-B14F-4D97-AF65-F5344CB8AC3E}">
        <p14:creationId xmlns:p14="http://schemas.microsoft.com/office/powerpoint/2010/main" val="267522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7</a:t>
            </a:fld>
            <a:endParaRPr lang="es-ES"/>
          </a:p>
        </p:txBody>
      </p:sp>
    </p:spTree>
    <p:extLst>
      <p:ext uri="{BB962C8B-B14F-4D97-AF65-F5344CB8AC3E}">
        <p14:creationId xmlns:p14="http://schemas.microsoft.com/office/powerpoint/2010/main" val="835968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8</a:t>
            </a:fld>
            <a:endParaRPr lang="es-ES"/>
          </a:p>
        </p:txBody>
      </p:sp>
    </p:spTree>
    <p:extLst>
      <p:ext uri="{BB962C8B-B14F-4D97-AF65-F5344CB8AC3E}">
        <p14:creationId xmlns:p14="http://schemas.microsoft.com/office/powerpoint/2010/main" val="2445623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9</a:t>
            </a:fld>
            <a:endParaRPr lang="es-ES"/>
          </a:p>
        </p:txBody>
      </p:sp>
    </p:spTree>
    <p:extLst>
      <p:ext uri="{BB962C8B-B14F-4D97-AF65-F5344CB8AC3E}">
        <p14:creationId xmlns:p14="http://schemas.microsoft.com/office/powerpoint/2010/main" val="989885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10</a:t>
            </a:fld>
            <a:endParaRPr lang="es-ES"/>
          </a:p>
        </p:txBody>
      </p:sp>
    </p:spTree>
    <p:extLst>
      <p:ext uri="{BB962C8B-B14F-4D97-AF65-F5344CB8AC3E}">
        <p14:creationId xmlns:p14="http://schemas.microsoft.com/office/powerpoint/2010/main" val="199824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11</a:t>
            </a:fld>
            <a:endParaRPr lang="es-ES"/>
          </a:p>
        </p:txBody>
      </p:sp>
    </p:spTree>
    <p:extLst>
      <p:ext uri="{BB962C8B-B14F-4D97-AF65-F5344CB8AC3E}">
        <p14:creationId xmlns:p14="http://schemas.microsoft.com/office/powerpoint/2010/main" val="1714648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12</a:t>
            </a:fld>
            <a:endParaRPr lang="es-ES"/>
          </a:p>
        </p:txBody>
      </p:sp>
    </p:spTree>
    <p:extLst>
      <p:ext uri="{BB962C8B-B14F-4D97-AF65-F5344CB8AC3E}">
        <p14:creationId xmlns:p14="http://schemas.microsoft.com/office/powerpoint/2010/main" val="2735275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13</a:t>
            </a:fld>
            <a:endParaRPr lang="es-ES"/>
          </a:p>
        </p:txBody>
      </p:sp>
    </p:spTree>
    <p:extLst>
      <p:ext uri="{BB962C8B-B14F-4D97-AF65-F5344CB8AC3E}">
        <p14:creationId xmlns:p14="http://schemas.microsoft.com/office/powerpoint/2010/main" val="117076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14</a:t>
            </a:fld>
            <a:endParaRPr lang="es-ES"/>
          </a:p>
        </p:txBody>
      </p:sp>
    </p:spTree>
    <p:extLst>
      <p:ext uri="{BB962C8B-B14F-4D97-AF65-F5344CB8AC3E}">
        <p14:creationId xmlns:p14="http://schemas.microsoft.com/office/powerpoint/2010/main" val="2778850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15</a:t>
            </a:fld>
            <a:endParaRPr lang="es-ES"/>
          </a:p>
        </p:txBody>
      </p:sp>
    </p:spTree>
    <p:extLst>
      <p:ext uri="{BB962C8B-B14F-4D97-AF65-F5344CB8AC3E}">
        <p14:creationId xmlns:p14="http://schemas.microsoft.com/office/powerpoint/2010/main" val="2633432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16</a:t>
            </a:fld>
            <a:endParaRPr lang="es-ES"/>
          </a:p>
        </p:txBody>
      </p:sp>
    </p:spTree>
    <p:extLst>
      <p:ext uri="{BB962C8B-B14F-4D97-AF65-F5344CB8AC3E}">
        <p14:creationId xmlns:p14="http://schemas.microsoft.com/office/powerpoint/2010/main" val="394800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5"/>
          </p:nvPr>
        </p:nvSpPr>
        <p:spPr/>
        <p:txBody>
          <a:bodyPr/>
          <a:lstStyle/>
          <a:p>
            <a:pPr rtl="0"/>
            <a:fld id="{D3F28A1F-3E69-47E5-AE93-E7F2155A242D}" type="slidenum">
              <a:rPr lang="es-ES" smtClean="0"/>
              <a:t>17</a:t>
            </a:fld>
            <a:endParaRPr lang="es-ES"/>
          </a:p>
        </p:txBody>
      </p:sp>
    </p:spTree>
    <p:extLst>
      <p:ext uri="{BB962C8B-B14F-4D97-AF65-F5344CB8AC3E}">
        <p14:creationId xmlns:p14="http://schemas.microsoft.com/office/powerpoint/2010/main" val="406796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s-ES" noProof="0"/>
              <a:t>Haga clic para modificar el estilo de título del patrón</a:t>
            </a:r>
          </a:p>
        </p:txBody>
      </p:sp>
      <p:sp>
        <p:nvSpPr>
          <p:cNvPr id="4" name="Marcador de texto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cxnSp>
        <p:nvCxnSpPr>
          <p:cNvPr id="12" name="Conector recto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número de diapositiva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s-ES" noProof="0"/>
              <a:t>Haga clic para modificar el estilo de título del patrón</a:t>
            </a:r>
          </a:p>
        </p:txBody>
      </p:sp>
      <p:sp>
        <p:nvSpPr>
          <p:cNvPr id="4" name="Marcador de texto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cxnSp>
        <p:nvCxnSpPr>
          <p:cNvPr id="12" name="Conector recto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ángulo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número de diapositiva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
        <p:nvSpPr>
          <p:cNvPr id="8" name="Marcador de posición de imagen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Inserte su imagen aquí</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1AD08-4E28-4191-9B62-EAD61608E5CF}"/>
              </a:ext>
            </a:extLst>
          </p:cNvPr>
          <p:cNvSpPr>
            <a:spLocks noGrp="1"/>
          </p:cNvSpPr>
          <p:nvPr>
            <p:ph type="title"/>
          </p:nvPr>
        </p:nvSpPr>
        <p:spPr>
          <a:xfrm>
            <a:off x="838200" y="303300"/>
            <a:ext cx="6273800" cy="1449216"/>
          </a:xfrm>
          <a:solidFill>
            <a:schemeClr val="accent2">
              <a:lumMod val="50000"/>
            </a:schemeClr>
          </a:solidFill>
        </p:spPr>
        <p:txBody>
          <a:bodyPr tIns="108000" bIns="108000" rtlCol="0">
            <a:spAutoFit/>
          </a:bodyPr>
          <a:lstStyle>
            <a:lvl1pPr>
              <a:lnSpc>
                <a:spcPct val="100000"/>
              </a:lnSpc>
              <a:defRPr sz="40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contenido anchos">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1AD08-4E28-4191-9B62-EAD61608E5CF}"/>
              </a:ext>
            </a:extLst>
          </p:cNvPr>
          <p:cNvSpPr>
            <a:spLocks noGrp="1"/>
          </p:cNvSpPr>
          <p:nvPr>
            <p:ph type="title"/>
          </p:nvPr>
        </p:nvSpPr>
        <p:spPr>
          <a:xfrm>
            <a:off x="838200" y="303301"/>
            <a:ext cx="6273800" cy="1449216"/>
          </a:xfrm>
          <a:solidFill>
            <a:schemeClr val="accent2">
              <a:lumMod val="50000"/>
            </a:schemeClr>
          </a:solidFill>
        </p:spPr>
        <p:txBody>
          <a:bodyPr vert="horz" lIns="91440" tIns="108000" rIns="91440" bIns="108000" rtlCol="0" anchor="ctr">
            <a:spAutoFit/>
          </a:bodyPr>
          <a:lstStyle>
            <a:lvl1pPr>
              <a:defRPr lang="en-US" sz="4000"/>
            </a:lvl1pPr>
          </a:lstStyle>
          <a:p>
            <a:pPr lvl="0" rtl="0">
              <a:lnSpc>
                <a:spcPct val="100000"/>
              </a:lnSpc>
            </a:pPr>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de la derecha">
    <p:spTree>
      <p:nvGrpSpPr>
        <p:cNvPr id="1" name=""/>
        <p:cNvGrpSpPr/>
        <p:nvPr/>
      </p:nvGrpSpPr>
      <p:grpSpPr>
        <a:xfrm>
          <a:off x="0" y="0"/>
          <a:ext cx="0" cy="0"/>
          <a:chOff x="0" y="0"/>
          <a:chExt cx="0" cy="0"/>
        </a:xfrm>
      </p:grpSpPr>
      <p:sp>
        <p:nvSpPr>
          <p:cNvPr id="7" name="Marcador de posición de imagen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Inserte su imagen aquí</a:t>
            </a:r>
          </a:p>
        </p:txBody>
      </p:sp>
      <p:sp>
        <p:nvSpPr>
          <p:cNvPr id="2" name="Título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303301"/>
            <a:ext cx="4695825" cy="1449216"/>
          </a:xfrm>
          <a:solidFill>
            <a:schemeClr val="accent2">
              <a:lumMod val="50000"/>
            </a:schemeClr>
          </a:solidFill>
        </p:spPr>
        <p:txBody>
          <a:bodyPr wrap="square" tIns="108000" bIns="108000" rtlCol="0">
            <a:spAutoFit/>
          </a:bodyPr>
          <a:lstStyle>
            <a:lvl1pPr>
              <a:lnSpc>
                <a:spcPct val="100000"/>
              </a:lnSpc>
              <a:defRPr sz="4000"/>
            </a:lvl1pPr>
          </a:lstStyle>
          <a:p>
            <a:pPr rtl="0"/>
            <a:r>
              <a:rPr lang="es-ES" noProof="0"/>
              <a:t>Editar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contenido: horizontal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rtlCol="0" anchor="ctr">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4" name="Marcador de número de diapositiva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contenido: horizontal 2">
    <p:spTree>
      <p:nvGrpSpPr>
        <p:cNvPr id="1" name=""/>
        <p:cNvGrpSpPr/>
        <p:nvPr/>
      </p:nvGrpSpPr>
      <p:grpSpPr>
        <a:xfrm>
          <a:off x="0" y="0"/>
          <a:ext cx="0" cy="0"/>
          <a:chOff x="0" y="0"/>
          <a:chExt cx="0" cy="0"/>
        </a:xfrm>
      </p:grpSpPr>
      <p:sp>
        <p:nvSpPr>
          <p:cNvPr id="17" name="Título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rtlCol="0">
            <a:normAutofit/>
          </a:bodyPr>
          <a:lstStyle>
            <a:lvl1pPr>
              <a:lnSpc>
                <a:spcPct val="70000"/>
              </a:lnSpc>
              <a:defRPr sz="5200" spc="-15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rtlCol="0" anchor="ct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4" name="Marcador de número de diapositiva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rtlCol="0"/>
          <a:lstStyle>
            <a:lvl1pPr>
              <a:defRPr>
                <a:solidFill>
                  <a:schemeClr val="tx1">
                    <a:lumMod val="85000"/>
                    <a:lumOff val="15000"/>
                  </a:schemeClr>
                </a:solidFill>
              </a:defRPr>
            </a:lvl1pPr>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contenido: horizontal 3">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
        <p:nvSpPr>
          <p:cNvPr id="5" name="Marcador de contenido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Título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680322"/>
          </a:xfrm>
          <a:solidFill>
            <a:schemeClr val="accent2">
              <a:lumMod val="50000"/>
            </a:schemeClr>
          </a:solidFill>
        </p:spPr>
        <p:txBody>
          <a:bodyPr wrap="square" tIns="108000" bIns="108000" rtlCol="0" anchor="t">
            <a:spAutoFit/>
          </a:bodyPr>
          <a:lstStyle>
            <a:lvl1pPr>
              <a:lnSpc>
                <a:spcPct val="100000"/>
              </a:lnSpc>
              <a:defRPr sz="4000"/>
            </a:lvl1pPr>
          </a:lstStyle>
          <a:p>
            <a:pPr rtl="0"/>
            <a:r>
              <a:rPr lang="es-ES" noProof="0"/>
              <a:t>Haga clic para modificar el estilo de título del patrón</a:t>
            </a:r>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Encabezado de la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número de diapositiva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1AB651-5612-4E6A-9B35-A555D082EC2F}"/>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número de diapositiva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contenido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contenido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número de diapositiva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F2623-2255-4BBA-9577-B3A3FD2AE8E8}"/>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número de diapositiva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número de diapositiva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rtlCol="0"/>
          <a:lstStyle/>
          <a:p>
            <a:pPr rtl="0"/>
            <a:r>
              <a:rPr lang="es-ES" noProof="0"/>
              <a:t>PÁGINA </a:t>
            </a:r>
            <a:fld id="{4A9B5881-4007-4345-955A-79C2656F0C49}" type="slidenum">
              <a:rPr lang="es-ES" noProof="0" smtClean="0"/>
              <a:pPr rtl="0"/>
              <a:t>‹Nº›</a:t>
            </a:fld>
            <a:endParaRPr lang="es-ES" noProof="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Marcador de título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número de diapositiva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pPr rtl="0"/>
            <a:r>
              <a:rPr lang="es-ES" noProof="0"/>
              <a:t>PÁGINA </a:t>
            </a:r>
            <a:fld id="{4A9B5881-4007-4345-955A-79C2656F0C49}" type="slidenum">
              <a:rPr lang="es-ES" noProof="0" smtClean="0"/>
              <a:pPr rtl="0"/>
              <a:t>‹Nº›</a:t>
            </a:fld>
            <a:endParaRPr lang="es-ES" noProof="0"/>
          </a:p>
        </p:txBody>
      </p:sp>
      <p:sp>
        <p:nvSpPr>
          <p:cNvPr id="7" name="Rectángulo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s-ES" dirty="0"/>
              <a:t>Unidad I: Teoría de Números</a:t>
            </a:r>
          </a:p>
        </p:txBody>
      </p:sp>
      <p:pic>
        <p:nvPicPr>
          <p:cNvPr id="29" name="Marcador de posición de imagen 28" descr="Joven estudiante dibujando en una pizarra">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a:fillRect/>
          </a:stretch>
        </p:blipFill>
        <p:spPr/>
      </p:pic>
      <p:sp>
        <p:nvSpPr>
          <p:cNvPr id="6" name="Marcador de texto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marL="285750" indent="-285750" rtl="0">
              <a:buFont typeface="Arial" panose="020B0604020202020204" pitchFamily="34" charset="0"/>
              <a:buChar char="•"/>
            </a:pPr>
            <a:r>
              <a:rPr lang="es-ES" sz="2000" dirty="0"/>
              <a:t>Razones y proporciones</a:t>
            </a:r>
          </a:p>
          <a:p>
            <a:pPr marL="285750" indent="-285750" rtl="0">
              <a:buFont typeface="Arial" panose="020B0604020202020204" pitchFamily="34" charset="0"/>
              <a:buChar char="•"/>
            </a:pPr>
            <a:r>
              <a:rPr lang="es-ES" sz="2000" dirty="0"/>
              <a:t>Regla de tres</a:t>
            </a:r>
          </a:p>
          <a:p>
            <a:pPr rtl="0"/>
            <a:endParaRPr lang="es-ES" dirty="0"/>
          </a:p>
        </p:txBody>
      </p:sp>
      <p:sp>
        <p:nvSpPr>
          <p:cNvPr id="15" name="Marcador de número de diapositiva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s-ES"/>
              <a:t>PÁGINA </a:t>
            </a:r>
            <a:fld id="{4A9B5881-4007-4345-955A-79C2656F0C49}" type="slidenum">
              <a:rPr lang="es-ES" smtClean="0"/>
              <a:pPr/>
              <a:t>1</a:t>
            </a:fld>
            <a:endParaRPr lang="es-ES"/>
          </a:p>
        </p:txBody>
      </p:sp>
    </p:spTree>
    <p:extLst>
      <p:ext uri="{BB962C8B-B14F-4D97-AF65-F5344CB8AC3E}">
        <p14:creationId xmlns:p14="http://schemas.microsoft.com/office/powerpoint/2010/main" val="1136250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401470" y="301263"/>
            <a:ext cx="5257801" cy="759547"/>
          </a:xfrm>
        </p:spPr>
        <p:txBody>
          <a:bodyPr rtlCol="0"/>
          <a:lstStyle/>
          <a:p>
            <a:pPr rtl="0"/>
            <a:r>
              <a:rPr lang="es-ES" dirty="0"/>
              <a:t>Razones y proporciones</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560531" y="1345300"/>
            <a:ext cx="11408555" cy="5124480"/>
          </a:xfrm>
        </p:spPr>
        <p:txBody>
          <a:bodyPr rtlCol="0">
            <a:spAutoFit/>
          </a:bodyPr>
          <a:lstStyle/>
          <a:p>
            <a:pPr algn="just" rtl="0"/>
            <a:r>
              <a:rPr lang="es-ES" dirty="0"/>
              <a:t>Las razones y proporciones, nosotros denominamos razón al cociente que es indicado por dos números y que representa la relación entre dos cantidades y una proporción a la igualdad que existe entre dos o más razones.</a:t>
            </a:r>
            <a:endParaRPr lang="es-ES" noProof="1"/>
          </a:p>
          <a:p>
            <a:pPr algn="just" rtl="0"/>
            <a:r>
              <a:rPr lang="es-ES" noProof="1"/>
              <a:t> Una </a:t>
            </a:r>
            <a:r>
              <a:rPr lang="es-ES" b="1" noProof="1"/>
              <a:t>razón</a:t>
            </a:r>
            <a:r>
              <a:rPr lang="es-ES" noProof="1"/>
              <a:t> </a:t>
            </a:r>
            <a:r>
              <a:rPr lang="es-ES" u="sng" noProof="1"/>
              <a:t>indica en forma de división la relación entre dos cantidades</a:t>
            </a:r>
            <a:r>
              <a:rPr lang="es-ES" noProof="1"/>
              <a:t>. Nos indica cuántas unidades hay en relación con las otras, y se suele indicar simplificando las fracciones. Por ejemplo, si en un salón de clases tenemos 24 niñas y 18 niños, entonces lo representaremos de alguna de las siguientes formas:</a:t>
            </a:r>
          </a:p>
          <a:p>
            <a:pPr algn="just" rtl="0"/>
            <a:endParaRPr lang="es-ES" noProof="1"/>
          </a:p>
          <a:p>
            <a:pPr marL="3584575" indent="0" algn="just" rtl="0">
              <a:buNone/>
            </a:pPr>
            <a:r>
              <a:rPr lang="es-ES" noProof="1"/>
              <a:t>24/18</a:t>
            </a:r>
          </a:p>
          <a:p>
            <a:pPr marL="3584575" indent="0" algn="just" rtl="0">
              <a:buNone/>
            </a:pPr>
            <a:r>
              <a:rPr lang="es-ES" noProof="1"/>
              <a:t>24:18</a:t>
            </a:r>
          </a:p>
          <a:p>
            <a:pPr marL="0" indent="0" algn="just" rtl="0">
              <a:buNone/>
            </a:pPr>
            <a:r>
              <a:rPr lang="es-ES" noProof="1"/>
              <a:t>Y como la fracción podemos simplificarla al dividirla entre 6, entonces tendremos:</a:t>
            </a:r>
          </a:p>
          <a:p>
            <a:pPr algn="just" rtl="0"/>
            <a:endParaRPr lang="es-ES" noProof="1"/>
          </a:p>
          <a:p>
            <a:pPr marL="3497263" indent="0" algn="just" rtl="0">
              <a:buNone/>
            </a:pPr>
            <a:r>
              <a:rPr lang="es-ES" noProof="1"/>
              <a:t>4/3</a:t>
            </a:r>
          </a:p>
          <a:p>
            <a:pPr marL="3497263" indent="0" algn="just" rtl="0">
              <a:buNone/>
            </a:pPr>
            <a:r>
              <a:rPr lang="es-ES" noProof="1"/>
              <a:t>4:3</a:t>
            </a:r>
          </a:p>
          <a:p>
            <a:pPr algn="just" rtl="0"/>
            <a:endParaRPr lang="es-ES" noProof="1"/>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2</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389707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401470" y="301263"/>
            <a:ext cx="5257801" cy="759547"/>
          </a:xfrm>
        </p:spPr>
        <p:txBody>
          <a:bodyPr rtlCol="0"/>
          <a:lstStyle/>
          <a:p>
            <a:pPr rtl="0"/>
            <a:r>
              <a:rPr lang="es-ES" dirty="0"/>
              <a:t>Razones y proporciones</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560531" y="1345300"/>
            <a:ext cx="11408555" cy="4867999"/>
          </a:xfrm>
        </p:spPr>
        <p:txBody>
          <a:bodyPr rtlCol="0">
            <a:spAutoFit/>
          </a:bodyPr>
          <a:lstStyle/>
          <a:p>
            <a:pPr algn="just" rtl="0"/>
            <a:r>
              <a:rPr lang="es-ES" dirty="0"/>
              <a:t>La proporción indica mediante una igualdad la comparación de dos razones. Para escribir una proporción, debemos tener en cuenta que los valores antecedentes, siempre estén del mismo lado, al igual que los consecuentes.</a:t>
            </a:r>
          </a:p>
          <a:p>
            <a:pPr algn="just" rtl="0"/>
            <a:r>
              <a:rPr lang="es-ES" dirty="0"/>
              <a:t>En nuestro ejemplo del salón de clases, podemos comparar la razón que tenemos, de 4 niñas por cada 3 niños, y podremos calcular cuántos niños hay en un salón en relación con el número de niñas o viceversa. Para esto, en primer lugar escribiremos la proporción que ya conocemos:</a:t>
            </a:r>
            <a:endParaRPr lang="es-ES" noProof="1"/>
          </a:p>
          <a:p>
            <a:pPr marL="3584575" indent="0" algn="just" rtl="0">
              <a:buNone/>
            </a:pPr>
            <a:r>
              <a:rPr lang="es-ES" noProof="1"/>
              <a:t>4:3</a:t>
            </a:r>
          </a:p>
          <a:p>
            <a:pPr marL="174625" indent="0" algn="just" rtl="0">
              <a:buNone/>
            </a:pPr>
            <a:r>
              <a:rPr lang="es-ES" noProof="1"/>
              <a:t>Después, un signo de igualdad</a:t>
            </a:r>
          </a:p>
          <a:p>
            <a:pPr marL="3584575" indent="0" algn="just" rtl="0">
              <a:buNone/>
            </a:pPr>
            <a:r>
              <a:rPr lang="es-ES" noProof="1"/>
              <a:t>4:3=</a:t>
            </a:r>
          </a:p>
          <a:p>
            <a:pPr algn="just" rtl="0"/>
            <a:r>
              <a:rPr lang="es-ES" noProof="1"/>
              <a:t>Y después la cantidad total, por ejemplo, la del mismo salón, recordando que debemos respetar el orden del antecedente y del consecuente. En nuestro ejemplo, el antecedente será el número de niñas, y el consecuente el número de niños.</a:t>
            </a:r>
          </a:p>
          <a:p>
            <a:pPr marL="3497263" indent="0" algn="just" rtl="0">
              <a:buNone/>
            </a:pPr>
            <a:r>
              <a:rPr lang="es-ES" noProof="1"/>
              <a:t>4:3=24:18</a:t>
            </a:r>
          </a:p>
          <a:p>
            <a:pPr algn="just" rtl="0"/>
            <a:endParaRPr lang="es-ES" noProof="1"/>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3</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216983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401470" y="301263"/>
            <a:ext cx="5257801" cy="759547"/>
          </a:xfrm>
        </p:spPr>
        <p:txBody>
          <a:bodyPr rtlCol="0"/>
          <a:lstStyle/>
          <a:p>
            <a:pPr rtl="0"/>
            <a:r>
              <a:rPr lang="es-ES" dirty="0"/>
              <a:t>Razones y proporciones</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560531" y="1345300"/>
            <a:ext cx="11408555" cy="5016758"/>
          </a:xfrm>
        </p:spPr>
        <p:txBody>
          <a:bodyPr rtlCol="0">
            <a:spAutoFit/>
          </a:bodyPr>
          <a:lstStyle/>
          <a:p>
            <a:pPr algn="just" rtl="0"/>
            <a:r>
              <a:rPr lang="es-ES" dirty="0"/>
              <a:t>Para comprobar la igualdad de la proporción, se efectúan dos multiplicaciones. En una proporción, tomaremos como referencia el signo de igualdad. Los números que están más cercanos, se llaman centros, y los números más lejanos son los extremos. En nuestro ejemplo, los números 3 y 24 son los más cercanos al signo igual, por lo que son los centros. El 4 y el 18, son los extremos. Para comprobar que la proporción es correcta, el producto de la multiplicación de los centros debe ser igual al producto de la multiplicación de los extremos:</a:t>
            </a:r>
          </a:p>
          <a:p>
            <a:pPr marL="3948113" indent="0" algn="just" rtl="0">
              <a:buNone/>
            </a:pPr>
            <a:r>
              <a:rPr lang="es-ES" noProof="1"/>
              <a:t>3 X 24 = 72</a:t>
            </a:r>
          </a:p>
          <a:p>
            <a:pPr marL="3948113" indent="0" algn="just" rtl="0">
              <a:buNone/>
            </a:pPr>
            <a:r>
              <a:rPr lang="es-ES" noProof="1"/>
              <a:t>4 X 18 = 72</a:t>
            </a:r>
          </a:p>
          <a:p>
            <a:pPr algn="just" rtl="0"/>
            <a:r>
              <a:rPr lang="es-ES" noProof="1"/>
              <a:t>Las proporciones pueden expresar relaciones en que el aumento de la cantidad del antecedente aumenta la cantidad del consecuente. A esta variación se le llama </a:t>
            </a:r>
            <a:r>
              <a:rPr lang="es-ES" b="1" noProof="1"/>
              <a:t>proporción directa</a:t>
            </a:r>
            <a:r>
              <a:rPr lang="es-ES" noProof="1"/>
              <a:t>. El ejemplo anterior es una proporción directa.</a:t>
            </a:r>
          </a:p>
          <a:p>
            <a:pPr algn="just" rtl="0"/>
            <a:r>
              <a:rPr lang="es-ES" noProof="1"/>
              <a:t>En una </a:t>
            </a:r>
            <a:r>
              <a:rPr lang="es-ES" b="1" noProof="1"/>
              <a:t>proporción inversa</a:t>
            </a:r>
            <a:r>
              <a:rPr lang="es-ES" noProof="1"/>
              <a:t>, el aumento de la cantidad en el antecedente significa la disminución de la cantidad en el consecuente.</a:t>
            </a:r>
          </a:p>
          <a:p>
            <a:pPr algn="just" rtl="0"/>
            <a:endParaRPr lang="es-ES" noProof="1"/>
          </a:p>
          <a:p>
            <a:pPr algn="just" rtl="0"/>
            <a:endParaRPr lang="es-ES" noProof="1"/>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4</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2443278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401470" y="301263"/>
            <a:ext cx="5257801" cy="759547"/>
          </a:xfrm>
        </p:spPr>
        <p:txBody>
          <a:bodyPr rtlCol="0"/>
          <a:lstStyle/>
          <a:p>
            <a:pPr rtl="0"/>
            <a:r>
              <a:rPr lang="es-ES" dirty="0"/>
              <a:t>Razones y proporciones</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560531" y="1345300"/>
            <a:ext cx="11408555" cy="4037003"/>
          </a:xfrm>
        </p:spPr>
        <p:txBody>
          <a:bodyPr rtlCol="0">
            <a:spAutoFit/>
          </a:bodyPr>
          <a:lstStyle/>
          <a:p>
            <a:pPr algn="just" rtl="0"/>
            <a:r>
              <a:rPr lang="es-ES" dirty="0"/>
              <a:t>Por ejemplo, en una mueblería, 6 trabajadores hacen 8 sillones en 4 días. Si queremos saber cuántos trabajadores se necesitan para construir los 8 sillones en 1, 2 y 3 días, usaremos una proporción inversa.</a:t>
            </a:r>
          </a:p>
          <a:p>
            <a:pPr algn="just" rtl="0"/>
            <a:r>
              <a:rPr lang="es-ES" dirty="0"/>
              <a:t>Para determinarla, usaremos el número de trabajadores como cifra antecedente, y el número de días como cifra consecuente:</a:t>
            </a:r>
          </a:p>
          <a:p>
            <a:pPr marL="4035425" indent="0" algn="just" rtl="0">
              <a:buNone/>
            </a:pPr>
            <a:r>
              <a:rPr lang="es-ES" dirty="0"/>
              <a:t>6:4=</a:t>
            </a:r>
          </a:p>
          <a:p>
            <a:pPr algn="just" rtl="0"/>
            <a:r>
              <a:rPr lang="es-ES" dirty="0"/>
              <a:t>Siguiendo el mismo orden, del otro lado de la igualdad tendremos como antecedente nuevamente el número de trabajadores, y como consecuente los días que tardarán. Tendremos algo como lo siguiente:</a:t>
            </a:r>
          </a:p>
          <a:p>
            <a:pPr marL="3948113" indent="0" algn="just" rtl="0">
              <a:buNone/>
            </a:pPr>
            <a:r>
              <a:rPr lang="es-ES" dirty="0"/>
              <a:t>6:4 = ?:3</a:t>
            </a:r>
          </a:p>
          <a:p>
            <a:pPr marL="3948113" indent="0" algn="just" rtl="0">
              <a:buNone/>
            </a:pPr>
            <a:r>
              <a:rPr lang="es-ES" dirty="0"/>
              <a:t>6:4 = ?:2</a:t>
            </a:r>
          </a:p>
          <a:p>
            <a:pPr marL="3948113" indent="0" algn="just" rtl="0">
              <a:buNone/>
            </a:pPr>
            <a:r>
              <a:rPr lang="es-ES" dirty="0"/>
              <a:t>6:4 = ?:1</a:t>
            </a:r>
          </a:p>
          <a:p>
            <a:pPr marL="0" indent="0" algn="just" rtl="0">
              <a:buNone/>
            </a:pPr>
            <a:endParaRPr lang="es-ES" noProof="1"/>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5</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4060681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401470" y="301263"/>
            <a:ext cx="5257801" cy="759547"/>
          </a:xfrm>
        </p:spPr>
        <p:txBody>
          <a:bodyPr rtlCol="0"/>
          <a:lstStyle/>
          <a:p>
            <a:pPr rtl="0"/>
            <a:r>
              <a:rPr lang="es-ES" dirty="0"/>
              <a:t>Razones y proporciones</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662131" y="1207018"/>
            <a:ext cx="11408555" cy="5529719"/>
          </a:xfrm>
        </p:spPr>
        <p:txBody>
          <a:bodyPr rtlCol="0">
            <a:spAutoFit/>
          </a:bodyPr>
          <a:lstStyle/>
          <a:p>
            <a:pPr algn="just" rtl="0"/>
            <a:r>
              <a:rPr lang="es-ES" dirty="0"/>
              <a:t>Para determinar la proporción inversa, multiplicaremos los factores de la razón conocida, en nuestro ejemplo, 6 y 4, y el resultado lo dividiremos entre el dato conocido de la segunda razón. Así, en nuestro ejemplo, tendremos:</a:t>
            </a:r>
          </a:p>
          <a:p>
            <a:pPr marL="3860800" indent="0" algn="just" rtl="0">
              <a:buNone/>
            </a:pPr>
            <a:r>
              <a:rPr lang="es-ES" noProof="1"/>
              <a:t>6 X 4 = 24</a:t>
            </a:r>
          </a:p>
          <a:p>
            <a:pPr marL="3860800" indent="0" algn="just" rtl="0">
              <a:buNone/>
            </a:pPr>
            <a:r>
              <a:rPr lang="es-ES" noProof="1"/>
              <a:t>24 / 3 = 8</a:t>
            </a:r>
          </a:p>
          <a:p>
            <a:pPr marL="3860800" indent="0" algn="just" rtl="0">
              <a:buNone/>
            </a:pPr>
            <a:r>
              <a:rPr lang="es-ES" noProof="1"/>
              <a:t>24 / 2 = 12</a:t>
            </a:r>
          </a:p>
          <a:p>
            <a:pPr marL="3860800" indent="0" algn="just" rtl="0">
              <a:buNone/>
            </a:pPr>
            <a:r>
              <a:rPr lang="es-ES" noProof="1"/>
              <a:t>24 / 1 = 24</a:t>
            </a:r>
          </a:p>
          <a:p>
            <a:pPr marL="0" indent="0" algn="just" rtl="0">
              <a:buNone/>
            </a:pPr>
            <a:r>
              <a:rPr lang="es-ES" noProof="1"/>
              <a:t>Así tendremos las proporciones siguientes:</a:t>
            </a:r>
          </a:p>
          <a:p>
            <a:pPr marL="3860800" indent="0" algn="just" rtl="0">
              <a:buNone/>
            </a:pPr>
            <a:r>
              <a:rPr lang="es-ES" noProof="1"/>
              <a:t>6:4 = 8:3</a:t>
            </a:r>
          </a:p>
          <a:p>
            <a:pPr marL="3860800" indent="0" algn="just" rtl="0">
              <a:buNone/>
            </a:pPr>
            <a:r>
              <a:rPr lang="es-ES" noProof="1"/>
              <a:t>6:4 = 12:2</a:t>
            </a:r>
          </a:p>
          <a:p>
            <a:pPr marL="3860800" indent="0" algn="just" rtl="0">
              <a:buNone/>
            </a:pPr>
            <a:r>
              <a:rPr lang="es-ES" noProof="1"/>
              <a:t>6:4 = 24:1</a:t>
            </a:r>
          </a:p>
          <a:p>
            <a:pPr algn="just" rtl="0"/>
            <a:r>
              <a:rPr lang="es-ES" noProof="1"/>
              <a:t>Con lo que podemos calcular que, para producir los 8 sillones en tres días, necesitamos 8 trabajadores; para fabricarlos en dos días, necesitamos 12 trabajadores, y para hacerlos en 1 día, necesitamos 24 trabajadores</a:t>
            </a:r>
          </a:p>
          <a:p>
            <a:pPr algn="just" rtl="0"/>
            <a:endParaRPr lang="es-ES" noProof="1"/>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6</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3504364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401470" y="304799"/>
            <a:ext cx="10818073" cy="667657"/>
          </a:xfrm>
        </p:spPr>
        <p:txBody>
          <a:bodyPr rtlCol="0"/>
          <a:lstStyle/>
          <a:p>
            <a:pPr rtl="0"/>
            <a:r>
              <a:rPr lang="es-ES" dirty="0"/>
              <a:t>Razones y proporciones - Ejemplos de razones</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662131" y="1328281"/>
            <a:ext cx="11408555" cy="3672800"/>
          </a:xfrm>
        </p:spPr>
        <p:txBody>
          <a:bodyPr rtlCol="0">
            <a:spAutoFit/>
          </a:bodyPr>
          <a:lstStyle/>
          <a:p>
            <a:pPr algn="just" rtl="0"/>
            <a:r>
              <a:rPr lang="es-ES" dirty="0"/>
              <a:t>En una caja tenemos 45 canicas azules y 105 canicas rojas. La expresamos como 45:105 y dividiendo entre 15, tenemos que la razón es de 3:7 (tres por cada siete), o sea, tres canicas azules por cada siete canicas rojas.</a:t>
            </a:r>
          </a:p>
          <a:p>
            <a:pPr algn="just" rtl="0"/>
            <a:r>
              <a:rPr lang="es-ES" dirty="0"/>
              <a:t>En una clase de un colegio cada pelota es utilizada por cada equipo de cinco niños, o sea que tenemos cinco alumnos por cada pelota de fútbol. Tenemos entonces en este ejemplo de razón que la relación entre alumnos – pelotas es 5 a 1. Esta razón se escribe 5:1 y concluimos que existe una razón de cinco alumnos por cada pelota de fútbol.</a:t>
            </a:r>
          </a:p>
          <a:p>
            <a:pPr algn="just" rtl="0"/>
            <a:r>
              <a:rPr lang="es-ES" noProof="1"/>
              <a:t>En un estacionamiento hay coches de fábricas asiáticas y de fábricas americanas. En total hay 3060 coches, de los cuales, 1740 son de fabricación asiática y el resto, 1320, son de fabricación americana. Esto nos dará que la razón es de 1740/1320. Para simplificarla, la dividimos primero entre 10, lo que nos deja 174/132. Si ahora lo dividimos entre 6, tendremos la razón 29:22, o sea que en el estacionamiento hay 29 automóviles asiáticos por cada 22 automóviles americanos.</a:t>
            </a:r>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7</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2771525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121314" y="290285"/>
            <a:ext cx="11949372" cy="710093"/>
          </a:xfrm>
        </p:spPr>
        <p:txBody>
          <a:bodyPr rtlCol="0"/>
          <a:lstStyle/>
          <a:p>
            <a:pPr rtl="0"/>
            <a:r>
              <a:rPr lang="es-ES" dirty="0"/>
              <a:t>Razones y proporciones - Ejemplos de Proporción directa</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4975721"/>
          </a:xfrm>
        </p:spPr>
        <p:txBody>
          <a:bodyPr wrap="square" rtlCol="0">
            <a:spAutoFit/>
          </a:bodyPr>
          <a:lstStyle/>
          <a:p>
            <a:pPr algn="just" rtl="0"/>
            <a:r>
              <a:rPr lang="es-ES" dirty="0"/>
              <a:t>En una tienda se venden dulces nacionales e importados, a razón de 3:2 Si sabemos que al día se vende 255 dulces nacionales, ¿Cuántos dulces importados se venden al día?</a:t>
            </a:r>
          </a:p>
          <a:p>
            <a:pPr marL="4208463" indent="0" algn="just" rtl="0">
              <a:buNone/>
            </a:pPr>
            <a:r>
              <a:rPr lang="es-ES" dirty="0"/>
              <a:t>3:2=255:?</a:t>
            </a:r>
          </a:p>
          <a:p>
            <a:pPr marL="4208463" indent="0" algn="just" rtl="0">
              <a:buNone/>
            </a:pPr>
            <a:r>
              <a:rPr lang="es-ES" dirty="0"/>
              <a:t>2 X 255 = 510</a:t>
            </a:r>
          </a:p>
          <a:p>
            <a:pPr marL="4208463" indent="0" algn="just" rtl="0">
              <a:buNone/>
            </a:pPr>
            <a:r>
              <a:rPr lang="es-ES" dirty="0"/>
              <a:t>510 / 3 = 170 dulces importados.</a:t>
            </a:r>
          </a:p>
          <a:p>
            <a:pPr marL="4208463" indent="0" algn="just" rtl="0">
              <a:buNone/>
            </a:pPr>
            <a:r>
              <a:rPr lang="es-ES" dirty="0"/>
              <a:t>3:2 = 255:170 (tres es a dos como 255 es a 170).</a:t>
            </a:r>
          </a:p>
          <a:p>
            <a:pPr algn="just"/>
            <a:r>
              <a:rPr lang="es-ES" dirty="0"/>
              <a:t>En una fiesta se invitaron a niños y niñas. Si sabemos que acudieron en una proporción de 6 niñas por cada 4 niños, y en la fiesta hay 32 niños ¿Cuántas niñas fueron?</a:t>
            </a:r>
          </a:p>
          <a:p>
            <a:pPr marL="4208463" indent="0" algn="just" rtl="0">
              <a:buNone/>
            </a:pPr>
            <a:r>
              <a:rPr lang="es-ES" dirty="0"/>
              <a:t>6:4 = ?:32</a:t>
            </a:r>
          </a:p>
          <a:p>
            <a:pPr marL="4208463" indent="0" algn="just" rtl="0">
              <a:buNone/>
            </a:pPr>
            <a:r>
              <a:rPr lang="es-ES" dirty="0"/>
              <a:t>32 X 6 = 192</a:t>
            </a:r>
          </a:p>
          <a:p>
            <a:pPr marL="4208463" indent="0" algn="just" rtl="0">
              <a:buNone/>
            </a:pPr>
            <a:r>
              <a:rPr lang="es-ES" dirty="0"/>
              <a:t>192 / 4 = 48 niñas fueron a la fiesta.</a:t>
            </a:r>
          </a:p>
          <a:p>
            <a:pPr marL="4208463" indent="0" algn="just" rtl="0">
              <a:buNone/>
            </a:pPr>
            <a:r>
              <a:rPr lang="es-ES" dirty="0"/>
              <a:t>6:4 = 48:32 (6 es a 4 como 48 es a 32)</a:t>
            </a:r>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8</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1264033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121314" y="290285"/>
            <a:ext cx="11949372" cy="710093"/>
          </a:xfrm>
        </p:spPr>
        <p:txBody>
          <a:bodyPr rtlCol="0"/>
          <a:lstStyle/>
          <a:p>
            <a:pPr rtl="0"/>
            <a:r>
              <a:rPr lang="es-ES" dirty="0"/>
              <a:t>Razones y proporciones - Ejemplos de Proporción directa</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2800767"/>
          </a:xfrm>
        </p:spPr>
        <p:txBody>
          <a:bodyPr wrap="square" rtlCol="0">
            <a:spAutoFit/>
          </a:bodyPr>
          <a:lstStyle/>
          <a:p>
            <a:pPr algn="just" rtl="0"/>
            <a:r>
              <a:rPr lang="es-ES" dirty="0"/>
              <a:t>Para armar una mesa, se necesitan 14 tornillos. ¿Cuántos tornillos necesitamos para armar 9 mesas?</a:t>
            </a:r>
          </a:p>
          <a:p>
            <a:pPr algn="just" rtl="0"/>
            <a:endParaRPr lang="es-ES" dirty="0"/>
          </a:p>
          <a:p>
            <a:pPr marL="4208463" indent="0" algn="just" rtl="0">
              <a:buNone/>
            </a:pPr>
            <a:r>
              <a:rPr lang="es-ES" dirty="0"/>
              <a:t>14:1 = ?:9</a:t>
            </a:r>
          </a:p>
          <a:p>
            <a:pPr marL="4208463" indent="0" algn="just" rtl="0">
              <a:buNone/>
            </a:pPr>
            <a:r>
              <a:rPr lang="es-ES" dirty="0"/>
              <a:t>14 X 9 = 126</a:t>
            </a:r>
          </a:p>
          <a:p>
            <a:pPr marL="4208463" indent="0" algn="just" rtl="0">
              <a:buNone/>
            </a:pPr>
            <a:r>
              <a:rPr lang="es-ES" dirty="0"/>
              <a:t>126 / 1 = 126 tornillos son necesarios.</a:t>
            </a:r>
          </a:p>
          <a:p>
            <a:pPr marL="4208463" indent="0" algn="just" rtl="0">
              <a:buNone/>
            </a:pPr>
            <a:r>
              <a:rPr lang="es-ES" dirty="0"/>
              <a:t>14:1 = 126:9 (14 es a 1 como 126 es a 9)</a:t>
            </a:r>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9</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Tree>
    <p:extLst>
      <p:ext uri="{BB962C8B-B14F-4D97-AF65-F5344CB8AC3E}">
        <p14:creationId xmlns:p14="http://schemas.microsoft.com/office/powerpoint/2010/main" val="759528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9600F-A17E-4354-A7AB-0CC2A43A9354}"/>
              </a:ext>
            </a:extLst>
          </p:cNvPr>
          <p:cNvSpPr>
            <a:spLocks noGrp="1"/>
          </p:cNvSpPr>
          <p:nvPr>
            <p:ph type="title"/>
          </p:nvPr>
        </p:nvSpPr>
        <p:spPr>
          <a:xfrm>
            <a:off x="121314" y="228500"/>
            <a:ext cx="11949372" cy="833663"/>
          </a:xfrm>
        </p:spPr>
        <p:txBody>
          <a:bodyPr rtlCol="0"/>
          <a:lstStyle/>
          <a:p>
            <a:pPr rtl="0"/>
            <a:r>
              <a:rPr lang="es-ES" dirty="0"/>
              <a:t>Razones y proporciones - Ejemplos de Proporción inversa</a:t>
            </a:r>
          </a:p>
        </p:txBody>
      </p:sp>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5914440"/>
          </a:xfrm>
        </p:spPr>
        <p:txBody>
          <a:bodyPr wrap="square" rtlCol="0">
            <a:spAutoFit/>
          </a:bodyPr>
          <a:lstStyle/>
          <a:p>
            <a:pPr algn="just" rtl="0"/>
            <a:r>
              <a:rPr lang="es-ES" dirty="0"/>
              <a:t>Si 4 alumnos realizan un trabajo en equipo en 45 minutos ¿Cuánto tiempo tardarán si el equipo está formado por 6, 8, 10 y 12 estudiantes? Tendremos las siguientes proporciones:</a:t>
            </a:r>
          </a:p>
          <a:p>
            <a:pPr marL="1349375" indent="0" algn="just" rtl="0">
              <a:buNone/>
            </a:pPr>
            <a:r>
              <a:rPr lang="es-ES" dirty="0"/>
              <a:t>a)      4:45 = 6:?</a:t>
            </a:r>
          </a:p>
          <a:p>
            <a:pPr marL="1349375" indent="0" algn="just" rtl="0">
              <a:buNone/>
            </a:pPr>
            <a:r>
              <a:rPr lang="es-ES" dirty="0"/>
              <a:t>b)      4:45 = 8:?</a:t>
            </a:r>
          </a:p>
          <a:p>
            <a:pPr marL="1349375" indent="0" algn="just" rtl="0">
              <a:buNone/>
            </a:pPr>
            <a:r>
              <a:rPr lang="es-ES" dirty="0"/>
              <a:t>c)      4:45 = 10:?</a:t>
            </a:r>
          </a:p>
          <a:p>
            <a:pPr marL="1349375" indent="0" algn="just" rtl="0">
              <a:buNone/>
            </a:pPr>
            <a:r>
              <a:rPr lang="es-ES" dirty="0"/>
              <a:t>d)     4:45 = 12:?</a:t>
            </a:r>
          </a:p>
          <a:p>
            <a:pPr marL="1349375" indent="0" algn="just" rtl="0">
              <a:buNone/>
            </a:pPr>
            <a:endParaRPr lang="es-ES" dirty="0"/>
          </a:p>
          <a:p>
            <a:pPr marL="1349375" indent="0" algn="just" rtl="0">
              <a:buNone/>
            </a:pPr>
            <a:r>
              <a:rPr lang="es-ES" dirty="0"/>
              <a:t>4 X 45 = 180</a:t>
            </a:r>
          </a:p>
          <a:p>
            <a:pPr marL="1349375" indent="0" algn="just" rtl="0">
              <a:buNone/>
            </a:pPr>
            <a:endParaRPr lang="es-ES" dirty="0"/>
          </a:p>
          <a:p>
            <a:pPr marL="1349375" indent="0" algn="just" rtl="0">
              <a:buNone/>
            </a:pPr>
            <a:r>
              <a:rPr lang="es-ES" dirty="0"/>
              <a:t>a)      180 / 6 = 30 minutos</a:t>
            </a:r>
          </a:p>
          <a:p>
            <a:pPr marL="1349375" indent="0" algn="just" rtl="0">
              <a:buNone/>
            </a:pPr>
            <a:r>
              <a:rPr lang="es-ES" dirty="0"/>
              <a:t>b)      180 / 8 = 22.5 minutos</a:t>
            </a:r>
          </a:p>
          <a:p>
            <a:pPr marL="1349375" indent="0" algn="just" rtl="0">
              <a:buNone/>
            </a:pPr>
            <a:r>
              <a:rPr lang="es-ES" dirty="0"/>
              <a:t>c)      180 / 10 = 18 minutos</a:t>
            </a:r>
          </a:p>
          <a:p>
            <a:pPr marL="1349375" indent="0" algn="just" rtl="0">
              <a:buNone/>
            </a:pPr>
            <a:r>
              <a:rPr lang="es-ES" dirty="0"/>
              <a:t>d)     180 / 12 = 15 minutos</a:t>
            </a:r>
          </a:p>
          <a:p>
            <a:pPr algn="just" rtl="0"/>
            <a:endParaRPr lang="es-ES" dirty="0"/>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10</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76737"/>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3" name="Marcador de contenido 2">
            <a:extLst>
              <a:ext uri="{FF2B5EF4-FFF2-40B4-BE49-F238E27FC236}">
                <a16:creationId xmlns:a16="http://schemas.microsoft.com/office/drawing/2014/main" id="{13E5CD51-7050-4E51-9F47-E9DC5C21B4AB}"/>
              </a:ext>
            </a:extLst>
          </p:cNvPr>
          <p:cNvSpPr txBox="1">
            <a:spLocks/>
          </p:cNvSpPr>
          <p:nvPr/>
        </p:nvSpPr>
        <p:spPr>
          <a:xfrm>
            <a:off x="6096000" y="3965947"/>
            <a:ext cx="9730292" cy="2395528"/>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16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Por lo que las proporciones serán:</a:t>
            </a:r>
          </a:p>
          <a:p>
            <a:endParaRPr lang="es-ES" dirty="0"/>
          </a:p>
          <a:p>
            <a:pPr marL="1262063" indent="0">
              <a:buNone/>
            </a:pPr>
            <a:r>
              <a:rPr lang="es-ES" dirty="0"/>
              <a:t>a)      4:45 = 6:30</a:t>
            </a:r>
          </a:p>
          <a:p>
            <a:pPr marL="1262063" indent="0">
              <a:buNone/>
            </a:pPr>
            <a:r>
              <a:rPr lang="es-ES" dirty="0"/>
              <a:t>b)      4:45 = 8:22.5</a:t>
            </a:r>
          </a:p>
          <a:p>
            <a:pPr marL="1262063" indent="0">
              <a:buNone/>
            </a:pPr>
            <a:r>
              <a:rPr lang="es-ES" dirty="0"/>
              <a:t>c)      4:45 = 10:18</a:t>
            </a:r>
          </a:p>
          <a:p>
            <a:pPr marL="1262063" indent="0">
              <a:buNone/>
            </a:pPr>
            <a:r>
              <a:rPr lang="es-ES" dirty="0"/>
              <a:t>d)     4:45 = 12:15</a:t>
            </a:r>
          </a:p>
        </p:txBody>
      </p:sp>
    </p:spTree>
    <p:extLst>
      <p:ext uri="{BB962C8B-B14F-4D97-AF65-F5344CB8AC3E}">
        <p14:creationId xmlns:p14="http://schemas.microsoft.com/office/powerpoint/2010/main" val="3428225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5698996"/>
          </a:xfrm>
        </p:spPr>
        <p:txBody>
          <a:bodyPr wrap="square" rtlCol="0">
            <a:spAutoFit/>
          </a:bodyPr>
          <a:lstStyle/>
          <a:p>
            <a:pPr algn="just" rtl="0"/>
            <a:r>
              <a:rPr lang="es-ES" dirty="0"/>
              <a:t>La regla de tres es una de las formas para resolver problemas matemáticos de proporciones. Sirve para calcular un número desconocido con base en la relación entre dos cantidades o magnitudes.</a:t>
            </a:r>
          </a:p>
          <a:p>
            <a:pPr algn="just" rtl="0"/>
            <a:r>
              <a:rPr lang="es-ES" dirty="0"/>
              <a:t>La regla de tres se utiliza ordenando las cantidades conocidas separadas por dos puntos (:) colocando la cantidad conocida en el mismo lugar en relación a los dos puntos (:) donde está la cantidad o magnitud semejante; así por ejemplo si representamos por A y B a unas cantidades conocidas que tienen relación y queremos saber la relación cuando aumenta la cantidad representada por A, que representaremos por A’ se escribirá así:</a:t>
            </a:r>
          </a:p>
          <a:p>
            <a:pPr marL="4935538" indent="0" algn="just" rtl="0">
              <a:buNone/>
            </a:pPr>
            <a:r>
              <a:rPr lang="es-ES" dirty="0"/>
              <a:t>A : B = A’ :  ?</a:t>
            </a:r>
          </a:p>
          <a:p>
            <a:pPr algn="just" rtl="0"/>
            <a:r>
              <a:rPr lang="es-ES" dirty="0"/>
              <a:t>Si el dato que conocemos es otra cantidad de B, que llamaremos B’, entonces se escribirá así:</a:t>
            </a:r>
          </a:p>
          <a:p>
            <a:pPr marL="4935538" indent="0" algn="just" rtl="0">
              <a:buNone/>
            </a:pPr>
            <a:r>
              <a:rPr lang="es-ES" dirty="0"/>
              <a:t>A : B = ? : B’</a:t>
            </a:r>
          </a:p>
          <a:p>
            <a:pPr algn="just" rtl="0"/>
            <a:r>
              <a:rPr lang="es-ES" dirty="0"/>
              <a:t>Los datos así ordenados se identifican en relación con el signo =, denominándolos centro a los más cercanos, y extremos a los alejados. Para calcular la incógnita, (o sea la cantidad desconocida), multiplicaremos los pares de datos conocidos, en relación con el signo =, o sea, en el primer ejemplo los del centro y en el segundo ejemplo los de los extremos, y dividiremos el resultado entre el dato conocido y del otro miembro de la ecuación.</a:t>
            </a:r>
          </a:p>
          <a:p>
            <a:pPr algn="just" rtl="0"/>
            <a:endParaRPr lang="es-ES" dirty="0"/>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11</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76738"/>
            <a:ext cx="2552123" cy="3447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800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3207657" cy="833663"/>
          </a:xfrm>
        </p:spPr>
        <p:txBody>
          <a:bodyPr/>
          <a:lstStyle/>
          <a:p>
            <a:r>
              <a:rPr lang="es-NI" dirty="0"/>
              <a:t>Regla de tres</a:t>
            </a:r>
          </a:p>
        </p:txBody>
      </p:sp>
    </p:spTree>
    <p:extLst>
      <p:ext uri="{BB962C8B-B14F-4D97-AF65-F5344CB8AC3E}">
        <p14:creationId xmlns:p14="http://schemas.microsoft.com/office/powerpoint/2010/main" val="4165571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4293483"/>
          </a:xfrm>
        </p:spPr>
        <p:txBody>
          <a:bodyPr wrap="square" rtlCol="0">
            <a:spAutoFit/>
          </a:bodyPr>
          <a:lstStyle/>
          <a:p>
            <a:pPr algn="just" rtl="0"/>
            <a:r>
              <a:rPr lang="es-ES" dirty="0"/>
              <a:t>Problema #01: Si en seis minutos con 11 segundos he consumido 59 calorías, ¿Cuántas calorías consumiré en 10 minutos?</a:t>
            </a:r>
          </a:p>
          <a:p>
            <a:pPr algn="just" rtl="0"/>
            <a:endParaRPr lang="es-ES" dirty="0"/>
          </a:p>
          <a:p>
            <a:pPr marL="0" indent="0" algn="just" rtl="0">
              <a:buNone/>
            </a:pPr>
            <a:r>
              <a:rPr lang="es-ES" b="1" dirty="0"/>
              <a:t>Paso 1</a:t>
            </a:r>
            <a:r>
              <a:rPr lang="es-ES" dirty="0"/>
              <a:t>: Primero ordenamos los datos y para facilitar las operaciones convertiremos los minutos a segundos:</a:t>
            </a:r>
          </a:p>
          <a:p>
            <a:pPr algn="just" rtl="0"/>
            <a:r>
              <a:rPr lang="es-ES" dirty="0"/>
              <a:t>Tiempo = 371 segundos</a:t>
            </a:r>
          </a:p>
          <a:p>
            <a:pPr algn="just" rtl="0"/>
            <a:r>
              <a:rPr lang="es-ES" dirty="0"/>
              <a:t>Calorías consumidas = 59 calorías</a:t>
            </a:r>
          </a:p>
          <a:p>
            <a:pPr algn="just" rtl="0"/>
            <a:r>
              <a:rPr lang="es-ES" dirty="0"/>
              <a:t>Tiempo 2 = 600 segundo</a:t>
            </a:r>
          </a:p>
          <a:p>
            <a:pPr algn="just" rtl="0"/>
            <a:r>
              <a:rPr lang="es-ES" dirty="0"/>
              <a:t>Calorías consumidas = X</a:t>
            </a:r>
          </a:p>
          <a:p>
            <a:pPr algn="just" rtl="0"/>
            <a:r>
              <a:rPr lang="es-ES" dirty="0"/>
              <a:t>Orden de los datos: 371 : 59 = 600 : X</a:t>
            </a:r>
          </a:p>
          <a:p>
            <a:pPr algn="just" rtl="0"/>
            <a:endParaRPr lang="es-ES" dirty="0"/>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12</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76738"/>
            <a:ext cx="2552123" cy="3447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800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5080000" cy="833663"/>
          </a:xfrm>
        </p:spPr>
        <p:txBody>
          <a:bodyPr/>
          <a:lstStyle/>
          <a:p>
            <a:r>
              <a:rPr lang="es-NI" dirty="0"/>
              <a:t>Regla de tres - Ejemplo</a:t>
            </a:r>
          </a:p>
        </p:txBody>
      </p:sp>
    </p:spTree>
    <p:extLst>
      <p:ext uri="{BB962C8B-B14F-4D97-AF65-F5344CB8AC3E}">
        <p14:creationId xmlns:p14="http://schemas.microsoft.com/office/powerpoint/2010/main" val="98952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4293483"/>
          </a:xfrm>
        </p:spPr>
        <p:txBody>
          <a:bodyPr wrap="square" rtlCol="0">
            <a:spAutoFit/>
          </a:bodyPr>
          <a:lstStyle/>
          <a:p>
            <a:pPr algn="just" rtl="0"/>
            <a:r>
              <a:rPr lang="es-ES" dirty="0"/>
              <a:t>Problema #01: Si en seis minutos con 11 segundos he consumido 59 calorías, ¿Cuántas calorías consumiré en 10 minutos?</a:t>
            </a:r>
          </a:p>
          <a:p>
            <a:pPr algn="just" rtl="0"/>
            <a:endParaRPr lang="es-ES" dirty="0"/>
          </a:p>
          <a:p>
            <a:pPr marL="0" indent="0" algn="just" rtl="0">
              <a:buNone/>
            </a:pPr>
            <a:r>
              <a:rPr lang="es-ES" b="1" dirty="0"/>
              <a:t>Paso 2: </a:t>
            </a:r>
            <a:r>
              <a:rPr lang="es-ES" dirty="0"/>
              <a:t>Como conocemos las cantidades del centro (las más cercanas al signo =) las multiplicaremos:</a:t>
            </a:r>
          </a:p>
          <a:p>
            <a:pPr marL="0" indent="0" algn="just" rtl="0">
              <a:buNone/>
            </a:pPr>
            <a:r>
              <a:rPr lang="es-ES" dirty="0"/>
              <a:t>59 x 600 = 35400</a:t>
            </a:r>
          </a:p>
          <a:p>
            <a:pPr marL="0" indent="0" algn="just" rtl="0">
              <a:buNone/>
            </a:pPr>
            <a:endParaRPr lang="es-ES" dirty="0"/>
          </a:p>
          <a:p>
            <a:pPr marL="0" indent="0" algn="just" rtl="0">
              <a:buNone/>
            </a:pPr>
            <a:r>
              <a:rPr lang="es-ES" b="1" dirty="0"/>
              <a:t>Paso tres: </a:t>
            </a:r>
            <a:r>
              <a:rPr lang="es-ES" dirty="0"/>
              <a:t>Ahora dividiremos el resultado obtenido entre el dato conocido:</a:t>
            </a:r>
          </a:p>
          <a:p>
            <a:pPr marL="0" indent="0" algn="just" rtl="0">
              <a:buNone/>
            </a:pPr>
            <a:r>
              <a:rPr lang="es-ES" dirty="0"/>
              <a:t>35400 /  371 = 95.41778976</a:t>
            </a:r>
          </a:p>
          <a:p>
            <a:pPr marL="0" indent="0" algn="just" rtl="0">
              <a:buNone/>
            </a:pPr>
            <a:r>
              <a:rPr lang="es-ES" dirty="0"/>
              <a:t>Por lo tanto en 10 minutos se consumirán 95.41778976</a:t>
            </a:r>
          </a:p>
          <a:p>
            <a:pPr algn="just" rtl="0"/>
            <a:endParaRPr lang="es-ES" dirty="0"/>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13</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76738"/>
            <a:ext cx="2552123" cy="3447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800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5080000" cy="833663"/>
          </a:xfrm>
        </p:spPr>
        <p:txBody>
          <a:bodyPr/>
          <a:lstStyle/>
          <a:p>
            <a:r>
              <a:rPr lang="es-NI" dirty="0"/>
              <a:t>Regla de tres - Ejemplo</a:t>
            </a:r>
          </a:p>
        </p:txBody>
      </p:sp>
    </p:spTree>
    <p:extLst>
      <p:ext uri="{BB962C8B-B14F-4D97-AF65-F5344CB8AC3E}">
        <p14:creationId xmlns:p14="http://schemas.microsoft.com/office/powerpoint/2010/main" val="3896324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4698722"/>
          </a:xfrm>
        </p:spPr>
        <p:txBody>
          <a:bodyPr wrap="square" rtlCol="0">
            <a:spAutoFit/>
          </a:bodyPr>
          <a:lstStyle/>
          <a:p>
            <a:pPr algn="just" rtl="0"/>
            <a:r>
              <a:rPr lang="es-ES" dirty="0"/>
              <a:t>Problema #01: Si en seis minutos con 11 segundos he consumido 59 calorías, ¿Cuántas calorías consumiré en 10 minutos?</a:t>
            </a:r>
          </a:p>
          <a:p>
            <a:pPr algn="just" rtl="0"/>
            <a:endParaRPr lang="es-ES" dirty="0"/>
          </a:p>
          <a:p>
            <a:pPr marL="0" indent="0" algn="just" rtl="0">
              <a:buNone/>
            </a:pPr>
            <a:r>
              <a:rPr lang="es-ES" b="1" dirty="0"/>
              <a:t>Paso 2: </a:t>
            </a:r>
            <a:r>
              <a:rPr lang="es-ES" dirty="0"/>
              <a:t>Como conocemos las cantidades del centro (las más cercanas al signo =) las multiplicaremos:</a:t>
            </a:r>
          </a:p>
          <a:p>
            <a:pPr marL="0" indent="0" algn="just" rtl="0">
              <a:buNone/>
            </a:pPr>
            <a:r>
              <a:rPr lang="es-ES" dirty="0"/>
              <a:t>59 x 600 = 35400</a:t>
            </a:r>
          </a:p>
          <a:p>
            <a:pPr marL="0" indent="0" algn="just" rtl="0">
              <a:buNone/>
            </a:pPr>
            <a:endParaRPr lang="es-ES" dirty="0"/>
          </a:p>
          <a:p>
            <a:pPr marL="0" indent="0" algn="just" rtl="0">
              <a:buNone/>
            </a:pPr>
            <a:r>
              <a:rPr lang="es-ES" b="1" dirty="0"/>
              <a:t>Paso tres: </a:t>
            </a:r>
            <a:r>
              <a:rPr lang="es-ES" dirty="0"/>
              <a:t>Ahora dividiremos el resultado obtenido entre el dato conocido:</a:t>
            </a:r>
          </a:p>
          <a:p>
            <a:pPr marL="0" indent="0" algn="just" rtl="0">
              <a:buNone/>
            </a:pPr>
            <a:r>
              <a:rPr lang="es-ES" dirty="0"/>
              <a:t>35400 /  371 = 95.41778976</a:t>
            </a:r>
          </a:p>
          <a:p>
            <a:pPr marL="0" indent="0" algn="just" rtl="0">
              <a:buNone/>
            </a:pPr>
            <a:r>
              <a:rPr lang="es-ES" dirty="0"/>
              <a:t>Por lo tanto en 10 minutos se consumirán 95.41778976</a:t>
            </a:r>
          </a:p>
          <a:p>
            <a:pPr marL="0" indent="0" algn="just" rtl="0">
              <a:buNone/>
            </a:pPr>
            <a:endParaRPr lang="es-ES" dirty="0"/>
          </a:p>
          <a:p>
            <a:pPr marL="0" indent="0" algn="just" rtl="0">
              <a:buNone/>
            </a:pPr>
            <a:r>
              <a:rPr lang="es-ES" dirty="0"/>
              <a:t>Respuesta: Si en 6 minutos con 11 segundos he consumido 59 calorías, en 10 minutos consumiré 95.42 calorías</a:t>
            </a:r>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14</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76738"/>
            <a:ext cx="2552123" cy="3447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800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5080000" cy="833663"/>
          </a:xfrm>
        </p:spPr>
        <p:txBody>
          <a:bodyPr/>
          <a:lstStyle/>
          <a:p>
            <a:r>
              <a:rPr lang="es-NI" dirty="0"/>
              <a:t>Regla de tres - Ejemplo</a:t>
            </a:r>
          </a:p>
        </p:txBody>
      </p:sp>
    </p:spTree>
    <p:extLst>
      <p:ext uri="{BB962C8B-B14F-4D97-AF65-F5344CB8AC3E}">
        <p14:creationId xmlns:p14="http://schemas.microsoft.com/office/powerpoint/2010/main" val="516383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A6A4B49-27C8-46B6-8B11-AD7E8F615E2C}"/>
              </a:ext>
            </a:extLst>
          </p:cNvPr>
          <p:cNvSpPr>
            <a:spLocks noGrp="1"/>
          </p:cNvSpPr>
          <p:nvPr>
            <p:ph idx="1"/>
          </p:nvPr>
        </p:nvSpPr>
        <p:spPr>
          <a:xfrm>
            <a:off x="348343" y="1328281"/>
            <a:ext cx="11722343" cy="4293483"/>
          </a:xfrm>
        </p:spPr>
        <p:txBody>
          <a:bodyPr wrap="square" rtlCol="0">
            <a:spAutoFit/>
          </a:bodyPr>
          <a:lstStyle/>
          <a:p>
            <a:pPr algn="just" rtl="0"/>
            <a:r>
              <a:rPr lang="es-ES" dirty="0"/>
              <a:t>Problema #01: Si en seis minutos con 11 segundos he consumido 59 calorías, ¿Cuántas calorías consumiré en 10 minutos?</a:t>
            </a:r>
          </a:p>
          <a:p>
            <a:pPr algn="just" rtl="0"/>
            <a:endParaRPr lang="es-ES" dirty="0"/>
          </a:p>
          <a:p>
            <a:pPr marL="0" indent="0" algn="just" rtl="0">
              <a:buNone/>
            </a:pPr>
            <a:r>
              <a:rPr lang="es-ES" b="1" dirty="0"/>
              <a:t>Otra forma de resolverlo:</a:t>
            </a:r>
          </a:p>
          <a:p>
            <a:pPr algn="just"/>
            <a:r>
              <a:rPr lang="es-ES" dirty="0"/>
              <a:t>Si ordenamos los mismos datos en forma distinta, también obtendremos el mismo resultado:</a:t>
            </a:r>
          </a:p>
          <a:p>
            <a:pPr marL="3497263" indent="0" algn="just" rtl="0">
              <a:buNone/>
            </a:pPr>
            <a:r>
              <a:rPr lang="es-ES" dirty="0"/>
              <a:t>59 : 371 = X : 600</a:t>
            </a:r>
          </a:p>
          <a:p>
            <a:pPr marL="0" indent="0" algn="just" rtl="0">
              <a:buNone/>
            </a:pPr>
            <a:endParaRPr lang="es-ES" dirty="0"/>
          </a:p>
          <a:p>
            <a:pPr algn="just"/>
            <a:r>
              <a:rPr lang="es-ES" dirty="0"/>
              <a:t>En este caso multiplicaremos los extremos y dividiremos entre el dato conocido del centro.</a:t>
            </a:r>
          </a:p>
          <a:p>
            <a:pPr marL="3497263" indent="0" algn="just" rtl="0">
              <a:buNone/>
            </a:pPr>
            <a:r>
              <a:rPr lang="es-ES" dirty="0"/>
              <a:t>59 x 600 = 35400</a:t>
            </a:r>
          </a:p>
          <a:p>
            <a:pPr marL="3497263" indent="0" algn="just" rtl="0">
              <a:buNone/>
            </a:pPr>
            <a:r>
              <a:rPr lang="es-ES" dirty="0"/>
              <a:t>35400 /371 = 95.41778976</a:t>
            </a:r>
          </a:p>
          <a:p>
            <a:pPr marL="0" indent="0" algn="just" rtl="0">
              <a:buNone/>
            </a:pPr>
            <a:endParaRPr lang="es-ES" dirty="0"/>
          </a:p>
        </p:txBody>
      </p:sp>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15</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376738"/>
            <a:ext cx="2552123" cy="3447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494800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5080000" cy="833663"/>
          </a:xfrm>
        </p:spPr>
        <p:txBody>
          <a:bodyPr/>
          <a:lstStyle/>
          <a:p>
            <a:r>
              <a:rPr lang="es-NI" dirty="0"/>
              <a:t>Regla de tres - Ejemplo</a:t>
            </a:r>
          </a:p>
        </p:txBody>
      </p:sp>
    </p:spTree>
    <p:extLst>
      <p:ext uri="{BB962C8B-B14F-4D97-AF65-F5344CB8AC3E}">
        <p14:creationId xmlns:p14="http://schemas.microsoft.com/office/powerpoint/2010/main" val="1906050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16</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46742"/>
            <a:ext cx="2552123" cy="17473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7546068"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2206171" cy="833663"/>
          </a:xfrm>
        </p:spPr>
        <p:txBody>
          <a:bodyPr/>
          <a:lstStyle/>
          <a:p>
            <a:r>
              <a:rPr lang="es-NI" dirty="0"/>
              <a:t>Ejercicios</a:t>
            </a:r>
          </a:p>
        </p:txBody>
      </p:sp>
      <p:pic>
        <p:nvPicPr>
          <p:cNvPr id="1026" name="Picture 2" descr="\displaystyle \frac{4}{10} = \frac{x}{60}">
            <a:extLst>
              <a:ext uri="{FF2B5EF4-FFF2-40B4-BE49-F238E27FC236}">
                <a16:creationId xmlns:a16="http://schemas.microsoft.com/office/drawing/2014/main" id="{CBF49447-559E-4C6D-AF6C-A34C4096F062}"/>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21409" y="1477736"/>
            <a:ext cx="1328418" cy="76908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59C9897B-1FCC-405E-B7A0-93676FEEC85F}"/>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p:blipFill>
        <p:spPr bwMode="auto">
          <a:xfrm>
            <a:off x="387493" y="3072155"/>
            <a:ext cx="1407964" cy="833663"/>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0C0B654C-9AC1-4687-844C-DC87E92D2AA8}"/>
              </a:ext>
            </a:extLst>
          </p:cNvPr>
          <p:cNvSpPr txBox="1"/>
          <p:nvPr/>
        </p:nvSpPr>
        <p:spPr>
          <a:xfrm>
            <a:off x="3754396" y="2033218"/>
            <a:ext cx="7869037" cy="3170099"/>
          </a:xfrm>
          <a:prstGeom prst="rect">
            <a:avLst/>
          </a:prstGeom>
          <a:noFill/>
        </p:spPr>
        <p:txBody>
          <a:bodyPr wrap="square">
            <a:spAutoFit/>
          </a:bodyPr>
          <a:lstStyle/>
          <a:p>
            <a:pPr algn="just"/>
            <a:r>
              <a:rPr lang="es-ES" sz="2000" b="0" i="0" dirty="0">
                <a:solidFill>
                  <a:schemeClr val="bg1"/>
                </a:solidFill>
                <a:effectLst/>
                <a:latin typeface="+mj-lt"/>
              </a:rPr>
              <a:t>Dos ruedas están unidas por una correa transmisora. La primera tiene un radio de 25 cm y la segunda de 75 cm. Cuando la primera ha dado 300 vueltas, ¿cuántas vueltas habrá dado la segunda?</a:t>
            </a:r>
          </a:p>
          <a:p>
            <a:pPr algn="just"/>
            <a:endParaRPr lang="es-ES" sz="2000" b="0" i="0" dirty="0">
              <a:solidFill>
                <a:schemeClr val="bg1"/>
              </a:solidFill>
              <a:effectLst/>
              <a:latin typeface="+mj-lt"/>
            </a:endParaRPr>
          </a:p>
          <a:p>
            <a:pPr algn="just"/>
            <a:r>
              <a:rPr lang="es-ES" sz="2000" dirty="0">
                <a:solidFill>
                  <a:schemeClr val="bg1"/>
                </a:solidFill>
                <a:latin typeface="+mj-lt"/>
              </a:rPr>
              <a:t>Seis personas pueden vivir en un hotel durante 12 días por 792 €. ¿Cuánto costará el hotel de 15 personas durante ocho días?</a:t>
            </a:r>
          </a:p>
          <a:p>
            <a:pPr algn="just"/>
            <a:endParaRPr lang="es-ES" sz="2000" dirty="0">
              <a:solidFill>
                <a:schemeClr val="bg1"/>
              </a:solidFill>
              <a:latin typeface="+mj-lt"/>
            </a:endParaRPr>
          </a:p>
          <a:p>
            <a:pPr algn="just"/>
            <a:r>
              <a:rPr lang="es-ES" sz="2000" dirty="0">
                <a:solidFill>
                  <a:schemeClr val="bg1"/>
                </a:solidFill>
                <a:latin typeface="+mj-lt"/>
              </a:rPr>
              <a:t>11  obreros labran un campo rectangular de  220 m de largo y 48 m de ancho en 6  días. ¿Cuántos obreros serán necesarios para labrar otro campo análogo de 300 m  de largo por 56 m  de ancho en cinco días</a:t>
            </a:r>
          </a:p>
        </p:txBody>
      </p:sp>
      <p:pic>
        <p:nvPicPr>
          <p:cNvPr id="16" name="Picture 6" descr="\displaystyle \frac{x}{6} = \frac{24}{x}">
            <a:extLst>
              <a:ext uri="{FF2B5EF4-FFF2-40B4-BE49-F238E27FC236}">
                <a16:creationId xmlns:a16="http://schemas.microsoft.com/office/drawing/2014/main" id="{5959A6E0-F3D4-442C-9BD1-75783B3B6AC6}"/>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424945" y="4455618"/>
            <a:ext cx="1440727" cy="924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706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s-ES"/>
              <a:t>PÁGINA </a:t>
            </a:r>
            <a:fld id="{4A9B5881-4007-4345-955A-79C2656F0C49}" type="slidenum">
              <a:rPr lang="es-ES" smtClean="0"/>
              <a:pPr rtl="0"/>
              <a:t>17</a:t>
            </a:fld>
            <a:endParaRPr lang="es-ES" dirty="0"/>
          </a:p>
        </p:txBody>
      </p:sp>
      <p:sp>
        <p:nvSpPr>
          <p:cNvPr id="8" name="Rectángulo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562003"/>
            <a:ext cx="2552123" cy="174733"/>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Razones y proporciones</a:t>
            </a:r>
          </a:p>
        </p:txBody>
      </p:sp>
      <p:sp>
        <p:nvSpPr>
          <p:cNvPr id="10" name="Rectángulo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46742"/>
            <a:ext cx="2552123" cy="17473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Regla de tres</a:t>
            </a:r>
          </a:p>
        </p:txBody>
      </p:sp>
      <p:sp>
        <p:nvSpPr>
          <p:cNvPr id="11" name="Rectángulo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31482"/>
            <a:ext cx="2552123" cy="18999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Ejercicios </a:t>
            </a:r>
          </a:p>
        </p:txBody>
      </p:sp>
      <p:sp>
        <p:nvSpPr>
          <p:cNvPr id="12" name="Rectángulo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s-ES" sz="1200" dirty="0"/>
              <a:t>Tarea y conclusión</a:t>
            </a:r>
          </a:p>
        </p:txBody>
      </p:sp>
      <p:sp>
        <p:nvSpPr>
          <p:cNvPr id="14" name="Triángulo isósceles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995543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6" name="Título 5">
            <a:extLst>
              <a:ext uri="{FF2B5EF4-FFF2-40B4-BE49-F238E27FC236}">
                <a16:creationId xmlns:a16="http://schemas.microsoft.com/office/drawing/2014/main" id="{DB45D4D0-C2A0-45E3-A4ED-007064E4B2E8}"/>
              </a:ext>
            </a:extLst>
          </p:cNvPr>
          <p:cNvSpPr>
            <a:spLocks noGrp="1"/>
          </p:cNvSpPr>
          <p:nvPr>
            <p:ph type="title"/>
          </p:nvPr>
        </p:nvSpPr>
        <p:spPr>
          <a:xfrm>
            <a:off x="348343" y="294089"/>
            <a:ext cx="5080000" cy="833663"/>
          </a:xfrm>
        </p:spPr>
        <p:txBody>
          <a:bodyPr/>
          <a:lstStyle/>
          <a:p>
            <a:r>
              <a:rPr lang="es-NI" dirty="0"/>
              <a:t>Tarea y Conclusiones</a:t>
            </a:r>
          </a:p>
        </p:txBody>
      </p:sp>
      <p:pic>
        <p:nvPicPr>
          <p:cNvPr id="1028" name="Picture 4" descr="\displaystyle \frac{3}{x} = \frac{x}{12}">
            <a:extLst>
              <a:ext uri="{FF2B5EF4-FFF2-40B4-BE49-F238E27FC236}">
                <a16:creationId xmlns:a16="http://schemas.microsoft.com/office/drawing/2014/main" id="{5D07F990-B362-4741-A3A4-4E1678C83DEE}"/>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49077" y="1564821"/>
            <a:ext cx="1440727" cy="946149"/>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5">
            <a:extLst>
              <a:ext uri="{FF2B5EF4-FFF2-40B4-BE49-F238E27FC236}">
                <a16:creationId xmlns:a16="http://schemas.microsoft.com/office/drawing/2014/main" id="{51847113-FB5F-4741-B60C-46204111E9C1}"/>
              </a:ext>
            </a:extLst>
          </p:cNvPr>
          <p:cNvSpPr txBox="1"/>
          <p:nvPr/>
        </p:nvSpPr>
        <p:spPr>
          <a:xfrm>
            <a:off x="3591097" y="1781413"/>
            <a:ext cx="7869037" cy="2554545"/>
          </a:xfrm>
          <a:prstGeom prst="rect">
            <a:avLst/>
          </a:prstGeom>
          <a:noFill/>
        </p:spPr>
        <p:txBody>
          <a:bodyPr wrap="square">
            <a:spAutoFit/>
          </a:bodyPr>
          <a:lstStyle/>
          <a:p>
            <a:pPr algn="just"/>
            <a:r>
              <a:rPr lang="es-ES" sz="2000" b="0" i="0" dirty="0">
                <a:solidFill>
                  <a:schemeClr val="bg1"/>
                </a:solidFill>
                <a:effectLst/>
                <a:latin typeface="+mj-lt"/>
              </a:rPr>
              <a:t>Si con 12 botes de  1/2 L de pintura cada uno se han pintado 90m de verja de 80 cm de altura. Calcular cuántos botes de 2 L  de pintura serán necesarios</a:t>
            </a:r>
          </a:p>
          <a:p>
            <a:pPr algn="just"/>
            <a:r>
              <a:rPr lang="es-ES" sz="2000" b="0" i="0" dirty="0">
                <a:solidFill>
                  <a:schemeClr val="bg1"/>
                </a:solidFill>
                <a:effectLst/>
                <a:latin typeface="+mj-lt"/>
              </a:rPr>
              <a:t>para pintar una verja similar de 120 cm  de altura y  200m de longitud.</a:t>
            </a:r>
          </a:p>
          <a:p>
            <a:pPr algn="just"/>
            <a:endParaRPr lang="es-ES" sz="2000" b="0" i="0" dirty="0">
              <a:solidFill>
                <a:schemeClr val="bg1"/>
              </a:solidFill>
              <a:effectLst/>
              <a:latin typeface="+mj-lt"/>
            </a:endParaRPr>
          </a:p>
          <a:p>
            <a:pPr algn="just"/>
            <a:r>
              <a:rPr lang="es-ES" sz="2000" b="0" i="0" dirty="0">
                <a:solidFill>
                  <a:schemeClr val="bg1"/>
                </a:solidFill>
                <a:effectLst/>
                <a:latin typeface="+mj-lt"/>
              </a:rPr>
              <a:t>Seis grifos, tardan 10  horas en llenar un depósito de 400 m3 de capacidad. ¿Cuántas horas tardarán cuatro grifos en llenar 2 depósitos de 500 m3 cada uno?</a:t>
            </a:r>
            <a:endParaRPr lang="es-ES" sz="2000" dirty="0">
              <a:solidFill>
                <a:schemeClr val="bg1"/>
              </a:solidFill>
              <a:latin typeface="+mj-lt"/>
            </a:endParaRPr>
          </a:p>
        </p:txBody>
      </p:sp>
      <p:pic>
        <p:nvPicPr>
          <p:cNvPr id="17" name="Picture 2" descr="\displaystyle \frac{8}{32} = \frac{2}{x}">
            <a:extLst>
              <a:ext uri="{FF2B5EF4-FFF2-40B4-BE49-F238E27FC236}">
                <a16:creationId xmlns:a16="http://schemas.microsoft.com/office/drawing/2014/main" id="{13F68CA1-5477-453C-867A-01A90A339049}"/>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462272" y="3284708"/>
            <a:ext cx="1300297" cy="834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934829"/>
      </p:ext>
    </p:extLst>
  </p:cSld>
  <p:clrMapOvr>
    <a:masterClrMapping/>
  </p:clrMapOvr>
</p:sld>
</file>

<file path=ppt/theme/theme1.xml><?xml version="1.0" encoding="utf-8"?>
<a:theme xmlns:a="http://schemas.openxmlformats.org/drawingml/2006/main" name="Tema de Offic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9028_TF67543618_Win32" id="{09F67864-25A4-4342-8145-63DD0AC24BA3}" vid="{9EEC84C9-8920-4DB2-9D02-57D23DEC2F33}"/>
    </a:ext>
  </a:extLst>
</a:theme>
</file>

<file path=ppt/theme/theme2.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docProps/app.xml><?xml version="1.0" encoding="utf-8"?>
<Properties xmlns="http://schemas.openxmlformats.org/officeDocument/2006/extended-properties" xmlns:vt="http://schemas.openxmlformats.org/officeDocument/2006/docPropsVTypes">
  <Template>Presentación para enseñar un curso empresarial</Template>
  <TotalTime>126</TotalTime>
  <Words>2218</Words>
  <Application>Microsoft Office PowerPoint</Application>
  <PresentationFormat>Panorámica</PresentationFormat>
  <Paragraphs>242</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Wingdings</vt:lpstr>
      <vt:lpstr>Tema de Office</vt:lpstr>
      <vt:lpstr>Unidad I: Teoría de Números</vt:lpstr>
      <vt:lpstr>Razones y proporciones</vt:lpstr>
      <vt:lpstr>Razones y proporciones</vt:lpstr>
      <vt:lpstr>Razones y proporciones</vt:lpstr>
      <vt:lpstr>Razones y proporciones</vt:lpstr>
      <vt:lpstr>Razones y proporciones</vt:lpstr>
      <vt:lpstr>Razones y proporciones - Ejemplos de razones</vt:lpstr>
      <vt:lpstr>Razones y proporciones - Ejemplos de Proporción directa</vt:lpstr>
      <vt:lpstr>Razones y proporciones - Ejemplos de Proporción directa</vt:lpstr>
      <vt:lpstr>Razones y proporciones - Ejemplos de Proporción inversa</vt:lpstr>
      <vt:lpstr>Regla de tres</vt:lpstr>
      <vt:lpstr>Regla de tres - Ejemplo</vt:lpstr>
      <vt:lpstr>Regla de tres - Ejemplo</vt:lpstr>
      <vt:lpstr>Regla de tres - Ejemplo</vt:lpstr>
      <vt:lpstr>Regla de tres - Ejemplo</vt:lpstr>
      <vt:lpstr>Ejercicios</vt:lpstr>
      <vt:lpstr>Tarea y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 Teoría de Números</dc:title>
  <dc:creator>Guillermo AntonioAguirre</dc:creator>
  <cp:lastModifiedBy>Guillermo AntonioAguirre</cp:lastModifiedBy>
  <cp:revision>11</cp:revision>
  <dcterms:created xsi:type="dcterms:W3CDTF">2022-03-16T01:31:34Z</dcterms:created>
  <dcterms:modified xsi:type="dcterms:W3CDTF">2022-03-16T03:38:23Z</dcterms:modified>
</cp:coreProperties>
</file>