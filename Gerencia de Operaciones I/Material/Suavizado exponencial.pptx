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7" r:id="rId4"/>
    <p:sldId id="270" r:id="rId5"/>
    <p:sldId id="271" r:id="rId6"/>
    <p:sldId id="258" r:id="rId7"/>
    <p:sldId id="261" r:id="rId8"/>
    <p:sldId id="268" r:id="rId9"/>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9" d="100"/>
          <a:sy n="79" d="100"/>
        </p:scale>
        <p:origin x="773"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AntonioAguirre" userId="42908199-65f4-4d4a-8e05-6e659ccb82ce" providerId="ADAL" clId="{E376D8AF-BB13-4756-8790-15D4BCC0F354}"/>
    <pc:docChg chg="modSld">
      <pc:chgData name="Guillermo AntonioAguirre" userId="42908199-65f4-4d4a-8e05-6e659ccb82ce" providerId="ADAL" clId="{E376D8AF-BB13-4756-8790-15D4BCC0F354}" dt="2025-03-01T19:41:21.025" v="34" actId="20577"/>
      <pc:docMkLst>
        <pc:docMk/>
      </pc:docMkLst>
      <pc:sldChg chg="modSp mod">
        <pc:chgData name="Guillermo AntonioAguirre" userId="42908199-65f4-4d4a-8e05-6e659ccb82ce" providerId="ADAL" clId="{E376D8AF-BB13-4756-8790-15D4BCC0F354}" dt="2025-03-01T19:40:40.206" v="0"/>
        <pc:sldMkLst>
          <pc:docMk/>
          <pc:sldMk cId="1109297954" sldId="258"/>
        </pc:sldMkLst>
        <pc:spChg chg="mod">
          <ac:chgData name="Guillermo AntonioAguirre" userId="42908199-65f4-4d4a-8e05-6e659ccb82ce" providerId="ADAL" clId="{E376D8AF-BB13-4756-8790-15D4BCC0F354}" dt="2025-03-01T19:40:40.206" v="0"/>
          <ac:spMkLst>
            <pc:docMk/>
            <pc:sldMk cId="1109297954" sldId="258"/>
            <ac:spMk id="7" creationId="{E9AD3F57-A784-491C-8347-1DFA72971AE0}"/>
          </ac:spMkLst>
        </pc:spChg>
      </pc:sldChg>
      <pc:sldChg chg="modSp mod">
        <pc:chgData name="Guillermo AntonioAguirre" userId="42908199-65f4-4d4a-8e05-6e659ccb82ce" providerId="ADAL" clId="{E376D8AF-BB13-4756-8790-15D4BCC0F354}" dt="2025-03-01T19:41:04.960" v="8" actId="20577"/>
        <pc:sldMkLst>
          <pc:docMk/>
          <pc:sldMk cId="674550123" sldId="261"/>
        </pc:sldMkLst>
        <pc:spChg chg="mod">
          <ac:chgData name="Guillermo AntonioAguirre" userId="42908199-65f4-4d4a-8e05-6e659ccb82ce" providerId="ADAL" clId="{E376D8AF-BB13-4756-8790-15D4BCC0F354}" dt="2025-03-01T19:41:04.960" v="8" actId="20577"/>
          <ac:spMkLst>
            <pc:docMk/>
            <pc:sldMk cId="674550123" sldId="261"/>
            <ac:spMk id="7" creationId="{174079A4-717E-4035-8EA8-F91E1AEAB7AA}"/>
          </ac:spMkLst>
        </pc:spChg>
      </pc:sldChg>
      <pc:sldChg chg="modSp mod">
        <pc:chgData name="Guillermo AntonioAguirre" userId="42908199-65f4-4d4a-8e05-6e659ccb82ce" providerId="ADAL" clId="{E376D8AF-BB13-4756-8790-15D4BCC0F354}" dt="2025-03-01T19:41:21.025" v="34" actId="20577"/>
        <pc:sldMkLst>
          <pc:docMk/>
          <pc:sldMk cId="2590988069" sldId="268"/>
        </pc:sldMkLst>
        <pc:spChg chg="mod">
          <ac:chgData name="Guillermo AntonioAguirre" userId="42908199-65f4-4d4a-8e05-6e659ccb82ce" providerId="ADAL" clId="{E376D8AF-BB13-4756-8790-15D4BCC0F354}" dt="2025-03-01T19:41:21.025" v="34" actId="20577"/>
          <ac:spMkLst>
            <pc:docMk/>
            <pc:sldMk cId="2590988069" sldId="268"/>
            <ac:spMk id="7" creationId="{174079A4-717E-4035-8EA8-F91E1AEAB7AA}"/>
          </ac:spMkLst>
        </pc:spChg>
      </pc:sldChg>
    </pc:docChg>
  </pc:docChgLst>
  <pc:docChgLst>
    <pc:chgData name="Guillermo AntonioAguirre" userId="42908199-65f4-4d4a-8e05-6e659ccb82ce" providerId="ADAL" clId="{736DE58E-7129-4980-981C-5BF6E69E5C01}"/>
    <pc:docChg chg="undo custSel addSld delSld modSld">
      <pc:chgData name="Guillermo AntonioAguirre" userId="42908199-65f4-4d4a-8e05-6e659ccb82ce" providerId="ADAL" clId="{736DE58E-7129-4980-981C-5BF6E69E5C01}" dt="2024-02-01T03:43:51.168" v="362" actId="20577"/>
      <pc:docMkLst>
        <pc:docMk/>
      </pc:docMkLst>
      <pc:sldChg chg="modSp mod">
        <pc:chgData name="Guillermo AntonioAguirre" userId="42908199-65f4-4d4a-8e05-6e659ccb82ce" providerId="ADAL" clId="{736DE58E-7129-4980-981C-5BF6E69E5C01}" dt="2024-02-01T01:55:29.382" v="29" actId="122"/>
        <pc:sldMkLst>
          <pc:docMk/>
          <pc:sldMk cId="3531801760" sldId="256"/>
        </pc:sldMkLst>
      </pc:sldChg>
      <pc:sldChg chg="modSp mod">
        <pc:chgData name="Guillermo AntonioAguirre" userId="42908199-65f4-4d4a-8e05-6e659ccb82ce" providerId="ADAL" clId="{736DE58E-7129-4980-981C-5BF6E69E5C01}" dt="2024-02-01T02:05:36.120" v="75" actId="403"/>
        <pc:sldMkLst>
          <pc:docMk/>
          <pc:sldMk cId="4007249417" sldId="257"/>
        </pc:sldMkLst>
      </pc:sldChg>
      <pc:sldChg chg="addSp delSp modSp mod">
        <pc:chgData name="Guillermo AntonioAguirre" userId="42908199-65f4-4d4a-8e05-6e659ccb82ce" providerId="ADAL" clId="{736DE58E-7129-4980-981C-5BF6E69E5C01}" dt="2024-02-01T02:05:43.751" v="77" actId="404"/>
        <pc:sldMkLst>
          <pc:docMk/>
          <pc:sldMk cId="1109297954" sldId="258"/>
        </pc:sldMkLst>
      </pc:sldChg>
      <pc:sldChg chg="del">
        <pc:chgData name="Guillermo AntonioAguirre" userId="42908199-65f4-4d4a-8e05-6e659ccb82ce" providerId="ADAL" clId="{736DE58E-7129-4980-981C-5BF6E69E5C01}" dt="2024-02-01T02:04:00.086" v="50" actId="2696"/>
        <pc:sldMkLst>
          <pc:docMk/>
          <pc:sldMk cId="2061106219" sldId="259"/>
        </pc:sldMkLst>
      </pc:sldChg>
      <pc:sldChg chg="del">
        <pc:chgData name="Guillermo AntonioAguirre" userId="42908199-65f4-4d4a-8e05-6e659ccb82ce" providerId="ADAL" clId="{736DE58E-7129-4980-981C-5BF6E69E5C01}" dt="2024-02-01T02:06:18.087" v="83" actId="47"/>
        <pc:sldMkLst>
          <pc:docMk/>
          <pc:sldMk cId="3603914528" sldId="260"/>
        </pc:sldMkLst>
      </pc:sldChg>
      <pc:sldChg chg="addSp delSp modSp mod">
        <pc:chgData name="Guillermo AntonioAguirre" userId="42908199-65f4-4d4a-8e05-6e659ccb82ce" providerId="ADAL" clId="{736DE58E-7129-4980-981C-5BF6E69E5C01}" dt="2024-02-01T03:02:48.761" v="111" actId="12385"/>
        <pc:sldMkLst>
          <pc:docMk/>
          <pc:sldMk cId="674550123" sldId="261"/>
        </pc:sldMkLst>
      </pc:sldChg>
      <pc:sldChg chg="del">
        <pc:chgData name="Guillermo AntonioAguirre" userId="42908199-65f4-4d4a-8e05-6e659ccb82ce" providerId="ADAL" clId="{736DE58E-7129-4980-981C-5BF6E69E5C01}" dt="2024-02-01T02:06:18.087" v="83" actId="47"/>
        <pc:sldMkLst>
          <pc:docMk/>
          <pc:sldMk cId="2971369785" sldId="263"/>
        </pc:sldMkLst>
      </pc:sldChg>
      <pc:sldChg chg="del">
        <pc:chgData name="Guillermo AntonioAguirre" userId="42908199-65f4-4d4a-8e05-6e659ccb82ce" providerId="ADAL" clId="{736DE58E-7129-4980-981C-5BF6E69E5C01}" dt="2024-02-01T02:06:18.087" v="83" actId="47"/>
        <pc:sldMkLst>
          <pc:docMk/>
          <pc:sldMk cId="731894722" sldId="264"/>
        </pc:sldMkLst>
      </pc:sldChg>
      <pc:sldChg chg="del">
        <pc:chgData name="Guillermo AntonioAguirre" userId="42908199-65f4-4d4a-8e05-6e659ccb82ce" providerId="ADAL" clId="{736DE58E-7129-4980-981C-5BF6E69E5C01}" dt="2024-02-01T02:06:18.087" v="83" actId="47"/>
        <pc:sldMkLst>
          <pc:docMk/>
          <pc:sldMk cId="4129991180" sldId="265"/>
        </pc:sldMkLst>
      </pc:sldChg>
      <pc:sldChg chg="addSp delSp modSp mod">
        <pc:chgData name="Guillermo AntonioAguirre" userId="42908199-65f4-4d4a-8e05-6e659ccb82ce" providerId="ADAL" clId="{736DE58E-7129-4980-981C-5BF6E69E5C01}" dt="2024-02-01T03:43:51.168" v="362" actId="20577"/>
        <pc:sldMkLst>
          <pc:docMk/>
          <pc:sldMk cId="995273959" sldId="266"/>
        </pc:sldMkLst>
      </pc:sldChg>
      <pc:sldChg chg="modSp add mod">
        <pc:chgData name="Guillermo AntonioAguirre" userId="42908199-65f4-4d4a-8e05-6e659ccb82ce" providerId="ADAL" clId="{736DE58E-7129-4980-981C-5BF6E69E5C01}" dt="2024-02-01T02:05:40.304" v="76" actId="404"/>
        <pc:sldMkLst>
          <pc:docMk/>
          <pc:sldMk cId="2435249265" sldId="267"/>
        </pc:sldMkLst>
      </pc:sldChg>
      <pc:sldChg chg="add del">
        <pc:chgData name="Guillermo AntonioAguirre" userId="42908199-65f4-4d4a-8e05-6e659ccb82ce" providerId="ADAL" clId="{736DE58E-7129-4980-981C-5BF6E69E5C01}" dt="2024-02-01T02:01:50.174" v="36" actId="47"/>
        <pc:sldMkLst>
          <pc:docMk/>
          <pc:sldMk cId="2557882462" sldId="267"/>
        </pc:sldMkLst>
      </pc:sldChg>
      <pc:sldChg chg="addSp delSp modSp add mod">
        <pc:chgData name="Guillermo AntonioAguirre" userId="42908199-65f4-4d4a-8e05-6e659ccb82ce" providerId="ADAL" clId="{736DE58E-7129-4980-981C-5BF6E69E5C01}" dt="2024-02-01T03:27:37.473" v="298" actId="20577"/>
        <pc:sldMkLst>
          <pc:docMk/>
          <pc:sldMk cId="2590988069" sldId="268"/>
        </pc:sldMkLst>
      </pc:sldChg>
      <pc:sldChg chg="addSp delSp modSp add mod">
        <pc:chgData name="Guillermo AntonioAguirre" userId="42908199-65f4-4d4a-8e05-6e659ccb82ce" providerId="ADAL" clId="{736DE58E-7129-4980-981C-5BF6E69E5C01}" dt="2024-02-01T03:34:18.116" v="346" actId="14100"/>
        <pc:sldMkLst>
          <pc:docMk/>
          <pc:sldMk cId="3595376655" sldId="269"/>
        </pc:sldMkLst>
      </pc:sldChg>
    </pc:docChg>
  </pc:docChgLst>
  <pc:docChgLst>
    <pc:chgData name="Guillermo AntonioAguirre" userId="42908199-65f4-4d4a-8e05-6e659ccb82ce" providerId="ADAL" clId="{511F4BE1-561F-4BAF-8816-12061B048DCD}"/>
    <pc:docChg chg="undo custSel addSld delSld modSld sldOrd">
      <pc:chgData name="Guillermo AntonioAguirre" userId="42908199-65f4-4d4a-8e05-6e659ccb82ce" providerId="ADAL" clId="{511F4BE1-561F-4BAF-8816-12061B048DCD}" dt="2024-02-01T04:08:53.578" v="88" actId="2696"/>
      <pc:docMkLst>
        <pc:docMk/>
      </pc:docMkLst>
      <pc:sldChg chg="modSp mod">
        <pc:chgData name="Guillermo AntonioAguirre" userId="42908199-65f4-4d4a-8e05-6e659ccb82ce" providerId="ADAL" clId="{511F4BE1-561F-4BAF-8816-12061B048DCD}" dt="2024-02-01T03:51:45.659" v="1"/>
        <pc:sldMkLst>
          <pc:docMk/>
          <pc:sldMk cId="3531801760" sldId="256"/>
        </pc:sldMkLst>
      </pc:sldChg>
      <pc:sldChg chg="modSp mod">
        <pc:chgData name="Guillermo AntonioAguirre" userId="42908199-65f4-4d4a-8e05-6e659ccb82ce" providerId="ADAL" clId="{511F4BE1-561F-4BAF-8816-12061B048DCD}" dt="2024-02-01T03:52:39.700" v="8"/>
        <pc:sldMkLst>
          <pc:docMk/>
          <pc:sldMk cId="4007249417" sldId="257"/>
        </pc:sldMkLst>
      </pc:sldChg>
      <pc:sldChg chg="addSp delSp modSp mod">
        <pc:chgData name="Guillermo AntonioAguirre" userId="42908199-65f4-4d4a-8e05-6e659ccb82ce" providerId="ADAL" clId="{511F4BE1-561F-4BAF-8816-12061B048DCD}" dt="2024-02-01T04:00:48.438" v="59" actId="947"/>
        <pc:sldMkLst>
          <pc:docMk/>
          <pc:sldMk cId="1109297954" sldId="258"/>
        </pc:sldMkLst>
      </pc:sldChg>
      <pc:sldChg chg="addSp delSp modSp mod">
        <pc:chgData name="Guillermo AntonioAguirre" userId="42908199-65f4-4d4a-8e05-6e659ccb82ce" providerId="ADAL" clId="{511F4BE1-561F-4BAF-8816-12061B048DCD}" dt="2024-02-01T04:05:42.044" v="68" actId="1076"/>
        <pc:sldMkLst>
          <pc:docMk/>
          <pc:sldMk cId="674550123" sldId="261"/>
        </pc:sldMkLst>
      </pc:sldChg>
      <pc:sldChg chg="del">
        <pc:chgData name="Guillermo AntonioAguirre" userId="42908199-65f4-4d4a-8e05-6e659ccb82ce" providerId="ADAL" clId="{511F4BE1-561F-4BAF-8816-12061B048DCD}" dt="2024-02-01T04:08:53.578" v="88" actId="2696"/>
        <pc:sldMkLst>
          <pc:docMk/>
          <pc:sldMk cId="995273959" sldId="266"/>
        </pc:sldMkLst>
      </pc:sldChg>
      <pc:sldChg chg="modSp mod">
        <pc:chgData name="Guillermo AntonioAguirre" userId="42908199-65f4-4d4a-8e05-6e659ccb82ce" providerId="ADAL" clId="{511F4BE1-561F-4BAF-8816-12061B048DCD}" dt="2024-02-01T03:53:51.129" v="14" actId="179"/>
        <pc:sldMkLst>
          <pc:docMk/>
          <pc:sldMk cId="2435249265" sldId="267"/>
        </pc:sldMkLst>
      </pc:sldChg>
      <pc:sldChg chg="addSp delSp modSp mod">
        <pc:chgData name="Guillermo AntonioAguirre" userId="42908199-65f4-4d4a-8e05-6e659ccb82ce" providerId="ADAL" clId="{511F4BE1-561F-4BAF-8816-12061B048DCD}" dt="2024-02-01T04:08:31.300" v="86" actId="1076"/>
        <pc:sldMkLst>
          <pc:docMk/>
          <pc:sldMk cId="2590988069" sldId="268"/>
        </pc:sldMkLst>
      </pc:sldChg>
      <pc:sldChg chg="del">
        <pc:chgData name="Guillermo AntonioAguirre" userId="42908199-65f4-4d4a-8e05-6e659ccb82ce" providerId="ADAL" clId="{511F4BE1-561F-4BAF-8816-12061B048DCD}" dt="2024-02-01T04:08:50.496" v="87" actId="2696"/>
        <pc:sldMkLst>
          <pc:docMk/>
          <pc:sldMk cId="3595376655" sldId="269"/>
        </pc:sldMkLst>
      </pc:sldChg>
      <pc:sldChg chg="add del">
        <pc:chgData name="Guillermo AntonioAguirre" userId="42908199-65f4-4d4a-8e05-6e659ccb82ce" providerId="ADAL" clId="{511F4BE1-561F-4BAF-8816-12061B048DCD}" dt="2024-02-01T03:54:33.131" v="16" actId="2890"/>
        <pc:sldMkLst>
          <pc:docMk/>
          <pc:sldMk cId="783956651" sldId="270"/>
        </pc:sldMkLst>
      </pc:sldChg>
      <pc:sldChg chg="modSp add mod ord">
        <pc:chgData name="Guillermo AntonioAguirre" userId="42908199-65f4-4d4a-8e05-6e659ccb82ce" providerId="ADAL" clId="{511F4BE1-561F-4BAF-8816-12061B048DCD}" dt="2024-02-01T03:55:37.349" v="30" actId="20577"/>
        <pc:sldMkLst>
          <pc:docMk/>
          <pc:sldMk cId="1831471066" sldId="270"/>
        </pc:sldMkLst>
      </pc:sldChg>
      <pc:sldChg chg="modSp add mod">
        <pc:chgData name="Guillermo AntonioAguirre" userId="42908199-65f4-4d4a-8e05-6e659ccb82ce" providerId="ADAL" clId="{511F4BE1-561F-4BAF-8816-12061B048DCD}" dt="2024-02-01T03:58:08.694" v="32"/>
        <pc:sldMkLst>
          <pc:docMk/>
          <pc:sldMk cId="3182305260" sldId="27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dirty="0"/>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1271642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351519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383283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2935386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2854395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4217964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175302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2596202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610283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1648977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F3E8B1C-86EF-43CF-8304-249481088644}" type="datetimeFigureOut">
              <a:rPr lang="en-US" smtClean="0"/>
              <a:t>3/1/2025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C3DB2ADC-AF19-4574-8C10-79B5B04FCA27}" type="slidenum">
              <a:rPr lang="en-US" smtClean="0"/>
              <a:t>‹Nº›</a:t>
            </a:fld>
            <a:endParaRPr lang="en-US"/>
          </a:p>
        </p:txBody>
      </p:sp>
    </p:spTree>
    <p:extLst>
      <p:ext uri="{BB962C8B-B14F-4D97-AF65-F5344CB8AC3E}">
        <p14:creationId xmlns:p14="http://schemas.microsoft.com/office/powerpoint/2010/main" val="23272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2F3E8B1C-86EF-43CF-8304-249481088644}" type="datetimeFigureOut">
              <a:rPr lang="en-US" smtClean="0"/>
              <a:pPr/>
              <a:t>3/1/2025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C3DB2ADC-AF19-4574-8C10-79B5B04FCA27}" type="slidenum">
              <a:rPr lang="en-US" smtClean="0"/>
              <a:pPr/>
              <a:t>‹Nº›</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14211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E52DF2-6802-459B-AC2A-AF976DEB1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1D265BF-7402-4CF8-88EB-4718038EC347}"/>
              </a:ext>
            </a:extLst>
          </p:cNvPr>
          <p:cNvSpPr>
            <a:spLocks noGrp="1"/>
          </p:cNvSpPr>
          <p:nvPr>
            <p:ph type="ctrTitle"/>
          </p:nvPr>
        </p:nvSpPr>
        <p:spPr>
          <a:xfrm>
            <a:off x="8115300" y="330696"/>
            <a:ext cx="3730839" cy="1697343"/>
          </a:xfrm>
        </p:spPr>
        <p:txBody>
          <a:bodyPr anchor="b">
            <a:normAutofit/>
          </a:bodyPr>
          <a:lstStyle/>
          <a:p>
            <a:r>
              <a:rPr lang="es-NI" sz="4000" dirty="0"/>
              <a:t>Series de tiempo</a:t>
            </a:r>
          </a:p>
        </p:txBody>
      </p:sp>
      <p:sp>
        <p:nvSpPr>
          <p:cNvPr id="3" name="Subtítulo 2">
            <a:extLst>
              <a:ext uri="{FF2B5EF4-FFF2-40B4-BE49-F238E27FC236}">
                <a16:creationId xmlns:a16="http://schemas.microsoft.com/office/drawing/2014/main" id="{05C3DAAB-BEF8-412D-AF67-9DB174A434F1}"/>
              </a:ext>
            </a:extLst>
          </p:cNvPr>
          <p:cNvSpPr>
            <a:spLocks noGrp="1"/>
          </p:cNvSpPr>
          <p:nvPr>
            <p:ph type="subTitle" idx="1"/>
          </p:nvPr>
        </p:nvSpPr>
        <p:spPr>
          <a:xfrm>
            <a:off x="7996779" y="4197005"/>
            <a:ext cx="3137031" cy="979680"/>
          </a:xfrm>
        </p:spPr>
        <p:txBody>
          <a:bodyPr anchor="t">
            <a:normAutofit/>
          </a:bodyPr>
          <a:lstStyle/>
          <a:p>
            <a:pPr algn="ctr"/>
            <a:r>
              <a:rPr lang="es-NI" sz="1800" dirty="0"/>
              <a:t>Suavizado exponencial</a:t>
            </a:r>
          </a:p>
        </p:txBody>
      </p:sp>
      <p:pic>
        <p:nvPicPr>
          <p:cNvPr id="4" name="Picture 3" descr="Láser azul neón digitalizando un papel desenvuelto">
            <a:extLst>
              <a:ext uri="{FF2B5EF4-FFF2-40B4-BE49-F238E27FC236}">
                <a16:creationId xmlns:a16="http://schemas.microsoft.com/office/drawing/2014/main" id="{DC7F4BCD-18AD-AABF-0BAE-336612163B9E}"/>
              </a:ext>
            </a:extLst>
          </p:cNvPr>
          <p:cNvPicPr>
            <a:picLocks noChangeAspect="1"/>
          </p:cNvPicPr>
          <p:nvPr/>
        </p:nvPicPr>
        <p:blipFill rotWithShape="1">
          <a:blip r:embed="rId2"/>
          <a:srcRect l="14868" r="13877" b="-1"/>
          <a:stretch/>
        </p:blipFill>
        <p:spPr>
          <a:xfrm>
            <a:off x="20" y="10"/>
            <a:ext cx="7320707" cy="6857985"/>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153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1801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943753E-9287-4958-9FED-AB895314BA53}"/>
              </a:ext>
            </a:extLst>
          </p:cNvPr>
          <p:cNvSpPr/>
          <p:nvPr/>
        </p:nvSpPr>
        <p:spPr>
          <a:xfrm>
            <a:off x="1881117" y="0"/>
            <a:ext cx="8429766"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Suavizado exponencial</a:t>
            </a:r>
          </a:p>
        </p:txBody>
      </p:sp>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4524315"/>
          </a:xfrm>
          <a:prstGeom prst="rect">
            <a:avLst/>
          </a:prstGeom>
          <a:noFill/>
        </p:spPr>
        <p:txBody>
          <a:bodyPr wrap="square" rtlCol="0">
            <a:spAutoFit/>
          </a:bodyPr>
          <a:lstStyle/>
          <a:p>
            <a:pPr algn="just"/>
            <a:r>
              <a:rPr lang="es-ES" sz="2400" dirty="0"/>
              <a:t>Continuando con los métodos de series de tiempo, hoy le toca el turno a la suavización exponencial simple. Los pronósticos de producción desarrollados con series de tiempo, hacen uso de los datos del pasado para predecir el comportamiento de la demanda en el futuro. Sin embargo, y a diferencia de otros métodos, el suavizado o alisamiento exponencial funciona con muy pocos registros de periodos anteriores, destacando los hechos más recientes sobre los más antiguos.</a:t>
            </a:r>
          </a:p>
          <a:p>
            <a:pPr algn="just"/>
            <a:endParaRPr lang="es-ES" sz="2400" dirty="0"/>
          </a:p>
          <a:p>
            <a:pPr algn="just"/>
            <a:r>
              <a:rPr lang="es-ES" sz="2400" dirty="0"/>
              <a:t>A diferencia de los métodos de promedio móvil simple y ponderado, este método no necesita de gran volumen de datos históricos de la demanda. Por ende cada vez que se calcula el pronóstico, se remueve la observación anterior y es reemplazada por la demanda más reciente, y aquí es donde radica la ventaja.</a:t>
            </a:r>
            <a:endParaRPr lang="es-NI" sz="2400" dirty="0"/>
          </a:p>
        </p:txBody>
      </p:sp>
    </p:spTree>
    <p:extLst>
      <p:ext uri="{BB962C8B-B14F-4D97-AF65-F5344CB8AC3E}">
        <p14:creationId xmlns:p14="http://schemas.microsoft.com/office/powerpoint/2010/main" val="4007249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943753E-9287-4958-9FED-AB895314BA53}"/>
              </a:ext>
            </a:extLst>
          </p:cNvPr>
          <p:cNvSpPr/>
          <p:nvPr/>
        </p:nvSpPr>
        <p:spPr>
          <a:xfrm>
            <a:off x="1881117" y="0"/>
            <a:ext cx="8429766"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Promedio Móvil Ponderado</a:t>
            </a:r>
          </a:p>
        </p:txBody>
      </p:sp>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4154984"/>
          </a:xfrm>
          <a:prstGeom prst="rect">
            <a:avLst/>
          </a:prstGeom>
          <a:noFill/>
        </p:spPr>
        <p:txBody>
          <a:bodyPr wrap="square" rtlCol="0">
            <a:spAutoFit/>
          </a:bodyPr>
          <a:lstStyle/>
          <a:p>
            <a:pPr algn="just"/>
            <a:r>
              <a:rPr lang="es-ES" sz="2400" dirty="0"/>
              <a:t>Es el método de pronóstico más usado por su simpleza, tanto por pequeñas y grandes empresas, sea en un sencillo archivo de Excel o un software como </a:t>
            </a:r>
            <a:r>
              <a:rPr lang="es-ES" sz="2400" dirty="0" err="1"/>
              <a:t>forecast</a:t>
            </a:r>
            <a:r>
              <a:rPr lang="es-ES" sz="2400" dirty="0"/>
              <a:t> pro. Sus ventajas son:</a:t>
            </a:r>
          </a:p>
          <a:p>
            <a:pPr algn="just"/>
            <a:endParaRPr lang="es-ES" sz="2400" dirty="0"/>
          </a:p>
          <a:p>
            <a:pPr marL="1077913" indent="-342900" algn="just">
              <a:buFont typeface="Arial" panose="020B0604020202020204" pitchFamily="34" charset="0"/>
              <a:buChar char="•"/>
            </a:pPr>
            <a:r>
              <a:rPr lang="es-ES" sz="2400" dirty="0"/>
              <a:t>Formulación es sencilla, pues solo requiere el pronóstico anterior, la demanda real del periodo de pronóstico y la constante de suavización, como ya lo veremos más adelante.</a:t>
            </a:r>
          </a:p>
          <a:p>
            <a:pPr marL="1077913" indent="-342900" algn="just">
              <a:buFont typeface="Arial" panose="020B0604020202020204" pitchFamily="34" charset="0"/>
              <a:buChar char="•"/>
            </a:pPr>
            <a:r>
              <a:rPr lang="es-ES" sz="2400" dirty="0"/>
              <a:t>No requiere de gran volumen de datos históricos.</a:t>
            </a:r>
          </a:p>
          <a:p>
            <a:pPr marL="1077913" indent="-342900" algn="just">
              <a:buFont typeface="Arial" panose="020B0604020202020204" pitchFamily="34" charset="0"/>
              <a:buChar char="•"/>
            </a:pPr>
            <a:r>
              <a:rPr lang="es-ES" sz="2400" dirty="0"/>
              <a:t>Al ser un modelo exponencial, es más preciso.</a:t>
            </a:r>
          </a:p>
          <a:p>
            <a:pPr marL="1077913" indent="-342900" algn="just">
              <a:buFont typeface="Arial" panose="020B0604020202020204" pitchFamily="34" charset="0"/>
              <a:buChar char="•"/>
            </a:pPr>
            <a:r>
              <a:rPr lang="es-ES" sz="2400" dirty="0"/>
              <a:t>Es flexible al conseguir darle más importancia a la demanda más reciente o a la antigua.</a:t>
            </a:r>
            <a:endParaRPr lang="es-NI" sz="2400" dirty="0"/>
          </a:p>
        </p:txBody>
      </p:sp>
    </p:spTree>
    <p:extLst>
      <p:ext uri="{BB962C8B-B14F-4D97-AF65-F5344CB8AC3E}">
        <p14:creationId xmlns:p14="http://schemas.microsoft.com/office/powerpoint/2010/main" val="2435249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943753E-9287-4958-9FED-AB895314BA53}"/>
              </a:ext>
            </a:extLst>
          </p:cNvPr>
          <p:cNvSpPr/>
          <p:nvPr/>
        </p:nvSpPr>
        <p:spPr>
          <a:xfrm>
            <a:off x="1881117" y="0"/>
            <a:ext cx="8429766"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Suavizado exponencial</a:t>
            </a:r>
          </a:p>
        </p:txBody>
      </p:sp>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5262979"/>
          </a:xfrm>
          <a:prstGeom prst="rect">
            <a:avLst/>
          </a:prstGeom>
          <a:noFill/>
        </p:spPr>
        <p:txBody>
          <a:bodyPr wrap="square" rtlCol="0">
            <a:spAutoFit/>
          </a:bodyPr>
          <a:lstStyle/>
          <a:p>
            <a:pPr algn="just"/>
            <a:r>
              <a:rPr lang="es-ES" sz="2400" dirty="0"/>
              <a:t>Su desventaja, al igual que los métodos de promedio móvil, es la respuesta a la tendencia. Aun cuando un valor de alfa (α) logra responder frente a cambios en el promedio, cambios sistemáticos de este harán más grande el error de pronóstico. Es tan así, que cuando se está aplicando un alfa mayor a 0.5 con buenos resultados, optar por el alisado exponencial doble suele ser mejor idea.</a:t>
            </a:r>
          </a:p>
          <a:p>
            <a:pPr algn="just"/>
            <a:endParaRPr lang="es-ES" sz="2400" dirty="0"/>
          </a:p>
          <a:p>
            <a:pPr algn="just"/>
            <a:r>
              <a:rPr lang="es-ES" sz="2400" dirty="0"/>
              <a:t>El método de suavización exponencial simple trabaja a través de una constante de suavización alfa (α) que tiene un valor comprendido entre 0 y 1, aunque en la aplicación real su valor suele variar entre 0,05 y 0,50. La constante funciona como un factor de ponderación (si, parecido al pronóstico móvil ponderado) y su variación se hace de acuerdo a nuestra necesidad de darle más peso a datos recientes (alfa α más elevado) o a datos anteriores (alfa α más bajo). En este sentido, si α=1, nuestro pronóstico de demanda del próximo periodo será exactamente igual al del periodo actual.</a:t>
            </a:r>
            <a:endParaRPr lang="es-NI" sz="2400" dirty="0"/>
          </a:p>
        </p:txBody>
      </p:sp>
    </p:spTree>
    <p:extLst>
      <p:ext uri="{BB962C8B-B14F-4D97-AF65-F5344CB8AC3E}">
        <p14:creationId xmlns:p14="http://schemas.microsoft.com/office/powerpoint/2010/main" val="1831471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943753E-9287-4958-9FED-AB895314BA53}"/>
              </a:ext>
            </a:extLst>
          </p:cNvPr>
          <p:cNvSpPr/>
          <p:nvPr/>
        </p:nvSpPr>
        <p:spPr>
          <a:xfrm>
            <a:off x="1881117" y="0"/>
            <a:ext cx="8429766"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Suavizado exponencial</a:t>
            </a:r>
          </a:p>
        </p:txBody>
      </p:sp>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3785652"/>
          </a:xfrm>
          <a:prstGeom prst="rect">
            <a:avLst/>
          </a:prstGeom>
          <a:noFill/>
        </p:spPr>
        <p:txBody>
          <a:bodyPr wrap="square" rtlCol="0">
            <a:spAutoFit/>
          </a:bodyPr>
          <a:lstStyle/>
          <a:p>
            <a:pPr algn="just"/>
            <a:r>
              <a:rPr lang="es-ES" sz="2400" dirty="0"/>
              <a:t>En consecuencia, el alfa que elijamos estará relacionado con el índice de respuesta deseado y la naturaleza del producto. ¿Por qué? Veamos. Por ejemplo, teniendo un producto o servicio con demanda estable a través del año, nuestra constante de suavización tenderá a ser pequeña (0,10 por ejemplo), debido a que, no requerimos un elevado índice de respuesta frente a los cambios entre la demanda real y la demanda pronosticada.</a:t>
            </a:r>
          </a:p>
          <a:p>
            <a:pPr algn="just"/>
            <a:endParaRPr lang="es-ES" sz="2400" dirty="0"/>
          </a:p>
          <a:p>
            <a:pPr algn="just"/>
            <a:r>
              <a:rPr lang="es-ES" sz="2400" dirty="0"/>
              <a:t>Caso contrario es cuando la compañía comienza a tener un crecimiento en su demanda, lo que va a requerir un alfa más elevado (0,30 por ejemplo) para dar mayor importancia a la demanda reciente.</a:t>
            </a:r>
            <a:endParaRPr lang="es-NI" sz="2400" dirty="0"/>
          </a:p>
        </p:txBody>
      </p:sp>
    </p:spTree>
    <p:extLst>
      <p:ext uri="{BB962C8B-B14F-4D97-AF65-F5344CB8AC3E}">
        <p14:creationId xmlns:p14="http://schemas.microsoft.com/office/powerpoint/2010/main" val="3182305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4893647"/>
          </a:xfrm>
          <a:prstGeom prst="rect">
            <a:avLst/>
          </a:prstGeom>
          <a:noFill/>
        </p:spPr>
        <p:txBody>
          <a:bodyPr wrap="square" rtlCol="0">
            <a:spAutoFit/>
          </a:bodyPr>
          <a:lstStyle/>
          <a:p>
            <a:pPr algn="just"/>
            <a:r>
              <a:rPr lang="es-ES" sz="2400" dirty="0"/>
              <a:t>Como bien mencionamos antes, el cálculo es simple. Requerimos el pronóstico anterior, la demanda real del periodo de pronóstico y la constante de suavización. Si es la primera vez que usamos el método, el pronóstico anterior puede ser un estimado o el resultado de un promedio simple, por ejemplo. La fórmula de suavizamiento exponencial es la siguiente:</a:t>
            </a:r>
          </a:p>
          <a:p>
            <a:pPr algn="just"/>
            <a:endParaRPr lang="es-ES" sz="2400" dirty="0"/>
          </a:p>
          <a:p>
            <a:pPr algn="just"/>
            <a:endParaRPr lang="es-ES" sz="2400" dirty="0"/>
          </a:p>
          <a:p>
            <a:pPr algn="just"/>
            <a:endParaRPr lang="es-ES" sz="2400" dirty="0"/>
          </a:p>
          <a:p>
            <a:pPr algn="just"/>
            <a:r>
              <a:rPr lang="es-ES" sz="2400" dirty="0"/>
              <a:t>Donde:</a:t>
            </a:r>
          </a:p>
          <a:p>
            <a:pPr marL="1077913" indent="-342900" algn="just">
              <a:buFont typeface="Arial" panose="020B0604020202020204" pitchFamily="34" charset="0"/>
              <a:buChar char="•"/>
            </a:pPr>
            <a:r>
              <a:rPr lang="es-ES" sz="2400" dirty="0"/>
              <a:t>F</a:t>
            </a:r>
            <a:r>
              <a:rPr lang="es-ES" sz="2400" baseline="-25000" dirty="0"/>
              <a:t>t</a:t>
            </a:r>
            <a:r>
              <a:rPr lang="es-ES" sz="2400" dirty="0"/>
              <a:t>= Nuevo pronóstico</a:t>
            </a:r>
          </a:p>
          <a:p>
            <a:pPr marL="1077913" indent="-342900" algn="just">
              <a:buFont typeface="Arial" panose="020B0604020202020204" pitchFamily="34" charset="0"/>
              <a:buChar char="•"/>
            </a:pPr>
            <a:r>
              <a:rPr lang="es-ES" sz="2400" dirty="0"/>
              <a:t>F</a:t>
            </a:r>
            <a:r>
              <a:rPr lang="es-ES" sz="2400" baseline="-25000" dirty="0"/>
              <a:t>t-1</a:t>
            </a:r>
            <a:r>
              <a:rPr lang="es-ES" sz="2400" dirty="0"/>
              <a:t>= Pronóstico del periodo anterior</a:t>
            </a:r>
          </a:p>
          <a:p>
            <a:pPr marL="1077913" indent="-342900" algn="just">
              <a:buFont typeface="Arial" panose="020B0604020202020204" pitchFamily="34" charset="0"/>
              <a:buChar char="•"/>
            </a:pPr>
            <a:r>
              <a:rPr lang="es-ES" sz="2400" dirty="0"/>
              <a:t>α = constante de suavización</a:t>
            </a:r>
          </a:p>
          <a:p>
            <a:pPr marL="1077913" indent="-342900" algn="just">
              <a:buFont typeface="Arial" panose="020B0604020202020204" pitchFamily="34" charset="0"/>
              <a:buChar char="•"/>
            </a:pPr>
            <a:r>
              <a:rPr lang="es-ES" sz="2400" dirty="0"/>
              <a:t>A</a:t>
            </a:r>
            <a:r>
              <a:rPr lang="es-ES" sz="2400" baseline="-25000" dirty="0"/>
              <a:t>t-1</a:t>
            </a:r>
            <a:r>
              <a:rPr lang="es-ES" sz="2400" dirty="0"/>
              <a:t>= demanda real del periodo anterior</a:t>
            </a:r>
          </a:p>
        </p:txBody>
      </p:sp>
      <p:sp>
        <p:nvSpPr>
          <p:cNvPr id="7" name="Rectángulo 6">
            <a:extLst>
              <a:ext uri="{FF2B5EF4-FFF2-40B4-BE49-F238E27FC236}">
                <a16:creationId xmlns:a16="http://schemas.microsoft.com/office/drawing/2014/main" id="{E9AD3F57-A784-491C-8347-1DFA72971AE0}"/>
              </a:ext>
            </a:extLst>
          </p:cNvPr>
          <p:cNvSpPr/>
          <p:nvPr/>
        </p:nvSpPr>
        <p:spPr>
          <a:xfrm>
            <a:off x="1881117" y="0"/>
            <a:ext cx="8429766"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Suavizado exponencial</a:t>
            </a:r>
          </a:p>
        </p:txBody>
      </p:sp>
      <p:pic>
        <p:nvPicPr>
          <p:cNvPr id="3" name="Imagen 2">
            <a:extLst>
              <a:ext uri="{FF2B5EF4-FFF2-40B4-BE49-F238E27FC236}">
                <a16:creationId xmlns:a16="http://schemas.microsoft.com/office/drawing/2014/main" id="{61EBF28D-AF96-4753-AF9A-6830E8C7E4BE}"/>
              </a:ext>
            </a:extLst>
          </p:cNvPr>
          <p:cNvPicPr>
            <a:picLocks noChangeAspect="1"/>
          </p:cNvPicPr>
          <p:nvPr/>
        </p:nvPicPr>
        <p:blipFill>
          <a:blip r:embed="rId2"/>
          <a:stretch>
            <a:fillRect/>
          </a:stretch>
        </p:blipFill>
        <p:spPr>
          <a:xfrm>
            <a:off x="1215787" y="3021251"/>
            <a:ext cx="9525000" cy="815497"/>
          </a:xfrm>
          <a:prstGeom prst="rect">
            <a:avLst/>
          </a:prstGeom>
        </p:spPr>
      </p:pic>
    </p:spTree>
    <p:extLst>
      <p:ext uri="{BB962C8B-B14F-4D97-AF65-F5344CB8AC3E}">
        <p14:creationId xmlns:p14="http://schemas.microsoft.com/office/powerpoint/2010/main" val="1109297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4093428"/>
          </a:xfrm>
          <a:prstGeom prst="rect">
            <a:avLst/>
          </a:prstGeom>
          <a:noFill/>
        </p:spPr>
        <p:txBody>
          <a:bodyPr wrap="square" rtlCol="0">
            <a:spAutoFit/>
          </a:bodyPr>
          <a:lstStyle/>
          <a:p>
            <a:pPr algn="just"/>
            <a:r>
              <a:rPr lang="es-ES" sz="2000" dirty="0"/>
              <a:t>Luz Verde es una empresa de seguros que ha decidido expandir su mercado a la ciudad capital de un país. Por ser la ciudad que congrega más habitantes, han decidido comenzar ofreciendo servicio de seguro para coches.</a:t>
            </a:r>
          </a:p>
          <a:p>
            <a:pPr algn="just"/>
            <a:endParaRPr lang="es-ES" sz="2000" dirty="0"/>
          </a:p>
          <a:p>
            <a:pPr algn="just"/>
            <a:r>
              <a:rPr lang="es-ES" sz="2000" dirty="0"/>
              <a:t>Como ejercicio inicial, la empresa desea pronosticar cuántos seguros de vehículo serán contratados por las personas de la ciudad capital, para lo cual usarán como dato inicial los seguros de vehículos contratados en otra ciudad con menos habitantes pero con mayor posicionamiento en el mercado.</a:t>
            </a:r>
          </a:p>
          <a:p>
            <a:pPr algn="just"/>
            <a:endParaRPr lang="es-ES" sz="2000" dirty="0"/>
          </a:p>
          <a:p>
            <a:pPr algn="just"/>
            <a:r>
              <a:rPr lang="es-ES" sz="2000" dirty="0"/>
              <a:t>El pronóstico de demanda del período 1 es 2869 seguros de carro adquiridos por personas, pero la demanda para ese periodo fue de 3200. La compañía según su criterio asigna α=0,35.</a:t>
            </a:r>
          </a:p>
          <a:p>
            <a:pPr algn="just"/>
            <a:endParaRPr lang="es-ES" sz="2000" dirty="0"/>
          </a:p>
          <a:p>
            <a:pPr algn="just"/>
            <a:r>
              <a:rPr lang="es-ES" sz="2000" dirty="0"/>
              <a:t>La demanda del próximo periodo es:</a:t>
            </a:r>
            <a:endParaRPr lang="es-NI" sz="2000" dirty="0"/>
          </a:p>
        </p:txBody>
      </p:sp>
      <p:sp>
        <p:nvSpPr>
          <p:cNvPr id="7" name="Rectángulo 6">
            <a:extLst>
              <a:ext uri="{FF2B5EF4-FFF2-40B4-BE49-F238E27FC236}">
                <a16:creationId xmlns:a16="http://schemas.microsoft.com/office/drawing/2014/main" id="{174079A4-717E-4035-8EA8-F91E1AEAB7AA}"/>
              </a:ext>
            </a:extLst>
          </p:cNvPr>
          <p:cNvSpPr/>
          <p:nvPr/>
        </p:nvSpPr>
        <p:spPr>
          <a:xfrm>
            <a:off x="782472" y="0"/>
            <a:ext cx="10627056" cy="830997"/>
          </a:xfrm>
          <a:prstGeom prst="rect">
            <a:avLst/>
          </a:prstGeom>
          <a:noFill/>
        </p:spPr>
        <p:txBody>
          <a:bodyPr wrap="square" lIns="91440" tIns="45720" rIns="91440" bIns="45720">
            <a:spAutoFit/>
          </a:bodyPr>
          <a:lstStyle/>
          <a:p>
            <a:pPr algn="ct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Suavizado exponencial - Ejemplo</a:t>
            </a:r>
          </a:p>
        </p:txBody>
      </p:sp>
      <p:sp>
        <p:nvSpPr>
          <p:cNvPr id="6" name="CuadroTexto 5">
            <a:extLst>
              <a:ext uri="{FF2B5EF4-FFF2-40B4-BE49-F238E27FC236}">
                <a16:creationId xmlns:a16="http://schemas.microsoft.com/office/drawing/2014/main" id="{5D5B16D7-D312-4C34-8A38-2E96CD0EEFD4}"/>
              </a:ext>
            </a:extLst>
          </p:cNvPr>
          <p:cNvSpPr txBox="1"/>
          <p:nvPr/>
        </p:nvSpPr>
        <p:spPr>
          <a:xfrm>
            <a:off x="4201804" y="5417740"/>
            <a:ext cx="3797489" cy="369332"/>
          </a:xfrm>
          <a:prstGeom prst="rect">
            <a:avLst/>
          </a:prstGeom>
          <a:noFill/>
        </p:spPr>
        <p:txBody>
          <a:bodyPr wrap="square">
            <a:spAutoFit/>
          </a:bodyPr>
          <a:lstStyle/>
          <a:p>
            <a:r>
              <a:rPr lang="es-NI" dirty="0"/>
              <a:t>Ft= 2869+0.35(3200-2869)=2984.85</a:t>
            </a:r>
          </a:p>
        </p:txBody>
      </p:sp>
    </p:spTree>
    <p:extLst>
      <p:ext uri="{BB962C8B-B14F-4D97-AF65-F5344CB8AC3E}">
        <p14:creationId xmlns:p14="http://schemas.microsoft.com/office/powerpoint/2010/main" val="674550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8EC2CE8-C9E9-4AD3-B259-F52577E2CD23}"/>
              </a:ext>
            </a:extLst>
          </p:cNvPr>
          <p:cNvSpPr txBox="1"/>
          <p:nvPr/>
        </p:nvSpPr>
        <p:spPr>
          <a:xfrm>
            <a:off x="791570" y="968989"/>
            <a:ext cx="10617958" cy="400110"/>
          </a:xfrm>
          <a:prstGeom prst="rect">
            <a:avLst/>
          </a:prstGeom>
          <a:noFill/>
        </p:spPr>
        <p:txBody>
          <a:bodyPr wrap="square" rtlCol="0">
            <a:spAutoFit/>
          </a:bodyPr>
          <a:lstStyle/>
          <a:p>
            <a:pPr algn="just"/>
            <a:endParaRPr lang="es-NI" sz="2000" dirty="0"/>
          </a:p>
        </p:txBody>
      </p:sp>
      <p:sp>
        <p:nvSpPr>
          <p:cNvPr id="7" name="Rectángulo 6">
            <a:extLst>
              <a:ext uri="{FF2B5EF4-FFF2-40B4-BE49-F238E27FC236}">
                <a16:creationId xmlns:a16="http://schemas.microsoft.com/office/drawing/2014/main" id="{174079A4-717E-4035-8EA8-F91E1AEAB7AA}"/>
              </a:ext>
            </a:extLst>
          </p:cNvPr>
          <p:cNvSpPr/>
          <p:nvPr/>
        </p:nvSpPr>
        <p:spPr>
          <a:xfrm>
            <a:off x="782472" y="0"/>
            <a:ext cx="10617958" cy="830997"/>
          </a:xfrm>
          <a:prstGeom prst="rect">
            <a:avLst/>
          </a:prstGeom>
          <a:noFill/>
        </p:spPr>
        <p:txBody>
          <a:bodyPr wrap="square" lIns="91440" tIns="45720" rIns="91440" bIns="45720">
            <a:spAutoFit/>
          </a:bodyPr>
          <a:lstStyle/>
          <a:p>
            <a:pPr algn="ctr"/>
            <a:r>
              <a:rPr lang="es-ES" sz="4800" b="0" cap="none" spc="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Suavizado exponencial </a:t>
            </a:r>
            <a:r>
              <a:rPr lang="es-ES" sz="48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Ejemplo</a:t>
            </a:r>
          </a:p>
        </p:txBody>
      </p:sp>
      <p:pic>
        <p:nvPicPr>
          <p:cNvPr id="4" name="Imagen 3">
            <a:extLst>
              <a:ext uri="{FF2B5EF4-FFF2-40B4-BE49-F238E27FC236}">
                <a16:creationId xmlns:a16="http://schemas.microsoft.com/office/drawing/2014/main" id="{DED791B3-D328-4BA5-AF90-5B26A22A2B40}"/>
              </a:ext>
            </a:extLst>
          </p:cNvPr>
          <p:cNvPicPr>
            <a:picLocks noChangeAspect="1"/>
          </p:cNvPicPr>
          <p:nvPr/>
        </p:nvPicPr>
        <p:blipFill>
          <a:blip r:embed="rId2"/>
          <a:stretch>
            <a:fillRect/>
          </a:stretch>
        </p:blipFill>
        <p:spPr>
          <a:xfrm>
            <a:off x="791570" y="1169044"/>
            <a:ext cx="3837134" cy="3457547"/>
          </a:xfrm>
          <a:prstGeom prst="rect">
            <a:avLst/>
          </a:prstGeom>
        </p:spPr>
      </p:pic>
      <p:pic>
        <p:nvPicPr>
          <p:cNvPr id="16" name="Imagen 15">
            <a:extLst>
              <a:ext uri="{FF2B5EF4-FFF2-40B4-BE49-F238E27FC236}">
                <a16:creationId xmlns:a16="http://schemas.microsoft.com/office/drawing/2014/main" id="{EB78B976-9656-4917-88B8-833375A9D1E0}"/>
              </a:ext>
            </a:extLst>
          </p:cNvPr>
          <p:cNvPicPr>
            <a:picLocks noChangeAspect="1"/>
          </p:cNvPicPr>
          <p:nvPr/>
        </p:nvPicPr>
        <p:blipFill>
          <a:blip r:embed="rId3"/>
          <a:stretch>
            <a:fillRect/>
          </a:stretch>
        </p:blipFill>
        <p:spPr>
          <a:xfrm>
            <a:off x="4933203" y="1369099"/>
            <a:ext cx="6467227" cy="3410452"/>
          </a:xfrm>
          <a:prstGeom prst="rect">
            <a:avLst/>
          </a:prstGeom>
        </p:spPr>
      </p:pic>
    </p:spTree>
    <p:extLst>
      <p:ext uri="{BB962C8B-B14F-4D97-AF65-F5344CB8AC3E}">
        <p14:creationId xmlns:p14="http://schemas.microsoft.com/office/powerpoint/2010/main" val="2590988069"/>
      </p:ext>
    </p:extLst>
  </p:cSld>
  <p:clrMapOvr>
    <a:masterClrMapping/>
  </p:clrMapOvr>
</p:sld>
</file>

<file path=ppt/theme/theme1.xml><?xml version="1.0" encoding="utf-8"?>
<a:theme xmlns:a="http://schemas.openxmlformats.org/drawingml/2006/main" name="ChronicleVTI">
  <a:themeElements>
    <a:clrScheme name="AnalogousFromDarkSeedLeftStep">
      <a:dk1>
        <a:srgbClr val="000000"/>
      </a:dk1>
      <a:lt1>
        <a:srgbClr val="FFFFFF"/>
      </a:lt1>
      <a:dk2>
        <a:srgbClr val="1B2130"/>
      </a:dk2>
      <a:lt2>
        <a:srgbClr val="F0F3F1"/>
      </a:lt2>
      <a:accent1>
        <a:srgbClr val="E7299E"/>
      </a:accent1>
      <a:accent2>
        <a:srgbClr val="CE17D5"/>
      </a:accent2>
      <a:accent3>
        <a:srgbClr val="9129E7"/>
      </a:accent3>
      <a:accent4>
        <a:srgbClr val="452ED9"/>
      </a:accent4>
      <a:accent5>
        <a:srgbClr val="295FE7"/>
      </a:accent5>
      <a:accent6>
        <a:srgbClr val="179CD5"/>
      </a:accent6>
      <a:hlink>
        <a:srgbClr val="3F4EBF"/>
      </a:hlink>
      <a:folHlink>
        <a:srgbClr val="7F7F7F"/>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190</TotalTime>
  <Words>804</Words>
  <Application>Microsoft Office PowerPoint</Application>
  <PresentationFormat>Panorámica</PresentationFormat>
  <Paragraphs>41</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Arial</vt:lpstr>
      <vt:lpstr>Calisto MT</vt:lpstr>
      <vt:lpstr>Univers Condensed</vt:lpstr>
      <vt:lpstr>ChronicleVTI</vt:lpstr>
      <vt:lpstr>Series de tiempo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Series de tiempo</dc:title>
  <dc:creator>Guillermo AntonioAguirre</dc:creator>
  <cp:lastModifiedBy>Guillermo AntonioAguirre</cp:lastModifiedBy>
  <cp:revision>12</cp:revision>
  <dcterms:created xsi:type="dcterms:W3CDTF">2022-03-14T15:59:42Z</dcterms:created>
  <dcterms:modified xsi:type="dcterms:W3CDTF">2025-03-01T19:41:24Z</dcterms:modified>
</cp:coreProperties>
</file>