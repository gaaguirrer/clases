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812"/>
    <a:srgbClr val="001C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110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AntonioAguirre" userId="42908199-65f4-4d4a-8e05-6e659ccb82ce" providerId="ADAL" clId="{9D6F8003-45EA-4400-9235-7382C5D42E52}"/>
    <pc:docChg chg="undo custSel addSld modSld">
      <pc:chgData name="Guillermo AntonioAguirre" userId="42908199-65f4-4d4a-8e05-6e659ccb82ce" providerId="ADAL" clId="{9D6F8003-45EA-4400-9235-7382C5D42E52}" dt="2025-05-07T18:33:29.465" v="1413" actId="6549"/>
      <pc:docMkLst>
        <pc:docMk/>
      </pc:docMkLst>
      <pc:sldChg chg="modSp add mod">
        <pc:chgData name="Guillermo AntonioAguirre" userId="42908199-65f4-4d4a-8e05-6e659ccb82ce" providerId="ADAL" clId="{9D6F8003-45EA-4400-9235-7382C5D42E52}" dt="2025-05-07T18:27:03.914" v="228" actId="21"/>
        <pc:sldMkLst>
          <pc:docMk/>
          <pc:sldMk cId="2783802571" sldId="261"/>
        </pc:sldMkLst>
        <pc:spChg chg="mod">
          <ac:chgData name="Guillermo AntonioAguirre" userId="42908199-65f4-4d4a-8e05-6e659ccb82ce" providerId="ADAL" clId="{9D6F8003-45EA-4400-9235-7382C5D42E52}" dt="2025-05-07T18:27:03.914" v="228" actId="21"/>
          <ac:spMkLst>
            <pc:docMk/>
            <pc:sldMk cId="2783802571" sldId="261"/>
            <ac:spMk id="2" creationId="{FB02F53E-7772-5838-A483-2EE76FA44792}"/>
          </ac:spMkLst>
        </pc:spChg>
      </pc:sldChg>
      <pc:sldChg chg="modSp add mod">
        <pc:chgData name="Guillermo AntonioAguirre" userId="42908199-65f4-4d4a-8e05-6e659ccb82ce" providerId="ADAL" clId="{9D6F8003-45EA-4400-9235-7382C5D42E52}" dt="2025-05-07T18:28:01.285" v="618" actId="6549"/>
        <pc:sldMkLst>
          <pc:docMk/>
          <pc:sldMk cId="3891132522" sldId="262"/>
        </pc:sldMkLst>
        <pc:spChg chg="mod">
          <ac:chgData name="Guillermo AntonioAguirre" userId="42908199-65f4-4d4a-8e05-6e659ccb82ce" providerId="ADAL" clId="{9D6F8003-45EA-4400-9235-7382C5D42E52}" dt="2025-05-07T18:28:01.285" v="618" actId="6549"/>
          <ac:spMkLst>
            <pc:docMk/>
            <pc:sldMk cId="3891132522" sldId="262"/>
            <ac:spMk id="2" creationId="{B8B9C70B-278D-9F13-6576-F67F8F3A6B22}"/>
          </ac:spMkLst>
        </pc:spChg>
      </pc:sldChg>
      <pc:sldChg chg="modSp add mod">
        <pc:chgData name="Guillermo AntonioAguirre" userId="42908199-65f4-4d4a-8e05-6e659ccb82ce" providerId="ADAL" clId="{9D6F8003-45EA-4400-9235-7382C5D42E52}" dt="2025-05-07T18:30:25.146" v="1094" actId="20577"/>
        <pc:sldMkLst>
          <pc:docMk/>
          <pc:sldMk cId="2325487890" sldId="263"/>
        </pc:sldMkLst>
        <pc:spChg chg="mod">
          <ac:chgData name="Guillermo AntonioAguirre" userId="42908199-65f4-4d4a-8e05-6e659ccb82ce" providerId="ADAL" clId="{9D6F8003-45EA-4400-9235-7382C5D42E52}" dt="2025-05-07T18:30:25.146" v="1094" actId="20577"/>
          <ac:spMkLst>
            <pc:docMk/>
            <pc:sldMk cId="2325487890" sldId="263"/>
            <ac:spMk id="2" creationId="{6C7D2B71-BB3F-67E5-1609-5D8459D1B896}"/>
          </ac:spMkLst>
        </pc:spChg>
      </pc:sldChg>
      <pc:sldChg chg="modSp add mod">
        <pc:chgData name="Guillermo AntonioAguirre" userId="42908199-65f4-4d4a-8e05-6e659ccb82ce" providerId="ADAL" clId="{9D6F8003-45EA-4400-9235-7382C5D42E52}" dt="2025-05-07T18:33:10.310" v="1410" actId="21"/>
        <pc:sldMkLst>
          <pc:docMk/>
          <pc:sldMk cId="667228479" sldId="264"/>
        </pc:sldMkLst>
        <pc:spChg chg="mod">
          <ac:chgData name="Guillermo AntonioAguirre" userId="42908199-65f4-4d4a-8e05-6e659ccb82ce" providerId="ADAL" clId="{9D6F8003-45EA-4400-9235-7382C5D42E52}" dt="2025-05-07T18:33:10.310" v="1410" actId="21"/>
          <ac:spMkLst>
            <pc:docMk/>
            <pc:sldMk cId="667228479" sldId="264"/>
            <ac:spMk id="2" creationId="{5674EABC-4433-D297-CAC2-DA61879492B0}"/>
          </ac:spMkLst>
        </pc:spChg>
      </pc:sldChg>
      <pc:sldChg chg="modSp add mod">
        <pc:chgData name="Guillermo AntonioAguirre" userId="42908199-65f4-4d4a-8e05-6e659ccb82ce" providerId="ADAL" clId="{9D6F8003-45EA-4400-9235-7382C5D42E52}" dt="2025-05-07T18:33:29.465" v="1413" actId="6549"/>
        <pc:sldMkLst>
          <pc:docMk/>
          <pc:sldMk cId="449252085" sldId="265"/>
        </pc:sldMkLst>
        <pc:spChg chg="mod">
          <ac:chgData name="Guillermo AntonioAguirre" userId="42908199-65f4-4d4a-8e05-6e659ccb82ce" providerId="ADAL" clId="{9D6F8003-45EA-4400-9235-7382C5D42E52}" dt="2025-05-07T18:33:29.465" v="1413" actId="6549"/>
          <ac:spMkLst>
            <pc:docMk/>
            <pc:sldMk cId="449252085" sldId="265"/>
            <ac:spMk id="2" creationId="{CB0FF475-2497-6B6F-C50B-005DD882E07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0CB422-3261-DEEA-764C-1E84A1DAC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C649C8-9FC6-D262-8512-8A296797B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419338-0E7B-8244-D044-02F12766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5781-8382-4C50-9FD3-5A5DD05B1B89}" type="datetimeFigureOut">
              <a:rPr lang="es-NI" smtClean="0"/>
              <a:t>7/5/2025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F25D32-9B79-ED47-A84A-9E26658FE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5A024B-A8B3-3741-A553-A69114D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763B-C694-4683-A486-8CAA2056579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313798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C7443-81E1-9741-B3A7-24B114374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2B1D81-8D90-45D5-C8BD-321B1A4ED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77A547-D87C-8E43-4D12-7C0B39F65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5781-8382-4C50-9FD3-5A5DD05B1B89}" type="datetimeFigureOut">
              <a:rPr lang="es-NI" smtClean="0"/>
              <a:t>7/5/2025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FC9767-80C8-D559-B70C-071D59E87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DCB8E-31D3-21FA-FE83-2E54DA7C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763B-C694-4683-A486-8CAA2056579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283764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C0864-E0A6-7F02-61F2-5ABDC19C1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D0543D-F340-C838-D402-5349CF89D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63B45D-23BB-171F-BBE9-6388EF044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5781-8382-4C50-9FD3-5A5DD05B1B89}" type="datetimeFigureOut">
              <a:rPr lang="es-NI" smtClean="0"/>
              <a:t>7/5/2025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E33EBB-741A-217B-173C-D26842E84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178FE7-3A71-676A-0A15-911C66100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763B-C694-4683-A486-8CAA2056579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46196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31FE45-51FA-72BA-5373-C13D99CF9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FC06F9-B101-B4EA-B512-19D998395E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499A09-E1EF-57E6-83D7-939A3B556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1105E3-D54B-A851-9602-5109D46C2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5781-8382-4C50-9FD3-5A5DD05B1B89}" type="datetimeFigureOut">
              <a:rPr lang="es-NI" smtClean="0"/>
              <a:t>7/5/2025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473765-B7A7-9FA7-0C1E-485636E83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482B38-06D6-3BF4-7ADB-8BAD0FD09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763B-C694-4683-A486-8CAA2056579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1230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3BDC0C-4AD2-F607-95B1-81AB4096A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900A7C-1448-8E0B-DF61-1B85C0297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106DF0-6704-6589-4512-3A43A3919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34A337D-6A2C-69CB-A83C-80ABBDA74E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7AC0F41-2D3C-225E-30E7-1EFE6117EE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2C2BE42-4EC4-7FD9-F46F-59662DA74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5781-8382-4C50-9FD3-5A5DD05B1B89}" type="datetimeFigureOut">
              <a:rPr lang="es-NI" smtClean="0"/>
              <a:t>7/5/2025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6C639A2-0671-EE54-6BD5-7CEFE33AB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08090FC-CE3C-8ADA-E98F-3CCEBC9A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763B-C694-4683-A486-8CAA2056579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931591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2C585-2777-133E-F97A-541E23AD0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4D0F70B-3BC5-5EDA-6314-7F044C061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5781-8382-4C50-9FD3-5A5DD05B1B89}" type="datetimeFigureOut">
              <a:rPr lang="es-NI" smtClean="0"/>
              <a:t>7/5/2025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0792FB6-0D85-7375-40BE-DED44FF1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DF2051-7D66-683C-1A27-3FAECFFC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763B-C694-4683-A486-8CAA2056579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8982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10BCB00-8115-E5DB-DCFB-EC2618DD1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5781-8382-4C50-9FD3-5A5DD05B1B89}" type="datetimeFigureOut">
              <a:rPr lang="es-NI" smtClean="0"/>
              <a:t>7/5/2025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615333-E3D7-3EE7-6A4E-656A85FE8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F9D915-7EE4-D749-3029-E4E70F7D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763B-C694-4683-A486-8CAA2056579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140224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64890-DDAD-BC14-2721-43C6493CB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23E09F-3308-0299-7D35-458BFCE05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00A06C-50EA-362F-36A5-51BFA9391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B42B4D-7AA7-32A5-21E5-0F6D5EACE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5781-8382-4C50-9FD3-5A5DD05B1B89}" type="datetimeFigureOut">
              <a:rPr lang="es-NI" smtClean="0"/>
              <a:t>7/5/2025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D7B9A9-6152-DF2D-783E-985B21D14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A807BD-1D44-753A-9556-9BD5BA4D6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763B-C694-4683-A486-8CAA2056579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97005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0F9F5-4FED-8CA3-5215-4A64819A6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BAD7EA7-64F8-CCFA-F8B4-D1C71143CD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778D396-FCD3-CCD8-7FEB-02CCD2122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F3E7FF-835C-01FA-702D-0A0DA5AC6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5781-8382-4C50-9FD3-5A5DD05B1B89}" type="datetimeFigureOut">
              <a:rPr lang="es-NI" smtClean="0"/>
              <a:t>7/5/2025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E22ADF-F6B3-479D-6EE7-B428F2A72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300592-E11A-77FF-C336-CB46F98BC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763B-C694-4683-A486-8CAA2056579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545314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1EC81-247E-0BDF-106E-7B103A299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02D3C38-95BB-6E91-9556-9D7252A2D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EC02C2-3012-431D-93D2-6D5FB9E54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5781-8382-4C50-9FD3-5A5DD05B1B89}" type="datetimeFigureOut">
              <a:rPr lang="es-NI" smtClean="0"/>
              <a:t>7/5/2025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C36EAB-6ADB-3184-B7A0-217CD0B4B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C2B057-8ABC-E002-1F3B-E3F76D43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763B-C694-4683-A486-8CAA2056579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756606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F3810E-1050-698A-3DFA-C9BA72F269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CBB32A-5CC1-6862-3BA3-F1C319A95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18D973-CCEA-50A7-F29E-31E914423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5781-8382-4C50-9FD3-5A5DD05B1B89}" type="datetimeFigureOut">
              <a:rPr lang="es-NI" smtClean="0"/>
              <a:t>7/5/2025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1D3461-F642-F29E-5B24-50083319B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ACFA17-79DB-147E-3BDA-4C128AFB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763B-C694-4683-A486-8CAA2056579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382881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856799-5E2B-4080-51CD-4DD6D7FD4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090E64-09C5-6C14-1F18-3A04691B6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F46D9C-BAB2-9346-032B-A858631A9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55781-8382-4C50-9FD3-5A5DD05B1B89}" type="datetimeFigureOut">
              <a:rPr lang="es-NI" smtClean="0"/>
              <a:t>7/5/2025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253220-4BAF-9C45-6238-7B7D4DB38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28E8B5-96E0-B5CF-28F4-AE3E5BA34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2763B-C694-4683-A486-8CAA2056579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9164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F18597D-06CA-B885-86F4-D5E4776FEB2A}"/>
              </a:ext>
            </a:extLst>
          </p:cNvPr>
          <p:cNvSpPr/>
          <p:nvPr/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0" kern="1200" cap="none" spc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¿Cómo calcular la capacidad de servicio del restaurante?</a:t>
            </a:r>
          </a:p>
        </p:txBody>
      </p:sp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1D36DA49-CC0C-9EBD-45E3-09E71ABC8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35" y="809662"/>
            <a:ext cx="11327549" cy="368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965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8513797-7172-4B64-BD50-09B1B5178AD9}"/>
              </a:ext>
            </a:extLst>
          </p:cNvPr>
          <p:cNvSpPr txBox="1"/>
          <p:nvPr/>
        </p:nvSpPr>
        <p:spPr>
          <a:xfrm>
            <a:off x="425355" y="1166842"/>
            <a:ext cx="113412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3200" dirty="0">
                <a:latin typeface="Verdana" panose="020B0604030504040204" pitchFamily="34" charset="0"/>
                <a:ea typeface="Verdana" panose="020B0604030504040204" pitchFamily="34" charset="0"/>
              </a:rPr>
              <a:t>Es importante no confundir capacidad de servicio con aforo. El aforo es el numero de plazas o asientos disponibles en el restaurante, mientras que la capacidad de servicio es el numero de comensales que podemos atender en un servicio atendiendo a tres variables : aforo, horario de servicio, y tiempo de servicio medio ( tiempo medio de servicio de un comensal desde que se sienta hasta que paga y se marcha).</a:t>
            </a:r>
            <a:endParaRPr lang="es-NI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1602BFD-E8E0-381A-FD57-155D6EC0CC30}"/>
              </a:ext>
            </a:extLst>
          </p:cNvPr>
          <p:cNvGrpSpPr/>
          <p:nvPr/>
        </p:nvGrpSpPr>
        <p:grpSpPr>
          <a:xfrm>
            <a:off x="-2162627" y="-14515"/>
            <a:ext cx="14354628" cy="6887028"/>
            <a:chOff x="-2162627" y="-14515"/>
            <a:chExt cx="14354628" cy="6887028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7C2E509C-77CE-9142-9031-8E5EE25EC4BA}"/>
                </a:ext>
              </a:extLst>
            </p:cNvPr>
            <p:cNvSpPr/>
            <p:nvPr/>
          </p:nvSpPr>
          <p:spPr>
            <a:xfrm>
              <a:off x="-914399" y="6429829"/>
              <a:ext cx="13106400" cy="442684"/>
            </a:xfrm>
            <a:prstGeom prst="rect">
              <a:avLst/>
            </a:prstGeom>
            <a:solidFill>
              <a:srgbClr val="C0081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dirty="0"/>
            </a:p>
          </p:txBody>
        </p:sp>
        <p:sp>
          <p:nvSpPr>
            <p:cNvPr id="5" name="Rectángulo: esquinas diagonales cortadas 4">
              <a:extLst>
                <a:ext uri="{FF2B5EF4-FFF2-40B4-BE49-F238E27FC236}">
                  <a16:creationId xmlns:a16="http://schemas.microsoft.com/office/drawing/2014/main" id="{7E684BC0-5C03-80F1-11C7-5E04757689EC}"/>
                </a:ext>
              </a:extLst>
            </p:cNvPr>
            <p:cNvSpPr/>
            <p:nvPr/>
          </p:nvSpPr>
          <p:spPr>
            <a:xfrm rot="10800000" flipH="1">
              <a:off x="-2162627" y="-14515"/>
              <a:ext cx="2500898" cy="6858000"/>
            </a:xfrm>
            <a:prstGeom prst="snip2DiagRect">
              <a:avLst/>
            </a:prstGeom>
            <a:solidFill>
              <a:srgbClr val="001C7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</p:spTree>
    <p:extLst>
      <p:ext uri="{BB962C8B-B14F-4D97-AF65-F5344CB8AC3E}">
        <p14:creationId xmlns:p14="http://schemas.microsoft.com/office/powerpoint/2010/main" val="3899272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8513797-7172-4B64-BD50-09B1B5178AD9}"/>
              </a:ext>
            </a:extLst>
          </p:cNvPr>
          <p:cNvSpPr txBox="1"/>
          <p:nvPr/>
        </p:nvSpPr>
        <p:spPr>
          <a:xfrm>
            <a:off x="589128" y="2151727"/>
            <a:ext cx="1134128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3200" dirty="0">
                <a:latin typeface="Verdana" panose="020B0604030504040204" pitchFamily="34" charset="0"/>
                <a:ea typeface="Verdana" panose="020B0604030504040204" pitchFamily="34" charset="0"/>
              </a:rPr>
              <a:t>La capacidad de servicio (Cs) se calcula con la siguiente fórmula:</a:t>
            </a:r>
          </a:p>
          <a:p>
            <a:pPr algn="just"/>
            <a:endParaRPr lang="es-ES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s-ES" sz="3200" dirty="0">
                <a:latin typeface="Verdana" panose="020B0604030504040204" pitchFamily="34" charset="0"/>
                <a:ea typeface="Verdana" panose="020B0604030504040204" pitchFamily="34" charset="0"/>
              </a:rPr>
              <a:t>Cs = (Aforo X Horas de Servicio) / Tiempo medio de servicio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4DBB7B0-0F71-7E2E-8BD9-94BDC0CD403A}"/>
              </a:ext>
            </a:extLst>
          </p:cNvPr>
          <p:cNvGrpSpPr/>
          <p:nvPr/>
        </p:nvGrpSpPr>
        <p:grpSpPr>
          <a:xfrm>
            <a:off x="-2162627" y="-14515"/>
            <a:ext cx="14354628" cy="6887028"/>
            <a:chOff x="-2162627" y="-14515"/>
            <a:chExt cx="14354628" cy="6887028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C2D9F20C-C2F2-8920-DE02-25D9515048F0}"/>
                </a:ext>
              </a:extLst>
            </p:cNvPr>
            <p:cNvSpPr/>
            <p:nvPr/>
          </p:nvSpPr>
          <p:spPr>
            <a:xfrm>
              <a:off x="-914399" y="6429829"/>
              <a:ext cx="13106400" cy="442684"/>
            </a:xfrm>
            <a:prstGeom prst="rect">
              <a:avLst/>
            </a:prstGeom>
            <a:solidFill>
              <a:srgbClr val="C0081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dirty="0"/>
            </a:p>
          </p:txBody>
        </p:sp>
        <p:sp>
          <p:nvSpPr>
            <p:cNvPr id="5" name="Rectángulo: esquinas diagonales cortadas 4">
              <a:extLst>
                <a:ext uri="{FF2B5EF4-FFF2-40B4-BE49-F238E27FC236}">
                  <a16:creationId xmlns:a16="http://schemas.microsoft.com/office/drawing/2014/main" id="{6B355F2F-DD85-0C98-48F5-67BF4641F0C4}"/>
                </a:ext>
              </a:extLst>
            </p:cNvPr>
            <p:cNvSpPr/>
            <p:nvPr/>
          </p:nvSpPr>
          <p:spPr>
            <a:xfrm rot="10800000" flipH="1">
              <a:off x="-2162627" y="-14515"/>
              <a:ext cx="2500898" cy="6858000"/>
            </a:xfrm>
            <a:prstGeom prst="snip2DiagRect">
              <a:avLst/>
            </a:prstGeom>
            <a:solidFill>
              <a:srgbClr val="001C7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</p:spTree>
    <p:extLst>
      <p:ext uri="{BB962C8B-B14F-4D97-AF65-F5344CB8AC3E}">
        <p14:creationId xmlns:p14="http://schemas.microsoft.com/office/powerpoint/2010/main" val="1613444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8513797-7172-4B64-BD50-09B1B5178AD9}"/>
              </a:ext>
            </a:extLst>
          </p:cNvPr>
          <p:cNvSpPr txBox="1"/>
          <p:nvPr/>
        </p:nvSpPr>
        <p:spPr>
          <a:xfrm>
            <a:off x="575481" y="1413063"/>
            <a:ext cx="1134128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3200" dirty="0">
                <a:latin typeface="Verdana" panose="020B0604030504040204" pitchFamily="34" charset="0"/>
                <a:ea typeface="Verdana" panose="020B0604030504040204" pitchFamily="34" charset="0"/>
              </a:rPr>
              <a:t>Si un restaurante dispone de 80 plazas y entre semana en el almuerzo tiene un horario de servicio de 2 horas y un tiempo medio de servicio de 45 minutos (0,75h) su capacidad de servicio para el almuerzo entre semana será de 213 comensales.</a:t>
            </a:r>
          </a:p>
          <a:p>
            <a:pPr algn="just"/>
            <a:endParaRPr lang="es-ES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ES" sz="3200" dirty="0">
                <a:latin typeface="Verdana" panose="020B0604030504040204" pitchFamily="34" charset="0"/>
                <a:ea typeface="Verdana" panose="020B0604030504040204" pitchFamily="34" charset="0"/>
              </a:rPr>
              <a:t>Cs = (80 plazas x 2 Horas) / 0,75 horas = 213 comensales</a:t>
            </a:r>
            <a:endParaRPr lang="es-NI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E15F0BE3-AFA2-9CF6-1F75-4FD9AAC787D3}"/>
              </a:ext>
            </a:extLst>
          </p:cNvPr>
          <p:cNvGrpSpPr/>
          <p:nvPr/>
        </p:nvGrpSpPr>
        <p:grpSpPr>
          <a:xfrm>
            <a:off x="-2162627" y="-14515"/>
            <a:ext cx="14354628" cy="6887028"/>
            <a:chOff x="-2162627" y="-14515"/>
            <a:chExt cx="14354628" cy="6887028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70B0A58D-F7DD-14E9-C9B7-9631421A3A35}"/>
                </a:ext>
              </a:extLst>
            </p:cNvPr>
            <p:cNvSpPr/>
            <p:nvPr/>
          </p:nvSpPr>
          <p:spPr>
            <a:xfrm>
              <a:off x="-914399" y="6429829"/>
              <a:ext cx="13106400" cy="442684"/>
            </a:xfrm>
            <a:prstGeom prst="rect">
              <a:avLst/>
            </a:prstGeom>
            <a:solidFill>
              <a:srgbClr val="C0081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dirty="0"/>
            </a:p>
          </p:txBody>
        </p:sp>
        <p:sp>
          <p:nvSpPr>
            <p:cNvPr id="5" name="Rectángulo: esquinas diagonales cortadas 4">
              <a:extLst>
                <a:ext uri="{FF2B5EF4-FFF2-40B4-BE49-F238E27FC236}">
                  <a16:creationId xmlns:a16="http://schemas.microsoft.com/office/drawing/2014/main" id="{DBF951D8-7D4F-151B-01A3-8BC6B192FFB4}"/>
                </a:ext>
              </a:extLst>
            </p:cNvPr>
            <p:cNvSpPr/>
            <p:nvPr/>
          </p:nvSpPr>
          <p:spPr>
            <a:xfrm rot="10800000" flipH="1">
              <a:off x="-2162627" y="-14515"/>
              <a:ext cx="2500898" cy="6858000"/>
            </a:xfrm>
            <a:prstGeom prst="snip2DiagRect">
              <a:avLst/>
            </a:prstGeom>
            <a:solidFill>
              <a:srgbClr val="001C7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</p:spTree>
    <p:extLst>
      <p:ext uri="{BB962C8B-B14F-4D97-AF65-F5344CB8AC3E}">
        <p14:creationId xmlns:p14="http://schemas.microsoft.com/office/powerpoint/2010/main" val="3195603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8513797-7172-4B64-BD50-09B1B5178AD9}"/>
              </a:ext>
            </a:extLst>
          </p:cNvPr>
          <p:cNvSpPr txBox="1"/>
          <p:nvPr/>
        </p:nvSpPr>
        <p:spPr>
          <a:xfrm>
            <a:off x="643720" y="2397948"/>
            <a:ext cx="1134128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3200" dirty="0">
                <a:latin typeface="Verdana" panose="020B0604030504040204" pitchFamily="34" charset="0"/>
                <a:ea typeface="Verdana" panose="020B0604030504040204" pitchFamily="34" charset="0"/>
              </a:rPr>
              <a:t>La capacidad de servicio varía en función del tiempo de servicio, y del horario de servicio. Los datos de capacidad nos permitirán calcular el índice de ocupación.</a:t>
            </a:r>
            <a:endParaRPr lang="es-NI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56355934-B4BE-1BD3-A546-96135E629192}"/>
              </a:ext>
            </a:extLst>
          </p:cNvPr>
          <p:cNvGrpSpPr/>
          <p:nvPr/>
        </p:nvGrpSpPr>
        <p:grpSpPr>
          <a:xfrm>
            <a:off x="-2162627" y="-14515"/>
            <a:ext cx="14354628" cy="6887028"/>
            <a:chOff x="-2162627" y="-14515"/>
            <a:chExt cx="14354628" cy="6887028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66D8580F-B953-6990-037D-AC6D2F482A86}"/>
                </a:ext>
              </a:extLst>
            </p:cNvPr>
            <p:cNvSpPr/>
            <p:nvPr/>
          </p:nvSpPr>
          <p:spPr>
            <a:xfrm>
              <a:off x="-914399" y="6429829"/>
              <a:ext cx="13106400" cy="442684"/>
            </a:xfrm>
            <a:prstGeom prst="rect">
              <a:avLst/>
            </a:prstGeom>
            <a:solidFill>
              <a:srgbClr val="C0081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dirty="0"/>
            </a:p>
          </p:txBody>
        </p:sp>
        <p:sp>
          <p:nvSpPr>
            <p:cNvPr id="5" name="Rectángulo: esquinas diagonales cortadas 4">
              <a:extLst>
                <a:ext uri="{FF2B5EF4-FFF2-40B4-BE49-F238E27FC236}">
                  <a16:creationId xmlns:a16="http://schemas.microsoft.com/office/drawing/2014/main" id="{631ED181-FE1C-54ED-CBDF-B625A6118D89}"/>
                </a:ext>
              </a:extLst>
            </p:cNvPr>
            <p:cNvSpPr/>
            <p:nvPr/>
          </p:nvSpPr>
          <p:spPr>
            <a:xfrm rot="10800000" flipH="1">
              <a:off x="-2162627" y="-14515"/>
              <a:ext cx="2500898" cy="6858000"/>
            </a:xfrm>
            <a:prstGeom prst="snip2DiagRect">
              <a:avLst/>
            </a:prstGeom>
            <a:solidFill>
              <a:srgbClr val="001C7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</p:spTree>
    <p:extLst>
      <p:ext uri="{BB962C8B-B14F-4D97-AF65-F5344CB8AC3E}">
        <p14:creationId xmlns:p14="http://schemas.microsoft.com/office/powerpoint/2010/main" val="152139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02F8B-FAFB-9F70-80F6-B04937484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B02F53E-7772-5838-A483-2EE76FA44792}"/>
              </a:ext>
            </a:extLst>
          </p:cNvPr>
          <p:cNvSpPr txBox="1"/>
          <p:nvPr/>
        </p:nvSpPr>
        <p:spPr>
          <a:xfrm>
            <a:off x="643720" y="1162531"/>
            <a:ext cx="113412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3200" dirty="0">
                <a:latin typeface="Verdana" panose="020B0604030504040204" pitchFamily="34" charset="0"/>
                <a:ea typeface="Verdana" panose="020B0604030504040204" pitchFamily="34" charset="0"/>
              </a:rPr>
              <a:t>Ejercicio 1: Un café tiene 50 plazas y está abierto 3 horas en el desayuno. Si el tiempo medio de servicio es de 30 minutos (0.5h), ¿cuál es su capacidad de servicio (Cs)?</a:t>
            </a:r>
          </a:p>
          <a:p>
            <a:pPr algn="just"/>
            <a:endParaRPr lang="es-ES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s-ES" sz="3200" dirty="0">
                <a:latin typeface="Verdana" panose="020B0604030504040204" pitchFamily="34" charset="0"/>
                <a:ea typeface="Verdana" panose="020B0604030504040204" pitchFamily="34" charset="0"/>
              </a:rPr>
              <a:t>Ejercicio 2: Un restaurante de comida rápida tiene una Cs = 180 comensales en la cena, con un tiempo medio de servicio de 20 minutos (1/3 h). Si el horario de cena es de 2 horas, ¿cuántas plazas tiene el local?</a:t>
            </a:r>
            <a:endParaRPr lang="es-NI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39E28215-4777-0A30-19E2-E1B7FDA1F2EE}"/>
              </a:ext>
            </a:extLst>
          </p:cNvPr>
          <p:cNvGrpSpPr/>
          <p:nvPr/>
        </p:nvGrpSpPr>
        <p:grpSpPr>
          <a:xfrm>
            <a:off x="-2162627" y="-14515"/>
            <a:ext cx="14354628" cy="6887028"/>
            <a:chOff x="-2162627" y="-14515"/>
            <a:chExt cx="14354628" cy="6887028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BB6E170E-94E3-B971-23CD-09C33F3EE14C}"/>
                </a:ext>
              </a:extLst>
            </p:cNvPr>
            <p:cNvSpPr/>
            <p:nvPr/>
          </p:nvSpPr>
          <p:spPr>
            <a:xfrm>
              <a:off x="-914399" y="6429829"/>
              <a:ext cx="13106400" cy="442684"/>
            </a:xfrm>
            <a:prstGeom prst="rect">
              <a:avLst/>
            </a:prstGeom>
            <a:solidFill>
              <a:srgbClr val="C0081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dirty="0"/>
            </a:p>
          </p:txBody>
        </p:sp>
        <p:sp>
          <p:nvSpPr>
            <p:cNvPr id="5" name="Rectángulo: esquinas diagonales cortadas 4">
              <a:extLst>
                <a:ext uri="{FF2B5EF4-FFF2-40B4-BE49-F238E27FC236}">
                  <a16:creationId xmlns:a16="http://schemas.microsoft.com/office/drawing/2014/main" id="{7F0CED76-D963-24D3-D0ED-CD944559D147}"/>
                </a:ext>
              </a:extLst>
            </p:cNvPr>
            <p:cNvSpPr/>
            <p:nvPr/>
          </p:nvSpPr>
          <p:spPr>
            <a:xfrm rot="10800000" flipH="1">
              <a:off x="-2162627" y="-14515"/>
              <a:ext cx="2500898" cy="6858000"/>
            </a:xfrm>
            <a:prstGeom prst="snip2DiagRect">
              <a:avLst/>
            </a:prstGeom>
            <a:solidFill>
              <a:srgbClr val="001C7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</p:spTree>
    <p:extLst>
      <p:ext uri="{BB962C8B-B14F-4D97-AF65-F5344CB8AC3E}">
        <p14:creationId xmlns:p14="http://schemas.microsoft.com/office/powerpoint/2010/main" val="2783802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242B4-5BA2-28C5-2092-11918428F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8B9C70B-278D-9F13-6576-F67F8F3A6B22}"/>
              </a:ext>
            </a:extLst>
          </p:cNvPr>
          <p:cNvSpPr txBox="1"/>
          <p:nvPr/>
        </p:nvSpPr>
        <p:spPr>
          <a:xfrm>
            <a:off x="643720" y="1162531"/>
            <a:ext cx="1134128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3200" dirty="0">
                <a:latin typeface="Verdana" panose="020B0604030504040204" pitchFamily="34" charset="0"/>
                <a:ea typeface="Verdana" panose="020B0604030504040204" pitchFamily="34" charset="0"/>
              </a:rPr>
              <a:t>Ejercicio 3: Un buffet tiene 120 plazas y una Cs = 480 comensales en el almuerzo. Si el tiempo medio de servicio es de 1 hora, ¿cuántas horas duró el servicio?</a:t>
            </a:r>
          </a:p>
          <a:p>
            <a:pPr algn="just"/>
            <a:endParaRPr lang="es-ES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s-ES" sz="3200" dirty="0">
                <a:latin typeface="Verdana" panose="020B0604030504040204" pitchFamily="34" charset="0"/>
                <a:ea typeface="Verdana" panose="020B0604030504040204" pitchFamily="34" charset="0"/>
              </a:rPr>
              <a:t>Ejercicio 4: Un bar con 40 plazas sirve a 160 comensales en un horario de 4 horas. ¿Cuál fue el tiempo medio de servicio (en minutos)?</a:t>
            </a:r>
          </a:p>
          <a:p>
            <a:pPr algn="just"/>
            <a:endParaRPr lang="es-ES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AC2C0EE-5215-03D3-5C75-C70CEAD62BFC}"/>
              </a:ext>
            </a:extLst>
          </p:cNvPr>
          <p:cNvGrpSpPr/>
          <p:nvPr/>
        </p:nvGrpSpPr>
        <p:grpSpPr>
          <a:xfrm>
            <a:off x="-2162627" y="-14515"/>
            <a:ext cx="14354628" cy="6887028"/>
            <a:chOff x="-2162627" y="-14515"/>
            <a:chExt cx="14354628" cy="6887028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3B66A737-DA9C-AD6A-B08E-3F3CC18A1FE4}"/>
                </a:ext>
              </a:extLst>
            </p:cNvPr>
            <p:cNvSpPr/>
            <p:nvPr/>
          </p:nvSpPr>
          <p:spPr>
            <a:xfrm>
              <a:off x="-914399" y="6429829"/>
              <a:ext cx="13106400" cy="442684"/>
            </a:xfrm>
            <a:prstGeom prst="rect">
              <a:avLst/>
            </a:prstGeom>
            <a:solidFill>
              <a:srgbClr val="C0081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dirty="0"/>
            </a:p>
          </p:txBody>
        </p:sp>
        <p:sp>
          <p:nvSpPr>
            <p:cNvPr id="5" name="Rectángulo: esquinas diagonales cortadas 4">
              <a:extLst>
                <a:ext uri="{FF2B5EF4-FFF2-40B4-BE49-F238E27FC236}">
                  <a16:creationId xmlns:a16="http://schemas.microsoft.com/office/drawing/2014/main" id="{4ADF4234-332F-C64F-1E27-600089AB7DA3}"/>
                </a:ext>
              </a:extLst>
            </p:cNvPr>
            <p:cNvSpPr/>
            <p:nvPr/>
          </p:nvSpPr>
          <p:spPr>
            <a:xfrm rot="10800000" flipH="1">
              <a:off x="-2162627" y="-14515"/>
              <a:ext cx="2500898" cy="6858000"/>
            </a:xfrm>
            <a:prstGeom prst="snip2DiagRect">
              <a:avLst/>
            </a:prstGeom>
            <a:solidFill>
              <a:srgbClr val="001C7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</p:spTree>
    <p:extLst>
      <p:ext uri="{BB962C8B-B14F-4D97-AF65-F5344CB8AC3E}">
        <p14:creationId xmlns:p14="http://schemas.microsoft.com/office/powerpoint/2010/main" val="3891132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3F10C-CDF9-1F8C-1DDA-B18E95EED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C7D2B71-BB3F-67E5-1609-5D8459D1B896}"/>
              </a:ext>
            </a:extLst>
          </p:cNvPr>
          <p:cNvSpPr txBox="1"/>
          <p:nvPr/>
        </p:nvSpPr>
        <p:spPr>
          <a:xfrm>
            <a:off x="643720" y="1162531"/>
            <a:ext cx="1134128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3200" dirty="0">
                <a:latin typeface="Verdana" panose="020B0604030504040204" pitchFamily="34" charset="0"/>
                <a:ea typeface="Verdana" panose="020B0604030504040204" pitchFamily="34" charset="0"/>
              </a:rPr>
              <a:t>Ejercicio 5: Un restaurante tiene Cs = 150 comensales en la cena, con 2.5 horas de servicio y 25 plazas. ¿Cuál es el tiempo medio de servicio?</a:t>
            </a:r>
          </a:p>
          <a:p>
            <a:pPr algn="just"/>
            <a:endParaRPr lang="es-ES" sz="3200" dirty="0">
              <a:solidFill>
                <a:srgbClr val="F8FAFF"/>
              </a:solidFill>
              <a:latin typeface="DeepSeek-CJK-patch"/>
              <a:ea typeface="Verdana" panose="020B0604030504040204" pitchFamily="34" charset="0"/>
            </a:endParaRPr>
          </a:p>
          <a:p>
            <a:pPr algn="just"/>
            <a:r>
              <a:rPr lang="es-ES" sz="3200" dirty="0">
                <a:latin typeface="Verdana" panose="020B0604030504040204" pitchFamily="34" charset="0"/>
                <a:ea typeface="Verdana" panose="020B0604030504040204" pitchFamily="34" charset="0"/>
              </a:rPr>
              <a:t>Ejercicio 6: Un </a:t>
            </a:r>
            <a:r>
              <a:rPr lang="es-ES" sz="3200" dirty="0" err="1">
                <a:latin typeface="Verdana" panose="020B0604030504040204" pitchFamily="34" charset="0"/>
                <a:ea typeface="Verdana" panose="020B0604030504040204" pitchFamily="34" charset="0"/>
              </a:rPr>
              <a:t>food</a:t>
            </a:r>
            <a:r>
              <a:rPr lang="es-ES" sz="3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sz="3200" dirty="0" err="1">
                <a:latin typeface="Verdana" panose="020B0604030504040204" pitchFamily="34" charset="0"/>
                <a:ea typeface="Verdana" panose="020B0604030504040204" pitchFamily="34" charset="0"/>
              </a:rPr>
              <a:t>truck</a:t>
            </a:r>
            <a:r>
              <a:rPr lang="es-ES" sz="3200" dirty="0">
                <a:latin typeface="Verdana" panose="020B0604030504040204" pitchFamily="34" charset="0"/>
                <a:ea typeface="Verdana" panose="020B0604030504040204" pitchFamily="34" charset="0"/>
              </a:rPr>
              <a:t> tiene 12 plazas y un tiempo medio de servicio de 15 minutos (0.25h). Si en una jornada sirvió 96 comensales, ¿cuántas horas estuvo operando?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BD050590-FA7F-7328-144A-FF7A8CE48F70}"/>
              </a:ext>
            </a:extLst>
          </p:cNvPr>
          <p:cNvGrpSpPr/>
          <p:nvPr/>
        </p:nvGrpSpPr>
        <p:grpSpPr>
          <a:xfrm>
            <a:off x="-2162627" y="-14515"/>
            <a:ext cx="14354628" cy="6887028"/>
            <a:chOff x="-2162627" y="-14515"/>
            <a:chExt cx="14354628" cy="6887028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6DEC77AC-5E10-0008-1A1F-AA985AFE2383}"/>
                </a:ext>
              </a:extLst>
            </p:cNvPr>
            <p:cNvSpPr/>
            <p:nvPr/>
          </p:nvSpPr>
          <p:spPr>
            <a:xfrm>
              <a:off x="-914399" y="6429829"/>
              <a:ext cx="13106400" cy="442684"/>
            </a:xfrm>
            <a:prstGeom prst="rect">
              <a:avLst/>
            </a:prstGeom>
            <a:solidFill>
              <a:srgbClr val="C0081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dirty="0"/>
            </a:p>
          </p:txBody>
        </p:sp>
        <p:sp>
          <p:nvSpPr>
            <p:cNvPr id="5" name="Rectángulo: esquinas diagonales cortadas 4">
              <a:extLst>
                <a:ext uri="{FF2B5EF4-FFF2-40B4-BE49-F238E27FC236}">
                  <a16:creationId xmlns:a16="http://schemas.microsoft.com/office/drawing/2014/main" id="{EE5C8A0E-3A6E-2DB9-4A71-C0F5EBB68B32}"/>
                </a:ext>
              </a:extLst>
            </p:cNvPr>
            <p:cNvSpPr/>
            <p:nvPr/>
          </p:nvSpPr>
          <p:spPr>
            <a:xfrm rot="10800000" flipH="1">
              <a:off x="-2162627" y="-14515"/>
              <a:ext cx="2500898" cy="6858000"/>
            </a:xfrm>
            <a:prstGeom prst="snip2DiagRect">
              <a:avLst/>
            </a:prstGeom>
            <a:solidFill>
              <a:srgbClr val="001C7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</p:spTree>
    <p:extLst>
      <p:ext uri="{BB962C8B-B14F-4D97-AF65-F5344CB8AC3E}">
        <p14:creationId xmlns:p14="http://schemas.microsoft.com/office/powerpoint/2010/main" val="2325487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8A742-2C07-821C-F49A-5A864EEA0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674EABC-4433-D297-CAC2-DA61879492B0}"/>
              </a:ext>
            </a:extLst>
          </p:cNvPr>
          <p:cNvSpPr txBox="1"/>
          <p:nvPr/>
        </p:nvSpPr>
        <p:spPr>
          <a:xfrm>
            <a:off x="643720" y="1162531"/>
            <a:ext cx="113412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3200" dirty="0">
                <a:latin typeface="Verdana" panose="020B0604030504040204" pitchFamily="34" charset="0"/>
                <a:ea typeface="Verdana" panose="020B0604030504040204" pitchFamily="34" charset="0"/>
              </a:rPr>
              <a:t>Ejercicio 7: Un teatro-café tiene Cs = 200 comensales en una función de 2.5 horas, con un tiempo medio de servicio de 45 minutos (0.75h). ¿Cuántas plazas tiene?</a:t>
            </a:r>
          </a:p>
          <a:p>
            <a:pPr algn="just"/>
            <a:endParaRPr lang="es-ES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s-ES" sz="3200" dirty="0">
                <a:latin typeface="Verdana" panose="020B0604030504040204" pitchFamily="34" charset="0"/>
                <a:ea typeface="Verdana" panose="020B0604030504040204" pitchFamily="34" charset="0"/>
              </a:rPr>
              <a:t>Ejercicio 8: Un restaurante de sushi tiene 30 plazas y un tiempo medio de servicio de 50 minutos (5/6 h). Si su capacidad de servicio es 108 comensales, ¿cuál fue la duración del servicio?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B96098E1-5E16-E1EC-FC22-0D691ADBDBEC}"/>
              </a:ext>
            </a:extLst>
          </p:cNvPr>
          <p:cNvGrpSpPr/>
          <p:nvPr/>
        </p:nvGrpSpPr>
        <p:grpSpPr>
          <a:xfrm>
            <a:off x="-2162627" y="-14515"/>
            <a:ext cx="14354628" cy="6887028"/>
            <a:chOff x="-2162627" y="-14515"/>
            <a:chExt cx="14354628" cy="6887028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E99604DF-1FB1-8833-0FB0-4715B6309A3B}"/>
                </a:ext>
              </a:extLst>
            </p:cNvPr>
            <p:cNvSpPr/>
            <p:nvPr/>
          </p:nvSpPr>
          <p:spPr>
            <a:xfrm>
              <a:off x="-914399" y="6429829"/>
              <a:ext cx="13106400" cy="442684"/>
            </a:xfrm>
            <a:prstGeom prst="rect">
              <a:avLst/>
            </a:prstGeom>
            <a:solidFill>
              <a:srgbClr val="C0081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dirty="0"/>
            </a:p>
          </p:txBody>
        </p:sp>
        <p:sp>
          <p:nvSpPr>
            <p:cNvPr id="5" name="Rectángulo: esquinas diagonales cortadas 4">
              <a:extLst>
                <a:ext uri="{FF2B5EF4-FFF2-40B4-BE49-F238E27FC236}">
                  <a16:creationId xmlns:a16="http://schemas.microsoft.com/office/drawing/2014/main" id="{7C44DDBE-7EA4-7FB1-8DC8-5585D3F6FFE0}"/>
                </a:ext>
              </a:extLst>
            </p:cNvPr>
            <p:cNvSpPr/>
            <p:nvPr/>
          </p:nvSpPr>
          <p:spPr>
            <a:xfrm rot="10800000" flipH="1">
              <a:off x="-2162627" y="-14515"/>
              <a:ext cx="2500898" cy="6858000"/>
            </a:xfrm>
            <a:prstGeom prst="snip2DiagRect">
              <a:avLst/>
            </a:prstGeom>
            <a:solidFill>
              <a:srgbClr val="001C7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</p:spTree>
    <p:extLst>
      <p:ext uri="{BB962C8B-B14F-4D97-AF65-F5344CB8AC3E}">
        <p14:creationId xmlns:p14="http://schemas.microsoft.com/office/powerpoint/2010/main" val="667228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6AD5A-36F0-844D-3F72-6A4E18069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B0FF475-2497-6B6F-C50B-005DD882E078}"/>
              </a:ext>
            </a:extLst>
          </p:cNvPr>
          <p:cNvSpPr txBox="1"/>
          <p:nvPr/>
        </p:nvSpPr>
        <p:spPr>
          <a:xfrm>
            <a:off x="643720" y="1162531"/>
            <a:ext cx="1134128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3200">
                <a:latin typeface="Verdana" panose="020B0604030504040204" pitchFamily="34" charset="0"/>
                <a:ea typeface="Verdana" panose="020B0604030504040204" pitchFamily="34" charset="0"/>
              </a:rPr>
              <a:t>Ejercicio </a:t>
            </a:r>
            <a:r>
              <a:rPr lang="es-ES" sz="3200" dirty="0">
                <a:latin typeface="Verdana" panose="020B0604030504040204" pitchFamily="34" charset="0"/>
                <a:ea typeface="Verdana" panose="020B0604030504040204" pitchFamily="34" charset="0"/>
              </a:rPr>
              <a:t>9: Un pub con Cs = 320 comensales en una noche, opera con 40 plazas y un tiempo medio de servicio de 30 minutos (0.5h). ¿Cuánto duró el servicio?</a:t>
            </a:r>
          </a:p>
          <a:p>
            <a:pPr algn="just"/>
            <a:endParaRPr lang="es-ES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s-ES" sz="3200" dirty="0">
                <a:latin typeface="Verdana" panose="020B0604030504040204" pitchFamily="34" charset="0"/>
                <a:ea typeface="Verdana" panose="020B0604030504040204" pitchFamily="34" charset="0"/>
              </a:rPr>
              <a:t>Ejercicio 10: Un salón de eventos tiene 200 plazas y un servicio de 5 horas. Si la Cs = 500 comensales, ¿cuál es el tiempo medio de servicio (en minutos)?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F85E32F-81B3-4DEB-A86D-F26C8A9D5AA7}"/>
              </a:ext>
            </a:extLst>
          </p:cNvPr>
          <p:cNvGrpSpPr/>
          <p:nvPr/>
        </p:nvGrpSpPr>
        <p:grpSpPr>
          <a:xfrm>
            <a:off x="-2162627" y="-14515"/>
            <a:ext cx="14354628" cy="6887028"/>
            <a:chOff x="-2162627" y="-14515"/>
            <a:chExt cx="14354628" cy="6887028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71BFC97D-3D86-A0CD-05FE-D03C834DB32B}"/>
                </a:ext>
              </a:extLst>
            </p:cNvPr>
            <p:cNvSpPr/>
            <p:nvPr/>
          </p:nvSpPr>
          <p:spPr>
            <a:xfrm>
              <a:off x="-914399" y="6429829"/>
              <a:ext cx="13106400" cy="442684"/>
            </a:xfrm>
            <a:prstGeom prst="rect">
              <a:avLst/>
            </a:prstGeom>
            <a:solidFill>
              <a:srgbClr val="C0081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dirty="0"/>
            </a:p>
          </p:txBody>
        </p:sp>
        <p:sp>
          <p:nvSpPr>
            <p:cNvPr id="5" name="Rectángulo: esquinas diagonales cortadas 4">
              <a:extLst>
                <a:ext uri="{FF2B5EF4-FFF2-40B4-BE49-F238E27FC236}">
                  <a16:creationId xmlns:a16="http://schemas.microsoft.com/office/drawing/2014/main" id="{742CF46A-8B96-5377-01B2-3A2A87DD8C50}"/>
                </a:ext>
              </a:extLst>
            </p:cNvPr>
            <p:cNvSpPr/>
            <p:nvPr/>
          </p:nvSpPr>
          <p:spPr>
            <a:xfrm rot="10800000" flipH="1">
              <a:off x="-2162627" y="-14515"/>
              <a:ext cx="2500898" cy="6858000"/>
            </a:xfrm>
            <a:prstGeom prst="snip2DiagRect">
              <a:avLst/>
            </a:prstGeom>
            <a:solidFill>
              <a:srgbClr val="001C7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</p:spTree>
    <p:extLst>
      <p:ext uri="{BB962C8B-B14F-4D97-AF65-F5344CB8AC3E}">
        <p14:creationId xmlns:p14="http://schemas.microsoft.com/office/powerpoint/2010/main" val="4492520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574</Words>
  <Application>Microsoft Office PowerPoint</Application>
  <PresentationFormat>Panorámica</PresentationFormat>
  <Paragraphs>24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DeepSeek-CJK-patch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AntonioAguirre</cp:lastModifiedBy>
  <cp:revision>2</cp:revision>
  <dcterms:created xsi:type="dcterms:W3CDTF">2022-06-06T15:43:33Z</dcterms:created>
  <dcterms:modified xsi:type="dcterms:W3CDTF">2025-05-07T18:33:31Z</dcterms:modified>
</cp:coreProperties>
</file>