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74" autoAdjust="0"/>
    <p:restoredTop sz="94660"/>
  </p:normalViewPr>
  <p:slideViewPr>
    <p:cSldViewPr snapToGrid="0" showGuides="1">
      <p:cViewPr varScale="1">
        <p:scale>
          <a:sx n="70" d="100"/>
          <a:sy n="70" d="100"/>
        </p:scale>
        <p:origin x="654"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D4CFB6-8321-FF2A-0B13-5E0FC2C6BB9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7ADEEE2F-E854-14F2-6581-2017540C38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BBEC7862-172A-0675-7876-651857BEE12F}"/>
              </a:ext>
            </a:extLst>
          </p:cNvPr>
          <p:cNvSpPr>
            <a:spLocks noGrp="1"/>
          </p:cNvSpPr>
          <p:nvPr>
            <p:ph type="dt" sz="half" idx="10"/>
          </p:nvPr>
        </p:nvSpPr>
        <p:spPr/>
        <p:txBody>
          <a:bodyPr/>
          <a:lstStyle/>
          <a:p>
            <a:fld id="{804E6D0A-60D4-42E6-BBD7-751993A5AE40}" type="datetimeFigureOut">
              <a:rPr lang="es-NI" smtClean="0"/>
              <a:t>13/6/2022</a:t>
            </a:fld>
            <a:endParaRPr lang="es-NI"/>
          </a:p>
        </p:txBody>
      </p:sp>
      <p:sp>
        <p:nvSpPr>
          <p:cNvPr id="5" name="Marcador de pie de página 4">
            <a:extLst>
              <a:ext uri="{FF2B5EF4-FFF2-40B4-BE49-F238E27FC236}">
                <a16:creationId xmlns:a16="http://schemas.microsoft.com/office/drawing/2014/main" id="{778C4431-4075-4224-0877-0B01533C98BD}"/>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DEDFBA2E-A5D3-2C15-D640-B4FCB717280C}"/>
              </a:ext>
            </a:extLst>
          </p:cNvPr>
          <p:cNvSpPr>
            <a:spLocks noGrp="1"/>
          </p:cNvSpPr>
          <p:nvPr>
            <p:ph type="sldNum" sz="quarter" idx="12"/>
          </p:nvPr>
        </p:nvSpPr>
        <p:spPr/>
        <p:txBody>
          <a:bodyPr/>
          <a:lstStyle/>
          <a:p>
            <a:fld id="{D701D0CA-33C3-4BF8-8B3E-C03F6DB7C32D}" type="slidenum">
              <a:rPr lang="es-NI" smtClean="0"/>
              <a:t>‹Nº›</a:t>
            </a:fld>
            <a:endParaRPr lang="es-NI"/>
          </a:p>
        </p:txBody>
      </p:sp>
    </p:spTree>
    <p:extLst>
      <p:ext uri="{BB962C8B-B14F-4D97-AF65-F5344CB8AC3E}">
        <p14:creationId xmlns:p14="http://schemas.microsoft.com/office/powerpoint/2010/main" val="3166054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0D8634-D49F-BA86-59EA-2347CB7A172F}"/>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16B3C332-32ED-4334-6102-0F7F656F1DE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961F7F47-E31A-15F5-FFD2-22A3C00E3076}"/>
              </a:ext>
            </a:extLst>
          </p:cNvPr>
          <p:cNvSpPr>
            <a:spLocks noGrp="1"/>
          </p:cNvSpPr>
          <p:nvPr>
            <p:ph type="dt" sz="half" idx="10"/>
          </p:nvPr>
        </p:nvSpPr>
        <p:spPr/>
        <p:txBody>
          <a:bodyPr/>
          <a:lstStyle/>
          <a:p>
            <a:fld id="{804E6D0A-60D4-42E6-BBD7-751993A5AE40}" type="datetimeFigureOut">
              <a:rPr lang="es-NI" smtClean="0"/>
              <a:t>13/6/2022</a:t>
            </a:fld>
            <a:endParaRPr lang="es-NI"/>
          </a:p>
        </p:txBody>
      </p:sp>
      <p:sp>
        <p:nvSpPr>
          <p:cNvPr id="5" name="Marcador de pie de página 4">
            <a:extLst>
              <a:ext uri="{FF2B5EF4-FFF2-40B4-BE49-F238E27FC236}">
                <a16:creationId xmlns:a16="http://schemas.microsoft.com/office/drawing/2014/main" id="{322CA48A-AF27-5038-2205-1FD14E6D3E2C}"/>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B1188792-DFDB-D00B-4898-5CD4B2DC9F8F}"/>
              </a:ext>
            </a:extLst>
          </p:cNvPr>
          <p:cNvSpPr>
            <a:spLocks noGrp="1"/>
          </p:cNvSpPr>
          <p:nvPr>
            <p:ph type="sldNum" sz="quarter" idx="12"/>
          </p:nvPr>
        </p:nvSpPr>
        <p:spPr/>
        <p:txBody>
          <a:bodyPr/>
          <a:lstStyle/>
          <a:p>
            <a:fld id="{D701D0CA-33C3-4BF8-8B3E-C03F6DB7C32D}" type="slidenum">
              <a:rPr lang="es-NI" smtClean="0"/>
              <a:t>‹Nº›</a:t>
            </a:fld>
            <a:endParaRPr lang="es-NI"/>
          </a:p>
        </p:txBody>
      </p:sp>
    </p:spTree>
    <p:extLst>
      <p:ext uri="{BB962C8B-B14F-4D97-AF65-F5344CB8AC3E}">
        <p14:creationId xmlns:p14="http://schemas.microsoft.com/office/powerpoint/2010/main" val="3368987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0BC613-1A72-8351-28F1-9D8EB16EB16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CC1163F6-F44C-D0A3-28D8-E5EC44DFA0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745EA60-DBA6-802F-E6F0-B083BC8E815A}"/>
              </a:ext>
            </a:extLst>
          </p:cNvPr>
          <p:cNvSpPr>
            <a:spLocks noGrp="1"/>
          </p:cNvSpPr>
          <p:nvPr>
            <p:ph type="dt" sz="half" idx="10"/>
          </p:nvPr>
        </p:nvSpPr>
        <p:spPr/>
        <p:txBody>
          <a:bodyPr/>
          <a:lstStyle/>
          <a:p>
            <a:fld id="{804E6D0A-60D4-42E6-BBD7-751993A5AE40}" type="datetimeFigureOut">
              <a:rPr lang="es-NI" smtClean="0"/>
              <a:t>13/6/2022</a:t>
            </a:fld>
            <a:endParaRPr lang="es-NI"/>
          </a:p>
        </p:txBody>
      </p:sp>
      <p:sp>
        <p:nvSpPr>
          <p:cNvPr id="5" name="Marcador de pie de página 4">
            <a:extLst>
              <a:ext uri="{FF2B5EF4-FFF2-40B4-BE49-F238E27FC236}">
                <a16:creationId xmlns:a16="http://schemas.microsoft.com/office/drawing/2014/main" id="{E0EEDC6D-4397-49E5-53D2-463FC67408E2}"/>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F6E81776-58AD-E0CB-B3E3-F4B6938B9E85}"/>
              </a:ext>
            </a:extLst>
          </p:cNvPr>
          <p:cNvSpPr>
            <a:spLocks noGrp="1"/>
          </p:cNvSpPr>
          <p:nvPr>
            <p:ph type="sldNum" sz="quarter" idx="12"/>
          </p:nvPr>
        </p:nvSpPr>
        <p:spPr/>
        <p:txBody>
          <a:bodyPr/>
          <a:lstStyle/>
          <a:p>
            <a:fld id="{D701D0CA-33C3-4BF8-8B3E-C03F6DB7C32D}" type="slidenum">
              <a:rPr lang="es-NI" smtClean="0"/>
              <a:t>‹Nº›</a:t>
            </a:fld>
            <a:endParaRPr lang="es-NI"/>
          </a:p>
        </p:txBody>
      </p:sp>
    </p:spTree>
    <p:extLst>
      <p:ext uri="{BB962C8B-B14F-4D97-AF65-F5344CB8AC3E}">
        <p14:creationId xmlns:p14="http://schemas.microsoft.com/office/powerpoint/2010/main" val="737276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E2244D-5C77-230D-7417-0EBB456BA217}"/>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0D22FD0A-42F1-4113-17CA-5BBA32ABDAB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8CA51868-3AD5-A867-C649-CE9D90DF104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3C104CD9-A65A-1C62-ACE2-59B9BD62A645}"/>
              </a:ext>
            </a:extLst>
          </p:cNvPr>
          <p:cNvSpPr>
            <a:spLocks noGrp="1"/>
          </p:cNvSpPr>
          <p:nvPr>
            <p:ph type="dt" sz="half" idx="10"/>
          </p:nvPr>
        </p:nvSpPr>
        <p:spPr/>
        <p:txBody>
          <a:bodyPr/>
          <a:lstStyle/>
          <a:p>
            <a:fld id="{804E6D0A-60D4-42E6-BBD7-751993A5AE40}" type="datetimeFigureOut">
              <a:rPr lang="es-NI" smtClean="0"/>
              <a:t>13/6/2022</a:t>
            </a:fld>
            <a:endParaRPr lang="es-NI"/>
          </a:p>
        </p:txBody>
      </p:sp>
      <p:sp>
        <p:nvSpPr>
          <p:cNvPr id="6" name="Marcador de pie de página 5">
            <a:extLst>
              <a:ext uri="{FF2B5EF4-FFF2-40B4-BE49-F238E27FC236}">
                <a16:creationId xmlns:a16="http://schemas.microsoft.com/office/drawing/2014/main" id="{3B4121A0-96FE-8BF9-A4F7-23EF043D61C5}"/>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D1D4EB31-BE18-98EC-FC73-ACBC0BFFD98B}"/>
              </a:ext>
            </a:extLst>
          </p:cNvPr>
          <p:cNvSpPr>
            <a:spLocks noGrp="1"/>
          </p:cNvSpPr>
          <p:nvPr>
            <p:ph type="sldNum" sz="quarter" idx="12"/>
          </p:nvPr>
        </p:nvSpPr>
        <p:spPr/>
        <p:txBody>
          <a:bodyPr/>
          <a:lstStyle/>
          <a:p>
            <a:fld id="{D701D0CA-33C3-4BF8-8B3E-C03F6DB7C32D}" type="slidenum">
              <a:rPr lang="es-NI" smtClean="0"/>
              <a:t>‹Nº›</a:t>
            </a:fld>
            <a:endParaRPr lang="es-NI"/>
          </a:p>
        </p:txBody>
      </p:sp>
    </p:spTree>
    <p:extLst>
      <p:ext uri="{BB962C8B-B14F-4D97-AF65-F5344CB8AC3E}">
        <p14:creationId xmlns:p14="http://schemas.microsoft.com/office/powerpoint/2010/main" val="3366968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C8B0E0-96E3-0C54-89D0-8B73D59F057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F0C73FA0-731B-0E98-337A-50B17865A1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9B492D2-BEB9-22CE-6CD8-0A278F2FA95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65BBA389-2DCB-7607-D554-400727BA63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F4FA000-BAE9-D932-0D32-AD2D939A09E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4FB534FE-D61D-8B45-A850-2195BF183AD1}"/>
              </a:ext>
            </a:extLst>
          </p:cNvPr>
          <p:cNvSpPr>
            <a:spLocks noGrp="1"/>
          </p:cNvSpPr>
          <p:nvPr>
            <p:ph type="dt" sz="half" idx="10"/>
          </p:nvPr>
        </p:nvSpPr>
        <p:spPr/>
        <p:txBody>
          <a:bodyPr/>
          <a:lstStyle/>
          <a:p>
            <a:fld id="{804E6D0A-60D4-42E6-BBD7-751993A5AE40}" type="datetimeFigureOut">
              <a:rPr lang="es-NI" smtClean="0"/>
              <a:t>13/6/2022</a:t>
            </a:fld>
            <a:endParaRPr lang="es-NI"/>
          </a:p>
        </p:txBody>
      </p:sp>
      <p:sp>
        <p:nvSpPr>
          <p:cNvPr id="8" name="Marcador de pie de página 7">
            <a:extLst>
              <a:ext uri="{FF2B5EF4-FFF2-40B4-BE49-F238E27FC236}">
                <a16:creationId xmlns:a16="http://schemas.microsoft.com/office/drawing/2014/main" id="{3FCAEF2F-78E4-B2BE-C74E-E351B30E688F}"/>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ABAB0C40-308A-8FC2-FAA8-B6369E197CF9}"/>
              </a:ext>
            </a:extLst>
          </p:cNvPr>
          <p:cNvSpPr>
            <a:spLocks noGrp="1"/>
          </p:cNvSpPr>
          <p:nvPr>
            <p:ph type="sldNum" sz="quarter" idx="12"/>
          </p:nvPr>
        </p:nvSpPr>
        <p:spPr/>
        <p:txBody>
          <a:bodyPr/>
          <a:lstStyle/>
          <a:p>
            <a:fld id="{D701D0CA-33C3-4BF8-8B3E-C03F6DB7C32D}" type="slidenum">
              <a:rPr lang="es-NI" smtClean="0"/>
              <a:t>‹Nº›</a:t>
            </a:fld>
            <a:endParaRPr lang="es-NI"/>
          </a:p>
        </p:txBody>
      </p:sp>
    </p:spTree>
    <p:extLst>
      <p:ext uri="{BB962C8B-B14F-4D97-AF65-F5344CB8AC3E}">
        <p14:creationId xmlns:p14="http://schemas.microsoft.com/office/powerpoint/2010/main" val="957992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F69EAA-0B1E-AA1A-7A35-8F2A813A7533}"/>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D432C213-DB73-8566-22DD-012CD1211990}"/>
              </a:ext>
            </a:extLst>
          </p:cNvPr>
          <p:cNvSpPr>
            <a:spLocks noGrp="1"/>
          </p:cNvSpPr>
          <p:nvPr>
            <p:ph type="dt" sz="half" idx="10"/>
          </p:nvPr>
        </p:nvSpPr>
        <p:spPr/>
        <p:txBody>
          <a:bodyPr/>
          <a:lstStyle/>
          <a:p>
            <a:fld id="{804E6D0A-60D4-42E6-BBD7-751993A5AE40}" type="datetimeFigureOut">
              <a:rPr lang="es-NI" smtClean="0"/>
              <a:t>13/6/2022</a:t>
            </a:fld>
            <a:endParaRPr lang="es-NI"/>
          </a:p>
        </p:txBody>
      </p:sp>
      <p:sp>
        <p:nvSpPr>
          <p:cNvPr id="4" name="Marcador de pie de página 3">
            <a:extLst>
              <a:ext uri="{FF2B5EF4-FFF2-40B4-BE49-F238E27FC236}">
                <a16:creationId xmlns:a16="http://schemas.microsoft.com/office/drawing/2014/main" id="{0E757217-6221-A2DC-BEDD-C82D55014464}"/>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C32275E4-DCD1-476A-324E-87F95C5CFFF6}"/>
              </a:ext>
            </a:extLst>
          </p:cNvPr>
          <p:cNvSpPr>
            <a:spLocks noGrp="1"/>
          </p:cNvSpPr>
          <p:nvPr>
            <p:ph type="sldNum" sz="quarter" idx="12"/>
          </p:nvPr>
        </p:nvSpPr>
        <p:spPr/>
        <p:txBody>
          <a:bodyPr/>
          <a:lstStyle/>
          <a:p>
            <a:fld id="{D701D0CA-33C3-4BF8-8B3E-C03F6DB7C32D}" type="slidenum">
              <a:rPr lang="es-NI" smtClean="0"/>
              <a:t>‹Nº›</a:t>
            </a:fld>
            <a:endParaRPr lang="es-NI"/>
          </a:p>
        </p:txBody>
      </p:sp>
    </p:spTree>
    <p:extLst>
      <p:ext uri="{BB962C8B-B14F-4D97-AF65-F5344CB8AC3E}">
        <p14:creationId xmlns:p14="http://schemas.microsoft.com/office/powerpoint/2010/main" val="3537357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C078A53-05D0-BC1B-004E-C6A8E7BF09A5}"/>
              </a:ext>
            </a:extLst>
          </p:cNvPr>
          <p:cNvSpPr>
            <a:spLocks noGrp="1"/>
          </p:cNvSpPr>
          <p:nvPr>
            <p:ph type="dt" sz="half" idx="10"/>
          </p:nvPr>
        </p:nvSpPr>
        <p:spPr/>
        <p:txBody>
          <a:bodyPr/>
          <a:lstStyle/>
          <a:p>
            <a:fld id="{804E6D0A-60D4-42E6-BBD7-751993A5AE40}" type="datetimeFigureOut">
              <a:rPr lang="es-NI" smtClean="0"/>
              <a:t>13/6/2022</a:t>
            </a:fld>
            <a:endParaRPr lang="es-NI"/>
          </a:p>
        </p:txBody>
      </p:sp>
      <p:sp>
        <p:nvSpPr>
          <p:cNvPr id="3" name="Marcador de pie de página 2">
            <a:extLst>
              <a:ext uri="{FF2B5EF4-FFF2-40B4-BE49-F238E27FC236}">
                <a16:creationId xmlns:a16="http://schemas.microsoft.com/office/drawing/2014/main" id="{90700032-753B-3716-E586-D935AA537164}"/>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1C2B9CE2-AC6F-9B44-D7D9-3DCBD2B65D88}"/>
              </a:ext>
            </a:extLst>
          </p:cNvPr>
          <p:cNvSpPr>
            <a:spLocks noGrp="1"/>
          </p:cNvSpPr>
          <p:nvPr>
            <p:ph type="sldNum" sz="quarter" idx="12"/>
          </p:nvPr>
        </p:nvSpPr>
        <p:spPr/>
        <p:txBody>
          <a:bodyPr/>
          <a:lstStyle/>
          <a:p>
            <a:fld id="{D701D0CA-33C3-4BF8-8B3E-C03F6DB7C32D}" type="slidenum">
              <a:rPr lang="es-NI" smtClean="0"/>
              <a:t>‹Nº›</a:t>
            </a:fld>
            <a:endParaRPr lang="es-NI"/>
          </a:p>
        </p:txBody>
      </p:sp>
    </p:spTree>
    <p:extLst>
      <p:ext uri="{BB962C8B-B14F-4D97-AF65-F5344CB8AC3E}">
        <p14:creationId xmlns:p14="http://schemas.microsoft.com/office/powerpoint/2010/main" val="1046870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A72540-E484-A97C-3D15-A4ACA6DBB74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05FC5421-0DF9-7446-A306-FFCBA6EAA2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309E43FF-AD0B-3E22-24A5-A03E1D6B8A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26643A2-3CDE-3C14-54FC-7A3946118A90}"/>
              </a:ext>
            </a:extLst>
          </p:cNvPr>
          <p:cNvSpPr>
            <a:spLocks noGrp="1"/>
          </p:cNvSpPr>
          <p:nvPr>
            <p:ph type="dt" sz="half" idx="10"/>
          </p:nvPr>
        </p:nvSpPr>
        <p:spPr/>
        <p:txBody>
          <a:bodyPr/>
          <a:lstStyle/>
          <a:p>
            <a:fld id="{804E6D0A-60D4-42E6-BBD7-751993A5AE40}" type="datetimeFigureOut">
              <a:rPr lang="es-NI" smtClean="0"/>
              <a:t>13/6/2022</a:t>
            </a:fld>
            <a:endParaRPr lang="es-NI"/>
          </a:p>
        </p:txBody>
      </p:sp>
      <p:sp>
        <p:nvSpPr>
          <p:cNvPr id="6" name="Marcador de pie de página 5">
            <a:extLst>
              <a:ext uri="{FF2B5EF4-FFF2-40B4-BE49-F238E27FC236}">
                <a16:creationId xmlns:a16="http://schemas.microsoft.com/office/drawing/2014/main" id="{48C10697-EA62-0F03-FA9C-3F26F8AC6396}"/>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D90D77B9-3867-12E7-8D4C-228EE93D0205}"/>
              </a:ext>
            </a:extLst>
          </p:cNvPr>
          <p:cNvSpPr>
            <a:spLocks noGrp="1"/>
          </p:cNvSpPr>
          <p:nvPr>
            <p:ph type="sldNum" sz="quarter" idx="12"/>
          </p:nvPr>
        </p:nvSpPr>
        <p:spPr/>
        <p:txBody>
          <a:bodyPr/>
          <a:lstStyle/>
          <a:p>
            <a:fld id="{D701D0CA-33C3-4BF8-8B3E-C03F6DB7C32D}" type="slidenum">
              <a:rPr lang="es-NI" smtClean="0"/>
              <a:t>‹Nº›</a:t>
            </a:fld>
            <a:endParaRPr lang="es-NI"/>
          </a:p>
        </p:txBody>
      </p:sp>
    </p:spTree>
    <p:extLst>
      <p:ext uri="{BB962C8B-B14F-4D97-AF65-F5344CB8AC3E}">
        <p14:creationId xmlns:p14="http://schemas.microsoft.com/office/powerpoint/2010/main" val="1633095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B59D28-0DCB-01BB-2483-334F7BE8F8E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E5F1D237-262F-15D5-3C2D-AE060539A2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9DF58F9C-A3B2-E558-6F9B-4A39E29162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0017058-2C84-EFEF-949C-8F8178D07C1D}"/>
              </a:ext>
            </a:extLst>
          </p:cNvPr>
          <p:cNvSpPr>
            <a:spLocks noGrp="1"/>
          </p:cNvSpPr>
          <p:nvPr>
            <p:ph type="dt" sz="half" idx="10"/>
          </p:nvPr>
        </p:nvSpPr>
        <p:spPr/>
        <p:txBody>
          <a:bodyPr/>
          <a:lstStyle/>
          <a:p>
            <a:fld id="{804E6D0A-60D4-42E6-BBD7-751993A5AE40}" type="datetimeFigureOut">
              <a:rPr lang="es-NI" smtClean="0"/>
              <a:t>13/6/2022</a:t>
            </a:fld>
            <a:endParaRPr lang="es-NI"/>
          </a:p>
        </p:txBody>
      </p:sp>
      <p:sp>
        <p:nvSpPr>
          <p:cNvPr id="6" name="Marcador de pie de página 5">
            <a:extLst>
              <a:ext uri="{FF2B5EF4-FFF2-40B4-BE49-F238E27FC236}">
                <a16:creationId xmlns:a16="http://schemas.microsoft.com/office/drawing/2014/main" id="{571672B6-960C-D5D3-2F31-2C8300E96EEC}"/>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26F083EE-E7D6-B0DA-F57F-76308E721299}"/>
              </a:ext>
            </a:extLst>
          </p:cNvPr>
          <p:cNvSpPr>
            <a:spLocks noGrp="1"/>
          </p:cNvSpPr>
          <p:nvPr>
            <p:ph type="sldNum" sz="quarter" idx="12"/>
          </p:nvPr>
        </p:nvSpPr>
        <p:spPr/>
        <p:txBody>
          <a:bodyPr/>
          <a:lstStyle/>
          <a:p>
            <a:fld id="{D701D0CA-33C3-4BF8-8B3E-C03F6DB7C32D}" type="slidenum">
              <a:rPr lang="es-NI" smtClean="0"/>
              <a:t>‹Nº›</a:t>
            </a:fld>
            <a:endParaRPr lang="es-NI"/>
          </a:p>
        </p:txBody>
      </p:sp>
    </p:spTree>
    <p:extLst>
      <p:ext uri="{BB962C8B-B14F-4D97-AF65-F5344CB8AC3E}">
        <p14:creationId xmlns:p14="http://schemas.microsoft.com/office/powerpoint/2010/main" val="2661865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A3B5F1-76D1-1EA7-156C-E64798512A0D}"/>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CA72FD54-8190-7C6F-E25C-21DAB0C1203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E81EBFAC-6705-AA66-C7B9-747FAE2293A0}"/>
              </a:ext>
            </a:extLst>
          </p:cNvPr>
          <p:cNvSpPr>
            <a:spLocks noGrp="1"/>
          </p:cNvSpPr>
          <p:nvPr>
            <p:ph type="dt" sz="half" idx="10"/>
          </p:nvPr>
        </p:nvSpPr>
        <p:spPr/>
        <p:txBody>
          <a:bodyPr/>
          <a:lstStyle/>
          <a:p>
            <a:fld id="{804E6D0A-60D4-42E6-BBD7-751993A5AE40}" type="datetimeFigureOut">
              <a:rPr lang="es-NI" smtClean="0"/>
              <a:t>13/6/2022</a:t>
            </a:fld>
            <a:endParaRPr lang="es-NI"/>
          </a:p>
        </p:txBody>
      </p:sp>
      <p:sp>
        <p:nvSpPr>
          <p:cNvPr id="5" name="Marcador de pie de página 4">
            <a:extLst>
              <a:ext uri="{FF2B5EF4-FFF2-40B4-BE49-F238E27FC236}">
                <a16:creationId xmlns:a16="http://schemas.microsoft.com/office/drawing/2014/main" id="{F98DD2DC-3AAE-B199-ECB1-1D7279909CE7}"/>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E657B69A-4753-E079-ABCD-E182B57DF83D}"/>
              </a:ext>
            </a:extLst>
          </p:cNvPr>
          <p:cNvSpPr>
            <a:spLocks noGrp="1"/>
          </p:cNvSpPr>
          <p:nvPr>
            <p:ph type="sldNum" sz="quarter" idx="12"/>
          </p:nvPr>
        </p:nvSpPr>
        <p:spPr/>
        <p:txBody>
          <a:bodyPr/>
          <a:lstStyle/>
          <a:p>
            <a:fld id="{D701D0CA-33C3-4BF8-8B3E-C03F6DB7C32D}" type="slidenum">
              <a:rPr lang="es-NI" smtClean="0"/>
              <a:t>‹Nº›</a:t>
            </a:fld>
            <a:endParaRPr lang="es-NI"/>
          </a:p>
        </p:txBody>
      </p:sp>
    </p:spTree>
    <p:extLst>
      <p:ext uri="{BB962C8B-B14F-4D97-AF65-F5344CB8AC3E}">
        <p14:creationId xmlns:p14="http://schemas.microsoft.com/office/powerpoint/2010/main" val="3599093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3CBB6E7-CA72-12BB-3A1E-5A6CD10EBF0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0613085B-9B31-C771-0F4C-E075B0F740C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543ACF75-CFDA-0352-C7BE-182C3007C52F}"/>
              </a:ext>
            </a:extLst>
          </p:cNvPr>
          <p:cNvSpPr>
            <a:spLocks noGrp="1"/>
          </p:cNvSpPr>
          <p:nvPr>
            <p:ph type="dt" sz="half" idx="10"/>
          </p:nvPr>
        </p:nvSpPr>
        <p:spPr/>
        <p:txBody>
          <a:bodyPr/>
          <a:lstStyle/>
          <a:p>
            <a:fld id="{804E6D0A-60D4-42E6-BBD7-751993A5AE40}" type="datetimeFigureOut">
              <a:rPr lang="es-NI" smtClean="0"/>
              <a:t>13/6/2022</a:t>
            </a:fld>
            <a:endParaRPr lang="es-NI"/>
          </a:p>
        </p:txBody>
      </p:sp>
      <p:sp>
        <p:nvSpPr>
          <p:cNvPr id="5" name="Marcador de pie de página 4">
            <a:extLst>
              <a:ext uri="{FF2B5EF4-FFF2-40B4-BE49-F238E27FC236}">
                <a16:creationId xmlns:a16="http://schemas.microsoft.com/office/drawing/2014/main" id="{EAB488A0-6A6C-9575-3DA8-E847C0D85329}"/>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C7DCD2F5-FC3F-2D70-715F-A51033F3292D}"/>
              </a:ext>
            </a:extLst>
          </p:cNvPr>
          <p:cNvSpPr>
            <a:spLocks noGrp="1"/>
          </p:cNvSpPr>
          <p:nvPr>
            <p:ph type="sldNum" sz="quarter" idx="12"/>
          </p:nvPr>
        </p:nvSpPr>
        <p:spPr/>
        <p:txBody>
          <a:bodyPr/>
          <a:lstStyle/>
          <a:p>
            <a:fld id="{D701D0CA-33C3-4BF8-8B3E-C03F6DB7C32D}" type="slidenum">
              <a:rPr lang="es-NI" smtClean="0"/>
              <a:t>‹Nº›</a:t>
            </a:fld>
            <a:endParaRPr lang="es-NI"/>
          </a:p>
        </p:txBody>
      </p:sp>
    </p:spTree>
    <p:extLst>
      <p:ext uri="{BB962C8B-B14F-4D97-AF65-F5344CB8AC3E}">
        <p14:creationId xmlns:p14="http://schemas.microsoft.com/office/powerpoint/2010/main" val="302046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C44A433-485D-3E2A-B345-04A390E697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EDBCF602-BCFB-1BC6-388C-91E2F14722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4F5D29B0-E61F-1D5B-9A39-CBC227EA22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4E6D0A-60D4-42E6-BBD7-751993A5AE40}" type="datetimeFigureOut">
              <a:rPr lang="es-NI" smtClean="0"/>
              <a:t>13/6/2022</a:t>
            </a:fld>
            <a:endParaRPr lang="es-NI"/>
          </a:p>
        </p:txBody>
      </p:sp>
      <p:sp>
        <p:nvSpPr>
          <p:cNvPr id="5" name="Marcador de pie de página 4">
            <a:extLst>
              <a:ext uri="{FF2B5EF4-FFF2-40B4-BE49-F238E27FC236}">
                <a16:creationId xmlns:a16="http://schemas.microsoft.com/office/drawing/2014/main" id="{567C7488-70A8-127B-F74A-FD100656CD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4BAEDCEE-7A77-A346-5353-AE3E98B5D3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01D0CA-33C3-4BF8-8B3E-C03F6DB7C32D}" type="slidenum">
              <a:rPr lang="es-NI" smtClean="0"/>
              <a:t>‹Nº›</a:t>
            </a:fld>
            <a:endParaRPr lang="es-NI"/>
          </a:p>
        </p:txBody>
      </p:sp>
    </p:spTree>
    <p:extLst>
      <p:ext uri="{BB962C8B-B14F-4D97-AF65-F5344CB8AC3E}">
        <p14:creationId xmlns:p14="http://schemas.microsoft.com/office/powerpoint/2010/main" val="3599512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ingenieriaindustrialonline.com/wp-content/uploads/2019/08/Factores-en-estudios-de-localizaci%C3%B3n-de-plantas.pdf"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1107565" y="0"/>
            <a:ext cx="9758505"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Métodos de localización de planta</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327546" y="1282890"/>
            <a:ext cx="11477767" cy="2031325"/>
          </a:xfrm>
          <a:prstGeom prst="rect">
            <a:avLst/>
          </a:prstGeom>
          <a:noFill/>
        </p:spPr>
        <p:txBody>
          <a:bodyPr wrap="square" rtlCol="0">
            <a:spAutoFit/>
          </a:bodyPr>
          <a:lstStyle/>
          <a:p>
            <a:pPr algn="just"/>
            <a:r>
              <a:rPr lang="es-ES" dirty="0"/>
              <a:t>Las decisiones relacionados con la localización de la planta son del orden estratégico, y por lo tanto comprometen al staff gerencial de la organización, dado que éstas son cruciales al comprometer a la misma con costos por largos períodos, empleos y patrones de mercado. Las alternativas de localización deben ser revisadas bajo las condiciones de servicios básicos, mano de obra, fuentes de materias primas e insumos, demanda del mercado, acceso etc., siguiendo regularmente para su determinación óptima un proceso de selección basado en el método científico.</a:t>
            </a:r>
            <a:endParaRPr lang="es-NI" dirty="0"/>
          </a:p>
          <a:p>
            <a:pPr algn="just"/>
            <a:endParaRPr lang="es-NI" dirty="0"/>
          </a:p>
          <a:p>
            <a:pPr algn="just"/>
            <a:endParaRPr lang="es-NI" dirty="0"/>
          </a:p>
        </p:txBody>
      </p:sp>
    </p:spTree>
    <p:extLst>
      <p:ext uri="{BB962C8B-B14F-4D97-AF65-F5344CB8AC3E}">
        <p14:creationId xmlns:p14="http://schemas.microsoft.com/office/powerpoint/2010/main" val="3099367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Definición de actividades y alcance de un proyecto de localización de planta</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327546" y="1206603"/>
            <a:ext cx="11477767" cy="2862322"/>
          </a:xfrm>
          <a:prstGeom prst="rect">
            <a:avLst/>
          </a:prstGeom>
          <a:noFill/>
        </p:spPr>
        <p:txBody>
          <a:bodyPr wrap="square" rtlCol="0">
            <a:spAutoFit/>
          </a:bodyPr>
          <a:lstStyle/>
          <a:p>
            <a:pPr algn="just"/>
            <a:r>
              <a:rPr lang="es-ES" dirty="0"/>
              <a:t>Las decisiones relacionados con la localización de la planta son del orden estratégico, y por lo tanto comprometen al staff gerencial de la organización, dado que éstas son cruciales al comprometer a la misma con costos por largos períodos, empleos Las decisiones de orden estratégico deben ser abordadas por las organizaciones desde un enfoque sistémico, que parte en éste caso, por la conformación de un grupo interdisciplinar encargado del proyecto de localización.</a:t>
            </a:r>
          </a:p>
          <a:p>
            <a:pPr algn="just"/>
            <a:endParaRPr lang="es-ES" dirty="0"/>
          </a:p>
          <a:p>
            <a:pPr algn="just"/>
            <a:r>
              <a:rPr lang="es-ES" dirty="0"/>
              <a:t>Este grupo interdisciplinar deberá tener las competencias para abordar el proyecto con el alcance propio de los siguientes tópicos: patrones de mercado. Las alternativas de localización deben ser revisadas bajo las condiciones de servicios básicos, mano de obra, fuentes de materias primas e insumos, demanda del mercado, acceso etc., siguiendo regularmente para su determinación óptima un proceso de selección basado en el método científico.</a:t>
            </a:r>
            <a:endParaRPr lang="es-NI" dirty="0"/>
          </a:p>
          <a:p>
            <a:pPr algn="just"/>
            <a:endParaRPr lang="es-NI" dirty="0"/>
          </a:p>
        </p:txBody>
      </p:sp>
    </p:spTree>
    <p:extLst>
      <p:ext uri="{BB962C8B-B14F-4D97-AF65-F5344CB8AC3E}">
        <p14:creationId xmlns:p14="http://schemas.microsoft.com/office/powerpoint/2010/main" val="1228685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Definición de actividades y alcance de un proyecto de localización de planta</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327546" y="1206603"/>
            <a:ext cx="11477767" cy="2862322"/>
          </a:xfrm>
          <a:prstGeom prst="rect">
            <a:avLst/>
          </a:prstGeom>
          <a:noFill/>
        </p:spPr>
        <p:txBody>
          <a:bodyPr wrap="square" rtlCol="0">
            <a:spAutoFit/>
          </a:bodyPr>
          <a:lstStyle/>
          <a:p>
            <a:pPr marL="285750" indent="-285750" algn="just">
              <a:buFont typeface="Arial" panose="020B0604020202020204" pitchFamily="34" charset="0"/>
              <a:buChar char="•"/>
            </a:pPr>
            <a:r>
              <a:rPr lang="es-ES" dirty="0"/>
              <a:t>Conformación de los elementos críticos de mercados: Volumen, localización geográfica, precios, competencia, calidad requerida, y el análisis, evaluación y selección de la tecnología apropiada.</a:t>
            </a:r>
          </a:p>
          <a:p>
            <a:pPr marL="285750" indent="-285750" algn="just">
              <a:buFont typeface="Arial" panose="020B0604020202020204" pitchFamily="34" charset="0"/>
              <a:buChar char="•"/>
            </a:pPr>
            <a:r>
              <a:rPr lang="es-ES" dirty="0"/>
              <a:t>Desarrollo de la logística del proyecto, estimación de capital, elementos de costos, distribución, fletes, costo de mano de obra, servicios.</a:t>
            </a:r>
          </a:p>
          <a:p>
            <a:pPr marL="285750" indent="-285750" algn="just">
              <a:buFont typeface="Arial" panose="020B0604020202020204" pitchFamily="34" charset="0"/>
              <a:buChar char="•"/>
            </a:pPr>
            <a:r>
              <a:rPr lang="es-ES" dirty="0"/>
              <a:t>Análisis y selección de localización, en función de aspectos técnicos de mercado.</a:t>
            </a:r>
          </a:p>
          <a:p>
            <a:pPr marL="285750" indent="-285750" algn="just">
              <a:buFont typeface="Arial" panose="020B0604020202020204" pitchFamily="34" charset="0"/>
              <a:buChar char="•"/>
            </a:pPr>
            <a:r>
              <a:rPr lang="es-ES" dirty="0"/>
              <a:t>Evaluación económica y justificación del proyecto.</a:t>
            </a:r>
          </a:p>
          <a:p>
            <a:pPr marL="285750" indent="-285750" algn="just">
              <a:buFont typeface="Arial" panose="020B0604020202020204" pitchFamily="34" charset="0"/>
              <a:buChar char="•"/>
            </a:pPr>
            <a:r>
              <a:rPr lang="es-ES" dirty="0"/>
              <a:t>Definición de actividades, programas para la organización del proyecto y su ejecución.</a:t>
            </a:r>
          </a:p>
          <a:p>
            <a:pPr marL="285750" indent="-285750" algn="just">
              <a:buFont typeface="Arial" panose="020B0604020202020204" pitchFamily="34" charset="0"/>
              <a:buChar char="•"/>
            </a:pPr>
            <a:r>
              <a:rPr lang="es-ES" dirty="0"/>
              <a:t>Ingeniería de proceso, Ingeniería de detalle, compra de equipo, construcción e instalación, pruebas mecánicas, arranque.</a:t>
            </a:r>
          </a:p>
          <a:p>
            <a:pPr marL="285750" indent="-285750" algn="just">
              <a:buFont typeface="Arial" panose="020B0604020202020204" pitchFamily="34" charset="0"/>
              <a:buChar char="•"/>
            </a:pPr>
            <a:r>
              <a:rPr lang="es-ES" dirty="0"/>
              <a:t>Planeación de actividades acordes con la filosofía de mejoramiento continuo.</a:t>
            </a:r>
            <a:endParaRPr lang="es-NI" dirty="0"/>
          </a:p>
        </p:txBody>
      </p:sp>
    </p:spTree>
    <p:extLst>
      <p:ext uri="{BB962C8B-B14F-4D97-AF65-F5344CB8AC3E}">
        <p14:creationId xmlns:p14="http://schemas.microsoft.com/office/powerpoint/2010/main" val="693824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707886"/>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¿Macro o </a:t>
            </a:r>
            <a:r>
              <a:rPr lang="es-ES" sz="4000" b="0" cap="none" spc="0" dirty="0" err="1">
                <a:ln w="0"/>
                <a:solidFill>
                  <a:schemeClr val="tx1"/>
                </a:solidFill>
                <a:effectLst>
                  <a:outerShdw blurRad="38100" dist="19050" dir="2700000" algn="tl" rotWithShape="0">
                    <a:schemeClr val="dk1">
                      <a:alpha val="40000"/>
                    </a:schemeClr>
                  </a:outerShdw>
                </a:effectLst>
              </a:rPr>
              <a:t>micro-localización</a:t>
            </a:r>
            <a:r>
              <a:rPr lang="es-ES" sz="4000" b="0" cap="none" spc="0" dirty="0">
                <a:ln w="0"/>
                <a:solidFill>
                  <a:schemeClr val="tx1"/>
                </a:solidFill>
                <a:effectLst>
                  <a:outerShdw blurRad="38100" dist="19050" dir="2700000" algn="tl" rotWithShape="0">
                    <a:schemeClr val="dk1">
                      <a:alpha val="40000"/>
                    </a:schemeClr>
                  </a:outerShdw>
                </a:effectLst>
              </a:rPr>
              <a:t>?</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327546" y="598702"/>
            <a:ext cx="11477767" cy="3693319"/>
          </a:xfrm>
          <a:prstGeom prst="rect">
            <a:avLst/>
          </a:prstGeom>
          <a:noFill/>
        </p:spPr>
        <p:txBody>
          <a:bodyPr wrap="square" rtlCol="0">
            <a:spAutoFit/>
          </a:bodyPr>
          <a:lstStyle/>
          <a:p>
            <a:pPr algn="just"/>
            <a:r>
              <a:rPr lang="es-ES" dirty="0"/>
              <a:t>En el estudio de localización se involucran dos aspectos diferentes:</a:t>
            </a:r>
          </a:p>
          <a:p>
            <a:pPr algn="just"/>
            <a:endParaRPr lang="es-ES" dirty="0"/>
          </a:p>
          <a:p>
            <a:pPr marL="285750" indent="-285750" algn="just">
              <a:buFont typeface="Arial" panose="020B0604020202020204" pitchFamily="34" charset="0"/>
              <a:buChar char="•"/>
            </a:pPr>
            <a:r>
              <a:rPr lang="es-ES" dirty="0" err="1"/>
              <a:t>Macrolocalización</a:t>
            </a:r>
            <a:r>
              <a:rPr lang="es-ES" dirty="0"/>
              <a:t>: Es decir, la selección de la región o zona más adecuada, evaluando las regiones que preliminarmente presenten ciertos atractivos para la industria que se trate.</a:t>
            </a:r>
          </a:p>
          <a:p>
            <a:pPr marL="285750" indent="-285750" algn="just">
              <a:buFont typeface="Arial" panose="020B0604020202020204" pitchFamily="34" charset="0"/>
              <a:buChar char="•"/>
            </a:pPr>
            <a:r>
              <a:rPr lang="es-ES" dirty="0" err="1"/>
              <a:t>Microlocalización</a:t>
            </a:r>
            <a:r>
              <a:rPr lang="es-ES" dirty="0"/>
              <a:t>: Es decir, la selección específica del sitio o terreno que se encuentra en la región que ha sido evaluada como la más conveniente.</a:t>
            </a:r>
          </a:p>
          <a:p>
            <a:pPr algn="just"/>
            <a:endParaRPr lang="es-ES" dirty="0"/>
          </a:p>
          <a:p>
            <a:pPr algn="just"/>
            <a:r>
              <a:rPr lang="es-ES" dirty="0"/>
              <a:t>En ambos casos el procedimiento de análisis de localización abordará las fases de:</a:t>
            </a:r>
          </a:p>
          <a:p>
            <a:pPr algn="just"/>
            <a:endParaRPr lang="es-ES" dirty="0"/>
          </a:p>
          <a:p>
            <a:pPr marL="285750" indent="-285750" algn="just">
              <a:buFont typeface="Arial" panose="020B0604020202020204" pitchFamily="34" charset="0"/>
              <a:buChar char="•"/>
            </a:pPr>
            <a:r>
              <a:rPr lang="es-ES" dirty="0"/>
              <a:t>Análisis preliminar.</a:t>
            </a:r>
          </a:p>
          <a:p>
            <a:pPr marL="285750" indent="-285750" algn="just">
              <a:buFont typeface="Arial" panose="020B0604020202020204" pitchFamily="34" charset="0"/>
              <a:buChar char="•"/>
            </a:pPr>
            <a:r>
              <a:rPr lang="es-ES" dirty="0"/>
              <a:t>Búsqueda de alternativas de localización.</a:t>
            </a:r>
          </a:p>
          <a:p>
            <a:pPr marL="285750" indent="-285750" algn="just">
              <a:buFont typeface="Arial" panose="020B0604020202020204" pitchFamily="34" charset="0"/>
              <a:buChar char="•"/>
            </a:pPr>
            <a:r>
              <a:rPr lang="es-ES" dirty="0"/>
              <a:t>Evaluación de alternativas.</a:t>
            </a:r>
          </a:p>
          <a:p>
            <a:pPr marL="285750" indent="-285750" algn="just">
              <a:buFont typeface="Arial" panose="020B0604020202020204" pitchFamily="34" charset="0"/>
              <a:buChar char="•"/>
            </a:pPr>
            <a:r>
              <a:rPr lang="es-ES" dirty="0"/>
              <a:t>Selección de localización.</a:t>
            </a:r>
            <a:endParaRPr lang="es-NI" dirty="0"/>
          </a:p>
        </p:txBody>
      </p:sp>
    </p:spTree>
    <p:extLst>
      <p:ext uri="{BB962C8B-B14F-4D97-AF65-F5344CB8AC3E}">
        <p14:creationId xmlns:p14="http://schemas.microsoft.com/office/powerpoint/2010/main" val="3227577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Factores utilizados en estudio de localización de plantas</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327546" y="1214255"/>
            <a:ext cx="11477767" cy="1754326"/>
          </a:xfrm>
          <a:prstGeom prst="rect">
            <a:avLst/>
          </a:prstGeom>
          <a:noFill/>
        </p:spPr>
        <p:txBody>
          <a:bodyPr wrap="square" rtlCol="0">
            <a:spAutoFit/>
          </a:bodyPr>
          <a:lstStyle/>
          <a:p>
            <a:pPr algn="just"/>
            <a:r>
              <a:rPr lang="es-ES" dirty="0"/>
              <a:t>En el proceso de evaluación de alternativas de localización, sin importar el método de selección que se utilice existen una serie de factores y </a:t>
            </a:r>
            <a:r>
              <a:rPr lang="es-ES" dirty="0" err="1"/>
              <a:t>subfactores</a:t>
            </a:r>
            <a:r>
              <a:rPr lang="es-ES" dirty="0"/>
              <a:t> que comúnmente son considerados como trascendentales para la determinación óptima de la ubicación macro o micro. La siguiente lista es de carácter enunciativo y no limitativa, por ende, podrán considerarse otros factores y excluir algunos de los listados, dependiendo del caso específico y el criterio del evaluador.</a:t>
            </a:r>
          </a:p>
          <a:p>
            <a:pPr algn="just"/>
            <a:endParaRPr lang="es-ES" dirty="0"/>
          </a:p>
          <a:p>
            <a:pPr algn="just"/>
            <a:r>
              <a:rPr lang="es-ES" dirty="0">
                <a:hlinkClick r:id="rId2"/>
              </a:rPr>
              <a:t>Factores en estudios de localización de plantas.</a:t>
            </a:r>
            <a:endParaRPr lang="es-NI" dirty="0"/>
          </a:p>
        </p:txBody>
      </p:sp>
    </p:spTree>
    <p:extLst>
      <p:ext uri="{BB962C8B-B14F-4D97-AF65-F5344CB8AC3E}">
        <p14:creationId xmlns:p14="http://schemas.microsoft.com/office/powerpoint/2010/main" val="3530224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327546" y="1214255"/>
            <a:ext cx="11477767" cy="4524315"/>
          </a:xfrm>
          <a:prstGeom prst="rect">
            <a:avLst/>
          </a:prstGeom>
          <a:noFill/>
        </p:spPr>
        <p:txBody>
          <a:bodyPr wrap="square" rtlCol="0">
            <a:spAutoFit/>
          </a:bodyPr>
          <a:lstStyle/>
          <a:p>
            <a:pPr algn="just"/>
            <a:r>
              <a:rPr lang="es-ES" dirty="0"/>
              <a:t>El Método Sinérgico o Método de Gibson y Brown es un algoritmo cuantitativo de localización de plantas que tiene como objetivo evaluar entre diversas opciones, que sitio ofrece las mejores condiciones para instalar una planta, basándose en tres tipos de factores: críticos, objetivos y subjetivos. La aplicación del modelo en cada una de sus etapas lleva a desarrollar la secuencia de cálculo:</a:t>
            </a:r>
          </a:p>
          <a:p>
            <a:pPr algn="just"/>
            <a:endParaRPr lang="es-ES" dirty="0"/>
          </a:p>
          <a:p>
            <a:pPr algn="just"/>
            <a:r>
              <a:rPr lang="es-ES" dirty="0"/>
              <a:t>Factores críticos: Son factores claves para el funcionamiento de organización. Su calificación es binaria, es decir, 1 o 0 y se clasifican en:</a:t>
            </a:r>
          </a:p>
          <a:p>
            <a:pPr algn="just"/>
            <a:endParaRPr lang="es-ES" dirty="0"/>
          </a:p>
          <a:p>
            <a:pPr marL="285750" indent="-285750" algn="just">
              <a:buFont typeface="Arial" panose="020B0604020202020204" pitchFamily="34" charset="0"/>
              <a:buChar char="•"/>
            </a:pPr>
            <a:r>
              <a:rPr lang="es-ES" dirty="0"/>
              <a:t>Energía eléctrica</a:t>
            </a:r>
          </a:p>
          <a:p>
            <a:pPr marL="285750" indent="-285750" algn="just">
              <a:buFont typeface="Arial" panose="020B0604020202020204" pitchFamily="34" charset="0"/>
              <a:buChar char="•"/>
            </a:pPr>
            <a:r>
              <a:rPr lang="es-ES" dirty="0"/>
              <a:t>Mano de obra</a:t>
            </a:r>
          </a:p>
          <a:p>
            <a:pPr marL="285750" indent="-285750" algn="just">
              <a:buFont typeface="Arial" panose="020B0604020202020204" pitchFamily="34" charset="0"/>
              <a:buChar char="•"/>
            </a:pPr>
            <a:r>
              <a:rPr lang="es-ES" dirty="0"/>
              <a:t>Materia prima</a:t>
            </a:r>
          </a:p>
          <a:p>
            <a:pPr marL="285750" indent="-285750" algn="just">
              <a:buFont typeface="Arial" panose="020B0604020202020204" pitchFamily="34" charset="0"/>
              <a:buChar char="•"/>
            </a:pPr>
            <a:r>
              <a:rPr lang="es-ES" dirty="0"/>
              <a:t>Seguridad</a:t>
            </a:r>
          </a:p>
          <a:p>
            <a:pPr algn="just"/>
            <a:endParaRPr lang="es-ES" dirty="0"/>
          </a:p>
          <a:p>
            <a:pPr algn="just"/>
            <a:r>
              <a:rPr lang="es-ES" dirty="0"/>
              <a:t>El Factor crítico de una zona se determina como el producto de las calificaciones de los </a:t>
            </a:r>
            <a:r>
              <a:rPr lang="es-ES" dirty="0" err="1"/>
              <a:t>subfactores</a:t>
            </a:r>
            <a:r>
              <a:rPr lang="es-ES" dirty="0"/>
              <a:t>, </a:t>
            </a:r>
            <a:r>
              <a:rPr lang="es-ES" dirty="0" err="1"/>
              <a:t>pej</a:t>
            </a:r>
            <a:r>
              <a:rPr lang="es-ES" dirty="0"/>
              <a:t>:</a:t>
            </a:r>
          </a:p>
          <a:p>
            <a:pPr algn="just"/>
            <a:endParaRPr lang="es-ES" dirty="0"/>
          </a:p>
          <a:p>
            <a:pPr algn="just"/>
            <a:r>
              <a:rPr lang="es-ES" dirty="0"/>
              <a:t>FC = Energía * Mano de Obra * Materia Prima * Seguridad</a:t>
            </a:r>
            <a:endParaRPr lang="es-NI" dirty="0"/>
          </a:p>
        </p:txBody>
      </p:sp>
    </p:spTree>
    <p:extLst>
      <p:ext uri="{BB962C8B-B14F-4D97-AF65-F5344CB8AC3E}">
        <p14:creationId xmlns:p14="http://schemas.microsoft.com/office/powerpoint/2010/main" val="2459000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327546" y="1214255"/>
            <a:ext cx="11477767" cy="2862322"/>
          </a:xfrm>
          <a:prstGeom prst="rect">
            <a:avLst/>
          </a:prstGeom>
          <a:noFill/>
        </p:spPr>
        <p:txBody>
          <a:bodyPr wrap="square" rtlCol="0">
            <a:spAutoFit/>
          </a:bodyPr>
          <a:lstStyle/>
          <a:p>
            <a:pPr algn="just"/>
            <a:r>
              <a:rPr lang="es-ES" dirty="0"/>
              <a:t>En caso de que uno de los </a:t>
            </a:r>
            <a:r>
              <a:rPr lang="es-ES" dirty="0" err="1"/>
              <a:t>subfactores</a:t>
            </a:r>
            <a:r>
              <a:rPr lang="es-ES" dirty="0"/>
              <a:t> sea calificado como 0 el resultado del factor crítico total de la zona será igual a 0.</a:t>
            </a:r>
          </a:p>
          <a:p>
            <a:pPr algn="just"/>
            <a:endParaRPr lang="es-ES" dirty="0"/>
          </a:p>
          <a:p>
            <a:pPr algn="just"/>
            <a:r>
              <a:rPr lang="es-ES" dirty="0"/>
              <a:t>Factores Objetivos: Son los costos mensuales o anuales más importantes ocasionados al establecerse una industria y se clasifican en:</a:t>
            </a:r>
          </a:p>
          <a:p>
            <a:pPr algn="just"/>
            <a:endParaRPr lang="es-ES" dirty="0"/>
          </a:p>
          <a:p>
            <a:pPr marL="285750" indent="-285750" algn="just">
              <a:buFont typeface="Arial" panose="020B0604020202020204" pitchFamily="34" charset="0"/>
              <a:buChar char="•"/>
            </a:pPr>
            <a:r>
              <a:rPr lang="es-ES" dirty="0"/>
              <a:t>Costo del lote</a:t>
            </a:r>
          </a:p>
          <a:p>
            <a:pPr marL="285750" indent="-285750" algn="just">
              <a:buFont typeface="Arial" panose="020B0604020202020204" pitchFamily="34" charset="0"/>
              <a:buChar char="•"/>
            </a:pPr>
            <a:r>
              <a:rPr lang="es-ES" dirty="0"/>
              <a:t>Costo de mantenimiento</a:t>
            </a:r>
          </a:p>
          <a:p>
            <a:pPr marL="285750" indent="-285750" algn="just">
              <a:buFont typeface="Arial" panose="020B0604020202020204" pitchFamily="34" charset="0"/>
              <a:buChar char="•"/>
            </a:pPr>
            <a:r>
              <a:rPr lang="es-ES" dirty="0"/>
              <a:t>Costo de construcción</a:t>
            </a:r>
          </a:p>
          <a:p>
            <a:pPr marL="285750" indent="-285750" algn="just">
              <a:buFont typeface="Arial" panose="020B0604020202020204" pitchFamily="34" charset="0"/>
              <a:buChar char="•"/>
            </a:pPr>
            <a:r>
              <a:rPr lang="es-ES" dirty="0"/>
              <a:t>Costo de materia prima</a:t>
            </a:r>
          </a:p>
          <a:p>
            <a:pPr algn="just"/>
            <a:endParaRPr lang="es-ES" dirty="0"/>
          </a:p>
        </p:txBody>
      </p:sp>
    </p:spTree>
    <p:extLst>
      <p:ext uri="{BB962C8B-B14F-4D97-AF65-F5344CB8AC3E}">
        <p14:creationId xmlns:p14="http://schemas.microsoft.com/office/powerpoint/2010/main" val="1261439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327546" y="1214255"/>
            <a:ext cx="11477767" cy="3970318"/>
          </a:xfrm>
          <a:prstGeom prst="rect">
            <a:avLst/>
          </a:prstGeom>
          <a:noFill/>
        </p:spPr>
        <p:txBody>
          <a:bodyPr wrap="square" rtlCol="0">
            <a:spAutoFit/>
          </a:bodyPr>
          <a:lstStyle/>
          <a:p>
            <a:pPr algn="just"/>
            <a:r>
              <a:rPr lang="es-ES" dirty="0"/>
              <a:t>Factores Subjetivos: Estos son los factores de tipo cualitativo, pero que afectan significativamente el funcionamiento de la empresa. Su calificación se da en porcentaje (%) y se clasifican en:</a:t>
            </a:r>
          </a:p>
          <a:p>
            <a:pPr algn="just"/>
            <a:endParaRPr lang="es-ES" dirty="0"/>
          </a:p>
          <a:p>
            <a:pPr marL="285750" indent="-285750" algn="just">
              <a:buFont typeface="Arial" panose="020B0604020202020204" pitchFamily="34" charset="0"/>
              <a:buChar char="•"/>
            </a:pPr>
            <a:r>
              <a:rPr lang="es-ES" dirty="0"/>
              <a:t>Impacto ambiental</a:t>
            </a:r>
          </a:p>
          <a:p>
            <a:pPr marL="285750" indent="-285750" algn="just">
              <a:buFont typeface="Arial" panose="020B0604020202020204" pitchFamily="34" charset="0"/>
              <a:buChar char="•"/>
            </a:pPr>
            <a:r>
              <a:rPr lang="es-ES" dirty="0"/>
              <a:t>Clima social</a:t>
            </a:r>
          </a:p>
          <a:p>
            <a:pPr marL="285750" indent="-285750" algn="just">
              <a:buFont typeface="Arial" panose="020B0604020202020204" pitchFamily="34" charset="0"/>
              <a:buChar char="•"/>
            </a:pPr>
            <a:r>
              <a:rPr lang="es-ES" dirty="0"/>
              <a:t>Servicios comunitarios</a:t>
            </a:r>
          </a:p>
          <a:p>
            <a:pPr marL="285750" indent="-285750" algn="just">
              <a:buFont typeface="Arial" panose="020B0604020202020204" pitchFamily="34" charset="0"/>
              <a:buChar char="•"/>
            </a:pPr>
            <a:r>
              <a:rPr lang="es-ES" dirty="0"/>
              <a:t>Hospitales</a:t>
            </a:r>
          </a:p>
          <a:p>
            <a:pPr marL="285750" indent="-285750" algn="just">
              <a:buFont typeface="Arial" panose="020B0604020202020204" pitchFamily="34" charset="0"/>
              <a:buChar char="•"/>
            </a:pPr>
            <a:r>
              <a:rPr lang="es-ES" dirty="0"/>
              <a:t>Bomberos</a:t>
            </a:r>
          </a:p>
          <a:p>
            <a:pPr marL="285750" indent="-285750" algn="just">
              <a:buFont typeface="Arial" panose="020B0604020202020204" pitchFamily="34" charset="0"/>
              <a:buChar char="•"/>
            </a:pPr>
            <a:r>
              <a:rPr lang="es-ES" dirty="0"/>
              <a:t>Policía</a:t>
            </a:r>
          </a:p>
          <a:p>
            <a:pPr marL="285750" indent="-285750" algn="just">
              <a:buFont typeface="Arial" panose="020B0604020202020204" pitchFamily="34" charset="0"/>
              <a:buChar char="•"/>
            </a:pPr>
            <a:r>
              <a:rPr lang="es-ES" dirty="0"/>
              <a:t>Zonas de recreación</a:t>
            </a:r>
          </a:p>
          <a:p>
            <a:pPr marL="285750" indent="-285750" algn="just">
              <a:buFont typeface="Arial" panose="020B0604020202020204" pitchFamily="34" charset="0"/>
              <a:buChar char="•"/>
            </a:pPr>
            <a:r>
              <a:rPr lang="es-ES" dirty="0"/>
              <a:t>Instituciones educativas</a:t>
            </a:r>
          </a:p>
          <a:p>
            <a:pPr marL="285750" indent="-285750" algn="just">
              <a:buFont typeface="Arial" panose="020B0604020202020204" pitchFamily="34" charset="0"/>
              <a:buChar char="•"/>
            </a:pPr>
            <a:r>
              <a:rPr lang="es-ES" dirty="0"/>
              <a:t>Transporte</a:t>
            </a:r>
          </a:p>
          <a:p>
            <a:pPr marL="285750" indent="-285750" algn="just">
              <a:buFont typeface="Arial" panose="020B0604020202020204" pitchFamily="34" charset="0"/>
              <a:buChar char="•"/>
            </a:pPr>
            <a:r>
              <a:rPr lang="es-ES" dirty="0"/>
              <a:t>Competencia</a:t>
            </a:r>
          </a:p>
          <a:p>
            <a:pPr marL="285750" indent="-285750" algn="just">
              <a:buFont typeface="Arial" panose="020B0604020202020204" pitchFamily="34" charset="0"/>
              <a:buChar char="•"/>
            </a:pPr>
            <a:r>
              <a:rPr lang="es-ES" dirty="0"/>
              <a:t>Actitud de la comunidad</a:t>
            </a:r>
            <a:endParaRPr lang="es-NI" dirty="0"/>
          </a:p>
        </p:txBody>
      </p:sp>
    </p:spTree>
    <p:extLst>
      <p:ext uri="{BB962C8B-B14F-4D97-AF65-F5344CB8AC3E}">
        <p14:creationId xmlns:p14="http://schemas.microsoft.com/office/powerpoint/2010/main" val="4242267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286604" y="1214255"/>
            <a:ext cx="11518710" cy="2585323"/>
          </a:xfrm>
          <a:prstGeom prst="rect">
            <a:avLst/>
          </a:prstGeom>
          <a:noFill/>
        </p:spPr>
        <p:txBody>
          <a:bodyPr wrap="square" rtlCol="0">
            <a:spAutoFit/>
          </a:bodyPr>
          <a:lstStyle/>
          <a:p>
            <a:pPr algn="just"/>
            <a:r>
              <a:rPr lang="es-ES" b="1" dirty="0"/>
              <a:t>Etapas del método sinérgico</a:t>
            </a:r>
          </a:p>
          <a:p>
            <a:pPr algn="just"/>
            <a:endParaRPr lang="es-ES" dirty="0"/>
          </a:p>
          <a:p>
            <a:pPr algn="just"/>
            <a:r>
              <a:rPr lang="es-ES" dirty="0"/>
              <a:t>El método consta de las siguientes etapas:</a:t>
            </a:r>
          </a:p>
          <a:p>
            <a:pPr algn="just"/>
            <a:endParaRPr lang="es-ES" dirty="0"/>
          </a:p>
          <a:p>
            <a:pPr marL="285750" indent="-285750" algn="just">
              <a:buFont typeface="Arial" panose="020B0604020202020204" pitchFamily="34" charset="0"/>
              <a:buChar char="•"/>
            </a:pPr>
            <a:r>
              <a:rPr lang="es-ES" dirty="0"/>
              <a:t>Asignar el valor binario a los factores críticos.</a:t>
            </a:r>
          </a:p>
          <a:p>
            <a:pPr marL="285750" indent="-285750" algn="just">
              <a:buFont typeface="Arial" panose="020B0604020202020204" pitchFamily="34" charset="0"/>
              <a:buChar char="•"/>
            </a:pPr>
            <a:r>
              <a:rPr lang="es-ES" dirty="0"/>
              <a:t>Asignar un valor relativo a cada factor objetivo (FO) para cada localización alternativa.</a:t>
            </a:r>
          </a:p>
          <a:p>
            <a:pPr marL="285750" indent="-285750" algn="just">
              <a:buFont typeface="Arial" panose="020B0604020202020204" pitchFamily="34" charset="0"/>
              <a:buChar char="•"/>
            </a:pPr>
            <a:r>
              <a:rPr lang="es-ES" dirty="0"/>
              <a:t>Estimar un valor relativo de cada factor subjetivo (FS) para cada localización alternativa.</a:t>
            </a:r>
          </a:p>
          <a:p>
            <a:pPr marL="285750" indent="-285750" algn="just">
              <a:buFont typeface="Arial" panose="020B0604020202020204" pitchFamily="34" charset="0"/>
              <a:buChar char="•"/>
            </a:pPr>
            <a:r>
              <a:rPr lang="es-ES" dirty="0"/>
              <a:t>Combinar los factores objetivos, subjetivos y críticos mediante la fórmula del algoritmo sinérgico.</a:t>
            </a:r>
          </a:p>
          <a:p>
            <a:pPr marL="285750" indent="-285750" algn="just">
              <a:buFont typeface="Arial" panose="020B0604020202020204" pitchFamily="34" charset="0"/>
              <a:buChar char="•"/>
            </a:pPr>
            <a:r>
              <a:rPr lang="es-ES" dirty="0"/>
              <a:t>Seleccionar la ubicación que tenga la máxima medida de preferencia de localización (MPL o IL).</a:t>
            </a:r>
            <a:endParaRPr lang="es-NI" dirty="0"/>
          </a:p>
        </p:txBody>
      </p:sp>
    </p:spTree>
    <p:extLst>
      <p:ext uri="{BB962C8B-B14F-4D97-AF65-F5344CB8AC3E}">
        <p14:creationId xmlns:p14="http://schemas.microsoft.com/office/powerpoint/2010/main" val="1704105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286604" y="1214255"/>
            <a:ext cx="11518710" cy="1754326"/>
          </a:xfrm>
          <a:prstGeom prst="rect">
            <a:avLst/>
          </a:prstGeom>
          <a:noFill/>
        </p:spPr>
        <p:txBody>
          <a:bodyPr wrap="square" rtlCol="0">
            <a:spAutoFit/>
          </a:bodyPr>
          <a:lstStyle/>
          <a:p>
            <a:pPr algn="just"/>
            <a:r>
              <a:rPr lang="es-ES" b="1" dirty="0"/>
              <a:t>Ejemplo de aplicación del método sinérgico</a:t>
            </a:r>
          </a:p>
          <a:p>
            <a:pPr algn="just"/>
            <a:endParaRPr lang="es-ES" dirty="0"/>
          </a:p>
          <a:p>
            <a:pPr algn="just"/>
            <a:r>
              <a:rPr lang="es-ES" dirty="0"/>
              <a:t>En un proyecto se han identificado 4 localizaciones tentativas, en todas ellas los costos del lote, mantenimiento, materia prima y construcción son diferentes. Además se han identificado como factores críticos para la continuidad de los procesos la disponibilidad de Energía eléctrica y la Materia prima. El siguiente tabulado representa los costos asociados y la calificación de los factores críticos según un estudio previo:</a:t>
            </a:r>
            <a:endParaRPr lang="es-NI" dirty="0"/>
          </a:p>
        </p:txBody>
      </p:sp>
      <p:pic>
        <p:nvPicPr>
          <p:cNvPr id="1026" name="Picture 2">
            <a:extLst>
              <a:ext uri="{FF2B5EF4-FFF2-40B4-BE49-F238E27FC236}">
                <a16:creationId xmlns:a16="http://schemas.microsoft.com/office/drawing/2014/main" id="{1B083956-56C8-F73B-10AB-10EEBFA7A7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852" y="3252335"/>
            <a:ext cx="7552325" cy="2582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8978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286604" y="1214255"/>
            <a:ext cx="11518710" cy="2585323"/>
          </a:xfrm>
          <a:prstGeom prst="rect">
            <a:avLst/>
          </a:prstGeom>
          <a:noFill/>
        </p:spPr>
        <p:txBody>
          <a:bodyPr wrap="square" rtlCol="0">
            <a:spAutoFit/>
          </a:bodyPr>
          <a:lstStyle/>
          <a:p>
            <a:pPr algn="just"/>
            <a:r>
              <a:rPr lang="es-ES" dirty="0"/>
              <a:t>El primer paso corresponde a calcular el valor relativo a cada factor objetivo mediante la siguiente formulación:</a:t>
            </a:r>
          </a:p>
          <a:p>
            <a:pPr algn="just"/>
            <a:endParaRPr lang="es-ES" dirty="0"/>
          </a:p>
          <a:p>
            <a:pPr algn="just"/>
            <a:endParaRPr lang="es-ES" dirty="0"/>
          </a:p>
          <a:p>
            <a:pPr algn="just"/>
            <a:endParaRPr lang="es-ES" dirty="0"/>
          </a:p>
          <a:p>
            <a:pPr algn="just"/>
            <a:endParaRPr lang="es-ES" dirty="0"/>
          </a:p>
          <a:p>
            <a:pPr algn="just"/>
            <a:endParaRPr lang="es-ES" dirty="0"/>
          </a:p>
          <a:p>
            <a:pPr algn="just"/>
            <a:endParaRPr lang="es-ES" dirty="0"/>
          </a:p>
          <a:p>
            <a:pPr algn="just"/>
            <a:endParaRPr lang="es-ES" dirty="0"/>
          </a:p>
          <a:p>
            <a:pPr algn="just"/>
            <a:r>
              <a:rPr lang="es-ES" dirty="0"/>
              <a:t>Es decir, para calcular el Factor Objetivo de la ciudad A, deberá calcularse de la siguiente manera:</a:t>
            </a:r>
            <a:endParaRPr lang="es-NI" dirty="0"/>
          </a:p>
        </p:txBody>
      </p:sp>
      <p:pic>
        <p:nvPicPr>
          <p:cNvPr id="2050" name="Picture 2">
            <a:extLst>
              <a:ext uri="{FF2B5EF4-FFF2-40B4-BE49-F238E27FC236}">
                <a16:creationId xmlns:a16="http://schemas.microsoft.com/office/drawing/2014/main" id="{887243CA-920C-642E-5F36-EDB98478E7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1866" y="1824853"/>
            <a:ext cx="2288268" cy="1604147"/>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a:extLst>
              <a:ext uri="{FF2B5EF4-FFF2-40B4-BE49-F238E27FC236}">
                <a16:creationId xmlns:a16="http://schemas.microsoft.com/office/drawing/2014/main" id="{F5B8BEEA-186F-C99E-6106-5E103CA1A597}"/>
              </a:ext>
            </a:extLst>
          </p:cNvPr>
          <p:cNvPicPr>
            <a:picLocks noChangeAspect="1"/>
          </p:cNvPicPr>
          <p:nvPr/>
        </p:nvPicPr>
        <p:blipFill>
          <a:blip r:embed="rId3"/>
          <a:stretch>
            <a:fillRect/>
          </a:stretch>
        </p:blipFill>
        <p:spPr>
          <a:xfrm>
            <a:off x="3721745" y="4485599"/>
            <a:ext cx="4777537" cy="1274835"/>
          </a:xfrm>
          <a:prstGeom prst="rect">
            <a:avLst/>
          </a:prstGeom>
        </p:spPr>
      </p:pic>
    </p:spTree>
    <p:extLst>
      <p:ext uri="{BB962C8B-B14F-4D97-AF65-F5344CB8AC3E}">
        <p14:creationId xmlns:p14="http://schemas.microsoft.com/office/powerpoint/2010/main" val="1023981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286604" y="1214255"/>
            <a:ext cx="11518710" cy="369332"/>
          </a:xfrm>
          <a:prstGeom prst="rect">
            <a:avLst/>
          </a:prstGeom>
          <a:noFill/>
        </p:spPr>
        <p:txBody>
          <a:bodyPr wrap="square" rtlCol="0">
            <a:spAutoFit/>
          </a:bodyPr>
          <a:lstStyle/>
          <a:p>
            <a:pPr algn="just"/>
            <a:r>
              <a:rPr lang="es-ES" dirty="0"/>
              <a:t>El siguiente tabulado nos muestra los Factores Objetivo de las ciudades restantes:</a:t>
            </a:r>
            <a:endParaRPr lang="es-NI" dirty="0"/>
          </a:p>
        </p:txBody>
      </p:sp>
      <p:pic>
        <p:nvPicPr>
          <p:cNvPr id="3074" name="Picture 2">
            <a:extLst>
              <a:ext uri="{FF2B5EF4-FFF2-40B4-BE49-F238E27FC236}">
                <a16:creationId xmlns:a16="http://schemas.microsoft.com/office/drawing/2014/main" id="{68784D50-E16E-4F3A-C526-CA46F67304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0894" y="2352258"/>
            <a:ext cx="6870212" cy="2532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158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286604" y="1214255"/>
            <a:ext cx="11518710" cy="1477328"/>
          </a:xfrm>
          <a:prstGeom prst="rect">
            <a:avLst/>
          </a:prstGeom>
          <a:noFill/>
        </p:spPr>
        <p:txBody>
          <a:bodyPr wrap="square" rtlCol="0">
            <a:spAutoFit/>
          </a:bodyPr>
          <a:lstStyle/>
          <a:p>
            <a:pPr algn="just"/>
            <a:r>
              <a:rPr lang="es-ES" dirty="0"/>
              <a:t>Al ser siempre la suma de los FO igual a 1, el valor que asume cada uno de ellos es siempre un término relativo entre las distintas alternativas de localización.</a:t>
            </a:r>
          </a:p>
          <a:p>
            <a:pPr algn="just"/>
            <a:endParaRPr lang="es-ES" dirty="0"/>
          </a:p>
          <a:p>
            <a:pPr algn="just"/>
            <a:r>
              <a:rPr lang="es-ES" dirty="0"/>
              <a:t>El siguiente paso corresponde a la determinación de los Factores subjetivos. El carácter subjetivo de los factores de orden cualitativo hace necesario asignar una medida de comparación que valore los distintos factores. Por ejemplo:</a:t>
            </a:r>
            <a:endParaRPr lang="es-NI" dirty="0"/>
          </a:p>
        </p:txBody>
      </p:sp>
      <p:pic>
        <p:nvPicPr>
          <p:cNvPr id="4098" name="Picture 2">
            <a:extLst>
              <a:ext uri="{FF2B5EF4-FFF2-40B4-BE49-F238E27FC236}">
                <a16:creationId xmlns:a16="http://schemas.microsoft.com/office/drawing/2014/main" id="{101F8463-3708-27E2-A530-FC99A0F506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5916" y="3429000"/>
            <a:ext cx="6120167" cy="1741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4819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286604" y="1214255"/>
            <a:ext cx="11518710" cy="923330"/>
          </a:xfrm>
          <a:prstGeom prst="rect">
            <a:avLst/>
          </a:prstGeom>
          <a:noFill/>
        </p:spPr>
        <p:txBody>
          <a:bodyPr wrap="square" rtlCol="0">
            <a:spAutoFit/>
          </a:bodyPr>
          <a:lstStyle/>
          <a:p>
            <a:pPr algn="just"/>
            <a:r>
              <a:rPr lang="es-ES" dirty="0"/>
              <a:t>En el caso de que la disponibilidad de la mano de obra de la ciudad A sea «buena» su ponderación será del 15%, en el caso de que sea «excelente» será del 30% y de ésta manera se determinan el resto de factores según su ponderación y para las ciudades restantes. Para nuestro ejemplo las ponderaciones se asignaron así:</a:t>
            </a:r>
            <a:endParaRPr lang="es-NI" dirty="0"/>
          </a:p>
        </p:txBody>
      </p:sp>
      <p:pic>
        <p:nvPicPr>
          <p:cNvPr id="5122" name="Picture 2">
            <a:extLst>
              <a:ext uri="{FF2B5EF4-FFF2-40B4-BE49-F238E27FC236}">
                <a16:creationId xmlns:a16="http://schemas.microsoft.com/office/drawing/2014/main" id="{A81B97A2-725F-4202-142B-B1836D162D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3434" y="2939695"/>
            <a:ext cx="6346998" cy="1780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342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286604" y="1214255"/>
            <a:ext cx="11518710" cy="2585323"/>
          </a:xfrm>
          <a:prstGeom prst="rect">
            <a:avLst/>
          </a:prstGeom>
          <a:noFill/>
        </p:spPr>
        <p:txBody>
          <a:bodyPr wrap="square" rtlCol="0">
            <a:spAutoFit/>
          </a:bodyPr>
          <a:lstStyle/>
          <a:p>
            <a:pPr algn="just"/>
            <a:r>
              <a:rPr lang="es-ES" dirty="0"/>
              <a:t>El siguiente paso corresponde a la combinación de los factores críticos, objetivos y subjetivos mediante la fórmula del algoritmo sinérgico:</a:t>
            </a:r>
          </a:p>
          <a:p>
            <a:pPr algn="just"/>
            <a:endParaRPr lang="es-ES" dirty="0"/>
          </a:p>
          <a:p>
            <a:pPr algn="just"/>
            <a:endParaRPr lang="es-ES" dirty="0"/>
          </a:p>
          <a:p>
            <a:pPr algn="just"/>
            <a:endParaRPr lang="es-ES" dirty="0"/>
          </a:p>
          <a:p>
            <a:pPr algn="just"/>
            <a:endParaRPr lang="es-ES" dirty="0"/>
          </a:p>
          <a:p>
            <a:pPr algn="just"/>
            <a:r>
              <a:rPr lang="es-ES" dirty="0"/>
              <a:t>Donde alfa equivale al nivel de confiabilidad, en nuestro ejemplo será del 80%, es decir que alfa equivale a 0,8.</a:t>
            </a:r>
          </a:p>
          <a:p>
            <a:pPr algn="just"/>
            <a:endParaRPr lang="es-ES" dirty="0"/>
          </a:p>
          <a:p>
            <a:pPr algn="just"/>
            <a:r>
              <a:rPr lang="es-ES" dirty="0"/>
              <a:t>El índice de localización para la ciudad A se calculará entonces así:</a:t>
            </a:r>
            <a:endParaRPr lang="es-NI" dirty="0"/>
          </a:p>
        </p:txBody>
      </p:sp>
      <p:pic>
        <p:nvPicPr>
          <p:cNvPr id="6146" name="Picture 2">
            <a:extLst>
              <a:ext uri="{FF2B5EF4-FFF2-40B4-BE49-F238E27FC236}">
                <a16:creationId xmlns:a16="http://schemas.microsoft.com/office/drawing/2014/main" id="{B3BE8901-FE32-D3FB-BB51-03F7366460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5056" y="2024288"/>
            <a:ext cx="5678480" cy="64633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98485653-7823-6A18-1EFE-0B479E5085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3199" y="4153086"/>
            <a:ext cx="6645602" cy="421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3016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286604" y="1214255"/>
            <a:ext cx="11518710" cy="923330"/>
          </a:xfrm>
          <a:prstGeom prst="rect">
            <a:avLst/>
          </a:prstGeom>
          <a:noFill/>
        </p:spPr>
        <p:txBody>
          <a:bodyPr wrap="square" rtlCol="0">
            <a:spAutoFit/>
          </a:bodyPr>
          <a:lstStyle/>
          <a:p>
            <a:pPr algn="just"/>
            <a:r>
              <a:rPr lang="es-ES" dirty="0"/>
              <a:t>El siguiente tabulado muestra los índices de localización de todas las ciudades, podemos observar que la ciudad C tiene un índice de localización equivalente a 0,0000 esto motivado por el factor crítico Materia Prima, mientras la ciudad que tiene el mayor índice de localización y sería la mejor opción sería la ciudad D.</a:t>
            </a:r>
            <a:endParaRPr lang="es-NI" dirty="0"/>
          </a:p>
        </p:txBody>
      </p:sp>
      <p:pic>
        <p:nvPicPr>
          <p:cNvPr id="5" name="Imagen 4">
            <a:extLst>
              <a:ext uri="{FF2B5EF4-FFF2-40B4-BE49-F238E27FC236}">
                <a16:creationId xmlns:a16="http://schemas.microsoft.com/office/drawing/2014/main" id="{D748DC8B-4EE0-7616-E333-9BF2DDB015E8}"/>
              </a:ext>
            </a:extLst>
          </p:cNvPr>
          <p:cNvPicPr>
            <a:picLocks noChangeAspect="1"/>
          </p:cNvPicPr>
          <p:nvPr/>
        </p:nvPicPr>
        <p:blipFill>
          <a:blip r:embed="rId2"/>
          <a:stretch>
            <a:fillRect/>
          </a:stretch>
        </p:blipFill>
        <p:spPr>
          <a:xfrm>
            <a:off x="4640238" y="2819400"/>
            <a:ext cx="3158888" cy="2021688"/>
          </a:xfrm>
          <a:prstGeom prst="rect">
            <a:avLst/>
          </a:prstGeom>
        </p:spPr>
      </p:pic>
    </p:spTree>
    <p:extLst>
      <p:ext uri="{BB962C8B-B14F-4D97-AF65-F5344CB8AC3E}">
        <p14:creationId xmlns:p14="http://schemas.microsoft.com/office/powerpoint/2010/main" val="2210552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EBC693-A7C1-51F8-6935-BD51300791FD}"/>
              </a:ext>
            </a:extLst>
          </p:cNvPr>
          <p:cNvSpPr/>
          <p:nvPr/>
        </p:nvSpPr>
        <p:spPr>
          <a:xfrm>
            <a:off x="386687" y="-109184"/>
            <a:ext cx="11418626" cy="1323439"/>
          </a:xfrm>
          <a:prstGeom prst="rect">
            <a:avLst/>
          </a:prstGeom>
          <a:noFill/>
        </p:spPr>
        <p:txBody>
          <a:bodyPr wrap="square" lIns="91440" tIns="45720" rIns="91440" bIns="45720">
            <a:spAutoFit/>
          </a:bodyPr>
          <a:lstStyle/>
          <a:p>
            <a:pPr algn="ctr"/>
            <a:r>
              <a:rPr lang="es-ES" sz="4000" b="0" cap="none" spc="0" dirty="0">
                <a:ln w="0"/>
                <a:solidFill>
                  <a:schemeClr val="tx1"/>
                </a:solidFill>
                <a:effectLst>
                  <a:outerShdw blurRad="38100" dist="19050" dir="2700000" algn="tl" rotWithShape="0">
                    <a:schemeClr val="dk1">
                      <a:alpha val="40000"/>
                    </a:schemeClr>
                  </a:outerShdw>
                </a:effectLst>
              </a:rPr>
              <a:t>Método sinérgico de localización de plantas (Brown y Gibson)</a:t>
            </a:r>
          </a:p>
        </p:txBody>
      </p:sp>
      <p:sp>
        <p:nvSpPr>
          <p:cNvPr id="6" name="CuadroTexto 5">
            <a:extLst>
              <a:ext uri="{FF2B5EF4-FFF2-40B4-BE49-F238E27FC236}">
                <a16:creationId xmlns:a16="http://schemas.microsoft.com/office/drawing/2014/main" id="{23C495E3-DD4C-B2C4-B296-242199F8EA3D}"/>
              </a:ext>
            </a:extLst>
          </p:cNvPr>
          <p:cNvSpPr txBox="1"/>
          <p:nvPr/>
        </p:nvSpPr>
        <p:spPr>
          <a:xfrm>
            <a:off x="286604" y="1214255"/>
            <a:ext cx="11518710" cy="923330"/>
          </a:xfrm>
          <a:prstGeom prst="rect">
            <a:avLst/>
          </a:prstGeom>
          <a:noFill/>
        </p:spPr>
        <p:txBody>
          <a:bodyPr wrap="square" rtlCol="0">
            <a:spAutoFit/>
          </a:bodyPr>
          <a:lstStyle/>
          <a:p>
            <a:pPr algn="just"/>
            <a:r>
              <a:rPr lang="es-ES" dirty="0"/>
              <a:t>El siguiente tabulado muestra los índices de localización de todas las ciudades, podemos observar que la ciudad C tiene un índice de localización equivalente a 0,0000 esto motivado por el factor crítico Materia Prima, mientras la ciudad que tiene el mayor índice de localización y sería la mejor opción sería la ciudad D.</a:t>
            </a:r>
            <a:endParaRPr lang="es-NI" dirty="0"/>
          </a:p>
        </p:txBody>
      </p:sp>
      <p:pic>
        <p:nvPicPr>
          <p:cNvPr id="5" name="Imagen 4">
            <a:extLst>
              <a:ext uri="{FF2B5EF4-FFF2-40B4-BE49-F238E27FC236}">
                <a16:creationId xmlns:a16="http://schemas.microsoft.com/office/drawing/2014/main" id="{D748DC8B-4EE0-7616-E333-9BF2DDB015E8}"/>
              </a:ext>
            </a:extLst>
          </p:cNvPr>
          <p:cNvPicPr>
            <a:picLocks noChangeAspect="1"/>
          </p:cNvPicPr>
          <p:nvPr/>
        </p:nvPicPr>
        <p:blipFill>
          <a:blip r:embed="rId2"/>
          <a:stretch>
            <a:fillRect/>
          </a:stretch>
        </p:blipFill>
        <p:spPr>
          <a:xfrm>
            <a:off x="4640238" y="2819400"/>
            <a:ext cx="3158888" cy="2021688"/>
          </a:xfrm>
          <a:prstGeom prst="rect">
            <a:avLst/>
          </a:prstGeom>
        </p:spPr>
      </p:pic>
    </p:spTree>
    <p:extLst>
      <p:ext uri="{BB962C8B-B14F-4D97-AF65-F5344CB8AC3E}">
        <p14:creationId xmlns:p14="http://schemas.microsoft.com/office/powerpoint/2010/main" val="72801079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1497</Words>
  <Application>Microsoft Office PowerPoint</Application>
  <PresentationFormat>Panorámica</PresentationFormat>
  <Paragraphs>111</Paragraphs>
  <Slides>17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AntonioAguirre</dc:creator>
  <cp:lastModifiedBy>Guillermo AntonioAguirre</cp:lastModifiedBy>
  <cp:revision>1</cp:revision>
  <dcterms:created xsi:type="dcterms:W3CDTF">2022-06-13T15:56:41Z</dcterms:created>
  <dcterms:modified xsi:type="dcterms:W3CDTF">2022-06-13T16:25:12Z</dcterms:modified>
</cp:coreProperties>
</file>