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6" r:id="rId2"/>
    <p:sldId id="261" r:id="rId3"/>
    <p:sldId id="260" r:id="rId4"/>
    <p:sldId id="264" r:id="rId5"/>
    <p:sldId id="266" r:id="rId6"/>
    <p:sldId id="265" r:id="rId7"/>
    <p:sldId id="267" r:id="rId8"/>
    <p:sldId id="268" r:id="rId9"/>
    <p:sldId id="269" r:id="rId10"/>
    <p:sldId id="263" r:id="rId11"/>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4C58"/>
    <a:srgbClr val="174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50" autoAdjust="0"/>
    <p:restoredTop sz="94712" autoAdjust="0"/>
  </p:normalViewPr>
  <p:slideViewPr>
    <p:cSldViewPr snapToGrid="0">
      <p:cViewPr>
        <p:scale>
          <a:sx n="69" d="100"/>
          <a:sy n="69" d="100"/>
        </p:scale>
        <p:origin x="852" y="84"/>
      </p:cViewPr>
      <p:guideLst/>
    </p:cSldViewPr>
  </p:slideViewPr>
  <p:notesTextViewPr>
    <p:cViewPr>
      <p:scale>
        <a:sx n="1" d="1"/>
        <a:sy n="1" d="1"/>
      </p:scale>
      <p:origin x="0" y="0"/>
    </p:cViewPr>
  </p:notesTextViewPr>
  <p:notesViewPr>
    <p:cSldViewPr snapToGrid="0" showGuides="1">
      <p:cViewPr varScale="1">
        <p:scale>
          <a:sx n="85" d="100"/>
          <a:sy n="85" d="100"/>
        </p:scale>
        <p:origin x="387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B0ECF89-2783-4E78-A209-A16EF114A1AA}" type="doc">
      <dgm:prSet loTypeId="urn:microsoft.com/office/officeart/2016/7/layout/LinProcess3" loCatId="list" qsTypeId="urn:microsoft.com/office/officeart/2005/8/quickstyle/simple1" qsCatId="simple" csTypeId="urn:microsoft.com/office/officeart/2018/5/colors/Iconchunking_neutralicontext_colorful1" csCatId="colorful" phldr="1"/>
      <dgm:spPr/>
      <dgm:t>
        <a:bodyPr rtlCol="0"/>
        <a:lstStyle/>
        <a:p>
          <a:pPr rtl="0"/>
          <a:endParaRPr lang="en-US"/>
        </a:p>
      </dgm:t>
    </dgm:pt>
    <dgm:pt modelId="{FFB58190-E438-47AF-86F3-FAEC2813ACF1}">
      <dgm:prSet custT="1"/>
      <dgm:spPr>
        <a:gradFill rotWithShape="0">
          <a:gsLst>
            <a:gs pos="1000">
              <a:schemeClr val="tx1">
                <a:lumMod val="85000"/>
                <a:lumOff val="15000"/>
              </a:schemeClr>
            </a:gs>
            <a:gs pos="100000">
              <a:schemeClr val="accent2">
                <a:lumMod val="50000"/>
              </a:schemeClr>
            </a:gs>
          </a:gsLst>
          <a:lin ang="12600000" scaled="0"/>
        </a:gradFill>
        <a:ln>
          <a:noFill/>
        </a:ln>
      </dgm:spPr>
      <dgm:t>
        <a:bodyPr rtlCol="0"/>
        <a:lstStyle/>
        <a:p>
          <a:pPr algn="just" rtl="0"/>
          <a:r>
            <a:rPr lang="es-ES" sz="2000" dirty="0">
              <a:solidFill>
                <a:schemeClr val="bg1"/>
              </a:solidFill>
            </a:rPr>
            <a:t>MAD</a:t>
          </a:r>
          <a:br>
            <a:rPr lang="es-ES" sz="1600" dirty="0">
              <a:solidFill>
                <a:schemeClr val="bg1"/>
              </a:solidFill>
            </a:rPr>
          </a:br>
          <a:r>
            <a:rPr lang="es-ES" sz="1600" dirty="0">
              <a:solidFill>
                <a:schemeClr val="bg1"/>
              </a:solidFill>
            </a:rPr>
            <a:t>La desviación absoluta promedio o desviación media o también conocida como promedio de un conjunto de datos se puede definir como la media de las desviaciones absolutas</a:t>
          </a:r>
          <a:endParaRPr lang="es-ES" sz="1600" noProof="1">
            <a:solidFill>
              <a:schemeClr val="bg1"/>
            </a:solidFill>
          </a:endParaRPr>
        </a:p>
      </dgm:t>
    </dgm:pt>
    <dgm:pt modelId="{A40BCF22-228C-4E6F-A028-7BBDE5C12E5A}" type="parTrans" cxnId="{8FB3CA80-DD34-4F68-B118-EAE12645570F}">
      <dgm:prSet/>
      <dgm:spPr/>
      <dgm:t>
        <a:bodyPr rtlCol="0"/>
        <a:lstStyle/>
        <a:p>
          <a:pPr rtl="0"/>
          <a:endParaRPr lang="es-ES" dirty="0"/>
        </a:p>
      </dgm:t>
    </dgm:pt>
    <dgm:pt modelId="{547F8894-C324-4B84-95BE-A51E4FE0FA16}" type="sibTrans" cxnId="{8FB3CA80-DD34-4F68-B118-EAE12645570F}">
      <dgm:prSet/>
      <dgm:spPr>
        <a:solidFill>
          <a:srgbClr val="124C58"/>
        </a:solidFill>
        <a:ln>
          <a:noFill/>
        </a:ln>
        <a:effectLst/>
      </dgm:spPr>
      <dgm:t>
        <a:bodyPr rtlCol="0"/>
        <a:lstStyle/>
        <a:p>
          <a:pPr rtl="0"/>
          <a:endParaRPr lang="es-ES" dirty="0"/>
        </a:p>
      </dgm:t>
    </dgm:pt>
    <dgm:pt modelId="{CE11A269-561D-4BA1-BC45-87F6759FD368}">
      <dgm:prSet custT="1"/>
      <dgm:spPr>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gm:spPr>
      <dgm:t>
        <a:bodyPr spcFirstLastPara="0" vert="horz" wrap="square" lIns="256199" tIns="330200" rIns="256199" bIns="330200" numCol="1" spcCol="1270" rtlCol="0" anchor="t" anchorCtr="0"/>
        <a:lstStyle/>
        <a:p>
          <a:pPr marL="0" lvl="0" indent="0" algn="just" defTabSz="711200" rtl="0">
            <a:lnSpc>
              <a:spcPct val="90000"/>
            </a:lnSpc>
            <a:spcBef>
              <a:spcPct val="0"/>
            </a:spcBef>
            <a:spcAft>
              <a:spcPct val="35000"/>
            </a:spcAft>
            <a:buNone/>
          </a:pPr>
          <a:r>
            <a:rPr lang="es-ES" sz="2000" kern="1200" dirty="0">
              <a:solidFill>
                <a:srgbClr val="FFFFFF"/>
              </a:solidFill>
              <a:latin typeface="Calibri"/>
              <a:ea typeface="+mn-ea"/>
              <a:cs typeface="+mn-cs"/>
            </a:rPr>
            <a:t>MSE</a:t>
          </a:r>
          <a:br>
            <a:rPr lang="es-ES" sz="1600" kern="1200" dirty="0">
              <a:solidFill>
                <a:srgbClr val="FFFFFF"/>
              </a:solidFill>
              <a:latin typeface="Calibri"/>
              <a:ea typeface="+mn-ea"/>
              <a:cs typeface="+mn-cs"/>
            </a:rPr>
          </a:br>
          <a:r>
            <a:rPr lang="es-ES" sz="1600" kern="1200" dirty="0">
              <a:solidFill>
                <a:srgbClr val="FFFFFF"/>
              </a:solidFill>
              <a:latin typeface="Calibri"/>
              <a:ea typeface="+mn-ea"/>
              <a:cs typeface="+mn-cs"/>
            </a:rPr>
            <a:t>El error cuadrático medio, mide la cantidad de error que hay entre dos conjuntos de datos. En otras palabras, compara un valor predicho y un valor observado o conocido</a:t>
          </a:r>
          <a:endParaRPr lang="es-ES" sz="1600" kern="1200" noProof="1">
            <a:solidFill>
              <a:srgbClr val="FFFFFF"/>
            </a:solidFill>
            <a:latin typeface="Calibri"/>
            <a:ea typeface="+mn-ea"/>
            <a:cs typeface="+mn-cs"/>
          </a:endParaRPr>
        </a:p>
      </dgm:t>
    </dgm:pt>
    <dgm:pt modelId="{4A66CBC3-2E89-46E5-B2EA-1705F05E6FDD}" type="parTrans" cxnId="{2E9E5A02-0CE8-4569-9B67-05EE24CE2438}">
      <dgm:prSet/>
      <dgm:spPr/>
      <dgm:t>
        <a:bodyPr rtlCol="0"/>
        <a:lstStyle/>
        <a:p>
          <a:pPr rtl="0"/>
          <a:endParaRPr lang="es-ES" dirty="0"/>
        </a:p>
      </dgm:t>
    </dgm:pt>
    <dgm:pt modelId="{C9DED455-19B5-45BA-AEF1-572CA46E947B}" type="sibTrans" cxnId="{2E9E5A02-0CE8-4569-9B67-05EE24CE2438}">
      <dgm:prSet/>
      <dgm:spPr>
        <a:solidFill>
          <a:srgbClr val="17434B"/>
        </a:solidFill>
        <a:ln>
          <a:noFill/>
        </a:ln>
        <a:effectLst/>
      </dgm:spPr>
      <dgm:t>
        <a:bodyPr rtlCol="0"/>
        <a:lstStyle/>
        <a:p>
          <a:pPr rtl="0"/>
          <a:endParaRPr lang="es-ES" dirty="0"/>
        </a:p>
      </dgm:t>
    </dgm:pt>
    <dgm:pt modelId="{C2A3EC29-44BC-4E51-92DE-E27BF9CD4489}">
      <dgm:prSet custT="1"/>
      <dgm:spPr>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gm:spPr>
      <dgm:t>
        <a:bodyPr spcFirstLastPara="0" vert="horz" wrap="square" lIns="256199" tIns="330200" rIns="256199" bIns="330200" numCol="1" spcCol="1270" rtlCol="0" anchor="t" anchorCtr="0"/>
        <a:lstStyle/>
        <a:p>
          <a:pPr marL="0" lvl="0" indent="0" algn="just" defTabSz="711200" rtl="0">
            <a:lnSpc>
              <a:spcPct val="90000"/>
            </a:lnSpc>
            <a:spcBef>
              <a:spcPct val="0"/>
            </a:spcBef>
            <a:spcAft>
              <a:spcPct val="35000"/>
            </a:spcAft>
            <a:buNone/>
          </a:pPr>
          <a:r>
            <a:rPr lang="es-ES" sz="2000" kern="1200" dirty="0">
              <a:solidFill>
                <a:srgbClr val="FFFFFF"/>
              </a:solidFill>
              <a:latin typeface="Calibri"/>
              <a:ea typeface="+mn-ea"/>
              <a:cs typeface="+mn-cs"/>
            </a:rPr>
            <a:t>MAPE</a:t>
          </a:r>
          <a:br>
            <a:rPr lang="es-ES" sz="1600" kern="1200" dirty="0">
              <a:solidFill>
                <a:srgbClr val="FFFFFF"/>
              </a:solidFill>
              <a:latin typeface="Calibri"/>
              <a:ea typeface="+mn-ea"/>
              <a:cs typeface="+mn-cs"/>
            </a:rPr>
          </a:br>
          <a:r>
            <a:rPr lang="es-ES" sz="1600" kern="1200" dirty="0">
              <a:solidFill>
                <a:srgbClr val="FFFFFF"/>
              </a:solidFill>
              <a:latin typeface="Calibri"/>
              <a:ea typeface="+mn-ea"/>
              <a:cs typeface="+mn-cs"/>
            </a:rPr>
            <a:t>El Error Porcentual Absoluto Medio que mide el tamaño del error (absoluto) en términos porcentuales. El hecho que se estime una magnitud del error porcentual lo hace un indicador utilizado por los encargados de elaborar pronósticos debido a su fácil interpretación</a:t>
          </a:r>
        </a:p>
      </dgm:t>
    </dgm:pt>
    <dgm:pt modelId="{CE6B5045-A42D-4562-9588-2342D0E47934}" type="parTrans" cxnId="{B49FD08F-C9D7-4FC0-B446-ED9717719A00}">
      <dgm:prSet/>
      <dgm:spPr/>
      <dgm:t>
        <a:bodyPr rtlCol="0"/>
        <a:lstStyle/>
        <a:p>
          <a:pPr rtl="0"/>
          <a:endParaRPr lang="es-ES" dirty="0"/>
        </a:p>
      </dgm:t>
    </dgm:pt>
    <dgm:pt modelId="{10254594-A53F-49FE-B0F2-BC233EE7109F}" type="sibTrans" cxnId="{B49FD08F-C9D7-4FC0-B446-ED9717719A00}">
      <dgm:prSet/>
      <dgm:spPr>
        <a:solidFill>
          <a:srgbClr val="124C58"/>
        </a:solidFill>
        <a:ln>
          <a:noFill/>
        </a:ln>
        <a:effectLst/>
      </dgm:spPr>
      <dgm:t>
        <a:bodyPr rtlCol="0"/>
        <a:lstStyle/>
        <a:p>
          <a:pPr rtl="0"/>
          <a:endParaRPr lang="es-ES" dirty="0"/>
        </a:p>
      </dgm:t>
    </dgm:pt>
    <dgm:pt modelId="{ACE795D8-4182-4DF1-B098-DD0AD48044C8}" type="pres">
      <dgm:prSet presAssocID="{BB0ECF89-2783-4E78-A209-A16EF114A1AA}" presName="Name0" presStyleCnt="0">
        <dgm:presLayoutVars>
          <dgm:animLvl val="lvl"/>
          <dgm:resizeHandles val="exact"/>
        </dgm:presLayoutVars>
      </dgm:prSet>
      <dgm:spPr/>
    </dgm:pt>
    <dgm:pt modelId="{01457034-7B47-4E8B-B040-E0565D08290C}" type="pres">
      <dgm:prSet presAssocID="{FFB58190-E438-47AF-86F3-FAEC2813ACF1}" presName="compositeNode" presStyleCnt="0">
        <dgm:presLayoutVars>
          <dgm:bulletEnabled val="1"/>
        </dgm:presLayoutVars>
      </dgm:prSet>
      <dgm:spPr/>
    </dgm:pt>
    <dgm:pt modelId="{39A872F9-A5B8-4211-9FCD-79722E167124}" type="pres">
      <dgm:prSet presAssocID="{FFB58190-E438-47AF-86F3-FAEC2813ACF1}" presName="bgRect" presStyleLbl="bgAccFollowNode1" presStyleIdx="0" presStyleCnt="3" custLinFactNeighborX="-3136" custLinFactNeighborY="481"/>
      <dgm:spPr/>
    </dgm:pt>
    <dgm:pt modelId="{8157E768-0524-44F1-8F00-7DF53576D2D6}" type="pres">
      <dgm:prSet presAssocID="{547F8894-C324-4B84-95BE-A51E4FE0FA16}" presName="sibTransNodeCircle" presStyleLbl="alignNode1" presStyleIdx="0" presStyleCnt="6" custFlipHor="1" custScaleX="43050" custScaleY="24450">
        <dgm:presLayoutVars>
          <dgm:chMax val="0"/>
          <dgm:bulletEnabled/>
        </dgm:presLayoutVars>
      </dgm:prSet>
      <dgm:spPr>
        <a:xfrm>
          <a:off x="990361" y="435133"/>
          <a:ext cx="1305401" cy="1305401"/>
        </a:xfrm>
        <a:prstGeom prst="rect">
          <a:avLst/>
        </a:prstGeom>
      </dgm:spPr>
    </dgm:pt>
    <dgm:pt modelId="{676D607A-85D2-4EAF-B264-A9D94B61A4FF}" type="pres">
      <dgm:prSet presAssocID="{FFB58190-E438-47AF-86F3-FAEC2813ACF1}" presName="bottomLine" presStyleLbl="alignNode1" presStyleIdx="1" presStyleCnt="6">
        <dgm:presLayoutVars/>
      </dgm:prSet>
      <dgm:spPr/>
    </dgm:pt>
    <dgm:pt modelId="{3DFCE59B-AEDE-4DE2-8B09-D05F047AB42F}" type="pres">
      <dgm:prSet presAssocID="{FFB58190-E438-47AF-86F3-FAEC2813ACF1}" presName="nodeText" presStyleLbl="bgAccFollowNode1" presStyleIdx="0" presStyleCnt="3">
        <dgm:presLayoutVars>
          <dgm:bulletEnabled val="1"/>
        </dgm:presLayoutVars>
      </dgm:prSet>
      <dgm:spPr/>
    </dgm:pt>
    <dgm:pt modelId="{AD65492C-54BB-4101-B1E0-86F57716A25E}" type="pres">
      <dgm:prSet presAssocID="{547F8894-C324-4B84-95BE-A51E4FE0FA16}" presName="sibTrans" presStyleCnt="0"/>
      <dgm:spPr/>
    </dgm:pt>
    <dgm:pt modelId="{9A0277E3-55B2-4FAA-BDD3-FFC27311B05B}" type="pres">
      <dgm:prSet presAssocID="{CE11A269-561D-4BA1-BC45-87F6759FD368}" presName="compositeNode" presStyleCnt="0">
        <dgm:presLayoutVars>
          <dgm:bulletEnabled val="1"/>
        </dgm:presLayoutVars>
      </dgm:prSet>
      <dgm:spPr/>
    </dgm:pt>
    <dgm:pt modelId="{AE95CEBE-1AD7-41D4-9CEE-5BA77CA8C01E}" type="pres">
      <dgm:prSet presAssocID="{CE11A269-561D-4BA1-BC45-87F6759FD368}" presName="bgRect" presStyleLbl="bgAccFollowNode1" presStyleIdx="1" presStyleCnt="3"/>
      <dgm:spPr>
        <a:xfrm>
          <a:off x="3614737" y="0"/>
          <a:ext cx="3286125" cy="4351338"/>
        </a:xfrm>
        <a:prstGeom prst="rect">
          <a:avLst/>
        </a:prstGeom>
      </dgm:spPr>
    </dgm:pt>
    <dgm:pt modelId="{AFA09309-0DCE-4477-82D3-AAF980A85A37}" type="pres">
      <dgm:prSet presAssocID="{C9DED455-19B5-45BA-AEF1-572CA46E947B}" presName="sibTransNodeCircle" presStyleLbl="alignNode1" presStyleIdx="2" presStyleCnt="6" custFlipVert="1" custFlipHor="0" custScaleX="185484" custScaleY="102699" custLinFactX="-700000" custLinFactY="97556" custLinFactNeighborX="-779305" custLinFactNeighborY="100000">
        <dgm:presLayoutVars>
          <dgm:chMax val="0"/>
          <dgm:bulletEnabled/>
        </dgm:presLayoutVars>
      </dgm:prSet>
      <dgm:spPr>
        <a:xfrm>
          <a:off x="4605099" y="435133"/>
          <a:ext cx="1305401" cy="1305401"/>
        </a:xfrm>
        <a:prstGeom prst="rect">
          <a:avLst/>
        </a:prstGeom>
      </dgm:spPr>
    </dgm:pt>
    <dgm:pt modelId="{70685E0F-5EC9-4D84-80D5-F2F78DC3CFFC}" type="pres">
      <dgm:prSet presAssocID="{CE11A269-561D-4BA1-BC45-87F6759FD368}" presName="bottomLine" presStyleLbl="alignNode1" presStyleIdx="3" presStyleCnt="6">
        <dgm:presLayoutVars/>
      </dgm:prSet>
      <dgm:spPr/>
    </dgm:pt>
    <dgm:pt modelId="{E8E0C55E-232A-41CA-87BA-45B86ABED6ED}" type="pres">
      <dgm:prSet presAssocID="{CE11A269-561D-4BA1-BC45-87F6759FD368}" presName="nodeText" presStyleLbl="bgAccFollowNode1" presStyleIdx="1" presStyleCnt="3">
        <dgm:presLayoutVars>
          <dgm:bulletEnabled val="1"/>
        </dgm:presLayoutVars>
      </dgm:prSet>
      <dgm:spPr/>
    </dgm:pt>
    <dgm:pt modelId="{556726A2-0416-41E0-99B4-BCA6885784BC}" type="pres">
      <dgm:prSet presAssocID="{C9DED455-19B5-45BA-AEF1-572CA46E947B}" presName="sibTrans" presStyleCnt="0"/>
      <dgm:spPr/>
    </dgm:pt>
    <dgm:pt modelId="{F4C4AEC7-6D64-4C71-ADC5-0F5CC45360C6}" type="pres">
      <dgm:prSet presAssocID="{C2A3EC29-44BC-4E51-92DE-E27BF9CD4489}" presName="compositeNode" presStyleCnt="0">
        <dgm:presLayoutVars>
          <dgm:bulletEnabled val="1"/>
        </dgm:presLayoutVars>
      </dgm:prSet>
      <dgm:spPr/>
    </dgm:pt>
    <dgm:pt modelId="{3AF3868F-681F-4EF9-8B83-F3B0F354A4C4}" type="pres">
      <dgm:prSet presAssocID="{C2A3EC29-44BC-4E51-92DE-E27BF9CD4489}" presName="bgRect" presStyleLbl="bgAccFollowNode1" presStyleIdx="2" presStyleCnt="3"/>
      <dgm:spPr>
        <a:xfrm>
          <a:off x="7229475" y="0"/>
          <a:ext cx="3286125" cy="4351338"/>
        </a:xfrm>
        <a:prstGeom prst="rect">
          <a:avLst/>
        </a:prstGeom>
      </dgm:spPr>
    </dgm:pt>
    <dgm:pt modelId="{9718E67E-2C8C-4093-AB5F-E3BEFAAEA31B}" type="pres">
      <dgm:prSet presAssocID="{10254594-A53F-49FE-B0F2-BC233EE7109F}" presName="sibTransNodeCircle" presStyleLbl="alignNode1" presStyleIdx="4" presStyleCnt="6" custFlipVert="1" custScaleX="14593" custScaleY="20035">
        <dgm:presLayoutVars>
          <dgm:chMax val="0"/>
          <dgm:bulletEnabled/>
        </dgm:presLayoutVars>
      </dgm:prSet>
      <dgm:spPr>
        <a:xfrm>
          <a:off x="8219836" y="435133"/>
          <a:ext cx="1305401" cy="1305401"/>
        </a:xfrm>
        <a:prstGeom prst="rect">
          <a:avLst/>
        </a:prstGeom>
      </dgm:spPr>
    </dgm:pt>
    <dgm:pt modelId="{13CAC05E-7817-4F00-94BF-9DC0F20DF1D8}" type="pres">
      <dgm:prSet presAssocID="{C2A3EC29-44BC-4E51-92DE-E27BF9CD4489}" presName="bottomLine" presStyleLbl="alignNode1" presStyleIdx="5" presStyleCnt="6">
        <dgm:presLayoutVars/>
      </dgm:prSet>
      <dgm:spPr/>
    </dgm:pt>
    <dgm:pt modelId="{90A7E684-CAA3-435E-B654-85F1BA7D2B87}" type="pres">
      <dgm:prSet presAssocID="{C2A3EC29-44BC-4E51-92DE-E27BF9CD4489}" presName="nodeText" presStyleLbl="bgAccFollowNode1" presStyleIdx="2" presStyleCnt="3">
        <dgm:presLayoutVars>
          <dgm:bulletEnabled val="1"/>
        </dgm:presLayoutVars>
      </dgm:prSet>
      <dgm:spPr/>
    </dgm:pt>
  </dgm:ptLst>
  <dgm:cxnLst>
    <dgm:cxn modelId="{2E9E5A02-0CE8-4569-9B67-05EE24CE2438}" srcId="{BB0ECF89-2783-4E78-A209-A16EF114A1AA}" destId="{CE11A269-561D-4BA1-BC45-87F6759FD368}" srcOrd="1" destOrd="0" parTransId="{4A66CBC3-2E89-46E5-B2EA-1705F05E6FDD}" sibTransId="{C9DED455-19B5-45BA-AEF1-572CA46E947B}"/>
    <dgm:cxn modelId="{D2545B17-F0FC-41C0-8AE6-C63C564398B0}" type="presOf" srcId="{CE11A269-561D-4BA1-BC45-87F6759FD368}" destId="{AE95CEBE-1AD7-41D4-9CEE-5BA77CA8C01E}" srcOrd="0" destOrd="0" presId="urn:microsoft.com/office/officeart/2016/7/layout/LinProcess3"/>
    <dgm:cxn modelId="{36884E1A-39D3-4491-AFD6-BCBC6392A59E}" type="presOf" srcId="{CE11A269-561D-4BA1-BC45-87F6759FD368}" destId="{E8E0C55E-232A-41CA-87BA-45B86ABED6ED}" srcOrd="1" destOrd="0" presId="urn:microsoft.com/office/officeart/2016/7/layout/LinProcess3"/>
    <dgm:cxn modelId="{2229DB1B-DE4F-469E-8FA0-07BEC5B5F9D6}" type="presOf" srcId="{10254594-A53F-49FE-B0F2-BC233EE7109F}" destId="{9718E67E-2C8C-4093-AB5F-E3BEFAAEA31B}" srcOrd="0" destOrd="0" presId="urn:microsoft.com/office/officeart/2016/7/layout/LinProcess3"/>
    <dgm:cxn modelId="{0C140A6B-1B4A-4553-81FF-5591D9487696}" type="presOf" srcId="{C2A3EC29-44BC-4E51-92DE-E27BF9CD4489}" destId="{3AF3868F-681F-4EF9-8B83-F3B0F354A4C4}" srcOrd="0" destOrd="0" presId="urn:microsoft.com/office/officeart/2016/7/layout/LinProcess3"/>
    <dgm:cxn modelId="{025C3756-4F90-42F6-B826-13223FDABED0}" type="presOf" srcId="{547F8894-C324-4B84-95BE-A51E4FE0FA16}" destId="{8157E768-0524-44F1-8F00-7DF53576D2D6}" srcOrd="0" destOrd="0" presId="urn:microsoft.com/office/officeart/2016/7/layout/LinProcess3"/>
    <dgm:cxn modelId="{8FB3CA80-DD34-4F68-B118-EAE12645570F}" srcId="{BB0ECF89-2783-4E78-A209-A16EF114A1AA}" destId="{FFB58190-E438-47AF-86F3-FAEC2813ACF1}" srcOrd="0" destOrd="0" parTransId="{A40BCF22-228C-4E6F-A028-7BBDE5C12E5A}" sibTransId="{547F8894-C324-4B84-95BE-A51E4FE0FA16}"/>
    <dgm:cxn modelId="{B49FD08F-C9D7-4FC0-B446-ED9717719A00}" srcId="{BB0ECF89-2783-4E78-A209-A16EF114A1AA}" destId="{C2A3EC29-44BC-4E51-92DE-E27BF9CD4489}" srcOrd="2" destOrd="0" parTransId="{CE6B5045-A42D-4562-9588-2342D0E47934}" sibTransId="{10254594-A53F-49FE-B0F2-BC233EE7109F}"/>
    <dgm:cxn modelId="{469CA3A1-2EC0-458C-B828-8121A2D4750A}" type="presOf" srcId="{BB0ECF89-2783-4E78-A209-A16EF114A1AA}" destId="{ACE795D8-4182-4DF1-B098-DD0AD48044C8}" srcOrd="0" destOrd="0" presId="urn:microsoft.com/office/officeart/2016/7/layout/LinProcess3"/>
    <dgm:cxn modelId="{C8A4ECC3-0B95-497F-8D57-1124DFD9842C}" type="presOf" srcId="{C2A3EC29-44BC-4E51-92DE-E27BF9CD4489}" destId="{90A7E684-CAA3-435E-B654-85F1BA7D2B87}" srcOrd="1" destOrd="0" presId="urn:microsoft.com/office/officeart/2016/7/layout/LinProcess3"/>
    <dgm:cxn modelId="{13094BE1-4993-450F-9A18-CF0E62019EF7}" type="presOf" srcId="{FFB58190-E438-47AF-86F3-FAEC2813ACF1}" destId="{39A872F9-A5B8-4211-9FCD-79722E167124}" srcOrd="0" destOrd="0" presId="urn:microsoft.com/office/officeart/2016/7/layout/LinProcess3"/>
    <dgm:cxn modelId="{8A5C10EE-3A87-49FC-9945-C0118988EF8D}" type="presOf" srcId="{C9DED455-19B5-45BA-AEF1-572CA46E947B}" destId="{AFA09309-0DCE-4477-82D3-AAF980A85A37}" srcOrd="0" destOrd="0" presId="urn:microsoft.com/office/officeart/2016/7/layout/LinProcess3"/>
    <dgm:cxn modelId="{D24113F0-9FAB-4A26-B7AA-17C02606FE1D}" type="presOf" srcId="{FFB58190-E438-47AF-86F3-FAEC2813ACF1}" destId="{3DFCE59B-AEDE-4DE2-8B09-D05F047AB42F}" srcOrd="1" destOrd="0" presId="urn:microsoft.com/office/officeart/2016/7/layout/LinProcess3"/>
    <dgm:cxn modelId="{76481A27-79A5-48E5-BA29-16004448893C}" type="presParOf" srcId="{ACE795D8-4182-4DF1-B098-DD0AD48044C8}" destId="{01457034-7B47-4E8B-B040-E0565D08290C}" srcOrd="0" destOrd="0" presId="urn:microsoft.com/office/officeart/2016/7/layout/LinProcess3"/>
    <dgm:cxn modelId="{86BEA9C1-5DDA-42C2-937D-A7130110FF74}" type="presParOf" srcId="{01457034-7B47-4E8B-B040-E0565D08290C}" destId="{39A872F9-A5B8-4211-9FCD-79722E167124}" srcOrd="0" destOrd="0" presId="urn:microsoft.com/office/officeart/2016/7/layout/LinProcess3"/>
    <dgm:cxn modelId="{7DC5639C-5BDF-4F6D-A737-811AEFB16C12}" type="presParOf" srcId="{01457034-7B47-4E8B-B040-E0565D08290C}" destId="{8157E768-0524-44F1-8F00-7DF53576D2D6}" srcOrd="1" destOrd="0" presId="urn:microsoft.com/office/officeart/2016/7/layout/LinProcess3"/>
    <dgm:cxn modelId="{9BE7A881-53AA-46A4-B4D9-5952CA3DDD83}" type="presParOf" srcId="{01457034-7B47-4E8B-B040-E0565D08290C}" destId="{676D607A-85D2-4EAF-B264-A9D94B61A4FF}" srcOrd="2" destOrd="0" presId="urn:microsoft.com/office/officeart/2016/7/layout/LinProcess3"/>
    <dgm:cxn modelId="{3CDC6E8B-95DF-4144-9A43-8F1F01D9B5EA}" type="presParOf" srcId="{01457034-7B47-4E8B-B040-E0565D08290C}" destId="{3DFCE59B-AEDE-4DE2-8B09-D05F047AB42F}" srcOrd="3" destOrd="0" presId="urn:microsoft.com/office/officeart/2016/7/layout/LinProcess3"/>
    <dgm:cxn modelId="{050D0D46-967C-45EE-A82A-AD10E04485C1}" type="presParOf" srcId="{ACE795D8-4182-4DF1-B098-DD0AD48044C8}" destId="{AD65492C-54BB-4101-B1E0-86F57716A25E}" srcOrd="1" destOrd="0" presId="urn:microsoft.com/office/officeart/2016/7/layout/LinProcess3"/>
    <dgm:cxn modelId="{C5C3B0C4-18DC-4916-ABAF-6A287C00BAA9}" type="presParOf" srcId="{ACE795D8-4182-4DF1-B098-DD0AD48044C8}" destId="{9A0277E3-55B2-4FAA-BDD3-FFC27311B05B}" srcOrd="2" destOrd="0" presId="urn:microsoft.com/office/officeart/2016/7/layout/LinProcess3"/>
    <dgm:cxn modelId="{FA398688-6697-4B8B-A789-FF729FC50671}" type="presParOf" srcId="{9A0277E3-55B2-4FAA-BDD3-FFC27311B05B}" destId="{AE95CEBE-1AD7-41D4-9CEE-5BA77CA8C01E}" srcOrd="0" destOrd="0" presId="urn:microsoft.com/office/officeart/2016/7/layout/LinProcess3"/>
    <dgm:cxn modelId="{67EE8417-B6AF-43C7-AA8C-3B90AB6AE1FE}" type="presParOf" srcId="{9A0277E3-55B2-4FAA-BDD3-FFC27311B05B}" destId="{AFA09309-0DCE-4477-82D3-AAF980A85A37}" srcOrd="1" destOrd="0" presId="urn:microsoft.com/office/officeart/2016/7/layout/LinProcess3"/>
    <dgm:cxn modelId="{5CE89ECF-B3C2-499B-BBDE-19538F56547F}" type="presParOf" srcId="{9A0277E3-55B2-4FAA-BDD3-FFC27311B05B}" destId="{70685E0F-5EC9-4D84-80D5-F2F78DC3CFFC}" srcOrd="2" destOrd="0" presId="urn:microsoft.com/office/officeart/2016/7/layout/LinProcess3"/>
    <dgm:cxn modelId="{D77D220A-12C7-4499-9660-B4B666A87129}" type="presParOf" srcId="{9A0277E3-55B2-4FAA-BDD3-FFC27311B05B}" destId="{E8E0C55E-232A-41CA-87BA-45B86ABED6ED}" srcOrd="3" destOrd="0" presId="urn:microsoft.com/office/officeart/2016/7/layout/LinProcess3"/>
    <dgm:cxn modelId="{F3EEB326-7683-4D4B-BE0D-D7CC3EE67CB3}" type="presParOf" srcId="{ACE795D8-4182-4DF1-B098-DD0AD48044C8}" destId="{556726A2-0416-41E0-99B4-BCA6885784BC}" srcOrd="3" destOrd="0" presId="urn:microsoft.com/office/officeart/2016/7/layout/LinProcess3"/>
    <dgm:cxn modelId="{1694C3CA-CE7E-4D7A-B769-94D0C473B6D9}" type="presParOf" srcId="{ACE795D8-4182-4DF1-B098-DD0AD48044C8}" destId="{F4C4AEC7-6D64-4C71-ADC5-0F5CC45360C6}" srcOrd="4" destOrd="0" presId="urn:microsoft.com/office/officeart/2016/7/layout/LinProcess3"/>
    <dgm:cxn modelId="{01DA811B-E595-4B26-916D-A5B9420780B1}" type="presParOf" srcId="{F4C4AEC7-6D64-4C71-ADC5-0F5CC45360C6}" destId="{3AF3868F-681F-4EF9-8B83-F3B0F354A4C4}" srcOrd="0" destOrd="0" presId="urn:microsoft.com/office/officeart/2016/7/layout/LinProcess3"/>
    <dgm:cxn modelId="{65C50157-4E89-44E0-ADFE-2CDCD946EC0C}" type="presParOf" srcId="{F4C4AEC7-6D64-4C71-ADC5-0F5CC45360C6}" destId="{9718E67E-2C8C-4093-AB5F-E3BEFAAEA31B}" srcOrd="1" destOrd="0" presId="urn:microsoft.com/office/officeart/2016/7/layout/LinProcess3"/>
    <dgm:cxn modelId="{03312845-43B9-45C8-960A-3A8CADC652DB}" type="presParOf" srcId="{F4C4AEC7-6D64-4C71-ADC5-0F5CC45360C6}" destId="{13CAC05E-7817-4F00-94BF-9DC0F20DF1D8}" srcOrd="2" destOrd="0" presId="urn:microsoft.com/office/officeart/2016/7/layout/LinProcess3"/>
    <dgm:cxn modelId="{D7A81CCE-E542-4242-8542-3C297BE2D6C9}" type="presParOf" srcId="{F4C4AEC7-6D64-4C71-ADC5-0F5CC45360C6}" destId="{90A7E684-CAA3-435E-B654-85F1BA7D2B87}" srcOrd="3" destOrd="0" presId="urn:microsoft.com/office/officeart/2016/7/layout/Lin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A872F9-A5B8-4211-9FCD-79722E167124}">
      <dsp:nvSpPr>
        <dsp:cNvPr id="0" name=""/>
        <dsp:cNvSpPr/>
      </dsp:nvSpPr>
      <dsp:spPr>
        <a:xfrm>
          <a:off x="0" y="0"/>
          <a:ext cx="3286125" cy="4351338"/>
        </a:xfrm>
        <a:prstGeom prst="rect">
          <a:avLst/>
        </a:prstGeom>
        <a:gradFill rotWithShape="0">
          <a:gsLst>
            <a:gs pos="1000">
              <a:schemeClr val="tx1">
                <a:lumMod val="85000"/>
                <a:lumOff val="15000"/>
              </a:schemeClr>
            </a:gs>
            <a:gs pos="100000">
              <a:schemeClr val="accent2">
                <a:lumMod val="50000"/>
              </a:scheme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just" defTabSz="889000" rtl="0">
            <a:lnSpc>
              <a:spcPct val="90000"/>
            </a:lnSpc>
            <a:spcBef>
              <a:spcPct val="0"/>
            </a:spcBef>
            <a:spcAft>
              <a:spcPct val="35000"/>
            </a:spcAft>
            <a:buNone/>
          </a:pPr>
          <a:r>
            <a:rPr lang="es-ES" sz="2000" kern="1200" dirty="0">
              <a:solidFill>
                <a:schemeClr val="bg1"/>
              </a:solidFill>
            </a:rPr>
            <a:t>MAD</a:t>
          </a:r>
          <a:br>
            <a:rPr lang="es-ES" sz="1600" kern="1200" dirty="0">
              <a:solidFill>
                <a:schemeClr val="bg1"/>
              </a:solidFill>
            </a:rPr>
          </a:br>
          <a:r>
            <a:rPr lang="es-ES" sz="1600" kern="1200" dirty="0">
              <a:solidFill>
                <a:schemeClr val="bg1"/>
              </a:solidFill>
            </a:rPr>
            <a:t>La desviación absoluta promedio o desviación media o también conocida como promedio de un conjunto de datos se puede definir como la media de las desviaciones absolutas</a:t>
          </a:r>
          <a:endParaRPr lang="es-ES" sz="1600" kern="1200" noProof="1">
            <a:solidFill>
              <a:schemeClr val="bg1"/>
            </a:solidFill>
          </a:endParaRPr>
        </a:p>
      </dsp:txBody>
      <dsp:txXfrm>
        <a:off x="0" y="1653508"/>
        <a:ext cx="3286125" cy="2610802"/>
      </dsp:txXfrm>
    </dsp:sp>
    <dsp:sp modelId="{8157E768-0524-44F1-8F00-7DF53576D2D6}">
      <dsp:nvSpPr>
        <dsp:cNvPr id="0" name=""/>
        <dsp:cNvSpPr/>
      </dsp:nvSpPr>
      <dsp:spPr>
        <a:xfrm flipH="1">
          <a:off x="1620955" y="928249"/>
          <a:ext cx="44213" cy="319170"/>
        </a:xfrm>
        <a:prstGeom prst="rect">
          <a:avLst/>
        </a:prstGeom>
        <a:solidFill>
          <a:srgbClr val="124C5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7" tIns="12700" rIns="8007" bIns="12700" numCol="1" spcCol="1270" rtlCol="0" anchor="ctr" anchorCtr="0">
          <a:noAutofit/>
        </a:bodyPr>
        <a:lstStyle/>
        <a:p>
          <a:pPr marL="0" lvl="0" indent="0" algn="ctr" defTabSz="933450" rtl="0">
            <a:lnSpc>
              <a:spcPct val="90000"/>
            </a:lnSpc>
            <a:spcBef>
              <a:spcPct val="0"/>
            </a:spcBef>
            <a:spcAft>
              <a:spcPct val="35000"/>
            </a:spcAft>
            <a:buNone/>
          </a:pPr>
          <a:endParaRPr lang="es-ES" sz="2100" kern="1200" dirty="0"/>
        </a:p>
      </dsp:txBody>
      <dsp:txXfrm>
        <a:off x="1620955" y="928249"/>
        <a:ext cx="44213" cy="319170"/>
      </dsp:txXfrm>
    </dsp:sp>
    <dsp:sp modelId="{676D607A-85D2-4EAF-B264-A9D94B61A4FF}">
      <dsp:nvSpPr>
        <dsp:cNvPr id="0" name=""/>
        <dsp:cNvSpPr/>
      </dsp:nvSpPr>
      <dsp:spPr>
        <a:xfrm>
          <a:off x="0" y="4351266"/>
          <a:ext cx="328612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95CEBE-1AD7-41D4-9CEE-5BA77CA8C01E}">
      <dsp:nvSpPr>
        <dsp:cNvPr id="0" name=""/>
        <dsp:cNvSpPr/>
      </dsp:nvSpPr>
      <dsp:spPr>
        <a:xfrm>
          <a:off x="3614737" y="0"/>
          <a:ext cx="3286125" cy="4351338"/>
        </a:xfrm>
        <a:prstGeom prst="rect">
          <a:avLst/>
        </a:prstGeom>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just" defTabSz="711200" rtl="0">
            <a:lnSpc>
              <a:spcPct val="90000"/>
            </a:lnSpc>
            <a:spcBef>
              <a:spcPct val="0"/>
            </a:spcBef>
            <a:spcAft>
              <a:spcPct val="35000"/>
            </a:spcAft>
            <a:buNone/>
          </a:pPr>
          <a:r>
            <a:rPr lang="es-ES" sz="2000" kern="1200" dirty="0">
              <a:solidFill>
                <a:srgbClr val="FFFFFF"/>
              </a:solidFill>
              <a:latin typeface="Calibri"/>
              <a:ea typeface="+mn-ea"/>
              <a:cs typeface="+mn-cs"/>
            </a:rPr>
            <a:t>MSE</a:t>
          </a:r>
          <a:br>
            <a:rPr lang="es-ES" sz="1600" kern="1200" dirty="0">
              <a:solidFill>
                <a:srgbClr val="FFFFFF"/>
              </a:solidFill>
              <a:latin typeface="Calibri"/>
              <a:ea typeface="+mn-ea"/>
              <a:cs typeface="+mn-cs"/>
            </a:rPr>
          </a:br>
          <a:r>
            <a:rPr lang="es-ES" sz="1600" kern="1200" dirty="0">
              <a:solidFill>
                <a:srgbClr val="FFFFFF"/>
              </a:solidFill>
              <a:latin typeface="Calibri"/>
              <a:ea typeface="+mn-ea"/>
              <a:cs typeface="+mn-cs"/>
            </a:rPr>
            <a:t>El error cuadrático medio, mide la cantidad de error que hay entre dos conjuntos de datos. En otras palabras, compara un valor predicho y un valor observado o conocido</a:t>
          </a:r>
          <a:endParaRPr lang="es-ES" sz="1600" kern="1200" noProof="1">
            <a:solidFill>
              <a:srgbClr val="FFFFFF"/>
            </a:solidFill>
            <a:latin typeface="Calibri"/>
            <a:ea typeface="+mn-ea"/>
            <a:cs typeface="+mn-cs"/>
          </a:endParaRPr>
        </a:p>
      </dsp:txBody>
      <dsp:txXfrm>
        <a:off x="3614737" y="1653508"/>
        <a:ext cx="3286125" cy="2610802"/>
      </dsp:txXfrm>
    </dsp:sp>
    <dsp:sp modelId="{AFA09309-0DCE-4477-82D3-AAF980A85A37}">
      <dsp:nvSpPr>
        <dsp:cNvPr id="0" name=""/>
        <dsp:cNvSpPr/>
      </dsp:nvSpPr>
      <dsp:spPr>
        <a:xfrm flipV="1">
          <a:off x="3643264" y="2996416"/>
          <a:ext cx="190497" cy="1340634"/>
        </a:xfrm>
        <a:prstGeom prst="rect">
          <a:avLst/>
        </a:prstGeom>
        <a:solidFill>
          <a:srgbClr val="17434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7" tIns="12700" rIns="8007" bIns="12700" numCol="1" spcCol="1270" rtlCol="0" anchor="ctr" anchorCtr="0">
          <a:noAutofit/>
        </a:bodyPr>
        <a:lstStyle/>
        <a:p>
          <a:pPr marL="0" lvl="0" indent="0" algn="ctr" defTabSz="2133600" rtl="0">
            <a:lnSpc>
              <a:spcPct val="90000"/>
            </a:lnSpc>
            <a:spcBef>
              <a:spcPct val="0"/>
            </a:spcBef>
            <a:spcAft>
              <a:spcPct val="35000"/>
            </a:spcAft>
            <a:buNone/>
          </a:pPr>
          <a:endParaRPr lang="es-ES" sz="4800" kern="1200" dirty="0"/>
        </a:p>
      </dsp:txBody>
      <dsp:txXfrm rot="10800000">
        <a:off x="3643264" y="2996416"/>
        <a:ext cx="190497" cy="1340634"/>
      </dsp:txXfrm>
    </dsp:sp>
    <dsp:sp modelId="{70685E0F-5EC9-4D84-80D5-F2F78DC3CFFC}">
      <dsp:nvSpPr>
        <dsp:cNvPr id="0" name=""/>
        <dsp:cNvSpPr/>
      </dsp:nvSpPr>
      <dsp:spPr>
        <a:xfrm>
          <a:off x="3614737" y="4351266"/>
          <a:ext cx="3286125"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3868F-681F-4EF9-8B83-F3B0F354A4C4}">
      <dsp:nvSpPr>
        <dsp:cNvPr id="0" name=""/>
        <dsp:cNvSpPr/>
      </dsp:nvSpPr>
      <dsp:spPr>
        <a:xfrm>
          <a:off x="7229475" y="0"/>
          <a:ext cx="3286125" cy="4351338"/>
        </a:xfrm>
        <a:prstGeom prst="rect">
          <a:avLst/>
        </a:prstGeom>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just" defTabSz="711200" rtl="0">
            <a:lnSpc>
              <a:spcPct val="90000"/>
            </a:lnSpc>
            <a:spcBef>
              <a:spcPct val="0"/>
            </a:spcBef>
            <a:spcAft>
              <a:spcPct val="35000"/>
            </a:spcAft>
            <a:buNone/>
          </a:pPr>
          <a:r>
            <a:rPr lang="es-ES" sz="2000" kern="1200" dirty="0">
              <a:solidFill>
                <a:srgbClr val="FFFFFF"/>
              </a:solidFill>
              <a:latin typeface="Calibri"/>
              <a:ea typeface="+mn-ea"/>
              <a:cs typeface="+mn-cs"/>
            </a:rPr>
            <a:t>MAPE</a:t>
          </a:r>
          <a:br>
            <a:rPr lang="es-ES" sz="1600" kern="1200" dirty="0">
              <a:solidFill>
                <a:srgbClr val="FFFFFF"/>
              </a:solidFill>
              <a:latin typeface="Calibri"/>
              <a:ea typeface="+mn-ea"/>
              <a:cs typeface="+mn-cs"/>
            </a:rPr>
          </a:br>
          <a:r>
            <a:rPr lang="es-ES" sz="1600" kern="1200" dirty="0">
              <a:solidFill>
                <a:srgbClr val="FFFFFF"/>
              </a:solidFill>
              <a:latin typeface="Calibri"/>
              <a:ea typeface="+mn-ea"/>
              <a:cs typeface="+mn-cs"/>
            </a:rPr>
            <a:t>El Error Porcentual Absoluto Medio que mide el tamaño del error (absoluto) en términos porcentuales. El hecho que se estime una magnitud del error porcentual lo hace un indicador utilizado por los encargados de elaborar pronósticos debido a su fácil interpretación</a:t>
          </a:r>
        </a:p>
      </dsp:txBody>
      <dsp:txXfrm>
        <a:off x="7229475" y="1653508"/>
        <a:ext cx="3286125" cy="2610802"/>
      </dsp:txXfrm>
    </dsp:sp>
    <dsp:sp modelId="{9718E67E-2C8C-4093-AB5F-E3BEFAAEA31B}">
      <dsp:nvSpPr>
        <dsp:cNvPr id="0" name=""/>
        <dsp:cNvSpPr/>
      </dsp:nvSpPr>
      <dsp:spPr>
        <a:xfrm flipV="1">
          <a:off x="8865043" y="957065"/>
          <a:ext cx="14987" cy="261537"/>
        </a:xfrm>
        <a:prstGeom prst="rect">
          <a:avLst/>
        </a:prstGeom>
        <a:solidFill>
          <a:srgbClr val="124C5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7" tIns="12700" rIns="8007" bIns="12700" numCol="1" spcCol="1270" rtlCol="0" anchor="ctr" anchorCtr="0">
          <a:noAutofit/>
        </a:bodyPr>
        <a:lstStyle/>
        <a:p>
          <a:pPr marL="0" lvl="0" indent="0" algn="ctr" defTabSz="711200" rtl="0">
            <a:lnSpc>
              <a:spcPct val="90000"/>
            </a:lnSpc>
            <a:spcBef>
              <a:spcPct val="0"/>
            </a:spcBef>
            <a:spcAft>
              <a:spcPct val="35000"/>
            </a:spcAft>
            <a:buNone/>
          </a:pPr>
          <a:endParaRPr lang="es-ES" sz="1600" kern="1200" dirty="0"/>
        </a:p>
      </dsp:txBody>
      <dsp:txXfrm rot="10800000">
        <a:off x="8865043" y="957065"/>
        <a:ext cx="14987" cy="261537"/>
      </dsp:txXfrm>
    </dsp:sp>
    <dsp:sp modelId="{13CAC05E-7817-4F00-94BF-9DC0F20DF1D8}">
      <dsp:nvSpPr>
        <dsp:cNvPr id="0" name=""/>
        <dsp:cNvSpPr/>
      </dsp:nvSpPr>
      <dsp:spPr>
        <a:xfrm>
          <a:off x="7229475" y="4351266"/>
          <a:ext cx="3286125"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LinProcess3">
  <dgm:title val="Proceso lineal básico"/>
  <dgm:desc val=""/>
  <dgm:catLst>
    <dgm:cat type="list" pri="500"/>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2BC10188-DC2C-458D-AB41-143A0BE9A3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C9634E15-7196-43FC-B912-C4D8B4A2CE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92BDE8F-2D4C-4419-A60F-2DE0B7B90856}" type="datetime1">
              <a:rPr lang="es-ES" smtClean="0"/>
              <a:t>21/03/2022</a:t>
            </a:fld>
            <a:endParaRPr lang="es-ES" dirty="0"/>
          </a:p>
        </p:txBody>
      </p:sp>
      <p:sp>
        <p:nvSpPr>
          <p:cNvPr id="4" name="Marcador de pie de página 3">
            <a:extLst>
              <a:ext uri="{FF2B5EF4-FFF2-40B4-BE49-F238E27FC236}">
                <a16:creationId xmlns:a16="http://schemas.microsoft.com/office/drawing/2014/main" id="{89EA2570-D5B6-41CB-96C2-FFC9944668E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15C31B37-7A69-4C30-9B63-29F8242FC2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389B6C8-888A-401B-9F9B-D41D36B6C3E9}" type="slidenum">
              <a:rPr lang="es-ES" smtClean="0"/>
              <a:t>‹Nº›</a:t>
            </a:fld>
            <a:endParaRPr lang="es-ES"/>
          </a:p>
        </p:txBody>
      </p:sp>
    </p:spTree>
    <p:extLst>
      <p:ext uri="{BB962C8B-B14F-4D97-AF65-F5344CB8AC3E}">
        <p14:creationId xmlns:p14="http://schemas.microsoft.com/office/powerpoint/2010/main" val="2413100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2087C2-CFAB-44D5-BFAB-ABDC7CE34427}" type="datetime1">
              <a:rPr lang="es-ES" smtClean="0"/>
              <a:pPr/>
              <a:t>21/03/2022</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3F28A1F-3E69-47E5-AE93-E7F2155A242D}" type="slidenum">
              <a:rPr lang="es-ES" noProof="0" smtClean="0"/>
              <a:t>‹Nº›</a:t>
            </a:fld>
            <a:endParaRPr lang="es-ES" noProof="0"/>
          </a:p>
        </p:txBody>
      </p:sp>
    </p:spTree>
    <p:extLst>
      <p:ext uri="{BB962C8B-B14F-4D97-AF65-F5344CB8AC3E}">
        <p14:creationId xmlns:p14="http://schemas.microsoft.com/office/powerpoint/2010/main" val="2075933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1</a:t>
            </a:fld>
            <a:endParaRPr lang="es-ES"/>
          </a:p>
        </p:txBody>
      </p:sp>
    </p:spTree>
    <p:extLst>
      <p:ext uri="{BB962C8B-B14F-4D97-AF65-F5344CB8AC3E}">
        <p14:creationId xmlns:p14="http://schemas.microsoft.com/office/powerpoint/2010/main" val="1750897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2</a:t>
            </a:fld>
            <a:endParaRPr lang="es-ES"/>
          </a:p>
        </p:txBody>
      </p:sp>
    </p:spTree>
    <p:extLst>
      <p:ext uri="{BB962C8B-B14F-4D97-AF65-F5344CB8AC3E}">
        <p14:creationId xmlns:p14="http://schemas.microsoft.com/office/powerpoint/2010/main" val="4065915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3</a:t>
            </a:fld>
            <a:endParaRPr lang="es-ES"/>
          </a:p>
        </p:txBody>
      </p:sp>
    </p:spTree>
    <p:extLst>
      <p:ext uri="{BB962C8B-B14F-4D97-AF65-F5344CB8AC3E}">
        <p14:creationId xmlns:p14="http://schemas.microsoft.com/office/powerpoint/2010/main" val="924775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4</a:t>
            </a:fld>
            <a:endParaRPr lang="es-ES"/>
          </a:p>
        </p:txBody>
      </p:sp>
    </p:spTree>
    <p:extLst>
      <p:ext uri="{BB962C8B-B14F-4D97-AF65-F5344CB8AC3E}">
        <p14:creationId xmlns:p14="http://schemas.microsoft.com/office/powerpoint/2010/main" val="2460266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5</a:t>
            </a:fld>
            <a:endParaRPr lang="es-ES"/>
          </a:p>
        </p:txBody>
      </p:sp>
    </p:spTree>
    <p:extLst>
      <p:ext uri="{BB962C8B-B14F-4D97-AF65-F5344CB8AC3E}">
        <p14:creationId xmlns:p14="http://schemas.microsoft.com/office/powerpoint/2010/main" val="3373879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6</a:t>
            </a:fld>
            <a:endParaRPr lang="es-ES"/>
          </a:p>
        </p:txBody>
      </p:sp>
    </p:spTree>
    <p:extLst>
      <p:ext uri="{BB962C8B-B14F-4D97-AF65-F5344CB8AC3E}">
        <p14:creationId xmlns:p14="http://schemas.microsoft.com/office/powerpoint/2010/main" val="2686340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7</a:t>
            </a:fld>
            <a:endParaRPr lang="es-ES"/>
          </a:p>
        </p:txBody>
      </p:sp>
    </p:spTree>
    <p:extLst>
      <p:ext uri="{BB962C8B-B14F-4D97-AF65-F5344CB8AC3E}">
        <p14:creationId xmlns:p14="http://schemas.microsoft.com/office/powerpoint/2010/main" val="499491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8</a:t>
            </a:fld>
            <a:endParaRPr lang="es-ES"/>
          </a:p>
        </p:txBody>
      </p:sp>
    </p:spTree>
    <p:extLst>
      <p:ext uri="{BB962C8B-B14F-4D97-AF65-F5344CB8AC3E}">
        <p14:creationId xmlns:p14="http://schemas.microsoft.com/office/powerpoint/2010/main" val="292585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9</a:t>
            </a:fld>
            <a:endParaRPr lang="es-ES"/>
          </a:p>
        </p:txBody>
      </p:sp>
    </p:spTree>
    <p:extLst>
      <p:ext uri="{BB962C8B-B14F-4D97-AF65-F5344CB8AC3E}">
        <p14:creationId xmlns:p14="http://schemas.microsoft.com/office/powerpoint/2010/main" val="2702518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10</a:t>
            </a:fld>
            <a:endParaRPr lang="es-ES"/>
          </a:p>
        </p:txBody>
      </p:sp>
    </p:spTree>
    <p:extLst>
      <p:ext uri="{BB962C8B-B14F-4D97-AF65-F5344CB8AC3E}">
        <p14:creationId xmlns:p14="http://schemas.microsoft.com/office/powerpoint/2010/main" val="603299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rtlCol="0" anchor="b">
            <a:noAutofit/>
          </a:bodyPr>
          <a:lstStyle>
            <a:lvl1pPr>
              <a:lnSpc>
                <a:spcPct val="70000"/>
              </a:lnSpc>
              <a:defRPr sz="7200" spc="-300"/>
            </a:lvl1pPr>
          </a:lstStyle>
          <a:p>
            <a:pPr rtl="0"/>
            <a:r>
              <a:rPr lang="es-ES" noProof="0"/>
              <a:t>Haga clic para modificar el estilo de título del patrón</a:t>
            </a:r>
          </a:p>
        </p:txBody>
      </p:sp>
      <p:sp>
        <p:nvSpPr>
          <p:cNvPr id="4" name="Marcador de texto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cxnSp>
        <p:nvCxnSpPr>
          <p:cNvPr id="12" name="Conector recto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ángulo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Marcador de número de diapositiva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222653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rtlCol="0" anchor="b">
            <a:noAutofit/>
          </a:bodyPr>
          <a:lstStyle>
            <a:lvl1pPr>
              <a:lnSpc>
                <a:spcPct val="70000"/>
              </a:lnSpc>
              <a:defRPr sz="7200" spc="-300"/>
            </a:lvl1pPr>
          </a:lstStyle>
          <a:p>
            <a:pPr rtl="0"/>
            <a:r>
              <a:rPr lang="es-ES" noProof="0"/>
              <a:t>Haga clic para modificar el estilo de título del patrón</a:t>
            </a:r>
          </a:p>
        </p:txBody>
      </p:sp>
      <p:sp>
        <p:nvSpPr>
          <p:cNvPr id="4" name="Marcador de texto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cxnSp>
        <p:nvCxnSpPr>
          <p:cNvPr id="12" name="Conector recto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ángulo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Marcador de número de diapositiva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
        <p:nvSpPr>
          <p:cNvPr id="8" name="Marcador de posición de imagen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0"/>
            <a:ext cx="7512001" cy="6727855"/>
          </a:xfrm>
          <a:solidFill>
            <a:schemeClr val="tx1">
              <a:lumMod val="85000"/>
              <a:lumOff val="15000"/>
            </a:schemeClr>
          </a:solidFill>
        </p:spPr>
        <p:txBody>
          <a:bodyPr rtlCol="0"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Inserte su imagen aquí</a:t>
            </a:r>
          </a:p>
        </p:txBody>
      </p:sp>
    </p:spTree>
    <p:extLst>
      <p:ext uri="{BB962C8B-B14F-4D97-AF65-F5344CB8AC3E}">
        <p14:creationId xmlns:p14="http://schemas.microsoft.com/office/powerpoint/2010/main" val="33943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contenido">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1AD08-4E28-4191-9B62-EAD61608E5CF}"/>
              </a:ext>
            </a:extLst>
          </p:cNvPr>
          <p:cNvSpPr>
            <a:spLocks noGrp="1"/>
          </p:cNvSpPr>
          <p:nvPr>
            <p:ph type="title"/>
          </p:nvPr>
        </p:nvSpPr>
        <p:spPr>
          <a:xfrm>
            <a:off x="838200" y="303300"/>
            <a:ext cx="6273800" cy="1449216"/>
          </a:xfrm>
          <a:solidFill>
            <a:schemeClr val="accent2">
              <a:lumMod val="50000"/>
            </a:schemeClr>
          </a:solidFill>
        </p:spPr>
        <p:txBody>
          <a:bodyPr tIns="108000" bIns="108000" rtlCol="0">
            <a:spAutoFit/>
          </a:bodyPr>
          <a:lstStyle>
            <a:lvl1pPr>
              <a:lnSpc>
                <a:spcPct val="100000"/>
              </a:lnSpc>
              <a:defRPr sz="4000"/>
            </a:lvl1pPr>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90BF853D-76DB-46F3-AF6C-1E77C8E06AA9}"/>
              </a:ext>
            </a:extLst>
          </p:cNvPr>
          <p:cNvSpPr>
            <a:spLocks noGrp="1"/>
          </p:cNvSpPr>
          <p:nvPr>
            <p:ph idx="1"/>
          </p:nvPr>
        </p:nvSpPr>
        <p:spPr>
          <a:xfrm>
            <a:off x="838200" y="1825625"/>
            <a:ext cx="62738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número de diapositiva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383923665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contenido anchos">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1AD08-4E28-4191-9B62-EAD61608E5CF}"/>
              </a:ext>
            </a:extLst>
          </p:cNvPr>
          <p:cNvSpPr>
            <a:spLocks noGrp="1"/>
          </p:cNvSpPr>
          <p:nvPr>
            <p:ph type="title"/>
          </p:nvPr>
        </p:nvSpPr>
        <p:spPr>
          <a:xfrm>
            <a:off x="838200" y="303301"/>
            <a:ext cx="6273800" cy="1449216"/>
          </a:xfrm>
          <a:solidFill>
            <a:schemeClr val="accent2">
              <a:lumMod val="50000"/>
            </a:schemeClr>
          </a:solidFill>
        </p:spPr>
        <p:txBody>
          <a:bodyPr vert="horz" lIns="91440" tIns="108000" rIns="91440" bIns="108000" rtlCol="0" anchor="ctr">
            <a:spAutoFit/>
          </a:bodyPr>
          <a:lstStyle>
            <a:lvl1pPr>
              <a:defRPr lang="en-US" sz="4000"/>
            </a:lvl1pPr>
          </a:lstStyle>
          <a:p>
            <a:pPr lvl="0" rtl="0">
              <a:lnSpc>
                <a:spcPct val="100000"/>
              </a:lnSpc>
            </a:pPr>
            <a:r>
              <a:rPr lang="es-ES" noProof="0"/>
              <a:t>Haga clic para modificar el estilo de título del patrón</a:t>
            </a:r>
          </a:p>
        </p:txBody>
      </p:sp>
      <p:sp>
        <p:nvSpPr>
          <p:cNvPr id="3" name="Marcador de contenido 2">
            <a:extLst>
              <a:ext uri="{FF2B5EF4-FFF2-40B4-BE49-F238E27FC236}">
                <a16:creationId xmlns:a16="http://schemas.microsoft.com/office/drawing/2014/main" id="{90BF853D-76DB-46F3-AF6C-1E77C8E06AA9}"/>
              </a:ext>
            </a:extLst>
          </p:cNvPr>
          <p:cNvSpPr>
            <a:spLocks noGrp="1"/>
          </p:cNvSpPr>
          <p:nvPr>
            <p:ph idx="1"/>
          </p:nvPr>
        </p:nvSpPr>
        <p:spPr>
          <a:xfrm>
            <a:off x="838200" y="1825625"/>
            <a:ext cx="10515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número de diapositiva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15945710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contenido de la derecha">
    <p:spTree>
      <p:nvGrpSpPr>
        <p:cNvPr id="1" name=""/>
        <p:cNvGrpSpPr/>
        <p:nvPr/>
      </p:nvGrpSpPr>
      <p:grpSpPr>
        <a:xfrm>
          <a:off x="0" y="0"/>
          <a:ext cx="0" cy="0"/>
          <a:chOff x="0" y="0"/>
          <a:chExt cx="0" cy="0"/>
        </a:xfrm>
      </p:grpSpPr>
      <p:sp>
        <p:nvSpPr>
          <p:cNvPr id="7" name="Marcador de posición de imagen 2">
            <a:extLst>
              <a:ext uri="{FF2B5EF4-FFF2-40B4-BE49-F238E27FC236}">
                <a16:creationId xmlns:a16="http://schemas.microsoft.com/office/drawing/2014/main" id="{6D3C5ED2-B01D-4104-B193-BC78D76A4646}"/>
              </a:ext>
            </a:extLst>
          </p:cNvPr>
          <p:cNvSpPr>
            <a:spLocks noGrp="1"/>
          </p:cNvSpPr>
          <p:nvPr>
            <p:ph type="pic" idx="11" hasCustomPrompt="1"/>
          </p:nvPr>
        </p:nvSpPr>
        <p:spPr>
          <a:xfrm>
            <a:off x="0" y="0"/>
            <a:ext cx="6305550" cy="6721475"/>
          </a:xfrm>
          <a:noFill/>
        </p:spPr>
        <p:txBody>
          <a:bodyPr rtlCol="0"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Inserte su imagen aquí</a:t>
            </a:r>
          </a:p>
        </p:txBody>
      </p:sp>
      <p:sp>
        <p:nvSpPr>
          <p:cNvPr id="2" name="Título 1">
            <a:extLst>
              <a:ext uri="{FF2B5EF4-FFF2-40B4-BE49-F238E27FC236}">
                <a16:creationId xmlns:a16="http://schemas.microsoft.com/office/drawing/2014/main" id="{FE91AD08-4E28-4191-9B62-EAD61608E5CF}"/>
              </a:ext>
            </a:extLst>
          </p:cNvPr>
          <p:cNvSpPr>
            <a:spLocks noGrp="1"/>
          </p:cNvSpPr>
          <p:nvPr>
            <p:ph type="title" hasCustomPrompt="1"/>
          </p:nvPr>
        </p:nvSpPr>
        <p:spPr>
          <a:xfrm>
            <a:off x="6657974" y="303301"/>
            <a:ext cx="4695825" cy="1449216"/>
          </a:xfrm>
          <a:solidFill>
            <a:schemeClr val="accent2">
              <a:lumMod val="50000"/>
            </a:schemeClr>
          </a:solidFill>
        </p:spPr>
        <p:txBody>
          <a:bodyPr wrap="square" tIns="108000" bIns="108000" rtlCol="0">
            <a:spAutoFit/>
          </a:bodyPr>
          <a:lstStyle>
            <a:lvl1pPr>
              <a:lnSpc>
                <a:spcPct val="100000"/>
              </a:lnSpc>
              <a:defRPr sz="4000"/>
            </a:lvl1pPr>
          </a:lstStyle>
          <a:p>
            <a:pPr rtl="0"/>
            <a:r>
              <a:rPr lang="es-ES" noProof="0"/>
              <a:t>Editar el estilo de título del patrón</a:t>
            </a:r>
          </a:p>
        </p:txBody>
      </p:sp>
      <p:sp>
        <p:nvSpPr>
          <p:cNvPr id="3" name="Marcador de contenido 2">
            <a:extLst>
              <a:ext uri="{FF2B5EF4-FFF2-40B4-BE49-F238E27FC236}">
                <a16:creationId xmlns:a16="http://schemas.microsoft.com/office/drawing/2014/main" id="{90BF853D-76DB-46F3-AF6C-1E77C8E06AA9}"/>
              </a:ext>
            </a:extLst>
          </p:cNvPr>
          <p:cNvSpPr>
            <a:spLocks noGrp="1"/>
          </p:cNvSpPr>
          <p:nvPr>
            <p:ph idx="1"/>
          </p:nvPr>
        </p:nvSpPr>
        <p:spPr>
          <a:xfrm>
            <a:off x="6657974" y="1825625"/>
            <a:ext cx="4695826"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número de diapositiva 3">
            <a:extLst>
              <a:ext uri="{FF2B5EF4-FFF2-40B4-BE49-F238E27FC236}">
                <a16:creationId xmlns:a16="http://schemas.microsoft.com/office/drawing/2014/main" id="{0660D61A-B9FD-4DFF-AC42-4069DAFE238C}"/>
              </a:ext>
            </a:extLst>
          </p:cNvPr>
          <p:cNvSpPr>
            <a:spLocks noGrp="1"/>
          </p:cNvSpPr>
          <p:nvPr>
            <p:ph type="sldNum" sz="quarter" idx="10"/>
          </p:nvPr>
        </p:nvSpPr>
        <p:spPr>
          <a:xfrm>
            <a:off x="11353800" y="6361475"/>
            <a:ext cx="838200" cy="360000"/>
          </a:xfrm>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179790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ítulo y contenido: horizontal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1AD08-4E28-4191-9B62-EAD61608E5CF}"/>
              </a:ext>
            </a:extLst>
          </p:cNvPr>
          <p:cNvSpPr>
            <a:spLocks noGrp="1"/>
          </p:cNvSpPr>
          <p:nvPr>
            <p:ph type="title"/>
          </p:nvPr>
        </p:nvSpPr>
        <p:spPr>
          <a:xfrm>
            <a:off x="0" y="1"/>
            <a:ext cx="4305300" cy="6721472"/>
          </a:xfrm>
          <a:gradFill>
            <a:gsLst>
              <a:gs pos="1000">
                <a:schemeClr val="tx1">
                  <a:lumMod val="85000"/>
                  <a:lumOff val="15000"/>
                </a:schemeClr>
              </a:gs>
              <a:gs pos="100000">
                <a:schemeClr val="accent2">
                  <a:lumMod val="50000"/>
                </a:schemeClr>
              </a:gs>
            </a:gsLst>
            <a:lin ang="12600000" scaled="0"/>
          </a:gradFill>
        </p:spPr>
        <p:txBody>
          <a:bodyPr vert="horz" lIns="396000" tIns="0" rIns="396000" bIns="0" rtlCol="0" anchor="ctr">
            <a:noAutofit/>
          </a:bodyPr>
          <a:lstStyle>
            <a:lvl1pPr algn="r">
              <a:lnSpc>
                <a:spcPct val="70000"/>
              </a:lnSpc>
              <a:defRPr lang="en-US" sz="5200" b="0" spc="-150" dirty="0"/>
            </a:lvl1pPr>
          </a:lstStyle>
          <a:p>
            <a:pPr lvl="0" algn="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90BF853D-76DB-46F3-AF6C-1E77C8E06AA9}"/>
              </a:ext>
            </a:extLst>
          </p:cNvPr>
          <p:cNvSpPr>
            <a:spLocks noGrp="1"/>
          </p:cNvSpPr>
          <p:nvPr>
            <p:ph idx="1"/>
          </p:nvPr>
        </p:nvSpPr>
        <p:spPr>
          <a:xfrm>
            <a:off x="4705350" y="365124"/>
            <a:ext cx="6648448" cy="5984875"/>
          </a:xfrm>
        </p:spPr>
        <p:txBody>
          <a:bodyPr lIns="108000" tIns="108000" rIns="108000" bIns="108000" rtlCol="0" anchor="ctr">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4" name="Marcador de número de diapositiva 13">
            <a:extLst>
              <a:ext uri="{FF2B5EF4-FFF2-40B4-BE49-F238E27FC236}">
                <a16:creationId xmlns:a16="http://schemas.microsoft.com/office/drawing/2014/main" id="{7746CAFB-2B99-470B-B55B-9BF378E3A04B}"/>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11604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contenido: horizontal 2">
    <p:spTree>
      <p:nvGrpSpPr>
        <p:cNvPr id="1" name=""/>
        <p:cNvGrpSpPr/>
        <p:nvPr/>
      </p:nvGrpSpPr>
      <p:grpSpPr>
        <a:xfrm>
          <a:off x="0" y="0"/>
          <a:ext cx="0" cy="0"/>
          <a:chOff x="0" y="0"/>
          <a:chExt cx="0" cy="0"/>
        </a:xfrm>
      </p:grpSpPr>
      <p:sp>
        <p:nvSpPr>
          <p:cNvPr id="17" name="Título 16">
            <a:extLst>
              <a:ext uri="{FF2B5EF4-FFF2-40B4-BE49-F238E27FC236}">
                <a16:creationId xmlns:a16="http://schemas.microsoft.com/office/drawing/2014/main" id="{65237DA4-112F-40B2-8C8C-EB23506D9C45}"/>
              </a:ext>
            </a:extLst>
          </p:cNvPr>
          <p:cNvSpPr>
            <a:spLocks noGrp="1"/>
          </p:cNvSpPr>
          <p:nvPr>
            <p:ph type="title"/>
          </p:nvPr>
        </p:nvSpPr>
        <p:spPr>
          <a:xfrm>
            <a:off x="7512000" y="0"/>
            <a:ext cx="4680000" cy="6721473"/>
          </a:xfrm>
          <a:gradFill>
            <a:gsLst>
              <a:gs pos="1000">
                <a:schemeClr val="tx1">
                  <a:lumMod val="85000"/>
                  <a:lumOff val="15000"/>
                </a:schemeClr>
              </a:gs>
              <a:gs pos="100000">
                <a:schemeClr val="accent2">
                  <a:lumMod val="50000"/>
                </a:schemeClr>
              </a:gs>
            </a:gsLst>
            <a:lin ang="12600000" scaled="0"/>
          </a:gradFill>
        </p:spPr>
        <p:txBody>
          <a:bodyPr lIns="396000" rIns="396000" rtlCol="0">
            <a:normAutofit/>
          </a:bodyPr>
          <a:lstStyle>
            <a:lvl1pPr>
              <a:lnSpc>
                <a:spcPct val="70000"/>
              </a:lnSpc>
              <a:defRPr sz="5200" spc="-150"/>
            </a:lvl1pPr>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90BF853D-76DB-46F3-AF6C-1E77C8E06AA9}"/>
              </a:ext>
            </a:extLst>
          </p:cNvPr>
          <p:cNvSpPr>
            <a:spLocks noGrp="1"/>
          </p:cNvSpPr>
          <p:nvPr>
            <p:ph idx="1"/>
          </p:nvPr>
        </p:nvSpPr>
        <p:spPr>
          <a:xfrm>
            <a:off x="838200" y="365124"/>
            <a:ext cx="6156323" cy="5984875"/>
          </a:xfrm>
        </p:spPr>
        <p:txBody>
          <a:bodyPr lIns="108000" tIns="108000" rIns="108000" bIns="108000" rtlCol="0" anchor="ct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4" name="Marcador de número de diapositiva 13">
            <a:extLst>
              <a:ext uri="{FF2B5EF4-FFF2-40B4-BE49-F238E27FC236}">
                <a16:creationId xmlns:a16="http://schemas.microsoft.com/office/drawing/2014/main" id="{7746CAFB-2B99-470B-B55B-9BF378E3A04B}"/>
              </a:ext>
            </a:extLst>
          </p:cNvPr>
          <p:cNvSpPr>
            <a:spLocks noGrp="1"/>
          </p:cNvSpPr>
          <p:nvPr>
            <p:ph type="sldNum" sz="quarter" idx="10"/>
          </p:nvPr>
        </p:nvSpPr>
        <p:spPr>
          <a:solidFill>
            <a:schemeClr val="bg1">
              <a:lumMod val="85000"/>
            </a:schemeClr>
          </a:solidFill>
        </p:spPr>
        <p:txBody>
          <a:bodyPr rtlCol="0"/>
          <a:lstStyle>
            <a:lvl1pPr>
              <a:defRPr>
                <a:solidFill>
                  <a:schemeClr val="tx1">
                    <a:lumMod val="85000"/>
                    <a:lumOff val="15000"/>
                  </a:schemeClr>
                </a:solidFill>
              </a:defRPr>
            </a:lvl1pPr>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36449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y contenido: horizontal 3">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
        <p:nvSpPr>
          <p:cNvPr id="5" name="Marcador de contenido 2">
            <a:extLst>
              <a:ext uri="{FF2B5EF4-FFF2-40B4-BE49-F238E27FC236}">
                <a16:creationId xmlns:a16="http://schemas.microsoft.com/office/drawing/2014/main" id="{D68E6EF2-4B2F-4D0D-9505-CE92872972F7}"/>
              </a:ext>
            </a:extLst>
          </p:cNvPr>
          <p:cNvSpPr>
            <a:spLocks noGrp="1"/>
          </p:cNvSpPr>
          <p:nvPr>
            <p:ph idx="1"/>
          </p:nvPr>
        </p:nvSpPr>
        <p:spPr>
          <a:xfrm>
            <a:off x="4705350" y="611076"/>
            <a:ext cx="6648448" cy="5738923"/>
          </a:xfrm>
        </p:spPr>
        <p:txBody>
          <a:bodyPr lIns="108000" tIns="108000" rIns="108000" bIns="10800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Título 1">
            <a:extLst>
              <a:ext uri="{FF2B5EF4-FFF2-40B4-BE49-F238E27FC236}">
                <a16:creationId xmlns:a16="http://schemas.microsoft.com/office/drawing/2014/main" id="{D91A21B9-BA54-413B-940E-027C32E4D429}"/>
              </a:ext>
            </a:extLst>
          </p:cNvPr>
          <p:cNvSpPr>
            <a:spLocks noGrp="1"/>
          </p:cNvSpPr>
          <p:nvPr>
            <p:ph type="title"/>
          </p:nvPr>
        </p:nvSpPr>
        <p:spPr>
          <a:xfrm>
            <a:off x="838200" y="611076"/>
            <a:ext cx="3440502" cy="2680322"/>
          </a:xfrm>
          <a:solidFill>
            <a:schemeClr val="accent2">
              <a:lumMod val="50000"/>
            </a:schemeClr>
          </a:solidFill>
        </p:spPr>
        <p:txBody>
          <a:bodyPr wrap="square" tIns="108000" bIns="108000" rtlCol="0" anchor="t">
            <a:spAutoFit/>
          </a:bodyPr>
          <a:lstStyle>
            <a:lvl1pPr>
              <a:lnSpc>
                <a:spcPct val="100000"/>
              </a:lnSpc>
              <a:defRPr sz="4000"/>
            </a:lvl1pPr>
          </a:lstStyle>
          <a:p>
            <a:pPr rtl="0"/>
            <a:r>
              <a:rPr lang="es-ES" noProof="0"/>
              <a:t>Haga clic para modificar el estilo de título del patrón</a:t>
            </a:r>
          </a:p>
        </p:txBody>
      </p:sp>
    </p:spTree>
    <p:extLst>
      <p:ext uri="{BB962C8B-B14F-4D97-AF65-F5344CB8AC3E}">
        <p14:creationId xmlns:p14="http://schemas.microsoft.com/office/powerpoint/2010/main" val="361005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Encabezado de la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2BDA7-8BE9-42D5-ACF1-0F51423A206E}"/>
              </a:ext>
            </a:extLst>
          </p:cNvPr>
          <p:cNvSpPr>
            <a:spLocks noGrp="1"/>
          </p:cNvSpPr>
          <p:nvPr>
            <p:ph type="title"/>
          </p:nvPr>
        </p:nvSpPr>
        <p:spPr>
          <a:xfrm>
            <a:off x="831850" y="1709738"/>
            <a:ext cx="10515600" cy="2852737"/>
          </a:xfrm>
        </p:spPr>
        <p:txBody>
          <a:bodyPr rtlCol="0" anchor="b"/>
          <a:lstStyle>
            <a:lvl1pPr>
              <a:defRPr sz="6000"/>
            </a:lvl1p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71CEF73F-3CCA-4312-8E9C-2B4629DA1F66}"/>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sp>
        <p:nvSpPr>
          <p:cNvPr id="4" name="Marcador de número de diapositiva 3">
            <a:extLst>
              <a:ext uri="{FF2B5EF4-FFF2-40B4-BE49-F238E27FC236}">
                <a16:creationId xmlns:a16="http://schemas.microsoft.com/office/drawing/2014/main" id="{293BF716-502C-4821-A3A0-19C2C508EED1}"/>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266598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Dos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1AB651-5612-4E6A-9B35-A555D082EC2F}"/>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881389A2-D77B-40CA-AD1E-0178AEFAD15A}"/>
              </a:ext>
            </a:extLst>
          </p:cNvPr>
          <p:cNvSpPr>
            <a:spLocks noGrp="1"/>
          </p:cNvSpPr>
          <p:nvPr>
            <p:ph sz="half" idx="1"/>
          </p:nvPr>
        </p:nvSpPr>
        <p:spPr>
          <a:xfrm>
            <a:off x="8382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contenido 3">
            <a:extLst>
              <a:ext uri="{FF2B5EF4-FFF2-40B4-BE49-F238E27FC236}">
                <a16:creationId xmlns:a16="http://schemas.microsoft.com/office/drawing/2014/main" id="{A1DCA993-CBEA-48C5-BD35-50ABDFF64065}"/>
              </a:ext>
            </a:extLst>
          </p:cNvPr>
          <p:cNvSpPr>
            <a:spLocks noGrp="1"/>
          </p:cNvSpPr>
          <p:nvPr>
            <p:ph sz="half" idx="2"/>
          </p:nvPr>
        </p:nvSpPr>
        <p:spPr>
          <a:xfrm>
            <a:off x="61722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número de diapositiva 4">
            <a:extLst>
              <a:ext uri="{FF2B5EF4-FFF2-40B4-BE49-F238E27FC236}">
                <a16:creationId xmlns:a16="http://schemas.microsoft.com/office/drawing/2014/main" id="{B88ED8E0-95EC-469F-9B7E-562FBDFDE6CC}"/>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64634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776F88-2A37-410D-A685-E455AF3D07B4}"/>
              </a:ext>
            </a:extLst>
          </p:cNvPr>
          <p:cNvSpPr>
            <a:spLocks noGrp="1"/>
          </p:cNvSpPr>
          <p:nvPr>
            <p:ph type="title"/>
          </p:nvPr>
        </p:nvSpPr>
        <p:spPr>
          <a:xfrm>
            <a:off x="839788" y="365125"/>
            <a:ext cx="10515600" cy="1325563"/>
          </a:xfrm>
        </p:spPr>
        <p:txBody>
          <a:bodyPr rtlCol="0"/>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6C764B46-B015-44F7-8DC0-AFB8D275E486}"/>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contenido 3">
            <a:extLst>
              <a:ext uri="{FF2B5EF4-FFF2-40B4-BE49-F238E27FC236}">
                <a16:creationId xmlns:a16="http://schemas.microsoft.com/office/drawing/2014/main" id="{2D3C8232-2077-497A-9142-B787E2B03A73}"/>
              </a:ext>
            </a:extLst>
          </p:cNvPr>
          <p:cNvSpPr>
            <a:spLocks noGrp="1"/>
          </p:cNvSpPr>
          <p:nvPr>
            <p:ph sz="half" idx="2"/>
          </p:nvPr>
        </p:nvSpPr>
        <p:spPr>
          <a:xfrm>
            <a:off x="839788" y="2505075"/>
            <a:ext cx="5157787"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a:extLst>
              <a:ext uri="{FF2B5EF4-FFF2-40B4-BE49-F238E27FC236}">
                <a16:creationId xmlns:a16="http://schemas.microsoft.com/office/drawing/2014/main" id="{AAF6077C-D913-4FD0-B6E0-6D70BEFD40E6}"/>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contenido 5">
            <a:extLst>
              <a:ext uri="{FF2B5EF4-FFF2-40B4-BE49-F238E27FC236}">
                <a16:creationId xmlns:a16="http://schemas.microsoft.com/office/drawing/2014/main" id="{43905DBB-3AA9-4435-AC97-732293FDE7EF}"/>
              </a:ext>
            </a:extLst>
          </p:cNvPr>
          <p:cNvSpPr>
            <a:spLocks noGrp="1"/>
          </p:cNvSpPr>
          <p:nvPr>
            <p:ph sz="quarter" idx="4"/>
          </p:nvPr>
        </p:nvSpPr>
        <p:spPr>
          <a:xfrm>
            <a:off x="6172200" y="2505075"/>
            <a:ext cx="5183188"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número de diapositiva 6">
            <a:extLst>
              <a:ext uri="{FF2B5EF4-FFF2-40B4-BE49-F238E27FC236}">
                <a16:creationId xmlns:a16="http://schemas.microsoft.com/office/drawing/2014/main" id="{1954C901-FCAF-4DFB-A621-6A969641CA73}"/>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2292145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AF2623-2255-4BBA-9577-B3A3FD2AE8E8}"/>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número de diapositiva 2">
            <a:extLst>
              <a:ext uri="{FF2B5EF4-FFF2-40B4-BE49-F238E27FC236}">
                <a16:creationId xmlns:a16="http://schemas.microsoft.com/office/drawing/2014/main" id="{5259F0F0-5E7C-4FC9-8E90-6ADCD7A714B6}"/>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3105532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0A9D3FFB-BE14-4D90-A515-10EDD1BEE6F1}"/>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362767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451E51-BE82-4B1B-9CB6-89C26464DBE2}"/>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04CCBF8C-3CF7-47E6-9AB0-15584178B449}"/>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texto 3">
            <a:extLst>
              <a:ext uri="{FF2B5EF4-FFF2-40B4-BE49-F238E27FC236}">
                <a16:creationId xmlns:a16="http://schemas.microsoft.com/office/drawing/2014/main" id="{3D07DA3C-0298-45CF-AFC3-41031C0763E3}"/>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número de diapositiva 4">
            <a:extLst>
              <a:ext uri="{FF2B5EF4-FFF2-40B4-BE49-F238E27FC236}">
                <a16:creationId xmlns:a16="http://schemas.microsoft.com/office/drawing/2014/main" id="{F7C4FF87-D01E-416B-9EF8-E107C4EDDC42}"/>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398533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48E4AFE-E166-4B84-B0C8-9205038D8033}"/>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flipV="1">
            <a:off x="0" y="0"/>
            <a:ext cx="12192000" cy="6858000"/>
          </a:xfrm>
          <a:prstGeom prst="rect">
            <a:avLst/>
          </a:prstGeom>
        </p:spPr>
      </p:pic>
      <p:sp>
        <p:nvSpPr>
          <p:cNvPr id="2" name="Marcador de título 1">
            <a:extLst>
              <a:ext uri="{FF2B5EF4-FFF2-40B4-BE49-F238E27FC236}">
                <a16:creationId xmlns:a16="http://schemas.microsoft.com/office/drawing/2014/main" id="{6C617517-B672-49BA-AC6E-AB66D0639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6EC92C27-7843-4B22-9200-B7304E6AE4CD}"/>
              </a:ext>
            </a:extLst>
          </p:cNvPr>
          <p:cNvSpPr>
            <a:spLocks noGrp="1"/>
          </p:cNvSpPr>
          <p:nvPr>
            <p:ph type="body" idx="1"/>
          </p:nvPr>
        </p:nvSpPr>
        <p:spPr>
          <a:xfrm>
            <a:off x="838200" y="1825625"/>
            <a:ext cx="10515598"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número de diapositiva 5">
            <a:extLst>
              <a:ext uri="{FF2B5EF4-FFF2-40B4-BE49-F238E27FC236}">
                <a16:creationId xmlns:a16="http://schemas.microsoft.com/office/drawing/2014/main" id="{52DB4F10-F75B-41A8-B994-BFF68949E59A}"/>
              </a:ext>
            </a:extLst>
          </p:cNvPr>
          <p:cNvSpPr>
            <a:spLocks noGrp="1"/>
          </p:cNvSpPr>
          <p:nvPr>
            <p:ph type="sldNum" sz="quarter" idx="4"/>
          </p:nvPr>
        </p:nvSpPr>
        <p:spPr>
          <a:xfrm>
            <a:off x="11353800" y="6361475"/>
            <a:ext cx="838200" cy="360000"/>
          </a:xfrm>
          <a:prstGeom prst="rect">
            <a:avLst/>
          </a:prstGeom>
          <a:solidFill>
            <a:schemeClr val="tx1">
              <a:lumMod val="85000"/>
              <a:lumOff val="15000"/>
            </a:schemeClr>
          </a:solidFill>
        </p:spPr>
        <p:txBody>
          <a:bodyPr vert="horz" lIns="91440" tIns="45720" rIns="91440" bIns="45720" rtlCol="0" anchor="ctr"/>
          <a:lstStyle>
            <a:lvl1pPr algn="ctr">
              <a:defRPr sz="1200">
                <a:solidFill>
                  <a:schemeClr val="bg1"/>
                </a:solidFill>
              </a:defRPr>
            </a:lvl1pPr>
          </a:lstStyle>
          <a:p>
            <a:pPr rtl="0"/>
            <a:r>
              <a:rPr lang="es-ES" noProof="0"/>
              <a:t>PÁGINA </a:t>
            </a:r>
            <a:fld id="{4A9B5881-4007-4345-955A-79C2656F0C49}" type="slidenum">
              <a:rPr lang="es-ES" noProof="0" smtClean="0"/>
              <a:pPr rtl="0"/>
              <a:t>‹Nº›</a:t>
            </a:fld>
            <a:endParaRPr lang="es-ES" noProof="0"/>
          </a:p>
        </p:txBody>
      </p:sp>
      <p:sp>
        <p:nvSpPr>
          <p:cNvPr id="7" name="Rectángulo 6">
            <a:extLst>
              <a:ext uri="{FF2B5EF4-FFF2-40B4-BE49-F238E27FC236}">
                <a16:creationId xmlns:a16="http://schemas.microsoft.com/office/drawing/2014/main" id="{512D21E2-8DEB-4F43-A26E-B8DA900A9230}"/>
              </a:ext>
            </a:extLst>
          </p:cNvPr>
          <p:cNvSpPr/>
          <p:nvPr userDrawn="1"/>
        </p:nvSpPr>
        <p:spPr>
          <a:xfrm>
            <a:off x="0" y="6721475"/>
            <a:ext cx="12192000" cy="136525"/>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35CD3143-7FD1-40EA-AA4A-47C72380AEC2}"/>
              </a:ext>
            </a:extLst>
          </p:cNvPr>
          <p:cNvSpPr/>
          <p:nvPr userDrawn="1"/>
        </p:nvSpPr>
        <p:spPr>
          <a:xfrm>
            <a:off x="11353798" y="6721474"/>
            <a:ext cx="838201" cy="136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3853920126"/>
      </p:ext>
    </p:extLst>
  </p:cSld>
  <p:clrMap bg1="lt1" tx1="dk1" bg2="lt2" tx2="dk2" accent1="accent1" accent2="accent2" accent3="accent3" accent4="accent4" accent5="accent5" accent6="accent6" hlink="hlink" folHlink="folHlink"/>
  <p:sldLayoutIdLst>
    <p:sldLayoutId id="2147483661" r:id="rId1"/>
    <p:sldLayoutId id="2147483659" r:id="rId2"/>
    <p:sldLayoutId id="2147483660" r:id="rId3"/>
    <p:sldLayoutId id="2147483665" r:id="rId4"/>
    <p:sldLayoutId id="2147483666" r:id="rId5"/>
    <p:sldLayoutId id="2147483650" r:id="rId6"/>
    <p:sldLayoutId id="2147483663" r:id="rId7"/>
    <p:sldLayoutId id="2147483664" r:id="rId8"/>
    <p:sldLayoutId id="2147483651" r:id="rId9"/>
    <p:sldLayoutId id="2147483652" r:id="rId10"/>
    <p:sldLayoutId id="2147483653" r:id="rId11"/>
    <p:sldLayoutId id="2147483654" r:id="rId12"/>
    <p:sldLayoutId id="2147483655" r:id="rId13"/>
    <p:sldLayoutId id="2147483656" r:id="rId14"/>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5.png"/><Relationship Id="rId4" Type="http://schemas.openxmlformats.org/officeDocument/2006/relationships/diagramLayout" Target="../diagrams/layout1.xm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Marcador de posición de imagen 28" descr="Joven estudiante dibujando en una pizarra">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3" cstate="screen">
            <a:extLst>
              <a:ext uri="{28A0092B-C50C-407E-A947-70E740481C1C}">
                <a14:useLocalDpi xmlns:a14="http://schemas.microsoft.com/office/drawing/2010/main"/>
              </a:ext>
            </a:extLst>
          </a:blip>
          <a:srcRect/>
          <a:stretch>
            <a:fillRect/>
          </a:stretch>
        </p:blipFill>
        <p:spPr/>
      </p:pic>
      <p:sp>
        <p:nvSpPr>
          <p:cNvPr id="6" name="Marcador de texto 5">
            <a:extLst>
              <a:ext uri="{FF2B5EF4-FFF2-40B4-BE49-F238E27FC236}">
                <a16:creationId xmlns:a16="http://schemas.microsoft.com/office/drawing/2014/main" id="{1397C2DB-90F2-4971-AC44-7CDDF5A3B552}"/>
              </a:ext>
            </a:extLst>
          </p:cNvPr>
          <p:cNvSpPr>
            <a:spLocks noGrp="1"/>
          </p:cNvSpPr>
          <p:nvPr>
            <p:ph type="body" sz="half" idx="2"/>
          </p:nvPr>
        </p:nvSpPr>
        <p:spPr>
          <a:xfrm>
            <a:off x="7873612" y="4611900"/>
            <a:ext cx="3924000" cy="1202045"/>
          </a:xfrm>
        </p:spPr>
        <p:txBody>
          <a:bodyPr rtlCol="0">
            <a:normAutofit/>
          </a:bodyPr>
          <a:lstStyle/>
          <a:p>
            <a:pPr rtl="0"/>
            <a:r>
              <a:rPr lang="es-ES" dirty="0" err="1"/>
              <a:t>Mad</a:t>
            </a:r>
            <a:r>
              <a:rPr lang="es-ES" dirty="0"/>
              <a:t> (</a:t>
            </a:r>
            <a:r>
              <a:rPr lang="es-ES" dirty="0" err="1"/>
              <a:t>Desvación</a:t>
            </a:r>
            <a:r>
              <a:rPr lang="es-ES" dirty="0"/>
              <a:t> </a:t>
            </a:r>
            <a:r>
              <a:rPr lang="es-ES" dirty="0" err="1"/>
              <a:t>Absuluta</a:t>
            </a:r>
            <a:r>
              <a:rPr lang="es-ES" dirty="0"/>
              <a:t> Media)</a:t>
            </a:r>
          </a:p>
          <a:p>
            <a:pPr rtl="0"/>
            <a:r>
              <a:rPr lang="es-ES" dirty="0"/>
              <a:t>MSE (Error Cuadrático Medio)</a:t>
            </a:r>
          </a:p>
          <a:p>
            <a:pPr rtl="0"/>
            <a:r>
              <a:rPr lang="es-ES" dirty="0"/>
              <a:t>MAPE (Error Absoluto Porcentual Medio)</a:t>
            </a:r>
          </a:p>
        </p:txBody>
      </p:sp>
      <p:sp>
        <p:nvSpPr>
          <p:cNvPr id="15" name="Marcador de número de diapositiva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rtlCol="0"/>
          <a:lstStyle/>
          <a:p>
            <a:pPr rtl="0"/>
            <a:r>
              <a:rPr lang="es-ES"/>
              <a:t>PÁGINA </a:t>
            </a:r>
            <a:fld id="{4A9B5881-4007-4345-955A-79C2656F0C49}" type="slidenum">
              <a:rPr lang="es-ES" smtClean="0"/>
              <a:pPr/>
              <a:t>1</a:t>
            </a:fld>
            <a:endParaRPr lang="es-ES"/>
          </a:p>
        </p:txBody>
      </p:sp>
      <p:sp>
        <p:nvSpPr>
          <p:cNvPr id="8" name="Título 3">
            <a:extLst>
              <a:ext uri="{FF2B5EF4-FFF2-40B4-BE49-F238E27FC236}">
                <a16:creationId xmlns:a16="http://schemas.microsoft.com/office/drawing/2014/main" id="{C4ECC860-8903-451B-B3E5-5D468A7A7959}"/>
              </a:ext>
            </a:extLst>
          </p:cNvPr>
          <p:cNvSpPr txBox="1">
            <a:spLocks/>
          </p:cNvSpPr>
          <p:nvPr/>
        </p:nvSpPr>
        <p:spPr>
          <a:xfrm>
            <a:off x="7848042" y="-1032355"/>
            <a:ext cx="3923999" cy="5188908"/>
          </a:xfrm>
          <a:prstGeom prst="rect">
            <a:avLst/>
          </a:prstGeom>
        </p:spPr>
        <p:txBody>
          <a:bodyPr vert="horz" lIns="0" tIns="0" rIns="0" bIns="0" rtlCol="0" anchor="b">
            <a:noAutofit/>
          </a:bodyPr>
          <a:lstStyle>
            <a:lvl1pPr algn="l" defTabSz="914400" rtl="0" eaLnBrk="1" latinLnBrk="0" hangingPunct="1">
              <a:lnSpc>
                <a:spcPct val="70000"/>
              </a:lnSpc>
              <a:spcBef>
                <a:spcPct val="0"/>
              </a:spcBef>
              <a:buNone/>
              <a:defRPr sz="7200" kern="1200" spc="-300">
                <a:solidFill>
                  <a:schemeClr val="bg1"/>
                </a:solidFill>
                <a:latin typeface="+mj-lt"/>
                <a:ea typeface="+mj-ea"/>
                <a:cs typeface="+mj-cs"/>
              </a:defRPr>
            </a:lvl1pPr>
          </a:lstStyle>
          <a:p>
            <a:pPr algn="r"/>
            <a:r>
              <a:rPr lang="es-ES" dirty="0"/>
              <a:t>Unidad I: Pronósticos de Conversión</a:t>
            </a:r>
          </a:p>
        </p:txBody>
      </p:sp>
    </p:spTree>
    <p:extLst>
      <p:ext uri="{BB962C8B-B14F-4D97-AF65-F5344CB8AC3E}">
        <p14:creationId xmlns:p14="http://schemas.microsoft.com/office/powerpoint/2010/main" val="1136250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C8855392-9FED-4979-8AC6-A73037648D43}"/>
              </a:ext>
            </a:extLst>
          </p:cNvPr>
          <p:cNvSpPr>
            <a:spLocks noGrp="1"/>
          </p:cNvSpPr>
          <p:nvPr>
            <p:ph type="title"/>
          </p:nvPr>
        </p:nvSpPr>
        <p:spPr>
          <a:xfrm>
            <a:off x="838198" y="641855"/>
            <a:ext cx="4800602" cy="772107"/>
          </a:xfrm>
        </p:spPr>
        <p:txBody>
          <a:bodyPr rtlCol="0"/>
          <a:lstStyle/>
          <a:p>
            <a:pPr rtl="0"/>
            <a:r>
              <a:rPr lang="es-ES" dirty="0"/>
              <a:t>Errores de pronóstico</a:t>
            </a:r>
          </a:p>
        </p:txBody>
      </p:sp>
      <p:graphicFrame>
        <p:nvGraphicFramePr>
          <p:cNvPr id="10" name="Marcador de contenido 2" descr="Marcador de posición de contenido">
            <a:extLst>
              <a:ext uri="{FF2B5EF4-FFF2-40B4-BE49-F238E27FC236}">
                <a16:creationId xmlns:a16="http://schemas.microsoft.com/office/drawing/2014/main" id="{47A11266-E870-4547-80E5-8133E862A757}"/>
              </a:ext>
            </a:extLst>
          </p:cNvPr>
          <p:cNvGraphicFramePr>
            <a:graphicFrameLocks noGrp="1"/>
          </p:cNvGraphicFramePr>
          <p:nvPr>
            <p:ph idx="1"/>
            <p:extLst>
              <p:ext uri="{D42A27DB-BD31-4B8C-83A1-F6EECF244321}">
                <p14:modId xmlns:p14="http://schemas.microsoft.com/office/powerpoint/2010/main" val="332498644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Marcador de número de diapositiva 3">
            <a:extLst>
              <a:ext uri="{FF2B5EF4-FFF2-40B4-BE49-F238E27FC236}">
                <a16:creationId xmlns:a16="http://schemas.microsoft.com/office/drawing/2014/main" id="{32934DE9-1653-4F9E-B307-C53A27B2182D}"/>
              </a:ext>
            </a:extLst>
          </p:cNvPr>
          <p:cNvSpPr>
            <a:spLocks noGrp="1"/>
          </p:cNvSpPr>
          <p:nvPr>
            <p:ph type="sldNum" sz="quarter" idx="10"/>
          </p:nvPr>
        </p:nvSpPr>
        <p:spPr/>
        <p:txBody>
          <a:bodyPr rtlCol="0"/>
          <a:lstStyle/>
          <a:p>
            <a:pPr rtl="0"/>
            <a:r>
              <a:rPr lang="es-ES" dirty="0"/>
              <a:t>PÁGINA </a:t>
            </a:r>
            <a:fld id="{4A9B5881-4007-4345-955A-79C2656F0C49}" type="slidenum">
              <a:rPr lang="es-ES" smtClean="0"/>
              <a:pPr rtl="0"/>
              <a:t>2</a:t>
            </a:fld>
            <a:endParaRPr lang="es-ES"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A2D69FF7-085C-4515-ADDE-BE25C4B0E28B}"/>
                  </a:ext>
                </a:extLst>
              </p:cNvPr>
              <p:cNvSpPr txBox="1"/>
              <p:nvPr/>
            </p:nvSpPr>
            <p:spPr>
              <a:xfrm>
                <a:off x="1035723" y="2596949"/>
                <a:ext cx="2860867" cy="476092"/>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f>
                        <m:fPr>
                          <m:ctrlPr>
                            <a:rPr lang="es-NI" sz="1600" smtClean="0">
                              <a:solidFill>
                                <a:schemeClr val="bg1"/>
                              </a:solidFill>
                              <a:latin typeface="Cambria Math" panose="02040503050406030204" pitchFamily="18" charset="0"/>
                            </a:rPr>
                          </m:ctrlPr>
                        </m:fPr>
                        <m:num>
                          <m:r>
                            <m:rPr>
                              <m:sty m:val="p"/>
                            </m:rPr>
                            <a:rPr lang="el-GR" sz="1600" i="1" smtClean="0">
                              <a:solidFill>
                                <a:schemeClr val="bg1"/>
                              </a:solidFill>
                              <a:latin typeface="Cambria Math" panose="02040503050406030204" pitchFamily="18" charset="0"/>
                            </a:rPr>
                            <m:t>Σ</m:t>
                          </m:r>
                          <m:d>
                            <m:dPr>
                              <m:begChr m:val="|"/>
                              <m:endChr m:val="|"/>
                              <m:ctrlPr>
                                <a:rPr lang="es-NI" sz="1600" i="1" smtClean="0">
                                  <a:solidFill>
                                    <a:schemeClr val="bg1"/>
                                  </a:solidFill>
                                  <a:latin typeface="Cambria Math" panose="02040503050406030204" pitchFamily="18" charset="0"/>
                                </a:rPr>
                              </m:ctrlPr>
                            </m:dPr>
                            <m:e>
                              <m:r>
                                <a:rPr lang="es-NI" sz="1600" b="0" i="1" smtClean="0">
                                  <a:solidFill>
                                    <a:schemeClr val="bg1"/>
                                  </a:solidFill>
                                  <a:latin typeface="Cambria Math" panose="02040503050406030204" pitchFamily="18" charset="0"/>
                                </a:rPr>
                                <m:t>𝐷𝑒𝑚𝑎𝑛𝑑𝑎</m:t>
                              </m:r>
                              <m:r>
                                <a:rPr lang="es-NI" sz="1600" b="0" i="1" smtClean="0">
                                  <a:solidFill>
                                    <a:schemeClr val="bg1"/>
                                  </a:solidFill>
                                  <a:latin typeface="Cambria Math" panose="02040503050406030204" pitchFamily="18" charset="0"/>
                                </a:rPr>
                                <m:t> </m:t>
                              </m:r>
                              <m:r>
                                <a:rPr lang="es-NI" sz="1600" b="0" i="1" smtClean="0">
                                  <a:solidFill>
                                    <a:schemeClr val="bg1"/>
                                  </a:solidFill>
                                  <a:latin typeface="Cambria Math" panose="02040503050406030204" pitchFamily="18" charset="0"/>
                                </a:rPr>
                                <m:t>𝑟𝑒𝑎𝑙</m:t>
                              </m:r>
                              <m:r>
                                <a:rPr lang="es-NI" sz="1600" b="0" i="1" smtClean="0">
                                  <a:solidFill>
                                    <a:schemeClr val="bg1"/>
                                  </a:solidFill>
                                  <a:latin typeface="Cambria Math" panose="02040503050406030204" pitchFamily="18" charset="0"/>
                                </a:rPr>
                                <m:t> −</m:t>
                              </m:r>
                              <m:r>
                                <a:rPr lang="es-NI" sz="1600" b="0" i="1" smtClean="0">
                                  <a:solidFill>
                                    <a:schemeClr val="bg1"/>
                                  </a:solidFill>
                                  <a:latin typeface="Cambria Math" panose="02040503050406030204" pitchFamily="18" charset="0"/>
                                </a:rPr>
                                <m:t>𝑃𝑟𝑜𝑛</m:t>
                              </m:r>
                              <m:r>
                                <a:rPr lang="es-NI" sz="1600" b="0" i="1" smtClean="0">
                                  <a:solidFill>
                                    <a:schemeClr val="bg1"/>
                                  </a:solidFill>
                                  <a:latin typeface="Cambria Math" panose="02040503050406030204" pitchFamily="18" charset="0"/>
                                </a:rPr>
                                <m:t>ó</m:t>
                              </m:r>
                              <m:r>
                                <a:rPr lang="es-NI" sz="1600" b="0" i="1" smtClean="0">
                                  <a:solidFill>
                                    <a:schemeClr val="bg1"/>
                                  </a:solidFill>
                                  <a:latin typeface="Cambria Math" panose="02040503050406030204" pitchFamily="18" charset="0"/>
                                </a:rPr>
                                <m:t>𝑠𝑡𝑖𝑐𝑜</m:t>
                              </m:r>
                            </m:e>
                          </m:d>
                        </m:num>
                        <m:den>
                          <m:r>
                            <a:rPr lang="es-NI" sz="1600" i="1">
                              <a:solidFill>
                                <a:schemeClr val="bg1"/>
                              </a:solidFill>
                              <a:latin typeface="Cambria Math" panose="02040503050406030204" pitchFamily="18" charset="0"/>
                            </a:rPr>
                            <m:t>𝑛</m:t>
                          </m:r>
                        </m:den>
                      </m:f>
                    </m:oMath>
                  </m:oMathPara>
                </a14:m>
                <a:endParaRPr lang="es-NI" sz="1600" dirty="0">
                  <a:solidFill>
                    <a:schemeClr val="bg1"/>
                  </a:solidFill>
                </a:endParaRPr>
              </a:p>
            </p:txBody>
          </p:sp>
        </mc:Choice>
        <mc:Fallback>
          <p:sp>
            <p:nvSpPr>
              <p:cNvPr id="2" name="CuadroTexto 1">
                <a:extLst>
                  <a:ext uri="{FF2B5EF4-FFF2-40B4-BE49-F238E27FC236}">
                    <a16:creationId xmlns:a16="http://schemas.microsoft.com/office/drawing/2014/main" id="{A2D69FF7-085C-4515-ADDE-BE25C4B0E28B}"/>
                  </a:ext>
                </a:extLst>
              </p:cNvPr>
              <p:cNvSpPr txBox="1">
                <a:spLocks noRot="1" noChangeAspect="1" noMove="1" noResize="1" noEditPoints="1" noAdjustHandles="1" noChangeArrowheads="1" noChangeShapeType="1" noTextEdit="1"/>
              </p:cNvSpPr>
              <p:nvPr/>
            </p:nvSpPr>
            <p:spPr>
              <a:xfrm>
                <a:off x="1035723" y="2596949"/>
                <a:ext cx="2860867" cy="476092"/>
              </a:xfrm>
              <a:prstGeom prst="rect">
                <a:avLst/>
              </a:prstGeom>
              <a:blipFill>
                <a:blip r:embed="rId8"/>
                <a:stretch>
                  <a:fillRect/>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591E5EDC-C791-41A5-847B-90A4913BC4DF}"/>
                  </a:ext>
                </a:extLst>
              </p:cNvPr>
              <p:cNvSpPr txBox="1"/>
              <p:nvPr/>
            </p:nvSpPr>
            <p:spPr>
              <a:xfrm>
                <a:off x="8055168" y="2596949"/>
                <a:ext cx="3344910" cy="476092"/>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f>
                        <m:fPr>
                          <m:ctrlPr>
                            <a:rPr lang="es-NI" sz="1600" smtClean="0">
                              <a:solidFill>
                                <a:schemeClr val="bg1"/>
                              </a:solidFill>
                              <a:latin typeface="Cambria Math" panose="02040503050406030204" pitchFamily="18" charset="0"/>
                            </a:rPr>
                          </m:ctrlPr>
                        </m:fPr>
                        <m:num>
                          <m:r>
                            <m:rPr>
                              <m:sty m:val="p"/>
                            </m:rPr>
                            <a:rPr lang="el-GR" sz="1600" i="1" smtClean="0">
                              <a:solidFill>
                                <a:schemeClr val="bg1"/>
                              </a:solidFill>
                              <a:latin typeface="Cambria Math" panose="02040503050406030204" pitchFamily="18" charset="0"/>
                            </a:rPr>
                            <m:t>Σ</m:t>
                          </m:r>
                          <m:r>
                            <a:rPr lang="es-NI" sz="1600" b="0" i="1" smtClean="0">
                              <a:solidFill>
                                <a:schemeClr val="bg1"/>
                              </a:solidFill>
                              <a:latin typeface="Cambria Math" panose="02040503050406030204" pitchFamily="18" charset="0"/>
                            </a:rPr>
                            <m:t>100 ∗ </m:t>
                          </m:r>
                          <m:d>
                            <m:dPr>
                              <m:begChr m:val="|"/>
                              <m:endChr m:val="|"/>
                              <m:ctrlPr>
                                <a:rPr lang="es-NI" sz="1600" i="1" smtClean="0">
                                  <a:solidFill>
                                    <a:schemeClr val="bg1"/>
                                  </a:solidFill>
                                  <a:latin typeface="Cambria Math" panose="02040503050406030204" pitchFamily="18" charset="0"/>
                                </a:rPr>
                              </m:ctrlPr>
                            </m:dPr>
                            <m:e>
                              <m:r>
                                <a:rPr lang="es-NI" sz="1600" b="0" i="1" smtClean="0">
                                  <a:solidFill>
                                    <a:schemeClr val="bg1"/>
                                  </a:solidFill>
                                  <a:latin typeface="Cambria Math" panose="02040503050406030204" pitchFamily="18" charset="0"/>
                                </a:rPr>
                                <m:t>𝐷𝑒𝑚𝑟𝑒𝑎𝑙</m:t>
                              </m:r>
                              <m:r>
                                <a:rPr lang="es-NI" sz="1600" b="0" i="1" smtClean="0">
                                  <a:solidFill>
                                    <a:schemeClr val="bg1"/>
                                  </a:solidFill>
                                  <a:latin typeface="Cambria Math" panose="02040503050406030204" pitchFamily="18" charset="0"/>
                                </a:rPr>
                                <m:t> −</m:t>
                              </m:r>
                              <m:r>
                                <a:rPr lang="es-NI" sz="1600" b="0" i="1" smtClean="0">
                                  <a:solidFill>
                                    <a:schemeClr val="bg1"/>
                                  </a:solidFill>
                                  <a:latin typeface="Cambria Math" panose="02040503050406030204" pitchFamily="18" charset="0"/>
                                </a:rPr>
                                <m:t>𝑃𝑟𝑜𝑛</m:t>
                              </m:r>
                            </m:e>
                          </m:d>
                          <m:r>
                            <a:rPr lang="es-NI" sz="1600" b="0" i="1" smtClean="0">
                              <a:solidFill>
                                <a:schemeClr val="bg1"/>
                              </a:solidFill>
                              <a:latin typeface="Cambria Math" panose="02040503050406030204" pitchFamily="18" charset="0"/>
                            </a:rPr>
                            <m:t>/</m:t>
                          </m:r>
                          <m:r>
                            <a:rPr lang="es-NI" sz="1600" b="0" i="1" smtClean="0">
                              <a:solidFill>
                                <a:schemeClr val="bg1"/>
                              </a:solidFill>
                              <a:latin typeface="Cambria Math" panose="02040503050406030204" pitchFamily="18" charset="0"/>
                            </a:rPr>
                            <m:t>𝐷𝑒𝑚𝑟𝑒𝑎𝑙</m:t>
                          </m:r>
                        </m:num>
                        <m:den>
                          <m:r>
                            <a:rPr lang="es-NI" sz="1600" i="1">
                              <a:solidFill>
                                <a:schemeClr val="bg1"/>
                              </a:solidFill>
                              <a:latin typeface="Cambria Math" panose="02040503050406030204" pitchFamily="18" charset="0"/>
                            </a:rPr>
                            <m:t>𝑛</m:t>
                          </m:r>
                        </m:den>
                      </m:f>
                    </m:oMath>
                  </m:oMathPara>
                </a14:m>
                <a:endParaRPr lang="es-NI" sz="1600" dirty="0">
                  <a:solidFill>
                    <a:schemeClr val="bg1"/>
                  </a:solidFill>
                </a:endParaRPr>
              </a:p>
            </p:txBody>
          </p:sp>
        </mc:Choice>
        <mc:Fallback>
          <p:sp>
            <p:nvSpPr>
              <p:cNvPr id="15" name="CuadroTexto 14">
                <a:extLst>
                  <a:ext uri="{FF2B5EF4-FFF2-40B4-BE49-F238E27FC236}">
                    <a16:creationId xmlns:a16="http://schemas.microsoft.com/office/drawing/2014/main" id="{591E5EDC-C791-41A5-847B-90A4913BC4DF}"/>
                  </a:ext>
                </a:extLst>
              </p:cNvPr>
              <p:cNvSpPr txBox="1">
                <a:spLocks noRot="1" noChangeAspect="1" noMove="1" noResize="1" noEditPoints="1" noAdjustHandles="1" noChangeArrowheads="1" noChangeShapeType="1" noTextEdit="1"/>
              </p:cNvSpPr>
              <p:nvPr/>
            </p:nvSpPr>
            <p:spPr>
              <a:xfrm>
                <a:off x="8055168" y="2596949"/>
                <a:ext cx="3344910" cy="476092"/>
              </a:xfrm>
              <a:prstGeom prst="rect">
                <a:avLst/>
              </a:prstGeom>
              <a:blipFill>
                <a:blip r:embed="rId9"/>
                <a:stretch>
                  <a:fillRect/>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80D4B819-B49D-4E4A-A0A0-0E90D9DFA144}"/>
                  </a:ext>
                </a:extLst>
              </p:cNvPr>
              <p:cNvSpPr txBox="1"/>
              <p:nvPr/>
            </p:nvSpPr>
            <p:spPr>
              <a:xfrm>
                <a:off x="4801575" y="2549115"/>
                <a:ext cx="2588849" cy="52392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s-NI" sz="1600" smtClean="0">
                              <a:solidFill>
                                <a:schemeClr val="bg1"/>
                              </a:solidFill>
                              <a:latin typeface="Cambria Math" panose="02040503050406030204" pitchFamily="18" charset="0"/>
                            </a:rPr>
                          </m:ctrlPr>
                        </m:fPr>
                        <m:num>
                          <m:nary>
                            <m:naryPr>
                              <m:chr m:val="∑"/>
                              <m:grow m:val="on"/>
                              <m:subHide m:val="on"/>
                              <m:supHide m:val="on"/>
                              <m:ctrlPr>
                                <a:rPr lang="es-NI" sz="1600">
                                  <a:solidFill>
                                    <a:schemeClr val="bg1"/>
                                  </a:solidFill>
                                  <a:latin typeface="Cambria Math" panose="02040503050406030204" pitchFamily="18" charset="0"/>
                                </a:rPr>
                              </m:ctrlPr>
                            </m:naryPr>
                            <m:sub/>
                            <m:sup/>
                            <m:e>
                              <m:sSup>
                                <m:sSupPr>
                                  <m:ctrlPr>
                                    <a:rPr lang="es-NI" sz="1600" i="1">
                                      <a:solidFill>
                                        <a:schemeClr val="bg1"/>
                                      </a:solidFill>
                                      <a:latin typeface="Cambria Math" panose="02040503050406030204" pitchFamily="18" charset="0"/>
                                    </a:rPr>
                                  </m:ctrlPr>
                                </m:sSupPr>
                                <m:e>
                                  <m:d>
                                    <m:dPr>
                                      <m:ctrlPr>
                                        <a:rPr lang="es-NI" sz="1600" i="1">
                                          <a:solidFill>
                                            <a:schemeClr val="bg1"/>
                                          </a:solidFill>
                                          <a:latin typeface="Cambria Math" panose="02040503050406030204" pitchFamily="18" charset="0"/>
                                        </a:rPr>
                                      </m:ctrlPr>
                                    </m:dPr>
                                    <m:e>
                                      <m:r>
                                        <a:rPr lang="es-NI" sz="1600" b="0" i="1" smtClean="0">
                                          <a:solidFill>
                                            <a:schemeClr val="bg1"/>
                                          </a:solidFill>
                                          <a:latin typeface="Cambria Math" panose="02040503050406030204" pitchFamily="18" charset="0"/>
                                        </a:rPr>
                                        <m:t>𝐸𝑟𝑟𝑜𝑟𝑒𝑠</m:t>
                                      </m:r>
                                      <m:r>
                                        <a:rPr lang="es-NI" sz="1600" b="0" i="1" smtClean="0">
                                          <a:solidFill>
                                            <a:schemeClr val="bg1"/>
                                          </a:solidFill>
                                          <a:latin typeface="Cambria Math" panose="02040503050406030204" pitchFamily="18" charset="0"/>
                                        </a:rPr>
                                        <m:t> </m:t>
                                      </m:r>
                                      <m:r>
                                        <a:rPr lang="es-NI" sz="1600" b="0" i="1" smtClean="0">
                                          <a:solidFill>
                                            <a:schemeClr val="bg1"/>
                                          </a:solidFill>
                                          <a:latin typeface="Cambria Math" panose="02040503050406030204" pitchFamily="18" charset="0"/>
                                        </a:rPr>
                                        <m:t>𝑑𝑒</m:t>
                                      </m:r>
                                      <m:r>
                                        <a:rPr lang="es-NI" sz="1600" b="0" i="1" smtClean="0">
                                          <a:solidFill>
                                            <a:schemeClr val="bg1"/>
                                          </a:solidFill>
                                          <a:latin typeface="Cambria Math" panose="02040503050406030204" pitchFamily="18" charset="0"/>
                                        </a:rPr>
                                        <m:t> </m:t>
                                      </m:r>
                                      <m:r>
                                        <a:rPr lang="es-NI" sz="1600" b="0" i="1" smtClean="0">
                                          <a:solidFill>
                                            <a:schemeClr val="bg1"/>
                                          </a:solidFill>
                                          <a:latin typeface="Cambria Math" panose="02040503050406030204" pitchFamily="18" charset="0"/>
                                        </a:rPr>
                                        <m:t>𝑝𝑟𝑜𝑛</m:t>
                                      </m:r>
                                      <m:r>
                                        <a:rPr lang="es-NI" sz="1600" b="0" i="1" smtClean="0">
                                          <a:solidFill>
                                            <a:schemeClr val="bg1"/>
                                          </a:solidFill>
                                          <a:latin typeface="Cambria Math" panose="02040503050406030204" pitchFamily="18" charset="0"/>
                                        </a:rPr>
                                        <m:t>ó</m:t>
                                      </m:r>
                                      <m:r>
                                        <a:rPr lang="es-NI" sz="1600" b="0" i="1" smtClean="0">
                                          <a:solidFill>
                                            <a:schemeClr val="bg1"/>
                                          </a:solidFill>
                                          <a:latin typeface="Cambria Math" panose="02040503050406030204" pitchFamily="18" charset="0"/>
                                        </a:rPr>
                                        <m:t>𝑠𝑡𝑖𝑐𝑜</m:t>
                                      </m:r>
                                    </m:e>
                                  </m:d>
                                </m:e>
                                <m:sup>
                                  <m:r>
                                    <a:rPr lang="es-NI" sz="1600" i="0">
                                      <a:solidFill>
                                        <a:schemeClr val="bg1"/>
                                      </a:solidFill>
                                      <a:latin typeface="Cambria Math" panose="02040503050406030204" pitchFamily="18" charset="0"/>
                                    </a:rPr>
                                    <m:t>2</m:t>
                                  </m:r>
                                </m:sup>
                              </m:sSup>
                            </m:e>
                          </m:nary>
                        </m:num>
                        <m:den>
                          <m:r>
                            <a:rPr lang="es-NI" sz="1600" i="1">
                              <a:solidFill>
                                <a:schemeClr val="bg1"/>
                              </a:solidFill>
                              <a:latin typeface="Cambria Math" panose="02040503050406030204" pitchFamily="18" charset="0"/>
                            </a:rPr>
                            <m:t>𝑛</m:t>
                          </m:r>
                        </m:den>
                      </m:f>
                    </m:oMath>
                  </m:oMathPara>
                </a14:m>
                <a:endParaRPr lang="es-NI" sz="1600" dirty="0">
                  <a:solidFill>
                    <a:schemeClr val="bg1"/>
                  </a:solidFill>
                </a:endParaRPr>
              </a:p>
            </p:txBody>
          </p:sp>
        </mc:Choice>
        <mc:Fallback>
          <p:sp>
            <p:nvSpPr>
              <p:cNvPr id="3" name="CuadroTexto 2">
                <a:extLst>
                  <a:ext uri="{FF2B5EF4-FFF2-40B4-BE49-F238E27FC236}">
                    <a16:creationId xmlns:a16="http://schemas.microsoft.com/office/drawing/2014/main" id="{80D4B819-B49D-4E4A-A0A0-0E90D9DFA144}"/>
                  </a:ext>
                </a:extLst>
              </p:cNvPr>
              <p:cNvSpPr txBox="1">
                <a:spLocks noRot="1" noChangeAspect="1" noMove="1" noResize="1" noEditPoints="1" noAdjustHandles="1" noChangeArrowheads="1" noChangeShapeType="1" noTextEdit="1"/>
              </p:cNvSpPr>
              <p:nvPr/>
            </p:nvSpPr>
            <p:spPr>
              <a:xfrm>
                <a:off x="4801575" y="2549115"/>
                <a:ext cx="2588849" cy="523926"/>
              </a:xfrm>
              <a:prstGeom prst="rect">
                <a:avLst/>
              </a:prstGeom>
              <a:blipFill>
                <a:blip r:embed="rId10"/>
                <a:stretch>
                  <a:fillRect/>
                </a:stretch>
              </a:blipFill>
            </p:spPr>
            <p:txBody>
              <a:bodyPr/>
              <a:lstStyle/>
              <a:p>
                <a:r>
                  <a:rPr lang="es-NI">
                    <a:noFill/>
                  </a:rPr>
                  <a:t> </a:t>
                </a:r>
              </a:p>
            </p:txBody>
          </p:sp>
        </mc:Fallback>
      </mc:AlternateContent>
    </p:spTree>
    <p:extLst>
      <p:ext uri="{BB962C8B-B14F-4D97-AF65-F5344CB8AC3E}">
        <p14:creationId xmlns:p14="http://schemas.microsoft.com/office/powerpoint/2010/main" val="3879804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367144" y="136525"/>
            <a:ext cx="3453143" cy="833663"/>
          </a:xfrm>
        </p:spPr>
        <p:txBody>
          <a:bodyPr rtlCol="0"/>
          <a:lstStyle/>
          <a:p>
            <a:pPr rtl="0"/>
            <a:r>
              <a:rPr lang="es-ES" dirty="0"/>
              <a:t>MAD - Ejemplo</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367143" y="1299989"/>
            <a:ext cx="11603183" cy="1237783"/>
          </a:xfrm>
        </p:spPr>
        <p:txBody>
          <a:bodyPr rtlCol="0"/>
          <a:lstStyle/>
          <a:p>
            <a:pPr marL="0" indent="0" algn="just" rtl="0">
              <a:buNone/>
            </a:pPr>
            <a:r>
              <a:rPr lang="es-ES" noProof="1"/>
              <a:t>Durante los últimos 8 trimestres en el puerto de baltimore se ha descargado de los barcos grandes cantidades de granos, el administrador del puerto emplea la técnica de suavizado exponencial para ver qué tan bien funciona la técnica para pronosticar el tonela descargado. Se examinaron dos constantes de suavizado, 0.1 y 0.5</a:t>
            </a:r>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3</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61475"/>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MAD</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MSE</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MAPE</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trabajo</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aphicFrame>
        <p:nvGraphicFramePr>
          <p:cNvPr id="5" name="Tabla 4">
            <a:extLst>
              <a:ext uri="{FF2B5EF4-FFF2-40B4-BE49-F238E27FC236}">
                <a16:creationId xmlns:a16="http://schemas.microsoft.com/office/drawing/2014/main" id="{7438CB6A-52CA-4409-8BDF-A10312A8835F}"/>
              </a:ext>
            </a:extLst>
          </p:cNvPr>
          <p:cNvGraphicFramePr>
            <a:graphicFrameLocks noGrp="1"/>
          </p:cNvGraphicFramePr>
          <p:nvPr>
            <p:extLst>
              <p:ext uri="{D42A27DB-BD31-4B8C-83A1-F6EECF244321}">
                <p14:modId xmlns:p14="http://schemas.microsoft.com/office/powerpoint/2010/main" val="608507981"/>
              </p:ext>
            </p:extLst>
          </p:nvPr>
        </p:nvGraphicFramePr>
        <p:xfrm>
          <a:off x="392675" y="2705909"/>
          <a:ext cx="4200237" cy="2767965"/>
        </p:xfrm>
        <a:graphic>
          <a:graphicData uri="http://schemas.openxmlformats.org/drawingml/2006/table">
            <a:tbl>
              <a:tblPr>
                <a:tableStyleId>{8A107856-5554-42FB-B03E-39F5DBC370BA}</a:tableStyleId>
              </a:tblPr>
              <a:tblGrid>
                <a:gridCol w="944418">
                  <a:extLst>
                    <a:ext uri="{9D8B030D-6E8A-4147-A177-3AD203B41FA5}">
                      <a16:colId xmlns:a16="http://schemas.microsoft.com/office/drawing/2014/main" val="277531362"/>
                    </a:ext>
                  </a:extLst>
                </a:gridCol>
                <a:gridCol w="1219200">
                  <a:extLst>
                    <a:ext uri="{9D8B030D-6E8A-4147-A177-3AD203B41FA5}">
                      <a16:colId xmlns:a16="http://schemas.microsoft.com/office/drawing/2014/main" val="231389117"/>
                    </a:ext>
                  </a:extLst>
                </a:gridCol>
                <a:gridCol w="969818">
                  <a:extLst>
                    <a:ext uri="{9D8B030D-6E8A-4147-A177-3AD203B41FA5}">
                      <a16:colId xmlns:a16="http://schemas.microsoft.com/office/drawing/2014/main" val="997158119"/>
                    </a:ext>
                  </a:extLst>
                </a:gridCol>
                <a:gridCol w="1066801">
                  <a:extLst>
                    <a:ext uri="{9D8B030D-6E8A-4147-A177-3AD203B41FA5}">
                      <a16:colId xmlns:a16="http://schemas.microsoft.com/office/drawing/2014/main" val="43613787"/>
                    </a:ext>
                  </a:extLst>
                </a:gridCol>
              </a:tblGrid>
              <a:tr h="190500">
                <a:tc>
                  <a:txBody>
                    <a:bodyPr/>
                    <a:lstStyle/>
                    <a:p>
                      <a:pPr algn="l" fontAlgn="b"/>
                      <a:r>
                        <a:rPr lang="es-NI" sz="1600" u="none" strike="noStrike">
                          <a:effectLst/>
                        </a:rPr>
                        <a:t>Trimestre</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Toneladas reales descargadas</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Pronísto para 0.1</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Pronóstico para 0.5</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60691669"/>
                  </a:ext>
                </a:extLst>
              </a:tr>
              <a:tr h="190500">
                <a:tc>
                  <a:txBody>
                    <a:bodyPr/>
                    <a:lstStyle/>
                    <a:p>
                      <a:pPr algn="r" fontAlgn="b"/>
                      <a:r>
                        <a:rPr lang="es-NI" sz="1600" u="none" strike="noStrike">
                          <a:effectLst/>
                        </a:rPr>
                        <a:t>1</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175</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08788952"/>
                  </a:ext>
                </a:extLst>
              </a:tr>
              <a:tr h="190500">
                <a:tc>
                  <a:txBody>
                    <a:bodyPr/>
                    <a:lstStyle/>
                    <a:p>
                      <a:pPr algn="r" fontAlgn="b"/>
                      <a:r>
                        <a:rPr lang="es-NI" sz="1600" u="none" strike="noStrike">
                          <a:effectLst/>
                        </a:rPr>
                        <a:t>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168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177.5</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83133737"/>
                  </a:ext>
                </a:extLst>
              </a:tr>
              <a:tr h="190500">
                <a:tc>
                  <a:txBody>
                    <a:bodyPr/>
                    <a:lstStyle/>
                    <a:p>
                      <a:pPr algn="r" fontAlgn="b"/>
                      <a:r>
                        <a:rPr lang="es-NI" sz="1600" u="none" strike="noStrike">
                          <a:effectLst/>
                        </a:rPr>
                        <a:t>3</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159</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174.75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172.75</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1698886"/>
                  </a:ext>
                </a:extLst>
              </a:tr>
              <a:tr h="190500">
                <a:tc>
                  <a:txBody>
                    <a:bodyPr/>
                    <a:lstStyle/>
                    <a:p>
                      <a:pPr algn="r" fontAlgn="b"/>
                      <a:r>
                        <a:rPr lang="es-NI" sz="1600" u="none" strike="noStrike">
                          <a:effectLst/>
                        </a:rPr>
                        <a:t>4</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173.18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165.88</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82620155"/>
                  </a:ext>
                </a:extLst>
              </a:tr>
              <a:tr h="190500">
                <a:tc>
                  <a:txBody>
                    <a:bodyPr/>
                    <a:lstStyle/>
                    <a:p>
                      <a:pPr algn="r" fontAlgn="b"/>
                      <a:r>
                        <a:rPr lang="es-NI" sz="1600" u="none" strike="noStrike">
                          <a:effectLst/>
                        </a:rPr>
                        <a:t>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190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173.36</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170.44</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24743183"/>
                  </a:ext>
                </a:extLst>
              </a:tr>
              <a:tr h="190500">
                <a:tc>
                  <a:txBody>
                    <a:bodyPr/>
                    <a:lstStyle/>
                    <a:p>
                      <a:pPr algn="r" fontAlgn="b"/>
                      <a:r>
                        <a:rPr lang="es-NI" sz="1600" u="none" strike="noStrike">
                          <a:effectLst/>
                        </a:rPr>
                        <a:t>6</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205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175.02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180.22</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71014873"/>
                  </a:ext>
                </a:extLst>
              </a:tr>
              <a:tr h="190500">
                <a:tc>
                  <a:txBody>
                    <a:bodyPr/>
                    <a:lstStyle/>
                    <a:p>
                      <a:pPr algn="r" fontAlgn="b"/>
                      <a:r>
                        <a:rPr lang="es-NI" sz="1600" u="none" strike="noStrike">
                          <a:effectLst/>
                        </a:rPr>
                        <a:t>7</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178.02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192.61</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09015901"/>
                  </a:ext>
                </a:extLst>
              </a:tr>
              <a:tr h="190500">
                <a:tc>
                  <a:txBody>
                    <a:bodyPr/>
                    <a:lstStyle/>
                    <a:p>
                      <a:pPr algn="r" fontAlgn="b"/>
                      <a:r>
                        <a:rPr lang="es-NI" sz="1600" u="none" strike="noStrike">
                          <a:effectLst/>
                        </a:rPr>
                        <a:t>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178.22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186.3</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11509571"/>
                  </a:ext>
                </a:extLst>
              </a:tr>
            </a:tbl>
          </a:graphicData>
        </a:graphic>
      </p:graphicFrame>
    </p:spTree>
    <p:extLst>
      <p:ext uri="{BB962C8B-B14F-4D97-AF65-F5344CB8AC3E}">
        <p14:creationId xmlns:p14="http://schemas.microsoft.com/office/powerpoint/2010/main" val="216983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367144" y="136525"/>
            <a:ext cx="3453143" cy="833663"/>
          </a:xfrm>
        </p:spPr>
        <p:txBody>
          <a:bodyPr rtlCol="0"/>
          <a:lstStyle/>
          <a:p>
            <a:pPr rtl="0"/>
            <a:r>
              <a:rPr lang="es-ES" dirty="0"/>
              <a:t>MAD - Solución</a:t>
            </a:r>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4</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61475"/>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MAD</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MSE</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MAPE</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trabajo</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aphicFrame>
        <p:nvGraphicFramePr>
          <p:cNvPr id="5" name="Tabla 4">
            <a:extLst>
              <a:ext uri="{FF2B5EF4-FFF2-40B4-BE49-F238E27FC236}">
                <a16:creationId xmlns:a16="http://schemas.microsoft.com/office/drawing/2014/main" id="{7438CB6A-52CA-4409-8BDF-A10312A8835F}"/>
              </a:ext>
            </a:extLst>
          </p:cNvPr>
          <p:cNvGraphicFramePr>
            <a:graphicFrameLocks noGrp="1"/>
          </p:cNvGraphicFramePr>
          <p:nvPr>
            <p:extLst>
              <p:ext uri="{D42A27DB-BD31-4B8C-83A1-F6EECF244321}">
                <p14:modId xmlns:p14="http://schemas.microsoft.com/office/powerpoint/2010/main" val="780172093"/>
              </p:ext>
            </p:extLst>
          </p:nvPr>
        </p:nvGraphicFramePr>
        <p:xfrm>
          <a:off x="3860865" y="1660744"/>
          <a:ext cx="4470270" cy="2767965"/>
        </p:xfrm>
        <a:graphic>
          <a:graphicData uri="http://schemas.openxmlformats.org/drawingml/2006/table">
            <a:tbl>
              <a:tblPr>
                <a:tableStyleId>{8A107856-5554-42FB-B03E-39F5DBC370BA}</a:tableStyleId>
              </a:tblPr>
              <a:tblGrid>
                <a:gridCol w="840380">
                  <a:extLst>
                    <a:ext uri="{9D8B030D-6E8A-4147-A177-3AD203B41FA5}">
                      <a16:colId xmlns:a16="http://schemas.microsoft.com/office/drawing/2014/main" val="277531362"/>
                    </a:ext>
                  </a:extLst>
                </a:gridCol>
                <a:gridCol w="1122218">
                  <a:extLst>
                    <a:ext uri="{9D8B030D-6E8A-4147-A177-3AD203B41FA5}">
                      <a16:colId xmlns:a16="http://schemas.microsoft.com/office/drawing/2014/main" val="231389117"/>
                    </a:ext>
                  </a:extLst>
                </a:gridCol>
                <a:gridCol w="1108363">
                  <a:extLst>
                    <a:ext uri="{9D8B030D-6E8A-4147-A177-3AD203B41FA5}">
                      <a16:colId xmlns:a16="http://schemas.microsoft.com/office/drawing/2014/main" val="997158119"/>
                    </a:ext>
                  </a:extLst>
                </a:gridCol>
                <a:gridCol w="1399309">
                  <a:extLst>
                    <a:ext uri="{9D8B030D-6E8A-4147-A177-3AD203B41FA5}">
                      <a16:colId xmlns:a16="http://schemas.microsoft.com/office/drawing/2014/main" val="43613787"/>
                    </a:ext>
                  </a:extLst>
                </a:gridCol>
              </a:tblGrid>
              <a:tr h="190500">
                <a:tc>
                  <a:txBody>
                    <a:bodyPr/>
                    <a:lstStyle/>
                    <a:p>
                      <a:pPr algn="l" fontAlgn="b"/>
                      <a:r>
                        <a:rPr lang="es-NI" sz="1600" u="none" strike="noStrike">
                          <a:effectLst/>
                        </a:rPr>
                        <a:t>Trimestre</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Toneladas reales descargadas</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Pronísto para 0.1</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dirty="0">
                          <a:effectLst/>
                        </a:rPr>
                        <a:t>|</a:t>
                      </a:r>
                      <a:r>
                        <a:rPr lang="es-NI" sz="1600" u="none" strike="noStrike" dirty="0" err="1">
                          <a:effectLst/>
                        </a:rPr>
                        <a:t>Dreal-prom</a:t>
                      </a:r>
                      <a:r>
                        <a:rPr lang="es-NI" sz="1600" u="none" strike="noStrike" dirty="0">
                          <a:effectLst/>
                        </a:rPr>
                        <a:t>|</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60691669"/>
                  </a:ext>
                </a:extLst>
              </a:tr>
              <a:tr h="190500">
                <a:tc>
                  <a:txBody>
                    <a:bodyPr/>
                    <a:lstStyle/>
                    <a:p>
                      <a:pPr algn="r" fontAlgn="b"/>
                      <a:r>
                        <a:rPr lang="es-NI" sz="1600" u="none" strike="noStrike">
                          <a:effectLst/>
                        </a:rPr>
                        <a:t>1</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5</a:t>
                      </a:r>
                    </a:p>
                  </a:txBody>
                  <a:tcPr marL="9525" marR="9525" marT="9525" marB="0" anchor="b"/>
                </a:tc>
                <a:extLst>
                  <a:ext uri="{0D108BD9-81ED-4DB2-BD59-A6C34878D82A}">
                    <a16:rowId xmlns:a16="http://schemas.microsoft.com/office/drawing/2014/main" val="2008788952"/>
                  </a:ext>
                </a:extLst>
              </a:tr>
              <a:tr h="190500">
                <a:tc>
                  <a:txBody>
                    <a:bodyPr/>
                    <a:lstStyle/>
                    <a:p>
                      <a:pPr algn="r" fontAlgn="b"/>
                      <a:r>
                        <a:rPr lang="es-NI" sz="1600" u="none" strike="noStrike">
                          <a:effectLst/>
                        </a:rPr>
                        <a:t>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168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7.5</a:t>
                      </a:r>
                    </a:p>
                  </a:txBody>
                  <a:tcPr marL="9525" marR="9525" marT="9525" marB="0" anchor="b"/>
                </a:tc>
                <a:extLst>
                  <a:ext uri="{0D108BD9-81ED-4DB2-BD59-A6C34878D82A}">
                    <a16:rowId xmlns:a16="http://schemas.microsoft.com/office/drawing/2014/main" val="1383133737"/>
                  </a:ext>
                </a:extLst>
              </a:tr>
              <a:tr h="190500">
                <a:tc>
                  <a:txBody>
                    <a:bodyPr/>
                    <a:lstStyle/>
                    <a:p>
                      <a:pPr algn="r" fontAlgn="b"/>
                      <a:r>
                        <a:rPr lang="es-NI" sz="1600" u="none" strike="noStrike">
                          <a:effectLst/>
                        </a:rPr>
                        <a:t>3</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159</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174.75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15.75</a:t>
                      </a:r>
                    </a:p>
                  </a:txBody>
                  <a:tcPr marL="9525" marR="9525" marT="9525" marB="0" anchor="b"/>
                </a:tc>
                <a:extLst>
                  <a:ext uri="{0D108BD9-81ED-4DB2-BD59-A6C34878D82A}">
                    <a16:rowId xmlns:a16="http://schemas.microsoft.com/office/drawing/2014/main" val="391698886"/>
                  </a:ext>
                </a:extLst>
              </a:tr>
              <a:tr h="190500">
                <a:tc>
                  <a:txBody>
                    <a:bodyPr/>
                    <a:lstStyle/>
                    <a:p>
                      <a:pPr algn="r" fontAlgn="b"/>
                      <a:r>
                        <a:rPr lang="es-NI" sz="1600" u="none" strike="noStrike">
                          <a:effectLst/>
                        </a:rPr>
                        <a:t>4</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173.18</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1.82</a:t>
                      </a:r>
                    </a:p>
                  </a:txBody>
                  <a:tcPr marL="9525" marR="9525" marT="9525" marB="0" anchor="b"/>
                </a:tc>
                <a:extLst>
                  <a:ext uri="{0D108BD9-81ED-4DB2-BD59-A6C34878D82A}">
                    <a16:rowId xmlns:a16="http://schemas.microsoft.com/office/drawing/2014/main" val="2182620155"/>
                  </a:ext>
                </a:extLst>
              </a:tr>
              <a:tr h="190500">
                <a:tc>
                  <a:txBody>
                    <a:bodyPr/>
                    <a:lstStyle/>
                    <a:p>
                      <a:pPr algn="r" fontAlgn="b"/>
                      <a:r>
                        <a:rPr lang="es-NI" sz="1600" u="none" strike="noStrike">
                          <a:effectLst/>
                        </a:rPr>
                        <a:t>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190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173.36</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16.64</a:t>
                      </a:r>
                    </a:p>
                  </a:txBody>
                  <a:tcPr marL="9525" marR="9525" marT="9525" marB="0" anchor="b"/>
                </a:tc>
                <a:extLst>
                  <a:ext uri="{0D108BD9-81ED-4DB2-BD59-A6C34878D82A}">
                    <a16:rowId xmlns:a16="http://schemas.microsoft.com/office/drawing/2014/main" val="2524743183"/>
                  </a:ext>
                </a:extLst>
              </a:tr>
              <a:tr h="190500">
                <a:tc>
                  <a:txBody>
                    <a:bodyPr/>
                    <a:lstStyle/>
                    <a:p>
                      <a:pPr algn="r" fontAlgn="b"/>
                      <a:r>
                        <a:rPr lang="es-NI" sz="1600" u="none" strike="noStrike">
                          <a:effectLst/>
                        </a:rPr>
                        <a:t>6</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205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175.02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29.98</a:t>
                      </a:r>
                    </a:p>
                  </a:txBody>
                  <a:tcPr marL="9525" marR="9525" marT="9525" marB="0" anchor="b"/>
                </a:tc>
                <a:extLst>
                  <a:ext uri="{0D108BD9-81ED-4DB2-BD59-A6C34878D82A}">
                    <a16:rowId xmlns:a16="http://schemas.microsoft.com/office/drawing/2014/main" val="771014873"/>
                  </a:ext>
                </a:extLst>
              </a:tr>
              <a:tr h="190500">
                <a:tc>
                  <a:txBody>
                    <a:bodyPr/>
                    <a:lstStyle/>
                    <a:p>
                      <a:pPr algn="r" fontAlgn="b"/>
                      <a:r>
                        <a:rPr lang="es-NI" sz="1600" u="none" strike="noStrike">
                          <a:effectLst/>
                        </a:rPr>
                        <a:t>7</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178.02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1.98</a:t>
                      </a:r>
                    </a:p>
                  </a:txBody>
                  <a:tcPr marL="9525" marR="9525" marT="9525" marB="0" anchor="b"/>
                </a:tc>
                <a:extLst>
                  <a:ext uri="{0D108BD9-81ED-4DB2-BD59-A6C34878D82A}">
                    <a16:rowId xmlns:a16="http://schemas.microsoft.com/office/drawing/2014/main" val="2909015901"/>
                  </a:ext>
                </a:extLst>
              </a:tr>
              <a:tr h="190500">
                <a:tc>
                  <a:txBody>
                    <a:bodyPr/>
                    <a:lstStyle/>
                    <a:p>
                      <a:pPr algn="r" fontAlgn="b"/>
                      <a:r>
                        <a:rPr lang="es-NI" sz="1600" u="none" strike="noStrike">
                          <a:effectLst/>
                        </a:rPr>
                        <a:t>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178.22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dirty="0">
                          <a:solidFill>
                            <a:srgbClr val="000000"/>
                          </a:solidFill>
                          <a:effectLst/>
                          <a:latin typeface="Calibri" panose="020F0502020204030204" pitchFamily="34" charset="0"/>
                        </a:rPr>
                        <a:t>3.78</a:t>
                      </a:r>
                    </a:p>
                  </a:txBody>
                  <a:tcPr marL="9525" marR="9525" marT="9525" marB="0" anchor="b"/>
                </a:tc>
                <a:extLst>
                  <a:ext uri="{0D108BD9-81ED-4DB2-BD59-A6C34878D82A}">
                    <a16:rowId xmlns:a16="http://schemas.microsoft.com/office/drawing/2014/main" val="1211509571"/>
                  </a:ext>
                </a:extLst>
              </a:tr>
            </a:tbl>
          </a:graphicData>
        </a:graphic>
      </p:graphicFrame>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90399415-69E5-475D-BEDE-2358B3229344}"/>
                  </a:ext>
                </a:extLst>
              </p:cNvPr>
              <p:cNvSpPr txBox="1"/>
              <p:nvPr/>
            </p:nvSpPr>
            <p:spPr>
              <a:xfrm>
                <a:off x="4208414" y="256082"/>
                <a:ext cx="4921732" cy="714106"/>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f>
                        <m:fPr>
                          <m:ctrlPr>
                            <a:rPr lang="es-NI" sz="2400" smtClean="0">
                              <a:solidFill>
                                <a:schemeClr val="bg1"/>
                              </a:solidFill>
                              <a:latin typeface="Cambria Math" panose="02040503050406030204" pitchFamily="18" charset="0"/>
                            </a:rPr>
                          </m:ctrlPr>
                        </m:fPr>
                        <m:num>
                          <m:r>
                            <m:rPr>
                              <m:sty m:val="p"/>
                            </m:rPr>
                            <a:rPr lang="el-GR" sz="2400" i="1" smtClean="0">
                              <a:solidFill>
                                <a:schemeClr val="bg1"/>
                              </a:solidFill>
                              <a:latin typeface="Cambria Math" panose="02040503050406030204" pitchFamily="18" charset="0"/>
                            </a:rPr>
                            <m:t>Σ</m:t>
                          </m:r>
                          <m:d>
                            <m:dPr>
                              <m:begChr m:val="|"/>
                              <m:endChr m:val="|"/>
                              <m:ctrlPr>
                                <a:rPr lang="es-NI" sz="2400" i="1" smtClean="0">
                                  <a:solidFill>
                                    <a:schemeClr val="bg1"/>
                                  </a:solidFill>
                                  <a:latin typeface="Cambria Math" panose="02040503050406030204" pitchFamily="18" charset="0"/>
                                </a:rPr>
                              </m:ctrlPr>
                            </m:dPr>
                            <m:e>
                              <m:r>
                                <a:rPr lang="es-NI" sz="2400" b="0" i="1" smtClean="0">
                                  <a:solidFill>
                                    <a:schemeClr val="bg1"/>
                                  </a:solidFill>
                                  <a:latin typeface="Cambria Math" panose="02040503050406030204" pitchFamily="18" charset="0"/>
                                </a:rPr>
                                <m:t>𝐷𝑒𝑚𝑎𝑛𝑑𝑎</m:t>
                              </m:r>
                              <m:r>
                                <a:rPr lang="es-NI" sz="2400" b="0" i="1" smtClean="0">
                                  <a:solidFill>
                                    <a:schemeClr val="bg1"/>
                                  </a:solidFill>
                                  <a:latin typeface="Cambria Math" panose="02040503050406030204" pitchFamily="18" charset="0"/>
                                </a:rPr>
                                <m:t> </m:t>
                              </m:r>
                              <m:r>
                                <a:rPr lang="es-NI" sz="2400" b="0" i="1" smtClean="0">
                                  <a:solidFill>
                                    <a:schemeClr val="bg1"/>
                                  </a:solidFill>
                                  <a:latin typeface="Cambria Math" panose="02040503050406030204" pitchFamily="18" charset="0"/>
                                </a:rPr>
                                <m:t>𝑟𝑒𝑎𝑙</m:t>
                              </m:r>
                              <m:r>
                                <a:rPr lang="es-NI" sz="2400" b="0" i="1" smtClean="0">
                                  <a:solidFill>
                                    <a:schemeClr val="bg1"/>
                                  </a:solidFill>
                                  <a:latin typeface="Cambria Math" panose="02040503050406030204" pitchFamily="18" charset="0"/>
                                </a:rPr>
                                <m:t> −</m:t>
                              </m:r>
                              <m:r>
                                <a:rPr lang="es-NI" sz="2400" b="0" i="1" smtClean="0">
                                  <a:solidFill>
                                    <a:schemeClr val="bg1"/>
                                  </a:solidFill>
                                  <a:latin typeface="Cambria Math" panose="02040503050406030204" pitchFamily="18" charset="0"/>
                                </a:rPr>
                                <m:t>𝑃𝑟𝑜𝑛</m:t>
                              </m:r>
                              <m:r>
                                <a:rPr lang="es-NI" sz="2400" b="0" i="1" smtClean="0">
                                  <a:solidFill>
                                    <a:schemeClr val="bg1"/>
                                  </a:solidFill>
                                  <a:latin typeface="Cambria Math" panose="02040503050406030204" pitchFamily="18" charset="0"/>
                                </a:rPr>
                                <m:t>ó</m:t>
                              </m:r>
                              <m:r>
                                <a:rPr lang="es-NI" sz="2400" b="0" i="1" smtClean="0">
                                  <a:solidFill>
                                    <a:schemeClr val="bg1"/>
                                  </a:solidFill>
                                  <a:latin typeface="Cambria Math" panose="02040503050406030204" pitchFamily="18" charset="0"/>
                                </a:rPr>
                                <m:t>𝑠𝑡𝑖𝑐𝑜</m:t>
                              </m:r>
                            </m:e>
                          </m:d>
                        </m:num>
                        <m:den>
                          <m:r>
                            <a:rPr lang="es-NI" sz="2400" i="1">
                              <a:solidFill>
                                <a:schemeClr val="bg1"/>
                              </a:solidFill>
                              <a:latin typeface="Cambria Math" panose="02040503050406030204" pitchFamily="18" charset="0"/>
                            </a:rPr>
                            <m:t>𝑛</m:t>
                          </m:r>
                        </m:den>
                      </m:f>
                    </m:oMath>
                  </m:oMathPara>
                </a14:m>
                <a:endParaRPr lang="es-NI" sz="2400" dirty="0">
                  <a:solidFill>
                    <a:schemeClr val="bg1"/>
                  </a:solidFill>
                </a:endParaRPr>
              </a:p>
            </p:txBody>
          </p:sp>
        </mc:Choice>
        <mc:Fallback>
          <p:sp>
            <p:nvSpPr>
              <p:cNvPr id="13" name="CuadroTexto 12">
                <a:extLst>
                  <a:ext uri="{FF2B5EF4-FFF2-40B4-BE49-F238E27FC236}">
                    <a16:creationId xmlns:a16="http://schemas.microsoft.com/office/drawing/2014/main" id="{90399415-69E5-475D-BEDE-2358B3229344}"/>
                  </a:ext>
                </a:extLst>
              </p:cNvPr>
              <p:cNvSpPr txBox="1">
                <a:spLocks noRot="1" noChangeAspect="1" noMove="1" noResize="1" noEditPoints="1" noAdjustHandles="1" noChangeArrowheads="1" noChangeShapeType="1" noTextEdit="1"/>
              </p:cNvSpPr>
              <p:nvPr/>
            </p:nvSpPr>
            <p:spPr>
              <a:xfrm>
                <a:off x="4208414" y="256082"/>
                <a:ext cx="4921732" cy="714106"/>
              </a:xfrm>
              <a:prstGeom prst="rect">
                <a:avLst/>
              </a:prstGeom>
              <a:blipFill>
                <a:blip r:embed="rId3"/>
                <a:stretch>
                  <a:fillRect/>
                </a:stretch>
              </a:blipFill>
            </p:spPr>
            <p:txBody>
              <a:bodyPr/>
              <a:lstStyle/>
              <a:p>
                <a:r>
                  <a:rPr lang="es-NI">
                    <a:noFill/>
                  </a:rPr>
                  <a:t> </a:t>
                </a:r>
              </a:p>
            </p:txBody>
          </p:sp>
        </mc:Fallback>
      </mc:AlternateContent>
      <p:sp>
        <p:nvSpPr>
          <p:cNvPr id="9" name="CuadroTexto 8">
            <a:extLst>
              <a:ext uri="{FF2B5EF4-FFF2-40B4-BE49-F238E27FC236}">
                <a16:creationId xmlns:a16="http://schemas.microsoft.com/office/drawing/2014/main" id="{676F9423-85A5-48A2-AD16-A648E04D3ED1}"/>
              </a:ext>
            </a:extLst>
          </p:cNvPr>
          <p:cNvSpPr txBox="1"/>
          <p:nvPr/>
        </p:nvSpPr>
        <p:spPr>
          <a:xfrm>
            <a:off x="6980347" y="4478383"/>
            <a:ext cx="1662545" cy="369332"/>
          </a:xfrm>
          <a:prstGeom prst="rect">
            <a:avLst/>
          </a:prstGeom>
          <a:noFill/>
        </p:spPr>
        <p:txBody>
          <a:bodyPr wrap="square" rtlCol="0">
            <a:spAutoFit/>
          </a:bodyPr>
          <a:lstStyle/>
          <a:p>
            <a:r>
              <a:rPr lang="el-GR" b="1" dirty="0">
                <a:solidFill>
                  <a:schemeClr val="bg1"/>
                </a:solidFill>
              </a:rPr>
              <a:t>Σ</a:t>
            </a:r>
            <a:r>
              <a:rPr lang="es-NI" b="1" dirty="0">
                <a:solidFill>
                  <a:schemeClr val="bg1"/>
                </a:solidFill>
              </a:rPr>
              <a:t>          82.45</a:t>
            </a:r>
          </a:p>
        </p:txBody>
      </p:sp>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33200948-6C6E-47E1-9209-C75F40FF86C1}"/>
                  </a:ext>
                </a:extLst>
              </p:cNvPr>
              <p:cNvSpPr txBox="1"/>
              <p:nvPr/>
            </p:nvSpPr>
            <p:spPr>
              <a:xfrm>
                <a:off x="4520446" y="5332390"/>
                <a:ext cx="1549014" cy="539058"/>
              </a:xfrm>
              <a:prstGeom prst="rect">
                <a:avLst/>
              </a:prstGeom>
              <a:noFill/>
            </p:spPr>
            <p:txBody>
              <a:bodyPr wrap="none" lIns="0" tIns="0" rIns="0" bIns="0" rtlCol="0">
                <a:spAutoFit/>
              </a:bodyPr>
              <a:lstStyle/>
              <a:p>
                <a:r>
                  <a:rPr lang="es-NI" sz="2400" b="1" dirty="0">
                    <a:solidFill>
                      <a:schemeClr val="bg1"/>
                    </a:solidFill>
                  </a:rPr>
                  <a:t>MAD</a:t>
                </a:r>
                <a14:m>
                  <m:oMath xmlns:m="http://schemas.openxmlformats.org/officeDocument/2006/math">
                    <m:r>
                      <a:rPr lang="es-NI" sz="2400" b="1" i="0">
                        <a:solidFill>
                          <a:schemeClr val="bg1"/>
                        </a:solidFill>
                        <a:latin typeface="Cambria Math" panose="02040503050406030204" pitchFamily="18" charset="0"/>
                      </a:rPr>
                      <m:t>=</m:t>
                    </m:r>
                    <m:f>
                      <m:fPr>
                        <m:ctrlPr>
                          <a:rPr lang="es-NI" sz="2400" b="1" i="1">
                            <a:solidFill>
                              <a:schemeClr val="bg1"/>
                            </a:solidFill>
                            <a:latin typeface="Cambria Math" panose="02040503050406030204" pitchFamily="18" charset="0"/>
                          </a:rPr>
                        </m:ctrlPr>
                      </m:fPr>
                      <m:num>
                        <m:r>
                          <a:rPr lang="es-NI" sz="2400" b="1" i="0" smtClean="0">
                            <a:solidFill>
                              <a:schemeClr val="bg1"/>
                            </a:solidFill>
                            <a:latin typeface="Cambria Math" panose="02040503050406030204" pitchFamily="18" charset="0"/>
                          </a:rPr>
                          <m:t>𝟖𝟐</m:t>
                        </m:r>
                        <m:r>
                          <a:rPr lang="es-NI" sz="2400" b="1" i="0" smtClean="0">
                            <a:solidFill>
                              <a:schemeClr val="bg1"/>
                            </a:solidFill>
                            <a:latin typeface="Cambria Math" panose="02040503050406030204" pitchFamily="18" charset="0"/>
                          </a:rPr>
                          <m:t>.</m:t>
                        </m:r>
                        <m:r>
                          <a:rPr lang="es-NI" sz="2400" b="1" i="0" smtClean="0">
                            <a:solidFill>
                              <a:schemeClr val="bg1"/>
                            </a:solidFill>
                            <a:latin typeface="Cambria Math" panose="02040503050406030204" pitchFamily="18" charset="0"/>
                          </a:rPr>
                          <m:t>𝟒𝟓</m:t>
                        </m:r>
                      </m:num>
                      <m:den>
                        <m:r>
                          <a:rPr lang="es-NI" sz="2400" b="1" i="0">
                            <a:solidFill>
                              <a:schemeClr val="bg1"/>
                            </a:solidFill>
                            <a:latin typeface="Cambria Math" panose="02040503050406030204" pitchFamily="18" charset="0"/>
                          </a:rPr>
                          <m:t>𝟖</m:t>
                        </m:r>
                      </m:den>
                    </m:f>
                  </m:oMath>
                </a14:m>
                <a:endParaRPr lang="es-NI" sz="2400" b="1" dirty="0">
                  <a:solidFill>
                    <a:schemeClr val="bg1"/>
                  </a:solidFill>
                </a:endParaRPr>
              </a:p>
            </p:txBody>
          </p:sp>
        </mc:Choice>
        <mc:Fallback>
          <p:sp>
            <p:nvSpPr>
              <p:cNvPr id="15" name="CuadroTexto 14">
                <a:extLst>
                  <a:ext uri="{FF2B5EF4-FFF2-40B4-BE49-F238E27FC236}">
                    <a16:creationId xmlns:a16="http://schemas.microsoft.com/office/drawing/2014/main" id="{33200948-6C6E-47E1-9209-C75F40FF86C1}"/>
                  </a:ext>
                </a:extLst>
              </p:cNvPr>
              <p:cNvSpPr txBox="1">
                <a:spLocks noRot="1" noChangeAspect="1" noMove="1" noResize="1" noEditPoints="1" noAdjustHandles="1" noChangeArrowheads="1" noChangeShapeType="1" noTextEdit="1"/>
              </p:cNvSpPr>
              <p:nvPr/>
            </p:nvSpPr>
            <p:spPr>
              <a:xfrm>
                <a:off x="4520446" y="5332390"/>
                <a:ext cx="1549014" cy="539058"/>
              </a:xfrm>
              <a:prstGeom prst="rect">
                <a:avLst/>
              </a:prstGeom>
              <a:blipFill>
                <a:blip r:embed="rId4"/>
                <a:stretch>
                  <a:fillRect l="-12205" t="-1136" b="-19318"/>
                </a:stretch>
              </a:blipFill>
            </p:spPr>
            <p:txBody>
              <a:bodyPr/>
              <a:lstStyle/>
              <a:p>
                <a:r>
                  <a:rPr lang="es-NI">
                    <a:noFill/>
                  </a:rPr>
                  <a:t> </a:t>
                </a:r>
              </a:p>
            </p:txBody>
          </p:sp>
        </mc:Fallback>
      </mc:AlternateContent>
      <p:sp>
        <p:nvSpPr>
          <p:cNvPr id="16" name="CuadroTexto 15">
            <a:extLst>
              <a:ext uri="{FF2B5EF4-FFF2-40B4-BE49-F238E27FC236}">
                <a16:creationId xmlns:a16="http://schemas.microsoft.com/office/drawing/2014/main" id="{964021CA-FD3F-4507-94E2-07430A0FFDC8}"/>
              </a:ext>
            </a:extLst>
          </p:cNvPr>
          <p:cNvSpPr txBox="1"/>
          <p:nvPr/>
        </p:nvSpPr>
        <p:spPr>
          <a:xfrm>
            <a:off x="6168802" y="5406682"/>
            <a:ext cx="1662545" cy="369332"/>
          </a:xfrm>
          <a:prstGeom prst="rect">
            <a:avLst/>
          </a:prstGeom>
          <a:noFill/>
        </p:spPr>
        <p:txBody>
          <a:bodyPr wrap="square" rtlCol="0">
            <a:spAutoFit/>
          </a:bodyPr>
          <a:lstStyle/>
          <a:p>
            <a:r>
              <a:rPr lang="es-NI" b="1" dirty="0">
                <a:solidFill>
                  <a:schemeClr val="bg1"/>
                </a:solidFill>
              </a:rPr>
              <a:t>=  10.31</a:t>
            </a:r>
          </a:p>
        </p:txBody>
      </p:sp>
    </p:spTree>
    <p:extLst>
      <p:ext uri="{BB962C8B-B14F-4D97-AF65-F5344CB8AC3E}">
        <p14:creationId xmlns:p14="http://schemas.microsoft.com/office/powerpoint/2010/main" val="219061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367144" y="136525"/>
            <a:ext cx="3453143" cy="833663"/>
          </a:xfrm>
        </p:spPr>
        <p:txBody>
          <a:bodyPr rtlCol="0"/>
          <a:lstStyle/>
          <a:p>
            <a:pPr rtl="0"/>
            <a:r>
              <a:rPr lang="es-ES" dirty="0"/>
              <a:t>MAD - Solución</a:t>
            </a:r>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5</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61475"/>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MAD</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MSE</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MAPE</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trabajo</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90399415-69E5-475D-BEDE-2358B3229344}"/>
                  </a:ext>
                </a:extLst>
              </p:cNvPr>
              <p:cNvSpPr txBox="1"/>
              <p:nvPr/>
            </p:nvSpPr>
            <p:spPr>
              <a:xfrm>
                <a:off x="4208414" y="256082"/>
                <a:ext cx="4921732" cy="71410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NI" sz="2400" i="1" smtClean="0">
                              <a:solidFill>
                                <a:schemeClr val="bg1"/>
                              </a:solidFill>
                              <a:latin typeface="Cambria Math" panose="02040503050406030204" pitchFamily="18" charset="0"/>
                            </a:rPr>
                          </m:ctrlPr>
                        </m:fPr>
                        <m:num>
                          <m:r>
                            <m:rPr>
                              <m:sty m:val="p"/>
                            </m:rPr>
                            <a:rPr lang="el-GR" sz="2400" i="1" smtClean="0">
                              <a:solidFill>
                                <a:schemeClr val="bg1"/>
                              </a:solidFill>
                              <a:latin typeface="Cambria Math" panose="02040503050406030204" pitchFamily="18" charset="0"/>
                            </a:rPr>
                            <m:t>Σ</m:t>
                          </m:r>
                          <m:d>
                            <m:dPr>
                              <m:begChr m:val="|"/>
                              <m:endChr m:val="|"/>
                              <m:ctrlPr>
                                <a:rPr lang="es-NI" sz="2400" i="1" smtClean="0">
                                  <a:solidFill>
                                    <a:schemeClr val="bg1"/>
                                  </a:solidFill>
                                  <a:latin typeface="Cambria Math" panose="02040503050406030204" pitchFamily="18" charset="0"/>
                                </a:rPr>
                              </m:ctrlPr>
                            </m:dPr>
                            <m:e>
                              <m:r>
                                <a:rPr lang="es-NI" sz="2400" b="0" i="1" smtClean="0">
                                  <a:solidFill>
                                    <a:schemeClr val="bg1"/>
                                  </a:solidFill>
                                  <a:latin typeface="Cambria Math" panose="02040503050406030204" pitchFamily="18" charset="0"/>
                                </a:rPr>
                                <m:t>𝐷𝑒𝑚𝑎𝑛𝑑𝑎</m:t>
                              </m:r>
                              <m:r>
                                <a:rPr lang="es-NI" sz="2400" b="0" i="1" smtClean="0">
                                  <a:solidFill>
                                    <a:schemeClr val="bg1"/>
                                  </a:solidFill>
                                  <a:latin typeface="Cambria Math" panose="02040503050406030204" pitchFamily="18" charset="0"/>
                                </a:rPr>
                                <m:t> </m:t>
                              </m:r>
                              <m:r>
                                <a:rPr lang="es-NI" sz="2400" b="0" i="1" smtClean="0">
                                  <a:solidFill>
                                    <a:schemeClr val="bg1"/>
                                  </a:solidFill>
                                  <a:latin typeface="Cambria Math" panose="02040503050406030204" pitchFamily="18" charset="0"/>
                                </a:rPr>
                                <m:t>𝑟𝑒𝑎𝑙</m:t>
                              </m:r>
                              <m:r>
                                <a:rPr lang="es-NI" sz="2400" b="0" i="1" smtClean="0">
                                  <a:solidFill>
                                    <a:schemeClr val="bg1"/>
                                  </a:solidFill>
                                  <a:latin typeface="Cambria Math" panose="02040503050406030204" pitchFamily="18" charset="0"/>
                                </a:rPr>
                                <m:t> −</m:t>
                              </m:r>
                              <m:r>
                                <a:rPr lang="es-NI" sz="2400" b="0" i="1" smtClean="0">
                                  <a:solidFill>
                                    <a:schemeClr val="bg1"/>
                                  </a:solidFill>
                                  <a:latin typeface="Cambria Math" panose="02040503050406030204" pitchFamily="18" charset="0"/>
                                </a:rPr>
                                <m:t>𝑃𝑟𝑜𝑛</m:t>
                              </m:r>
                              <m:r>
                                <a:rPr lang="es-NI" sz="2400" b="0" i="1" smtClean="0">
                                  <a:solidFill>
                                    <a:schemeClr val="bg1"/>
                                  </a:solidFill>
                                  <a:latin typeface="Cambria Math" panose="02040503050406030204" pitchFamily="18" charset="0"/>
                                </a:rPr>
                                <m:t>ó</m:t>
                              </m:r>
                              <m:r>
                                <a:rPr lang="es-NI" sz="2400" b="0" i="1" smtClean="0">
                                  <a:solidFill>
                                    <a:schemeClr val="bg1"/>
                                  </a:solidFill>
                                  <a:latin typeface="Cambria Math" panose="02040503050406030204" pitchFamily="18" charset="0"/>
                                </a:rPr>
                                <m:t>𝑠𝑡𝑖𝑐𝑜</m:t>
                              </m:r>
                            </m:e>
                          </m:d>
                        </m:num>
                        <m:den>
                          <m:r>
                            <a:rPr lang="es-NI" sz="2400" i="1">
                              <a:solidFill>
                                <a:schemeClr val="bg1"/>
                              </a:solidFill>
                              <a:latin typeface="Cambria Math" panose="02040503050406030204" pitchFamily="18" charset="0"/>
                            </a:rPr>
                            <m:t>𝑛</m:t>
                          </m:r>
                        </m:den>
                      </m:f>
                    </m:oMath>
                  </m:oMathPara>
                </a14:m>
                <a:endParaRPr lang="es-NI" sz="2400" dirty="0">
                  <a:solidFill>
                    <a:schemeClr val="bg1"/>
                  </a:solidFill>
                </a:endParaRPr>
              </a:p>
            </p:txBody>
          </p:sp>
        </mc:Choice>
        <mc:Fallback>
          <p:sp>
            <p:nvSpPr>
              <p:cNvPr id="13" name="CuadroTexto 12">
                <a:extLst>
                  <a:ext uri="{FF2B5EF4-FFF2-40B4-BE49-F238E27FC236}">
                    <a16:creationId xmlns:a16="http://schemas.microsoft.com/office/drawing/2014/main" id="{90399415-69E5-475D-BEDE-2358B3229344}"/>
                  </a:ext>
                </a:extLst>
              </p:cNvPr>
              <p:cNvSpPr txBox="1">
                <a:spLocks noRot="1" noChangeAspect="1" noMove="1" noResize="1" noEditPoints="1" noAdjustHandles="1" noChangeArrowheads="1" noChangeShapeType="1" noTextEdit="1"/>
              </p:cNvSpPr>
              <p:nvPr/>
            </p:nvSpPr>
            <p:spPr>
              <a:xfrm>
                <a:off x="4208414" y="256082"/>
                <a:ext cx="4921732" cy="714106"/>
              </a:xfrm>
              <a:prstGeom prst="rect">
                <a:avLst/>
              </a:prstGeom>
              <a:blipFill>
                <a:blip r:embed="rId3"/>
                <a:stretch>
                  <a:fillRect/>
                </a:stretch>
              </a:blipFill>
            </p:spPr>
            <p:txBody>
              <a:bodyPr/>
              <a:lstStyle/>
              <a:p>
                <a:r>
                  <a:rPr lang="es-NI">
                    <a:noFill/>
                  </a:rPr>
                  <a:t> </a:t>
                </a:r>
              </a:p>
            </p:txBody>
          </p:sp>
        </mc:Fallback>
      </mc:AlternateContent>
      <p:graphicFrame>
        <p:nvGraphicFramePr>
          <p:cNvPr id="17" name="Tabla 16">
            <a:extLst>
              <a:ext uri="{FF2B5EF4-FFF2-40B4-BE49-F238E27FC236}">
                <a16:creationId xmlns:a16="http://schemas.microsoft.com/office/drawing/2014/main" id="{B24AD0A5-931D-4C45-B206-E673F96C3155}"/>
              </a:ext>
            </a:extLst>
          </p:cNvPr>
          <p:cNvGraphicFramePr>
            <a:graphicFrameLocks noGrp="1"/>
          </p:cNvGraphicFramePr>
          <p:nvPr>
            <p:extLst>
              <p:ext uri="{D42A27DB-BD31-4B8C-83A1-F6EECF244321}">
                <p14:modId xmlns:p14="http://schemas.microsoft.com/office/powerpoint/2010/main" val="3544158585"/>
              </p:ext>
            </p:extLst>
          </p:nvPr>
        </p:nvGraphicFramePr>
        <p:xfrm>
          <a:off x="3952534" y="1583447"/>
          <a:ext cx="4286932" cy="2767965"/>
        </p:xfrm>
        <a:graphic>
          <a:graphicData uri="http://schemas.openxmlformats.org/drawingml/2006/table">
            <a:tbl>
              <a:tblPr>
                <a:tableStyleId>{8A107856-5554-42FB-B03E-39F5DBC370BA}</a:tableStyleId>
              </a:tblPr>
              <a:tblGrid>
                <a:gridCol w="817718">
                  <a:extLst>
                    <a:ext uri="{9D8B030D-6E8A-4147-A177-3AD203B41FA5}">
                      <a16:colId xmlns:a16="http://schemas.microsoft.com/office/drawing/2014/main" val="277531362"/>
                    </a:ext>
                  </a:extLst>
                </a:gridCol>
                <a:gridCol w="1066800">
                  <a:extLst>
                    <a:ext uri="{9D8B030D-6E8A-4147-A177-3AD203B41FA5}">
                      <a16:colId xmlns:a16="http://schemas.microsoft.com/office/drawing/2014/main" val="231389117"/>
                    </a:ext>
                  </a:extLst>
                </a:gridCol>
                <a:gridCol w="928255">
                  <a:extLst>
                    <a:ext uri="{9D8B030D-6E8A-4147-A177-3AD203B41FA5}">
                      <a16:colId xmlns:a16="http://schemas.microsoft.com/office/drawing/2014/main" val="43613787"/>
                    </a:ext>
                  </a:extLst>
                </a:gridCol>
                <a:gridCol w="1474159">
                  <a:extLst>
                    <a:ext uri="{9D8B030D-6E8A-4147-A177-3AD203B41FA5}">
                      <a16:colId xmlns:a16="http://schemas.microsoft.com/office/drawing/2014/main" val="2575429023"/>
                    </a:ext>
                  </a:extLst>
                </a:gridCol>
              </a:tblGrid>
              <a:tr h="190500">
                <a:tc>
                  <a:txBody>
                    <a:bodyPr/>
                    <a:lstStyle/>
                    <a:p>
                      <a:pPr algn="l" fontAlgn="b"/>
                      <a:r>
                        <a:rPr lang="es-NI" sz="1600" u="none" strike="noStrike">
                          <a:effectLst/>
                        </a:rPr>
                        <a:t>Trimestre</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Toneladas reales descargadas</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dirty="0">
                          <a:effectLst/>
                        </a:rPr>
                        <a:t>Pronóstico para 0.5</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NI" sz="1600" u="none" strike="noStrike" dirty="0">
                          <a:effectLst/>
                        </a:rPr>
                        <a:t>|</a:t>
                      </a:r>
                      <a:r>
                        <a:rPr lang="es-NI" sz="1600" u="none" strike="noStrike" dirty="0" err="1">
                          <a:effectLst/>
                        </a:rPr>
                        <a:t>Dreal-prom</a:t>
                      </a:r>
                      <a:r>
                        <a:rPr lang="es-NI" sz="1600" u="none" strike="noStrike" dirty="0">
                          <a:effectLst/>
                        </a:rPr>
                        <a:t>|</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60691669"/>
                  </a:ext>
                </a:extLst>
              </a:tr>
              <a:tr h="190500">
                <a:tc>
                  <a:txBody>
                    <a:bodyPr/>
                    <a:lstStyle/>
                    <a:p>
                      <a:pPr algn="r" fontAlgn="b"/>
                      <a:r>
                        <a:rPr lang="es-NI" sz="1600" u="none" strike="noStrike">
                          <a:effectLst/>
                        </a:rPr>
                        <a:t>1</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175</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5</a:t>
                      </a:r>
                    </a:p>
                  </a:txBody>
                  <a:tcPr marL="9525" marR="9525" marT="9525" marB="0" anchor="b"/>
                </a:tc>
                <a:extLst>
                  <a:ext uri="{0D108BD9-81ED-4DB2-BD59-A6C34878D82A}">
                    <a16:rowId xmlns:a16="http://schemas.microsoft.com/office/drawing/2014/main" val="2008788952"/>
                  </a:ext>
                </a:extLst>
              </a:tr>
              <a:tr h="190500">
                <a:tc>
                  <a:txBody>
                    <a:bodyPr/>
                    <a:lstStyle/>
                    <a:p>
                      <a:pPr algn="r" fontAlgn="b"/>
                      <a:r>
                        <a:rPr lang="es-NI" sz="1600" u="none" strike="noStrike">
                          <a:effectLst/>
                        </a:rPr>
                        <a:t>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168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9.5</a:t>
                      </a:r>
                    </a:p>
                  </a:txBody>
                  <a:tcPr marL="9525" marR="9525" marT="9525" marB="0" anchor="b"/>
                </a:tc>
                <a:extLst>
                  <a:ext uri="{0D108BD9-81ED-4DB2-BD59-A6C34878D82A}">
                    <a16:rowId xmlns:a16="http://schemas.microsoft.com/office/drawing/2014/main" val="1383133737"/>
                  </a:ext>
                </a:extLst>
              </a:tr>
              <a:tr h="190500">
                <a:tc>
                  <a:txBody>
                    <a:bodyPr/>
                    <a:lstStyle/>
                    <a:p>
                      <a:pPr algn="r" fontAlgn="b"/>
                      <a:r>
                        <a:rPr lang="es-NI" sz="1600" u="none" strike="noStrike">
                          <a:effectLst/>
                        </a:rPr>
                        <a:t>3</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159</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172.75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13.75</a:t>
                      </a:r>
                    </a:p>
                  </a:txBody>
                  <a:tcPr marL="9525" marR="9525" marT="9525" marB="0" anchor="b"/>
                </a:tc>
                <a:extLst>
                  <a:ext uri="{0D108BD9-81ED-4DB2-BD59-A6C34878D82A}">
                    <a16:rowId xmlns:a16="http://schemas.microsoft.com/office/drawing/2014/main" val="391698886"/>
                  </a:ext>
                </a:extLst>
              </a:tr>
              <a:tr h="190500">
                <a:tc>
                  <a:txBody>
                    <a:bodyPr/>
                    <a:lstStyle/>
                    <a:p>
                      <a:pPr algn="r" fontAlgn="b"/>
                      <a:r>
                        <a:rPr lang="es-NI" sz="1600" u="none" strike="noStrike">
                          <a:effectLst/>
                        </a:rPr>
                        <a:t>4</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165.88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9.12</a:t>
                      </a:r>
                    </a:p>
                  </a:txBody>
                  <a:tcPr marL="9525" marR="9525" marT="9525" marB="0" anchor="b"/>
                </a:tc>
                <a:extLst>
                  <a:ext uri="{0D108BD9-81ED-4DB2-BD59-A6C34878D82A}">
                    <a16:rowId xmlns:a16="http://schemas.microsoft.com/office/drawing/2014/main" val="2182620155"/>
                  </a:ext>
                </a:extLst>
              </a:tr>
              <a:tr h="190500">
                <a:tc>
                  <a:txBody>
                    <a:bodyPr/>
                    <a:lstStyle/>
                    <a:p>
                      <a:pPr algn="r" fontAlgn="b"/>
                      <a:r>
                        <a:rPr lang="es-NI" sz="1600" u="none" strike="noStrike" dirty="0">
                          <a:effectLst/>
                        </a:rPr>
                        <a:t>5</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190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170.44</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19.56</a:t>
                      </a:r>
                    </a:p>
                  </a:txBody>
                  <a:tcPr marL="9525" marR="9525" marT="9525" marB="0" anchor="b"/>
                </a:tc>
                <a:extLst>
                  <a:ext uri="{0D108BD9-81ED-4DB2-BD59-A6C34878D82A}">
                    <a16:rowId xmlns:a16="http://schemas.microsoft.com/office/drawing/2014/main" val="2524743183"/>
                  </a:ext>
                </a:extLst>
              </a:tr>
              <a:tr h="190500">
                <a:tc>
                  <a:txBody>
                    <a:bodyPr/>
                    <a:lstStyle/>
                    <a:p>
                      <a:pPr algn="r" fontAlgn="b"/>
                      <a:r>
                        <a:rPr lang="es-NI" sz="1600" u="none" strike="noStrike">
                          <a:effectLst/>
                        </a:rPr>
                        <a:t>6</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205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180.22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24.78</a:t>
                      </a:r>
                    </a:p>
                  </a:txBody>
                  <a:tcPr marL="9525" marR="9525" marT="9525" marB="0" anchor="b"/>
                </a:tc>
                <a:extLst>
                  <a:ext uri="{0D108BD9-81ED-4DB2-BD59-A6C34878D82A}">
                    <a16:rowId xmlns:a16="http://schemas.microsoft.com/office/drawing/2014/main" val="771014873"/>
                  </a:ext>
                </a:extLst>
              </a:tr>
              <a:tr h="190500">
                <a:tc>
                  <a:txBody>
                    <a:bodyPr/>
                    <a:lstStyle/>
                    <a:p>
                      <a:pPr algn="r" fontAlgn="b"/>
                      <a:r>
                        <a:rPr lang="es-NI" sz="1600" u="none" strike="noStrike">
                          <a:effectLst/>
                        </a:rPr>
                        <a:t>7</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192.61</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12.61</a:t>
                      </a:r>
                    </a:p>
                  </a:txBody>
                  <a:tcPr marL="9525" marR="9525" marT="9525" marB="0" anchor="b"/>
                </a:tc>
                <a:extLst>
                  <a:ext uri="{0D108BD9-81ED-4DB2-BD59-A6C34878D82A}">
                    <a16:rowId xmlns:a16="http://schemas.microsoft.com/office/drawing/2014/main" val="2909015901"/>
                  </a:ext>
                </a:extLst>
              </a:tr>
              <a:tr h="190500">
                <a:tc>
                  <a:txBody>
                    <a:bodyPr/>
                    <a:lstStyle/>
                    <a:p>
                      <a:pPr algn="r" fontAlgn="b"/>
                      <a:r>
                        <a:rPr lang="es-NI" sz="1600" u="none" strike="noStrike">
                          <a:effectLst/>
                        </a:rPr>
                        <a:t>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186.3</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dirty="0">
                          <a:solidFill>
                            <a:srgbClr val="000000"/>
                          </a:solidFill>
                          <a:effectLst/>
                          <a:latin typeface="Calibri" panose="020F0502020204030204" pitchFamily="34" charset="0"/>
                        </a:rPr>
                        <a:t>4.3</a:t>
                      </a:r>
                    </a:p>
                  </a:txBody>
                  <a:tcPr marL="9525" marR="9525" marT="9525" marB="0" anchor="b"/>
                </a:tc>
                <a:extLst>
                  <a:ext uri="{0D108BD9-81ED-4DB2-BD59-A6C34878D82A}">
                    <a16:rowId xmlns:a16="http://schemas.microsoft.com/office/drawing/2014/main" val="1211509571"/>
                  </a:ext>
                </a:extLst>
              </a:tr>
            </a:tbl>
          </a:graphicData>
        </a:graphic>
      </p:graphicFrame>
      <p:sp>
        <p:nvSpPr>
          <p:cNvPr id="19" name="CuadroTexto 18">
            <a:extLst>
              <a:ext uri="{FF2B5EF4-FFF2-40B4-BE49-F238E27FC236}">
                <a16:creationId xmlns:a16="http://schemas.microsoft.com/office/drawing/2014/main" id="{CBAE26CB-700E-4016-9387-E18800AEFD60}"/>
              </a:ext>
            </a:extLst>
          </p:cNvPr>
          <p:cNvSpPr txBox="1"/>
          <p:nvPr/>
        </p:nvSpPr>
        <p:spPr>
          <a:xfrm>
            <a:off x="6834580" y="4401087"/>
            <a:ext cx="1404886" cy="369332"/>
          </a:xfrm>
          <a:prstGeom prst="rect">
            <a:avLst/>
          </a:prstGeom>
          <a:noFill/>
        </p:spPr>
        <p:txBody>
          <a:bodyPr wrap="square" rtlCol="0">
            <a:spAutoFit/>
          </a:bodyPr>
          <a:lstStyle/>
          <a:p>
            <a:r>
              <a:rPr lang="el-GR" b="1" dirty="0">
                <a:solidFill>
                  <a:schemeClr val="bg1"/>
                </a:solidFill>
              </a:rPr>
              <a:t>Σ</a:t>
            </a:r>
            <a:r>
              <a:rPr lang="es-NI" b="1" dirty="0">
                <a:solidFill>
                  <a:schemeClr val="bg1"/>
                </a:solidFill>
              </a:rPr>
              <a:t>           98.62</a:t>
            </a:r>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CD13B48A-0A14-4967-B6DC-3D631E3A1C5A}"/>
                  </a:ext>
                </a:extLst>
              </p:cNvPr>
              <p:cNvSpPr txBox="1"/>
              <p:nvPr/>
            </p:nvSpPr>
            <p:spPr>
              <a:xfrm>
                <a:off x="4928565" y="5270495"/>
                <a:ext cx="1549014" cy="533608"/>
              </a:xfrm>
              <a:prstGeom prst="rect">
                <a:avLst/>
              </a:prstGeom>
              <a:noFill/>
            </p:spPr>
            <p:txBody>
              <a:bodyPr wrap="none" lIns="0" tIns="0" rIns="0" bIns="0" rtlCol="0">
                <a:spAutoFit/>
              </a:bodyPr>
              <a:lstStyle/>
              <a:p>
                <a:r>
                  <a:rPr lang="es-NI" sz="2400" b="1" dirty="0">
                    <a:solidFill>
                      <a:schemeClr val="bg1"/>
                    </a:solidFill>
                  </a:rPr>
                  <a:t>MAD</a:t>
                </a:r>
                <a14:m>
                  <m:oMath xmlns:m="http://schemas.openxmlformats.org/officeDocument/2006/math">
                    <m:r>
                      <a:rPr lang="es-NI" sz="2400" b="1" i="0">
                        <a:solidFill>
                          <a:schemeClr val="bg1"/>
                        </a:solidFill>
                        <a:latin typeface="Cambria Math" panose="02040503050406030204" pitchFamily="18" charset="0"/>
                      </a:rPr>
                      <m:t>=</m:t>
                    </m:r>
                    <m:f>
                      <m:fPr>
                        <m:ctrlPr>
                          <a:rPr lang="es-NI" sz="2400" b="1" i="1">
                            <a:solidFill>
                              <a:schemeClr val="bg1"/>
                            </a:solidFill>
                            <a:latin typeface="Cambria Math" panose="02040503050406030204" pitchFamily="18" charset="0"/>
                          </a:rPr>
                        </m:ctrlPr>
                      </m:fPr>
                      <m:num>
                        <m:r>
                          <a:rPr lang="es-NI" sz="2400" b="1" i="1" smtClean="0">
                            <a:solidFill>
                              <a:schemeClr val="bg1"/>
                            </a:solidFill>
                            <a:latin typeface="Cambria Math" panose="02040503050406030204" pitchFamily="18" charset="0"/>
                          </a:rPr>
                          <m:t>𝟗𝟖</m:t>
                        </m:r>
                        <m:r>
                          <a:rPr lang="es-NI" sz="2400" b="1" i="1" smtClean="0">
                            <a:solidFill>
                              <a:schemeClr val="bg1"/>
                            </a:solidFill>
                            <a:latin typeface="Cambria Math" panose="02040503050406030204" pitchFamily="18" charset="0"/>
                          </a:rPr>
                          <m:t>.</m:t>
                        </m:r>
                        <m:r>
                          <a:rPr lang="es-NI" sz="2400" b="1" i="1" smtClean="0">
                            <a:solidFill>
                              <a:schemeClr val="bg1"/>
                            </a:solidFill>
                            <a:latin typeface="Cambria Math" panose="02040503050406030204" pitchFamily="18" charset="0"/>
                          </a:rPr>
                          <m:t>𝟔𝟐</m:t>
                        </m:r>
                      </m:num>
                      <m:den>
                        <m:r>
                          <a:rPr lang="es-NI" sz="2400" b="1" i="0">
                            <a:solidFill>
                              <a:schemeClr val="bg1"/>
                            </a:solidFill>
                            <a:latin typeface="Cambria Math" panose="02040503050406030204" pitchFamily="18" charset="0"/>
                          </a:rPr>
                          <m:t>𝟖</m:t>
                        </m:r>
                      </m:den>
                    </m:f>
                  </m:oMath>
                </a14:m>
                <a:endParaRPr lang="es-NI" sz="2400" b="1" dirty="0">
                  <a:solidFill>
                    <a:schemeClr val="bg1"/>
                  </a:solidFill>
                </a:endParaRPr>
              </a:p>
            </p:txBody>
          </p:sp>
        </mc:Choice>
        <mc:Fallback>
          <p:sp>
            <p:nvSpPr>
              <p:cNvPr id="20" name="CuadroTexto 19">
                <a:extLst>
                  <a:ext uri="{FF2B5EF4-FFF2-40B4-BE49-F238E27FC236}">
                    <a16:creationId xmlns:a16="http://schemas.microsoft.com/office/drawing/2014/main" id="{CD13B48A-0A14-4967-B6DC-3D631E3A1C5A}"/>
                  </a:ext>
                </a:extLst>
              </p:cNvPr>
              <p:cNvSpPr txBox="1">
                <a:spLocks noRot="1" noChangeAspect="1" noMove="1" noResize="1" noEditPoints="1" noAdjustHandles="1" noChangeArrowheads="1" noChangeShapeType="1" noTextEdit="1"/>
              </p:cNvSpPr>
              <p:nvPr/>
            </p:nvSpPr>
            <p:spPr>
              <a:xfrm>
                <a:off x="4928565" y="5270495"/>
                <a:ext cx="1549014" cy="533608"/>
              </a:xfrm>
              <a:prstGeom prst="rect">
                <a:avLst/>
              </a:prstGeom>
              <a:blipFill>
                <a:blip r:embed="rId4"/>
                <a:stretch>
                  <a:fillRect l="-11765" t="-2299" b="-19540"/>
                </a:stretch>
              </a:blipFill>
            </p:spPr>
            <p:txBody>
              <a:bodyPr/>
              <a:lstStyle/>
              <a:p>
                <a:r>
                  <a:rPr lang="es-NI">
                    <a:noFill/>
                  </a:rPr>
                  <a:t> </a:t>
                </a:r>
              </a:p>
            </p:txBody>
          </p:sp>
        </mc:Fallback>
      </mc:AlternateContent>
      <p:sp>
        <p:nvSpPr>
          <p:cNvPr id="21" name="CuadroTexto 20">
            <a:extLst>
              <a:ext uri="{FF2B5EF4-FFF2-40B4-BE49-F238E27FC236}">
                <a16:creationId xmlns:a16="http://schemas.microsoft.com/office/drawing/2014/main" id="{B1FB383F-03F2-4D47-BC64-07E6AF2D0EC3}"/>
              </a:ext>
            </a:extLst>
          </p:cNvPr>
          <p:cNvSpPr txBox="1"/>
          <p:nvPr/>
        </p:nvSpPr>
        <p:spPr>
          <a:xfrm>
            <a:off x="6576921" y="5344787"/>
            <a:ext cx="1662545" cy="369332"/>
          </a:xfrm>
          <a:prstGeom prst="rect">
            <a:avLst/>
          </a:prstGeom>
          <a:noFill/>
        </p:spPr>
        <p:txBody>
          <a:bodyPr wrap="square" rtlCol="0">
            <a:spAutoFit/>
          </a:bodyPr>
          <a:lstStyle/>
          <a:p>
            <a:r>
              <a:rPr lang="es-NI" b="1" dirty="0">
                <a:solidFill>
                  <a:schemeClr val="bg1"/>
                </a:solidFill>
              </a:rPr>
              <a:t>=  12.33</a:t>
            </a:r>
          </a:p>
        </p:txBody>
      </p:sp>
    </p:spTree>
    <p:extLst>
      <p:ext uri="{BB962C8B-B14F-4D97-AF65-F5344CB8AC3E}">
        <p14:creationId xmlns:p14="http://schemas.microsoft.com/office/powerpoint/2010/main" val="3632682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367144" y="136525"/>
            <a:ext cx="3453143" cy="833663"/>
          </a:xfrm>
        </p:spPr>
        <p:txBody>
          <a:bodyPr rtlCol="0"/>
          <a:lstStyle/>
          <a:p>
            <a:pPr rtl="0"/>
            <a:r>
              <a:rPr lang="es-ES" dirty="0"/>
              <a:t>MSE - Ejemplo</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367143" y="1299989"/>
            <a:ext cx="11603183" cy="1237783"/>
          </a:xfrm>
        </p:spPr>
        <p:txBody>
          <a:bodyPr rtlCol="0"/>
          <a:lstStyle/>
          <a:p>
            <a:pPr marL="0" indent="0" algn="just" rtl="0">
              <a:buNone/>
            </a:pPr>
            <a:r>
              <a:rPr lang="es-ES" noProof="1"/>
              <a:t>Durante los últimos 8 trimestres en el puerto de baltimore se ha descargado de los barcos grandes cantidades de granos, el administrador del puerto emplea la técnica de suavizado exponencial para ver qué tan bien funciona la técnica para pronosticar el tonela descargado. Se examinaron dos constantes de suavizado, 0.1 y 0.5</a:t>
            </a:r>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6</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MAD</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361476"/>
            <a:ext cx="2552123" cy="360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MSE</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MAPE</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trabajo</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4940744"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aphicFrame>
        <p:nvGraphicFramePr>
          <p:cNvPr id="5" name="Tabla 4">
            <a:extLst>
              <a:ext uri="{FF2B5EF4-FFF2-40B4-BE49-F238E27FC236}">
                <a16:creationId xmlns:a16="http://schemas.microsoft.com/office/drawing/2014/main" id="{7438CB6A-52CA-4409-8BDF-A10312A8835F}"/>
              </a:ext>
            </a:extLst>
          </p:cNvPr>
          <p:cNvGraphicFramePr>
            <a:graphicFrameLocks noGrp="1"/>
          </p:cNvGraphicFramePr>
          <p:nvPr>
            <p:extLst>
              <p:ext uri="{D42A27DB-BD31-4B8C-83A1-F6EECF244321}">
                <p14:modId xmlns:p14="http://schemas.microsoft.com/office/powerpoint/2010/main" val="2277039442"/>
              </p:ext>
            </p:extLst>
          </p:nvPr>
        </p:nvGraphicFramePr>
        <p:xfrm>
          <a:off x="392675" y="2705909"/>
          <a:ext cx="3133436" cy="2767965"/>
        </p:xfrm>
        <a:graphic>
          <a:graphicData uri="http://schemas.openxmlformats.org/drawingml/2006/table">
            <a:tbl>
              <a:tblPr>
                <a:tableStyleId>{8A107856-5554-42FB-B03E-39F5DBC370BA}</a:tableStyleId>
              </a:tblPr>
              <a:tblGrid>
                <a:gridCol w="944418">
                  <a:extLst>
                    <a:ext uri="{9D8B030D-6E8A-4147-A177-3AD203B41FA5}">
                      <a16:colId xmlns:a16="http://schemas.microsoft.com/office/drawing/2014/main" val="277531362"/>
                    </a:ext>
                  </a:extLst>
                </a:gridCol>
                <a:gridCol w="1219200">
                  <a:extLst>
                    <a:ext uri="{9D8B030D-6E8A-4147-A177-3AD203B41FA5}">
                      <a16:colId xmlns:a16="http://schemas.microsoft.com/office/drawing/2014/main" val="231389117"/>
                    </a:ext>
                  </a:extLst>
                </a:gridCol>
                <a:gridCol w="969818">
                  <a:extLst>
                    <a:ext uri="{9D8B030D-6E8A-4147-A177-3AD203B41FA5}">
                      <a16:colId xmlns:a16="http://schemas.microsoft.com/office/drawing/2014/main" val="997158119"/>
                    </a:ext>
                  </a:extLst>
                </a:gridCol>
              </a:tblGrid>
              <a:tr h="190500">
                <a:tc>
                  <a:txBody>
                    <a:bodyPr/>
                    <a:lstStyle/>
                    <a:p>
                      <a:pPr algn="l" fontAlgn="b"/>
                      <a:r>
                        <a:rPr lang="es-NI" sz="1600" u="none" strike="noStrike">
                          <a:effectLst/>
                        </a:rPr>
                        <a:t>Trimestre</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Toneladas reales descargadas</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Pronísto para 0.1</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60691669"/>
                  </a:ext>
                </a:extLst>
              </a:tr>
              <a:tr h="190500">
                <a:tc>
                  <a:txBody>
                    <a:bodyPr/>
                    <a:lstStyle/>
                    <a:p>
                      <a:pPr algn="r" fontAlgn="b"/>
                      <a:r>
                        <a:rPr lang="es-NI" sz="1600" u="none" strike="noStrike">
                          <a:effectLst/>
                        </a:rPr>
                        <a:t>1</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08788952"/>
                  </a:ext>
                </a:extLst>
              </a:tr>
              <a:tr h="190500">
                <a:tc>
                  <a:txBody>
                    <a:bodyPr/>
                    <a:lstStyle/>
                    <a:p>
                      <a:pPr algn="r" fontAlgn="b"/>
                      <a:r>
                        <a:rPr lang="es-NI" sz="1600" u="none" strike="noStrike">
                          <a:effectLst/>
                        </a:rPr>
                        <a:t>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168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175.5</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83133737"/>
                  </a:ext>
                </a:extLst>
              </a:tr>
              <a:tr h="190500">
                <a:tc>
                  <a:txBody>
                    <a:bodyPr/>
                    <a:lstStyle/>
                    <a:p>
                      <a:pPr algn="r" fontAlgn="b"/>
                      <a:r>
                        <a:rPr lang="es-NI" sz="1600" u="none" strike="noStrike">
                          <a:effectLst/>
                        </a:rPr>
                        <a:t>3</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159</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174.75</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1698886"/>
                  </a:ext>
                </a:extLst>
              </a:tr>
              <a:tr h="190500">
                <a:tc>
                  <a:txBody>
                    <a:bodyPr/>
                    <a:lstStyle/>
                    <a:p>
                      <a:pPr algn="r" fontAlgn="b"/>
                      <a:r>
                        <a:rPr lang="es-NI" sz="1600" u="none" strike="noStrike">
                          <a:effectLst/>
                        </a:rPr>
                        <a:t>4</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173.18</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82620155"/>
                  </a:ext>
                </a:extLst>
              </a:tr>
              <a:tr h="190500">
                <a:tc>
                  <a:txBody>
                    <a:bodyPr/>
                    <a:lstStyle/>
                    <a:p>
                      <a:pPr algn="r" fontAlgn="b"/>
                      <a:r>
                        <a:rPr lang="es-NI" sz="1600" u="none" strike="noStrike">
                          <a:effectLst/>
                        </a:rPr>
                        <a:t>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190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173.36</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24743183"/>
                  </a:ext>
                </a:extLst>
              </a:tr>
              <a:tr h="190500">
                <a:tc>
                  <a:txBody>
                    <a:bodyPr/>
                    <a:lstStyle/>
                    <a:p>
                      <a:pPr algn="r" fontAlgn="b"/>
                      <a:r>
                        <a:rPr lang="es-NI" sz="1600" u="none" strike="noStrike">
                          <a:effectLst/>
                        </a:rPr>
                        <a:t>6</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205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175.02</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71014873"/>
                  </a:ext>
                </a:extLst>
              </a:tr>
              <a:tr h="190500">
                <a:tc>
                  <a:txBody>
                    <a:bodyPr/>
                    <a:lstStyle/>
                    <a:p>
                      <a:pPr algn="r" fontAlgn="b"/>
                      <a:r>
                        <a:rPr lang="es-NI" sz="1600" u="none" strike="noStrike">
                          <a:effectLst/>
                        </a:rPr>
                        <a:t>7</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178.02</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09015901"/>
                  </a:ext>
                </a:extLst>
              </a:tr>
              <a:tr h="190500">
                <a:tc>
                  <a:txBody>
                    <a:bodyPr/>
                    <a:lstStyle/>
                    <a:p>
                      <a:pPr algn="r" fontAlgn="b"/>
                      <a:r>
                        <a:rPr lang="es-NI" sz="1600" u="none" strike="noStrike">
                          <a:effectLst/>
                        </a:rPr>
                        <a:t>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178.22</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11509571"/>
                  </a:ext>
                </a:extLst>
              </a:tr>
            </a:tbl>
          </a:graphicData>
        </a:graphic>
      </p:graphicFrame>
    </p:spTree>
    <p:extLst>
      <p:ext uri="{BB962C8B-B14F-4D97-AF65-F5344CB8AC3E}">
        <p14:creationId xmlns:p14="http://schemas.microsoft.com/office/powerpoint/2010/main" val="1054691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367144" y="136525"/>
            <a:ext cx="3453143" cy="833663"/>
          </a:xfrm>
        </p:spPr>
        <p:txBody>
          <a:bodyPr rtlCol="0"/>
          <a:lstStyle/>
          <a:p>
            <a:pPr rtl="0"/>
            <a:r>
              <a:rPr lang="es-ES" dirty="0"/>
              <a:t>MSE - Solución</a:t>
            </a:r>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7</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MAD</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361476"/>
            <a:ext cx="2552123" cy="360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MSE</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MAPE</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trabajo</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4940744"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aphicFrame>
        <p:nvGraphicFramePr>
          <p:cNvPr id="5" name="Tabla 4">
            <a:extLst>
              <a:ext uri="{FF2B5EF4-FFF2-40B4-BE49-F238E27FC236}">
                <a16:creationId xmlns:a16="http://schemas.microsoft.com/office/drawing/2014/main" id="{7438CB6A-52CA-4409-8BDF-A10312A8835F}"/>
              </a:ext>
            </a:extLst>
          </p:cNvPr>
          <p:cNvGraphicFramePr>
            <a:graphicFrameLocks noGrp="1"/>
          </p:cNvGraphicFramePr>
          <p:nvPr>
            <p:extLst>
              <p:ext uri="{D42A27DB-BD31-4B8C-83A1-F6EECF244321}">
                <p14:modId xmlns:p14="http://schemas.microsoft.com/office/powerpoint/2010/main" val="2121410080"/>
              </p:ext>
            </p:extLst>
          </p:nvPr>
        </p:nvGraphicFramePr>
        <p:xfrm>
          <a:off x="3941616" y="1680673"/>
          <a:ext cx="4052456" cy="2767965"/>
        </p:xfrm>
        <a:graphic>
          <a:graphicData uri="http://schemas.openxmlformats.org/drawingml/2006/table">
            <a:tbl>
              <a:tblPr>
                <a:tableStyleId>{8A107856-5554-42FB-B03E-39F5DBC370BA}</a:tableStyleId>
              </a:tblPr>
              <a:tblGrid>
                <a:gridCol w="852056">
                  <a:extLst>
                    <a:ext uri="{9D8B030D-6E8A-4147-A177-3AD203B41FA5}">
                      <a16:colId xmlns:a16="http://schemas.microsoft.com/office/drawing/2014/main" val="277531362"/>
                    </a:ext>
                  </a:extLst>
                </a:gridCol>
                <a:gridCol w="1108364">
                  <a:extLst>
                    <a:ext uri="{9D8B030D-6E8A-4147-A177-3AD203B41FA5}">
                      <a16:colId xmlns:a16="http://schemas.microsoft.com/office/drawing/2014/main" val="231389117"/>
                    </a:ext>
                  </a:extLst>
                </a:gridCol>
                <a:gridCol w="858981">
                  <a:extLst>
                    <a:ext uri="{9D8B030D-6E8A-4147-A177-3AD203B41FA5}">
                      <a16:colId xmlns:a16="http://schemas.microsoft.com/office/drawing/2014/main" val="997158119"/>
                    </a:ext>
                  </a:extLst>
                </a:gridCol>
                <a:gridCol w="1233055">
                  <a:extLst>
                    <a:ext uri="{9D8B030D-6E8A-4147-A177-3AD203B41FA5}">
                      <a16:colId xmlns:a16="http://schemas.microsoft.com/office/drawing/2014/main" val="1543566778"/>
                    </a:ext>
                  </a:extLst>
                </a:gridCol>
              </a:tblGrid>
              <a:tr h="190500">
                <a:tc>
                  <a:txBody>
                    <a:bodyPr/>
                    <a:lstStyle/>
                    <a:p>
                      <a:pPr algn="l" fontAlgn="b"/>
                      <a:r>
                        <a:rPr lang="es-NI" sz="1600" u="none" strike="noStrike">
                          <a:effectLst/>
                        </a:rPr>
                        <a:t>Trimestre</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Toneladas reales descargadas</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dirty="0" err="1">
                          <a:effectLst/>
                        </a:rPr>
                        <a:t>Pronísto</a:t>
                      </a:r>
                      <a:r>
                        <a:rPr lang="es-NI" sz="1600" u="none" strike="noStrike" dirty="0">
                          <a:effectLst/>
                        </a:rPr>
                        <a:t> para 0.1</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NI" sz="1600" b="0" i="0" u="none" strike="noStrike" dirty="0">
                          <a:solidFill>
                            <a:srgbClr val="000000"/>
                          </a:solidFill>
                          <a:effectLst/>
                          <a:latin typeface="Calibri" panose="020F0502020204030204" pitchFamily="34" charset="0"/>
                        </a:rPr>
                        <a:t>(</a:t>
                      </a:r>
                      <a:r>
                        <a:rPr lang="es-NI" sz="1600" b="0" i="0" u="none" strike="noStrike" dirty="0" err="1">
                          <a:solidFill>
                            <a:srgbClr val="000000"/>
                          </a:solidFill>
                          <a:effectLst/>
                          <a:latin typeface="Calibri" panose="020F0502020204030204" pitchFamily="34" charset="0"/>
                        </a:rPr>
                        <a:t>Dreal-Pron</a:t>
                      </a:r>
                      <a:r>
                        <a:rPr lang="es-NI" sz="1600" b="0" i="0" u="none" strike="noStrike" dirty="0">
                          <a:solidFill>
                            <a:srgbClr val="000000"/>
                          </a:solidFill>
                          <a:effectLst/>
                          <a:latin typeface="Calibri" panose="020F0502020204030204" pitchFamily="34" charset="0"/>
                        </a:rPr>
                        <a:t>)</a:t>
                      </a:r>
                      <a:r>
                        <a:rPr lang="es-NI" sz="1600" b="0" i="0" u="none" strike="noStrike" baseline="30000" dirty="0">
                          <a:solidFill>
                            <a:srgbClr val="000000"/>
                          </a:solidFill>
                          <a:effectLst/>
                          <a:latin typeface="Calibri" panose="020F0502020204030204" pitchFamily="34" charset="0"/>
                        </a:rPr>
                        <a:t>2</a:t>
                      </a:r>
                    </a:p>
                  </a:txBody>
                  <a:tcPr marL="9525" marR="9525" marT="9525" marB="0" anchor="b"/>
                </a:tc>
                <a:extLst>
                  <a:ext uri="{0D108BD9-81ED-4DB2-BD59-A6C34878D82A}">
                    <a16:rowId xmlns:a16="http://schemas.microsoft.com/office/drawing/2014/main" val="460691669"/>
                  </a:ext>
                </a:extLst>
              </a:tr>
              <a:tr h="190500">
                <a:tc>
                  <a:txBody>
                    <a:bodyPr/>
                    <a:lstStyle/>
                    <a:p>
                      <a:pPr algn="r" fontAlgn="b"/>
                      <a:r>
                        <a:rPr lang="es-NI" sz="1600" u="none" strike="noStrike">
                          <a:effectLst/>
                        </a:rPr>
                        <a:t>1</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25</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08788952"/>
                  </a:ext>
                </a:extLst>
              </a:tr>
              <a:tr h="190500">
                <a:tc>
                  <a:txBody>
                    <a:bodyPr/>
                    <a:lstStyle/>
                    <a:p>
                      <a:pPr algn="r" fontAlgn="b"/>
                      <a:r>
                        <a:rPr lang="es-NI" sz="1600" u="none" strike="noStrike">
                          <a:effectLst/>
                        </a:rPr>
                        <a:t>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168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56.25</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83133737"/>
                  </a:ext>
                </a:extLst>
              </a:tr>
              <a:tr h="190500">
                <a:tc>
                  <a:txBody>
                    <a:bodyPr/>
                    <a:lstStyle/>
                    <a:p>
                      <a:pPr algn="r" fontAlgn="b"/>
                      <a:r>
                        <a:rPr lang="es-NI" sz="1600" u="none" strike="noStrike">
                          <a:effectLst/>
                        </a:rPr>
                        <a:t>3</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159</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174.75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248.0625</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1698886"/>
                  </a:ext>
                </a:extLst>
              </a:tr>
              <a:tr h="190500">
                <a:tc>
                  <a:txBody>
                    <a:bodyPr/>
                    <a:lstStyle/>
                    <a:p>
                      <a:pPr algn="r" fontAlgn="b"/>
                      <a:r>
                        <a:rPr lang="es-NI" sz="1600" u="none" strike="noStrike">
                          <a:effectLst/>
                        </a:rPr>
                        <a:t>4</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173.18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3.3124</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82620155"/>
                  </a:ext>
                </a:extLst>
              </a:tr>
              <a:tr h="190500">
                <a:tc>
                  <a:txBody>
                    <a:bodyPr/>
                    <a:lstStyle/>
                    <a:p>
                      <a:pPr algn="r" fontAlgn="b"/>
                      <a:r>
                        <a:rPr lang="es-NI" sz="1600" u="none" strike="noStrike">
                          <a:effectLst/>
                        </a:rPr>
                        <a:t>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190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173.36</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276.8896</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24743183"/>
                  </a:ext>
                </a:extLst>
              </a:tr>
              <a:tr h="190500">
                <a:tc>
                  <a:txBody>
                    <a:bodyPr/>
                    <a:lstStyle/>
                    <a:p>
                      <a:pPr algn="r" fontAlgn="b"/>
                      <a:r>
                        <a:rPr lang="es-NI" sz="1600" u="none" strike="noStrike">
                          <a:effectLst/>
                        </a:rPr>
                        <a:t>6</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205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175.02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898.8004</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71014873"/>
                  </a:ext>
                </a:extLst>
              </a:tr>
              <a:tr h="190500">
                <a:tc>
                  <a:txBody>
                    <a:bodyPr/>
                    <a:lstStyle/>
                    <a:p>
                      <a:pPr algn="r" fontAlgn="b"/>
                      <a:r>
                        <a:rPr lang="es-NI" sz="1600" u="none" strike="noStrike">
                          <a:effectLst/>
                        </a:rPr>
                        <a:t>7</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178.02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3.9204</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09015901"/>
                  </a:ext>
                </a:extLst>
              </a:tr>
              <a:tr h="190500">
                <a:tc>
                  <a:txBody>
                    <a:bodyPr/>
                    <a:lstStyle/>
                    <a:p>
                      <a:pPr algn="r" fontAlgn="b"/>
                      <a:r>
                        <a:rPr lang="es-NI" sz="1600" u="none" strike="noStrike">
                          <a:effectLst/>
                        </a:rPr>
                        <a:t>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178.22</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dirty="0">
                          <a:solidFill>
                            <a:srgbClr val="000000"/>
                          </a:solidFill>
                          <a:effectLst/>
                          <a:latin typeface="Calibri" panose="020F0502020204030204" pitchFamily="34" charset="0"/>
                        </a:rPr>
                        <a:t>14.2884</a:t>
                      </a:r>
                    </a:p>
                  </a:txBody>
                  <a:tcPr marL="9525" marR="9525" marT="9525" marB="0" anchor="b"/>
                </a:tc>
                <a:extLst>
                  <a:ext uri="{0D108BD9-81ED-4DB2-BD59-A6C34878D82A}">
                    <a16:rowId xmlns:a16="http://schemas.microsoft.com/office/drawing/2014/main" val="1211509571"/>
                  </a:ext>
                </a:extLst>
              </a:tr>
            </a:tbl>
          </a:graphicData>
        </a:graphic>
      </p:graphicFrame>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27254F19-DCBE-452F-A446-33412325B4B2}"/>
                  </a:ext>
                </a:extLst>
              </p:cNvPr>
              <p:cNvSpPr txBox="1"/>
              <p:nvPr/>
            </p:nvSpPr>
            <p:spPr>
              <a:xfrm>
                <a:off x="4773866" y="232823"/>
                <a:ext cx="3876767" cy="78585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s-NI" sz="2400" smtClean="0">
                              <a:solidFill>
                                <a:schemeClr val="bg1"/>
                              </a:solidFill>
                              <a:latin typeface="Cambria Math" panose="02040503050406030204" pitchFamily="18" charset="0"/>
                            </a:rPr>
                          </m:ctrlPr>
                        </m:fPr>
                        <m:num>
                          <m:nary>
                            <m:naryPr>
                              <m:chr m:val="∑"/>
                              <m:grow m:val="on"/>
                              <m:subHide m:val="on"/>
                              <m:supHide m:val="on"/>
                              <m:ctrlPr>
                                <a:rPr lang="es-NI" sz="2400">
                                  <a:solidFill>
                                    <a:schemeClr val="bg1"/>
                                  </a:solidFill>
                                  <a:latin typeface="Cambria Math" panose="02040503050406030204" pitchFamily="18" charset="0"/>
                                </a:rPr>
                              </m:ctrlPr>
                            </m:naryPr>
                            <m:sub/>
                            <m:sup/>
                            <m:e>
                              <m:sSup>
                                <m:sSupPr>
                                  <m:ctrlPr>
                                    <a:rPr lang="es-NI" sz="2400" i="1">
                                      <a:solidFill>
                                        <a:schemeClr val="bg1"/>
                                      </a:solidFill>
                                      <a:latin typeface="Cambria Math" panose="02040503050406030204" pitchFamily="18" charset="0"/>
                                    </a:rPr>
                                  </m:ctrlPr>
                                </m:sSupPr>
                                <m:e>
                                  <m:d>
                                    <m:dPr>
                                      <m:ctrlPr>
                                        <a:rPr lang="es-NI" sz="2400" i="1">
                                          <a:solidFill>
                                            <a:schemeClr val="bg1"/>
                                          </a:solidFill>
                                          <a:latin typeface="Cambria Math" panose="02040503050406030204" pitchFamily="18" charset="0"/>
                                        </a:rPr>
                                      </m:ctrlPr>
                                    </m:dPr>
                                    <m:e>
                                      <m:r>
                                        <a:rPr lang="es-NI" sz="2400" b="0" i="1" smtClean="0">
                                          <a:solidFill>
                                            <a:schemeClr val="bg1"/>
                                          </a:solidFill>
                                          <a:latin typeface="Cambria Math" panose="02040503050406030204" pitchFamily="18" charset="0"/>
                                        </a:rPr>
                                        <m:t>𝐸𝑟𝑟𝑜𝑟𝑒𝑠</m:t>
                                      </m:r>
                                      <m:r>
                                        <a:rPr lang="es-NI" sz="2400" b="0" i="1" smtClean="0">
                                          <a:solidFill>
                                            <a:schemeClr val="bg1"/>
                                          </a:solidFill>
                                          <a:latin typeface="Cambria Math" panose="02040503050406030204" pitchFamily="18" charset="0"/>
                                        </a:rPr>
                                        <m:t> </m:t>
                                      </m:r>
                                      <m:r>
                                        <a:rPr lang="es-NI" sz="2400" b="0" i="1" smtClean="0">
                                          <a:solidFill>
                                            <a:schemeClr val="bg1"/>
                                          </a:solidFill>
                                          <a:latin typeface="Cambria Math" panose="02040503050406030204" pitchFamily="18" charset="0"/>
                                        </a:rPr>
                                        <m:t>𝑑𝑒</m:t>
                                      </m:r>
                                      <m:r>
                                        <a:rPr lang="es-NI" sz="2400" b="0" i="1" smtClean="0">
                                          <a:solidFill>
                                            <a:schemeClr val="bg1"/>
                                          </a:solidFill>
                                          <a:latin typeface="Cambria Math" panose="02040503050406030204" pitchFamily="18" charset="0"/>
                                        </a:rPr>
                                        <m:t> </m:t>
                                      </m:r>
                                      <m:r>
                                        <a:rPr lang="es-NI" sz="2400" b="0" i="1" smtClean="0">
                                          <a:solidFill>
                                            <a:schemeClr val="bg1"/>
                                          </a:solidFill>
                                          <a:latin typeface="Cambria Math" panose="02040503050406030204" pitchFamily="18" charset="0"/>
                                        </a:rPr>
                                        <m:t>𝑝𝑟𝑜𝑛</m:t>
                                      </m:r>
                                      <m:r>
                                        <a:rPr lang="es-NI" sz="2400" b="0" i="1" smtClean="0">
                                          <a:solidFill>
                                            <a:schemeClr val="bg1"/>
                                          </a:solidFill>
                                          <a:latin typeface="Cambria Math" panose="02040503050406030204" pitchFamily="18" charset="0"/>
                                        </a:rPr>
                                        <m:t>ó</m:t>
                                      </m:r>
                                      <m:r>
                                        <a:rPr lang="es-NI" sz="2400" b="0" i="1" smtClean="0">
                                          <a:solidFill>
                                            <a:schemeClr val="bg1"/>
                                          </a:solidFill>
                                          <a:latin typeface="Cambria Math" panose="02040503050406030204" pitchFamily="18" charset="0"/>
                                        </a:rPr>
                                        <m:t>𝑠𝑡𝑖𝑐𝑜</m:t>
                                      </m:r>
                                    </m:e>
                                  </m:d>
                                </m:e>
                                <m:sup>
                                  <m:r>
                                    <a:rPr lang="es-NI" sz="2400" i="0">
                                      <a:solidFill>
                                        <a:schemeClr val="bg1"/>
                                      </a:solidFill>
                                      <a:latin typeface="Cambria Math" panose="02040503050406030204" pitchFamily="18" charset="0"/>
                                    </a:rPr>
                                    <m:t>2</m:t>
                                  </m:r>
                                </m:sup>
                              </m:sSup>
                            </m:e>
                          </m:nary>
                        </m:num>
                        <m:den>
                          <m:r>
                            <a:rPr lang="es-NI" sz="2400" i="1">
                              <a:solidFill>
                                <a:schemeClr val="bg1"/>
                              </a:solidFill>
                              <a:latin typeface="Cambria Math" panose="02040503050406030204" pitchFamily="18" charset="0"/>
                            </a:rPr>
                            <m:t>𝑛</m:t>
                          </m:r>
                        </m:den>
                      </m:f>
                    </m:oMath>
                  </m:oMathPara>
                </a14:m>
                <a:endParaRPr lang="es-NI" sz="2400" dirty="0">
                  <a:solidFill>
                    <a:schemeClr val="bg1"/>
                  </a:solidFill>
                </a:endParaRPr>
              </a:p>
            </p:txBody>
          </p:sp>
        </mc:Choice>
        <mc:Fallback>
          <p:sp>
            <p:nvSpPr>
              <p:cNvPr id="13" name="CuadroTexto 12">
                <a:extLst>
                  <a:ext uri="{FF2B5EF4-FFF2-40B4-BE49-F238E27FC236}">
                    <a16:creationId xmlns:a16="http://schemas.microsoft.com/office/drawing/2014/main" id="{27254F19-DCBE-452F-A446-33412325B4B2}"/>
                  </a:ext>
                </a:extLst>
              </p:cNvPr>
              <p:cNvSpPr txBox="1">
                <a:spLocks noRot="1" noChangeAspect="1" noMove="1" noResize="1" noEditPoints="1" noAdjustHandles="1" noChangeArrowheads="1" noChangeShapeType="1" noTextEdit="1"/>
              </p:cNvSpPr>
              <p:nvPr/>
            </p:nvSpPr>
            <p:spPr>
              <a:xfrm>
                <a:off x="4773866" y="232823"/>
                <a:ext cx="3876767" cy="785856"/>
              </a:xfrm>
              <a:prstGeom prst="rect">
                <a:avLst/>
              </a:prstGeom>
              <a:blipFill>
                <a:blip r:embed="rId3"/>
                <a:stretch>
                  <a:fillRect/>
                </a:stretch>
              </a:blipFill>
            </p:spPr>
            <p:txBody>
              <a:bodyPr/>
              <a:lstStyle/>
              <a:p>
                <a:r>
                  <a:rPr lang="es-NI">
                    <a:noFill/>
                  </a:rPr>
                  <a:t> </a:t>
                </a:r>
              </a:p>
            </p:txBody>
          </p:sp>
        </mc:Fallback>
      </mc:AlternateContent>
      <p:sp>
        <p:nvSpPr>
          <p:cNvPr id="15" name="CuadroTexto 14">
            <a:extLst>
              <a:ext uri="{FF2B5EF4-FFF2-40B4-BE49-F238E27FC236}">
                <a16:creationId xmlns:a16="http://schemas.microsoft.com/office/drawing/2014/main" id="{D0C13075-A737-4001-AF43-BC5E3CCDBC23}"/>
              </a:ext>
            </a:extLst>
          </p:cNvPr>
          <p:cNvSpPr txBox="1"/>
          <p:nvPr/>
        </p:nvSpPr>
        <p:spPr>
          <a:xfrm>
            <a:off x="6705750" y="4411839"/>
            <a:ext cx="1404886" cy="369332"/>
          </a:xfrm>
          <a:prstGeom prst="rect">
            <a:avLst/>
          </a:prstGeom>
          <a:noFill/>
        </p:spPr>
        <p:txBody>
          <a:bodyPr wrap="square" rtlCol="0">
            <a:spAutoFit/>
          </a:bodyPr>
          <a:lstStyle/>
          <a:p>
            <a:r>
              <a:rPr lang="el-GR" b="1" dirty="0">
                <a:solidFill>
                  <a:schemeClr val="bg1"/>
                </a:solidFill>
              </a:rPr>
              <a:t>Σ</a:t>
            </a:r>
            <a:r>
              <a:rPr lang="es-NI" b="1" dirty="0">
                <a:solidFill>
                  <a:schemeClr val="bg1"/>
                </a:solidFill>
              </a:rPr>
              <a:t>      1526.52</a:t>
            </a:r>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2648D21D-066D-4B12-8C12-D47FBFADB431}"/>
                  </a:ext>
                </a:extLst>
              </p:cNvPr>
              <p:cNvSpPr txBox="1"/>
              <p:nvPr/>
            </p:nvSpPr>
            <p:spPr>
              <a:xfrm>
                <a:off x="4928565" y="5270495"/>
                <a:ext cx="1852495" cy="539058"/>
              </a:xfrm>
              <a:prstGeom prst="rect">
                <a:avLst/>
              </a:prstGeom>
              <a:noFill/>
            </p:spPr>
            <p:txBody>
              <a:bodyPr wrap="none" lIns="0" tIns="0" rIns="0" bIns="0" rtlCol="0">
                <a:spAutoFit/>
              </a:bodyPr>
              <a:lstStyle/>
              <a:p>
                <a:r>
                  <a:rPr lang="es-NI" sz="2400" b="1" dirty="0">
                    <a:solidFill>
                      <a:schemeClr val="bg1"/>
                    </a:solidFill>
                  </a:rPr>
                  <a:t>MS</a:t>
                </a:r>
                <a14:m>
                  <m:oMath xmlns:m="http://schemas.openxmlformats.org/officeDocument/2006/math">
                    <m:r>
                      <a:rPr lang="es-NI" sz="2400" b="1" i="0" smtClean="0">
                        <a:solidFill>
                          <a:schemeClr val="bg1"/>
                        </a:solidFill>
                        <a:latin typeface="Cambria Math" panose="02040503050406030204" pitchFamily="18" charset="0"/>
                      </a:rPr>
                      <m:t>𝐄</m:t>
                    </m:r>
                    <m:r>
                      <a:rPr lang="es-NI" sz="2400" b="1" i="0">
                        <a:solidFill>
                          <a:schemeClr val="bg1"/>
                        </a:solidFill>
                        <a:latin typeface="Cambria Math" panose="02040503050406030204" pitchFamily="18" charset="0"/>
                      </a:rPr>
                      <m:t>=</m:t>
                    </m:r>
                    <m:f>
                      <m:fPr>
                        <m:ctrlPr>
                          <a:rPr lang="es-NI" sz="2400" b="1" i="1">
                            <a:solidFill>
                              <a:schemeClr val="bg1"/>
                            </a:solidFill>
                            <a:latin typeface="Cambria Math" panose="02040503050406030204" pitchFamily="18" charset="0"/>
                          </a:rPr>
                        </m:ctrlPr>
                      </m:fPr>
                      <m:num>
                        <m:r>
                          <a:rPr lang="es-NI" sz="2400" b="1" i="1" smtClean="0">
                            <a:solidFill>
                              <a:schemeClr val="bg1"/>
                            </a:solidFill>
                            <a:latin typeface="Cambria Math" panose="02040503050406030204" pitchFamily="18" charset="0"/>
                          </a:rPr>
                          <m:t>𝟏𝟓𝟐𝟔</m:t>
                        </m:r>
                        <m:r>
                          <a:rPr lang="es-NI" sz="2400" b="1" i="1" smtClean="0">
                            <a:solidFill>
                              <a:schemeClr val="bg1"/>
                            </a:solidFill>
                            <a:latin typeface="Cambria Math" panose="02040503050406030204" pitchFamily="18" charset="0"/>
                          </a:rPr>
                          <m:t>.</m:t>
                        </m:r>
                        <m:r>
                          <a:rPr lang="es-NI" sz="2400" b="1" i="1" smtClean="0">
                            <a:solidFill>
                              <a:schemeClr val="bg1"/>
                            </a:solidFill>
                            <a:latin typeface="Cambria Math" panose="02040503050406030204" pitchFamily="18" charset="0"/>
                          </a:rPr>
                          <m:t>𝟓𝟐</m:t>
                        </m:r>
                      </m:num>
                      <m:den>
                        <m:r>
                          <a:rPr lang="es-NI" sz="2400" b="1" i="0">
                            <a:solidFill>
                              <a:schemeClr val="bg1"/>
                            </a:solidFill>
                            <a:latin typeface="Cambria Math" panose="02040503050406030204" pitchFamily="18" charset="0"/>
                          </a:rPr>
                          <m:t>𝟖</m:t>
                        </m:r>
                      </m:den>
                    </m:f>
                  </m:oMath>
                </a14:m>
                <a:endParaRPr lang="es-NI" sz="2400" b="1" dirty="0">
                  <a:solidFill>
                    <a:schemeClr val="bg1"/>
                  </a:solidFill>
                </a:endParaRPr>
              </a:p>
            </p:txBody>
          </p:sp>
        </mc:Choice>
        <mc:Fallback>
          <p:sp>
            <p:nvSpPr>
              <p:cNvPr id="16" name="CuadroTexto 15">
                <a:extLst>
                  <a:ext uri="{FF2B5EF4-FFF2-40B4-BE49-F238E27FC236}">
                    <a16:creationId xmlns:a16="http://schemas.microsoft.com/office/drawing/2014/main" id="{2648D21D-066D-4B12-8C12-D47FBFADB431}"/>
                  </a:ext>
                </a:extLst>
              </p:cNvPr>
              <p:cNvSpPr txBox="1">
                <a:spLocks noRot="1" noChangeAspect="1" noMove="1" noResize="1" noEditPoints="1" noAdjustHandles="1" noChangeArrowheads="1" noChangeShapeType="1" noTextEdit="1"/>
              </p:cNvSpPr>
              <p:nvPr/>
            </p:nvSpPr>
            <p:spPr>
              <a:xfrm>
                <a:off x="4928565" y="5270495"/>
                <a:ext cx="1852495" cy="539058"/>
              </a:xfrm>
              <a:prstGeom prst="rect">
                <a:avLst/>
              </a:prstGeom>
              <a:blipFill>
                <a:blip r:embed="rId4"/>
                <a:stretch>
                  <a:fillRect l="-9868" t="-1136" b="-19318"/>
                </a:stretch>
              </a:blipFill>
            </p:spPr>
            <p:txBody>
              <a:bodyPr/>
              <a:lstStyle/>
              <a:p>
                <a:r>
                  <a:rPr lang="es-NI">
                    <a:noFill/>
                  </a:rPr>
                  <a:t> </a:t>
                </a:r>
              </a:p>
            </p:txBody>
          </p:sp>
        </mc:Fallback>
      </mc:AlternateContent>
      <p:sp>
        <p:nvSpPr>
          <p:cNvPr id="17" name="CuadroTexto 16">
            <a:extLst>
              <a:ext uri="{FF2B5EF4-FFF2-40B4-BE49-F238E27FC236}">
                <a16:creationId xmlns:a16="http://schemas.microsoft.com/office/drawing/2014/main" id="{5F103139-0F76-4CB3-AAE9-5F7BD2C6DFFF}"/>
              </a:ext>
            </a:extLst>
          </p:cNvPr>
          <p:cNvSpPr txBox="1"/>
          <p:nvPr/>
        </p:nvSpPr>
        <p:spPr>
          <a:xfrm>
            <a:off x="6705750" y="5348956"/>
            <a:ext cx="1662545" cy="369332"/>
          </a:xfrm>
          <a:prstGeom prst="rect">
            <a:avLst/>
          </a:prstGeom>
          <a:noFill/>
        </p:spPr>
        <p:txBody>
          <a:bodyPr wrap="square" rtlCol="0">
            <a:spAutoFit/>
          </a:bodyPr>
          <a:lstStyle/>
          <a:p>
            <a:r>
              <a:rPr lang="es-NI" b="1" dirty="0">
                <a:solidFill>
                  <a:schemeClr val="bg1"/>
                </a:solidFill>
              </a:rPr>
              <a:t>=  190.82</a:t>
            </a:r>
          </a:p>
        </p:txBody>
      </p:sp>
    </p:spTree>
    <p:extLst>
      <p:ext uri="{BB962C8B-B14F-4D97-AF65-F5344CB8AC3E}">
        <p14:creationId xmlns:p14="http://schemas.microsoft.com/office/powerpoint/2010/main" val="2442327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367144" y="136525"/>
            <a:ext cx="3453143" cy="833663"/>
          </a:xfrm>
        </p:spPr>
        <p:txBody>
          <a:bodyPr rtlCol="0"/>
          <a:lstStyle/>
          <a:p>
            <a:pPr rtl="0"/>
            <a:r>
              <a:rPr lang="es-ES" dirty="0"/>
              <a:t>MAPE - Ejemplo</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367143" y="1299989"/>
            <a:ext cx="11603183" cy="1237783"/>
          </a:xfrm>
        </p:spPr>
        <p:txBody>
          <a:bodyPr rtlCol="0"/>
          <a:lstStyle/>
          <a:p>
            <a:pPr marL="0" indent="0" algn="just" rtl="0">
              <a:buNone/>
            </a:pPr>
            <a:r>
              <a:rPr lang="es-ES" noProof="1"/>
              <a:t>Durante los últimos 8 trimestres en el puerto de baltimore se ha descargado de los barcos grandes cantidades de granos, el administrador del puerto emplea la técnica de suavizado exponencial para ver qué tan bien funciona la técnica para pronosticar el tonela descargado. Se examinaron dos constantes de suavizado, 0.1 y 0.5</a:t>
            </a:r>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8</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MAD</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44610"/>
            <a:ext cx="2552123" cy="17686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MSE</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361476"/>
            <a:ext cx="2552123"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MAPE</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trabajo</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7517689"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aphicFrame>
        <p:nvGraphicFramePr>
          <p:cNvPr id="5" name="Tabla 4">
            <a:extLst>
              <a:ext uri="{FF2B5EF4-FFF2-40B4-BE49-F238E27FC236}">
                <a16:creationId xmlns:a16="http://schemas.microsoft.com/office/drawing/2014/main" id="{7438CB6A-52CA-4409-8BDF-A10312A8835F}"/>
              </a:ext>
            </a:extLst>
          </p:cNvPr>
          <p:cNvGraphicFramePr>
            <a:graphicFrameLocks noGrp="1"/>
          </p:cNvGraphicFramePr>
          <p:nvPr/>
        </p:nvGraphicFramePr>
        <p:xfrm>
          <a:off x="392675" y="2705909"/>
          <a:ext cx="3133436" cy="2767965"/>
        </p:xfrm>
        <a:graphic>
          <a:graphicData uri="http://schemas.openxmlformats.org/drawingml/2006/table">
            <a:tbl>
              <a:tblPr>
                <a:tableStyleId>{8A107856-5554-42FB-B03E-39F5DBC370BA}</a:tableStyleId>
              </a:tblPr>
              <a:tblGrid>
                <a:gridCol w="944418">
                  <a:extLst>
                    <a:ext uri="{9D8B030D-6E8A-4147-A177-3AD203B41FA5}">
                      <a16:colId xmlns:a16="http://schemas.microsoft.com/office/drawing/2014/main" val="277531362"/>
                    </a:ext>
                  </a:extLst>
                </a:gridCol>
                <a:gridCol w="1219200">
                  <a:extLst>
                    <a:ext uri="{9D8B030D-6E8A-4147-A177-3AD203B41FA5}">
                      <a16:colId xmlns:a16="http://schemas.microsoft.com/office/drawing/2014/main" val="231389117"/>
                    </a:ext>
                  </a:extLst>
                </a:gridCol>
                <a:gridCol w="969818">
                  <a:extLst>
                    <a:ext uri="{9D8B030D-6E8A-4147-A177-3AD203B41FA5}">
                      <a16:colId xmlns:a16="http://schemas.microsoft.com/office/drawing/2014/main" val="997158119"/>
                    </a:ext>
                  </a:extLst>
                </a:gridCol>
              </a:tblGrid>
              <a:tr h="190500">
                <a:tc>
                  <a:txBody>
                    <a:bodyPr/>
                    <a:lstStyle/>
                    <a:p>
                      <a:pPr algn="l" fontAlgn="b"/>
                      <a:r>
                        <a:rPr lang="es-NI" sz="1600" u="none" strike="noStrike">
                          <a:effectLst/>
                        </a:rPr>
                        <a:t>Trimestre</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Toneladas reales descargadas</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Pronísto para 0.1</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60691669"/>
                  </a:ext>
                </a:extLst>
              </a:tr>
              <a:tr h="190500">
                <a:tc>
                  <a:txBody>
                    <a:bodyPr/>
                    <a:lstStyle/>
                    <a:p>
                      <a:pPr algn="r" fontAlgn="b"/>
                      <a:r>
                        <a:rPr lang="es-NI" sz="1600" u="none" strike="noStrike">
                          <a:effectLst/>
                        </a:rPr>
                        <a:t>1</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08788952"/>
                  </a:ext>
                </a:extLst>
              </a:tr>
              <a:tr h="190500">
                <a:tc>
                  <a:txBody>
                    <a:bodyPr/>
                    <a:lstStyle/>
                    <a:p>
                      <a:pPr algn="r" fontAlgn="b"/>
                      <a:r>
                        <a:rPr lang="es-NI" sz="1600" u="none" strike="noStrike">
                          <a:effectLst/>
                        </a:rPr>
                        <a:t>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168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175.5</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83133737"/>
                  </a:ext>
                </a:extLst>
              </a:tr>
              <a:tr h="190500">
                <a:tc>
                  <a:txBody>
                    <a:bodyPr/>
                    <a:lstStyle/>
                    <a:p>
                      <a:pPr algn="r" fontAlgn="b"/>
                      <a:r>
                        <a:rPr lang="es-NI" sz="1600" u="none" strike="noStrike">
                          <a:effectLst/>
                        </a:rPr>
                        <a:t>3</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159</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174.75</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1698886"/>
                  </a:ext>
                </a:extLst>
              </a:tr>
              <a:tr h="190500">
                <a:tc>
                  <a:txBody>
                    <a:bodyPr/>
                    <a:lstStyle/>
                    <a:p>
                      <a:pPr algn="r" fontAlgn="b"/>
                      <a:r>
                        <a:rPr lang="es-NI" sz="1600" u="none" strike="noStrike">
                          <a:effectLst/>
                        </a:rPr>
                        <a:t>4</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173.18</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82620155"/>
                  </a:ext>
                </a:extLst>
              </a:tr>
              <a:tr h="190500">
                <a:tc>
                  <a:txBody>
                    <a:bodyPr/>
                    <a:lstStyle/>
                    <a:p>
                      <a:pPr algn="r" fontAlgn="b"/>
                      <a:r>
                        <a:rPr lang="es-NI" sz="1600" u="none" strike="noStrike">
                          <a:effectLst/>
                        </a:rPr>
                        <a:t>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190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173.36</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24743183"/>
                  </a:ext>
                </a:extLst>
              </a:tr>
              <a:tr h="190500">
                <a:tc>
                  <a:txBody>
                    <a:bodyPr/>
                    <a:lstStyle/>
                    <a:p>
                      <a:pPr algn="r" fontAlgn="b"/>
                      <a:r>
                        <a:rPr lang="es-NI" sz="1600" u="none" strike="noStrike">
                          <a:effectLst/>
                        </a:rPr>
                        <a:t>6</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205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175.02</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71014873"/>
                  </a:ext>
                </a:extLst>
              </a:tr>
              <a:tr h="190500">
                <a:tc>
                  <a:txBody>
                    <a:bodyPr/>
                    <a:lstStyle/>
                    <a:p>
                      <a:pPr algn="r" fontAlgn="b"/>
                      <a:r>
                        <a:rPr lang="es-NI" sz="1600" u="none" strike="noStrike">
                          <a:effectLst/>
                        </a:rPr>
                        <a:t>7</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178.02</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09015901"/>
                  </a:ext>
                </a:extLst>
              </a:tr>
              <a:tr h="190500">
                <a:tc>
                  <a:txBody>
                    <a:bodyPr/>
                    <a:lstStyle/>
                    <a:p>
                      <a:pPr algn="r" fontAlgn="b"/>
                      <a:r>
                        <a:rPr lang="es-NI" sz="1600" u="none" strike="noStrike">
                          <a:effectLst/>
                        </a:rPr>
                        <a:t>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178.22</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11509571"/>
                  </a:ext>
                </a:extLst>
              </a:tr>
            </a:tbl>
          </a:graphicData>
        </a:graphic>
      </p:graphicFrame>
    </p:spTree>
    <p:extLst>
      <p:ext uri="{BB962C8B-B14F-4D97-AF65-F5344CB8AC3E}">
        <p14:creationId xmlns:p14="http://schemas.microsoft.com/office/powerpoint/2010/main" val="1351681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367144" y="136525"/>
            <a:ext cx="3761511" cy="833663"/>
          </a:xfrm>
        </p:spPr>
        <p:txBody>
          <a:bodyPr rtlCol="0"/>
          <a:lstStyle/>
          <a:p>
            <a:pPr rtl="0"/>
            <a:r>
              <a:rPr lang="es-ES" dirty="0"/>
              <a:t>MAPE - Solución</a:t>
            </a:r>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9</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59471"/>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MAD</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361476"/>
            <a:ext cx="2552123" cy="360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MSE</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MAPE</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trabajo</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4940744"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aphicFrame>
        <p:nvGraphicFramePr>
          <p:cNvPr id="5" name="Tabla 4">
            <a:extLst>
              <a:ext uri="{FF2B5EF4-FFF2-40B4-BE49-F238E27FC236}">
                <a16:creationId xmlns:a16="http://schemas.microsoft.com/office/drawing/2014/main" id="{7438CB6A-52CA-4409-8BDF-A10312A8835F}"/>
              </a:ext>
            </a:extLst>
          </p:cNvPr>
          <p:cNvGraphicFramePr>
            <a:graphicFrameLocks noGrp="1"/>
          </p:cNvGraphicFramePr>
          <p:nvPr>
            <p:extLst>
              <p:ext uri="{D42A27DB-BD31-4B8C-83A1-F6EECF244321}">
                <p14:modId xmlns:p14="http://schemas.microsoft.com/office/powerpoint/2010/main" val="3667322707"/>
              </p:ext>
            </p:extLst>
          </p:nvPr>
        </p:nvGraphicFramePr>
        <p:xfrm>
          <a:off x="3322892" y="1643872"/>
          <a:ext cx="5063839" cy="2767965"/>
        </p:xfrm>
        <a:graphic>
          <a:graphicData uri="http://schemas.openxmlformats.org/drawingml/2006/table">
            <a:tbl>
              <a:tblPr>
                <a:tableStyleId>{8A107856-5554-42FB-B03E-39F5DBC370BA}</a:tableStyleId>
              </a:tblPr>
              <a:tblGrid>
                <a:gridCol w="816321">
                  <a:extLst>
                    <a:ext uri="{9D8B030D-6E8A-4147-A177-3AD203B41FA5}">
                      <a16:colId xmlns:a16="http://schemas.microsoft.com/office/drawing/2014/main" val="277531362"/>
                    </a:ext>
                  </a:extLst>
                </a:gridCol>
                <a:gridCol w="1061880">
                  <a:extLst>
                    <a:ext uri="{9D8B030D-6E8A-4147-A177-3AD203B41FA5}">
                      <a16:colId xmlns:a16="http://schemas.microsoft.com/office/drawing/2014/main" val="231389117"/>
                    </a:ext>
                  </a:extLst>
                </a:gridCol>
                <a:gridCol w="822956">
                  <a:extLst>
                    <a:ext uri="{9D8B030D-6E8A-4147-A177-3AD203B41FA5}">
                      <a16:colId xmlns:a16="http://schemas.microsoft.com/office/drawing/2014/main" val="997158119"/>
                    </a:ext>
                  </a:extLst>
                </a:gridCol>
                <a:gridCol w="1181341">
                  <a:extLst>
                    <a:ext uri="{9D8B030D-6E8A-4147-A177-3AD203B41FA5}">
                      <a16:colId xmlns:a16="http://schemas.microsoft.com/office/drawing/2014/main" val="1543566778"/>
                    </a:ext>
                  </a:extLst>
                </a:gridCol>
                <a:gridCol w="1181341">
                  <a:extLst>
                    <a:ext uri="{9D8B030D-6E8A-4147-A177-3AD203B41FA5}">
                      <a16:colId xmlns:a16="http://schemas.microsoft.com/office/drawing/2014/main" val="1269480390"/>
                    </a:ext>
                  </a:extLst>
                </a:gridCol>
              </a:tblGrid>
              <a:tr h="190500">
                <a:tc>
                  <a:txBody>
                    <a:bodyPr/>
                    <a:lstStyle/>
                    <a:p>
                      <a:pPr algn="l" fontAlgn="b"/>
                      <a:r>
                        <a:rPr lang="es-NI" sz="1600" u="none" strike="noStrike">
                          <a:effectLst/>
                        </a:rPr>
                        <a:t>Trimestre</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a:effectLst/>
                        </a:rPr>
                        <a:t>Toneladas reales descargadas</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600" u="none" strike="noStrike" dirty="0" err="1">
                          <a:effectLst/>
                        </a:rPr>
                        <a:t>Pronísto</a:t>
                      </a:r>
                      <a:r>
                        <a:rPr lang="es-NI" sz="1600" u="none" strike="noStrike" dirty="0">
                          <a:effectLst/>
                        </a:rPr>
                        <a:t> para 0.1</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NI" sz="1600" b="0" i="0" u="none" strike="noStrike" dirty="0">
                          <a:solidFill>
                            <a:srgbClr val="000000"/>
                          </a:solidFill>
                          <a:effectLst/>
                          <a:latin typeface="Calibri" panose="020F0502020204030204" pitchFamily="34" charset="0"/>
                        </a:rPr>
                        <a:t>|</a:t>
                      </a:r>
                      <a:r>
                        <a:rPr lang="es-NI" sz="1600" b="0" i="0" u="none" strike="noStrike" dirty="0" err="1">
                          <a:solidFill>
                            <a:srgbClr val="000000"/>
                          </a:solidFill>
                          <a:effectLst/>
                          <a:latin typeface="Calibri" panose="020F0502020204030204" pitchFamily="34" charset="0"/>
                        </a:rPr>
                        <a:t>Dreal-Pron</a:t>
                      </a:r>
                      <a:r>
                        <a:rPr lang="es-NI" sz="1600" b="0" i="0" u="none" strike="noStrike" dirty="0">
                          <a:solidFill>
                            <a:srgbClr val="000000"/>
                          </a:solidFill>
                          <a:effectLst/>
                          <a:latin typeface="Calibri" panose="020F0502020204030204" pitchFamily="34" charset="0"/>
                        </a:rPr>
                        <a:t>|</a:t>
                      </a:r>
                      <a:endParaRPr lang="es-NI" sz="1600" b="0" i="0" u="none" strike="noStrike" baseline="30000" dirty="0">
                        <a:solidFill>
                          <a:srgbClr val="000000"/>
                        </a:solidFill>
                        <a:effectLst/>
                        <a:latin typeface="Calibri" panose="020F0502020204030204" pitchFamily="34" charset="0"/>
                      </a:endParaRPr>
                    </a:p>
                  </a:txBody>
                  <a:tcPr marL="9525" marR="9525" marT="9525" marB="0" anchor="b"/>
                </a:tc>
                <a:tc>
                  <a:txBody>
                    <a:bodyPr/>
                    <a:lstStyle/>
                    <a:p>
                      <a:pPr algn="l" fontAlgn="b"/>
                      <a:r>
                        <a:rPr lang="es-NI" sz="1800" b="0" i="0" u="none" strike="noStrike" baseline="30000" dirty="0">
                          <a:solidFill>
                            <a:srgbClr val="000000"/>
                          </a:solidFill>
                          <a:effectLst/>
                          <a:latin typeface="+mj-lt"/>
                        </a:rPr>
                        <a:t>100*error/</a:t>
                      </a:r>
                      <a:r>
                        <a:rPr lang="es-NI" sz="1800" b="0" i="0" u="none" strike="noStrike" baseline="30000" dirty="0" err="1">
                          <a:solidFill>
                            <a:srgbClr val="000000"/>
                          </a:solidFill>
                          <a:effectLst/>
                          <a:latin typeface="+mj-lt"/>
                        </a:rPr>
                        <a:t>Dreal</a:t>
                      </a:r>
                      <a:endParaRPr lang="es-NI" sz="1800" b="0" i="0" u="none" strike="noStrike" baseline="30000" dirty="0">
                        <a:solidFill>
                          <a:srgbClr val="000000"/>
                        </a:solidFill>
                        <a:effectLst/>
                        <a:latin typeface="+mj-lt"/>
                      </a:endParaRPr>
                    </a:p>
                  </a:txBody>
                  <a:tcPr marL="9525" marR="9525" marT="9525" marB="0" anchor="b"/>
                </a:tc>
                <a:extLst>
                  <a:ext uri="{0D108BD9-81ED-4DB2-BD59-A6C34878D82A}">
                    <a16:rowId xmlns:a16="http://schemas.microsoft.com/office/drawing/2014/main" val="460691669"/>
                  </a:ext>
                </a:extLst>
              </a:tr>
              <a:tr h="190500">
                <a:tc>
                  <a:txBody>
                    <a:bodyPr/>
                    <a:lstStyle/>
                    <a:p>
                      <a:pPr algn="r" fontAlgn="b"/>
                      <a:r>
                        <a:rPr lang="es-NI" sz="1600" u="none" strike="noStrike">
                          <a:effectLst/>
                        </a:rPr>
                        <a:t>1</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dirty="0">
                          <a:solidFill>
                            <a:srgbClr val="000000"/>
                          </a:solidFill>
                          <a:effectLst/>
                          <a:latin typeface="Calibri" panose="020F0502020204030204" pitchFamily="34" charset="0"/>
                        </a:rPr>
                        <a:t>5</a:t>
                      </a:r>
                    </a:p>
                  </a:txBody>
                  <a:tcPr marL="9525" marR="9525" marT="9525" marB="0" anchor="b"/>
                </a:tc>
                <a:tc>
                  <a:txBody>
                    <a:bodyPr/>
                    <a:lstStyle/>
                    <a:p>
                      <a:pPr algn="r" fontAlgn="b"/>
                      <a:r>
                        <a:rPr lang="es-NI" sz="1600" b="0" i="0" u="none" strike="noStrike" dirty="0">
                          <a:solidFill>
                            <a:srgbClr val="000000"/>
                          </a:solidFill>
                          <a:effectLst/>
                          <a:latin typeface="Calibri" panose="020F0502020204030204" pitchFamily="34" charset="0"/>
                        </a:rPr>
                        <a:t>2.77777778</a:t>
                      </a:r>
                    </a:p>
                  </a:txBody>
                  <a:tcPr marL="9525" marR="9525" marT="9525" marB="0" anchor="b"/>
                </a:tc>
                <a:extLst>
                  <a:ext uri="{0D108BD9-81ED-4DB2-BD59-A6C34878D82A}">
                    <a16:rowId xmlns:a16="http://schemas.microsoft.com/office/drawing/2014/main" val="2008788952"/>
                  </a:ext>
                </a:extLst>
              </a:tr>
              <a:tr h="190500">
                <a:tc>
                  <a:txBody>
                    <a:bodyPr/>
                    <a:lstStyle/>
                    <a:p>
                      <a:pPr algn="r" fontAlgn="b"/>
                      <a:r>
                        <a:rPr lang="es-NI" sz="1600" u="none" strike="noStrike">
                          <a:effectLst/>
                        </a:rPr>
                        <a:t>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168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7.5</a:t>
                      </a: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4.46428571</a:t>
                      </a:r>
                    </a:p>
                  </a:txBody>
                  <a:tcPr marL="9525" marR="9525" marT="9525" marB="0" anchor="b"/>
                </a:tc>
                <a:extLst>
                  <a:ext uri="{0D108BD9-81ED-4DB2-BD59-A6C34878D82A}">
                    <a16:rowId xmlns:a16="http://schemas.microsoft.com/office/drawing/2014/main" val="1383133737"/>
                  </a:ext>
                </a:extLst>
              </a:tr>
              <a:tr h="190500">
                <a:tc>
                  <a:txBody>
                    <a:bodyPr/>
                    <a:lstStyle/>
                    <a:p>
                      <a:pPr algn="r" fontAlgn="b"/>
                      <a:r>
                        <a:rPr lang="es-NI" sz="1600" u="none" strike="noStrike">
                          <a:effectLst/>
                        </a:rPr>
                        <a:t>3</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159</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174.75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15.75</a:t>
                      </a: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9.90566038</a:t>
                      </a:r>
                    </a:p>
                  </a:txBody>
                  <a:tcPr marL="9525" marR="9525" marT="9525" marB="0" anchor="b"/>
                </a:tc>
                <a:extLst>
                  <a:ext uri="{0D108BD9-81ED-4DB2-BD59-A6C34878D82A}">
                    <a16:rowId xmlns:a16="http://schemas.microsoft.com/office/drawing/2014/main" val="391698886"/>
                  </a:ext>
                </a:extLst>
              </a:tr>
              <a:tr h="190500">
                <a:tc>
                  <a:txBody>
                    <a:bodyPr/>
                    <a:lstStyle/>
                    <a:p>
                      <a:pPr algn="r" fontAlgn="b"/>
                      <a:r>
                        <a:rPr lang="es-NI" sz="1600" u="none" strike="noStrike">
                          <a:effectLst/>
                        </a:rPr>
                        <a:t>4</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173.18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1.82</a:t>
                      </a: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1.04</a:t>
                      </a:r>
                    </a:p>
                  </a:txBody>
                  <a:tcPr marL="9525" marR="9525" marT="9525" marB="0" anchor="b"/>
                </a:tc>
                <a:extLst>
                  <a:ext uri="{0D108BD9-81ED-4DB2-BD59-A6C34878D82A}">
                    <a16:rowId xmlns:a16="http://schemas.microsoft.com/office/drawing/2014/main" val="2182620155"/>
                  </a:ext>
                </a:extLst>
              </a:tr>
              <a:tr h="190500">
                <a:tc>
                  <a:txBody>
                    <a:bodyPr/>
                    <a:lstStyle/>
                    <a:p>
                      <a:pPr algn="r" fontAlgn="b"/>
                      <a:r>
                        <a:rPr lang="es-NI" sz="1600" u="none" strike="noStrike">
                          <a:effectLst/>
                        </a:rPr>
                        <a:t>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190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173.36</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16.64</a:t>
                      </a: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8.75789474</a:t>
                      </a:r>
                    </a:p>
                  </a:txBody>
                  <a:tcPr marL="9525" marR="9525" marT="9525" marB="0" anchor="b"/>
                </a:tc>
                <a:extLst>
                  <a:ext uri="{0D108BD9-81ED-4DB2-BD59-A6C34878D82A}">
                    <a16:rowId xmlns:a16="http://schemas.microsoft.com/office/drawing/2014/main" val="2524743183"/>
                  </a:ext>
                </a:extLst>
              </a:tr>
              <a:tr h="190500">
                <a:tc>
                  <a:txBody>
                    <a:bodyPr/>
                    <a:lstStyle/>
                    <a:p>
                      <a:pPr algn="r" fontAlgn="b"/>
                      <a:r>
                        <a:rPr lang="es-NI" sz="1600" u="none" strike="noStrike">
                          <a:effectLst/>
                        </a:rPr>
                        <a:t>6</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205</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175.02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29.98</a:t>
                      </a: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14.6243902</a:t>
                      </a:r>
                    </a:p>
                  </a:txBody>
                  <a:tcPr marL="9525" marR="9525" marT="9525" marB="0" anchor="b"/>
                </a:tc>
                <a:extLst>
                  <a:ext uri="{0D108BD9-81ED-4DB2-BD59-A6C34878D82A}">
                    <a16:rowId xmlns:a16="http://schemas.microsoft.com/office/drawing/2014/main" val="771014873"/>
                  </a:ext>
                </a:extLst>
              </a:tr>
              <a:tr h="190500">
                <a:tc>
                  <a:txBody>
                    <a:bodyPr/>
                    <a:lstStyle/>
                    <a:p>
                      <a:pPr algn="r" fontAlgn="b"/>
                      <a:r>
                        <a:rPr lang="es-NI" sz="1600" u="none" strike="noStrike">
                          <a:effectLst/>
                        </a:rPr>
                        <a:t>7</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178.02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1.98</a:t>
                      </a:r>
                    </a:p>
                  </a:txBody>
                  <a:tcPr marL="9525" marR="9525" marT="9525" marB="0" anchor="b"/>
                </a:tc>
                <a:tc>
                  <a:txBody>
                    <a:bodyPr/>
                    <a:lstStyle/>
                    <a:p>
                      <a:pPr algn="r" fontAlgn="b"/>
                      <a:r>
                        <a:rPr lang="es-NI" sz="1600" b="0" i="0" u="none" strike="noStrike">
                          <a:solidFill>
                            <a:srgbClr val="000000"/>
                          </a:solidFill>
                          <a:effectLst/>
                          <a:latin typeface="Calibri" panose="020F0502020204030204" pitchFamily="34" charset="0"/>
                        </a:rPr>
                        <a:t>1.1</a:t>
                      </a:r>
                    </a:p>
                  </a:txBody>
                  <a:tcPr marL="9525" marR="9525" marT="9525" marB="0" anchor="b"/>
                </a:tc>
                <a:extLst>
                  <a:ext uri="{0D108BD9-81ED-4DB2-BD59-A6C34878D82A}">
                    <a16:rowId xmlns:a16="http://schemas.microsoft.com/office/drawing/2014/main" val="2909015901"/>
                  </a:ext>
                </a:extLst>
              </a:tr>
              <a:tr h="190500">
                <a:tc>
                  <a:txBody>
                    <a:bodyPr/>
                    <a:lstStyle/>
                    <a:p>
                      <a:pPr algn="r" fontAlgn="b"/>
                      <a:r>
                        <a:rPr lang="es-NI" sz="1600" u="none" strike="noStrike">
                          <a:effectLst/>
                        </a:rPr>
                        <a:t>8</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182</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178.22</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i="0" u="none" strike="noStrike" dirty="0">
                          <a:solidFill>
                            <a:srgbClr val="000000"/>
                          </a:solidFill>
                          <a:effectLst/>
                          <a:latin typeface="Calibri" panose="020F0502020204030204" pitchFamily="34" charset="0"/>
                        </a:rPr>
                        <a:t>3.78</a:t>
                      </a:r>
                    </a:p>
                  </a:txBody>
                  <a:tcPr marL="9525" marR="9525" marT="9525" marB="0" anchor="b"/>
                </a:tc>
                <a:tc>
                  <a:txBody>
                    <a:bodyPr/>
                    <a:lstStyle/>
                    <a:p>
                      <a:pPr algn="r" fontAlgn="b"/>
                      <a:r>
                        <a:rPr lang="es-NI" sz="1600" b="0" i="0" u="none" strike="noStrike" dirty="0">
                          <a:solidFill>
                            <a:srgbClr val="000000"/>
                          </a:solidFill>
                          <a:effectLst/>
                          <a:latin typeface="Calibri" panose="020F0502020204030204" pitchFamily="34" charset="0"/>
                        </a:rPr>
                        <a:t>2.07692308</a:t>
                      </a:r>
                    </a:p>
                  </a:txBody>
                  <a:tcPr marL="9525" marR="9525" marT="9525" marB="0" anchor="b"/>
                </a:tc>
                <a:extLst>
                  <a:ext uri="{0D108BD9-81ED-4DB2-BD59-A6C34878D82A}">
                    <a16:rowId xmlns:a16="http://schemas.microsoft.com/office/drawing/2014/main" val="1211509571"/>
                  </a:ext>
                </a:extLst>
              </a:tr>
            </a:tbl>
          </a:graphicData>
        </a:graphic>
      </p:graphicFrame>
      <p:sp>
        <p:nvSpPr>
          <p:cNvPr id="15" name="CuadroTexto 14">
            <a:extLst>
              <a:ext uri="{FF2B5EF4-FFF2-40B4-BE49-F238E27FC236}">
                <a16:creationId xmlns:a16="http://schemas.microsoft.com/office/drawing/2014/main" id="{D0C13075-A737-4001-AF43-BC5E3CCDBC23}"/>
              </a:ext>
            </a:extLst>
          </p:cNvPr>
          <p:cNvSpPr txBox="1"/>
          <p:nvPr/>
        </p:nvSpPr>
        <p:spPr>
          <a:xfrm>
            <a:off x="7160971" y="4405834"/>
            <a:ext cx="1404886" cy="369332"/>
          </a:xfrm>
          <a:prstGeom prst="rect">
            <a:avLst/>
          </a:prstGeom>
          <a:noFill/>
        </p:spPr>
        <p:txBody>
          <a:bodyPr wrap="square" rtlCol="0">
            <a:spAutoFit/>
          </a:bodyPr>
          <a:lstStyle/>
          <a:p>
            <a:r>
              <a:rPr lang="el-GR" b="1" dirty="0">
                <a:solidFill>
                  <a:schemeClr val="bg1"/>
                </a:solidFill>
              </a:rPr>
              <a:t>Σ</a:t>
            </a:r>
            <a:r>
              <a:rPr lang="es-NI" b="1" dirty="0">
                <a:solidFill>
                  <a:schemeClr val="bg1"/>
                </a:solidFill>
              </a:rPr>
              <a:t>          44.75</a:t>
            </a:r>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2648D21D-066D-4B12-8C12-D47FBFADB431}"/>
                  </a:ext>
                </a:extLst>
              </p:cNvPr>
              <p:cNvSpPr txBox="1"/>
              <p:nvPr/>
            </p:nvSpPr>
            <p:spPr>
              <a:xfrm>
                <a:off x="4928565" y="5270495"/>
                <a:ext cx="1583190" cy="539058"/>
              </a:xfrm>
              <a:prstGeom prst="rect">
                <a:avLst/>
              </a:prstGeom>
              <a:noFill/>
            </p:spPr>
            <p:txBody>
              <a:bodyPr wrap="none" lIns="0" tIns="0" rIns="0" bIns="0" rtlCol="0">
                <a:spAutoFit/>
              </a:bodyPr>
              <a:lstStyle/>
              <a:p>
                <a:r>
                  <a:rPr lang="es-NI" sz="2400" b="1" dirty="0">
                    <a:solidFill>
                      <a:schemeClr val="bg1"/>
                    </a:solidFill>
                  </a:rPr>
                  <a:t>MS</a:t>
                </a:r>
                <a14:m>
                  <m:oMath xmlns:m="http://schemas.openxmlformats.org/officeDocument/2006/math">
                    <m:r>
                      <a:rPr lang="es-NI" sz="2400" b="1" i="0" smtClean="0">
                        <a:solidFill>
                          <a:schemeClr val="bg1"/>
                        </a:solidFill>
                        <a:latin typeface="Cambria Math" panose="02040503050406030204" pitchFamily="18" charset="0"/>
                      </a:rPr>
                      <m:t>𝐄</m:t>
                    </m:r>
                    <m:r>
                      <a:rPr lang="es-NI" sz="2400" b="1" i="0">
                        <a:solidFill>
                          <a:schemeClr val="bg1"/>
                        </a:solidFill>
                        <a:latin typeface="Cambria Math" panose="02040503050406030204" pitchFamily="18" charset="0"/>
                      </a:rPr>
                      <m:t>=</m:t>
                    </m:r>
                    <m:f>
                      <m:fPr>
                        <m:ctrlPr>
                          <a:rPr lang="es-NI" sz="2400" b="1" i="1">
                            <a:solidFill>
                              <a:schemeClr val="bg1"/>
                            </a:solidFill>
                            <a:latin typeface="Cambria Math" panose="02040503050406030204" pitchFamily="18" charset="0"/>
                          </a:rPr>
                        </m:ctrlPr>
                      </m:fPr>
                      <m:num>
                        <m:r>
                          <a:rPr lang="es-NI" sz="2400" b="1" i="1" smtClean="0">
                            <a:solidFill>
                              <a:schemeClr val="bg1"/>
                            </a:solidFill>
                            <a:latin typeface="Cambria Math" panose="02040503050406030204" pitchFamily="18" charset="0"/>
                          </a:rPr>
                          <m:t>𝟒𝟒</m:t>
                        </m:r>
                        <m:r>
                          <a:rPr lang="es-NI" sz="2400" b="1" i="1" smtClean="0">
                            <a:solidFill>
                              <a:schemeClr val="bg1"/>
                            </a:solidFill>
                            <a:latin typeface="Cambria Math" panose="02040503050406030204" pitchFamily="18" charset="0"/>
                          </a:rPr>
                          <m:t>.</m:t>
                        </m:r>
                        <m:r>
                          <a:rPr lang="es-NI" sz="2400" b="1" i="1" smtClean="0">
                            <a:solidFill>
                              <a:schemeClr val="bg1"/>
                            </a:solidFill>
                            <a:latin typeface="Cambria Math" panose="02040503050406030204" pitchFamily="18" charset="0"/>
                          </a:rPr>
                          <m:t>𝟕𝟓</m:t>
                        </m:r>
                      </m:num>
                      <m:den>
                        <m:r>
                          <a:rPr lang="es-NI" sz="2400" b="1" i="0">
                            <a:solidFill>
                              <a:schemeClr val="bg1"/>
                            </a:solidFill>
                            <a:latin typeface="Cambria Math" panose="02040503050406030204" pitchFamily="18" charset="0"/>
                          </a:rPr>
                          <m:t>𝟖</m:t>
                        </m:r>
                      </m:den>
                    </m:f>
                  </m:oMath>
                </a14:m>
                <a:endParaRPr lang="es-NI" sz="2400" b="1" dirty="0">
                  <a:solidFill>
                    <a:schemeClr val="bg1"/>
                  </a:solidFill>
                </a:endParaRPr>
              </a:p>
            </p:txBody>
          </p:sp>
        </mc:Choice>
        <mc:Fallback>
          <p:sp>
            <p:nvSpPr>
              <p:cNvPr id="16" name="CuadroTexto 15">
                <a:extLst>
                  <a:ext uri="{FF2B5EF4-FFF2-40B4-BE49-F238E27FC236}">
                    <a16:creationId xmlns:a16="http://schemas.microsoft.com/office/drawing/2014/main" id="{2648D21D-066D-4B12-8C12-D47FBFADB431}"/>
                  </a:ext>
                </a:extLst>
              </p:cNvPr>
              <p:cNvSpPr txBox="1">
                <a:spLocks noRot="1" noChangeAspect="1" noMove="1" noResize="1" noEditPoints="1" noAdjustHandles="1" noChangeArrowheads="1" noChangeShapeType="1" noTextEdit="1"/>
              </p:cNvSpPr>
              <p:nvPr/>
            </p:nvSpPr>
            <p:spPr>
              <a:xfrm>
                <a:off x="4928565" y="5270495"/>
                <a:ext cx="1583190" cy="539058"/>
              </a:xfrm>
              <a:prstGeom prst="rect">
                <a:avLst/>
              </a:prstGeom>
              <a:blipFill>
                <a:blip r:embed="rId3"/>
                <a:stretch>
                  <a:fillRect l="-11538" t="-1136" b="-19318"/>
                </a:stretch>
              </a:blipFill>
            </p:spPr>
            <p:txBody>
              <a:bodyPr/>
              <a:lstStyle/>
              <a:p>
                <a:r>
                  <a:rPr lang="es-NI">
                    <a:noFill/>
                  </a:rPr>
                  <a:t> </a:t>
                </a:r>
              </a:p>
            </p:txBody>
          </p:sp>
        </mc:Fallback>
      </mc:AlternateContent>
      <p:sp>
        <p:nvSpPr>
          <p:cNvPr id="17" name="CuadroTexto 16">
            <a:extLst>
              <a:ext uri="{FF2B5EF4-FFF2-40B4-BE49-F238E27FC236}">
                <a16:creationId xmlns:a16="http://schemas.microsoft.com/office/drawing/2014/main" id="{5F103139-0F76-4CB3-AAE9-5F7BD2C6DFFF}"/>
              </a:ext>
            </a:extLst>
          </p:cNvPr>
          <p:cNvSpPr txBox="1"/>
          <p:nvPr/>
        </p:nvSpPr>
        <p:spPr>
          <a:xfrm>
            <a:off x="6581055" y="5348956"/>
            <a:ext cx="1662545" cy="369332"/>
          </a:xfrm>
          <a:prstGeom prst="rect">
            <a:avLst/>
          </a:prstGeom>
          <a:noFill/>
        </p:spPr>
        <p:txBody>
          <a:bodyPr wrap="square" rtlCol="0">
            <a:spAutoFit/>
          </a:bodyPr>
          <a:lstStyle/>
          <a:p>
            <a:r>
              <a:rPr lang="es-NI" b="1" dirty="0">
                <a:solidFill>
                  <a:schemeClr val="bg1"/>
                </a:solidFill>
              </a:rPr>
              <a:t>=  5.59</a:t>
            </a:r>
          </a:p>
        </p:txBody>
      </p:sp>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51137EC2-0DBD-490C-B7EC-42665BA8DE7D}"/>
                  </a:ext>
                </a:extLst>
              </p:cNvPr>
              <p:cNvSpPr txBox="1"/>
              <p:nvPr/>
            </p:nvSpPr>
            <p:spPr>
              <a:xfrm>
                <a:off x="4540636" y="254272"/>
                <a:ext cx="5240671" cy="714106"/>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f>
                        <m:fPr>
                          <m:ctrlPr>
                            <a:rPr lang="es-NI" sz="2400" smtClean="0">
                              <a:solidFill>
                                <a:schemeClr val="bg1"/>
                              </a:solidFill>
                              <a:latin typeface="Cambria Math" panose="02040503050406030204" pitchFamily="18" charset="0"/>
                            </a:rPr>
                          </m:ctrlPr>
                        </m:fPr>
                        <m:num>
                          <m:r>
                            <m:rPr>
                              <m:sty m:val="p"/>
                            </m:rPr>
                            <a:rPr lang="el-GR" sz="2400" i="1" smtClean="0">
                              <a:solidFill>
                                <a:schemeClr val="bg1"/>
                              </a:solidFill>
                              <a:latin typeface="Cambria Math" panose="02040503050406030204" pitchFamily="18" charset="0"/>
                            </a:rPr>
                            <m:t>Σ</m:t>
                          </m:r>
                          <m:r>
                            <a:rPr lang="es-NI" sz="2400" b="0" i="1" smtClean="0">
                              <a:solidFill>
                                <a:schemeClr val="bg1"/>
                              </a:solidFill>
                              <a:latin typeface="Cambria Math" panose="02040503050406030204" pitchFamily="18" charset="0"/>
                            </a:rPr>
                            <m:t>100 ∗ </m:t>
                          </m:r>
                          <m:d>
                            <m:dPr>
                              <m:begChr m:val="|"/>
                              <m:endChr m:val="|"/>
                              <m:ctrlPr>
                                <a:rPr lang="es-NI" sz="2400" i="1" smtClean="0">
                                  <a:solidFill>
                                    <a:schemeClr val="bg1"/>
                                  </a:solidFill>
                                  <a:latin typeface="Cambria Math" panose="02040503050406030204" pitchFamily="18" charset="0"/>
                                </a:rPr>
                              </m:ctrlPr>
                            </m:dPr>
                            <m:e>
                              <m:r>
                                <a:rPr lang="es-NI" sz="2400" b="0" i="1" smtClean="0">
                                  <a:solidFill>
                                    <a:schemeClr val="bg1"/>
                                  </a:solidFill>
                                  <a:latin typeface="Cambria Math" panose="02040503050406030204" pitchFamily="18" charset="0"/>
                                </a:rPr>
                                <m:t>𝐷𝑒𝑚𝑟𝑒𝑎𝑙</m:t>
                              </m:r>
                              <m:r>
                                <a:rPr lang="es-NI" sz="2400" b="0" i="1" smtClean="0">
                                  <a:solidFill>
                                    <a:schemeClr val="bg1"/>
                                  </a:solidFill>
                                  <a:latin typeface="Cambria Math" panose="02040503050406030204" pitchFamily="18" charset="0"/>
                                </a:rPr>
                                <m:t> −</m:t>
                              </m:r>
                              <m:r>
                                <a:rPr lang="es-NI" sz="2400" b="0" i="1" smtClean="0">
                                  <a:solidFill>
                                    <a:schemeClr val="bg1"/>
                                  </a:solidFill>
                                  <a:latin typeface="Cambria Math" panose="02040503050406030204" pitchFamily="18" charset="0"/>
                                </a:rPr>
                                <m:t>𝑃𝑟𝑜𝑛</m:t>
                              </m:r>
                            </m:e>
                          </m:d>
                          <m:r>
                            <a:rPr lang="es-NI" sz="2400" b="0" i="1" smtClean="0">
                              <a:solidFill>
                                <a:schemeClr val="bg1"/>
                              </a:solidFill>
                              <a:latin typeface="Cambria Math" panose="02040503050406030204" pitchFamily="18" charset="0"/>
                            </a:rPr>
                            <m:t>/</m:t>
                          </m:r>
                          <m:r>
                            <a:rPr lang="es-NI" sz="2400" b="0" i="1" smtClean="0">
                              <a:solidFill>
                                <a:schemeClr val="bg1"/>
                              </a:solidFill>
                              <a:latin typeface="Cambria Math" panose="02040503050406030204" pitchFamily="18" charset="0"/>
                            </a:rPr>
                            <m:t>𝐷𝑒𝑚𝑟𝑒𝑎𝑙</m:t>
                          </m:r>
                        </m:num>
                        <m:den>
                          <m:r>
                            <a:rPr lang="es-NI" sz="2400" i="1">
                              <a:solidFill>
                                <a:schemeClr val="bg1"/>
                              </a:solidFill>
                              <a:latin typeface="Cambria Math" panose="02040503050406030204" pitchFamily="18" charset="0"/>
                            </a:rPr>
                            <m:t>𝑛</m:t>
                          </m:r>
                        </m:den>
                      </m:f>
                    </m:oMath>
                  </m:oMathPara>
                </a14:m>
                <a:endParaRPr lang="es-NI" sz="2400" dirty="0">
                  <a:solidFill>
                    <a:schemeClr val="bg1"/>
                  </a:solidFill>
                </a:endParaRPr>
              </a:p>
            </p:txBody>
          </p:sp>
        </mc:Choice>
        <mc:Fallback>
          <p:sp>
            <p:nvSpPr>
              <p:cNvPr id="18" name="CuadroTexto 17">
                <a:extLst>
                  <a:ext uri="{FF2B5EF4-FFF2-40B4-BE49-F238E27FC236}">
                    <a16:creationId xmlns:a16="http://schemas.microsoft.com/office/drawing/2014/main" id="{51137EC2-0DBD-490C-B7EC-42665BA8DE7D}"/>
                  </a:ext>
                </a:extLst>
              </p:cNvPr>
              <p:cNvSpPr txBox="1">
                <a:spLocks noRot="1" noChangeAspect="1" noMove="1" noResize="1" noEditPoints="1" noAdjustHandles="1" noChangeArrowheads="1" noChangeShapeType="1" noTextEdit="1"/>
              </p:cNvSpPr>
              <p:nvPr/>
            </p:nvSpPr>
            <p:spPr>
              <a:xfrm>
                <a:off x="4540636" y="254272"/>
                <a:ext cx="5240671" cy="714106"/>
              </a:xfrm>
              <a:prstGeom prst="rect">
                <a:avLst/>
              </a:prstGeom>
              <a:blipFill>
                <a:blip r:embed="rId4"/>
                <a:stretch>
                  <a:fillRect/>
                </a:stretch>
              </a:blipFill>
            </p:spPr>
            <p:txBody>
              <a:bodyPr/>
              <a:lstStyle/>
              <a:p>
                <a:r>
                  <a:rPr lang="es-NI">
                    <a:noFill/>
                  </a:rPr>
                  <a:t> </a:t>
                </a:r>
              </a:p>
            </p:txBody>
          </p:sp>
        </mc:Fallback>
      </mc:AlternateContent>
    </p:spTree>
    <p:extLst>
      <p:ext uri="{BB962C8B-B14F-4D97-AF65-F5344CB8AC3E}">
        <p14:creationId xmlns:p14="http://schemas.microsoft.com/office/powerpoint/2010/main" val="2915105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F58AE6-56F6-44E8-8BBF-23277B1773E4}"/>
              </a:ext>
            </a:extLst>
          </p:cNvPr>
          <p:cNvSpPr>
            <a:spLocks noGrp="1"/>
          </p:cNvSpPr>
          <p:nvPr>
            <p:ph type="title"/>
          </p:nvPr>
        </p:nvSpPr>
        <p:spPr>
          <a:xfrm>
            <a:off x="0" y="1"/>
            <a:ext cx="4305300" cy="1662544"/>
          </a:xfrm>
        </p:spPr>
        <p:txBody>
          <a:bodyPr rtlCol="0"/>
          <a:lstStyle/>
          <a:p>
            <a:pPr rtl="0"/>
            <a:r>
              <a:rPr lang="es-ES" dirty="0"/>
              <a:t>Trabajo</a:t>
            </a:r>
          </a:p>
        </p:txBody>
      </p:sp>
      <p:sp>
        <p:nvSpPr>
          <p:cNvPr id="4" name="Marcador de contenido 3">
            <a:extLst>
              <a:ext uri="{FF2B5EF4-FFF2-40B4-BE49-F238E27FC236}">
                <a16:creationId xmlns:a16="http://schemas.microsoft.com/office/drawing/2014/main" id="{8B863B31-6429-468C-9624-0D0BBDBACA62}"/>
              </a:ext>
            </a:extLst>
          </p:cNvPr>
          <p:cNvSpPr>
            <a:spLocks noGrp="1"/>
          </p:cNvSpPr>
          <p:nvPr>
            <p:ph idx="1"/>
          </p:nvPr>
        </p:nvSpPr>
        <p:spPr>
          <a:xfrm>
            <a:off x="77647" y="2255983"/>
            <a:ext cx="6648448" cy="2346034"/>
          </a:xfrm>
        </p:spPr>
        <p:txBody>
          <a:bodyPr rtlCol="0">
            <a:normAutofit/>
          </a:bodyPr>
          <a:lstStyle/>
          <a:p>
            <a:pPr marL="0" indent="0" algn="just" rtl="0">
              <a:buNone/>
            </a:pPr>
            <a:r>
              <a:rPr lang="es-ES" sz="1800" dirty="0"/>
              <a:t>Una fábrica de comida para perros necesita calcular un pronóstico de demanda para 3 meses, se le pide usar los siguiente métodos, Promedio móvil simple, promedio móvil ponderado(el mes más cercano 40%, el central 30% y el más </a:t>
            </a:r>
            <a:r>
              <a:rPr lang="es-ES" sz="1800"/>
              <a:t>lejano 30</a:t>
            </a:r>
            <a:r>
              <a:rPr lang="es-ES" sz="1800" dirty="0"/>
              <a:t>%), y suavizado exponencial (con factores de suavizado de 0.15 y 0.25), seleccione un método de error visto en esta clase y aplíquelo para elegir cuál de los pronósticos es el mejor</a:t>
            </a:r>
          </a:p>
        </p:txBody>
      </p:sp>
      <p:sp>
        <p:nvSpPr>
          <p:cNvPr id="20" name="Marcador de número de diapositiva 19">
            <a:extLst>
              <a:ext uri="{FF2B5EF4-FFF2-40B4-BE49-F238E27FC236}">
                <a16:creationId xmlns:a16="http://schemas.microsoft.com/office/drawing/2014/main" id="{3AEC0301-E9AA-4478-9E23-C372DBDCE653}"/>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10</a:t>
            </a:fld>
            <a:endParaRPr lang="es-ES"/>
          </a:p>
        </p:txBody>
      </p:sp>
      <p:sp>
        <p:nvSpPr>
          <p:cNvPr id="5" name="Rectángulo 4">
            <a:extLst>
              <a:ext uri="{FF2B5EF4-FFF2-40B4-BE49-F238E27FC236}">
                <a16:creationId xmlns:a16="http://schemas.microsoft.com/office/drawing/2014/main" id="{093D1241-4F6B-4523-A0D3-68E3CDBC0F28}"/>
              </a:ext>
              <a:ext uri="{C183D7F6-B498-43B3-948B-1728B52AA6E4}">
                <adec:decorative xmlns:adec="http://schemas.microsoft.com/office/drawing/2017/decorative" val="1"/>
              </a:ext>
            </a:extLst>
          </p:cNvPr>
          <p:cNvSpPr/>
          <p:nvPr/>
        </p:nvSpPr>
        <p:spPr>
          <a:xfrm>
            <a:off x="1145309" y="6557848"/>
            <a:ext cx="2552123" cy="163627"/>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MAD</a:t>
            </a:r>
          </a:p>
        </p:txBody>
      </p:sp>
      <p:sp>
        <p:nvSpPr>
          <p:cNvPr id="6" name="Rectángulo 5">
            <a:extLst>
              <a:ext uri="{FF2B5EF4-FFF2-40B4-BE49-F238E27FC236}">
                <a16:creationId xmlns:a16="http://schemas.microsoft.com/office/drawing/2014/main" id="{C7BF8379-6FA4-47C8-A343-950346DD4931}"/>
              </a:ext>
              <a:ext uri="{C183D7F6-B498-43B3-948B-1728B52AA6E4}">
                <adec:decorative xmlns:adec="http://schemas.microsoft.com/office/drawing/2017/decorative" val="1"/>
              </a:ext>
            </a:extLst>
          </p:cNvPr>
          <p:cNvSpPr/>
          <p:nvPr/>
        </p:nvSpPr>
        <p:spPr>
          <a:xfrm>
            <a:off x="3697432" y="6557846"/>
            <a:ext cx="2552123" cy="16362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MSE</a:t>
            </a:r>
          </a:p>
        </p:txBody>
      </p:sp>
      <p:sp>
        <p:nvSpPr>
          <p:cNvPr id="7" name="Rectángulo 6">
            <a:extLst>
              <a:ext uri="{FF2B5EF4-FFF2-40B4-BE49-F238E27FC236}">
                <a16:creationId xmlns:a16="http://schemas.microsoft.com/office/drawing/2014/main" id="{CD0DE557-B4FF-44B4-B945-B5B41DBDA39C}"/>
              </a:ext>
              <a:ext uri="{C183D7F6-B498-43B3-948B-1728B52AA6E4}">
                <adec:decorative xmlns:adec="http://schemas.microsoft.com/office/drawing/2017/decorative" val="1"/>
              </a:ext>
            </a:extLst>
          </p:cNvPr>
          <p:cNvSpPr/>
          <p:nvPr/>
        </p:nvSpPr>
        <p:spPr>
          <a:xfrm>
            <a:off x="6249555" y="6557845"/>
            <a:ext cx="2552123" cy="16363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MAPE</a:t>
            </a:r>
          </a:p>
        </p:txBody>
      </p:sp>
      <p:sp>
        <p:nvSpPr>
          <p:cNvPr id="8" name="Rectángulo 7">
            <a:extLst>
              <a:ext uri="{FF2B5EF4-FFF2-40B4-BE49-F238E27FC236}">
                <a16:creationId xmlns:a16="http://schemas.microsoft.com/office/drawing/2014/main" id="{BB801CDE-088C-4A56-83CA-BF9F271065B0}"/>
              </a:ext>
              <a:ext uri="{C183D7F6-B498-43B3-948B-1728B52AA6E4}">
                <adec:decorative xmlns:adec="http://schemas.microsoft.com/office/drawing/2017/decorative" val="1"/>
              </a:ext>
            </a:extLst>
          </p:cNvPr>
          <p:cNvSpPr/>
          <p:nvPr/>
        </p:nvSpPr>
        <p:spPr>
          <a:xfrm>
            <a:off x="8801677" y="6361475"/>
            <a:ext cx="2552123" cy="360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Tarea y trabajo</a:t>
            </a:r>
          </a:p>
        </p:txBody>
      </p:sp>
      <p:sp>
        <p:nvSpPr>
          <p:cNvPr id="10" name="Triángulo isósceles 9">
            <a:extLst>
              <a:ext uri="{FF2B5EF4-FFF2-40B4-BE49-F238E27FC236}">
                <a16:creationId xmlns:a16="http://schemas.microsoft.com/office/drawing/2014/main" id="{792980D7-ED01-4955-83DB-59BA18C94FBA}"/>
              </a:ext>
              <a:ext uri="{C183D7F6-B498-43B3-948B-1728B52AA6E4}">
                <adec:decorative xmlns:adec="http://schemas.microsoft.com/office/drawing/2017/decorative" val="1"/>
              </a:ext>
            </a:extLst>
          </p:cNvPr>
          <p:cNvSpPr/>
          <p:nvPr/>
        </p:nvSpPr>
        <p:spPr>
          <a:xfrm rot="10800000">
            <a:off x="10006315"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graphicFrame>
        <p:nvGraphicFramePr>
          <p:cNvPr id="3" name="Tabla 8">
            <a:extLst>
              <a:ext uri="{FF2B5EF4-FFF2-40B4-BE49-F238E27FC236}">
                <a16:creationId xmlns:a16="http://schemas.microsoft.com/office/drawing/2014/main" id="{C555EE3D-14E2-46E8-9BD1-3ABAD8D8FD86}"/>
              </a:ext>
            </a:extLst>
          </p:cNvPr>
          <p:cNvGraphicFramePr>
            <a:graphicFrameLocks noGrp="1"/>
          </p:cNvGraphicFramePr>
          <p:nvPr>
            <p:extLst>
              <p:ext uri="{D42A27DB-BD31-4B8C-83A1-F6EECF244321}">
                <p14:modId xmlns:p14="http://schemas.microsoft.com/office/powerpoint/2010/main" val="2754803767"/>
              </p:ext>
            </p:extLst>
          </p:nvPr>
        </p:nvGraphicFramePr>
        <p:xfrm>
          <a:off x="7833017" y="1092305"/>
          <a:ext cx="3800764" cy="4820920"/>
        </p:xfrm>
        <a:graphic>
          <a:graphicData uri="http://schemas.openxmlformats.org/drawingml/2006/table">
            <a:tbl>
              <a:tblPr firstRow="1" bandRow="1">
                <a:tableStyleId>{073A0DAA-6AF3-43AB-8588-CEC1D06C72B9}</a:tableStyleId>
              </a:tblPr>
              <a:tblGrid>
                <a:gridCol w="1237673">
                  <a:extLst>
                    <a:ext uri="{9D8B030D-6E8A-4147-A177-3AD203B41FA5}">
                      <a16:colId xmlns:a16="http://schemas.microsoft.com/office/drawing/2014/main" val="1009581258"/>
                    </a:ext>
                  </a:extLst>
                </a:gridCol>
                <a:gridCol w="1607127">
                  <a:extLst>
                    <a:ext uri="{9D8B030D-6E8A-4147-A177-3AD203B41FA5}">
                      <a16:colId xmlns:a16="http://schemas.microsoft.com/office/drawing/2014/main" val="158677578"/>
                    </a:ext>
                  </a:extLst>
                </a:gridCol>
                <a:gridCol w="955964">
                  <a:extLst>
                    <a:ext uri="{9D8B030D-6E8A-4147-A177-3AD203B41FA5}">
                      <a16:colId xmlns:a16="http://schemas.microsoft.com/office/drawing/2014/main" val="1812826933"/>
                    </a:ext>
                  </a:extLst>
                </a:gridCol>
              </a:tblGrid>
              <a:tr h="370840">
                <a:tc>
                  <a:txBody>
                    <a:bodyPr/>
                    <a:lstStyle/>
                    <a:p>
                      <a:pPr algn="l" fontAlgn="b"/>
                      <a:r>
                        <a:rPr lang="es-NI" sz="1800" b="0" u="none" strike="noStrike" dirty="0">
                          <a:solidFill>
                            <a:schemeClr val="bg1"/>
                          </a:solidFill>
                          <a:effectLst/>
                        </a:rPr>
                        <a:t>N</a:t>
                      </a:r>
                      <a:endParaRPr lang="es-NI" sz="1800" b="0" i="0" u="none" strike="noStrike" dirty="0">
                        <a:solidFill>
                          <a:schemeClr val="bg1"/>
                        </a:solidFill>
                        <a:effectLst/>
                        <a:latin typeface="Calibri" panose="020F0502020204030204" pitchFamily="34" charset="0"/>
                      </a:endParaRPr>
                    </a:p>
                  </a:txBody>
                  <a:tcPr marL="9525" marR="9525" marT="9525" marB="0" anchor="b"/>
                </a:tc>
                <a:tc>
                  <a:txBody>
                    <a:bodyPr/>
                    <a:lstStyle/>
                    <a:p>
                      <a:pPr algn="l" fontAlgn="b"/>
                      <a:r>
                        <a:rPr lang="es-NI" sz="1800" b="0" u="none" strike="noStrike">
                          <a:solidFill>
                            <a:schemeClr val="bg1"/>
                          </a:solidFill>
                          <a:effectLst/>
                        </a:rPr>
                        <a:t>Mes</a:t>
                      </a:r>
                      <a:endParaRPr lang="es-NI" sz="1800" b="0" i="0" u="none" strike="noStrike">
                        <a:solidFill>
                          <a:schemeClr val="bg1"/>
                        </a:solidFill>
                        <a:effectLst/>
                        <a:latin typeface="Calibri" panose="020F0502020204030204" pitchFamily="34" charset="0"/>
                      </a:endParaRPr>
                    </a:p>
                  </a:txBody>
                  <a:tcPr marL="9525" marR="9525" marT="9525" marB="0" anchor="b"/>
                </a:tc>
                <a:tc>
                  <a:txBody>
                    <a:bodyPr/>
                    <a:lstStyle/>
                    <a:p>
                      <a:pPr algn="l" fontAlgn="b"/>
                      <a:r>
                        <a:rPr lang="es-NI" sz="1800" b="0" u="none" strike="noStrike">
                          <a:solidFill>
                            <a:schemeClr val="bg1"/>
                          </a:solidFill>
                          <a:effectLst/>
                        </a:rPr>
                        <a:t>At</a:t>
                      </a:r>
                      <a:endParaRPr lang="es-NI" sz="1800" b="0" i="0" u="none" strike="noStrike">
                        <a:solidFill>
                          <a:schemeClr val="bg1"/>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45783466"/>
                  </a:ext>
                </a:extLst>
              </a:tr>
              <a:tr h="370840">
                <a:tc>
                  <a:txBody>
                    <a:bodyPr/>
                    <a:lstStyle/>
                    <a:p>
                      <a:pPr algn="r" fontAlgn="b"/>
                      <a:r>
                        <a:rPr lang="es-NI" sz="1800" b="0" u="none" strike="noStrike" dirty="0">
                          <a:solidFill>
                            <a:srgbClr val="124C58"/>
                          </a:solidFill>
                          <a:effectLst/>
                        </a:rPr>
                        <a:t>1</a:t>
                      </a:r>
                      <a:endParaRPr lang="es-NI" sz="1800" b="0" i="0" u="none" strike="noStrike" dirty="0">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dirty="0">
                          <a:solidFill>
                            <a:srgbClr val="124C58"/>
                          </a:solidFill>
                          <a:effectLst/>
                        </a:rPr>
                        <a:t>Enero</a:t>
                      </a:r>
                      <a:endParaRPr lang="es-NI" sz="1800" b="0" i="0" u="none" strike="noStrike" dirty="0">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dirty="0">
                          <a:solidFill>
                            <a:srgbClr val="124C58"/>
                          </a:solidFill>
                          <a:effectLst/>
                        </a:rPr>
                        <a:t>200</a:t>
                      </a:r>
                      <a:endParaRPr lang="es-NI" sz="1800" b="0" i="0" u="none" strike="noStrike" dirty="0">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1953721"/>
                  </a:ext>
                </a:extLst>
              </a:tr>
              <a:tr h="370840">
                <a:tc>
                  <a:txBody>
                    <a:bodyPr/>
                    <a:lstStyle/>
                    <a:p>
                      <a:pPr algn="r" fontAlgn="b"/>
                      <a:r>
                        <a:rPr lang="es-NI" sz="1800" b="0" u="none" strike="noStrike">
                          <a:solidFill>
                            <a:srgbClr val="124C58"/>
                          </a:solidFill>
                          <a:effectLst/>
                        </a:rPr>
                        <a:t>2</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dirty="0">
                          <a:solidFill>
                            <a:srgbClr val="124C58"/>
                          </a:solidFill>
                          <a:effectLst/>
                        </a:rPr>
                        <a:t>Febrero</a:t>
                      </a:r>
                      <a:endParaRPr lang="es-NI" sz="1800" b="0" i="0" u="none" strike="noStrike" dirty="0">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a:solidFill>
                            <a:srgbClr val="124C58"/>
                          </a:solidFill>
                          <a:effectLst/>
                        </a:rPr>
                        <a:t>230</a:t>
                      </a:r>
                      <a:endParaRPr lang="es-NI" sz="1800" b="0" i="0" u="none" strike="noStrike">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34730574"/>
                  </a:ext>
                </a:extLst>
              </a:tr>
              <a:tr h="370840">
                <a:tc>
                  <a:txBody>
                    <a:bodyPr/>
                    <a:lstStyle/>
                    <a:p>
                      <a:pPr algn="r" fontAlgn="b"/>
                      <a:r>
                        <a:rPr lang="es-NI" sz="1800" b="0" u="none" strike="noStrike">
                          <a:solidFill>
                            <a:srgbClr val="124C58"/>
                          </a:solidFill>
                          <a:effectLst/>
                        </a:rPr>
                        <a:t>3</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dirty="0">
                          <a:solidFill>
                            <a:srgbClr val="124C58"/>
                          </a:solidFill>
                          <a:effectLst/>
                        </a:rPr>
                        <a:t>Marzo</a:t>
                      </a:r>
                      <a:endParaRPr lang="es-NI" sz="1800" b="0" i="0" u="none" strike="noStrike" dirty="0">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a:solidFill>
                            <a:srgbClr val="124C58"/>
                          </a:solidFill>
                          <a:effectLst/>
                        </a:rPr>
                        <a:t>260</a:t>
                      </a:r>
                      <a:endParaRPr lang="es-NI" sz="1800" b="0" i="0" u="none" strike="noStrike">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07171595"/>
                  </a:ext>
                </a:extLst>
              </a:tr>
              <a:tr h="370840">
                <a:tc>
                  <a:txBody>
                    <a:bodyPr/>
                    <a:lstStyle/>
                    <a:p>
                      <a:pPr algn="r" fontAlgn="b"/>
                      <a:r>
                        <a:rPr lang="es-NI" sz="1800" b="0" u="none" strike="noStrike">
                          <a:solidFill>
                            <a:srgbClr val="124C58"/>
                          </a:solidFill>
                          <a:effectLst/>
                        </a:rPr>
                        <a:t>4</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dirty="0">
                          <a:solidFill>
                            <a:srgbClr val="124C58"/>
                          </a:solidFill>
                          <a:effectLst/>
                        </a:rPr>
                        <a:t>Abril</a:t>
                      </a:r>
                      <a:endParaRPr lang="es-NI" sz="1800" b="0" i="0" u="none" strike="noStrike" dirty="0">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a:solidFill>
                            <a:srgbClr val="124C58"/>
                          </a:solidFill>
                          <a:effectLst/>
                        </a:rPr>
                        <a:t>180</a:t>
                      </a:r>
                      <a:endParaRPr lang="es-NI" sz="1800" b="0" i="0" u="none" strike="noStrike">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15268105"/>
                  </a:ext>
                </a:extLst>
              </a:tr>
              <a:tr h="370840">
                <a:tc>
                  <a:txBody>
                    <a:bodyPr/>
                    <a:lstStyle/>
                    <a:p>
                      <a:pPr algn="r" fontAlgn="b"/>
                      <a:r>
                        <a:rPr lang="es-NI" sz="1800" b="0" u="none" strike="noStrike">
                          <a:solidFill>
                            <a:srgbClr val="124C58"/>
                          </a:solidFill>
                          <a:effectLst/>
                        </a:rPr>
                        <a:t>5</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a:solidFill>
                            <a:srgbClr val="124C58"/>
                          </a:solidFill>
                          <a:effectLst/>
                        </a:rPr>
                        <a:t>Mayo</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dirty="0">
                          <a:solidFill>
                            <a:srgbClr val="124C58"/>
                          </a:solidFill>
                          <a:effectLst/>
                        </a:rPr>
                        <a:t>270</a:t>
                      </a:r>
                      <a:endParaRPr lang="es-NI" sz="1800" b="0" i="0" u="none" strike="noStrike" dirty="0">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13485949"/>
                  </a:ext>
                </a:extLst>
              </a:tr>
              <a:tr h="370840">
                <a:tc>
                  <a:txBody>
                    <a:bodyPr/>
                    <a:lstStyle/>
                    <a:p>
                      <a:pPr algn="r" fontAlgn="b"/>
                      <a:r>
                        <a:rPr lang="es-NI" sz="1800" b="0" u="none" strike="noStrike">
                          <a:solidFill>
                            <a:srgbClr val="124C58"/>
                          </a:solidFill>
                          <a:effectLst/>
                        </a:rPr>
                        <a:t>6</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a:solidFill>
                            <a:srgbClr val="124C58"/>
                          </a:solidFill>
                          <a:effectLst/>
                        </a:rPr>
                        <a:t>Junio</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dirty="0">
                          <a:solidFill>
                            <a:srgbClr val="124C58"/>
                          </a:solidFill>
                          <a:effectLst/>
                        </a:rPr>
                        <a:t>240</a:t>
                      </a:r>
                      <a:endParaRPr lang="es-NI" sz="1800" b="0" i="0" u="none" strike="noStrike" dirty="0">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85716979"/>
                  </a:ext>
                </a:extLst>
              </a:tr>
              <a:tr h="370840">
                <a:tc>
                  <a:txBody>
                    <a:bodyPr/>
                    <a:lstStyle/>
                    <a:p>
                      <a:pPr algn="r" fontAlgn="b"/>
                      <a:r>
                        <a:rPr lang="es-NI" sz="1800" b="0" u="none" strike="noStrike">
                          <a:solidFill>
                            <a:srgbClr val="124C58"/>
                          </a:solidFill>
                          <a:effectLst/>
                        </a:rPr>
                        <a:t>7</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a:solidFill>
                            <a:srgbClr val="124C58"/>
                          </a:solidFill>
                          <a:effectLst/>
                        </a:rPr>
                        <a:t>Julio</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dirty="0">
                          <a:solidFill>
                            <a:srgbClr val="124C58"/>
                          </a:solidFill>
                          <a:effectLst/>
                        </a:rPr>
                        <a:t>250</a:t>
                      </a:r>
                      <a:endParaRPr lang="es-NI" sz="1800" b="0" i="0" u="none" strike="noStrike" dirty="0">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08100572"/>
                  </a:ext>
                </a:extLst>
              </a:tr>
              <a:tr h="370840">
                <a:tc>
                  <a:txBody>
                    <a:bodyPr/>
                    <a:lstStyle/>
                    <a:p>
                      <a:pPr algn="r" fontAlgn="b"/>
                      <a:r>
                        <a:rPr lang="es-NI" sz="1800" b="0" u="none" strike="noStrike">
                          <a:solidFill>
                            <a:srgbClr val="124C58"/>
                          </a:solidFill>
                          <a:effectLst/>
                        </a:rPr>
                        <a:t>8</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a:solidFill>
                            <a:srgbClr val="124C58"/>
                          </a:solidFill>
                          <a:effectLst/>
                        </a:rPr>
                        <a:t>Agosto</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dirty="0">
                          <a:solidFill>
                            <a:srgbClr val="124C58"/>
                          </a:solidFill>
                          <a:effectLst/>
                        </a:rPr>
                        <a:t>300</a:t>
                      </a:r>
                      <a:endParaRPr lang="es-NI" sz="1800" b="0" i="0" u="none" strike="noStrike" dirty="0">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93634213"/>
                  </a:ext>
                </a:extLst>
              </a:tr>
              <a:tr h="370840">
                <a:tc>
                  <a:txBody>
                    <a:bodyPr/>
                    <a:lstStyle/>
                    <a:p>
                      <a:pPr algn="r" fontAlgn="b"/>
                      <a:r>
                        <a:rPr lang="es-NI" sz="1800" b="0" u="none" strike="noStrike">
                          <a:solidFill>
                            <a:srgbClr val="124C58"/>
                          </a:solidFill>
                          <a:effectLst/>
                        </a:rPr>
                        <a:t>9</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a:solidFill>
                            <a:srgbClr val="124C58"/>
                          </a:solidFill>
                          <a:effectLst/>
                        </a:rPr>
                        <a:t>Septiembre</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dirty="0">
                          <a:solidFill>
                            <a:srgbClr val="124C58"/>
                          </a:solidFill>
                          <a:effectLst/>
                        </a:rPr>
                        <a:t>320</a:t>
                      </a:r>
                      <a:endParaRPr lang="es-NI" sz="1800" b="0" i="0" u="none" strike="noStrike" dirty="0">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16409841"/>
                  </a:ext>
                </a:extLst>
              </a:tr>
              <a:tr h="370840">
                <a:tc>
                  <a:txBody>
                    <a:bodyPr/>
                    <a:lstStyle/>
                    <a:p>
                      <a:pPr algn="r" fontAlgn="b"/>
                      <a:r>
                        <a:rPr lang="es-NI" sz="1800" b="0" u="none" strike="noStrike">
                          <a:solidFill>
                            <a:srgbClr val="124C58"/>
                          </a:solidFill>
                          <a:effectLst/>
                        </a:rPr>
                        <a:t>10</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a:solidFill>
                            <a:srgbClr val="124C58"/>
                          </a:solidFill>
                          <a:effectLst/>
                        </a:rPr>
                        <a:t>Octubre</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dirty="0">
                          <a:solidFill>
                            <a:srgbClr val="124C58"/>
                          </a:solidFill>
                          <a:effectLst/>
                        </a:rPr>
                        <a:t>350</a:t>
                      </a:r>
                      <a:endParaRPr lang="es-NI" sz="1800" b="0" i="0" u="none" strike="noStrike" dirty="0">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05863269"/>
                  </a:ext>
                </a:extLst>
              </a:tr>
              <a:tr h="370840">
                <a:tc>
                  <a:txBody>
                    <a:bodyPr/>
                    <a:lstStyle/>
                    <a:p>
                      <a:pPr algn="r" fontAlgn="b"/>
                      <a:r>
                        <a:rPr lang="es-NI" sz="1800" b="0" u="none" strike="noStrike">
                          <a:solidFill>
                            <a:srgbClr val="124C58"/>
                          </a:solidFill>
                          <a:effectLst/>
                        </a:rPr>
                        <a:t>11</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a:solidFill>
                            <a:srgbClr val="124C58"/>
                          </a:solidFill>
                          <a:effectLst/>
                        </a:rPr>
                        <a:t>Noviembre</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dirty="0">
                          <a:solidFill>
                            <a:srgbClr val="124C58"/>
                          </a:solidFill>
                          <a:effectLst/>
                        </a:rPr>
                        <a:t>240</a:t>
                      </a:r>
                      <a:endParaRPr lang="es-NI" sz="1800" b="0" i="0" u="none" strike="noStrike" dirty="0">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63978507"/>
                  </a:ext>
                </a:extLst>
              </a:tr>
              <a:tr h="370840">
                <a:tc>
                  <a:txBody>
                    <a:bodyPr/>
                    <a:lstStyle/>
                    <a:p>
                      <a:pPr algn="r" fontAlgn="b"/>
                      <a:r>
                        <a:rPr lang="es-NI" sz="1800" b="0" u="none" strike="noStrike">
                          <a:solidFill>
                            <a:srgbClr val="124C58"/>
                          </a:solidFill>
                          <a:effectLst/>
                        </a:rPr>
                        <a:t>12</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l" fontAlgn="b"/>
                      <a:r>
                        <a:rPr lang="es-NI" sz="1800" b="0" u="none" strike="noStrike">
                          <a:solidFill>
                            <a:srgbClr val="124C58"/>
                          </a:solidFill>
                          <a:effectLst/>
                        </a:rPr>
                        <a:t>Diciembre</a:t>
                      </a:r>
                      <a:endParaRPr lang="es-NI" sz="1800" b="0" i="0" u="none" strike="noStrike">
                        <a:solidFill>
                          <a:srgbClr val="124C58"/>
                        </a:solidFill>
                        <a:effectLst/>
                        <a:latin typeface="Calibri" panose="020F0502020204030204" pitchFamily="34" charset="0"/>
                      </a:endParaRPr>
                    </a:p>
                  </a:txBody>
                  <a:tcPr marL="9525" marR="9525" marT="9525" marB="0" anchor="b"/>
                </a:tc>
                <a:tc>
                  <a:txBody>
                    <a:bodyPr/>
                    <a:lstStyle/>
                    <a:p>
                      <a:pPr algn="r" fontAlgn="b"/>
                      <a:r>
                        <a:rPr lang="es-NI" sz="1800" b="0" u="none" strike="noStrike" dirty="0">
                          <a:solidFill>
                            <a:srgbClr val="124C58"/>
                          </a:solidFill>
                          <a:effectLst/>
                        </a:rPr>
                        <a:t>210</a:t>
                      </a:r>
                      <a:endParaRPr lang="es-NI" sz="1800" b="0" i="0" u="none" strike="noStrike" dirty="0">
                        <a:solidFill>
                          <a:srgbClr val="124C58"/>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6431069"/>
                  </a:ext>
                </a:extLst>
              </a:tr>
            </a:tbl>
          </a:graphicData>
        </a:graphic>
      </p:graphicFrame>
    </p:spTree>
    <p:extLst>
      <p:ext uri="{BB962C8B-B14F-4D97-AF65-F5344CB8AC3E}">
        <p14:creationId xmlns:p14="http://schemas.microsoft.com/office/powerpoint/2010/main" val="613291450"/>
      </p:ext>
    </p:extLst>
  </p:cSld>
  <p:clrMapOvr>
    <a:masterClrMapping/>
  </p:clrMapOvr>
</p:sld>
</file>

<file path=ppt/theme/theme1.xml><?xml version="1.0" encoding="utf-8"?>
<a:theme xmlns:a="http://schemas.openxmlformats.org/drawingml/2006/main" name="Tema de Office">
  <a:themeElements>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fontScheme name="MS Surge Teach Light and Dark">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9028_TF67543618_Win32" id="{09F67864-25A4-4342-8145-63DD0AC24BA3}" vid="{9EEC84C9-8920-4DB2-9D02-57D23DEC2F33}"/>
    </a:ext>
  </a:extLst>
</a:theme>
</file>

<file path=ppt/theme/theme2.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ppt/theme/themeOverride2.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docProps/app.xml><?xml version="1.0" encoding="utf-8"?>
<Properties xmlns="http://schemas.openxmlformats.org/officeDocument/2006/extended-properties" xmlns:vt="http://schemas.openxmlformats.org/officeDocument/2006/docPropsVTypes">
  <Template>Presentación para enseñar un curso empresarial</Template>
  <TotalTime>191</TotalTime>
  <Words>845</Words>
  <Application>Microsoft Office PowerPoint</Application>
  <PresentationFormat>Panorámica</PresentationFormat>
  <Paragraphs>373</Paragraphs>
  <Slides>10</Slides>
  <Notes>10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Arial</vt:lpstr>
      <vt:lpstr>Calibri</vt:lpstr>
      <vt:lpstr>Calibri Light</vt:lpstr>
      <vt:lpstr>Cambria Math</vt:lpstr>
      <vt:lpstr>Wingdings</vt:lpstr>
      <vt:lpstr>Tema de Office</vt:lpstr>
      <vt:lpstr>Presentación de PowerPoint</vt:lpstr>
      <vt:lpstr>Errores de pronóstico</vt:lpstr>
      <vt:lpstr>MAD - Ejemplo</vt:lpstr>
      <vt:lpstr>MAD - Solución</vt:lpstr>
      <vt:lpstr>MAD - Solución</vt:lpstr>
      <vt:lpstr>MSE - Ejemplo</vt:lpstr>
      <vt:lpstr>MSE - Solución</vt:lpstr>
      <vt:lpstr>MAPE - Ejemplo</vt:lpstr>
      <vt:lpstr>MAPE - Solución</vt:lpstr>
      <vt:lpstr>Trabajo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AntonioAguirre</dc:creator>
  <cp:lastModifiedBy>Guillermo AntonioAguirre</cp:lastModifiedBy>
  <cp:revision>6</cp:revision>
  <dcterms:created xsi:type="dcterms:W3CDTF">2022-03-21T15:14:51Z</dcterms:created>
  <dcterms:modified xsi:type="dcterms:W3CDTF">2022-03-21T18:26:31Z</dcterms:modified>
</cp:coreProperties>
</file>