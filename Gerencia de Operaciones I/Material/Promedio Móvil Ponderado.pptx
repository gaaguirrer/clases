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7" r:id="rId4"/>
    <p:sldId id="258" r:id="rId5"/>
    <p:sldId id="261" r:id="rId6"/>
    <p:sldId id="268" r:id="rId7"/>
    <p:sldId id="269" r:id="rId8"/>
    <p:sldId id="266" r:id="rId9"/>
  </p:sldIdLst>
  <p:sldSz cx="12192000" cy="6858000"/>
  <p:notesSz cx="6858000" cy="9144000"/>
  <p:defaultTex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69D9B0-5303-4DAB-B1F2-7B4CBF9C7CE7}" v="6" dt="2025-03-01T19:37:21.305"/>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79" d="100"/>
          <a:sy n="79" d="100"/>
        </p:scale>
        <p:origin x="773"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ermo AntonioAguirre" userId="42908199-65f4-4d4a-8e05-6e659ccb82ce" providerId="ADAL" clId="{736DE58E-7129-4980-981C-5BF6E69E5C01}"/>
    <pc:docChg chg="undo custSel addSld delSld modSld">
      <pc:chgData name="Guillermo AntonioAguirre" userId="42908199-65f4-4d4a-8e05-6e659ccb82ce" providerId="ADAL" clId="{736DE58E-7129-4980-981C-5BF6E69E5C01}" dt="2024-02-01T03:43:51.168" v="362" actId="20577"/>
      <pc:docMkLst>
        <pc:docMk/>
      </pc:docMkLst>
      <pc:sldChg chg="modSp mod">
        <pc:chgData name="Guillermo AntonioAguirre" userId="42908199-65f4-4d4a-8e05-6e659ccb82ce" providerId="ADAL" clId="{736DE58E-7129-4980-981C-5BF6E69E5C01}" dt="2024-02-01T01:55:29.382" v="29" actId="122"/>
        <pc:sldMkLst>
          <pc:docMk/>
          <pc:sldMk cId="3531801760" sldId="256"/>
        </pc:sldMkLst>
      </pc:sldChg>
      <pc:sldChg chg="modSp mod">
        <pc:chgData name="Guillermo AntonioAguirre" userId="42908199-65f4-4d4a-8e05-6e659ccb82ce" providerId="ADAL" clId="{736DE58E-7129-4980-981C-5BF6E69E5C01}" dt="2024-02-01T02:05:36.120" v="75" actId="403"/>
        <pc:sldMkLst>
          <pc:docMk/>
          <pc:sldMk cId="4007249417" sldId="257"/>
        </pc:sldMkLst>
      </pc:sldChg>
      <pc:sldChg chg="addSp delSp modSp mod">
        <pc:chgData name="Guillermo AntonioAguirre" userId="42908199-65f4-4d4a-8e05-6e659ccb82ce" providerId="ADAL" clId="{736DE58E-7129-4980-981C-5BF6E69E5C01}" dt="2024-02-01T02:05:43.751" v="77" actId="404"/>
        <pc:sldMkLst>
          <pc:docMk/>
          <pc:sldMk cId="1109297954" sldId="258"/>
        </pc:sldMkLst>
      </pc:sldChg>
      <pc:sldChg chg="del">
        <pc:chgData name="Guillermo AntonioAguirre" userId="42908199-65f4-4d4a-8e05-6e659ccb82ce" providerId="ADAL" clId="{736DE58E-7129-4980-981C-5BF6E69E5C01}" dt="2024-02-01T02:04:00.086" v="50" actId="2696"/>
        <pc:sldMkLst>
          <pc:docMk/>
          <pc:sldMk cId="2061106219" sldId="259"/>
        </pc:sldMkLst>
      </pc:sldChg>
      <pc:sldChg chg="del">
        <pc:chgData name="Guillermo AntonioAguirre" userId="42908199-65f4-4d4a-8e05-6e659ccb82ce" providerId="ADAL" clId="{736DE58E-7129-4980-981C-5BF6E69E5C01}" dt="2024-02-01T02:06:18.087" v="83" actId="47"/>
        <pc:sldMkLst>
          <pc:docMk/>
          <pc:sldMk cId="3603914528" sldId="260"/>
        </pc:sldMkLst>
      </pc:sldChg>
      <pc:sldChg chg="addSp delSp modSp mod">
        <pc:chgData name="Guillermo AntonioAguirre" userId="42908199-65f4-4d4a-8e05-6e659ccb82ce" providerId="ADAL" clId="{736DE58E-7129-4980-981C-5BF6E69E5C01}" dt="2024-02-01T03:02:48.761" v="111" actId="12385"/>
        <pc:sldMkLst>
          <pc:docMk/>
          <pc:sldMk cId="674550123" sldId="261"/>
        </pc:sldMkLst>
      </pc:sldChg>
      <pc:sldChg chg="del">
        <pc:chgData name="Guillermo AntonioAguirre" userId="42908199-65f4-4d4a-8e05-6e659ccb82ce" providerId="ADAL" clId="{736DE58E-7129-4980-981C-5BF6E69E5C01}" dt="2024-02-01T02:06:18.087" v="83" actId="47"/>
        <pc:sldMkLst>
          <pc:docMk/>
          <pc:sldMk cId="2971369785" sldId="263"/>
        </pc:sldMkLst>
      </pc:sldChg>
      <pc:sldChg chg="del">
        <pc:chgData name="Guillermo AntonioAguirre" userId="42908199-65f4-4d4a-8e05-6e659ccb82ce" providerId="ADAL" clId="{736DE58E-7129-4980-981C-5BF6E69E5C01}" dt="2024-02-01T02:06:18.087" v="83" actId="47"/>
        <pc:sldMkLst>
          <pc:docMk/>
          <pc:sldMk cId="731894722" sldId="264"/>
        </pc:sldMkLst>
      </pc:sldChg>
      <pc:sldChg chg="del">
        <pc:chgData name="Guillermo AntonioAguirre" userId="42908199-65f4-4d4a-8e05-6e659ccb82ce" providerId="ADAL" clId="{736DE58E-7129-4980-981C-5BF6E69E5C01}" dt="2024-02-01T02:06:18.087" v="83" actId="47"/>
        <pc:sldMkLst>
          <pc:docMk/>
          <pc:sldMk cId="4129991180" sldId="265"/>
        </pc:sldMkLst>
      </pc:sldChg>
      <pc:sldChg chg="addSp delSp modSp mod">
        <pc:chgData name="Guillermo AntonioAguirre" userId="42908199-65f4-4d4a-8e05-6e659ccb82ce" providerId="ADAL" clId="{736DE58E-7129-4980-981C-5BF6E69E5C01}" dt="2024-02-01T03:43:51.168" v="362" actId="20577"/>
        <pc:sldMkLst>
          <pc:docMk/>
          <pc:sldMk cId="995273959" sldId="266"/>
        </pc:sldMkLst>
      </pc:sldChg>
      <pc:sldChg chg="modSp add mod">
        <pc:chgData name="Guillermo AntonioAguirre" userId="42908199-65f4-4d4a-8e05-6e659ccb82ce" providerId="ADAL" clId="{736DE58E-7129-4980-981C-5BF6E69E5C01}" dt="2024-02-01T02:05:40.304" v="76" actId="404"/>
        <pc:sldMkLst>
          <pc:docMk/>
          <pc:sldMk cId="2435249265" sldId="267"/>
        </pc:sldMkLst>
      </pc:sldChg>
      <pc:sldChg chg="add del">
        <pc:chgData name="Guillermo AntonioAguirre" userId="42908199-65f4-4d4a-8e05-6e659ccb82ce" providerId="ADAL" clId="{736DE58E-7129-4980-981C-5BF6E69E5C01}" dt="2024-02-01T02:01:50.174" v="36" actId="47"/>
        <pc:sldMkLst>
          <pc:docMk/>
          <pc:sldMk cId="2557882462" sldId="267"/>
        </pc:sldMkLst>
      </pc:sldChg>
      <pc:sldChg chg="addSp delSp modSp add mod">
        <pc:chgData name="Guillermo AntonioAguirre" userId="42908199-65f4-4d4a-8e05-6e659ccb82ce" providerId="ADAL" clId="{736DE58E-7129-4980-981C-5BF6E69E5C01}" dt="2024-02-01T03:27:37.473" v="298" actId="20577"/>
        <pc:sldMkLst>
          <pc:docMk/>
          <pc:sldMk cId="2590988069" sldId="268"/>
        </pc:sldMkLst>
      </pc:sldChg>
      <pc:sldChg chg="addSp delSp modSp add mod">
        <pc:chgData name="Guillermo AntonioAguirre" userId="42908199-65f4-4d4a-8e05-6e659ccb82ce" providerId="ADAL" clId="{736DE58E-7129-4980-981C-5BF6E69E5C01}" dt="2024-02-01T03:34:18.116" v="346" actId="14100"/>
        <pc:sldMkLst>
          <pc:docMk/>
          <pc:sldMk cId="3595376655" sldId="269"/>
        </pc:sldMkLst>
      </pc:sldChg>
    </pc:docChg>
  </pc:docChgLst>
  <pc:docChgLst>
    <pc:chgData name="Guillermo AntonioAguirre" userId="42908199-65f4-4d4a-8e05-6e659ccb82ce" providerId="ADAL" clId="{6A69D9B0-5303-4DAB-B1F2-7B4CBF9C7CE7}"/>
    <pc:docChg chg="modSld">
      <pc:chgData name="Guillermo AntonioAguirre" userId="42908199-65f4-4d4a-8e05-6e659ccb82ce" providerId="ADAL" clId="{6A69D9B0-5303-4DAB-B1F2-7B4CBF9C7CE7}" dt="2025-03-01T19:37:21.305" v="5" actId="20577"/>
      <pc:docMkLst>
        <pc:docMk/>
      </pc:docMkLst>
      <pc:sldChg chg="modSp">
        <pc:chgData name="Guillermo AntonioAguirre" userId="42908199-65f4-4d4a-8e05-6e659ccb82ce" providerId="ADAL" clId="{6A69D9B0-5303-4DAB-B1F2-7B4CBF9C7CE7}" dt="2025-03-01T19:37:21.305" v="5" actId="20577"/>
        <pc:sldMkLst>
          <pc:docMk/>
          <pc:sldMk cId="2590988069" sldId="268"/>
        </pc:sldMkLst>
        <pc:spChg chg="mod">
          <ac:chgData name="Guillermo AntonioAguirre" userId="42908199-65f4-4d4a-8e05-6e659ccb82ce" providerId="ADAL" clId="{6A69D9B0-5303-4DAB-B1F2-7B4CBF9C7CE7}" dt="2025-03-01T19:37:21.305" v="5" actId="20577"/>
          <ac:spMkLst>
            <pc:docMk/>
            <pc:sldMk cId="2590988069" sldId="268"/>
            <ac:spMk id="11" creationId="{B7D93743-6514-427A-AEC3-27E720DC16F4}"/>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E:\Descargas\imagen_2024-01-31_200916641.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NI" sz="1400" b="1" i="0" u="none" strike="noStrike" baseline="0">
                <a:effectLst/>
              </a:rPr>
              <a:t>pronóstico de demanda ingE</a:t>
            </a:r>
            <a:endParaRPr lang="es-NI"/>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NI"/>
        </a:p>
      </c:txPr>
    </c:title>
    <c:autoTitleDeleted val="0"/>
    <c:plotArea>
      <c:layout/>
      <c:lineChart>
        <c:grouping val="standard"/>
        <c:varyColors val="0"/>
        <c:ser>
          <c:idx val="1"/>
          <c:order val="1"/>
          <c:tx>
            <c:strRef>
              <c:f>Hoja2!$A$2</c:f>
              <c:strCache>
                <c:ptCount val="1"/>
                <c:pt idx="0">
                  <c:v>Demanda</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val>
            <c:numRef>
              <c:f>Hoja2!$B$2:$S$2</c:f>
              <c:numCache>
                <c:formatCode>General</c:formatCode>
                <c:ptCount val="18"/>
                <c:pt idx="0">
                  <c:v>130</c:v>
                </c:pt>
                <c:pt idx="1">
                  <c:v>145</c:v>
                </c:pt>
                <c:pt idx="2">
                  <c:v>139</c:v>
                </c:pt>
                <c:pt idx="3">
                  <c:v>153</c:v>
                </c:pt>
                <c:pt idx="4">
                  <c:v>162</c:v>
                </c:pt>
                <c:pt idx="5">
                  <c:v>170</c:v>
                </c:pt>
                <c:pt idx="6">
                  <c:v>100</c:v>
                </c:pt>
                <c:pt idx="7">
                  <c:v>120</c:v>
                </c:pt>
                <c:pt idx="8">
                  <c:v>151</c:v>
                </c:pt>
                <c:pt idx="9">
                  <c:v>134</c:v>
                </c:pt>
                <c:pt idx="10">
                  <c:v>139</c:v>
                </c:pt>
                <c:pt idx="11">
                  <c:v>151</c:v>
                </c:pt>
                <c:pt idx="12">
                  <c:v>164</c:v>
                </c:pt>
                <c:pt idx="13">
                  <c:v>159</c:v>
                </c:pt>
                <c:pt idx="14">
                  <c:v>171</c:v>
                </c:pt>
                <c:pt idx="15">
                  <c:v>182</c:v>
                </c:pt>
                <c:pt idx="16">
                  <c:v>162</c:v>
                </c:pt>
                <c:pt idx="17">
                  <c:v>190</c:v>
                </c:pt>
              </c:numCache>
            </c:numRef>
          </c:val>
          <c:smooth val="0"/>
          <c:extLst>
            <c:ext xmlns:c16="http://schemas.microsoft.com/office/drawing/2014/chart" uri="{C3380CC4-5D6E-409C-BE32-E72D297353CC}">
              <c16:uniqueId val="{00000000-D2D1-4EB3-85DC-32F9DCA01A75}"/>
            </c:ext>
          </c:extLst>
        </c:ser>
        <c:ser>
          <c:idx val="2"/>
          <c:order val="2"/>
          <c:tx>
            <c:strRef>
              <c:f>Hoja2!$A$3</c:f>
              <c:strCache>
                <c:ptCount val="1"/>
                <c:pt idx="0">
                  <c:v>Pronóstico</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val>
            <c:numRef>
              <c:f>Hoja2!$B$3:$S$3</c:f>
              <c:numCache>
                <c:formatCode>General</c:formatCode>
                <c:ptCount val="18"/>
                <c:pt idx="3">
                  <c:v>139</c:v>
                </c:pt>
                <c:pt idx="4">
                  <c:v>147</c:v>
                </c:pt>
                <c:pt idx="5">
                  <c:v>155</c:v>
                </c:pt>
                <c:pt idx="6">
                  <c:v>164</c:v>
                </c:pt>
                <c:pt idx="7">
                  <c:v>133</c:v>
                </c:pt>
                <c:pt idx="8">
                  <c:v>124</c:v>
                </c:pt>
                <c:pt idx="9">
                  <c:v>132</c:v>
                </c:pt>
                <c:pt idx="10">
                  <c:v>136</c:v>
                </c:pt>
                <c:pt idx="11">
                  <c:v>140</c:v>
                </c:pt>
                <c:pt idx="12">
                  <c:v>144</c:v>
                </c:pt>
                <c:pt idx="13">
                  <c:v>155</c:v>
                </c:pt>
                <c:pt idx="14">
                  <c:v>159</c:v>
                </c:pt>
                <c:pt idx="15">
                  <c:v>166</c:v>
                </c:pt>
                <c:pt idx="16">
                  <c:v>174</c:v>
                </c:pt>
                <c:pt idx="17">
                  <c:v>170</c:v>
                </c:pt>
              </c:numCache>
            </c:numRef>
          </c:val>
          <c:smooth val="0"/>
          <c:extLst>
            <c:ext xmlns:c16="http://schemas.microsoft.com/office/drawing/2014/chart" uri="{C3380CC4-5D6E-409C-BE32-E72D297353CC}">
              <c16:uniqueId val="{00000001-D2D1-4EB3-85DC-32F9DCA01A75}"/>
            </c:ext>
          </c:extLst>
        </c:ser>
        <c:dLbls>
          <c:showLegendKey val="0"/>
          <c:showVal val="0"/>
          <c:showCatName val="0"/>
          <c:showSerName val="0"/>
          <c:showPercent val="0"/>
          <c:showBubbleSize val="0"/>
        </c:dLbls>
        <c:marker val="1"/>
        <c:smooth val="0"/>
        <c:axId val="595132560"/>
        <c:axId val="595133808"/>
        <c:extLst>
          <c:ext xmlns:c15="http://schemas.microsoft.com/office/drawing/2012/chart" uri="{02D57815-91ED-43cb-92C2-25804820EDAC}">
            <c15:filteredLineSeries>
              <c15:ser>
                <c:idx val="0"/>
                <c:order val="0"/>
                <c:tx>
                  <c:strRef>
                    <c:extLst>
                      <c:ext uri="{02D57815-91ED-43cb-92C2-25804820EDAC}">
                        <c15:formulaRef>
                          <c15:sqref>Hoja2!$A$1</c15:sqref>
                        </c15:formulaRef>
                      </c:ext>
                    </c:extLst>
                    <c:strCache>
                      <c:ptCount val="1"/>
                      <c:pt idx="0">
                        <c:v>Periodo</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val>
                  <c:numRef>
                    <c:extLst>
                      <c:ext uri="{02D57815-91ED-43cb-92C2-25804820EDAC}">
                        <c15:formulaRef>
                          <c15:sqref>Hoja2!$B$1:$S$1</c15:sqref>
                        </c15:formulaRef>
                      </c:ext>
                    </c:extLst>
                    <c:numCache>
                      <c:formatCode>General</c:formatCode>
                      <c:ptCount val="1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numCache>
                  </c:numRef>
                </c:val>
                <c:smooth val="0"/>
                <c:extLst>
                  <c:ext xmlns:c16="http://schemas.microsoft.com/office/drawing/2014/chart" uri="{C3380CC4-5D6E-409C-BE32-E72D297353CC}">
                    <c16:uniqueId val="{00000002-D2D1-4EB3-85DC-32F9DCA01A75}"/>
                  </c:ext>
                </c:extLst>
              </c15:ser>
            </c15:filteredLineSeries>
          </c:ext>
        </c:extLst>
      </c:lineChart>
      <c:catAx>
        <c:axId val="595132560"/>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NI"/>
          </a:p>
        </c:txPr>
        <c:crossAx val="595133808"/>
        <c:crosses val="autoZero"/>
        <c:auto val="1"/>
        <c:lblAlgn val="ctr"/>
        <c:lblOffset val="100"/>
        <c:noMultiLvlLbl val="0"/>
      </c:catAx>
      <c:valAx>
        <c:axId val="5951338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NI"/>
          </a:p>
        </c:txPr>
        <c:crossAx val="5951325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NI"/>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NI"/>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2F3E8B1C-86EF-43CF-8304-249481088644}" type="datetimeFigureOut">
              <a:rPr lang="en-US" smtClean="0"/>
              <a:t>3/1/2025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C3DB2ADC-AF19-4574-8C10-79B5B04FCA27}" type="slidenum">
              <a:rPr lang="en-US" smtClean="0"/>
              <a:t>‹Nº›</a:t>
            </a:fld>
            <a:endParaRPr lang="en-US"/>
          </a:p>
        </p:txBody>
      </p:sp>
    </p:spTree>
    <p:extLst>
      <p:ext uri="{BB962C8B-B14F-4D97-AF65-F5344CB8AC3E}">
        <p14:creationId xmlns:p14="http://schemas.microsoft.com/office/powerpoint/2010/main" val="1271642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F3E8B1C-86EF-43CF-8304-249481088644}" type="datetimeFigureOut">
              <a:rPr lang="en-US" smtClean="0"/>
              <a:t>3/1/2025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C3DB2ADC-AF19-4574-8C10-79B5B04FCA27}" type="slidenum">
              <a:rPr lang="en-US" smtClean="0"/>
              <a:t>‹Nº›</a:t>
            </a:fld>
            <a:endParaRPr lang="en-US"/>
          </a:p>
        </p:txBody>
      </p:sp>
    </p:spTree>
    <p:extLst>
      <p:ext uri="{BB962C8B-B14F-4D97-AF65-F5344CB8AC3E}">
        <p14:creationId xmlns:p14="http://schemas.microsoft.com/office/powerpoint/2010/main" val="351519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2F3E8B1C-86EF-43CF-8304-249481088644}" type="datetimeFigureOut">
              <a:rPr lang="en-US" smtClean="0"/>
              <a:t>3/1/2025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C3DB2ADC-AF19-4574-8C10-79B5B04FCA27}" type="slidenum">
              <a:rPr lang="en-US" smtClean="0"/>
              <a:t>‹Nº›</a:t>
            </a:fld>
            <a:endParaRPr lang="en-US"/>
          </a:p>
        </p:txBody>
      </p:sp>
    </p:spTree>
    <p:extLst>
      <p:ext uri="{BB962C8B-B14F-4D97-AF65-F5344CB8AC3E}">
        <p14:creationId xmlns:p14="http://schemas.microsoft.com/office/powerpoint/2010/main" val="3832833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2F3E8B1C-86EF-43CF-8304-249481088644}" type="datetimeFigureOut">
              <a:rPr lang="en-US" smtClean="0"/>
              <a:t>3/1/2025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C3DB2ADC-AF19-4574-8C10-79B5B04FCA27}" type="slidenum">
              <a:rPr lang="en-US" smtClean="0"/>
              <a:t>‹Nº›</a:t>
            </a:fld>
            <a:endParaRPr lang="en-US"/>
          </a:p>
        </p:txBody>
      </p:sp>
    </p:spTree>
    <p:extLst>
      <p:ext uri="{BB962C8B-B14F-4D97-AF65-F5344CB8AC3E}">
        <p14:creationId xmlns:p14="http://schemas.microsoft.com/office/powerpoint/2010/main" val="2935386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2F3E8B1C-86EF-43CF-8304-249481088644}" type="datetimeFigureOut">
              <a:rPr lang="en-US" smtClean="0"/>
              <a:t>3/1/2025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C3DB2ADC-AF19-4574-8C10-79B5B04FCA27}" type="slidenum">
              <a:rPr lang="en-US" smtClean="0"/>
              <a:t>‹Nº›</a:t>
            </a:fld>
            <a:endParaRPr lang="en-US"/>
          </a:p>
        </p:txBody>
      </p:sp>
    </p:spTree>
    <p:extLst>
      <p:ext uri="{BB962C8B-B14F-4D97-AF65-F5344CB8AC3E}">
        <p14:creationId xmlns:p14="http://schemas.microsoft.com/office/powerpoint/2010/main" val="2854395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2F3E8B1C-86EF-43CF-8304-249481088644}" type="datetimeFigureOut">
              <a:rPr lang="en-US" smtClean="0"/>
              <a:t>3/1/2025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C3DB2ADC-AF19-4574-8C10-79B5B04FCA27}" type="slidenum">
              <a:rPr lang="en-US" smtClean="0"/>
              <a:t>‹Nº›</a:t>
            </a:fld>
            <a:endParaRPr lang="en-US"/>
          </a:p>
        </p:txBody>
      </p:sp>
    </p:spTree>
    <p:extLst>
      <p:ext uri="{BB962C8B-B14F-4D97-AF65-F5344CB8AC3E}">
        <p14:creationId xmlns:p14="http://schemas.microsoft.com/office/powerpoint/2010/main" val="4217964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2F3E8B1C-86EF-43CF-8304-249481088644}" type="datetimeFigureOut">
              <a:rPr lang="en-US" smtClean="0"/>
              <a:t>3/1/2025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C3DB2ADC-AF19-4574-8C10-79B5B04FCA27}" type="slidenum">
              <a:rPr lang="en-US" smtClean="0"/>
              <a:t>‹Nº›</a:t>
            </a:fld>
            <a:endParaRPr lang="en-US"/>
          </a:p>
        </p:txBody>
      </p:sp>
    </p:spTree>
    <p:extLst>
      <p:ext uri="{BB962C8B-B14F-4D97-AF65-F5344CB8AC3E}">
        <p14:creationId xmlns:p14="http://schemas.microsoft.com/office/powerpoint/2010/main" val="175302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F3E8B1C-86EF-43CF-8304-249481088644}" type="datetimeFigureOut">
              <a:rPr lang="en-US" smtClean="0"/>
              <a:t>3/1/2025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C3DB2ADC-AF19-4574-8C10-79B5B04FCA27}" type="slidenum">
              <a:rPr lang="en-US" smtClean="0"/>
              <a:t>‹Nº›</a:t>
            </a:fld>
            <a:endParaRPr lang="en-US"/>
          </a:p>
        </p:txBody>
      </p:sp>
    </p:spTree>
    <p:extLst>
      <p:ext uri="{BB962C8B-B14F-4D97-AF65-F5344CB8AC3E}">
        <p14:creationId xmlns:p14="http://schemas.microsoft.com/office/powerpoint/2010/main" val="2596202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2F3E8B1C-86EF-43CF-8304-249481088644}" type="datetimeFigureOut">
              <a:rPr lang="en-US" smtClean="0"/>
              <a:t>3/1/2025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C3DB2ADC-AF19-4574-8C10-79B5B04FCA27}" type="slidenum">
              <a:rPr lang="en-US" smtClean="0"/>
              <a:t>‹Nº›</a:t>
            </a:fld>
            <a:endParaRPr lang="en-US"/>
          </a:p>
        </p:txBody>
      </p:sp>
    </p:spTree>
    <p:extLst>
      <p:ext uri="{BB962C8B-B14F-4D97-AF65-F5344CB8AC3E}">
        <p14:creationId xmlns:p14="http://schemas.microsoft.com/office/powerpoint/2010/main" val="610283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2F3E8B1C-86EF-43CF-8304-249481088644}" type="datetimeFigureOut">
              <a:rPr lang="en-US" smtClean="0"/>
              <a:t>3/1/2025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C3DB2ADC-AF19-4574-8C10-79B5B04FCA27}" type="slidenum">
              <a:rPr lang="en-US" smtClean="0"/>
              <a:t>‹Nº›</a:t>
            </a:fld>
            <a:endParaRPr lang="en-US"/>
          </a:p>
        </p:txBody>
      </p:sp>
    </p:spTree>
    <p:extLst>
      <p:ext uri="{BB962C8B-B14F-4D97-AF65-F5344CB8AC3E}">
        <p14:creationId xmlns:p14="http://schemas.microsoft.com/office/powerpoint/2010/main" val="1648977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F3E8B1C-86EF-43CF-8304-249481088644}" type="datetimeFigureOut">
              <a:rPr lang="en-US" smtClean="0"/>
              <a:t>3/1/2025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C3DB2ADC-AF19-4574-8C10-79B5B04FCA27}" type="slidenum">
              <a:rPr lang="en-US" smtClean="0"/>
              <a:t>‹Nº›</a:t>
            </a:fld>
            <a:endParaRPr lang="en-US"/>
          </a:p>
        </p:txBody>
      </p:sp>
    </p:spTree>
    <p:extLst>
      <p:ext uri="{BB962C8B-B14F-4D97-AF65-F5344CB8AC3E}">
        <p14:creationId xmlns:p14="http://schemas.microsoft.com/office/powerpoint/2010/main" val="23272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2F3E8B1C-86EF-43CF-8304-249481088644}" type="datetimeFigureOut">
              <a:rPr lang="en-US" smtClean="0"/>
              <a:pPr/>
              <a:t>3/1/2025</a:t>
            </a:fld>
            <a:endParaRPr lang="en-US" dirty="0"/>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C3DB2ADC-AF19-4574-8C10-79B5B04FCA27}" type="slidenum">
              <a:rPr lang="en-US" smtClean="0"/>
              <a:pPr/>
              <a:t>‹Nº›</a:t>
            </a:fld>
            <a:endParaRPr lang="en-US" dirty="0"/>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8142110"/>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0E52DF2-6802-459B-AC2A-AF976DEB1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1D265BF-7402-4CF8-88EB-4718038EC347}"/>
              </a:ext>
            </a:extLst>
          </p:cNvPr>
          <p:cNvSpPr>
            <a:spLocks noGrp="1"/>
          </p:cNvSpPr>
          <p:nvPr>
            <p:ph type="ctrTitle"/>
          </p:nvPr>
        </p:nvSpPr>
        <p:spPr>
          <a:xfrm>
            <a:off x="8115300" y="330696"/>
            <a:ext cx="3730839" cy="1697343"/>
          </a:xfrm>
        </p:spPr>
        <p:txBody>
          <a:bodyPr anchor="b">
            <a:normAutofit/>
          </a:bodyPr>
          <a:lstStyle/>
          <a:p>
            <a:r>
              <a:rPr lang="es-NI" sz="4000" dirty="0"/>
              <a:t>Series de tiempo</a:t>
            </a:r>
          </a:p>
        </p:txBody>
      </p:sp>
      <p:sp>
        <p:nvSpPr>
          <p:cNvPr id="3" name="Subtítulo 2">
            <a:extLst>
              <a:ext uri="{FF2B5EF4-FFF2-40B4-BE49-F238E27FC236}">
                <a16:creationId xmlns:a16="http://schemas.microsoft.com/office/drawing/2014/main" id="{05C3DAAB-BEF8-412D-AF67-9DB174A434F1}"/>
              </a:ext>
            </a:extLst>
          </p:cNvPr>
          <p:cNvSpPr>
            <a:spLocks noGrp="1"/>
          </p:cNvSpPr>
          <p:nvPr>
            <p:ph type="subTitle" idx="1"/>
          </p:nvPr>
        </p:nvSpPr>
        <p:spPr>
          <a:xfrm>
            <a:off x="7996779" y="4197005"/>
            <a:ext cx="3137031" cy="979680"/>
          </a:xfrm>
        </p:spPr>
        <p:txBody>
          <a:bodyPr anchor="t">
            <a:normAutofit/>
          </a:bodyPr>
          <a:lstStyle/>
          <a:p>
            <a:pPr algn="ctr"/>
            <a:r>
              <a:rPr lang="es-NI" sz="1800" dirty="0"/>
              <a:t>Promedio Móvil Ponderado</a:t>
            </a:r>
          </a:p>
        </p:txBody>
      </p:sp>
      <p:pic>
        <p:nvPicPr>
          <p:cNvPr id="4" name="Picture 3" descr="Láser azul neón digitalizando un papel desenvuelto">
            <a:extLst>
              <a:ext uri="{FF2B5EF4-FFF2-40B4-BE49-F238E27FC236}">
                <a16:creationId xmlns:a16="http://schemas.microsoft.com/office/drawing/2014/main" id="{DC7F4BCD-18AD-AABF-0BAE-336612163B9E}"/>
              </a:ext>
            </a:extLst>
          </p:cNvPr>
          <p:cNvPicPr>
            <a:picLocks noChangeAspect="1"/>
          </p:cNvPicPr>
          <p:nvPr/>
        </p:nvPicPr>
        <p:blipFill rotWithShape="1">
          <a:blip r:embed="rId2"/>
          <a:srcRect l="14868" r="13877" b="-1"/>
          <a:stretch/>
        </p:blipFill>
        <p:spPr>
          <a:xfrm>
            <a:off x="20" y="10"/>
            <a:ext cx="7320707" cy="6857985"/>
          </a:xfrm>
          <a:prstGeom prst="rect">
            <a:avLst/>
          </a:prstGeom>
        </p:spPr>
      </p:pic>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153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1801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0943753E-9287-4958-9FED-AB895314BA53}"/>
              </a:ext>
            </a:extLst>
          </p:cNvPr>
          <p:cNvSpPr/>
          <p:nvPr/>
        </p:nvSpPr>
        <p:spPr>
          <a:xfrm>
            <a:off x="1881117" y="0"/>
            <a:ext cx="8429766" cy="830997"/>
          </a:xfrm>
          <a:prstGeom prst="rect">
            <a:avLst/>
          </a:prstGeom>
          <a:noFill/>
        </p:spPr>
        <p:txBody>
          <a:bodyPr wrap="square" lIns="91440" tIns="45720" rIns="91440" bIns="45720">
            <a:spAutoFit/>
          </a:bodyPr>
          <a:lstStyle/>
          <a:p>
            <a:pPr algn="ctr"/>
            <a:r>
              <a:rPr lang="es-ES" sz="48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Promedio Móvil Ponderado</a:t>
            </a:r>
          </a:p>
        </p:txBody>
      </p:sp>
      <p:sp>
        <p:nvSpPr>
          <p:cNvPr id="5" name="CuadroTexto 4">
            <a:extLst>
              <a:ext uri="{FF2B5EF4-FFF2-40B4-BE49-F238E27FC236}">
                <a16:creationId xmlns:a16="http://schemas.microsoft.com/office/drawing/2014/main" id="{B8EC2CE8-C9E9-4AD3-B259-F52577E2CD23}"/>
              </a:ext>
            </a:extLst>
          </p:cNvPr>
          <p:cNvSpPr txBox="1"/>
          <p:nvPr/>
        </p:nvSpPr>
        <p:spPr>
          <a:xfrm>
            <a:off x="791570" y="968989"/>
            <a:ext cx="10617958" cy="4154984"/>
          </a:xfrm>
          <a:prstGeom prst="rect">
            <a:avLst/>
          </a:prstGeom>
          <a:noFill/>
        </p:spPr>
        <p:txBody>
          <a:bodyPr wrap="square" rtlCol="0">
            <a:spAutoFit/>
          </a:bodyPr>
          <a:lstStyle/>
          <a:p>
            <a:pPr algn="just"/>
            <a:r>
              <a:rPr lang="es-ES" sz="2400" dirty="0"/>
              <a:t>Otro método de pronostico de demanda es el </a:t>
            </a:r>
            <a:r>
              <a:rPr lang="es-ES" sz="2400" b="1" dirty="0"/>
              <a:t>promedio móvil ponderado</a:t>
            </a:r>
            <a:r>
              <a:rPr lang="es-ES" sz="2400" dirty="0"/>
              <a:t>. Mientras en el método de promedio móvil simple asignamos igual importancia a todos los datos de la demanda pasada, el método de promedio móvil ponderado nos permite calcular pronósticos asignando más peso para los elementos que consideremos.</a:t>
            </a:r>
          </a:p>
          <a:p>
            <a:pPr algn="just"/>
            <a:endParaRPr lang="es-ES" sz="2400" dirty="0"/>
          </a:p>
          <a:p>
            <a:pPr algn="just"/>
            <a:r>
              <a:rPr lang="es-ES" sz="2400" dirty="0"/>
              <a:t>Esta es la ventaja del método, pues bajo ciertas circunstancias, las empresas necesitan predecir la demanda de próximos periodos ponderando unos sobre otros, lo que permite por ejemplo, darle más importancia a la tendencia, que aunque este método nos sigue debiendo frente a este aspecto, si sale victorioso si se compara con el promedio o media simple.</a:t>
            </a:r>
            <a:endParaRPr lang="es-NI" sz="2400" dirty="0"/>
          </a:p>
        </p:txBody>
      </p:sp>
    </p:spTree>
    <p:extLst>
      <p:ext uri="{BB962C8B-B14F-4D97-AF65-F5344CB8AC3E}">
        <p14:creationId xmlns:p14="http://schemas.microsoft.com/office/powerpoint/2010/main" val="4007249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0943753E-9287-4958-9FED-AB895314BA53}"/>
              </a:ext>
            </a:extLst>
          </p:cNvPr>
          <p:cNvSpPr/>
          <p:nvPr/>
        </p:nvSpPr>
        <p:spPr>
          <a:xfrm>
            <a:off x="1881117" y="0"/>
            <a:ext cx="8429766" cy="830997"/>
          </a:xfrm>
          <a:prstGeom prst="rect">
            <a:avLst/>
          </a:prstGeom>
          <a:noFill/>
        </p:spPr>
        <p:txBody>
          <a:bodyPr wrap="square" lIns="91440" tIns="45720" rIns="91440" bIns="45720">
            <a:spAutoFit/>
          </a:bodyPr>
          <a:lstStyle/>
          <a:p>
            <a:pPr algn="ctr"/>
            <a:r>
              <a:rPr lang="es-ES" sz="48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Promedio Móvil Ponderado</a:t>
            </a:r>
          </a:p>
        </p:txBody>
      </p:sp>
      <p:sp>
        <p:nvSpPr>
          <p:cNvPr id="5" name="CuadroTexto 4">
            <a:extLst>
              <a:ext uri="{FF2B5EF4-FFF2-40B4-BE49-F238E27FC236}">
                <a16:creationId xmlns:a16="http://schemas.microsoft.com/office/drawing/2014/main" id="{B8EC2CE8-C9E9-4AD3-B259-F52577E2CD23}"/>
              </a:ext>
            </a:extLst>
          </p:cNvPr>
          <p:cNvSpPr txBox="1"/>
          <p:nvPr/>
        </p:nvSpPr>
        <p:spPr>
          <a:xfrm>
            <a:off x="791570" y="968989"/>
            <a:ext cx="10617958" cy="4524315"/>
          </a:xfrm>
          <a:prstGeom prst="rect">
            <a:avLst/>
          </a:prstGeom>
          <a:noFill/>
        </p:spPr>
        <p:txBody>
          <a:bodyPr wrap="square" rtlCol="0">
            <a:spAutoFit/>
          </a:bodyPr>
          <a:lstStyle/>
          <a:p>
            <a:pPr algn="just"/>
            <a:r>
              <a:rPr lang="es-ES" sz="2400" dirty="0"/>
              <a:t>Realmente </a:t>
            </a:r>
            <a:r>
              <a:rPr lang="es-ES" sz="2400" b="1" dirty="0"/>
              <a:t>no hay una regla general que nos diga qué ponderación elegir</a:t>
            </a:r>
            <a:r>
              <a:rPr lang="es-ES" sz="2400" dirty="0"/>
              <a:t>. La experiencia y el análisis de la demanda suelen ser decisorios para determinar la importancia en la ponderación.</a:t>
            </a:r>
          </a:p>
          <a:p>
            <a:pPr algn="just"/>
            <a:endParaRPr lang="es-ES" sz="2400" dirty="0"/>
          </a:p>
          <a:p>
            <a:pPr algn="just"/>
            <a:r>
              <a:rPr lang="es-ES" sz="2400" dirty="0"/>
              <a:t>Sin embargo, se suele considerar que en el cálculo de pronósticos es más importante la demanda reciente, pues ante ausencia de datos, es el indicador más fiel que tenemos para el próximo periodo.</a:t>
            </a:r>
          </a:p>
          <a:p>
            <a:pPr algn="just"/>
            <a:endParaRPr lang="es-ES" sz="2400" dirty="0"/>
          </a:p>
          <a:p>
            <a:pPr algn="just"/>
            <a:r>
              <a:rPr lang="es-ES" sz="2400" dirty="0"/>
              <a:t>Pero esto depende del tiempo donde nos encontremos. Un ejemplo de promedio móvil ponderado es una empresa que vende piscinas de plástico y que sabe que en verano la demanda aumenta, y por ende es un periodo en el que se debe asignar un mayor peso ponderado en el pronóstico.</a:t>
            </a:r>
            <a:endParaRPr lang="es-NI" sz="2400" dirty="0"/>
          </a:p>
        </p:txBody>
      </p:sp>
    </p:spTree>
    <p:extLst>
      <p:ext uri="{BB962C8B-B14F-4D97-AF65-F5344CB8AC3E}">
        <p14:creationId xmlns:p14="http://schemas.microsoft.com/office/powerpoint/2010/main" val="2435249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8EC2CE8-C9E9-4AD3-B259-F52577E2CD23}"/>
              </a:ext>
            </a:extLst>
          </p:cNvPr>
          <p:cNvSpPr txBox="1"/>
          <p:nvPr/>
        </p:nvSpPr>
        <p:spPr>
          <a:xfrm>
            <a:off x="791570" y="968989"/>
            <a:ext cx="10617958" cy="4524315"/>
          </a:xfrm>
          <a:prstGeom prst="rect">
            <a:avLst/>
          </a:prstGeom>
          <a:noFill/>
        </p:spPr>
        <p:txBody>
          <a:bodyPr wrap="square" rtlCol="0">
            <a:spAutoFit/>
          </a:bodyPr>
          <a:lstStyle/>
          <a:p>
            <a:pPr algn="just"/>
            <a:r>
              <a:rPr lang="es-ES" sz="2400" dirty="0"/>
              <a:t>La función matemática que permite obtener un pronóstico utilizando Media Móvil Simple es:</a:t>
            </a:r>
          </a:p>
          <a:p>
            <a:pPr algn="just"/>
            <a:endParaRPr lang="es-ES" sz="2400" dirty="0"/>
          </a:p>
          <a:p>
            <a:pPr algn="just"/>
            <a:endParaRPr lang="es-ES" sz="2400" dirty="0"/>
          </a:p>
          <a:p>
            <a:pPr algn="just"/>
            <a:endParaRPr lang="es-ES" sz="2400" dirty="0"/>
          </a:p>
          <a:p>
            <a:pPr algn="just"/>
            <a:endParaRPr lang="es-ES" sz="2400" dirty="0"/>
          </a:p>
          <a:p>
            <a:pPr algn="just"/>
            <a:r>
              <a:rPr lang="es-ES" sz="2400" b="1" dirty="0"/>
              <a:t>El promedio ponderado suele reaccionar más rápido ante los cambios de la demanda</a:t>
            </a:r>
            <a:r>
              <a:rPr lang="es-ES" sz="2400" dirty="0"/>
              <a:t>, con relación al promedio simple. Sin embargo, la verdadera utilidad del método dependerá de la experticia del administrador de operaciones al pronosticar la demanda, como en todos. En nuestra formula de promedio, la suma de las ponderaciones debe ser igual a 1. Con esto en mente vamos a nuestro ejemplo.</a:t>
            </a:r>
            <a:endParaRPr lang="es-NI" sz="2400" dirty="0"/>
          </a:p>
        </p:txBody>
      </p:sp>
      <p:pic>
        <p:nvPicPr>
          <p:cNvPr id="2" name="Imagen 1">
            <a:extLst>
              <a:ext uri="{FF2B5EF4-FFF2-40B4-BE49-F238E27FC236}">
                <a16:creationId xmlns:a16="http://schemas.microsoft.com/office/drawing/2014/main" id="{93777B25-2152-47D0-B273-42EEACD1AADD}"/>
              </a:ext>
            </a:extLst>
          </p:cNvPr>
          <p:cNvPicPr>
            <a:picLocks noChangeAspect="1"/>
          </p:cNvPicPr>
          <p:nvPr/>
        </p:nvPicPr>
        <p:blipFill>
          <a:blip r:embed="rId2"/>
          <a:stretch>
            <a:fillRect/>
          </a:stretch>
        </p:blipFill>
        <p:spPr>
          <a:xfrm>
            <a:off x="1141226" y="2166666"/>
            <a:ext cx="9925595" cy="785776"/>
          </a:xfrm>
          <a:prstGeom prst="rect">
            <a:avLst/>
          </a:prstGeom>
        </p:spPr>
      </p:pic>
      <p:sp>
        <p:nvSpPr>
          <p:cNvPr id="7" name="Rectángulo 6">
            <a:extLst>
              <a:ext uri="{FF2B5EF4-FFF2-40B4-BE49-F238E27FC236}">
                <a16:creationId xmlns:a16="http://schemas.microsoft.com/office/drawing/2014/main" id="{E9AD3F57-A784-491C-8347-1DFA72971AE0}"/>
              </a:ext>
            </a:extLst>
          </p:cNvPr>
          <p:cNvSpPr/>
          <p:nvPr/>
        </p:nvSpPr>
        <p:spPr>
          <a:xfrm>
            <a:off x="1881117" y="0"/>
            <a:ext cx="8429766" cy="830997"/>
          </a:xfrm>
          <a:prstGeom prst="rect">
            <a:avLst/>
          </a:prstGeom>
          <a:noFill/>
        </p:spPr>
        <p:txBody>
          <a:bodyPr wrap="square" lIns="91440" tIns="45720" rIns="91440" bIns="45720">
            <a:spAutoFit/>
          </a:bodyPr>
          <a:lstStyle/>
          <a:p>
            <a:pPr algn="ctr"/>
            <a:r>
              <a:rPr lang="es-ES" sz="48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Promedio Móvil Ponderado</a:t>
            </a:r>
          </a:p>
        </p:txBody>
      </p:sp>
    </p:spTree>
    <p:extLst>
      <p:ext uri="{BB962C8B-B14F-4D97-AF65-F5344CB8AC3E}">
        <p14:creationId xmlns:p14="http://schemas.microsoft.com/office/powerpoint/2010/main" val="1109297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8EC2CE8-C9E9-4AD3-B259-F52577E2CD23}"/>
              </a:ext>
            </a:extLst>
          </p:cNvPr>
          <p:cNvSpPr txBox="1"/>
          <p:nvPr/>
        </p:nvSpPr>
        <p:spPr>
          <a:xfrm>
            <a:off x="791570" y="968989"/>
            <a:ext cx="10617958" cy="1323439"/>
          </a:xfrm>
          <a:prstGeom prst="rect">
            <a:avLst/>
          </a:prstGeom>
          <a:noFill/>
        </p:spPr>
        <p:txBody>
          <a:bodyPr wrap="square" rtlCol="0">
            <a:spAutoFit/>
          </a:bodyPr>
          <a:lstStyle/>
          <a:p>
            <a:pPr algn="just"/>
            <a:r>
              <a:rPr lang="es-ES" sz="2000" dirty="0" err="1"/>
              <a:t>IngE</a:t>
            </a:r>
            <a:r>
              <a:rPr lang="es-ES" sz="2000" dirty="0"/>
              <a:t> es una compañía productora de alimentos para perro y requiere calcular el pronóstico de demanda con el método de media móvil ponderada. Para la empresa, la demanda pasada reciente es la más importante y le asignan un peso de 50%. La demanda intermedia tiene un peso de 30% y la más lejana de 20%.</a:t>
            </a:r>
            <a:endParaRPr lang="es-NI" sz="2000" dirty="0"/>
          </a:p>
        </p:txBody>
      </p:sp>
      <p:sp>
        <p:nvSpPr>
          <p:cNvPr id="7" name="Rectángulo 6">
            <a:extLst>
              <a:ext uri="{FF2B5EF4-FFF2-40B4-BE49-F238E27FC236}">
                <a16:creationId xmlns:a16="http://schemas.microsoft.com/office/drawing/2014/main" id="{174079A4-717E-4035-8EA8-F91E1AEAB7AA}"/>
              </a:ext>
            </a:extLst>
          </p:cNvPr>
          <p:cNvSpPr/>
          <p:nvPr/>
        </p:nvSpPr>
        <p:spPr>
          <a:xfrm>
            <a:off x="782472" y="0"/>
            <a:ext cx="10617958" cy="830997"/>
          </a:xfrm>
          <a:prstGeom prst="rect">
            <a:avLst/>
          </a:prstGeom>
          <a:noFill/>
        </p:spPr>
        <p:txBody>
          <a:bodyPr wrap="square" lIns="91440" tIns="45720" rIns="91440" bIns="45720">
            <a:spAutoFit/>
          </a:bodyPr>
          <a:lstStyle/>
          <a:p>
            <a:pPr algn="ctr"/>
            <a:r>
              <a:rPr lang="es-ES" sz="48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Promedio Móvil Ponderado - Ejemplo</a:t>
            </a:r>
          </a:p>
        </p:txBody>
      </p:sp>
      <p:graphicFrame>
        <p:nvGraphicFramePr>
          <p:cNvPr id="10" name="Tabla 9">
            <a:extLst>
              <a:ext uri="{FF2B5EF4-FFF2-40B4-BE49-F238E27FC236}">
                <a16:creationId xmlns:a16="http://schemas.microsoft.com/office/drawing/2014/main" id="{E880D235-FDBC-45D2-8143-B7C2A5620E82}"/>
              </a:ext>
            </a:extLst>
          </p:cNvPr>
          <p:cNvGraphicFramePr>
            <a:graphicFrameLocks noGrp="1"/>
          </p:cNvGraphicFramePr>
          <p:nvPr>
            <p:extLst>
              <p:ext uri="{D42A27DB-BD31-4B8C-83A1-F6EECF244321}">
                <p14:modId xmlns:p14="http://schemas.microsoft.com/office/powerpoint/2010/main" val="308208033"/>
              </p:ext>
            </p:extLst>
          </p:nvPr>
        </p:nvGraphicFramePr>
        <p:xfrm>
          <a:off x="791570" y="2598285"/>
          <a:ext cx="10254344" cy="942975"/>
        </p:xfrm>
        <a:graphic>
          <a:graphicData uri="http://schemas.openxmlformats.org/drawingml/2006/table">
            <a:tbl>
              <a:tblPr>
                <a:tableStyleId>{5940675A-B579-460E-94D1-54222C63F5DA}</a:tableStyleId>
              </a:tblPr>
              <a:tblGrid>
                <a:gridCol w="1285070">
                  <a:extLst>
                    <a:ext uri="{9D8B030D-6E8A-4147-A177-3AD203B41FA5}">
                      <a16:colId xmlns:a16="http://schemas.microsoft.com/office/drawing/2014/main" val="1998823986"/>
                    </a:ext>
                  </a:extLst>
                </a:gridCol>
                <a:gridCol w="498293">
                  <a:extLst>
                    <a:ext uri="{9D8B030D-6E8A-4147-A177-3AD203B41FA5}">
                      <a16:colId xmlns:a16="http://schemas.microsoft.com/office/drawing/2014/main" val="3320867789"/>
                    </a:ext>
                  </a:extLst>
                </a:gridCol>
                <a:gridCol w="498293">
                  <a:extLst>
                    <a:ext uri="{9D8B030D-6E8A-4147-A177-3AD203B41FA5}">
                      <a16:colId xmlns:a16="http://schemas.microsoft.com/office/drawing/2014/main" val="2131025104"/>
                    </a:ext>
                  </a:extLst>
                </a:gridCol>
                <a:gridCol w="498293">
                  <a:extLst>
                    <a:ext uri="{9D8B030D-6E8A-4147-A177-3AD203B41FA5}">
                      <a16:colId xmlns:a16="http://schemas.microsoft.com/office/drawing/2014/main" val="1445855447"/>
                    </a:ext>
                  </a:extLst>
                </a:gridCol>
                <a:gridCol w="498293">
                  <a:extLst>
                    <a:ext uri="{9D8B030D-6E8A-4147-A177-3AD203B41FA5}">
                      <a16:colId xmlns:a16="http://schemas.microsoft.com/office/drawing/2014/main" val="3451528309"/>
                    </a:ext>
                  </a:extLst>
                </a:gridCol>
                <a:gridCol w="498293">
                  <a:extLst>
                    <a:ext uri="{9D8B030D-6E8A-4147-A177-3AD203B41FA5}">
                      <a16:colId xmlns:a16="http://schemas.microsoft.com/office/drawing/2014/main" val="2372313770"/>
                    </a:ext>
                  </a:extLst>
                </a:gridCol>
                <a:gridCol w="498293">
                  <a:extLst>
                    <a:ext uri="{9D8B030D-6E8A-4147-A177-3AD203B41FA5}">
                      <a16:colId xmlns:a16="http://schemas.microsoft.com/office/drawing/2014/main" val="922368292"/>
                    </a:ext>
                  </a:extLst>
                </a:gridCol>
                <a:gridCol w="498293">
                  <a:extLst>
                    <a:ext uri="{9D8B030D-6E8A-4147-A177-3AD203B41FA5}">
                      <a16:colId xmlns:a16="http://schemas.microsoft.com/office/drawing/2014/main" val="2377290141"/>
                    </a:ext>
                  </a:extLst>
                </a:gridCol>
                <a:gridCol w="498293">
                  <a:extLst>
                    <a:ext uri="{9D8B030D-6E8A-4147-A177-3AD203B41FA5}">
                      <a16:colId xmlns:a16="http://schemas.microsoft.com/office/drawing/2014/main" val="3373527988"/>
                    </a:ext>
                  </a:extLst>
                </a:gridCol>
                <a:gridCol w="498293">
                  <a:extLst>
                    <a:ext uri="{9D8B030D-6E8A-4147-A177-3AD203B41FA5}">
                      <a16:colId xmlns:a16="http://schemas.microsoft.com/office/drawing/2014/main" val="2856972988"/>
                    </a:ext>
                  </a:extLst>
                </a:gridCol>
                <a:gridCol w="498293">
                  <a:extLst>
                    <a:ext uri="{9D8B030D-6E8A-4147-A177-3AD203B41FA5}">
                      <a16:colId xmlns:a16="http://schemas.microsoft.com/office/drawing/2014/main" val="4201672992"/>
                    </a:ext>
                  </a:extLst>
                </a:gridCol>
                <a:gridCol w="498293">
                  <a:extLst>
                    <a:ext uri="{9D8B030D-6E8A-4147-A177-3AD203B41FA5}">
                      <a16:colId xmlns:a16="http://schemas.microsoft.com/office/drawing/2014/main" val="2790435694"/>
                    </a:ext>
                  </a:extLst>
                </a:gridCol>
                <a:gridCol w="498293">
                  <a:extLst>
                    <a:ext uri="{9D8B030D-6E8A-4147-A177-3AD203B41FA5}">
                      <a16:colId xmlns:a16="http://schemas.microsoft.com/office/drawing/2014/main" val="2823874558"/>
                    </a:ext>
                  </a:extLst>
                </a:gridCol>
                <a:gridCol w="498293">
                  <a:extLst>
                    <a:ext uri="{9D8B030D-6E8A-4147-A177-3AD203B41FA5}">
                      <a16:colId xmlns:a16="http://schemas.microsoft.com/office/drawing/2014/main" val="4071686046"/>
                    </a:ext>
                  </a:extLst>
                </a:gridCol>
                <a:gridCol w="498293">
                  <a:extLst>
                    <a:ext uri="{9D8B030D-6E8A-4147-A177-3AD203B41FA5}">
                      <a16:colId xmlns:a16="http://schemas.microsoft.com/office/drawing/2014/main" val="28812772"/>
                    </a:ext>
                  </a:extLst>
                </a:gridCol>
                <a:gridCol w="498293">
                  <a:extLst>
                    <a:ext uri="{9D8B030D-6E8A-4147-A177-3AD203B41FA5}">
                      <a16:colId xmlns:a16="http://schemas.microsoft.com/office/drawing/2014/main" val="3744755509"/>
                    </a:ext>
                  </a:extLst>
                </a:gridCol>
                <a:gridCol w="498293">
                  <a:extLst>
                    <a:ext uri="{9D8B030D-6E8A-4147-A177-3AD203B41FA5}">
                      <a16:colId xmlns:a16="http://schemas.microsoft.com/office/drawing/2014/main" val="3807806539"/>
                    </a:ext>
                  </a:extLst>
                </a:gridCol>
                <a:gridCol w="498293">
                  <a:extLst>
                    <a:ext uri="{9D8B030D-6E8A-4147-A177-3AD203B41FA5}">
                      <a16:colId xmlns:a16="http://schemas.microsoft.com/office/drawing/2014/main" val="2959689407"/>
                    </a:ext>
                  </a:extLst>
                </a:gridCol>
                <a:gridCol w="498293">
                  <a:extLst>
                    <a:ext uri="{9D8B030D-6E8A-4147-A177-3AD203B41FA5}">
                      <a16:colId xmlns:a16="http://schemas.microsoft.com/office/drawing/2014/main" val="3441815743"/>
                    </a:ext>
                  </a:extLst>
                </a:gridCol>
              </a:tblGrid>
              <a:tr h="161925">
                <a:tc>
                  <a:txBody>
                    <a:bodyPr/>
                    <a:lstStyle/>
                    <a:p>
                      <a:pPr algn="l" fontAlgn="t"/>
                      <a:r>
                        <a:rPr lang="es-NI" sz="2000" u="none" strike="noStrike" dirty="0">
                          <a:effectLst/>
                        </a:rPr>
                        <a:t>Periodo</a:t>
                      </a:r>
                      <a:endParaRPr lang="es-NI" sz="20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2</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3</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4</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5</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6</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7</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8</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9</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10</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11</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12</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13</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14</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15</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16</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17</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18</a:t>
                      </a:r>
                      <a:endParaRPr lang="es-NI" sz="2000" b="0" i="0" u="none" strike="noStrike">
                        <a:solidFill>
                          <a:srgbClr val="000000"/>
                        </a:solidFill>
                        <a:effectLst/>
                        <a:latin typeface="Times New Roman" panose="02020603050405020304" pitchFamily="18" charset="0"/>
                      </a:endParaRPr>
                    </a:p>
                  </a:txBody>
                  <a:tcPr marL="9525" marR="9525" marT="9525" marB="0"/>
                </a:tc>
                <a:extLst>
                  <a:ext uri="{0D108BD9-81ED-4DB2-BD59-A6C34878D82A}">
                    <a16:rowId xmlns:a16="http://schemas.microsoft.com/office/drawing/2014/main" val="4097857817"/>
                  </a:ext>
                </a:extLst>
              </a:tr>
              <a:tr h="161925">
                <a:tc>
                  <a:txBody>
                    <a:bodyPr/>
                    <a:lstStyle/>
                    <a:p>
                      <a:pPr algn="l" fontAlgn="t"/>
                      <a:r>
                        <a:rPr lang="es-NI" sz="2000" u="none" strike="noStrike" dirty="0">
                          <a:effectLst/>
                        </a:rPr>
                        <a:t>Demanda</a:t>
                      </a:r>
                      <a:endParaRPr lang="es-NI" sz="20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130</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145</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139</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153</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162</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170</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dirty="0">
                          <a:effectLst/>
                        </a:rPr>
                        <a:t>100</a:t>
                      </a:r>
                      <a:endParaRPr lang="es-NI" sz="20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120</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151</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134</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139</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151</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164</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159</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171</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182</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162</a:t>
                      </a:r>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2000" u="none" strike="noStrike">
                          <a:effectLst/>
                        </a:rPr>
                        <a:t>190</a:t>
                      </a:r>
                      <a:endParaRPr lang="es-NI" sz="2000" b="0" i="0" u="none" strike="noStrike">
                        <a:solidFill>
                          <a:srgbClr val="000000"/>
                        </a:solidFill>
                        <a:effectLst/>
                        <a:latin typeface="Times New Roman" panose="02020603050405020304" pitchFamily="18" charset="0"/>
                      </a:endParaRPr>
                    </a:p>
                  </a:txBody>
                  <a:tcPr marL="9525" marR="9525" marT="9525" marB="0"/>
                </a:tc>
                <a:extLst>
                  <a:ext uri="{0D108BD9-81ED-4DB2-BD59-A6C34878D82A}">
                    <a16:rowId xmlns:a16="http://schemas.microsoft.com/office/drawing/2014/main" val="4289133253"/>
                  </a:ext>
                </a:extLst>
              </a:tr>
              <a:tr h="161925">
                <a:tc>
                  <a:txBody>
                    <a:bodyPr/>
                    <a:lstStyle/>
                    <a:p>
                      <a:pPr algn="l" fontAlgn="t"/>
                      <a:endParaRPr lang="es-NI" sz="20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endParaRPr lang="es-NI" sz="20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endParaRPr lang="es-NI" sz="20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endParaRPr lang="es-NI" sz="20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endParaRPr lang="es-NI" sz="20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endParaRPr lang="es-NI" sz="20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endParaRPr lang="es-NI" sz="20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endParaRPr lang="es-NI" sz="20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endParaRPr lang="es-NI" sz="20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endParaRPr lang="es-NI" sz="20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endParaRPr lang="es-NI" sz="20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endParaRPr lang="es-NI" sz="20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endParaRPr lang="es-NI" sz="20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endParaRPr lang="es-NI" sz="20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endParaRPr lang="es-NI" sz="20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endParaRPr lang="es-NI" sz="2000" b="0" i="0" u="none" strike="noStrike" dirty="0">
                        <a:solidFill>
                          <a:srgbClr val="000000"/>
                        </a:solidFill>
                        <a:effectLst/>
                        <a:latin typeface="Times New Roman" panose="02020603050405020304" pitchFamily="18" charset="0"/>
                      </a:endParaRPr>
                    </a:p>
                  </a:txBody>
                  <a:tcPr marL="9525" marR="9525" marT="9525" marB="0"/>
                </a:tc>
                <a:extLst>
                  <a:ext uri="{0D108BD9-81ED-4DB2-BD59-A6C34878D82A}">
                    <a16:rowId xmlns:a16="http://schemas.microsoft.com/office/drawing/2014/main" val="239602474"/>
                  </a:ext>
                </a:extLst>
              </a:tr>
            </a:tbl>
          </a:graphicData>
        </a:graphic>
      </p:graphicFrame>
    </p:spTree>
    <p:extLst>
      <p:ext uri="{BB962C8B-B14F-4D97-AF65-F5344CB8AC3E}">
        <p14:creationId xmlns:p14="http://schemas.microsoft.com/office/powerpoint/2010/main" val="674550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8EC2CE8-C9E9-4AD3-B259-F52577E2CD23}"/>
              </a:ext>
            </a:extLst>
          </p:cNvPr>
          <p:cNvSpPr txBox="1"/>
          <p:nvPr/>
        </p:nvSpPr>
        <p:spPr>
          <a:xfrm>
            <a:off x="791570" y="968989"/>
            <a:ext cx="10617958" cy="400110"/>
          </a:xfrm>
          <a:prstGeom prst="rect">
            <a:avLst/>
          </a:prstGeom>
          <a:noFill/>
        </p:spPr>
        <p:txBody>
          <a:bodyPr wrap="square" rtlCol="0">
            <a:spAutoFit/>
          </a:bodyPr>
          <a:lstStyle/>
          <a:p>
            <a:pPr algn="just"/>
            <a:endParaRPr lang="es-NI" sz="2000" dirty="0"/>
          </a:p>
        </p:txBody>
      </p:sp>
      <p:sp>
        <p:nvSpPr>
          <p:cNvPr id="7" name="Rectángulo 6">
            <a:extLst>
              <a:ext uri="{FF2B5EF4-FFF2-40B4-BE49-F238E27FC236}">
                <a16:creationId xmlns:a16="http://schemas.microsoft.com/office/drawing/2014/main" id="{174079A4-717E-4035-8EA8-F91E1AEAB7AA}"/>
              </a:ext>
            </a:extLst>
          </p:cNvPr>
          <p:cNvSpPr/>
          <p:nvPr/>
        </p:nvSpPr>
        <p:spPr>
          <a:xfrm>
            <a:off x="782472" y="0"/>
            <a:ext cx="10617958" cy="830997"/>
          </a:xfrm>
          <a:prstGeom prst="rect">
            <a:avLst/>
          </a:prstGeom>
          <a:noFill/>
        </p:spPr>
        <p:txBody>
          <a:bodyPr wrap="square" lIns="91440" tIns="45720" rIns="91440" bIns="45720">
            <a:spAutoFit/>
          </a:bodyPr>
          <a:lstStyle/>
          <a:p>
            <a:pPr algn="ctr"/>
            <a:r>
              <a:rPr lang="es-ES" sz="48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Promedio Móvil Ponderado - Ejemplo</a:t>
            </a:r>
          </a:p>
        </p:txBody>
      </p:sp>
      <p:graphicFrame>
        <p:nvGraphicFramePr>
          <p:cNvPr id="10" name="Tabla 9">
            <a:extLst>
              <a:ext uri="{FF2B5EF4-FFF2-40B4-BE49-F238E27FC236}">
                <a16:creationId xmlns:a16="http://schemas.microsoft.com/office/drawing/2014/main" id="{E880D235-FDBC-45D2-8143-B7C2A5620E82}"/>
              </a:ext>
            </a:extLst>
          </p:cNvPr>
          <p:cNvGraphicFramePr>
            <a:graphicFrameLocks noGrp="1"/>
          </p:cNvGraphicFramePr>
          <p:nvPr>
            <p:extLst>
              <p:ext uri="{D42A27DB-BD31-4B8C-83A1-F6EECF244321}">
                <p14:modId xmlns:p14="http://schemas.microsoft.com/office/powerpoint/2010/main" val="3161494272"/>
              </p:ext>
            </p:extLst>
          </p:nvPr>
        </p:nvGraphicFramePr>
        <p:xfrm>
          <a:off x="1094843" y="1175295"/>
          <a:ext cx="10011412" cy="851535"/>
        </p:xfrm>
        <a:graphic>
          <a:graphicData uri="http://schemas.openxmlformats.org/drawingml/2006/table">
            <a:tbl>
              <a:tblPr>
                <a:tableStyleId>{5940675A-B579-460E-94D1-54222C63F5DA}</a:tableStyleId>
              </a:tblPr>
              <a:tblGrid>
                <a:gridCol w="1254628">
                  <a:extLst>
                    <a:ext uri="{9D8B030D-6E8A-4147-A177-3AD203B41FA5}">
                      <a16:colId xmlns:a16="http://schemas.microsoft.com/office/drawing/2014/main" val="1998823986"/>
                    </a:ext>
                  </a:extLst>
                </a:gridCol>
                <a:gridCol w="486488">
                  <a:extLst>
                    <a:ext uri="{9D8B030D-6E8A-4147-A177-3AD203B41FA5}">
                      <a16:colId xmlns:a16="http://schemas.microsoft.com/office/drawing/2014/main" val="3320867789"/>
                    </a:ext>
                  </a:extLst>
                </a:gridCol>
                <a:gridCol w="486488">
                  <a:extLst>
                    <a:ext uri="{9D8B030D-6E8A-4147-A177-3AD203B41FA5}">
                      <a16:colId xmlns:a16="http://schemas.microsoft.com/office/drawing/2014/main" val="2131025104"/>
                    </a:ext>
                  </a:extLst>
                </a:gridCol>
                <a:gridCol w="486488">
                  <a:extLst>
                    <a:ext uri="{9D8B030D-6E8A-4147-A177-3AD203B41FA5}">
                      <a16:colId xmlns:a16="http://schemas.microsoft.com/office/drawing/2014/main" val="1445855447"/>
                    </a:ext>
                  </a:extLst>
                </a:gridCol>
                <a:gridCol w="486488">
                  <a:extLst>
                    <a:ext uri="{9D8B030D-6E8A-4147-A177-3AD203B41FA5}">
                      <a16:colId xmlns:a16="http://schemas.microsoft.com/office/drawing/2014/main" val="3451528309"/>
                    </a:ext>
                  </a:extLst>
                </a:gridCol>
                <a:gridCol w="486488">
                  <a:extLst>
                    <a:ext uri="{9D8B030D-6E8A-4147-A177-3AD203B41FA5}">
                      <a16:colId xmlns:a16="http://schemas.microsoft.com/office/drawing/2014/main" val="2372313770"/>
                    </a:ext>
                  </a:extLst>
                </a:gridCol>
                <a:gridCol w="486488">
                  <a:extLst>
                    <a:ext uri="{9D8B030D-6E8A-4147-A177-3AD203B41FA5}">
                      <a16:colId xmlns:a16="http://schemas.microsoft.com/office/drawing/2014/main" val="922368292"/>
                    </a:ext>
                  </a:extLst>
                </a:gridCol>
                <a:gridCol w="486488">
                  <a:extLst>
                    <a:ext uri="{9D8B030D-6E8A-4147-A177-3AD203B41FA5}">
                      <a16:colId xmlns:a16="http://schemas.microsoft.com/office/drawing/2014/main" val="2377290141"/>
                    </a:ext>
                  </a:extLst>
                </a:gridCol>
                <a:gridCol w="486488">
                  <a:extLst>
                    <a:ext uri="{9D8B030D-6E8A-4147-A177-3AD203B41FA5}">
                      <a16:colId xmlns:a16="http://schemas.microsoft.com/office/drawing/2014/main" val="3373527988"/>
                    </a:ext>
                  </a:extLst>
                </a:gridCol>
                <a:gridCol w="486488">
                  <a:extLst>
                    <a:ext uri="{9D8B030D-6E8A-4147-A177-3AD203B41FA5}">
                      <a16:colId xmlns:a16="http://schemas.microsoft.com/office/drawing/2014/main" val="2856972988"/>
                    </a:ext>
                  </a:extLst>
                </a:gridCol>
                <a:gridCol w="486488">
                  <a:extLst>
                    <a:ext uri="{9D8B030D-6E8A-4147-A177-3AD203B41FA5}">
                      <a16:colId xmlns:a16="http://schemas.microsoft.com/office/drawing/2014/main" val="4201672992"/>
                    </a:ext>
                  </a:extLst>
                </a:gridCol>
                <a:gridCol w="486488">
                  <a:extLst>
                    <a:ext uri="{9D8B030D-6E8A-4147-A177-3AD203B41FA5}">
                      <a16:colId xmlns:a16="http://schemas.microsoft.com/office/drawing/2014/main" val="2790435694"/>
                    </a:ext>
                  </a:extLst>
                </a:gridCol>
                <a:gridCol w="486488">
                  <a:extLst>
                    <a:ext uri="{9D8B030D-6E8A-4147-A177-3AD203B41FA5}">
                      <a16:colId xmlns:a16="http://schemas.microsoft.com/office/drawing/2014/main" val="2823874558"/>
                    </a:ext>
                  </a:extLst>
                </a:gridCol>
                <a:gridCol w="486488">
                  <a:extLst>
                    <a:ext uri="{9D8B030D-6E8A-4147-A177-3AD203B41FA5}">
                      <a16:colId xmlns:a16="http://schemas.microsoft.com/office/drawing/2014/main" val="4071686046"/>
                    </a:ext>
                  </a:extLst>
                </a:gridCol>
                <a:gridCol w="486488">
                  <a:extLst>
                    <a:ext uri="{9D8B030D-6E8A-4147-A177-3AD203B41FA5}">
                      <a16:colId xmlns:a16="http://schemas.microsoft.com/office/drawing/2014/main" val="28812772"/>
                    </a:ext>
                  </a:extLst>
                </a:gridCol>
                <a:gridCol w="486488">
                  <a:extLst>
                    <a:ext uri="{9D8B030D-6E8A-4147-A177-3AD203B41FA5}">
                      <a16:colId xmlns:a16="http://schemas.microsoft.com/office/drawing/2014/main" val="3744755509"/>
                    </a:ext>
                  </a:extLst>
                </a:gridCol>
                <a:gridCol w="486488">
                  <a:extLst>
                    <a:ext uri="{9D8B030D-6E8A-4147-A177-3AD203B41FA5}">
                      <a16:colId xmlns:a16="http://schemas.microsoft.com/office/drawing/2014/main" val="3807806539"/>
                    </a:ext>
                  </a:extLst>
                </a:gridCol>
                <a:gridCol w="486488">
                  <a:extLst>
                    <a:ext uri="{9D8B030D-6E8A-4147-A177-3AD203B41FA5}">
                      <a16:colId xmlns:a16="http://schemas.microsoft.com/office/drawing/2014/main" val="2959689407"/>
                    </a:ext>
                  </a:extLst>
                </a:gridCol>
                <a:gridCol w="486488">
                  <a:extLst>
                    <a:ext uri="{9D8B030D-6E8A-4147-A177-3AD203B41FA5}">
                      <a16:colId xmlns:a16="http://schemas.microsoft.com/office/drawing/2014/main" val="3441815743"/>
                    </a:ext>
                  </a:extLst>
                </a:gridCol>
              </a:tblGrid>
              <a:tr h="161925">
                <a:tc>
                  <a:txBody>
                    <a:bodyPr/>
                    <a:lstStyle/>
                    <a:p>
                      <a:pPr algn="l" fontAlgn="t"/>
                      <a:r>
                        <a:rPr lang="es-NI" sz="1800" u="none" strike="noStrike">
                          <a:effectLst/>
                        </a:rPr>
                        <a:t>Periodo</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dirty="0">
                          <a:effectLst/>
                        </a:rPr>
                        <a:t>1</a:t>
                      </a:r>
                      <a:endParaRPr lang="es-NI" sz="18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2</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3</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4</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5</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6</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7</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8</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9</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10</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11</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12</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13</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14</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15</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16</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17</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18</a:t>
                      </a:r>
                      <a:endParaRPr lang="es-NI" sz="1800" b="0" i="0" u="none" strike="noStrike">
                        <a:solidFill>
                          <a:srgbClr val="000000"/>
                        </a:solidFill>
                        <a:effectLst/>
                        <a:latin typeface="Times New Roman" panose="02020603050405020304" pitchFamily="18" charset="0"/>
                      </a:endParaRPr>
                    </a:p>
                  </a:txBody>
                  <a:tcPr marL="9525" marR="9525" marT="9525" marB="0"/>
                </a:tc>
                <a:extLst>
                  <a:ext uri="{0D108BD9-81ED-4DB2-BD59-A6C34878D82A}">
                    <a16:rowId xmlns:a16="http://schemas.microsoft.com/office/drawing/2014/main" val="4097857817"/>
                  </a:ext>
                </a:extLst>
              </a:tr>
              <a:tr h="161925">
                <a:tc>
                  <a:txBody>
                    <a:bodyPr/>
                    <a:lstStyle/>
                    <a:p>
                      <a:pPr algn="l" fontAlgn="t"/>
                      <a:r>
                        <a:rPr lang="es-NI" sz="1800" u="none" strike="noStrike">
                          <a:effectLst/>
                        </a:rPr>
                        <a:t>Demanda</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130</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145</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139</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153</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162</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170</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100</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120</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151</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134</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139</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151</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164</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159</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171</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182</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162</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dirty="0">
                          <a:effectLst/>
                        </a:rPr>
                        <a:t>190</a:t>
                      </a:r>
                      <a:endParaRPr lang="es-NI" sz="1800" b="0" i="0" u="none" strike="noStrike" dirty="0">
                        <a:solidFill>
                          <a:srgbClr val="000000"/>
                        </a:solidFill>
                        <a:effectLst/>
                        <a:latin typeface="Times New Roman" panose="02020603050405020304" pitchFamily="18" charset="0"/>
                      </a:endParaRPr>
                    </a:p>
                  </a:txBody>
                  <a:tcPr marL="9525" marR="9525" marT="9525" marB="0"/>
                </a:tc>
                <a:extLst>
                  <a:ext uri="{0D108BD9-81ED-4DB2-BD59-A6C34878D82A}">
                    <a16:rowId xmlns:a16="http://schemas.microsoft.com/office/drawing/2014/main" val="4289133253"/>
                  </a:ext>
                </a:extLst>
              </a:tr>
              <a:tr h="161925">
                <a:tc>
                  <a:txBody>
                    <a:bodyPr/>
                    <a:lstStyle/>
                    <a:p>
                      <a:pPr algn="l" fontAlgn="t"/>
                      <a:r>
                        <a:rPr lang="es-NI" sz="1800" u="none" strike="noStrike">
                          <a:effectLst/>
                        </a:rPr>
                        <a:t>Pronóstico</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endParaRPr lang="es-NI" sz="18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139</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147</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155</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164</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133</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124</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132</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dirty="0">
                          <a:effectLst/>
                        </a:rPr>
                        <a:t>136</a:t>
                      </a:r>
                      <a:endParaRPr lang="es-NI" sz="18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endParaRPr lang="es-NI" sz="18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endParaRPr lang="es-NI" sz="18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endParaRPr lang="es-NI" sz="18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endParaRPr lang="es-NI" sz="18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endParaRPr lang="es-NI" sz="18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endParaRPr lang="es-NI" sz="1800" b="0" i="0" u="none" strike="noStrike" dirty="0">
                        <a:solidFill>
                          <a:srgbClr val="000000"/>
                        </a:solidFill>
                        <a:effectLst/>
                        <a:latin typeface="Times New Roman" panose="02020603050405020304" pitchFamily="18" charset="0"/>
                      </a:endParaRPr>
                    </a:p>
                  </a:txBody>
                  <a:tcPr marL="9525" marR="9525" marT="9525" marB="0"/>
                </a:tc>
                <a:tc>
                  <a:txBody>
                    <a:bodyPr/>
                    <a:lstStyle/>
                    <a:p>
                      <a:pPr algn="l" fontAlgn="t"/>
                      <a:endParaRPr lang="es-NI" sz="1800" b="0" i="0" u="none" strike="noStrike" dirty="0">
                        <a:solidFill>
                          <a:srgbClr val="000000"/>
                        </a:solidFill>
                        <a:effectLst/>
                        <a:latin typeface="Times New Roman" panose="02020603050405020304" pitchFamily="18" charset="0"/>
                      </a:endParaRPr>
                    </a:p>
                  </a:txBody>
                  <a:tcPr marL="9525" marR="9525" marT="9525" marB="0"/>
                </a:tc>
                <a:extLst>
                  <a:ext uri="{0D108BD9-81ED-4DB2-BD59-A6C34878D82A}">
                    <a16:rowId xmlns:a16="http://schemas.microsoft.com/office/drawing/2014/main" val="239602474"/>
                  </a:ext>
                </a:extLst>
              </a:tr>
            </a:tbl>
          </a:graphicData>
        </a:graphic>
      </p:graphicFrame>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53A02DB8-D275-495C-8F06-0F177CCDCCBF}"/>
                  </a:ext>
                </a:extLst>
              </p:cNvPr>
              <p:cNvSpPr txBox="1"/>
              <p:nvPr/>
            </p:nvSpPr>
            <p:spPr>
              <a:xfrm>
                <a:off x="782472" y="2472449"/>
                <a:ext cx="4827347"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NI" sz="1600" i="1">
                              <a:solidFill>
                                <a:srgbClr val="836967"/>
                              </a:solidFill>
                              <a:latin typeface="Cambria Math" panose="02040503050406030204" pitchFamily="18" charset="0"/>
                            </a:rPr>
                          </m:ctrlPr>
                        </m:sSubPr>
                        <m:e>
                          <m:r>
                            <a:rPr lang="es-ES" sz="1600" b="0" i="1" smtClean="0">
                              <a:solidFill>
                                <a:srgbClr val="836967"/>
                              </a:solidFill>
                              <a:latin typeface="Cambria Math" panose="02040503050406030204" pitchFamily="18" charset="0"/>
                            </a:rPr>
                            <m:t>𝑃𝑀</m:t>
                          </m:r>
                          <m:r>
                            <a:rPr lang="es-NI" sz="1600" i="1">
                              <a:latin typeface="Cambria Math" panose="02040503050406030204" pitchFamily="18" charset="0"/>
                            </a:rPr>
                            <m:t>𝑃</m:t>
                          </m:r>
                        </m:e>
                        <m:sub>
                          <m:r>
                            <a:rPr lang="es-NI" sz="1600" i="0">
                              <a:latin typeface="Cambria Math" panose="02040503050406030204" pitchFamily="18" charset="0"/>
                            </a:rPr>
                            <m:t>4</m:t>
                          </m:r>
                        </m:sub>
                      </m:sSub>
                      <m:r>
                        <a:rPr lang="es-NI" sz="1600" i="0">
                          <a:latin typeface="Cambria Math" panose="02040503050406030204" pitchFamily="18" charset="0"/>
                        </a:rPr>
                        <m:t>=</m:t>
                      </m:r>
                      <m:d>
                        <m:dPr>
                          <m:ctrlPr>
                            <a:rPr lang="es-NI" sz="1600" i="1">
                              <a:solidFill>
                                <a:srgbClr val="836967"/>
                              </a:solidFill>
                              <a:latin typeface="Cambria Math" panose="02040503050406030204" pitchFamily="18" charset="0"/>
                            </a:rPr>
                          </m:ctrlPr>
                        </m:dPr>
                        <m:e>
                          <m:r>
                            <a:rPr lang="es-NI" sz="1600" i="0">
                              <a:latin typeface="Cambria Math" panose="02040503050406030204" pitchFamily="18" charset="0"/>
                            </a:rPr>
                            <m:t>0.5∗139</m:t>
                          </m:r>
                        </m:e>
                      </m:d>
                      <m:r>
                        <a:rPr lang="es-NI" sz="1600" i="0">
                          <a:latin typeface="Cambria Math" panose="02040503050406030204" pitchFamily="18" charset="0"/>
                        </a:rPr>
                        <m:t>+</m:t>
                      </m:r>
                      <m:d>
                        <m:dPr>
                          <m:ctrlPr>
                            <a:rPr lang="es-NI" sz="1600" i="1">
                              <a:solidFill>
                                <a:srgbClr val="836967"/>
                              </a:solidFill>
                              <a:latin typeface="Cambria Math" panose="02040503050406030204" pitchFamily="18" charset="0"/>
                            </a:rPr>
                          </m:ctrlPr>
                        </m:dPr>
                        <m:e>
                          <m:r>
                            <a:rPr lang="es-NI" sz="1600" i="0">
                              <a:latin typeface="Cambria Math" panose="02040503050406030204" pitchFamily="18" charset="0"/>
                            </a:rPr>
                            <m:t>0.3∗145</m:t>
                          </m:r>
                        </m:e>
                      </m:d>
                      <m:r>
                        <a:rPr lang="es-NI" sz="1600" i="0">
                          <a:latin typeface="Cambria Math" panose="02040503050406030204" pitchFamily="18" charset="0"/>
                        </a:rPr>
                        <m:t>+</m:t>
                      </m:r>
                      <m:d>
                        <m:dPr>
                          <m:ctrlPr>
                            <a:rPr lang="es-NI" sz="1600" i="1">
                              <a:solidFill>
                                <a:srgbClr val="836967"/>
                              </a:solidFill>
                              <a:latin typeface="Cambria Math" panose="02040503050406030204" pitchFamily="18" charset="0"/>
                            </a:rPr>
                          </m:ctrlPr>
                        </m:dPr>
                        <m:e>
                          <m:r>
                            <a:rPr lang="es-NI" sz="1600" i="0">
                              <a:latin typeface="Cambria Math" panose="02040503050406030204" pitchFamily="18" charset="0"/>
                            </a:rPr>
                            <m:t>0.2∗130</m:t>
                          </m:r>
                        </m:e>
                      </m:d>
                      <m:r>
                        <a:rPr lang="es-NI" sz="1600" i="0">
                          <a:latin typeface="Cambria Math" panose="02040503050406030204" pitchFamily="18" charset="0"/>
                        </a:rPr>
                        <m:t>=</m:t>
                      </m:r>
                      <m:r>
                        <a:rPr lang="es-ES" sz="1600" b="0" i="0" smtClean="0">
                          <a:latin typeface="Cambria Math" panose="02040503050406030204" pitchFamily="18" charset="0"/>
                        </a:rPr>
                        <m:t>139</m:t>
                      </m:r>
                    </m:oMath>
                  </m:oMathPara>
                </a14:m>
                <a:endParaRPr lang="es-NI" sz="1600" dirty="0"/>
              </a:p>
            </p:txBody>
          </p:sp>
        </mc:Choice>
        <mc:Fallback xmlns="">
          <p:sp>
            <p:nvSpPr>
              <p:cNvPr id="2" name="CuadroTexto 1">
                <a:extLst>
                  <a:ext uri="{FF2B5EF4-FFF2-40B4-BE49-F238E27FC236}">
                    <a16:creationId xmlns:a16="http://schemas.microsoft.com/office/drawing/2014/main" id="{53A02DB8-D275-495C-8F06-0F177CCDCCBF}"/>
                  </a:ext>
                </a:extLst>
              </p:cNvPr>
              <p:cNvSpPr txBox="1">
                <a:spLocks noRot="1" noChangeAspect="1" noMove="1" noResize="1" noEditPoints="1" noAdjustHandles="1" noChangeArrowheads="1" noChangeShapeType="1" noTextEdit="1"/>
              </p:cNvSpPr>
              <p:nvPr/>
            </p:nvSpPr>
            <p:spPr>
              <a:xfrm>
                <a:off x="782472" y="2472449"/>
                <a:ext cx="4827347" cy="246221"/>
              </a:xfrm>
              <a:prstGeom prst="rect">
                <a:avLst/>
              </a:prstGeom>
              <a:blipFill>
                <a:blip r:embed="rId2"/>
                <a:stretch>
                  <a:fillRect l="-379" r="-379" b="-17500"/>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CD986243-E71C-448C-84B9-D5B16FBCA3C7}"/>
                  </a:ext>
                </a:extLst>
              </p:cNvPr>
              <p:cNvSpPr txBox="1"/>
              <p:nvPr/>
            </p:nvSpPr>
            <p:spPr>
              <a:xfrm>
                <a:off x="6582183" y="2472449"/>
                <a:ext cx="4836131"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NI" sz="1600" i="1" smtClean="0">
                              <a:solidFill>
                                <a:srgbClr val="836967"/>
                              </a:solidFill>
                              <a:latin typeface="Cambria Math" panose="02040503050406030204" pitchFamily="18" charset="0"/>
                            </a:rPr>
                          </m:ctrlPr>
                        </m:sSubPr>
                        <m:e>
                          <m:r>
                            <a:rPr lang="es-ES" sz="1600" b="0" i="1" smtClean="0">
                              <a:solidFill>
                                <a:srgbClr val="836967"/>
                              </a:solidFill>
                              <a:latin typeface="Cambria Math" panose="02040503050406030204" pitchFamily="18" charset="0"/>
                            </a:rPr>
                            <m:t>𝑃𝑀</m:t>
                          </m:r>
                          <m:r>
                            <a:rPr lang="es-NI" sz="1600" i="1">
                              <a:latin typeface="Cambria Math" panose="02040503050406030204" pitchFamily="18" charset="0"/>
                            </a:rPr>
                            <m:t>𝑃</m:t>
                          </m:r>
                        </m:e>
                        <m:sub>
                          <m:r>
                            <a:rPr lang="es-ES" sz="1600" b="0" i="0" smtClean="0">
                              <a:latin typeface="Cambria Math" panose="02040503050406030204" pitchFamily="18" charset="0"/>
                            </a:rPr>
                            <m:t>5</m:t>
                          </m:r>
                        </m:sub>
                      </m:sSub>
                      <m:r>
                        <a:rPr lang="es-NI" sz="1600" i="0">
                          <a:latin typeface="Cambria Math" panose="02040503050406030204" pitchFamily="18" charset="0"/>
                        </a:rPr>
                        <m:t>=</m:t>
                      </m:r>
                      <m:d>
                        <m:dPr>
                          <m:ctrlPr>
                            <a:rPr lang="es-NI" sz="1600" i="1">
                              <a:solidFill>
                                <a:srgbClr val="836967"/>
                              </a:solidFill>
                              <a:latin typeface="Cambria Math" panose="02040503050406030204" pitchFamily="18" charset="0"/>
                            </a:rPr>
                          </m:ctrlPr>
                        </m:dPr>
                        <m:e>
                          <m:r>
                            <a:rPr lang="es-NI" sz="1600" i="0">
                              <a:latin typeface="Cambria Math" panose="02040503050406030204" pitchFamily="18" charset="0"/>
                            </a:rPr>
                            <m:t>0.5∗</m:t>
                          </m:r>
                          <m:r>
                            <a:rPr lang="es-ES" sz="1600" b="0" i="1" smtClean="0">
                              <a:latin typeface="Cambria Math" panose="02040503050406030204" pitchFamily="18" charset="0"/>
                            </a:rPr>
                            <m:t>153</m:t>
                          </m:r>
                        </m:e>
                      </m:d>
                      <m:r>
                        <a:rPr lang="es-NI" sz="1600" i="0">
                          <a:latin typeface="Cambria Math" panose="02040503050406030204" pitchFamily="18" charset="0"/>
                        </a:rPr>
                        <m:t>+</m:t>
                      </m:r>
                      <m:d>
                        <m:dPr>
                          <m:ctrlPr>
                            <a:rPr lang="es-NI" sz="1600" i="1">
                              <a:solidFill>
                                <a:srgbClr val="836967"/>
                              </a:solidFill>
                              <a:latin typeface="Cambria Math" panose="02040503050406030204" pitchFamily="18" charset="0"/>
                            </a:rPr>
                          </m:ctrlPr>
                        </m:dPr>
                        <m:e>
                          <m:r>
                            <a:rPr lang="es-NI" sz="1600" i="0">
                              <a:latin typeface="Cambria Math" panose="02040503050406030204" pitchFamily="18" charset="0"/>
                            </a:rPr>
                            <m:t>0.3∗1</m:t>
                          </m:r>
                          <m:r>
                            <a:rPr lang="es-ES" sz="1600" b="0" i="1" smtClean="0">
                              <a:latin typeface="Cambria Math" panose="02040503050406030204" pitchFamily="18" charset="0"/>
                            </a:rPr>
                            <m:t>39</m:t>
                          </m:r>
                        </m:e>
                      </m:d>
                      <m:r>
                        <a:rPr lang="es-NI" sz="1600" i="0">
                          <a:latin typeface="Cambria Math" panose="02040503050406030204" pitchFamily="18" charset="0"/>
                        </a:rPr>
                        <m:t>+</m:t>
                      </m:r>
                      <m:d>
                        <m:dPr>
                          <m:ctrlPr>
                            <a:rPr lang="es-NI" sz="1600" i="1">
                              <a:solidFill>
                                <a:srgbClr val="836967"/>
                              </a:solidFill>
                              <a:latin typeface="Cambria Math" panose="02040503050406030204" pitchFamily="18" charset="0"/>
                            </a:rPr>
                          </m:ctrlPr>
                        </m:dPr>
                        <m:e>
                          <m:r>
                            <a:rPr lang="es-NI" sz="1600" i="0">
                              <a:latin typeface="Cambria Math" panose="02040503050406030204" pitchFamily="18" charset="0"/>
                            </a:rPr>
                            <m:t>0.2∗1</m:t>
                          </m:r>
                          <m:r>
                            <a:rPr lang="es-ES" sz="1600" b="0" i="1" smtClean="0">
                              <a:latin typeface="Cambria Math" panose="02040503050406030204" pitchFamily="18" charset="0"/>
                            </a:rPr>
                            <m:t>45</m:t>
                          </m:r>
                        </m:e>
                      </m:d>
                      <m:r>
                        <a:rPr lang="es-NI" sz="1600" i="0">
                          <a:latin typeface="Cambria Math" panose="02040503050406030204" pitchFamily="18" charset="0"/>
                        </a:rPr>
                        <m:t>=</m:t>
                      </m:r>
                      <m:r>
                        <a:rPr lang="es-ES" sz="1600" b="0" i="0" smtClean="0">
                          <a:latin typeface="Cambria Math" panose="02040503050406030204" pitchFamily="18" charset="0"/>
                        </a:rPr>
                        <m:t>147</m:t>
                      </m:r>
                    </m:oMath>
                  </m:oMathPara>
                </a14:m>
                <a:endParaRPr lang="es-NI" sz="1600" dirty="0"/>
              </a:p>
            </p:txBody>
          </p:sp>
        </mc:Choice>
        <mc:Fallback xmlns="">
          <p:sp>
            <p:nvSpPr>
              <p:cNvPr id="6" name="CuadroTexto 5">
                <a:extLst>
                  <a:ext uri="{FF2B5EF4-FFF2-40B4-BE49-F238E27FC236}">
                    <a16:creationId xmlns:a16="http://schemas.microsoft.com/office/drawing/2014/main" id="{CD986243-E71C-448C-84B9-D5B16FBCA3C7}"/>
                  </a:ext>
                </a:extLst>
              </p:cNvPr>
              <p:cNvSpPr txBox="1">
                <a:spLocks noRot="1" noChangeAspect="1" noMove="1" noResize="1" noEditPoints="1" noAdjustHandles="1" noChangeArrowheads="1" noChangeShapeType="1" noTextEdit="1"/>
              </p:cNvSpPr>
              <p:nvPr/>
            </p:nvSpPr>
            <p:spPr>
              <a:xfrm>
                <a:off x="6582183" y="2472449"/>
                <a:ext cx="4836131" cy="246221"/>
              </a:xfrm>
              <a:prstGeom prst="rect">
                <a:avLst/>
              </a:prstGeom>
              <a:blipFill>
                <a:blip r:embed="rId3"/>
                <a:stretch>
                  <a:fillRect l="-504" r="-252" b="-17500"/>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65C08F5-118F-41DD-9DD1-43D5B4C6BD38}"/>
                  </a:ext>
                </a:extLst>
              </p:cNvPr>
              <p:cNvSpPr txBox="1"/>
              <p:nvPr/>
            </p:nvSpPr>
            <p:spPr>
              <a:xfrm>
                <a:off x="791570" y="3305889"/>
                <a:ext cx="48361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NI" sz="1600" i="1" smtClean="0">
                              <a:solidFill>
                                <a:srgbClr val="836967"/>
                              </a:solidFill>
                              <a:latin typeface="Cambria Math" panose="02040503050406030204" pitchFamily="18" charset="0"/>
                            </a:rPr>
                          </m:ctrlPr>
                        </m:sSubPr>
                        <m:e>
                          <m:r>
                            <a:rPr lang="es-ES" sz="1600" b="0" i="1" smtClean="0">
                              <a:solidFill>
                                <a:srgbClr val="836967"/>
                              </a:solidFill>
                              <a:latin typeface="Cambria Math" panose="02040503050406030204" pitchFamily="18" charset="0"/>
                            </a:rPr>
                            <m:t>𝑃𝑀</m:t>
                          </m:r>
                          <m:r>
                            <a:rPr lang="es-NI" sz="1600" i="1">
                              <a:latin typeface="Cambria Math" panose="02040503050406030204" pitchFamily="18" charset="0"/>
                            </a:rPr>
                            <m:t>𝑃</m:t>
                          </m:r>
                        </m:e>
                        <m:sub>
                          <m:r>
                            <a:rPr lang="es-ES" sz="1600" b="0" i="0" smtClean="0">
                              <a:latin typeface="Cambria Math" panose="02040503050406030204" pitchFamily="18" charset="0"/>
                            </a:rPr>
                            <m:t>6</m:t>
                          </m:r>
                        </m:sub>
                      </m:sSub>
                      <m:r>
                        <a:rPr lang="es-NI" sz="1600" i="0">
                          <a:latin typeface="Cambria Math" panose="02040503050406030204" pitchFamily="18" charset="0"/>
                        </a:rPr>
                        <m:t>=</m:t>
                      </m:r>
                      <m:d>
                        <m:dPr>
                          <m:ctrlPr>
                            <a:rPr lang="es-NI" sz="1600" i="1">
                              <a:solidFill>
                                <a:srgbClr val="836967"/>
                              </a:solidFill>
                              <a:latin typeface="Cambria Math" panose="02040503050406030204" pitchFamily="18" charset="0"/>
                            </a:rPr>
                          </m:ctrlPr>
                        </m:dPr>
                        <m:e>
                          <m:r>
                            <a:rPr lang="es-NI" sz="1600" i="0">
                              <a:latin typeface="Cambria Math" panose="02040503050406030204" pitchFamily="18" charset="0"/>
                            </a:rPr>
                            <m:t>0.5∗1</m:t>
                          </m:r>
                          <m:r>
                            <a:rPr lang="es-ES" sz="1600" b="0" i="1" smtClean="0">
                              <a:latin typeface="Cambria Math" panose="02040503050406030204" pitchFamily="18" charset="0"/>
                            </a:rPr>
                            <m:t>62</m:t>
                          </m:r>
                        </m:e>
                      </m:d>
                      <m:r>
                        <a:rPr lang="es-NI" sz="1600" i="0">
                          <a:latin typeface="Cambria Math" panose="02040503050406030204" pitchFamily="18" charset="0"/>
                        </a:rPr>
                        <m:t>+</m:t>
                      </m:r>
                      <m:d>
                        <m:dPr>
                          <m:ctrlPr>
                            <a:rPr lang="es-NI" sz="1600" i="1">
                              <a:solidFill>
                                <a:srgbClr val="836967"/>
                              </a:solidFill>
                              <a:latin typeface="Cambria Math" panose="02040503050406030204" pitchFamily="18" charset="0"/>
                            </a:rPr>
                          </m:ctrlPr>
                        </m:dPr>
                        <m:e>
                          <m:r>
                            <a:rPr lang="es-NI" sz="1600" i="0">
                              <a:latin typeface="Cambria Math" panose="02040503050406030204" pitchFamily="18" charset="0"/>
                            </a:rPr>
                            <m:t>0.3∗1</m:t>
                          </m:r>
                          <m:r>
                            <a:rPr lang="es-ES" sz="1600" b="0" i="1" smtClean="0">
                              <a:latin typeface="Cambria Math" panose="02040503050406030204" pitchFamily="18" charset="0"/>
                            </a:rPr>
                            <m:t>53</m:t>
                          </m:r>
                        </m:e>
                      </m:d>
                      <m:r>
                        <a:rPr lang="es-NI" sz="1600" i="0">
                          <a:latin typeface="Cambria Math" panose="02040503050406030204" pitchFamily="18" charset="0"/>
                        </a:rPr>
                        <m:t>+</m:t>
                      </m:r>
                      <m:d>
                        <m:dPr>
                          <m:ctrlPr>
                            <a:rPr lang="es-NI" sz="1600" i="1">
                              <a:solidFill>
                                <a:srgbClr val="836967"/>
                              </a:solidFill>
                              <a:latin typeface="Cambria Math" panose="02040503050406030204" pitchFamily="18" charset="0"/>
                            </a:rPr>
                          </m:ctrlPr>
                        </m:dPr>
                        <m:e>
                          <m:r>
                            <a:rPr lang="es-NI" sz="1600" i="0">
                              <a:latin typeface="Cambria Math" panose="02040503050406030204" pitchFamily="18" charset="0"/>
                            </a:rPr>
                            <m:t>0.2∗13</m:t>
                          </m:r>
                          <m:r>
                            <a:rPr lang="es-ES" sz="1600" b="0" i="1" smtClean="0">
                              <a:latin typeface="Cambria Math" panose="02040503050406030204" pitchFamily="18" charset="0"/>
                            </a:rPr>
                            <m:t>9</m:t>
                          </m:r>
                        </m:e>
                      </m:d>
                      <m:r>
                        <a:rPr lang="es-NI" sz="1600" i="0">
                          <a:latin typeface="Cambria Math" panose="02040503050406030204" pitchFamily="18" charset="0"/>
                        </a:rPr>
                        <m:t>=</m:t>
                      </m:r>
                      <m:r>
                        <a:rPr lang="es-ES" sz="1600" b="0" i="0" smtClean="0">
                          <a:latin typeface="Cambria Math" panose="02040503050406030204" pitchFamily="18" charset="0"/>
                        </a:rPr>
                        <m:t>155</m:t>
                      </m:r>
                    </m:oMath>
                  </m:oMathPara>
                </a14:m>
                <a:endParaRPr lang="es-NI" sz="1600" dirty="0"/>
              </a:p>
            </p:txBody>
          </p:sp>
        </mc:Choice>
        <mc:Fallback xmlns="">
          <p:sp>
            <p:nvSpPr>
              <p:cNvPr id="9" name="CuadroTexto 8">
                <a:extLst>
                  <a:ext uri="{FF2B5EF4-FFF2-40B4-BE49-F238E27FC236}">
                    <a16:creationId xmlns:a16="http://schemas.microsoft.com/office/drawing/2014/main" id="{B65C08F5-118F-41DD-9DD1-43D5B4C6BD38}"/>
                  </a:ext>
                </a:extLst>
              </p:cNvPr>
              <p:cNvSpPr txBox="1">
                <a:spLocks noRot="1" noChangeAspect="1" noMove="1" noResize="1" noEditPoints="1" noAdjustHandles="1" noChangeArrowheads="1" noChangeShapeType="1" noTextEdit="1"/>
              </p:cNvSpPr>
              <p:nvPr/>
            </p:nvSpPr>
            <p:spPr>
              <a:xfrm>
                <a:off x="791570" y="3305889"/>
                <a:ext cx="4836132" cy="246221"/>
              </a:xfrm>
              <a:prstGeom prst="rect">
                <a:avLst/>
              </a:prstGeom>
              <a:blipFill>
                <a:blip r:embed="rId4"/>
                <a:stretch>
                  <a:fillRect l="-504" r="-378" b="-14634"/>
                </a:stretch>
              </a:blipFill>
            </p:spPr>
            <p:txBody>
              <a:bodyPr/>
              <a:lstStyle/>
              <a:p>
                <a:r>
                  <a:rPr lang="es-NI">
                    <a:noFill/>
                  </a:rPr>
                  <a:t> </a:t>
                </a:r>
              </a:p>
            </p:txBody>
          </p:sp>
        </mc:Fallback>
      </mc:AlternateContent>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B7D93743-6514-427A-AEC3-27E720DC16F4}"/>
                  </a:ext>
                </a:extLst>
              </p:cNvPr>
              <p:cNvSpPr txBox="1"/>
              <p:nvPr/>
            </p:nvSpPr>
            <p:spPr>
              <a:xfrm>
                <a:off x="6591281" y="3305889"/>
                <a:ext cx="4835747"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NI" sz="1600" i="1" smtClean="0">
                              <a:solidFill>
                                <a:srgbClr val="836967"/>
                              </a:solidFill>
                              <a:latin typeface="Cambria Math" panose="02040503050406030204" pitchFamily="18" charset="0"/>
                            </a:rPr>
                          </m:ctrlPr>
                        </m:sSubPr>
                        <m:e>
                          <m:r>
                            <a:rPr lang="es-ES" sz="1600" b="0" i="1" smtClean="0">
                              <a:solidFill>
                                <a:srgbClr val="836967"/>
                              </a:solidFill>
                              <a:latin typeface="Cambria Math" panose="02040503050406030204" pitchFamily="18" charset="0"/>
                            </a:rPr>
                            <m:t>𝑃𝑀</m:t>
                          </m:r>
                          <m:r>
                            <a:rPr lang="es-NI" sz="1600" i="1">
                              <a:latin typeface="Cambria Math" panose="02040503050406030204" pitchFamily="18" charset="0"/>
                            </a:rPr>
                            <m:t>𝑃</m:t>
                          </m:r>
                        </m:e>
                        <m:sub>
                          <m:r>
                            <a:rPr lang="es-ES" sz="1600" b="0" i="0" smtClean="0">
                              <a:latin typeface="Cambria Math" panose="02040503050406030204" pitchFamily="18" charset="0"/>
                            </a:rPr>
                            <m:t>7</m:t>
                          </m:r>
                        </m:sub>
                      </m:sSub>
                      <m:r>
                        <a:rPr lang="es-NI" sz="1600" i="0">
                          <a:latin typeface="Cambria Math" panose="02040503050406030204" pitchFamily="18" charset="0"/>
                        </a:rPr>
                        <m:t>=</m:t>
                      </m:r>
                      <m:d>
                        <m:dPr>
                          <m:ctrlPr>
                            <a:rPr lang="es-NI" sz="1600" i="1">
                              <a:solidFill>
                                <a:srgbClr val="836967"/>
                              </a:solidFill>
                              <a:latin typeface="Cambria Math" panose="02040503050406030204" pitchFamily="18" charset="0"/>
                            </a:rPr>
                          </m:ctrlPr>
                        </m:dPr>
                        <m:e>
                          <m:r>
                            <a:rPr lang="es-NI" sz="1600" i="0">
                              <a:latin typeface="Cambria Math" panose="02040503050406030204" pitchFamily="18" charset="0"/>
                            </a:rPr>
                            <m:t>0.5∗</m:t>
                          </m:r>
                          <m:r>
                            <a:rPr lang="es-ES" sz="1600" b="0" i="1" smtClean="0">
                              <a:latin typeface="Cambria Math" panose="02040503050406030204" pitchFamily="18" charset="0"/>
                            </a:rPr>
                            <m:t>170</m:t>
                          </m:r>
                        </m:e>
                      </m:d>
                      <m:r>
                        <a:rPr lang="es-NI" sz="1600" i="0">
                          <a:latin typeface="Cambria Math" panose="02040503050406030204" pitchFamily="18" charset="0"/>
                        </a:rPr>
                        <m:t>+</m:t>
                      </m:r>
                      <m:r>
                        <a:rPr lang="es-NI" sz="1600" b="0" i="0" smtClean="0">
                          <a:latin typeface="Cambria Math" panose="02040503050406030204" pitchFamily="18" charset="0"/>
                        </a:rPr>
                        <m:t>(0.3∗</m:t>
                      </m:r>
                      <m:r>
                        <a:rPr lang="es-ES" sz="1600" b="0" i="0" smtClean="0">
                          <a:latin typeface="Cambria Math" panose="02040503050406030204" pitchFamily="18" charset="0"/>
                        </a:rPr>
                        <m:t>162</m:t>
                      </m:r>
                      <m:r>
                        <a:rPr lang="es-NI" sz="1600" b="0" i="0" smtClean="0">
                          <a:latin typeface="Cambria Math" panose="02040503050406030204" pitchFamily="18" charset="0"/>
                        </a:rPr>
                        <m:t>)</m:t>
                      </m:r>
                      <m:r>
                        <a:rPr lang="es-NI" sz="1600" i="0">
                          <a:latin typeface="Cambria Math" panose="02040503050406030204" pitchFamily="18" charset="0"/>
                        </a:rPr>
                        <m:t>+</m:t>
                      </m:r>
                      <m:d>
                        <m:dPr>
                          <m:ctrlPr>
                            <a:rPr lang="es-NI" sz="1600" i="1">
                              <a:solidFill>
                                <a:srgbClr val="836967"/>
                              </a:solidFill>
                              <a:latin typeface="Cambria Math" panose="02040503050406030204" pitchFamily="18" charset="0"/>
                            </a:rPr>
                          </m:ctrlPr>
                        </m:dPr>
                        <m:e>
                          <m:r>
                            <a:rPr lang="es-NI" sz="1600" i="0">
                              <a:latin typeface="Cambria Math" panose="02040503050406030204" pitchFamily="18" charset="0"/>
                            </a:rPr>
                            <m:t>0.2∗1</m:t>
                          </m:r>
                          <m:r>
                            <a:rPr lang="es-ES" sz="1600" b="0" i="1" smtClean="0">
                              <a:latin typeface="Cambria Math" panose="02040503050406030204" pitchFamily="18" charset="0"/>
                            </a:rPr>
                            <m:t>53</m:t>
                          </m:r>
                        </m:e>
                      </m:d>
                      <m:r>
                        <a:rPr lang="es-NI" sz="1600" i="0">
                          <a:latin typeface="Cambria Math" panose="02040503050406030204" pitchFamily="18" charset="0"/>
                        </a:rPr>
                        <m:t>=</m:t>
                      </m:r>
                      <m:r>
                        <a:rPr lang="es-ES" sz="1600" b="0" i="0" smtClean="0">
                          <a:latin typeface="Cambria Math" panose="02040503050406030204" pitchFamily="18" charset="0"/>
                        </a:rPr>
                        <m:t>164</m:t>
                      </m:r>
                    </m:oMath>
                  </m:oMathPara>
                </a14:m>
                <a:endParaRPr lang="es-NI" sz="1600" dirty="0"/>
              </a:p>
            </p:txBody>
          </p:sp>
        </mc:Choice>
        <mc:Fallback>
          <p:sp>
            <p:nvSpPr>
              <p:cNvPr id="11" name="CuadroTexto 10">
                <a:extLst>
                  <a:ext uri="{FF2B5EF4-FFF2-40B4-BE49-F238E27FC236}">
                    <a16:creationId xmlns:a16="http://schemas.microsoft.com/office/drawing/2014/main" id="{B7D93743-6514-427A-AEC3-27E720DC16F4}"/>
                  </a:ext>
                </a:extLst>
              </p:cNvPr>
              <p:cNvSpPr txBox="1">
                <a:spLocks noRot="1" noChangeAspect="1" noMove="1" noResize="1" noEditPoints="1" noAdjustHandles="1" noChangeArrowheads="1" noChangeShapeType="1" noTextEdit="1"/>
              </p:cNvSpPr>
              <p:nvPr/>
            </p:nvSpPr>
            <p:spPr>
              <a:xfrm>
                <a:off x="6591281" y="3305889"/>
                <a:ext cx="4835747" cy="246221"/>
              </a:xfrm>
              <a:prstGeom prst="rect">
                <a:avLst/>
              </a:prstGeom>
              <a:blipFill>
                <a:blip r:embed="rId5"/>
                <a:stretch>
                  <a:fillRect l="-378" r="-252" b="-341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27D83ED1-322B-4F8A-A773-C86D4BA782AF}"/>
                  </a:ext>
                </a:extLst>
              </p:cNvPr>
              <p:cNvSpPr txBox="1"/>
              <p:nvPr/>
            </p:nvSpPr>
            <p:spPr>
              <a:xfrm>
                <a:off x="791570" y="4139329"/>
                <a:ext cx="48361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NI" sz="1600" i="1" smtClean="0">
                              <a:solidFill>
                                <a:srgbClr val="836967"/>
                              </a:solidFill>
                              <a:latin typeface="Cambria Math" panose="02040503050406030204" pitchFamily="18" charset="0"/>
                            </a:rPr>
                          </m:ctrlPr>
                        </m:sSubPr>
                        <m:e>
                          <m:r>
                            <a:rPr lang="es-ES" sz="1600" b="0" i="1" smtClean="0">
                              <a:solidFill>
                                <a:srgbClr val="836967"/>
                              </a:solidFill>
                              <a:latin typeface="Cambria Math" panose="02040503050406030204" pitchFamily="18" charset="0"/>
                            </a:rPr>
                            <m:t>𝑃𝑀</m:t>
                          </m:r>
                          <m:r>
                            <a:rPr lang="es-NI" sz="1600" i="1">
                              <a:latin typeface="Cambria Math" panose="02040503050406030204" pitchFamily="18" charset="0"/>
                            </a:rPr>
                            <m:t>𝑃</m:t>
                          </m:r>
                        </m:e>
                        <m:sub>
                          <m:r>
                            <a:rPr lang="es-ES" sz="1600" b="0" i="0" smtClean="0">
                              <a:latin typeface="Cambria Math" panose="02040503050406030204" pitchFamily="18" charset="0"/>
                            </a:rPr>
                            <m:t>8</m:t>
                          </m:r>
                        </m:sub>
                      </m:sSub>
                      <m:r>
                        <a:rPr lang="es-NI" sz="1600" i="0">
                          <a:latin typeface="Cambria Math" panose="02040503050406030204" pitchFamily="18" charset="0"/>
                        </a:rPr>
                        <m:t>=</m:t>
                      </m:r>
                      <m:d>
                        <m:dPr>
                          <m:ctrlPr>
                            <a:rPr lang="es-NI" sz="1600" i="1">
                              <a:solidFill>
                                <a:srgbClr val="836967"/>
                              </a:solidFill>
                              <a:latin typeface="Cambria Math" panose="02040503050406030204" pitchFamily="18" charset="0"/>
                            </a:rPr>
                          </m:ctrlPr>
                        </m:dPr>
                        <m:e>
                          <m:r>
                            <a:rPr lang="es-NI" sz="1600" i="0">
                              <a:latin typeface="Cambria Math" panose="02040503050406030204" pitchFamily="18" charset="0"/>
                            </a:rPr>
                            <m:t>0.5∗1</m:t>
                          </m:r>
                          <m:r>
                            <a:rPr lang="es-ES" sz="1600" b="0" i="1" smtClean="0">
                              <a:latin typeface="Cambria Math" panose="02040503050406030204" pitchFamily="18" charset="0"/>
                            </a:rPr>
                            <m:t>00</m:t>
                          </m:r>
                        </m:e>
                      </m:d>
                      <m:r>
                        <a:rPr lang="es-NI" sz="1600" i="0">
                          <a:latin typeface="Cambria Math" panose="02040503050406030204" pitchFamily="18" charset="0"/>
                        </a:rPr>
                        <m:t>+</m:t>
                      </m:r>
                      <m:d>
                        <m:dPr>
                          <m:ctrlPr>
                            <a:rPr lang="es-NI" sz="1600" i="1">
                              <a:solidFill>
                                <a:srgbClr val="836967"/>
                              </a:solidFill>
                              <a:latin typeface="Cambria Math" panose="02040503050406030204" pitchFamily="18" charset="0"/>
                            </a:rPr>
                          </m:ctrlPr>
                        </m:dPr>
                        <m:e>
                          <m:r>
                            <a:rPr lang="es-NI" sz="1600" i="0">
                              <a:latin typeface="Cambria Math" panose="02040503050406030204" pitchFamily="18" charset="0"/>
                            </a:rPr>
                            <m:t>0.3∗1</m:t>
                          </m:r>
                          <m:r>
                            <a:rPr lang="es-ES" sz="1600" b="0" i="1" smtClean="0">
                              <a:latin typeface="Cambria Math" panose="02040503050406030204" pitchFamily="18" charset="0"/>
                            </a:rPr>
                            <m:t>70</m:t>
                          </m:r>
                        </m:e>
                      </m:d>
                      <m:r>
                        <a:rPr lang="es-NI" sz="1600" i="0">
                          <a:latin typeface="Cambria Math" panose="02040503050406030204" pitchFamily="18" charset="0"/>
                        </a:rPr>
                        <m:t>+</m:t>
                      </m:r>
                      <m:d>
                        <m:dPr>
                          <m:ctrlPr>
                            <a:rPr lang="es-NI" sz="1600" i="1">
                              <a:solidFill>
                                <a:srgbClr val="836967"/>
                              </a:solidFill>
                              <a:latin typeface="Cambria Math" panose="02040503050406030204" pitchFamily="18" charset="0"/>
                            </a:rPr>
                          </m:ctrlPr>
                        </m:dPr>
                        <m:e>
                          <m:r>
                            <a:rPr lang="es-NI" sz="1600" i="0">
                              <a:latin typeface="Cambria Math" panose="02040503050406030204" pitchFamily="18" charset="0"/>
                            </a:rPr>
                            <m:t>0.2∗1</m:t>
                          </m:r>
                          <m:r>
                            <a:rPr lang="es-ES" sz="1600" b="0" i="1" smtClean="0">
                              <a:latin typeface="Cambria Math" panose="02040503050406030204" pitchFamily="18" charset="0"/>
                            </a:rPr>
                            <m:t>62</m:t>
                          </m:r>
                        </m:e>
                      </m:d>
                      <m:r>
                        <a:rPr lang="es-NI" sz="1600" i="0">
                          <a:latin typeface="Cambria Math" panose="02040503050406030204" pitchFamily="18" charset="0"/>
                        </a:rPr>
                        <m:t>=</m:t>
                      </m:r>
                      <m:r>
                        <a:rPr lang="es-ES" sz="1600" b="0" i="0" smtClean="0">
                          <a:latin typeface="Cambria Math" panose="02040503050406030204" pitchFamily="18" charset="0"/>
                        </a:rPr>
                        <m:t>133</m:t>
                      </m:r>
                    </m:oMath>
                  </m:oMathPara>
                </a14:m>
                <a:endParaRPr lang="es-NI" sz="1600" dirty="0"/>
              </a:p>
            </p:txBody>
          </p:sp>
        </mc:Choice>
        <mc:Fallback xmlns="">
          <p:sp>
            <p:nvSpPr>
              <p:cNvPr id="12" name="CuadroTexto 11">
                <a:extLst>
                  <a:ext uri="{FF2B5EF4-FFF2-40B4-BE49-F238E27FC236}">
                    <a16:creationId xmlns:a16="http://schemas.microsoft.com/office/drawing/2014/main" id="{27D83ED1-322B-4F8A-A773-C86D4BA782AF}"/>
                  </a:ext>
                </a:extLst>
              </p:cNvPr>
              <p:cNvSpPr txBox="1">
                <a:spLocks noRot="1" noChangeAspect="1" noMove="1" noResize="1" noEditPoints="1" noAdjustHandles="1" noChangeArrowheads="1" noChangeShapeType="1" noTextEdit="1"/>
              </p:cNvSpPr>
              <p:nvPr/>
            </p:nvSpPr>
            <p:spPr>
              <a:xfrm>
                <a:off x="791570" y="4139329"/>
                <a:ext cx="4836132" cy="246221"/>
              </a:xfrm>
              <a:prstGeom prst="rect">
                <a:avLst/>
              </a:prstGeom>
              <a:blipFill>
                <a:blip r:embed="rId6"/>
                <a:stretch>
                  <a:fillRect l="-504" r="-252" b="-17500"/>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DE8C6DA9-C59D-4D32-9F0B-A0D39850A3E9}"/>
                  </a:ext>
                </a:extLst>
              </p:cNvPr>
              <p:cNvSpPr txBox="1"/>
              <p:nvPr/>
            </p:nvSpPr>
            <p:spPr>
              <a:xfrm>
                <a:off x="6591281" y="4139329"/>
                <a:ext cx="483292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NI" sz="1600" i="1" smtClean="0">
                              <a:solidFill>
                                <a:srgbClr val="836967"/>
                              </a:solidFill>
                              <a:latin typeface="Cambria Math" panose="02040503050406030204" pitchFamily="18" charset="0"/>
                            </a:rPr>
                          </m:ctrlPr>
                        </m:sSubPr>
                        <m:e>
                          <m:r>
                            <a:rPr lang="es-ES" sz="1600" b="0" i="1" smtClean="0">
                              <a:solidFill>
                                <a:srgbClr val="836967"/>
                              </a:solidFill>
                              <a:latin typeface="Cambria Math" panose="02040503050406030204" pitchFamily="18" charset="0"/>
                            </a:rPr>
                            <m:t>𝑃𝑀</m:t>
                          </m:r>
                          <m:r>
                            <a:rPr lang="es-NI" sz="1600" i="1">
                              <a:latin typeface="Cambria Math" panose="02040503050406030204" pitchFamily="18" charset="0"/>
                            </a:rPr>
                            <m:t>𝑃</m:t>
                          </m:r>
                        </m:e>
                        <m:sub>
                          <m:r>
                            <a:rPr lang="es-ES" sz="1600" b="0" i="0" smtClean="0">
                              <a:latin typeface="Cambria Math" panose="02040503050406030204" pitchFamily="18" charset="0"/>
                            </a:rPr>
                            <m:t>9</m:t>
                          </m:r>
                        </m:sub>
                      </m:sSub>
                      <m:r>
                        <a:rPr lang="es-NI" sz="1600" i="0">
                          <a:latin typeface="Cambria Math" panose="02040503050406030204" pitchFamily="18" charset="0"/>
                        </a:rPr>
                        <m:t>=</m:t>
                      </m:r>
                      <m:d>
                        <m:dPr>
                          <m:ctrlPr>
                            <a:rPr lang="es-NI" sz="1600" i="1">
                              <a:solidFill>
                                <a:srgbClr val="836967"/>
                              </a:solidFill>
                              <a:latin typeface="Cambria Math" panose="02040503050406030204" pitchFamily="18" charset="0"/>
                            </a:rPr>
                          </m:ctrlPr>
                        </m:dPr>
                        <m:e>
                          <m:r>
                            <a:rPr lang="es-NI" sz="1600" i="0">
                              <a:latin typeface="Cambria Math" panose="02040503050406030204" pitchFamily="18" charset="0"/>
                            </a:rPr>
                            <m:t>0.5∗</m:t>
                          </m:r>
                          <m:r>
                            <a:rPr lang="es-ES" sz="1600" b="0" i="1" smtClean="0">
                              <a:latin typeface="Cambria Math" panose="02040503050406030204" pitchFamily="18" charset="0"/>
                            </a:rPr>
                            <m:t>120</m:t>
                          </m:r>
                        </m:e>
                      </m:d>
                      <m:r>
                        <a:rPr lang="es-NI" sz="1600" i="0">
                          <a:latin typeface="Cambria Math" panose="02040503050406030204" pitchFamily="18" charset="0"/>
                        </a:rPr>
                        <m:t>+</m:t>
                      </m:r>
                      <m:d>
                        <m:dPr>
                          <m:ctrlPr>
                            <a:rPr lang="es-NI" sz="1600" i="1">
                              <a:solidFill>
                                <a:srgbClr val="836967"/>
                              </a:solidFill>
                              <a:latin typeface="Cambria Math" panose="02040503050406030204" pitchFamily="18" charset="0"/>
                            </a:rPr>
                          </m:ctrlPr>
                        </m:dPr>
                        <m:e>
                          <m:r>
                            <a:rPr lang="es-NI" sz="1600" i="0">
                              <a:latin typeface="Cambria Math" panose="02040503050406030204" pitchFamily="18" charset="0"/>
                            </a:rPr>
                            <m:t>0.3∗1</m:t>
                          </m:r>
                          <m:r>
                            <a:rPr lang="es-ES" sz="1600" b="0" i="1" smtClean="0">
                              <a:latin typeface="Cambria Math" panose="02040503050406030204" pitchFamily="18" charset="0"/>
                            </a:rPr>
                            <m:t>00</m:t>
                          </m:r>
                        </m:e>
                      </m:d>
                      <m:r>
                        <a:rPr lang="es-NI" sz="1600" i="0">
                          <a:latin typeface="Cambria Math" panose="02040503050406030204" pitchFamily="18" charset="0"/>
                        </a:rPr>
                        <m:t>+</m:t>
                      </m:r>
                      <m:d>
                        <m:dPr>
                          <m:ctrlPr>
                            <a:rPr lang="es-NI" sz="1600" i="1">
                              <a:solidFill>
                                <a:srgbClr val="836967"/>
                              </a:solidFill>
                              <a:latin typeface="Cambria Math" panose="02040503050406030204" pitchFamily="18" charset="0"/>
                            </a:rPr>
                          </m:ctrlPr>
                        </m:dPr>
                        <m:e>
                          <m:r>
                            <a:rPr lang="es-NI" sz="1600" i="0">
                              <a:latin typeface="Cambria Math" panose="02040503050406030204" pitchFamily="18" charset="0"/>
                            </a:rPr>
                            <m:t>0.2∗1</m:t>
                          </m:r>
                          <m:r>
                            <a:rPr lang="es-ES" sz="1600" b="0" i="1" smtClean="0">
                              <a:latin typeface="Cambria Math" panose="02040503050406030204" pitchFamily="18" charset="0"/>
                            </a:rPr>
                            <m:t>70</m:t>
                          </m:r>
                        </m:e>
                      </m:d>
                      <m:r>
                        <a:rPr lang="es-NI" sz="1600" i="0">
                          <a:latin typeface="Cambria Math" panose="02040503050406030204" pitchFamily="18" charset="0"/>
                        </a:rPr>
                        <m:t>=</m:t>
                      </m:r>
                      <m:r>
                        <a:rPr lang="es-ES" sz="1600" b="0" i="0" smtClean="0">
                          <a:latin typeface="Cambria Math" panose="02040503050406030204" pitchFamily="18" charset="0"/>
                        </a:rPr>
                        <m:t>124</m:t>
                      </m:r>
                    </m:oMath>
                  </m:oMathPara>
                </a14:m>
                <a:endParaRPr lang="es-NI" sz="1600" dirty="0"/>
              </a:p>
            </p:txBody>
          </p:sp>
        </mc:Choice>
        <mc:Fallback xmlns="">
          <p:sp>
            <p:nvSpPr>
              <p:cNvPr id="13" name="CuadroTexto 12">
                <a:extLst>
                  <a:ext uri="{FF2B5EF4-FFF2-40B4-BE49-F238E27FC236}">
                    <a16:creationId xmlns:a16="http://schemas.microsoft.com/office/drawing/2014/main" id="{DE8C6DA9-C59D-4D32-9F0B-A0D39850A3E9}"/>
                  </a:ext>
                </a:extLst>
              </p:cNvPr>
              <p:cNvSpPr txBox="1">
                <a:spLocks noRot="1" noChangeAspect="1" noMove="1" noResize="1" noEditPoints="1" noAdjustHandles="1" noChangeArrowheads="1" noChangeShapeType="1" noTextEdit="1"/>
              </p:cNvSpPr>
              <p:nvPr/>
            </p:nvSpPr>
            <p:spPr>
              <a:xfrm>
                <a:off x="6591281" y="4139329"/>
                <a:ext cx="4832926" cy="246221"/>
              </a:xfrm>
              <a:prstGeom prst="rect">
                <a:avLst/>
              </a:prstGeom>
              <a:blipFill>
                <a:blip r:embed="rId7"/>
                <a:stretch>
                  <a:fillRect l="-378" r="-378" b="-17500"/>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A69E594-B12B-4FC7-95D9-AE6D7294EBBA}"/>
                  </a:ext>
                </a:extLst>
              </p:cNvPr>
              <p:cNvSpPr txBox="1"/>
              <p:nvPr/>
            </p:nvSpPr>
            <p:spPr>
              <a:xfrm>
                <a:off x="791570" y="4972769"/>
                <a:ext cx="4917949"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NI" sz="1600" i="1" smtClean="0">
                              <a:solidFill>
                                <a:srgbClr val="836967"/>
                              </a:solidFill>
                              <a:latin typeface="Cambria Math" panose="02040503050406030204" pitchFamily="18" charset="0"/>
                            </a:rPr>
                          </m:ctrlPr>
                        </m:sSubPr>
                        <m:e>
                          <m:r>
                            <a:rPr lang="es-ES" sz="1600" b="0" i="1" smtClean="0">
                              <a:solidFill>
                                <a:srgbClr val="836967"/>
                              </a:solidFill>
                              <a:latin typeface="Cambria Math" panose="02040503050406030204" pitchFamily="18" charset="0"/>
                            </a:rPr>
                            <m:t>𝑃𝑀</m:t>
                          </m:r>
                          <m:r>
                            <a:rPr lang="es-NI" sz="1600" i="1">
                              <a:latin typeface="Cambria Math" panose="02040503050406030204" pitchFamily="18" charset="0"/>
                            </a:rPr>
                            <m:t>𝑃</m:t>
                          </m:r>
                        </m:e>
                        <m:sub>
                          <m:r>
                            <a:rPr lang="es-ES" sz="1600" b="0" i="0" smtClean="0">
                              <a:latin typeface="Cambria Math" panose="02040503050406030204" pitchFamily="18" charset="0"/>
                            </a:rPr>
                            <m:t>10</m:t>
                          </m:r>
                        </m:sub>
                      </m:sSub>
                      <m:r>
                        <a:rPr lang="es-NI" sz="1600" i="0">
                          <a:latin typeface="Cambria Math" panose="02040503050406030204" pitchFamily="18" charset="0"/>
                        </a:rPr>
                        <m:t>=</m:t>
                      </m:r>
                      <m:d>
                        <m:dPr>
                          <m:ctrlPr>
                            <a:rPr lang="es-NI" sz="1600" i="1">
                              <a:solidFill>
                                <a:srgbClr val="836967"/>
                              </a:solidFill>
                              <a:latin typeface="Cambria Math" panose="02040503050406030204" pitchFamily="18" charset="0"/>
                            </a:rPr>
                          </m:ctrlPr>
                        </m:dPr>
                        <m:e>
                          <m:r>
                            <a:rPr lang="es-NI" sz="1600" i="0">
                              <a:latin typeface="Cambria Math" panose="02040503050406030204" pitchFamily="18" charset="0"/>
                            </a:rPr>
                            <m:t>0.5∗1</m:t>
                          </m:r>
                          <m:r>
                            <a:rPr lang="es-ES" sz="1600" b="0" i="1" smtClean="0">
                              <a:latin typeface="Cambria Math" panose="02040503050406030204" pitchFamily="18" charset="0"/>
                            </a:rPr>
                            <m:t>51</m:t>
                          </m:r>
                        </m:e>
                      </m:d>
                      <m:r>
                        <a:rPr lang="es-NI" sz="1600" i="0">
                          <a:latin typeface="Cambria Math" panose="02040503050406030204" pitchFamily="18" charset="0"/>
                        </a:rPr>
                        <m:t>+</m:t>
                      </m:r>
                      <m:d>
                        <m:dPr>
                          <m:ctrlPr>
                            <a:rPr lang="es-NI" sz="1600" i="1">
                              <a:solidFill>
                                <a:srgbClr val="836967"/>
                              </a:solidFill>
                              <a:latin typeface="Cambria Math" panose="02040503050406030204" pitchFamily="18" charset="0"/>
                            </a:rPr>
                          </m:ctrlPr>
                        </m:dPr>
                        <m:e>
                          <m:r>
                            <a:rPr lang="es-NI" sz="1600" i="0">
                              <a:latin typeface="Cambria Math" panose="02040503050406030204" pitchFamily="18" charset="0"/>
                            </a:rPr>
                            <m:t>0.3∗1</m:t>
                          </m:r>
                          <m:r>
                            <a:rPr lang="es-ES" sz="1600" b="0" i="1" smtClean="0">
                              <a:latin typeface="Cambria Math" panose="02040503050406030204" pitchFamily="18" charset="0"/>
                            </a:rPr>
                            <m:t>20</m:t>
                          </m:r>
                        </m:e>
                      </m:d>
                      <m:r>
                        <a:rPr lang="es-NI" sz="1600" i="0">
                          <a:latin typeface="Cambria Math" panose="02040503050406030204" pitchFamily="18" charset="0"/>
                        </a:rPr>
                        <m:t>+</m:t>
                      </m:r>
                      <m:d>
                        <m:dPr>
                          <m:ctrlPr>
                            <a:rPr lang="es-NI" sz="1600" i="1">
                              <a:solidFill>
                                <a:srgbClr val="836967"/>
                              </a:solidFill>
                              <a:latin typeface="Cambria Math" panose="02040503050406030204" pitchFamily="18" charset="0"/>
                            </a:rPr>
                          </m:ctrlPr>
                        </m:dPr>
                        <m:e>
                          <m:r>
                            <a:rPr lang="es-NI" sz="1600" i="0">
                              <a:latin typeface="Cambria Math" panose="02040503050406030204" pitchFamily="18" charset="0"/>
                            </a:rPr>
                            <m:t>0.2∗1</m:t>
                          </m:r>
                          <m:r>
                            <a:rPr lang="es-ES" sz="1600" b="0" i="0" smtClean="0">
                              <a:latin typeface="Cambria Math" panose="02040503050406030204" pitchFamily="18" charset="0"/>
                            </a:rPr>
                            <m:t>0</m:t>
                          </m:r>
                          <m:r>
                            <a:rPr lang="es-NI" sz="1600" i="0">
                              <a:latin typeface="Cambria Math" panose="02040503050406030204" pitchFamily="18" charset="0"/>
                            </a:rPr>
                            <m:t>0</m:t>
                          </m:r>
                        </m:e>
                      </m:d>
                      <m:r>
                        <a:rPr lang="es-NI" sz="1600" i="0">
                          <a:latin typeface="Cambria Math" panose="02040503050406030204" pitchFamily="18" charset="0"/>
                        </a:rPr>
                        <m:t>=</m:t>
                      </m:r>
                      <m:r>
                        <a:rPr lang="es-ES" sz="1600" b="0" i="0" smtClean="0">
                          <a:latin typeface="Cambria Math" panose="02040503050406030204" pitchFamily="18" charset="0"/>
                        </a:rPr>
                        <m:t>132</m:t>
                      </m:r>
                    </m:oMath>
                  </m:oMathPara>
                </a14:m>
                <a:endParaRPr lang="es-NI" sz="1600" dirty="0"/>
              </a:p>
            </p:txBody>
          </p:sp>
        </mc:Choice>
        <mc:Fallback xmlns="">
          <p:sp>
            <p:nvSpPr>
              <p:cNvPr id="14" name="CuadroTexto 13">
                <a:extLst>
                  <a:ext uri="{FF2B5EF4-FFF2-40B4-BE49-F238E27FC236}">
                    <a16:creationId xmlns:a16="http://schemas.microsoft.com/office/drawing/2014/main" id="{8A69E594-B12B-4FC7-95D9-AE6D7294EBBA}"/>
                  </a:ext>
                </a:extLst>
              </p:cNvPr>
              <p:cNvSpPr txBox="1">
                <a:spLocks noRot="1" noChangeAspect="1" noMove="1" noResize="1" noEditPoints="1" noAdjustHandles="1" noChangeArrowheads="1" noChangeShapeType="1" noTextEdit="1"/>
              </p:cNvSpPr>
              <p:nvPr/>
            </p:nvSpPr>
            <p:spPr>
              <a:xfrm>
                <a:off x="791570" y="4972769"/>
                <a:ext cx="4917949" cy="246221"/>
              </a:xfrm>
              <a:prstGeom prst="rect">
                <a:avLst/>
              </a:prstGeom>
              <a:blipFill>
                <a:blip r:embed="rId8"/>
                <a:stretch>
                  <a:fillRect l="-496" r="-124" b="-17500"/>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2E734BD2-F194-4F76-AF85-81521FA43E1E}"/>
                  </a:ext>
                </a:extLst>
              </p:cNvPr>
              <p:cNvSpPr txBox="1"/>
              <p:nvPr/>
            </p:nvSpPr>
            <p:spPr>
              <a:xfrm>
                <a:off x="6591281" y="4972769"/>
                <a:ext cx="4917949"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NI" sz="1600" i="1" smtClean="0">
                              <a:solidFill>
                                <a:srgbClr val="836967"/>
                              </a:solidFill>
                              <a:latin typeface="Cambria Math" panose="02040503050406030204" pitchFamily="18" charset="0"/>
                            </a:rPr>
                          </m:ctrlPr>
                        </m:sSubPr>
                        <m:e>
                          <m:r>
                            <a:rPr lang="es-ES" sz="1600" b="0" i="1" smtClean="0">
                              <a:solidFill>
                                <a:srgbClr val="836967"/>
                              </a:solidFill>
                              <a:latin typeface="Cambria Math" panose="02040503050406030204" pitchFamily="18" charset="0"/>
                            </a:rPr>
                            <m:t>𝑃𝑀</m:t>
                          </m:r>
                          <m:r>
                            <a:rPr lang="es-NI" sz="1600" i="1">
                              <a:latin typeface="Cambria Math" panose="02040503050406030204" pitchFamily="18" charset="0"/>
                            </a:rPr>
                            <m:t>𝑃</m:t>
                          </m:r>
                        </m:e>
                        <m:sub>
                          <m:r>
                            <a:rPr lang="es-ES" sz="1600" b="0" i="1" smtClean="0">
                              <a:latin typeface="Cambria Math" panose="02040503050406030204" pitchFamily="18" charset="0"/>
                            </a:rPr>
                            <m:t>11</m:t>
                          </m:r>
                        </m:sub>
                      </m:sSub>
                      <m:r>
                        <a:rPr lang="es-NI" sz="1600" i="0">
                          <a:latin typeface="Cambria Math" panose="02040503050406030204" pitchFamily="18" charset="0"/>
                        </a:rPr>
                        <m:t>=</m:t>
                      </m:r>
                      <m:d>
                        <m:dPr>
                          <m:ctrlPr>
                            <a:rPr lang="es-NI" sz="1600" i="1">
                              <a:solidFill>
                                <a:srgbClr val="836967"/>
                              </a:solidFill>
                              <a:latin typeface="Cambria Math" panose="02040503050406030204" pitchFamily="18" charset="0"/>
                            </a:rPr>
                          </m:ctrlPr>
                        </m:dPr>
                        <m:e>
                          <m:r>
                            <a:rPr lang="es-NI" sz="1600" i="0">
                              <a:latin typeface="Cambria Math" panose="02040503050406030204" pitchFamily="18" charset="0"/>
                            </a:rPr>
                            <m:t>0.5∗</m:t>
                          </m:r>
                          <m:r>
                            <a:rPr lang="es-ES" sz="1600" b="0" i="1" smtClean="0">
                              <a:latin typeface="Cambria Math" panose="02040503050406030204" pitchFamily="18" charset="0"/>
                            </a:rPr>
                            <m:t>139</m:t>
                          </m:r>
                        </m:e>
                      </m:d>
                      <m:r>
                        <a:rPr lang="es-NI" sz="1600" i="0">
                          <a:latin typeface="Cambria Math" panose="02040503050406030204" pitchFamily="18" charset="0"/>
                        </a:rPr>
                        <m:t>+</m:t>
                      </m:r>
                      <m:d>
                        <m:dPr>
                          <m:ctrlPr>
                            <a:rPr lang="es-NI" sz="1600" i="1">
                              <a:solidFill>
                                <a:srgbClr val="836967"/>
                              </a:solidFill>
                              <a:latin typeface="Cambria Math" panose="02040503050406030204" pitchFamily="18" charset="0"/>
                            </a:rPr>
                          </m:ctrlPr>
                        </m:dPr>
                        <m:e>
                          <m:r>
                            <a:rPr lang="es-NI" sz="1600" i="0">
                              <a:latin typeface="Cambria Math" panose="02040503050406030204" pitchFamily="18" charset="0"/>
                            </a:rPr>
                            <m:t>0.3∗1</m:t>
                          </m:r>
                          <m:r>
                            <a:rPr lang="es-ES" sz="1600" b="0" i="1" smtClean="0">
                              <a:latin typeface="Cambria Math" panose="02040503050406030204" pitchFamily="18" charset="0"/>
                            </a:rPr>
                            <m:t>51</m:t>
                          </m:r>
                        </m:e>
                      </m:d>
                      <m:r>
                        <a:rPr lang="es-NI" sz="1600" i="0">
                          <a:latin typeface="Cambria Math" panose="02040503050406030204" pitchFamily="18" charset="0"/>
                        </a:rPr>
                        <m:t>+</m:t>
                      </m:r>
                      <m:d>
                        <m:dPr>
                          <m:ctrlPr>
                            <a:rPr lang="es-NI" sz="1600" i="1">
                              <a:solidFill>
                                <a:srgbClr val="836967"/>
                              </a:solidFill>
                              <a:latin typeface="Cambria Math" panose="02040503050406030204" pitchFamily="18" charset="0"/>
                            </a:rPr>
                          </m:ctrlPr>
                        </m:dPr>
                        <m:e>
                          <m:r>
                            <a:rPr lang="es-NI" sz="1600" i="0">
                              <a:latin typeface="Cambria Math" panose="02040503050406030204" pitchFamily="18" charset="0"/>
                            </a:rPr>
                            <m:t>0.2∗1</m:t>
                          </m:r>
                          <m:r>
                            <a:rPr lang="es-ES" sz="1600" b="0" i="1" smtClean="0">
                              <a:latin typeface="Cambria Math" panose="02040503050406030204" pitchFamily="18" charset="0"/>
                            </a:rPr>
                            <m:t>20</m:t>
                          </m:r>
                        </m:e>
                      </m:d>
                      <m:r>
                        <a:rPr lang="es-NI" sz="1600" i="0">
                          <a:latin typeface="Cambria Math" panose="02040503050406030204" pitchFamily="18" charset="0"/>
                        </a:rPr>
                        <m:t>=</m:t>
                      </m:r>
                      <m:r>
                        <a:rPr lang="es-ES" sz="1600" b="0" i="0" smtClean="0">
                          <a:latin typeface="Cambria Math" panose="02040503050406030204" pitchFamily="18" charset="0"/>
                        </a:rPr>
                        <m:t>136</m:t>
                      </m:r>
                    </m:oMath>
                  </m:oMathPara>
                </a14:m>
                <a:endParaRPr lang="es-NI" sz="1600" dirty="0"/>
              </a:p>
            </p:txBody>
          </p:sp>
        </mc:Choice>
        <mc:Fallback xmlns="">
          <p:sp>
            <p:nvSpPr>
              <p:cNvPr id="15" name="CuadroTexto 14">
                <a:extLst>
                  <a:ext uri="{FF2B5EF4-FFF2-40B4-BE49-F238E27FC236}">
                    <a16:creationId xmlns:a16="http://schemas.microsoft.com/office/drawing/2014/main" id="{2E734BD2-F194-4F76-AF85-81521FA43E1E}"/>
                  </a:ext>
                </a:extLst>
              </p:cNvPr>
              <p:cNvSpPr txBox="1">
                <a:spLocks noRot="1" noChangeAspect="1" noMove="1" noResize="1" noEditPoints="1" noAdjustHandles="1" noChangeArrowheads="1" noChangeShapeType="1" noTextEdit="1"/>
              </p:cNvSpPr>
              <p:nvPr/>
            </p:nvSpPr>
            <p:spPr>
              <a:xfrm>
                <a:off x="6591281" y="4972769"/>
                <a:ext cx="4917949" cy="246221"/>
              </a:xfrm>
              <a:prstGeom prst="rect">
                <a:avLst/>
              </a:prstGeom>
              <a:blipFill>
                <a:blip r:embed="rId9"/>
                <a:stretch>
                  <a:fillRect l="-372" r="-248" b="-17500"/>
                </a:stretch>
              </a:blipFill>
            </p:spPr>
            <p:txBody>
              <a:bodyPr/>
              <a:lstStyle/>
              <a:p>
                <a:r>
                  <a:rPr lang="es-NI">
                    <a:noFill/>
                  </a:rPr>
                  <a:t> </a:t>
                </a:r>
              </a:p>
            </p:txBody>
          </p:sp>
        </mc:Fallback>
      </mc:AlternateContent>
    </p:spTree>
    <p:extLst>
      <p:ext uri="{BB962C8B-B14F-4D97-AF65-F5344CB8AC3E}">
        <p14:creationId xmlns:p14="http://schemas.microsoft.com/office/powerpoint/2010/main" val="2590988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8EC2CE8-C9E9-4AD3-B259-F52577E2CD23}"/>
              </a:ext>
            </a:extLst>
          </p:cNvPr>
          <p:cNvSpPr txBox="1"/>
          <p:nvPr/>
        </p:nvSpPr>
        <p:spPr>
          <a:xfrm>
            <a:off x="791570" y="968989"/>
            <a:ext cx="10617958" cy="400110"/>
          </a:xfrm>
          <a:prstGeom prst="rect">
            <a:avLst/>
          </a:prstGeom>
          <a:noFill/>
        </p:spPr>
        <p:txBody>
          <a:bodyPr wrap="square" rtlCol="0">
            <a:spAutoFit/>
          </a:bodyPr>
          <a:lstStyle/>
          <a:p>
            <a:pPr algn="just"/>
            <a:endParaRPr lang="es-NI" sz="2000" dirty="0"/>
          </a:p>
        </p:txBody>
      </p:sp>
      <p:sp>
        <p:nvSpPr>
          <p:cNvPr id="7" name="Rectángulo 6">
            <a:extLst>
              <a:ext uri="{FF2B5EF4-FFF2-40B4-BE49-F238E27FC236}">
                <a16:creationId xmlns:a16="http://schemas.microsoft.com/office/drawing/2014/main" id="{174079A4-717E-4035-8EA8-F91E1AEAB7AA}"/>
              </a:ext>
            </a:extLst>
          </p:cNvPr>
          <p:cNvSpPr/>
          <p:nvPr/>
        </p:nvSpPr>
        <p:spPr>
          <a:xfrm>
            <a:off x="782472" y="0"/>
            <a:ext cx="10617958" cy="830997"/>
          </a:xfrm>
          <a:prstGeom prst="rect">
            <a:avLst/>
          </a:prstGeom>
          <a:noFill/>
        </p:spPr>
        <p:txBody>
          <a:bodyPr wrap="square" lIns="91440" tIns="45720" rIns="91440" bIns="45720">
            <a:spAutoFit/>
          </a:bodyPr>
          <a:lstStyle/>
          <a:p>
            <a:pPr algn="ctr"/>
            <a:r>
              <a:rPr lang="es-ES" sz="48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Promedio Móvil Ponderado - Ejemplo</a:t>
            </a:r>
          </a:p>
        </p:txBody>
      </p:sp>
      <p:graphicFrame>
        <p:nvGraphicFramePr>
          <p:cNvPr id="3" name="Tabla 2">
            <a:extLst>
              <a:ext uri="{FF2B5EF4-FFF2-40B4-BE49-F238E27FC236}">
                <a16:creationId xmlns:a16="http://schemas.microsoft.com/office/drawing/2014/main" id="{4B306EAC-8940-4E11-A3C9-06C729144FA3}"/>
              </a:ext>
            </a:extLst>
          </p:cNvPr>
          <p:cNvGraphicFramePr>
            <a:graphicFrameLocks noGrp="1"/>
          </p:cNvGraphicFramePr>
          <p:nvPr>
            <p:extLst>
              <p:ext uri="{D42A27DB-BD31-4B8C-83A1-F6EECF244321}">
                <p14:modId xmlns:p14="http://schemas.microsoft.com/office/powerpoint/2010/main" val="859436926"/>
              </p:ext>
            </p:extLst>
          </p:nvPr>
        </p:nvGraphicFramePr>
        <p:xfrm>
          <a:off x="1143198" y="1081323"/>
          <a:ext cx="9914702" cy="851535"/>
        </p:xfrm>
        <a:graphic>
          <a:graphicData uri="http://schemas.openxmlformats.org/drawingml/2006/table">
            <a:tbl>
              <a:tblPr>
                <a:tableStyleId>{5940675A-B579-460E-94D1-54222C63F5DA}</a:tableStyleId>
              </a:tblPr>
              <a:tblGrid>
                <a:gridCol w="1229148">
                  <a:extLst>
                    <a:ext uri="{9D8B030D-6E8A-4147-A177-3AD203B41FA5}">
                      <a16:colId xmlns:a16="http://schemas.microsoft.com/office/drawing/2014/main" val="2474078529"/>
                    </a:ext>
                  </a:extLst>
                </a:gridCol>
                <a:gridCol w="476608">
                  <a:extLst>
                    <a:ext uri="{9D8B030D-6E8A-4147-A177-3AD203B41FA5}">
                      <a16:colId xmlns:a16="http://schemas.microsoft.com/office/drawing/2014/main" val="3048357476"/>
                    </a:ext>
                  </a:extLst>
                </a:gridCol>
                <a:gridCol w="476608">
                  <a:extLst>
                    <a:ext uri="{9D8B030D-6E8A-4147-A177-3AD203B41FA5}">
                      <a16:colId xmlns:a16="http://schemas.microsoft.com/office/drawing/2014/main" val="3495449728"/>
                    </a:ext>
                  </a:extLst>
                </a:gridCol>
                <a:gridCol w="476608">
                  <a:extLst>
                    <a:ext uri="{9D8B030D-6E8A-4147-A177-3AD203B41FA5}">
                      <a16:colId xmlns:a16="http://schemas.microsoft.com/office/drawing/2014/main" val="3773295483"/>
                    </a:ext>
                  </a:extLst>
                </a:gridCol>
                <a:gridCol w="583218">
                  <a:extLst>
                    <a:ext uri="{9D8B030D-6E8A-4147-A177-3AD203B41FA5}">
                      <a16:colId xmlns:a16="http://schemas.microsoft.com/office/drawing/2014/main" val="4247546550"/>
                    </a:ext>
                  </a:extLst>
                </a:gridCol>
                <a:gridCol w="476608">
                  <a:extLst>
                    <a:ext uri="{9D8B030D-6E8A-4147-A177-3AD203B41FA5}">
                      <a16:colId xmlns:a16="http://schemas.microsoft.com/office/drawing/2014/main" val="746512885"/>
                    </a:ext>
                  </a:extLst>
                </a:gridCol>
                <a:gridCol w="476608">
                  <a:extLst>
                    <a:ext uri="{9D8B030D-6E8A-4147-A177-3AD203B41FA5}">
                      <a16:colId xmlns:a16="http://schemas.microsoft.com/office/drawing/2014/main" val="3566955337"/>
                    </a:ext>
                  </a:extLst>
                </a:gridCol>
                <a:gridCol w="476608">
                  <a:extLst>
                    <a:ext uri="{9D8B030D-6E8A-4147-A177-3AD203B41FA5}">
                      <a16:colId xmlns:a16="http://schemas.microsoft.com/office/drawing/2014/main" val="4185700869"/>
                    </a:ext>
                  </a:extLst>
                </a:gridCol>
                <a:gridCol w="476608">
                  <a:extLst>
                    <a:ext uri="{9D8B030D-6E8A-4147-A177-3AD203B41FA5}">
                      <a16:colId xmlns:a16="http://schemas.microsoft.com/office/drawing/2014/main" val="2014807322"/>
                    </a:ext>
                  </a:extLst>
                </a:gridCol>
                <a:gridCol w="476608">
                  <a:extLst>
                    <a:ext uri="{9D8B030D-6E8A-4147-A177-3AD203B41FA5}">
                      <a16:colId xmlns:a16="http://schemas.microsoft.com/office/drawing/2014/main" val="2208648023"/>
                    </a:ext>
                  </a:extLst>
                </a:gridCol>
                <a:gridCol w="476608">
                  <a:extLst>
                    <a:ext uri="{9D8B030D-6E8A-4147-A177-3AD203B41FA5}">
                      <a16:colId xmlns:a16="http://schemas.microsoft.com/office/drawing/2014/main" val="2100057420"/>
                    </a:ext>
                  </a:extLst>
                </a:gridCol>
                <a:gridCol w="476608">
                  <a:extLst>
                    <a:ext uri="{9D8B030D-6E8A-4147-A177-3AD203B41FA5}">
                      <a16:colId xmlns:a16="http://schemas.microsoft.com/office/drawing/2014/main" val="276700821"/>
                    </a:ext>
                  </a:extLst>
                </a:gridCol>
                <a:gridCol w="476608">
                  <a:extLst>
                    <a:ext uri="{9D8B030D-6E8A-4147-A177-3AD203B41FA5}">
                      <a16:colId xmlns:a16="http://schemas.microsoft.com/office/drawing/2014/main" val="2490004109"/>
                    </a:ext>
                  </a:extLst>
                </a:gridCol>
                <a:gridCol w="476608">
                  <a:extLst>
                    <a:ext uri="{9D8B030D-6E8A-4147-A177-3AD203B41FA5}">
                      <a16:colId xmlns:a16="http://schemas.microsoft.com/office/drawing/2014/main" val="2338620161"/>
                    </a:ext>
                  </a:extLst>
                </a:gridCol>
                <a:gridCol w="476608">
                  <a:extLst>
                    <a:ext uri="{9D8B030D-6E8A-4147-A177-3AD203B41FA5}">
                      <a16:colId xmlns:a16="http://schemas.microsoft.com/office/drawing/2014/main" val="3701734137"/>
                    </a:ext>
                  </a:extLst>
                </a:gridCol>
                <a:gridCol w="476608">
                  <a:extLst>
                    <a:ext uri="{9D8B030D-6E8A-4147-A177-3AD203B41FA5}">
                      <a16:colId xmlns:a16="http://schemas.microsoft.com/office/drawing/2014/main" val="2927627041"/>
                    </a:ext>
                  </a:extLst>
                </a:gridCol>
                <a:gridCol w="476608">
                  <a:extLst>
                    <a:ext uri="{9D8B030D-6E8A-4147-A177-3AD203B41FA5}">
                      <a16:colId xmlns:a16="http://schemas.microsoft.com/office/drawing/2014/main" val="2417127278"/>
                    </a:ext>
                  </a:extLst>
                </a:gridCol>
                <a:gridCol w="476608">
                  <a:extLst>
                    <a:ext uri="{9D8B030D-6E8A-4147-A177-3AD203B41FA5}">
                      <a16:colId xmlns:a16="http://schemas.microsoft.com/office/drawing/2014/main" val="3865592024"/>
                    </a:ext>
                  </a:extLst>
                </a:gridCol>
                <a:gridCol w="476608">
                  <a:extLst>
                    <a:ext uri="{9D8B030D-6E8A-4147-A177-3AD203B41FA5}">
                      <a16:colId xmlns:a16="http://schemas.microsoft.com/office/drawing/2014/main" val="562422932"/>
                    </a:ext>
                  </a:extLst>
                </a:gridCol>
              </a:tblGrid>
              <a:tr h="161925">
                <a:tc>
                  <a:txBody>
                    <a:bodyPr/>
                    <a:lstStyle/>
                    <a:p>
                      <a:pPr algn="l" fontAlgn="t"/>
                      <a:r>
                        <a:rPr lang="es-NI" sz="1800" u="none" strike="noStrike">
                          <a:effectLst/>
                        </a:rPr>
                        <a:t>Periodo</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2</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3</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4</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5</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6</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7</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8</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9</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10</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11</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12</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13</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14</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15</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16</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17</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18</a:t>
                      </a:r>
                      <a:endParaRPr lang="es-NI" sz="1800" b="0" i="0" u="none" strike="noStrike">
                        <a:solidFill>
                          <a:srgbClr val="000000"/>
                        </a:solidFill>
                        <a:effectLst/>
                        <a:latin typeface="Times New Roman" panose="02020603050405020304" pitchFamily="18" charset="0"/>
                      </a:endParaRPr>
                    </a:p>
                  </a:txBody>
                  <a:tcPr marL="9525" marR="9525" marT="9525" marB="0"/>
                </a:tc>
                <a:extLst>
                  <a:ext uri="{0D108BD9-81ED-4DB2-BD59-A6C34878D82A}">
                    <a16:rowId xmlns:a16="http://schemas.microsoft.com/office/drawing/2014/main" val="865164296"/>
                  </a:ext>
                </a:extLst>
              </a:tr>
              <a:tr h="161925">
                <a:tc>
                  <a:txBody>
                    <a:bodyPr/>
                    <a:lstStyle/>
                    <a:p>
                      <a:pPr algn="l" fontAlgn="t"/>
                      <a:r>
                        <a:rPr lang="es-NI" sz="1800" u="none" strike="noStrike">
                          <a:effectLst/>
                        </a:rPr>
                        <a:t>Demanda</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130</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145</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139</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153</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162</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170</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100</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120</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151</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134</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139</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151</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164</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159</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171</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182</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162</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190</a:t>
                      </a:r>
                      <a:endParaRPr lang="es-NI" sz="1800" b="0" i="0" u="none" strike="noStrike">
                        <a:solidFill>
                          <a:srgbClr val="000000"/>
                        </a:solidFill>
                        <a:effectLst/>
                        <a:latin typeface="Times New Roman" panose="02020603050405020304" pitchFamily="18" charset="0"/>
                      </a:endParaRPr>
                    </a:p>
                  </a:txBody>
                  <a:tcPr marL="9525" marR="9525" marT="9525" marB="0"/>
                </a:tc>
                <a:extLst>
                  <a:ext uri="{0D108BD9-81ED-4DB2-BD59-A6C34878D82A}">
                    <a16:rowId xmlns:a16="http://schemas.microsoft.com/office/drawing/2014/main" val="2354591201"/>
                  </a:ext>
                </a:extLst>
              </a:tr>
              <a:tr h="161925">
                <a:tc>
                  <a:txBody>
                    <a:bodyPr/>
                    <a:lstStyle/>
                    <a:p>
                      <a:pPr algn="l" fontAlgn="t"/>
                      <a:r>
                        <a:rPr lang="es-NI" sz="1800" u="none" strike="noStrike">
                          <a:effectLst/>
                        </a:rPr>
                        <a:t>Pronóstico</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139</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147</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155</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164</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133</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124</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132</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136</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140</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144</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155</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159</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166</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a:effectLst/>
                        </a:rPr>
                        <a:t>174</a:t>
                      </a:r>
                      <a:endParaRPr lang="es-NI" sz="1800" b="0" i="0" u="none" strike="noStrike">
                        <a:solidFill>
                          <a:srgbClr val="000000"/>
                        </a:solidFill>
                        <a:effectLst/>
                        <a:latin typeface="Times New Roman" panose="02020603050405020304" pitchFamily="18" charset="0"/>
                      </a:endParaRPr>
                    </a:p>
                  </a:txBody>
                  <a:tcPr marL="9525" marR="9525" marT="9525" marB="0"/>
                </a:tc>
                <a:tc>
                  <a:txBody>
                    <a:bodyPr/>
                    <a:lstStyle/>
                    <a:p>
                      <a:pPr algn="l" fontAlgn="t"/>
                      <a:r>
                        <a:rPr lang="es-NI" sz="1800" u="none" strike="noStrike" dirty="0">
                          <a:effectLst/>
                        </a:rPr>
                        <a:t>170</a:t>
                      </a:r>
                      <a:endParaRPr lang="es-NI" sz="1800" b="0" i="0" u="none" strike="noStrike" dirty="0">
                        <a:solidFill>
                          <a:srgbClr val="000000"/>
                        </a:solidFill>
                        <a:effectLst/>
                        <a:latin typeface="Times New Roman" panose="02020603050405020304" pitchFamily="18" charset="0"/>
                      </a:endParaRPr>
                    </a:p>
                  </a:txBody>
                  <a:tcPr marL="9525" marR="9525" marT="9525" marB="0"/>
                </a:tc>
                <a:extLst>
                  <a:ext uri="{0D108BD9-81ED-4DB2-BD59-A6C34878D82A}">
                    <a16:rowId xmlns:a16="http://schemas.microsoft.com/office/drawing/2014/main" val="1569028723"/>
                  </a:ext>
                </a:extLst>
              </a:tr>
            </a:tbl>
          </a:graphicData>
        </a:graphic>
      </p:graphicFrame>
      <p:graphicFrame>
        <p:nvGraphicFramePr>
          <p:cNvPr id="16" name="Gráfico 15">
            <a:extLst>
              <a:ext uri="{FF2B5EF4-FFF2-40B4-BE49-F238E27FC236}">
                <a16:creationId xmlns:a16="http://schemas.microsoft.com/office/drawing/2014/main" id="{DF947AED-9E6B-49D4-B8A3-A87CDBF1FFD1}"/>
              </a:ext>
            </a:extLst>
          </p:cNvPr>
          <p:cNvGraphicFramePr>
            <a:graphicFrameLocks/>
          </p:cNvGraphicFramePr>
          <p:nvPr>
            <p:extLst>
              <p:ext uri="{D42A27DB-BD31-4B8C-83A1-F6EECF244321}">
                <p14:modId xmlns:p14="http://schemas.microsoft.com/office/powerpoint/2010/main" val="812492621"/>
              </p:ext>
            </p:extLst>
          </p:nvPr>
        </p:nvGraphicFramePr>
        <p:xfrm>
          <a:off x="2442754" y="2045192"/>
          <a:ext cx="6936377" cy="401886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95376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3" name="Straight Connector 72">
            <a:extLst>
              <a:ext uri="{FF2B5EF4-FFF2-40B4-BE49-F238E27FC236}">
                <a16:creationId xmlns:a16="http://schemas.microsoft.com/office/drawing/2014/main" id="{7F1E95A2-E5F1-4C8A-92DC-CE369D1939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B8EC2CE8-C9E9-4AD3-B259-F52577E2CD23}"/>
              </a:ext>
            </a:extLst>
          </p:cNvPr>
          <p:cNvSpPr txBox="1"/>
          <p:nvPr/>
        </p:nvSpPr>
        <p:spPr>
          <a:xfrm>
            <a:off x="755360" y="1600072"/>
            <a:ext cx="6804626" cy="3553109"/>
          </a:xfrm>
        </p:spPr>
        <p:txBody>
          <a:bodyPr vert="horz" lIns="91440" tIns="45720" rIns="91440" bIns="45720" rtlCol="0">
            <a:normAutofit fontScale="92500" lnSpcReduction="10000"/>
          </a:bodyPr>
          <a:lstStyle/>
          <a:p>
            <a:pPr>
              <a:lnSpc>
                <a:spcPct val="120000"/>
              </a:lnSpc>
              <a:spcAft>
                <a:spcPts val="600"/>
              </a:spcAft>
            </a:pPr>
            <a:r>
              <a:rPr lang="es-NI" sz="2400" dirty="0" err="1"/>
              <a:t>NiCat</a:t>
            </a:r>
            <a:r>
              <a:rPr lang="es-NI" sz="2400" dirty="0"/>
              <a:t> es una compañía productora de alimentos para gato y requiere calcular el pronóstico de gastos con el método de media o promedio móvil ponderado, considerando un periodo de 3 meses.</a:t>
            </a:r>
          </a:p>
          <a:p>
            <a:pPr>
              <a:lnSpc>
                <a:spcPct val="120000"/>
              </a:lnSpc>
              <a:spcAft>
                <a:spcPts val="600"/>
              </a:spcAft>
            </a:pPr>
            <a:endParaRPr lang="es-NI" sz="2400" dirty="0"/>
          </a:p>
          <a:p>
            <a:pPr>
              <a:lnSpc>
                <a:spcPct val="120000"/>
              </a:lnSpc>
              <a:spcAft>
                <a:spcPts val="600"/>
              </a:spcAft>
            </a:pPr>
            <a:r>
              <a:rPr lang="es-NI" sz="2400" dirty="0"/>
              <a:t>La siguiente tabla nos muestra la demanda real a través de los próximos 18 meses iniciando desde enero, con lo cual pronosticamos la demanda de los siguientes periodos:</a:t>
            </a:r>
          </a:p>
        </p:txBody>
      </p:sp>
      <p:cxnSp>
        <p:nvCxnSpPr>
          <p:cNvPr id="75" name="Straight Connector 74">
            <a:extLst>
              <a:ext uri="{FF2B5EF4-FFF2-40B4-BE49-F238E27FC236}">
                <a16:creationId xmlns:a16="http://schemas.microsoft.com/office/drawing/2014/main" id="{AFCF674C-D208-4497-A189-02E8503DA8F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AutoShape 4">
            <a:extLst>
              <a:ext uri="{FF2B5EF4-FFF2-40B4-BE49-F238E27FC236}">
                <a16:creationId xmlns:a16="http://schemas.microsoft.com/office/drawing/2014/main" id="{3B7B7094-F0F1-4B38-90F1-034DDE7FBF1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NI"/>
          </a:p>
        </p:txBody>
      </p:sp>
      <p:sp>
        <p:nvSpPr>
          <p:cNvPr id="9" name="Rectángulo 8">
            <a:extLst>
              <a:ext uri="{FF2B5EF4-FFF2-40B4-BE49-F238E27FC236}">
                <a16:creationId xmlns:a16="http://schemas.microsoft.com/office/drawing/2014/main" id="{FA6D9D2D-5B7E-4428-AB04-8C476290D2A0}"/>
              </a:ext>
            </a:extLst>
          </p:cNvPr>
          <p:cNvSpPr/>
          <p:nvPr/>
        </p:nvSpPr>
        <p:spPr>
          <a:xfrm>
            <a:off x="782472" y="0"/>
            <a:ext cx="10617958" cy="830997"/>
          </a:xfrm>
          <a:prstGeom prst="rect">
            <a:avLst/>
          </a:prstGeom>
          <a:noFill/>
        </p:spPr>
        <p:txBody>
          <a:bodyPr wrap="square" lIns="91440" tIns="45720" rIns="91440" bIns="45720">
            <a:spAutoFit/>
          </a:bodyPr>
          <a:lstStyle/>
          <a:p>
            <a:pPr algn="ctr"/>
            <a:r>
              <a:rPr lang="es-ES" sz="48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Promedio Móvil Ponderado - Ejercicio</a:t>
            </a:r>
          </a:p>
        </p:txBody>
      </p:sp>
      <p:graphicFrame>
        <p:nvGraphicFramePr>
          <p:cNvPr id="3" name="Tabla 2">
            <a:extLst>
              <a:ext uri="{FF2B5EF4-FFF2-40B4-BE49-F238E27FC236}">
                <a16:creationId xmlns:a16="http://schemas.microsoft.com/office/drawing/2014/main" id="{F98AFDA7-060C-431D-9F64-CC6D4844EC03}"/>
              </a:ext>
            </a:extLst>
          </p:cNvPr>
          <p:cNvGraphicFramePr>
            <a:graphicFrameLocks noGrp="1"/>
          </p:cNvGraphicFramePr>
          <p:nvPr>
            <p:extLst>
              <p:ext uri="{D42A27DB-BD31-4B8C-83A1-F6EECF244321}">
                <p14:modId xmlns:p14="http://schemas.microsoft.com/office/powerpoint/2010/main" val="3126416755"/>
              </p:ext>
            </p:extLst>
          </p:nvPr>
        </p:nvGraphicFramePr>
        <p:xfrm>
          <a:off x="7797186" y="1191297"/>
          <a:ext cx="3175614" cy="4475406"/>
        </p:xfrm>
        <a:graphic>
          <a:graphicData uri="http://schemas.openxmlformats.org/drawingml/2006/table">
            <a:tbl>
              <a:tblPr>
                <a:tableStyleId>{5940675A-B579-460E-94D1-54222C63F5DA}</a:tableStyleId>
              </a:tblPr>
              <a:tblGrid>
                <a:gridCol w="1587807">
                  <a:extLst>
                    <a:ext uri="{9D8B030D-6E8A-4147-A177-3AD203B41FA5}">
                      <a16:colId xmlns:a16="http://schemas.microsoft.com/office/drawing/2014/main" val="3036755069"/>
                    </a:ext>
                  </a:extLst>
                </a:gridCol>
                <a:gridCol w="1587807">
                  <a:extLst>
                    <a:ext uri="{9D8B030D-6E8A-4147-A177-3AD203B41FA5}">
                      <a16:colId xmlns:a16="http://schemas.microsoft.com/office/drawing/2014/main" val="4205072776"/>
                    </a:ext>
                  </a:extLst>
                </a:gridCol>
              </a:tblGrid>
              <a:tr h="279766">
                <a:tc>
                  <a:txBody>
                    <a:bodyPr/>
                    <a:lstStyle/>
                    <a:p>
                      <a:pPr algn="ctr" fontAlgn="b"/>
                      <a:r>
                        <a:rPr lang="es-NI" sz="1800" b="1">
                          <a:effectLst/>
                        </a:rPr>
                        <a:t>Mes</a:t>
                      </a:r>
                    </a:p>
                  </a:txBody>
                  <a:tcPr marL="69942" marR="69942" marT="34971" marB="34971" anchor="b"/>
                </a:tc>
                <a:tc>
                  <a:txBody>
                    <a:bodyPr/>
                    <a:lstStyle/>
                    <a:p>
                      <a:pPr algn="ctr" fontAlgn="b"/>
                      <a:r>
                        <a:rPr lang="es-NI" sz="1800" b="1" dirty="0">
                          <a:effectLst/>
                        </a:rPr>
                        <a:t>Gastos</a:t>
                      </a:r>
                    </a:p>
                  </a:txBody>
                  <a:tcPr marL="69942" marR="69942" marT="34971" marB="34971" anchor="b"/>
                </a:tc>
                <a:extLst>
                  <a:ext uri="{0D108BD9-81ED-4DB2-BD59-A6C34878D82A}">
                    <a16:rowId xmlns:a16="http://schemas.microsoft.com/office/drawing/2014/main" val="1617458582"/>
                  </a:ext>
                </a:extLst>
              </a:tr>
              <a:tr h="279766">
                <a:tc>
                  <a:txBody>
                    <a:bodyPr/>
                    <a:lstStyle/>
                    <a:p>
                      <a:pPr fontAlgn="base"/>
                      <a:r>
                        <a:rPr lang="es-NI" sz="1800">
                          <a:effectLst/>
                        </a:rPr>
                        <a:t>Enero</a:t>
                      </a:r>
                    </a:p>
                  </a:txBody>
                  <a:tcPr marL="69942" marR="69942" marT="34971" marB="34971" anchor="ctr"/>
                </a:tc>
                <a:tc>
                  <a:txBody>
                    <a:bodyPr/>
                    <a:lstStyle/>
                    <a:p>
                      <a:pPr fontAlgn="base"/>
                      <a:r>
                        <a:rPr lang="es-NI" sz="1800">
                          <a:effectLst/>
                        </a:rPr>
                        <a:t>300</a:t>
                      </a:r>
                    </a:p>
                  </a:txBody>
                  <a:tcPr marL="69942" marR="69942" marT="34971" marB="34971" anchor="ctr"/>
                </a:tc>
                <a:extLst>
                  <a:ext uri="{0D108BD9-81ED-4DB2-BD59-A6C34878D82A}">
                    <a16:rowId xmlns:a16="http://schemas.microsoft.com/office/drawing/2014/main" val="3425265684"/>
                  </a:ext>
                </a:extLst>
              </a:tr>
              <a:tr h="279766">
                <a:tc>
                  <a:txBody>
                    <a:bodyPr/>
                    <a:lstStyle/>
                    <a:p>
                      <a:pPr fontAlgn="base"/>
                      <a:r>
                        <a:rPr lang="es-NI" sz="1800">
                          <a:effectLst/>
                        </a:rPr>
                        <a:t>Febrero</a:t>
                      </a:r>
                    </a:p>
                  </a:txBody>
                  <a:tcPr marL="69942" marR="69942" marT="34971" marB="34971" anchor="ctr"/>
                </a:tc>
                <a:tc>
                  <a:txBody>
                    <a:bodyPr/>
                    <a:lstStyle/>
                    <a:p>
                      <a:pPr fontAlgn="base"/>
                      <a:r>
                        <a:rPr lang="es-NI" sz="1800">
                          <a:effectLst/>
                        </a:rPr>
                        <a:t>280</a:t>
                      </a:r>
                    </a:p>
                  </a:txBody>
                  <a:tcPr marL="69942" marR="69942" marT="34971" marB="34971" anchor="ctr"/>
                </a:tc>
                <a:extLst>
                  <a:ext uri="{0D108BD9-81ED-4DB2-BD59-A6C34878D82A}">
                    <a16:rowId xmlns:a16="http://schemas.microsoft.com/office/drawing/2014/main" val="67039457"/>
                  </a:ext>
                </a:extLst>
              </a:tr>
              <a:tr h="279766">
                <a:tc>
                  <a:txBody>
                    <a:bodyPr/>
                    <a:lstStyle/>
                    <a:p>
                      <a:pPr fontAlgn="base"/>
                      <a:r>
                        <a:rPr lang="es-NI" sz="1800">
                          <a:effectLst/>
                        </a:rPr>
                        <a:t>Marzo</a:t>
                      </a:r>
                    </a:p>
                  </a:txBody>
                  <a:tcPr marL="69942" marR="69942" marT="34971" marB="34971" anchor="ctr"/>
                </a:tc>
                <a:tc>
                  <a:txBody>
                    <a:bodyPr/>
                    <a:lstStyle/>
                    <a:p>
                      <a:pPr fontAlgn="base"/>
                      <a:r>
                        <a:rPr lang="es-NI" sz="1800">
                          <a:effectLst/>
                        </a:rPr>
                        <a:t>320</a:t>
                      </a:r>
                    </a:p>
                  </a:txBody>
                  <a:tcPr marL="69942" marR="69942" marT="34971" marB="34971" anchor="ctr"/>
                </a:tc>
                <a:extLst>
                  <a:ext uri="{0D108BD9-81ED-4DB2-BD59-A6C34878D82A}">
                    <a16:rowId xmlns:a16="http://schemas.microsoft.com/office/drawing/2014/main" val="204205380"/>
                  </a:ext>
                </a:extLst>
              </a:tr>
              <a:tr h="279766">
                <a:tc>
                  <a:txBody>
                    <a:bodyPr/>
                    <a:lstStyle/>
                    <a:p>
                      <a:pPr fontAlgn="base"/>
                      <a:r>
                        <a:rPr lang="es-NI" sz="1800">
                          <a:effectLst/>
                        </a:rPr>
                        <a:t>Abril</a:t>
                      </a:r>
                    </a:p>
                  </a:txBody>
                  <a:tcPr marL="69942" marR="69942" marT="34971" marB="34971" anchor="ctr"/>
                </a:tc>
                <a:tc>
                  <a:txBody>
                    <a:bodyPr/>
                    <a:lstStyle/>
                    <a:p>
                      <a:pPr fontAlgn="base"/>
                      <a:r>
                        <a:rPr lang="es-NI" sz="1800">
                          <a:effectLst/>
                        </a:rPr>
                        <a:t>310</a:t>
                      </a:r>
                    </a:p>
                  </a:txBody>
                  <a:tcPr marL="69942" marR="69942" marT="34971" marB="34971" anchor="ctr"/>
                </a:tc>
                <a:extLst>
                  <a:ext uri="{0D108BD9-81ED-4DB2-BD59-A6C34878D82A}">
                    <a16:rowId xmlns:a16="http://schemas.microsoft.com/office/drawing/2014/main" val="571372385"/>
                  </a:ext>
                </a:extLst>
              </a:tr>
              <a:tr h="279766">
                <a:tc>
                  <a:txBody>
                    <a:bodyPr/>
                    <a:lstStyle/>
                    <a:p>
                      <a:pPr fontAlgn="base"/>
                      <a:r>
                        <a:rPr lang="es-NI" sz="1800">
                          <a:effectLst/>
                        </a:rPr>
                        <a:t>Mayo</a:t>
                      </a:r>
                    </a:p>
                  </a:txBody>
                  <a:tcPr marL="69942" marR="69942" marT="34971" marB="34971" anchor="ctr"/>
                </a:tc>
                <a:tc>
                  <a:txBody>
                    <a:bodyPr/>
                    <a:lstStyle/>
                    <a:p>
                      <a:pPr fontAlgn="base"/>
                      <a:r>
                        <a:rPr lang="es-NI" sz="1800">
                          <a:effectLst/>
                        </a:rPr>
                        <a:t>330</a:t>
                      </a:r>
                    </a:p>
                  </a:txBody>
                  <a:tcPr marL="69942" marR="69942" marT="34971" marB="34971" anchor="ctr"/>
                </a:tc>
                <a:extLst>
                  <a:ext uri="{0D108BD9-81ED-4DB2-BD59-A6C34878D82A}">
                    <a16:rowId xmlns:a16="http://schemas.microsoft.com/office/drawing/2014/main" val="64398152"/>
                  </a:ext>
                </a:extLst>
              </a:tr>
              <a:tr h="279766">
                <a:tc>
                  <a:txBody>
                    <a:bodyPr/>
                    <a:lstStyle/>
                    <a:p>
                      <a:pPr fontAlgn="base"/>
                      <a:r>
                        <a:rPr lang="es-NI" sz="1800">
                          <a:effectLst/>
                        </a:rPr>
                        <a:t>Junio</a:t>
                      </a:r>
                    </a:p>
                  </a:txBody>
                  <a:tcPr marL="69942" marR="69942" marT="34971" marB="34971" anchor="ctr"/>
                </a:tc>
                <a:tc>
                  <a:txBody>
                    <a:bodyPr/>
                    <a:lstStyle/>
                    <a:p>
                      <a:pPr fontAlgn="base"/>
                      <a:r>
                        <a:rPr lang="es-NI" sz="1800">
                          <a:effectLst/>
                        </a:rPr>
                        <a:t>340</a:t>
                      </a:r>
                    </a:p>
                  </a:txBody>
                  <a:tcPr marL="69942" marR="69942" marT="34971" marB="34971" anchor="ctr"/>
                </a:tc>
                <a:extLst>
                  <a:ext uri="{0D108BD9-81ED-4DB2-BD59-A6C34878D82A}">
                    <a16:rowId xmlns:a16="http://schemas.microsoft.com/office/drawing/2014/main" val="1375596868"/>
                  </a:ext>
                </a:extLst>
              </a:tr>
              <a:tr h="279766">
                <a:tc>
                  <a:txBody>
                    <a:bodyPr/>
                    <a:lstStyle/>
                    <a:p>
                      <a:pPr fontAlgn="base"/>
                      <a:r>
                        <a:rPr lang="es-NI" sz="1800">
                          <a:effectLst/>
                        </a:rPr>
                        <a:t>Julio</a:t>
                      </a:r>
                    </a:p>
                  </a:txBody>
                  <a:tcPr marL="69942" marR="69942" marT="34971" marB="34971" anchor="ctr"/>
                </a:tc>
                <a:tc>
                  <a:txBody>
                    <a:bodyPr/>
                    <a:lstStyle/>
                    <a:p>
                      <a:pPr fontAlgn="base"/>
                      <a:r>
                        <a:rPr lang="es-NI" sz="1800">
                          <a:effectLst/>
                        </a:rPr>
                        <a:t>310</a:t>
                      </a:r>
                    </a:p>
                  </a:txBody>
                  <a:tcPr marL="69942" marR="69942" marT="34971" marB="34971" anchor="ctr"/>
                </a:tc>
                <a:extLst>
                  <a:ext uri="{0D108BD9-81ED-4DB2-BD59-A6C34878D82A}">
                    <a16:rowId xmlns:a16="http://schemas.microsoft.com/office/drawing/2014/main" val="3514288185"/>
                  </a:ext>
                </a:extLst>
              </a:tr>
              <a:tr h="279766">
                <a:tc>
                  <a:txBody>
                    <a:bodyPr/>
                    <a:lstStyle/>
                    <a:p>
                      <a:pPr fontAlgn="base"/>
                      <a:r>
                        <a:rPr lang="es-NI" sz="1800">
                          <a:effectLst/>
                        </a:rPr>
                        <a:t>Agosto</a:t>
                      </a:r>
                    </a:p>
                  </a:txBody>
                  <a:tcPr marL="69942" marR="69942" marT="34971" marB="34971" anchor="ctr"/>
                </a:tc>
                <a:tc>
                  <a:txBody>
                    <a:bodyPr/>
                    <a:lstStyle/>
                    <a:p>
                      <a:pPr fontAlgn="base"/>
                      <a:r>
                        <a:rPr lang="es-NI" sz="1800">
                          <a:effectLst/>
                        </a:rPr>
                        <a:t>300</a:t>
                      </a:r>
                    </a:p>
                  </a:txBody>
                  <a:tcPr marL="69942" marR="69942" marT="34971" marB="34971" anchor="ctr"/>
                </a:tc>
                <a:extLst>
                  <a:ext uri="{0D108BD9-81ED-4DB2-BD59-A6C34878D82A}">
                    <a16:rowId xmlns:a16="http://schemas.microsoft.com/office/drawing/2014/main" val="3645048265"/>
                  </a:ext>
                </a:extLst>
              </a:tr>
              <a:tr h="279766">
                <a:tc>
                  <a:txBody>
                    <a:bodyPr/>
                    <a:lstStyle/>
                    <a:p>
                      <a:pPr fontAlgn="base"/>
                      <a:r>
                        <a:rPr lang="es-NI" sz="1800">
                          <a:effectLst/>
                        </a:rPr>
                        <a:t>Septiembre</a:t>
                      </a:r>
                    </a:p>
                  </a:txBody>
                  <a:tcPr marL="69942" marR="69942" marT="34971" marB="34971" anchor="ctr"/>
                </a:tc>
                <a:tc>
                  <a:txBody>
                    <a:bodyPr/>
                    <a:lstStyle/>
                    <a:p>
                      <a:pPr fontAlgn="base"/>
                      <a:r>
                        <a:rPr lang="es-NI" sz="1800">
                          <a:effectLst/>
                        </a:rPr>
                        <a:t>330</a:t>
                      </a:r>
                    </a:p>
                  </a:txBody>
                  <a:tcPr marL="69942" marR="69942" marT="34971" marB="34971" anchor="ctr"/>
                </a:tc>
                <a:extLst>
                  <a:ext uri="{0D108BD9-81ED-4DB2-BD59-A6C34878D82A}">
                    <a16:rowId xmlns:a16="http://schemas.microsoft.com/office/drawing/2014/main" val="3383806715"/>
                  </a:ext>
                </a:extLst>
              </a:tr>
              <a:tr h="279766">
                <a:tc>
                  <a:txBody>
                    <a:bodyPr/>
                    <a:lstStyle/>
                    <a:p>
                      <a:pPr fontAlgn="base"/>
                      <a:r>
                        <a:rPr lang="es-NI" sz="1800">
                          <a:effectLst/>
                        </a:rPr>
                        <a:t>Octubre</a:t>
                      </a:r>
                    </a:p>
                  </a:txBody>
                  <a:tcPr marL="69942" marR="69942" marT="34971" marB="34971" anchor="ctr"/>
                </a:tc>
                <a:tc>
                  <a:txBody>
                    <a:bodyPr/>
                    <a:lstStyle/>
                    <a:p>
                      <a:pPr fontAlgn="base"/>
                      <a:r>
                        <a:rPr lang="es-NI" sz="1800">
                          <a:effectLst/>
                        </a:rPr>
                        <a:t>320</a:t>
                      </a:r>
                    </a:p>
                  </a:txBody>
                  <a:tcPr marL="69942" marR="69942" marT="34971" marB="34971" anchor="ctr"/>
                </a:tc>
                <a:extLst>
                  <a:ext uri="{0D108BD9-81ED-4DB2-BD59-A6C34878D82A}">
                    <a16:rowId xmlns:a16="http://schemas.microsoft.com/office/drawing/2014/main" val="3456599183"/>
                  </a:ext>
                </a:extLst>
              </a:tr>
              <a:tr h="279766">
                <a:tc>
                  <a:txBody>
                    <a:bodyPr/>
                    <a:lstStyle/>
                    <a:p>
                      <a:pPr fontAlgn="base"/>
                      <a:r>
                        <a:rPr lang="es-NI" sz="1800">
                          <a:effectLst/>
                        </a:rPr>
                        <a:t>Noviembre</a:t>
                      </a:r>
                    </a:p>
                  </a:txBody>
                  <a:tcPr marL="69942" marR="69942" marT="34971" marB="34971" anchor="ctr"/>
                </a:tc>
                <a:tc>
                  <a:txBody>
                    <a:bodyPr/>
                    <a:lstStyle/>
                    <a:p>
                      <a:pPr fontAlgn="base"/>
                      <a:r>
                        <a:rPr lang="es-NI" sz="1800">
                          <a:effectLst/>
                        </a:rPr>
                        <a:t>310</a:t>
                      </a:r>
                    </a:p>
                  </a:txBody>
                  <a:tcPr marL="69942" marR="69942" marT="34971" marB="34971" anchor="ctr"/>
                </a:tc>
                <a:extLst>
                  <a:ext uri="{0D108BD9-81ED-4DB2-BD59-A6C34878D82A}">
                    <a16:rowId xmlns:a16="http://schemas.microsoft.com/office/drawing/2014/main" val="798993267"/>
                  </a:ext>
                </a:extLst>
              </a:tr>
              <a:tr h="279766">
                <a:tc>
                  <a:txBody>
                    <a:bodyPr/>
                    <a:lstStyle/>
                    <a:p>
                      <a:pPr fontAlgn="base"/>
                      <a:r>
                        <a:rPr lang="es-NI" sz="1800">
                          <a:effectLst/>
                        </a:rPr>
                        <a:t>Diciembre</a:t>
                      </a:r>
                    </a:p>
                  </a:txBody>
                  <a:tcPr marL="69942" marR="69942" marT="34971" marB="34971" anchor="ctr"/>
                </a:tc>
                <a:tc>
                  <a:txBody>
                    <a:bodyPr/>
                    <a:lstStyle/>
                    <a:p>
                      <a:pPr fontAlgn="base"/>
                      <a:r>
                        <a:rPr lang="es-NI" sz="1800" dirty="0">
                          <a:effectLst/>
                        </a:rPr>
                        <a:t>300</a:t>
                      </a:r>
                    </a:p>
                  </a:txBody>
                  <a:tcPr marL="69942" marR="69942" marT="34971" marB="34971" anchor="ctr"/>
                </a:tc>
                <a:extLst>
                  <a:ext uri="{0D108BD9-81ED-4DB2-BD59-A6C34878D82A}">
                    <a16:rowId xmlns:a16="http://schemas.microsoft.com/office/drawing/2014/main" val="4262939110"/>
                  </a:ext>
                </a:extLst>
              </a:tr>
            </a:tbl>
          </a:graphicData>
        </a:graphic>
      </p:graphicFrame>
    </p:spTree>
    <p:extLst>
      <p:ext uri="{BB962C8B-B14F-4D97-AF65-F5344CB8AC3E}">
        <p14:creationId xmlns:p14="http://schemas.microsoft.com/office/powerpoint/2010/main" val="995273959"/>
      </p:ext>
    </p:extLst>
  </p:cSld>
  <p:clrMapOvr>
    <a:masterClrMapping/>
  </p:clrMapOvr>
</p:sld>
</file>

<file path=ppt/theme/theme1.xml><?xml version="1.0" encoding="utf-8"?>
<a:theme xmlns:a="http://schemas.openxmlformats.org/drawingml/2006/main" name="ChronicleVTI">
  <a:themeElements>
    <a:clrScheme name="AnalogousFromDarkSeedLeftStep">
      <a:dk1>
        <a:srgbClr val="000000"/>
      </a:dk1>
      <a:lt1>
        <a:srgbClr val="FFFFFF"/>
      </a:lt1>
      <a:dk2>
        <a:srgbClr val="1B2130"/>
      </a:dk2>
      <a:lt2>
        <a:srgbClr val="F0F3F1"/>
      </a:lt2>
      <a:accent1>
        <a:srgbClr val="E7299E"/>
      </a:accent1>
      <a:accent2>
        <a:srgbClr val="CE17D5"/>
      </a:accent2>
      <a:accent3>
        <a:srgbClr val="9129E7"/>
      </a:accent3>
      <a:accent4>
        <a:srgbClr val="452ED9"/>
      </a:accent4>
      <a:accent5>
        <a:srgbClr val="295FE7"/>
      </a:accent5>
      <a:accent6>
        <a:srgbClr val="179CD5"/>
      </a:accent6>
      <a:hlink>
        <a:srgbClr val="3F4EBF"/>
      </a:hlink>
      <a:folHlink>
        <a:srgbClr val="7F7F7F"/>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185</TotalTime>
  <Words>723</Words>
  <Application>Microsoft Office PowerPoint</Application>
  <PresentationFormat>Panorámica</PresentationFormat>
  <Paragraphs>201</Paragraphs>
  <Slides>8</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Arial</vt:lpstr>
      <vt:lpstr>Calisto MT</vt:lpstr>
      <vt:lpstr>Cambria Math</vt:lpstr>
      <vt:lpstr>Times New Roman</vt:lpstr>
      <vt:lpstr>Univers Condensed</vt:lpstr>
      <vt:lpstr>ChronicleVTI</vt:lpstr>
      <vt:lpstr>Series de tiempo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Series de tiempo</dc:title>
  <dc:creator>Guillermo AntonioAguirre</dc:creator>
  <cp:lastModifiedBy>Guillermo AntonioAguirre</cp:lastModifiedBy>
  <cp:revision>11</cp:revision>
  <dcterms:created xsi:type="dcterms:W3CDTF">2022-03-14T15:59:42Z</dcterms:created>
  <dcterms:modified xsi:type="dcterms:W3CDTF">2025-03-01T19:37:27Z</dcterms:modified>
</cp:coreProperties>
</file>