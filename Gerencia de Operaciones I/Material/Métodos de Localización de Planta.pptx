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Alimama ShuHeiTi" charset="-122"/>
      <p:regular r:id="rId21"/>
    </p:embeddedFont>
    <p:embeddedFont>
      <p:font typeface="微软雅黑" panose="020B0503020204020204" pitchFamily="34" charset="-122"/>
      <p:regular r:id="rId22"/>
      <p:bold r:id="rId23"/>
    </p:embeddedFont>
    <p:embeddedFont>
      <p:font typeface="MiSans" panose="020B0604020202020204" charset="-122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6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3709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ducationleaves.com/d8f9e7cebddbaf11f2de9aa464125ee0cff7c550.jp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2B6CB0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3162300" cy="419100"/>
          </a:xfrm>
          <a:prstGeom prst="roundRect">
            <a:avLst>
              <a:gd name="adj" fmla="val 18182"/>
            </a:avLst>
          </a:prstGeom>
          <a:solidFill>
            <a:srgbClr val="DD6B20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457200"/>
            <a:ext cx="2800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GESTIÓN DE OPERACIONES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028700"/>
            <a:ext cx="78676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Métodos de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Localización de Planta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2971800"/>
            <a:ext cx="1219200" cy="57150"/>
          </a:xfrm>
          <a:prstGeom prst="roundRect">
            <a:avLst>
              <a:gd name="adj" fmla="val 0"/>
            </a:avLst>
          </a:prstGeom>
          <a:solidFill>
            <a:srgbClr val="DD6B2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333750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estratégico para la toma de decisiones de ubicación industrial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8150" y="62293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84207"/>
                </a:moveTo>
                <a:cubicBezTo>
                  <a:pt x="0" y="37683"/>
                  <a:pt x="38398" y="0"/>
                  <a:pt x="85725" y="0"/>
                </a:cubicBezTo>
                <a:cubicBezTo>
                  <a:pt x="133052" y="0"/>
                  <a:pt x="171450" y="37683"/>
                  <a:pt x="171450" y="84207"/>
                </a:cubicBezTo>
                <a:cubicBezTo>
                  <a:pt x="171450" y="137473"/>
                  <a:pt x="117783" y="201320"/>
                  <a:pt x="95369" y="225653"/>
                </a:cubicBezTo>
                <a:cubicBezTo>
                  <a:pt x="90101" y="231368"/>
                  <a:pt x="81305" y="231368"/>
                  <a:pt x="76036" y="225653"/>
                </a:cubicBezTo>
                <a:cubicBezTo>
                  <a:pt x="53623" y="201320"/>
                  <a:pt x="-45" y="137473"/>
                  <a:pt x="-45" y="84207"/>
                </a:cubicBezTo>
                <a:close/>
                <a:moveTo>
                  <a:pt x="85725" y="114300"/>
                </a:moveTo>
                <a:cubicBezTo>
                  <a:pt x="101496" y="114300"/>
                  <a:pt x="114300" y="101496"/>
                  <a:pt x="114300" y="85725"/>
                </a:cubicBezTo>
                <a:cubicBezTo>
                  <a:pt x="114300" y="69954"/>
                  <a:pt x="101496" y="57150"/>
                  <a:pt x="85725" y="57150"/>
                </a:cubicBezTo>
                <a:cubicBezTo>
                  <a:pt x="69954" y="57150"/>
                  <a:pt x="57150" y="69954"/>
                  <a:pt x="57150" y="85725"/>
                </a:cubicBezTo>
                <a:cubicBezTo>
                  <a:pt x="57150" y="101496"/>
                  <a:pt x="69954" y="114300"/>
                  <a:pt x="85725" y="114300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0" name="Text 7"/>
          <p:cNvSpPr/>
          <p:nvPr/>
        </p:nvSpPr>
        <p:spPr>
          <a:xfrm>
            <a:off x="819150" y="6210300"/>
            <a:ext cx="469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Fundamentos, metodologías y aplicaciones prácticas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DE LA PRESENTACIÓN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47800"/>
            <a:ext cx="5543550" cy="1666875"/>
          </a:xfrm>
          <a:custGeom>
            <a:avLst/>
            <a:gdLst/>
            <a:ahLst/>
            <a:cxnLst/>
            <a:rect l="l" t="t" r="r" b="b"/>
            <a:pathLst>
              <a:path w="5543550" h="1666875">
                <a:moveTo>
                  <a:pt x="3810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590675"/>
                </a:lnTo>
                <a:cubicBezTo>
                  <a:pt x="5543550" y="1632731"/>
                  <a:pt x="5509406" y="1666875"/>
                  <a:pt x="5467350" y="1666875"/>
                </a:cubicBez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6CB0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38100" cy="1666875"/>
          </a:xfrm>
          <a:custGeom>
            <a:avLst/>
            <a:gdLst/>
            <a:ahLst/>
            <a:cxnLst/>
            <a:rect l="l" t="t" r="r" b="b"/>
            <a:pathLst>
              <a:path w="38100" h="1666875">
                <a:moveTo>
                  <a:pt x="38100" y="0"/>
                </a:moveTo>
                <a:lnTo>
                  <a:pt x="38100" y="0"/>
                </a:lnTo>
                <a:lnTo>
                  <a:pt x="38100" y="1666875"/>
                </a:ln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71723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61975" y="1717239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1793439"/>
            <a:ext cx="4124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Introducción y Alcance del Proyecto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288738"/>
            <a:ext cx="5229225" cy="561975"/>
          </a:xfrm>
          <a:prstGeom prst="rect">
            <a:avLst/>
          </a:prstGeom>
          <a:noFill/>
          <a:ln/>
        </p:spPr>
        <p:txBody>
          <a:bodyPr wrap="square" lIns="6096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 estratégica de las decisiones de localización y definición del alcance del proyecto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7450" y="1447800"/>
            <a:ext cx="5543550" cy="1666875"/>
          </a:xfrm>
          <a:custGeom>
            <a:avLst/>
            <a:gdLst/>
            <a:ahLst/>
            <a:cxnLst/>
            <a:rect l="l" t="t" r="r" b="b"/>
            <a:pathLst>
              <a:path w="5543550" h="1666875">
                <a:moveTo>
                  <a:pt x="3810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590675"/>
                </a:lnTo>
                <a:cubicBezTo>
                  <a:pt x="5543550" y="1632731"/>
                  <a:pt x="5509406" y="1666875"/>
                  <a:pt x="5467350" y="1666875"/>
                </a:cubicBez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6CB0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67450" y="1447800"/>
            <a:ext cx="38100" cy="1666875"/>
          </a:xfrm>
          <a:custGeom>
            <a:avLst/>
            <a:gdLst/>
            <a:ahLst/>
            <a:cxnLst/>
            <a:rect l="l" t="t" r="r" b="b"/>
            <a:pathLst>
              <a:path w="38100" h="1666875">
                <a:moveTo>
                  <a:pt x="38100" y="0"/>
                </a:moveTo>
                <a:lnTo>
                  <a:pt x="38100" y="0"/>
                </a:lnTo>
                <a:lnTo>
                  <a:pt x="38100" y="1666875"/>
                </a:ln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77000" y="171723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13" name="Text 11"/>
          <p:cNvSpPr/>
          <p:nvPr/>
        </p:nvSpPr>
        <p:spPr>
          <a:xfrm>
            <a:off x="6429375" y="1717239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6600" y="1793439"/>
            <a:ext cx="312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Macro y Micro-localización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7000" y="2288738"/>
            <a:ext cx="5229225" cy="561975"/>
          </a:xfrm>
          <a:prstGeom prst="rect">
            <a:avLst/>
          </a:prstGeom>
          <a:noFill/>
          <a:ln/>
        </p:spPr>
        <p:txBody>
          <a:bodyPr wrap="square" lIns="6096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Dos niveles de análisis para la selección óptima de ubicación industrial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267790"/>
            <a:ext cx="5543550" cy="1666875"/>
          </a:xfrm>
          <a:custGeom>
            <a:avLst/>
            <a:gdLst/>
            <a:ahLst/>
            <a:cxnLst/>
            <a:rect l="l" t="t" r="r" b="b"/>
            <a:pathLst>
              <a:path w="5543550" h="1666875">
                <a:moveTo>
                  <a:pt x="3810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590675"/>
                </a:lnTo>
                <a:cubicBezTo>
                  <a:pt x="5543550" y="1632731"/>
                  <a:pt x="5509406" y="1666875"/>
                  <a:pt x="5467350" y="1666875"/>
                </a:cubicBez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6CB0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3267790"/>
            <a:ext cx="38100" cy="1666875"/>
          </a:xfrm>
          <a:custGeom>
            <a:avLst/>
            <a:gdLst/>
            <a:ahLst/>
            <a:cxnLst/>
            <a:rect l="l" t="t" r="r" b="b"/>
            <a:pathLst>
              <a:path w="38100" h="1666875">
                <a:moveTo>
                  <a:pt x="38100" y="0"/>
                </a:moveTo>
                <a:lnTo>
                  <a:pt x="38100" y="0"/>
                </a:lnTo>
                <a:lnTo>
                  <a:pt x="38100" y="1666875"/>
                </a:ln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35372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561975" y="353722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19200" y="3613428"/>
            <a:ext cx="2847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Factores de Localización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4108728"/>
            <a:ext cx="5229225" cy="561975"/>
          </a:xfrm>
          <a:prstGeom prst="rect">
            <a:avLst/>
          </a:prstGeom>
          <a:noFill/>
          <a:ln/>
        </p:spPr>
        <p:txBody>
          <a:bodyPr wrap="square" lIns="6096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y subfactores trascendentales para la determinación óptima de ubicación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3267790"/>
            <a:ext cx="5543550" cy="1666875"/>
          </a:xfrm>
          <a:custGeom>
            <a:avLst/>
            <a:gdLst/>
            <a:ahLst/>
            <a:cxnLst/>
            <a:rect l="l" t="t" r="r" b="b"/>
            <a:pathLst>
              <a:path w="5543550" h="1666875">
                <a:moveTo>
                  <a:pt x="3810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590675"/>
                </a:lnTo>
                <a:cubicBezTo>
                  <a:pt x="5543550" y="1632731"/>
                  <a:pt x="5509406" y="1666875"/>
                  <a:pt x="5467350" y="1666875"/>
                </a:cubicBez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6CB0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67450" y="3267790"/>
            <a:ext cx="38100" cy="1666875"/>
          </a:xfrm>
          <a:custGeom>
            <a:avLst/>
            <a:gdLst/>
            <a:ahLst/>
            <a:cxnLst/>
            <a:rect l="l" t="t" r="r" b="b"/>
            <a:pathLst>
              <a:path w="38100" h="1666875">
                <a:moveTo>
                  <a:pt x="38100" y="0"/>
                </a:moveTo>
                <a:lnTo>
                  <a:pt x="38100" y="0"/>
                </a:lnTo>
                <a:lnTo>
                  <a:pt x="38100" y="1666875"/>
                </a:ln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7000" y="35372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25" name="Text 23"/>
          <p:cNvSpPr/>
          <p:nvPr/>
        </p:nvSpPr>
        <p:spPr>
          <a:xfrm>
            <a:off x="6429375" y="353722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86600" y="3613428"/>
            <a:ext cx="418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Método Sinérgico de Brown y Gibson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77000" y="4108728"/>
            <a:ext cx="5229225" cy="561975"/>
          </a:xfrm>
          <a:prstGeom prst="rect">
            <a:avLst/>
          </a:prstGeom>
          <a:noFill/>
          <a:ln/>
        </p:spPr>
        <p:txBody>
          <a:bodyPr wrap="square" lIns="6096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 cuantitativo para evaluar y seleccionar la mejor opción de localización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5087898"/>
            <a:ext cx="11410950" cy="1390650"/>
          </a:xfrm>
          <a:custGeom>
            <a:avLst/>
            <a:gdLst/>
            <a:ahLst/>
            <a:cxnLst/>
            <a:rect l="l" t="t" r="r" b="b"/>
            <a:pathLst>
              <a:path w="11410950" h="1390650">
                <a:moveTo>
                  <a:pt x="3810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1314450"/>
                </a:lnTo>
                <a:cubicBezTo>
                  <a:pt x="11410950" y="1356506"/>
                  <a:pt x="11376806" y="1390650"/>
                  <a:pt x="11334750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6CB0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" y="5087898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600" y="535733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31" name="Text 29"/>
          <p:cNvSpPr/>
          <p:nvPr/>
        </p:nvSpPr>
        <p:spPr>
          <a:xfrm>
            <a:off x="561975" y="5357337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19200" y="5433537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Ejemplo de Aplicación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9600" y="5928837"/>
            <a:ext cx="11096625" cy="276225"/>
          </a:xfrm>
          <a:prstGeom prst="rect">
            <a:avLst/>
          </a:prstGeom>
          <a:noFill/>
          <a:ln/>
        </p:spPr>
        <p:txBody>
          <a:bodyPr wrap="square" lIns="6096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Aplicación práctica del método sinérgico con datos de cuatro localizaciones tentativas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prod.website-files.com/24424f907f9ff27c7cb2d47d389d31c8da9b7578.jpeg"/>
          <p:cNvPicPr>
            <a:picLocks noChangeAspect="1"/>
          </p:cNvPicPr>
          <p:nvPr/>
        </p:nvPicPr>
        <p:blipFill>
          <a:blip r:embed="rId3">
            <a:alphaModFix amt="30000"/>
          </a:blip>
          <a:srcRect t="14807" b="1480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202C">
                  <a:alpha val="98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724025"/>
            <a:ext cx="1733550" cy="419100"/>
          </a:xfrm>
          <a:prstGeom prst="roundRect">
            <a:avLst>
              <a:gd name="adj" fmla="val 18182"/>
            </a:avLst>
          </a:prstGeom>
          <a:solidFill>
            <a:srgbClr val="DD6B20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800225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CAPÍTULO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71725"/>
            <a:ext cx="88201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Introducción y Alcance del Proyecto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029075"/>
            <a:ext cx="1524000" cy="57150"/>
          </a:xfrm>
          <a:prstGeom prst="roundRect">
            <a:avLst>
              <a:gd name="adj" fmla="val 0"/>
            </a:avLst>
          </a:prstGeom>
          <a:solidFill>
            <a:srgbClr val="DD6B2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39102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Fundamentos estratégicos y definición del alcance de un proyecto de localización de planta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FUNDAMENTOS ESTRATÉGICOS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Importancia Estratégica de la Localización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5589270" cy="5246370"/>
          </a:xfrm>
          <a:prstGeom prst="roundRect">
            <a:avLst>
              <a:gd name="adj" fmla="val 2179"/>
            </a:avLst>
          </a:prstGeom>
          <a:solidFill>
            <a:srgbClr val="2B6CB0">
              <a:alpha val="14902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" y="145542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/>
        </p:spPr>
      </p:sp>
      <p:sp>
        <p:nvSpPr>
          <p:cNvPr id="6" name="Shape 4"/>
          <p:cNvSpPr/>
          <p:nvPr/>
        </p:nvSpPr>
        <p:spPr>
          <a:xfrm>
            <a:off x="762476" y="15887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-11906"/>
                </a:moveTo>
                <a:cubicBezTo>
                  <a:pt x="89929" y="-11906"/>
                  <a:pt x="95250" y="-6586"/>
                  <a:pt x="95250" y="0"/>
                </a:cubicBezTo>
                <a:lnTo>
                  <a:pt x="95250" y="11906"/>
                </a:ln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cubicBezTo>
                  <a:pt x="119063" y="30398"/>
                  <a:pt x="113742" y="35719"/>
                  <a:pt x="107156" y="35719"/>
                </a:cubicBezTo>
                <a:lnTo>
                  <a:pt x="95250" y="35719"/>
                </a:lnTo>
                <a:lnTo>
                  <a:pt x="95250" y="59531"/>
                </a:lnTo>
                <a:lnTo>
                  <a:pt x="152474" y="59531"/>
                </a:lnTo>
                <a:cubicBezTo>
                  <a:pt x="160325" y="59531"/>
                  <a:pt x="166688" y="65894"/>
                  <a:pt x="166688" y="73744"/>
                </a:cubicBezTo>
                <a:cubicBezTo>
                  <a:pt x="166688" y="76126"/>
                  <a:pt x="166092" y="78470"/>
                  <a:pt x="164939" y="80553"/>
                </a:cubicBezTo>
                <a:lnTo>
                  <a:pt x="130969" y="142875"/>
                </a:lnTo>
                <a:lnTo>
                  <a:pt x="151879" y="169032"/>
                </a:lnTo>
                <a:cubicBezTo>
                  <a:pt x="153739" y="171376"/>
                  <a:pt x="154781" y="174278"/>
                  <a:pt x="154781" y="177292"/>
                </a:cubicBezTo>
                <a:cubicBezTo>
                  <a:pt x="154781" y="184584"/>
                  <a:pt x="148865" y="190500"/>
                  <a:pt x="141573" y="190500"/>
                </a:cubicBezTo>
                <a:lnTo>
                  <a:pt x="25115" y="190500"/>
                </a:lnTo>
                <a:cubicBezTo>
                  <a:pt x="17822" y="190500"/>
                  <a:pt x="11906" y="184584"/>
                  <a:pt x="11906" y="177292"/>
                </a:cubicBezTo>
                <a:cubicBezTo>
                  <a:pt x="11906" y="174278"/>
                  <a:pt x="12911" y="171376"/>
                  <a:pt x="14808" y="169032"/>
                </a:cubicBezTo>
                <a:lnTo>
                  <a:pt x="35719" y="142875"/>
                </a:lnTo>
                <a:lnTo>
                  <a:pt x="1749" y="80590"/>
                </a:lnTo>
                <a:cubicBezTo>
                  <a:pt x="595" y="78470"/>
                  <a:pt x="0" y="76126"/>
                  <a:pt x="0" y="73744"/>
                </a:cubicBezTo>
                <a:cubicBezTo>
                  <a:pt x="0" y="65894"/>
                  <a:pt x="6362" y="59531"/>
                  <a:pt x="14213" y="59531"/>
                </a:cubicBezTo>
                <a:lnTo>
                  <a:pt x="71438" y="59531"/>
                </a:lnTo>
                <a:lnTo>
                  <a:pt x="71438" y="35719"/>
                </a:lnTo>
                <a:lnTo>
                  <a:pt x="59531" y="35719"/>
                </a:lnTo>
                <a:cubicBezTo>
                  <a:pt x="52946" y="35719"/>
                  <a:pt x="47625" y="30398"/>
                  <a:pt x="47625" y="23812"/>
                </a:cubicBezTo>
                <a:cubicBezTo>
                  <a:pt x="47625" y="17227"/>
                  <a:pt x="52946" y="11906"/>
                  <a:pt x="59531" y="11906"/>
                </a:cubicBezTo>
                <a:lnTo>
                  <a:pt x="71438" y="11906"/>
                </a:lnTo>
                <a:lnTo>
                  <a:pt x="71438" y="0"/>
                </a:lnTo>
                <a:cubicBezTo>
                  <a:pt x="71438" y="-6586"/>
                  <a:pt x="76758" y="-11906"/>
                  <a:pt x="83344" y="-119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531620"/>
            <a:ext cx="3438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Decisión de Orden Estratégico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7220" y="2808684"/>
            <a:ext cx="52101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decisiones relacionadas con la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localización de la planta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son del orden estratégico, comprometiendo al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staff gerencial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la organización.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220" y="3796903"/>
            <a:ext cx="52101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Estas decisiones son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cruciales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al comprometer a la organización con: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" y="4506516"/>
            <a:ext cx="1628775" cy="990600"/>
          </a:xfrm>
          <a:prstGeom prst="roundRect">
            <a:avLst>
              <a:gd name="adj" fmla="val 7692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62313" y="4620816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2" name="Text 10"/>
          <p:cNvSpPr/>
          <p:nvPr/>
        </p:nvSpPr>
        <p:spPr>
          <a:xfrm>
            <a:off x="693420" y="4925616"/>
            <a:ext cx="147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Costos a largo plazo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64700" y="4506516"/>
            <a:ext cx="1628775" cy="990600"/>
          </a:xfrm>
          <a:prstGeom prst="roundRect">
            <a:avLst>
              <a:gd name="adj" fmla="val 7692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038356" y="4620816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5" name="Text 13"/>
          <p:cNvSpPr/>
          <p:nvPr/>
        </p:nvSpPr>
        <p:spPr>
          <a:xfrm>
            <a:off x="2440900" y="4925616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Empleos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2181" y="4506516"/>
            <a:ext cx="1628775" cy="990600"/>
          </a:xfrm>
          <a:prstGeom prst="roundRect">
            <a:avLst>
              <a:gd name="adj" fmla="val 7692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814411" y="462081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8" name="Text 16"/>
          <p:cNvSpPr/>
          <p:nvPr/>
        </p:nvSpPr>
        <p:spPr>
          <a:xfrm>
            <a:off x="4188381" y="4925616"/>
            <a:ext cx="147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Patrones de mercado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4110" y="1223010"/>
            <a:ext cx="5589270" cy="5246370"/>
          </a:xfrm>
          <a:prstGeom prst="roundRect">
            <a:avLst>
              <a:gd name="adj" fmla="val 2179"/>
            </a:avLst>
          </a:prstGeom>
          <a:solidFill>
            <a:srgbClr val="2B6CB0">
              <a:alpha val="14902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145542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DD6B20"/>
          </a:solidFill>
          <a:ln/>
        </p:spPr>
      </p:sp>
      <p:sp>
        <p:nvSpPr>
          <p:cNvPr id="21" name="Shape 19"/>
          <p:cNvSpPr/>
          <p:nvPr/>
        </p:nvSpPr>
        <p:spPr>
          <a:xfrm>
            <a:off x="6579870" y="15887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018020" y="1531620"/>
            <a:ext cx="358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Proceso de Selección Científico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2628423"/>
            <a:ext cx="52101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alternativas de localización deben ser revisadas bajo las condiciones de: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6520" y="3338036"/>
            <a:ext cx="2505075" cy="457200"/>
          </a:xfrm>
          <a:prstGeom prst="roundRect">
            <a:avLst>
              <a:gd name="adj" fmla="val 16667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95348" y="3480911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-10716"/>
                </a:moveTo>
                <a:cubicBezTo>
                  <a:pt x="48790" y="-10716"/>
                  <a:pt x="53578" y="-5927"/>
                  <a:pt x="53578" y="0"/>
                </a:cubicBezTo>
                <a:lnTo>
                  <a:pt x="53578" y="32147"/>
                </a:lnTo>
                <a:lnTo>
                  <a:pt x="96441" y="32147"/>
                </a:lnTo>
                <a:lnTo>
                  <a:pt x="96441" y="0"/>
                </a:lnTo>
                <a:cubicBezTo>
                  <a:pt x="96441" y="-5927"/>
                  <a:pt x="101229" y="-10716"/>
                  <a:pt x="107156" y="-10716"/>
                </a:cubicBezTo>
                <a:cubicBezTo>
                  <a:pt x="113083" y="-10716"/>
                  <a:pt x="117872" y="-5927"/>
                  <a:pt x="117872" y="0"/>
                </a:cubicBezTo>
                <a:lnTo>
                  <a:pt x="117872" y="32147"/>
                </a:ln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cubicBezTo>
                  <a:pt x="150019" y="48790"/>
                  <a:pt x="145230" y="53578"/>
                  <a:pt x="139303" y="53578"/>
                </a:cubicBezTo>
                <a:lnTo>
                  <a:pt x="139303" y="75009"/>
                </a:lnTo>
                <a:cubicBezTo>
                  <a:pt x="139303" y="106855"/>
                  <a:pt x="116131" y="133309"/>
                  <a:pt x="85725" y="138399"/>
                </a:cubicBezTo>
                <a:lnTo>
                  <a:pt x="85725" y="160734"/>
                </a:lnTo>
                <a:cubicBezTo>
                  <a:pt x="85725" y="166661"/>
                  <a:pt x="80936" y="171450"/>
                  <a:pt x="75009" y="171450"/>
                </a:cubicBezTo>
                <a:cubicBezTo>
                  <a:pt x="69082" y="171450"/>
                  <a:pt x="64294" y="166661"/>
                  <a:pt x="64294" y="160734"/>
                </a:cubicBezTo>
                <a:lnTo>
                  <a:pt x="64294" y="138399"/>
                </a:lnTo>
                <a:cubicBezTo>
                  <a:pt x="33888" y="133309"/>
                  <a:pt x="10716" y="106855"/>
                  <a:pt x="10716" y="75009"/>
                </a:cubicBez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32147" y="32147"/>
                </a:lnTo>
                <a:lnTo>
                  <a:pt x="32147" y="0"/>
                </a:lnTo>
                <a:cubicBezTo>
                  <a:pt x="32147" y="-5927"/>
                  <a:pt x="36935" y="-10716"/>
                  <a:pt x="42863" y="-10716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1332" y="3452336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Servicios básicos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67800" y="3338036"/>
            <a:ext cx="2505075" cy="457200"/>
          </a:xfrm>
          <a:prstGeom prst="roundRect">
            <a:avLst>
              <a:gd name="adj" fmla="val 16667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195197" y="3480911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17872" y="88404"/>
                </a:moveTo>
                <a:lnTo>
                  <a:pt x="117872" y="21431"/>
                </a:lnTo>
                <a:cubicBezTo>
                  <a:pt x="117872" y="15504"/>
                  <a:pt x="113083" y="10716"/>
                  <a:pt x="107156" y="10716"/>
                </a:cubicBezTo>
                <a:lnTo>
                  <a:pt x="85725" y="10716"/>
                </a:lnTo>
                <a:cubicBezTo>
                  <a:pt x="79798" y="10716"/>
                  <a:pt x="75009" y="15504"/>
                  <a:pt x="75009" y="21431"/>
                </a:cubicBezTo>
                <a:lnTo>
                  <a:pt x="75009" y="88404"/>
                </a:lnTo>
                <a:cubicBezTo>
                  <a:pt x="75009" y="92858"/>
                  <a:pt x="71426" y="96441"/>
                  <a:pt x="66973" y="96441"/>
                </a:cubicBezTo>
                <a:cubicBezTo>
                  <a:pt x="62519" y="96441"/>
                  <a:pt x="58936" y="92858"/>
                  <a:pt x="58936" y="88404"/>
                </a:cubicBezTo>
                <a:lnTo>
                  <a:pt x="58936" y="26153"/>
                </a:lnTo>
                <a:cubicBezTo>
                  <a:pt x="30138" y="36768"/>
                  <a:pt x="10716" y="64227"/>
                  <a:pt x="10716" y="96441"/>
                </a:cubicBezTo>
                <a:lnTo>
                  <a:pt x="10716" y="117872"/>
                </a:lnTo>
                <a:lnTo>
                  <a:pt x="182166" y="117872"/>
                </a:lnTo>
                <a:lnTo>
                  <a:pt x="182166" y="96441"/>
                </a:lnTo>
                <a:cubicBezTo>
                  <a:pt x="181831" y="64562"/>
                  <a:pt x="162610" y="36935"/>
                  <a:pt x="133945" y="26186"/>
                </a:cubicBezTo>
                <a:lnTo>
                  <a:pt x="133945" y="88404"/>
                </a:lnTo>
                <a:cubicBezTo>
                  <a:pt x="133945" y="92858"/>
                  <a:pt x="130362" y="96441"/>
                  <a:pt x="125909" y="96441"/>
                </a:cubicBezTo>
                <a:cubicBezTo>
                  <a:pt x="121455" y="96441"/>
                  <a:pt x="117872" y="92858"/>
                  <a:pt x="117872" y="88404"/>
                </a:cubicBezTo>
                <a:close/>
                <a:moveTo>
                  <a:pt x="13395" y="133945"/>
                </a:moveTo>
                <a:cubicBezTo>
                  <a:pt x="5994" y="133945"/>
                  <a:pt x="0" y="139939"/>
                  <a:pt x="0" y="147340"/>
                </a:cubicBezTo>
                <a:cubicBezTo>
                  <a:pt x="0" y="154740"/>
                  <a:pt x="5994" y="160734"/>
                  <a:pt x="13395" y="160734"/>
                </a:cubicBezTo>
                <a:lnTo>
                  <a:pt x="179487" y="160734"/>
                </a:lnTo>
                <a:cubicBezTo>
                  <a:pt x="186887" y="160734"/>
                  <a:pt x="192881" y="154740"/>
                  <a:pt x="192881" y="147340"/>
                </a:cubicBezTo>
                <a:cubicBezTo>
                  <a:pt x="192881" y="139939"/>
                  <a:pt x="186887" y="133945"/>
                  <a:pt x="179487" y="133945"/>
                </a:cubicBezTo>
                <a:lnTo>
                  <a:pt x="13395" y="133945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9" name="Text 27"/>
          <p:cNvSpPr/>
          <p:nvPr/>
        </p:nvSpPr>
        <p:spPr>
          <a:xfrm>
            <a:off x="9472613" y="3452336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Mano de obra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46520" y="3909536"/>
            <a:ext cx="2505075" cy="457200"/>
          </a:xfrm>
          <a:prstGeom prst="roundRect">
            <a:avLst>
              <a:gd name="adj" fmla="val 16667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84632" y="405241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009" y="0"/>
                </a:moveTo>
                <a:lnTo>
                  <a:pt x="75009" y="21431"/>
                </a:lnTo>
                <a:cubicBezTo>
                  <a:pt x="75009" y="24378"/>
                  <a:pt x="77420" y="26789"/>
                  <a:pt x="80367" y="26789"/>
                </a:cubicBezTo>
                <a:lnTo>
                  <a:pt x="91083" y="26789"/>
                </a:lnTo>
                <a:cubicBezTo>
                  <a:pt x="94030" y="26789"/>
                  <a:pt x="96441" y="24378"/>
                  <a:pt x="96441" y="21431"/>
                </a:cubicBezTo>
                <a:lnTo>
                  <a:pt x="96441" y="0"/>
                </a:lnTo>
                <a:lnTo>
                  <a:pt x="107156" y="0"/>
                </a:lnTo>
                <a:cubicBezTo>
                  <a:pt x="118977" y="0"/>
                  <a:pt x="128588" y="9611"/>
                  <a:pt x="128588" y="21431"/>
                </a:cubicBezTo>
                <a:lnTo>
                  <a:pt x="128588" y="64294"/>
                </a:lnTo>
                <a:cubicBezTo>
                  <a:pt x="128588" y="66135"/>
                  <a:pt x="128353" y="67944"/>
                  <a:pt x="127918" y="69652"/>
                </a:cubicBezTo>
                <a:lnTo>
                  <a:pt x="43532" y="69652"/>
                </a:lnTo>
                <a:cubicBezTo>
                  <a:pt x="43097" y="67944"/>
                  <a:pt x="42863" y="66135"/>
                  <a:pt x="42863" y="64294"/>
                </a:cubicBezTo>
                <a:lnTo>
                  <a:pt x="42863" y="21431"/>
                </a:lnTo>
                <a:cubicBezTo>
                  <a:pt x="42863" y="9611"/>
                  <a:pt x="52473" y="0"/>
                  <a:pt x="64294" y="0"/>
                </a:cubicBezTo>
                <a:lnTo>
                  <a:pt x="75009" y="0"/>
                </a:lnTo>
                <a:close/>
                <a:moveTo>
                  <a:pt x="107156" y="171450"/>
                </a:moveTo>
                <a:cubicBezTo>
                  <a:pt x="103406" y="171450"/>
                  <a:pt x="99856" y="170479"/>
                  <a:pt x="96775" y="168771"/>
                </a:cubicBezTo>
                <a:cubicBezTo>
                  <a:pt x="99957" y="163246"/>
                  <a:pt x="101798" y="156850"/>
                  <a:pt x="101798" y="150019"/>
                </a:cubicBezTo>
                <a:lnTo>
                  <a:pt x="101798" y="107156"/>
                </a:lnTo>
                <a:cubicBezTo>
                  <a:pt x="101798" y="100325"/>
                  <a:pt x="99957" y="93929"/>
                  <a:pt x="96775" y="88404"/>
                </a:cubicBezTo>
                <a:cubicBezTo>
                  <a:pt x="99856" y="86696"/>
                  <a:pt x="103372" y="85725"/>
                  <a:pt x="107156" y="85725"/>
                </a:cubicBezTo>
                <a:lnTo>
                  <a:pt x="117872" y="85725"/>
                </a:lnTo>
                <a:lnTo>
                  <a:pt x="117872" y="107156"/>
                </a:lnTo>
                <a:cubicBezTo>
                  <a:pt x="117872" y="110103"/>
                  <a:pt x="120283" y="112514"/>
                  <a:pt x="123230" y="112514"/>
                </a:cubicBezTo>
                <a:lnTo>
                  <a:pt x="133945" y="112514"/>
                </a:lnTo>
                <a:cubicBezTo>
                  <a:pt x="136892" y="112514"/>
                  <a:pt x="139303" y="110103"/>
                  <a:pt x="139303" y="107156"/>
                </a:cubicBezTo>
                <a:lnTo>
                  <a:pt x="139303" y="85725"/>
                </a:lnTo>
                <a:lnTo>
                  <a:pt x="150019" y="85725"/>
                </a:lnTo>
                <a:cubicBezTo>
                  <a:pt x="161839" y="85725"/>
                  <a:pt x="171450" y="95336"/>
                  <a:pt x="171450" y="107156"/>
                </a:cubicBezTo>
                <a:lnTo>
                  <a:pt x="171450" y="150019"/>
                </a:lnTo>
                <a:cubicBezTo>
                  <a:pt x="171450" y="161839"/>
                  <a:pt x="161839" y="171450"/>
                  <a:pt x="150019" y="171450"/>
                </a:cubicBezTo>
                <a:lnTo>
                  <a:pt x="107156" y="171450"/>
                </a:lnTo>
                <a:close/>
                <a:moveTo>
                  <a:pt x="0" y="107156"/>
                </a:moveTo>
                <a:cubicBezTo>
                  <a:pt x="0" y="95336"/>
                  <a:pt x="9611" y="85725"/>
                  <a:pt x="21431" y="85725"/>
                </a:cubicBezTo>
                <a:lnTo>
                  <a:pt x="32147" y="85725"/>
                </a:lnTo>
                <a:lnTo>
                  <a:pt x="32147" y="107156"/>
                </a:lnTo>
                <a:cubicBezTo>
                  <a:pt x="32147" y="110103"/>
                  <a:pt x="34558" y="112514"/>
                  <a:pt x="37505" y="112514"/>
                </a:cubicBezTo>
                <a:lnTo>
                  <a:pt x="48220" y="112514"/>
                </a:lnTo>
                <a:cubicBezTo>
                  <a:pt x="51167" y="112514"/>
                  <a:pt x="53578" y="110103"/>
                  <a:pt x="53578" y="107156"/>
                </a:cubicBezTo>
                <a:lnTo>
                  <a:pt x="53578" y="85725"/>
                </a:lnTo>
                <a:lnTo>
                  <a:pt x="64294" y="85725"/>
                </a:lnTo>
                <a:cubicBezTo>
                  <a:pt x="76114" y="85725"/>
                  <a:pt x="85725" y="95336"/>
                  <a:pt x="85725" y="107156"/>
                </a:cubicBezTo>
                <a:lnTo>
                  <a:pt x="85725" y="150019"/>
                </a:lnTo>
                <a:cubicBezTo>
                  <a:pt x="85725" y="161839"/>
                  <a:pt x="76114" y="171450"/>
                  <a:pt x="64294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107156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32" name="Text 30"/>
          <p:cNvSpPr/>
          <p:nvPr/>
        </p:nvSpPr>
        <p:spPr>
          <a:xfrm>
            <a:off x="6851332" y="4023836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Materias primas e insumos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067800" y="3909536"/>
            <a:ext cx="2505075" cy="457200"/>
          </a:xfrm>
          <a:prstGeom prst="roundRect">
            <a:avLst>
              <a:gd name="adj" fmla="val 16667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184481" y="4052411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8037" y="-5358"/>
                </a:moveTo>
                <a:cubicBezTo>
                  <a:pt x="3583" y="-5358"/>
                  <a:pt x="0" y="-1775"/>
                  <a:pt x="0" y="2679"/>
                </a:cubicBezTo>
                <a:cubicBezTo>
                  <a:pt x="0" y="7133"/>
                  <a:pt x="3583" y="10716"/>
                  <a:pt x="8037" y="10716"/>
                </a:cubicBezTo>
                <a:lnTo>
                  <a:pt x="23206" y="10716"/>
                </a:lnTo>
                <a:cubicBezTo>
                  <a:pt x="24512" y="10716"/>
                  <a:pt x="25617" y="11653"/>
                  <a:pt x="25851" y="12926"/>
                </a:cubicBezTo>
                <a:lnTo>
                  <a:pt x="43298" y="108797"/>
                </a:lnTo>
                <a:cubicBezTo>
                  <a:pt x="45374" y="120249"/>
                  <a:pt x="55353" y="128588"/>
                  <a:pt x="67006" y="128588"/>
                </a:cubicBezTo>
                <a:lnTo>
                  <a:pt x="152698" y="128588"/>
                </a:lnTo>
                <a:cubicBezTo>
                  <a:pt x="157151" y="128588"/>
                  <a:pt x="160734" y="125004"/>
                  <a:pt x="160734" y="120551"/>
                </a:cubicBezTo>
                <a:cubicBezTo>
                  <a:pt x="160734" y="116097"/>
                  <a:pt x="157151" y="112514"/>
                  <a:pt x="152698" y="112514"/>
                </a:cubicBezTo>
                <a:lnTo>
                  <a:pt x="67006" y="112514"/>
                </a:lnTo>
                <a:cubicBezTo>
                  <a:pt x="63122" y="112514"/>
                  <a:pt x="59807" y="109735"/>
                  <a:pt x="59103" y="105917"/>
                </a:cubicBezTo>
                <a:lnTo>
                  <a:pt x="57396" y="96441"/>
                </a:lnTo>
                <a:lnTo>
                  <a:pt x="159060" y="96441"/>
                </a:lnTo>
                <a:cubicBezTo>
                  <a:pt x="169374" y="96441"/>
                  <a:pt x="178214" y="89107"/>
                  <a:pt x="180123" y="78961"/>
                </a:cubicBezTo>
                <a:lnTo>
                  <a:pt x="190504" y="23407"/>
                </a:lnTo>
                <a:cubicBezTo>
                  <a:pt x="191743" y="16810"/>
                  <a:pt x="186686" y="10716"/>
                  <a:pt x="179956" y="10716"/>
                </a:cubicBezTo>
                <a:lnTo>
                  <a:pt x="41757" y="10716"/>
                </a:lnTo>
                <a:lnTo>
                  <a:pt x="41624" y="10046"/>
                </a:lnTo>
                <a:cubicBezTo>
                  <a:pt x="40016" y="1139"/>
                  <a:pt x="32247" y="-5358"/>
                  <a:pt x="23173" y="-5358"/>
                </a:cubicBezTo>
                <a:lnTo>
                  <a:pt x="8037" y="-5358"/>
                </a:lnTo>
                <a:close/>
                <a:moveTo>
                  <a:pt x="69652" y="171450"/>
                </a:moveTo>
                <a:cubicBezTo>
                  <a:pt x="78523" y="171450"/>
                  <a:pt x="85725" y="164248"/>
                  <a:pt x="85725" y="155377"/>
                </a:cubicBezTo>
                <a:cubicBezTo>
                  <a:pt x="85725" y="146505"/>
                  <a:pt x="78523" y="139303"/>
                  <a:pt x="69652" y="139303"/>
                </a:cubicBezTo>
                <a:cubicBezTo>
                  <a:pt x="60780" y="139303"/>
                  <a:pt x="53578" y="146505"/>
                  <a:pt x="53578" y="155377"/>
                </a:cubicBezTo>
                <a:cubicBezTo>
                  <a:pt x="53578" y="164248"/>
                  <a:pt x="60780" y="171450"/>
                  <a:pt x="69652" y="171450"/>
                </a:cubicBezTo>
                <a:close/>
                <a:moveTo>
                  <a:pt x="144661" y="171450"/>
                </a:moveTo>
                <a:cubicBezTo>
                  <a:pt x="153532" y="171450"/>
                  <a:pt x="160734" y="164248"/>
                  <a:pt x="160734" y="155377"/>
                </a:cubicBezTo>
                <a:cubicBezTo>
                  <a:pt x="160734" y="146505"/>
                  <a:pt x="153532" y="139303"/>
                  <a:pt x="144661" y="139303"/>
                </a:cubicBezTo>
                <a:cubicBezTo>
                  <a:pt x="135790" y="139303"/>
                  <a:pt x="128588" y="146505"/>
                  <a:pt x="128588" y="155377"/>
                </a:cubicBezTo>
                <a:cubicBezTo>
                  <a:pt x="128588" y="164248"/>
                  <a:pt x="135790" y="171450"/>
                  <a:pt x="144661" y="171450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35" name="Text 33"/>
          <p:cNvSpPr/>
          <p:nvPr/>
        </p:nvSpPr>
        <p:spPr>
          <a:xfrm>
            <a:off x="9472613" y="4023836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Demanda del mercado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46520" y="4481036"/>
            <a:ext cx="5124450" cy="457200"/>
          </a:xfrm>
          <a:prstGeom prst="roundRect">
            <a:avLst>
              <a:gd name="adj" fmla="val 16667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84632" y="462391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4976" y="10716"/>
                </a:moveTo>
                <a:lnTo>
                  <a:pt x="49459" y="10716"/>
                </a:lnTo>
                <a:cubicBezTo>
                  <a:pt x="39614" y="10716"/>
                  <a:pt x="31008" y="17446"/>
                  <a:pt x="28664" y="26990"/>
                </a:cubicBezTo>
                <a:lnTo>
                  <a:pt x="469" y="140810"/>
                </a:lnTo>
                <a:cubicBezTo>
                  <a:pt x="-2043" y="150923"/>
                  <a:pt x="5626" y="160734"/>
                  <a:pt x="16073" y="160734"/>
                </a:cubicBezTo>
                <a:lnTo>
                  <a:pt x="74976" y="160734"/>
                </a:lnTo>
                <a:lnTo>
                  <a:pt x="74976" y="139303"/>
                </a:lnTo>
                <a:cubicBezTo>
                  <a:pt x="74976" y="133376"/>
                  <a:pt x="79764" y="128588"/>
                  <a:pt x="85692" y="128588"/>
                </a:cubicBezTo>
                <a:cubicBezTo>
                  <a:pt x="91619" y="128588"/>
                  <a:pt x="96407" y="133376"/>
                  <a:pt x="96407" y="139303"/>
                </a:cubicBezTo>
                <a:lnTo>
                  <a:pt x="96407" y="160734"/>
                </a:lnTo>
                <a:lnTo>
                  <a:pt x="155377" y="160734"/>
                </a:lnTo>
                <a:cubicBezTo>
                  <a:pt x="165824" y="160734"/>
                  <a:pt x="173493" y="150923"/>
                  <a:pt x="170981" y="140810"/>
                </a:cubicBezTo>
                <a:lnTo>
                  <a:pt x="142819" y="26990"/>
                </a:lnTo>
                <a:cubicBezTo>
                  <a:pt x="140442" y="17446"/>
                  <a:pt x="131869" y="10716"/>
                  <a:pt x="121991" y="10716"/>
                </a:cubicBezTo>
                <a:lnTo>
                  <a:pt x="96407" y="10716"/>
                </a:lnTo>
                <a:lnTo>
                  <a:pt x="96407" y="32147"/>
                </a:lnTo>
                <a:cubicBezTo>
                  <a:pt x="96407" y="38074"/>
                  <a:pt x="91619" y="42863"/>
                  <a:pt x="85692" y="42863"/>
                </a:cubicBezTo>
                <a:cubicBezTo>
                  <a:pt x="79764" y="42863"/>
                  <a:pt x="74976" y="38074"/>
                  <a:pt x="74976" y="32147"/>
                </a:cubicBezTo>
                <a:lnTo>
                  <a:pt x="74976" y="10716"/>
                </a:lnTo>
                <a:close/>
                <a:moveTo>
                  <a:pt x="96407" y="75009"/>
                </a:moveTo>
                <a:lnTo>
                  <a:pt x="96407" y="96441"/>
                </a:lnTo>
                <a:cubicBezTo>
                  <a:pt x="96407" y="102368"/>
                  <a:pt x="91619" y="107156"/>
                  <a:pt x="85692" y="107156"/>
                </a:cubicBezTo>
                <a:cubicBezTo>
                  <a:pt x="79764" y="107156"/>
                  <a:pt x="74976" y="102368"/>
                  <a:pt x="74976" y="96441"/>
                </a:cubicBezTo>
                <a:lnTo>
                  <a:pt x="74976" y="75009"/>
                </a:lnTo>
                <a:cubicBezTo>
                  <a:pt x="74976" y="69082"/>
                  <a:pt x="79764" y="64294"/>
                  <a:pt x="85692" y="64294"/>
                </a:cubicBezTo>
                <a:cubicBezTo>
                  <a:pt x="91619" y="64294"/>
                  <a:pt x="96407" y="69082"/>
                  <a:pt x="96407" y="75009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38" name="Text 36"/>
          <p:cNvSpPr/>
          <p:nvPr/>
        </p:nvSpPr>
        <p:spPr>
          <a:xfrm>
            <a:off x="6851332" y="4595336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Acceso y conectividad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50330" y="5094446"/>
            <a:ext cx="5122545" cy="579120"/>
          </a:xfrm>
          <a:prstGeom prst="roundRect">
            <a:avLst>
              <a:gd name="adj" fmla="val 13158"/>
            </a:avLst>
          </a:prstGeom>
          <a:solidFill>
            <a:srgbClr val="DD6B20">
              <a:alpha val="20000"/>
            </a:srgbClr>
          </a:solidFill>
          <a:ln w="10160">
            <a:solidFill>
              <a:srgbClr val="DD6B20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24606" y="531161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96441" y="0"/>
                </a:moveTo>
                <a:lnTo>
                  <a:pt x="42863" y="0"/>
                </a:lnTo>
                <a:cubicBezTo>
                  <a:pt x="36935" y="0"/>
                  <a:pt x="32147" y="4789"/>
                  <a:pt x="32147" y="10716"/>
                </a:cubicBezTo>
                <a:cubicBezTo>
                  <a:pt x="32147" y="16643"/>
                  <a:pt x="36935" y="21431"/>
                  <a:pt x="42863" y="21431"/>
                </a:cubicBezTo>
                <a:lnTo>
                  <a:pt x="42863" y="72163"/>
                </a:lnTo>
                <a:lnTo>
                  <a:pt x="2511" y="142752"/>
                </a:lnTo>
                <a:cubicBezTo>
                  <a:pt x="871" y="145666"/>
                  <a:pt x="0" y="148914"/>
                  <a:pt x="0" y="152262"/>
                </a:cubicBezTo>
                <a:cubicBezTo>
                  <a:pt x="0" y="162878"/>
                  <a:pt x="8573" y="171450"/>
                  <a:pt x="19188" y="171450"/>
                </a:cubicBezTo>
                <a:lnTo>
                  <a:pt x="130831" y="171450"/>
                </a:lnTo>
                <a:cubicBezTo>
                  <a:pt x="141413" y="171450"/>
                  <a:pt x="150019" y="162878"/>
                  <a:pt x="150019" y="152262"/>
                </a:cubicBezTo>
                <a:cubicBezTo>
                  <a:pt x="150019" y="148914"/>
                  <a:pt x="149148" y="145632"/>
                  <a:pt x="147507" y="142752"/>
                </a:cubicBezTo>
                <a:lnTo>
                  <a:pt x="107156" y="72163"/>
                </a:lnTo>
                <a:lnTo>
                  <a:pt x="107156" y="21431"/>
                </a:lnTo>
                <a:cubicBezTo>
                  <a:pt x="113083" y="21431"/>
                  <a:pt x="117872" y="16643"/>
                  <a:pt x="117872" y="10716"/>
                </a:cubicBezTo>
                <a:cubicBezTo>
                  <a:pt x="117872" y="4789"/>
                  <a:pt x="113083" y="0"/>
                  <a:pt x="107156" y="0"/>
                </a:cubicBezTo>
                <a:lnTo>
                  <a:pt x="96441" y="0"/>
                </a:lnTo>
                <a:close/>
                <a:moveTo>
                  <a:pt x="64294" y="72163"/>
                </a:moveTo>
                <a:lnTo>
                  <a:pt x="64294" y="21431"/>
                </a:lnTo>
                <a:lnTo>
                  <a:pt x="85725" y="21431"/>
                </a:lnTo>
                <a:lnTo>
                  <a:pt x="85725" y="72163"/>
                </a:lnTo>
                <a:cubicBezTo>
                  <a:pt x="85725" y="75880"/>
                  <a:pt x="86696" y="79564"/>
                  <a:pt x="88538" y="82812"/>
                </a:cubicBezTo>
                <a:lnTo>
                  <a:pt x="102468" y="107156"/>
                </a:lnTo>
                <a:lnTo>
                  <a:pt x="47551" y="107156"/>
                </a:lnTo>
                <a:lnTo>
                  <a:pt x="61481" y="82812"/>
                </a:lnTo>
                <a:cubicBezTo>
                  <a:pt x="63323" y="79564"/>
                  <a:pt x="64294" y="75914"/>
                  <a:pt x="64294" y="72163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41" name="Text 39"/>
          <p:cNvSpPr/>
          <p:nvPr/>
        </p:nvSpPr>
        <p:spPr>
          <a:xfrm>
            <a:off x="6839903" y="5250656"/>
            <a:ext cx="461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Proceso basado en el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método científico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 DEL PROYECTO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Actividades y Alcance del Proyecto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340645"/>
            <a:ext cx="11418570" cy="950595"/>
          </a:xfrm>
          <a:prstGeom prst="roundRect">
            <a:avLst>
              <a:gd name="adj" fmla="val 12024"/>
            </a:avLst>
          </a:prstGeom>
          <a:solidFill>
            <a:srgbClr val="2B6CB0">
              <a:alpha val="14902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9120" y="1534955"/>
            <a:ext cx="111156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decisiones de orden estratégico deben ser abordadas desde un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enfoque sistémico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conformando un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grupo interdisciplinar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 competencias para abordar los siguientes tópicos: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2446496"/>
            <a:ext cx="3703320" cy="1874520"/>
          </a:xfrm>
          <a:prstGeom prst="roundRect">
            <a:avLst>
              <a:gd name="adj" fmla="val 4065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1020" y="2602706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507682" y="2602706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2020" y="2621756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Análisis de Mercado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0070" y="30599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1" name="Text 9"/>
          <p:cNvSpPr/>
          <p:nvPr/>
        </p:nvSpPr>
        <p:spPr>
          <a:xfrm>
            <a:off x="807720" y="3021806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Volumen y localización geográfica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0070" y="33647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3" name="Text 11"/>
          <p:cNvSpPr/>
          <p:nvPr/>
        </p:nvSpPr>
        <p:spPr>
          <a:xfrm>
            <a:off x="807720" y="3326606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Precios y competencia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0070" y="36695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5" name="Text 13"/>
          <p:cNvSpPr/>
          <p:nvPr/>
        </p:nvSpPr>
        <p:spPr>
          <a:xfrm>
            <a:off x="807720" y="3631406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Calidad requerida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0070" y="39743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07720" y="3936206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Selección de tecnología apropiada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45531" y="2446496"/>
            <a:ext cx="3703320" cy="1874520"/>
          </a:xfrm>
          <a:prstGeom prst="roundRect">
            <a:avLst>
              <a:gd name="adj" fmla="val 4065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1741" y="2602706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20" name="Text 18"/>
          <p:cNvSpPr/>
          <p:nvPr/>
        </p:nvSpPr>
        <p:spPr>
          <a:xfrm>
            <a:off x="4368403" y="2602706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82741" y="2621756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Logística y Capital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20791" y="30599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3" name="Text 21"/>
          <p:cNvSpPr/>
          <p:nvPr/>
        </p:nvSpPr>
        <p:spPr>
          <a:xfrm>
            <a:off x="4668441" y="3021806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Desarrollo de la logística del proyecto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20791" y="33647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5" name="Text 23"/>
          <p:cNvSpPr/>
          <p:nvPr/>
        </p:nvSpPr>
        <p:spPr>
          <a:xfrm>
            <a:off x="4668441" y="3326606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Estimación de capital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20791" y="36695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7" name="Text 25"/>
          <p:cNvSpPr/>
          <p:nvPr/>
        </p:nvSpPr>
        <p:spPr>
          <a:xfrm>
            <a:off x="4668441" y="3631406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Elementos de costos y distribución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20791" y="39743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9" name="Text 27"/>
          <p:cNvSpPr/>
          <p:nvPr/>
        </p:nvSpPr>
        <p:spPr>
          <a:xfrm>
            <a:off x="4668441" y="3936206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Fletes, mano de obra y servicios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06371" y="2446496"/>
            <a:ext cx="3703320" cy="1874520"/>
          </a:xfrm>
          <a:prstGeom prst="roundRect">
            <a:avLst>
              <a:gd name="adj" fmla="val 4065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62581" y="2602706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243" y="2602706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43581" y="2621756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Evaluación Económica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81631" y="30599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35" name="Text 33"/>
          <p:cNvSpPr/>
          <p:nvPr/>
        </p:nvSpPr>
        <p:spPr>
          <a:xfrm>
            <a:off x="8529281" y="3021806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y selección de localización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81631" y="33647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37" name="Text 35"/>
          <p:cNvSpPr/>
          <p:nvPr/>
        </p:nvSpPr>
        <p:spPr>
          <a:xfrm>
            <a:off x="8529281" y="3326606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Aspectos técnicos de mercado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81631" y="36695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39" name="Text 37"/>
          <p:cNvSpPr/>
          <p:nvPr/>
        </p:nvSpPr>
        <p:spPr>
          <a:xfrm>
            <a:off x="8529281" y="3631406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económica del proyecto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81631" y="39743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41" name="Text 39"/>
          <p:cNvSpPr/>
          <p:nvPr/>
        </p:nvSpPr>
        <p:spPr>
          <a:xfrm>
            <a:off x="8529281" y="3936206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Justificación del proyecto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4810" y="4481037"/>
            <a:ext cx="3703320" cy="1874520"/>
          </a:xfrm>
          <a:prstGeom prst="roundRect">
            <a:avLst>
              <a:gd name="adj" fmla="val 4065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DD6B20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1020" y="463724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44" name="Text 42"/>
          <p:cNvSpPr/>
          <p:nvPr/>
        </p:nvSpPr>
        <p:spPr>
          <a:xfrm>
            <a:off x="507682" y="4637247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22020" y="4656297"/>
            <a:ext cx="230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Organización del Proyecto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60070" y="52468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47" name="Text 45"/>
          <p:cNvSpPr/>
          <p:nvPr/>
        </p:nvSpPr>
        <p:spPr>
          <a:xfrm>
            <a:off x="807720" y="5208747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 de actividades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60070" y="55516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49" name="Text 47"/>
          <p:cNvSpPr/>
          <p:nvPr/>
        </p:nvSpPr>
        <p:spPr>
          <a:xfrm>
            <a:off x="807720" y="5513547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Programas de organización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60070" y="58564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51" name="Text 49"/>
          <p:cNvSpPr/>
          <p:nvPr/>
        </p:nvSpPr>
        <p:spPr>
          <a:xfrm>
            <a:off x="807720" y="5818347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Ejecución del proyecto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245531" y="4481037"/>
            <a:ext cx="3703320" cy="1874520"/>
          </a:xfrm>
          <a:prstGeom prst="roundRect">
            <a:avLst>
              <a:gd name="adj" fmla="val 4065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DD6B20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01741" y="463724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54" name="Text 52"/>
          <p:cNvSpPr/>
          <p:nvPr/>
        </p:nvSpPr>
        <p:spPr>
          <a:xfrm>
            <a:off x="4368403" y="4637247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782741" y="4656297"/>
            <a:ext cx="219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Ingeniería y Construcción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420791" y="50944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57" name="Text 55"/>
          <p:cNvSpPr/>
          <p:nvPr/>
        </p:nvSpPr>
        <p:spPr>
          <a:xfrm>
            <a:off x="4668441" y="5056347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Ingeniería de proceso y detalle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420791" y="53992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59" name="Text 57"/>
          <p:cNvSpPr/>
          <p:nvPr/>
        </p:nvSpPr>
        <p:spPr>
          <a:xfrm>
            <a:off x="4668441" y="5361147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Compra de equipo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420791" y="57040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61" name="Text 59"/>
          <p:cNvSpPr/>
          <p:nvPr/>
        </p:nvSpPr>
        <p:spPr>
          <a:xfrm>
            <a:off x="4668441" y="5665947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Construcción e instalación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420791" y="60088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63" name="Text 61"/>
          <p:cNvSpPr/>
          <p:nvPr/>
        </p:nvSpPr>
        <p:spPr>
          <a:xfrm>
            <a:off x="4668441" y="5970747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Pruebas mecánicas y arranque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106371" y="4481037"/>
            <a:ext cx="3703320" cy="1874520"/>
          </a:xfrm>
          <a:prstGeom prst="roundRect">
            <a:avLst>
              <a:gd name="adj" fmla="val 4065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DD6B20">
                <a:alpha val="30196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62581" y="463724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66" name="Text 64"/>
          <p:cNvSpPr/>
          <p:nvPr/>
        </p:nvSpPr>
        <p:spPr>
          <a:xfrm>
            <a:off x="8229243" y="4637247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643581" y="4656297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Mejoramiento Continuo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81631" y="53992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69" name="Text 67"/>
          <p:cNvSpPr/>
          <p:nvPr/>
        </p:nvSpPr>
        <p:spPr>
          <a:xfrm>
            <a:off x="8529281" y="5361147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Planeación de actividades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81631" y="57040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71" name="Text 69"/>
          <p:cNvSpPr/>
          <p:nvPr/>
        </p:nvSpPr>
        <p:spPr>
          <a:xfrm>
            <a:off x="8529281" y="5665947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Filosofía de mejoramiento continuo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kontur.io/57a3dd6b2441ef8ab15d4a726e07849963489abc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941" b="294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202C">
                  <a:alpha val="98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2266950"/>
            <a:ext cx="1771650" cy="419100"/>
          </a:xfrm>
          <a:prstGeom prst="roundRect">
            <a:avLst>
              <a:gd name="adj" fmla="val 18182"/>
            </a:avLst>
          </a:prstGeom>
          <a:solidFill>
            <a:srgbClr val="DD6B20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34315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CAPÍTULO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914650"/>
            <a:ext cx="88201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Macro y Micro-localización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857625"/>
            <a:ext cx="1524000" cy="57150"/>
          </a:xfrm>
          <a:prstGeom prst="roundRect">
            <a:avLst>
              <a:gd name="adj" fmla="val 0"/>
            </a:avLst>
          </a:prstGeom>
          <a:solidFill>
            <a:srgbClr val="DD6B2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219575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Dos niveles de análisis para la selección óptima de ubicación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NIVELES DE ANÁLISIS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Macro-localización vs Micro-localización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620" y="1264920"/>
            <a:ext cx="5587365" cy="3129915"/>
          </a:xfrm>
          <a:prstGeom prst="roundRect">
            <a:avLst>
              <a:gd name="adj" fmla="val 3652"/>
            </a:avLst>
          </a:prstGeom>
          <a:solidFill>
            <a:srgbClr val="2B6CB0">
              <a:alpha val="14902"/>
            </a:srgbClr>
          </a:solidFill>
          <a:ln w="20320">
            <a:solidFill>
              <a:srgbClr val="2B6C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4840" y="1501141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2B6CB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535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1431"/>
                </a:moveTo>
                <a:cubicBezTo>
                  <a:pt x="228600" y="16475"/>
                  <a:pt x="226055" y="11876"/>
                  <a:pt x="221813" y="9287"/>
                </a:cubicBezTo>
                <a:cubicBezTo>
                  <a:pt x="217572" y="6697"/>
                  <a:pt x="212348" y="6429"/>
                  <a:pt x="207928" y="8662"/>
                </a:cubicBezTo>
                <a:lnTo>
                  <a:pt x="156046" y="34603"/>
                </a:lnTo>
                <a:lnTo>
                  <a:pt x="75947" y="7858"/>
                </a:lnTo>
                <a:cubicBezTo>
                  <a:pt x="72330" y="6653"/>
                  <a:pt x="68446" y="6921"/>
                  <a:pt x="65053" y="8617"/>
                </a:cubicBezTo>
                <a:lnTo>
                  <a:pt x="7903" y="37192"/>
                </a:lnTo>
                <a:cubicBezTo>
                  <a:pt x="3036" y="39648"/>
                  <a:pt x="0" y="44604"/>
                  <a:pt x="0" y="50006"/>
                </a:cubicBezTo>
                <a:lnTo>
                  <a:pt x="0" y="207169"/>
                </a:lnTo>
                <a:cubicBezTo>
                  <a:pt x="0" y="212125"/>
                  <a:pt x="2545" y="216724"/>
                  <a:pt x="6787" y="219313"/>
                </a:cubicBezTo>
                <a:cubicBezTo>
                  <a:pt x="11028" y="221903"/>
                  <a:pt x="16252" y="222171"/>
                  <a:pt x="20672" y="219938"/>
                </a:cubicBezTo>
                <a:lnTo>
                  <a:pt x="72509" y="193997"/>
                </a:lnTo>
                <a:lnTo>
                  <a:pt x="152608" y="220697"/>
                </a:lnTo>
                <a:cubicBezTo>
                  <a:pt x="156225" y="221903"/>
                  <a:pt x="160109" y="221635"/>
                  <a:pt x="163503" y="219938"/>
                </a:cubicBezTo>
                <a:lnTo>
                  <a:pt x="220653" y="191363"/>
                </a:lnTo>
                <a:cubicBezTo>
                  <a:pt x="225475" y="188952"/>
                  <a:pt x="228555" y="183996"/>
                  <a:pt x="228555" y="178594"/>
                </a:cubicBezTo>
                <a:lnTo>
                  <a:pt x="228555" y="21431"/>
                </a:lnTo>
                <a:close/>
                <a:moveTo>
                  <a:pt x="85725" y="168280"/>
                </a:moveTo>
                <a:lnTo>
                  <a:pt x="85725" y="41255"/>
                </a:lnTo>
                <a:lnTo>
                  <a:pt x="142875" y="60320"/>
                </a:lnTo>
                <a:lnTo>
                  <a:pt x="142875" y="187345"/>
                </a:lnTo>
                <a:lnTo>
                  <a:pt x="85725" y="1682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72540" y="1596391"/>
            <a:ext cx="2809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Macro-localización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4840" y="2225041"/>
            <a:ext cx="52006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 la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selección de la región o zona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más adecuada, evaluando las regiones que preliminarmente presenten ciertos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atractivos para la industria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que se trate.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4840" y="3627239"/>
            <a:ext cx="5114925" cy="533400"/>
          </a:xfrm>
          <a:prstGeom prst="roundRect">
            <a:avLst>
              <a:gd name="adj" fmla="val 14286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96290" y="381773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1024890" y="3779639"/>
            <a:ext cx="463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Enfoque en </a:t>
            </a: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regiones geográficas amplias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264920"/>
            <a:ext cx="5587365" cy="3129915"/>
          </a:xfrm>
          <a:prstGeom prst="roundRect">
            <a:avLst>
              <a:gd name="adj" fmla="val 3652"/>
            </a:avLst>
          </a:prstGeom>
          <a:solidFill>
            <a:srgbClr val="DD6B20">
              <a:alpha val="14902"/>
            </a:srgbClr>
          </a:solidFill>
          <a:ln w="20320">
            <a:solidFill>
              <a:srgbClr val="DD6B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54140" y="1501141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DD6B20"/>
          </a:solidFill>
          <a:ln/>
        </p:spPr>
      </p:sp>
      <p:sp>
        <p:nvSpPr>
          <p:cNvPr id="14" name="Shape 12"/>
          <p:cNvSpPr/>
          <p:nvPr/>
        </p:nvSpPr>
        <p:spPr>
          <a:xfrm>
            <a:off x="6649403" y="1653541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85725" y="126980"/>
                </a:moveTo>
                <a:cubicBezTo>
                  <a:pt x="114345" y="120506"/>
                  <a:pt x="135731" y="94878"/>
                  <a:pt x="135731" y="64294"/>
                </a:cubicBezTo>
                <a:cubicBezTo>
                  <a:pt x="135731" y="28798"/>
                  <a:pt x="106933" y="0"/>
                  <a:pt x="71438" y="0"/>
                </a:cubicBezTo>
                <a:cubicBezTo>
                  <a:pt x="35942" y="0"/>
                  <a:pt x="7144" y="28798"/>
                  <a:pt x="7144" y="64294"/>
                </a:cubicBezTo>
                <a:cubicBezTo>
                  <a:pt x="7144" y="94878"/>
                  <a:pt x="28530" y="120506"/>
                  <a:pt x="57150" y="126980"/>
                </a:cubicBezTo>
                <a:lnTo>
                  <a:pt x="57150" y="214313"/>
                </a:lnTo>
                <a:cubicBezTo>
                  <a:pt x="57150" y="222215"/>
                  <a:pt x="63535" y="228600"/>
                  <a:pt x="71438" y="228600"/>
                </a:cubicBezTo>
                <a:cubicBezTo>
                  <a:pt x="79340" y="228600"/>
                  <a:pt x="85725" y="222215"/>
                  <a:pt x="85725" y="214313"/>
                </a:cubicBezTo>
                <a:lnTo>
                  <a:pt x="85725" y="126980"/>
                </a:lnTo>
                <a:close/>
                <a:moveTo>
                  <a:pt x="75009" y="42863"/>
                </a:moveTo>
                <a:cubicBezTo>
                  <a:pt x="61213" y="42863"/>
                  <a:pt x="50006" y="54069"/>
                  <a:pt x="50006" y="67866"/>
                </a:cubicBezTo>
                <a:cubicBezTo>
                  <a:pt x="50006" y="73804"/>
                  <a:pt x="45229" y="78581"/>
                  <a:pt x="39291" y="78581"/>
                </a:cubicBezTo>
                <a:cubicBezTo>
                  <a:pt x="33352" y="78581"/>
                  <a:pt x="28575" y="73804"/>
                  <a:pt x="28575" y="67866"/>
                </a:cubicBezTo>
                <a:cubicBezTo>
                  <a:pt x="28575" y="42237"/>
                  <a:pt x="49381" y="21431"/>
                  <a:pt x="75009" y="21431"/>
                </a:cubicBezTo>
                <a:cubicBezTo>
                  <a:pt x="80948" y="21431"/>
                  <a:pt x="85725" y="26209"/>
                  <a:pt x="85725" y="32147"/>
                </a:cubicBezTo>
                <a:cubicBezTo>
                  <a:pt x="85725" y="38085"/>
                  <a:pt x="80948" y="42863"/>
                  <a:pt x="75009" y="428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101840" y="1596391"/>
            <a:ext cx="2714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Micro-localización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4140" y="2225041"/>
            <a:ext cx="52006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 la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selección específica del sitio o terreno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que se encuentra en la región que ha sido evaluada como la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más conveniente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54140" y="3627239"/>
            <a:ext cx="5114925" cy="533400"/>
          </a:xfrm>
          <a:prstGeom prst="roundRect">
            <a:avLst>
              <a:gd name="adj" fmla="val 14286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25590" y="381773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4190" y="3779639"/>
            <a:ext cx="463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Enfoque en </a:t>
            </a: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terrenos específicos dentro de la región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810" y="4598790"/>
            <a:ext cx="11418570" cy="1874520"/>
          </a:xfrm>
          <a:prstGeom prst="roundRect">
            <a:avLst>
              <a:gd name="adj" fmla="val 6098"/>
            </a:avLst>
          </a:prstGeom>
          <a:solidFill>
            <a:srgbClr val="2B6CB0">
              <a:alpha val="10196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7695" y="48310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2" name="Text 20"/>
          <p:cNvSpPr/>
          <p:nvPr/>
        </p:nvSpPr>
        <p:spPr>
          <a:xfrm>
            <a:off x="864870" y="4793098"/>
            <a:ext cx="1085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Fases del Procedimiento de Análisis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9120" y="5250182"/>
            <a:ext cx="2647950" cy="1028700"/>
          </a:xfrm>
          <a:prstGeom prst="roundRect">
            <a:avLst>
              <a:gd name="adj" fmla="val 7407"/>
            </a:avLst>
          </a:prstGeom>
          <a:solidFill>
            <a:srgbClr val="1A202C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10690" y="540258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25" name="Text 23"/>
          <p:cNvSpPr/>
          <p:nvPr/>
        </p:nvSpPr>
        <p:spPr>
          <a:xfrm>
            <a:off x="1667828" y="5402582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8658" y="5859782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Preliminar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375660" y="5250182"/>
            <a:ext cx="2647950" cy="1028700"/>
          </a:xfrm>
          <a:prstGeom prst="roundRect">
            <a:avLst>
              <a:gd name="adj" fmla="val 7407"/>
            </a:avLst>
          </a:prstGeom>
          <a:solidFill>
            <a:srgbClr val="1A202C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507230" y="540258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29" name="Text 27"/>
          <p:cNvSpPr/>
          <p:nvPr/>
        </p:nvSpPr>
        <p:spPr>
          <a:xfrm>
            <a:off x="4464368" y="5402582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485197" y="5859782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Búsqueda de Alternativas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2200" y="5250182"/>
            <a:ext cx="2647950" cy="1028700"/>
          </a:xfrm>
          <a:prstGeom prst="roundRect">
            <a:avLst>
              <a:gd name="adj" fmla="val 7407"/>
            </a:avLst>
          </a:prstGeom>
          <a:solidFill>
            <a:srgbClr val="1A202C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303770" y="540258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33" name="Text 31"/>
          <p:cNvSpPr/>
          <p:nvPr/>
        </p:nvSpPr>
        <p:spPr>
          <a:xfrm>
            <a:off x="7260907" y="5402582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81738" y="5859782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de Alternativas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968740" y="5250182"/>
            <a:ext cx="2647950" cy="1028700"/>
          </a:xfrm>
          <a:prstGeom prst="roundRect">
            <a:avLst>
              <a:gd name="adj" fmla="val 7407"/>
            </a:avLst>
          </a:prstGeom>
          <a:solidFill>
            <a:srgbClr val="1A202C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100310" y="540258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37" name="Text 35"/>
          <p:cNvSpPr/>
          <p:nvPr/>
        </p:nvSpPr>
        <p:spPr>
          <a:xfrm>
            <a:off x="10057448" y="5402582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078278" y="5859782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Selección de Localización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signmenttask.com/3562c3a54470fc367ef66657ddce85b9aedf74e9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460" b="46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202C">
                  <a:alpha val="98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2081212"/>
            <a:ext cx="1771650" cy="419100"/>
          </a:xfrm>
          <a:prstGeom prst="roundRect">
            <a:avLst>
              <a:gd name="adj" fmla="val 18182"/>
            </a:avLst>
          </a:prstGeom>
          <a:solidFill>
            <a:srgbClr val="DD6B20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157413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CAPÍTULO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28913"/>
            <a:ext cx="88201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Factores de Localización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671888"/>
            <a:ext cx="1524000" cy="57150"/>
          </a:xfrm>
          <a:prstGeom prst="roundRect">
            <a:avLst>
              <a:gd name="adj" fmla="val 0"/>
            </a:avLst>
          </a:prstGeom>
          <a:solidFill>
            <a:srgbClr val="DD6B2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033837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y subfactores trascendentales para la determinación óptima de ubicación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DE ALTERNATIVAS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Factores en Estudios de Localización de Plantas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766888"/>
            <a:ext cx="11418570" cy="950595"/>
          </a:xfrm>
          <a:prstGeom prst="roundRect">
            <a:avLst>
              <a:gd name="adj" fmla="val 12024"/>
            </a:avLst>
          </a:prstGeom>
          <a:solidFill>
            <a:srgbClr val="2B6CB0">
              <a:alpha val="14902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9120" y="1961197"/>
            <a:ext cx="111156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el proceso de evaluación de alternativas de localización, sin importar el método de selección que se utilice, existen una serie de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y subfactores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que comúnmente son considerados como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trascendentales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la determinación óptima de la ubicación macro o micro.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2872742"/>
            <a:ext cx="5608320" cy="1950720"/>
          </a:xfrm>
          <a:prstGeom prst="roundRect">
            <a:avLst>
              <a:gd name="adj" fmla="val 3906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2932" y="3105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817245" y="306705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Carácter de la Lista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6270" y="35242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0" name="Text 8"/>
          <p:cNvSpPr/>
          <p:nvPr/>
        </p:nvSpPr>
        <p:spPr>
          <a:xfrm>
            <a:off x="845820" y="3486150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lista es de carácter </a:t>
            </a:r>
            <a:r>
              <a:rPr lang="en-US" sz="120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enunciativo y no limitativa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6270" y="38671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" y="3829050"/>
            <a:ext cx="427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Podrán considerarse </a:t>
            </a:r>
            <a:r>
              <a:rPr lang="en-US" sz="120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otros factores</a:t>
            </a: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según el caso específico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6270" y="42100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" y="417195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Podrán </a:t>
            </a:r>
            <a:r>
              <a:rPr lang="en-US" sz="120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excluirse algunos factores</a:t>
            </a: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listados según el criterio del evaluador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5060" y="2872742"/>
            <a:ext cx="5608320" cy="1950720"/>
          </a:xfrm>
          <a:prstGeom prst="roundRect">
            <a:avLst>
              <a:gd name="adj" fmla="val 3906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DD6B20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13182" y="3105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5321" y="23812"/>
                  <a:pt x="0" y="29133"/>
                  <a:pt x="0" y="35719"/>
                </a:cubicBezTo>
                <a:cubicBezTo>
                  <a:pt x="0" y="42304"/>
                  <a:pt x="5321" y="47625"/>
                  <a:pt x="11906" y="47625"/>
                </a:cubicBezTo>
                <a:lnTo>
                  <a:pt x="44165" y="47625"/>
                </a:lnTo>
                <a:cubicBezTo>
                  <a:pt x="48741" y="58155"/>
                  <a:pt x="59234" y="65484"/>
                  <a:pt x="71438" y="65484"/>
                </a:cubicBezTo>
                <a:cubicBezTo>
                  <a:pt x="83641" y="65484"/>
                  <a:pt x="94134" y="58155"/>
                  <a:pt x="98710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98710" y="23812"/>
                </a:lnTo>
                <a:cubicBezTo>
                  <a:pt x="94134" y="13283"/>
                  <a:pt x="83641" y="5953"/>
                  <a:pt x="71438" y="5953"/>
                </a:cubicBezTo>
                <a:cubicBezTo>
                  <a:pt x="59234" y="5953"/>
                  <a:pt x="48741" y="13283"/>
                  <a:pt x="44165" y="23812"/>
                </a:cubicBezTo>
                <a:lnTo>
                  <a:pt x="11906" y="23812"/>
                </a:lnTo>
                <a:close/>
                <a:moveTo>
                  <a:pt x="11906" y="83344"/>
                </a:move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03696" y="107156"/>
                </a:lnTo>
                <a:cubicBezTo>
                  <a:pt x="108272" y="117686"/>
                  <a:pt x="118765" y="125016"/>
                  <a:pt x="130969" y="125016"/>
                </a:cubicBezTo>
                <a:cubicBezTo>
                  <a:pt x="143173" y="125016"/>
                  <a:pt x="153665" y="117686"/>
                  <a:pt x="158242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158242" y="83344"/>
                </a:lnTo>
                <a:cubicBezTo>
                  <a:pt x="153665" y="72814"/>
                  <a:pt x="143173" y="65484"/>
                  <a:pt x="130969" y="65484"/>
                </a:cubicBezTo>
                <a:cubicBezTo>
                  <a:pt x="118765" y="65484"/>
                  <a:pt x="108272" y="72814"/>
                  <a:pt x="103696" y="83344"/>
                </a:cubicBezTo>
                <a:lnTo>
                  <a:pt x="11906" y="83344"/>
                </a:lnTo>
                <a:close/>
                <a:moveTo>
                  <a:pt x="11906" y="142875"/>
                </a:moveTo>
                <a:cubicBezTo>
                  <a:pt x="5321" y="142875"/>
                  <a:pt x="0" y="148196"/>
                  <a:pt x="0" y="154781"/>
                </a:cubicBezTo>
                <a:cubicBezTo>
                  <a:pt x="0" y="161367"/>
                  <a:pt x="5321" y="166688"/>
                  <a:pt x="11906" y="166688"/>
                </a:cubicBezTo>
                <a:lnTo>
                  <a:pt x="32258" y="166688"/>
                </a:lnTo>
                <a:cubicBezTo>
                  <a:pt x="36835" y="177217"/>
                  <a:pt x="47327" y="184547"/>
                  <a:pt x="59531" y="184547"/>
                </a:cubicBezTo>
                <a:cubicBezTo>
                  <a:pt x="71735" y="184547"/>
                  <a:pt x="82228" y="177217"/>
                  <a:pt x="86804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86804" y="142875"/>
                </a:lnTo>
                <a:cubicBezTo>
                  <a:pt x="82228" y="132345"/>
                  <a:pt x="71735" y="125016"/>
                  <a:pt x="59531" y="125016"/>
                </a:cubicBezTo>
                <a:cubicBezTo>
                  <a:pt x="47327" y="125016"/>
                  <a:pt x="36835" y="132345"/>
                  <a:pt x="32258" y="142875"/>
                </a:cubicBezTo>
                <a:lnTo>
                  <a:pt x="11906" y="142875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7" name="Text 15"/>
          <p:cNvSpPr/>
          <p:nvPr/>
        </p:nvSpPr>
        <p:spPr>
          <a:xfrm>
            <a:off x="6627495" y="306705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Flexibilidad del Método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6520" y="35242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9" name="Text 17"/>
          <p:cNvSpPr/>
          <p:nvPr/>
        </p:nvSpPr>
        <p:spPr>
          <a:xfrm>
            <a:off x="6656070" y="348615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Depende del </a:t>
            </a:r>
            <a:r>
              <a:rPr lang="en-US" sz="120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caso específico</a:t>
            </a: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cada proyecto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46520" y="38671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1" name="Text 19"/>
          <p:cNvSpPr/>
          <p:nvPr/>
        </p:nvSpPr>
        <p:spPr>
          <a:xfrm>
            <a:off x="6656070" y="3829050"/>
            <a:ext cx="3667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Depende del </a:t>
            </a:r>
            <a:r>
              <a:rPr lang="en-US" sz="120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criterio del evaluador</a:t>
            </a: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su experiencia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46520" y="42100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070" y="4171950"/>
            <a:ext cx="3714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Aplicable tanto para </a:t>
            </a:r>
            <a:r>
              <a:rPr lang="en-US" sz="120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macro como micro-localización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4810" y="4983483"/>
            <a:ext cx="11418570" cy="950595"/>
          </a:xfrm>
          <a:prstGeom prst="roundRect">
            <a:avLst>
              <a:gd name="adj" fmla="val 12024"/>
            </a:avLst>
          </a:prstGeom>
          <a:solidFill>
            <a:srgbClr val="DD6B20">
              <a:alpha val="20000"/>
            </a:srgbClr>
          </a:solidFill>
          <a:ln w="10160">
            <a:solidFill>
              <a:srgbClr val="DD6B20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091" y="521589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6" name="Text 24"/>
          <p:cNvSpPr/>
          <p:nvPr/>
        </p:nvSpPr>
        <p:spPr>
          <a:xfrm>
            <a:off x="831532" y="5177791"/>
            <a:ext cx="108204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selección de factores debe adaptarse a las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 específicas</a:t>
            </a:r>
            <a:r>
              <a:rPr lang="en-US" sz="13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la industria, el mercado objetivo y las condiciones locales de cada alternativa evaluada.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apme.com/3fb711458267479b6b0c7eb25ba981921d28a16a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10523" b="1052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202C">
                  <a:alpha val="98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724025"/>
            <a:ext cx="1771650" cy="419100"/>
          </a:xfrm>
          <a:prstGeom prst="roundRect">
            <a:avLst>
              <a:gd name="adj" fmla="val 18182"/>
            </a:avLst>
          </a:prstGeom>
          <a:solidFill>
            <a:srgbClr val="DD6B20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800225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CAPÍTULO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71725"/>
            <a:ext cx="100393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Método Sinérgico de Brown y Gibson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029075"/>
            <a:ext cx="1524000" cy="57150"/>
          </a:xfrm>
          <a:prstGeom prst="roundRect">
            <a:avLst>
              <a:gd name="adj" fmla="val 0"/>
            </a:avLst>
          </a:prstGeom>
          <a:solidFill>
            <a:srgbClr val="DD6B2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39102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 cuantitativo para evaluar y seleccionar la mejor opción de localización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 CUANTITATIVO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Fundamentos del Método Sinérgico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11418570" cy="950595"/>
          </a:xfrm>
          <a:prstGeom prst="roundRect">
            <a:avLst>
              <a:gd name="adj" fmla="val 12024"/>
            </a:avLst>
          </a:prstGeom>
          <a:solidFill>
            <a:srgbClr val="2B6CB0">
              <a:alpha val="14902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9120" y="1417323"/>
            <a:ext cx="111156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Método Sinérgico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Método de Gibson y Brown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es un algoritmo cuantitativo de localización de plantas que tiene como objetivo evaluar entre diversas opciones, qué sitio ofrece las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mejores condiciones para instalar una planta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basándose en tres tipos de factores.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8620" y="2332673"/>
            <a:ext cx="3663315" cy="3596640"/>
          </a:xfrm>
          <a:prstGeom prst="roundRect">
            <a:avLst>
              <a:gd name="adj" fmla="val 3178"/>
            </a:avLst>
          </a:prstGeom>
          <a:solidFill>
            <a:srgbClr val="1A202C">
              <a:alpha val="60000"/>
            </a:srgbClr>
          </a:solidFill>
          <a:ln w="20320">
            <a:solidFill>
              <a:srgbClr val="2B6C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6740" y="2530794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/>
        </p:spPr>
      </p:sp>
      <p:sp>
        <p:nvSpPr>
          <p:cNvPr id="8" name="Shape 6"/>
          <p:cNvSpPr/>
          <p:nvPr/>
        </p:nvSpPr>
        <p:spPr>
          <a:xfrm>
            <a:off x="720090" y="266414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58240" y="2626044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Factores Críticos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6740" y="3140394"/>
            <a:ext cx="3343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claves para el funcionamiento. Su calificación es </a:t>
            </a:r>
            <a:r>
              <a:rPr lang="en-US" sz="120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binaria (1 o 0)</a:t>
            </a: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5315" y="378809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2" name="Text 10"/>
          <p:cNvSpPr/>
          <p:nvPr/>
        </p:nvSpPr>
        <p:spPr>
          <a:xfrm>
            <a:off x="853440" y="3749994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Energía eléctrica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6265" y="409289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4775" y="78581"/>
                </a:moveTo>
                <a:lnTo>
                  <a:pt x="104775" y="19050"/>
                </a:lnTo>
                <a:cubicBezTo>
                  <a:pt x="104775" y="13781"/>
                  <a:pt x="100519" y="9525"/>
                  <a:pt x="95250" y="9525"/>
                </a:cubicBezTo>
                <a:lnTo>
                  <a:pt x="76200" y="9525"/>
                </a:lnTo>
                <a:cubicBezTo>
                  <a:pt x="70931" y="9525"/>
                  <a:pt x="66675" y="13781"/>
                  <a:pt x="66675" y="19050"/>
                </a:cubicBezTo>
                <a:lnTo>
                  <a:pt x="66675" y="78581"/>
                </a:lnTo>
                <a:cubicBezTo>
                  <a:pt x="66675" y="82540"/>
                  <a:pt x="63490" y="85725"/>
                  <a:pt x="59531" y="85725"/>
                </a:cubicBezTo>
                <a:cubicBezTo>
                  <a:pt x="55572" y="85725"/>
                  <a:pt x="52388" y="82540"/>
                  <a:pt x="52388" y="78581"/>
                </a:cubicBezTo>
                <a:lnTo>
                  <a:pt x="52388" y="23247"/>
                </a:lnTo>
                <a:cubicBezTo>
                  <a:pt x="26789" y="32683"/>
                  <a:pt x="9525" y="57090"/>
                  <a:pt x="9525" y="85725"/>
                </a:cubicBezTo>
                <a:lnTo>
                  <a:pt x="9525" y="104775"/>
                </a:lnTo>
                <a:lnTo>
                  <a:pt x="161925" y="104775"/>
                </a:lnTo>
                <a:lnTo>
                  <a:pt x="161925" y="85725"/>
                </a:lnTo>
                <a:cubicBezTo>
                  <a:pt x="161627" y="57388"/>
                  <a:pt x="144542" y="32831"/>
                  <a:pt x="119062" y="23277"/>
                </a:cubicBezTo>
                <a:lnTo>
                  <a:pt x="119062" y="78581"/>
                </a:lnTo>
                <a:cubicBezTo>
                  <a:pt x="119062" y="82540"/>
                  <a:pt x="115878" y="85725"/>
                  <a:pt x="111919" y="85725"/>
                </a:cubicBezTo>
                <a:cubicBezTo>
                  <a:pt x="107960" y="85725"/>
                  <a:pt x="104775" y="82540"/>
                  <a:pt x="104775" y="78581"/>
                </a:cubicBezTo>
                <a:close/>
                <a:moveTo>
                  <a:pt x="11906" y="119062"/>
                </a:moveTo>
                <a:cubicBezTo>
                  <a:pt x="5328" y="119062"/>
                  <a:pt x="0" y="124391"/>
                  <a:pt x="0" y="130969"/>
                </a:cubicBezTo>
                <a:cubicBezTo>
                  <a:pt x="0" y="137547"/>
                  <a:pt x="5328" y="142875"/>
                  <a:pt x="11906" y="142875"/>
                </a:cubicBezTo>
                <a:lnTo>
                  <a:pt x="159544" y="142875"/>
                </a:lnTo>
                <a:cubicBezTo>
                  <a:pt x="166122" y="142875"/>
                  <a:pt x="171450" y="137547"/>
                  <a:pt x="171450" y="130969"/>
                </a:cubicBezTo>
                <a:cubicBezTo>
                  <a:pt x="171450" y="124391"/>
                  <a:pt x="166122" y="119062"/>
                  <a:pt x="159544" y="119062"/>
                </a:cubicBezTo>
                <a:lnTo>
                  <a:pt x="11906" y="119062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53440" y="4054794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Mano de obra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5790" y="439769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lnTo>
                  <a:pt x="66675" y="19050"/>
                </a:lnTo>
                <a:cubicBezTo>
                  <a:pt x="66675" y="21669"/>
                  <a:pt x="68818" y="23813"/>
                  <a:pt x="71438" y="23813"/>
                </a:cubicBezTo>
                <a:lnTo>
                  <a:pt x="80962" y="23813"/>
                </a:lnTo>
                <a:cubicBezTo>
                  <a:pt x="83582" y="23813"/>
                  <a:pt x="85725" y="21669"/>
                  <a:pt x="85725" y="19050"/>
                </a:cubicBezTo>
                <a:lnTo>
                  <a:pt x="85725" y="0"/>
                </a:lnTo>
                <a:lnTo>
                  <a:pt x="95250" y="0"/>
                </a:lnTo>
                <a:cubicBezTo>
                  <a:pt x="105757" y="0"/>
                  <a:pt x="114300" y="8543"/>
                  <a:pt x="114300" y="19050"/>
                </a:cubicBezTo>
                <a:lnTo>
                  <a:pt x="114300" y="57150"/>
                </a:lnTo>
                <a:cubicBezTo>
                  <a:pt x="114300" y="58787"/>
                  <a:pt x="114092" y="60394"/>
                  <a:pt x="113705" y="61912"/>
                </a:cubicBezTo>
                <a:lnTo>
                  <a:pt x="38695" y="61912"/>
                </a:lnTo>
                <a:cubicBezTo>
                  <a:pt x="38308" y="60394"/>
                  <a:pt x="38100" y="58787"/>
                  <a:pt x="38100" y="57150"/>
                </a:cubicBezTo>
                <a:lnTo>
                  <a:pt x="38100" y="19050"/>
                </a:lnTo>
                <a:cubicBezTo>
                  <a:pt x="38100" y="8543"/>
                  <a:pt x="46643" y="0"/>
                  <a:pt x="57150" y="0"/>
                </a:cubicBezTo>
                <a:lnTo>
                  <a:pt x="66675" y="0"/>
                </a:lnTo>
                <a:close/>
                <a:moveTo>
                  <a:pt x="95250" y="152400"/>
                </a:moveTo>
                <a:cubicBezTo>
                  <a:pt x="91916" y="152400"/>
                  <a:pt x="88761" y="151537"/>
                  <a:pt x="86023" y="150019"/>
                </a:cubicBezTo>
                <a:cubicBezTo>
                  <a:pt x="88850" y="145107"/>
                  <a:pt x="90488" y="139422"/>
                  <a:pt x="90488" y="133350"/>
                </a:cubicBezTo>
                <a:lnTo>
                  <a:pt x="90488" y="95250"/>
                </a:lnTo>
                <a:cubicBezTo>
                  <a:pt x="90488" y="89178"/>
                  <a:pt x="88850" y="83493"/>
                  <a:pt x="86023" y="78581"/>
                </a:cubicBezTo>
                <a:cubicBezTo>
                  <a:pt x="88761" y="77063"/>
                  <a:pt x="91886" y="76200"/>
                  <a:pt x="95250" y="76200"/>
                </a:cubicBezTo>
                <a:lnTo>
                  <a:pt x="104775" y="76200"/>
                </a:lnTo>
                <a:lnTo>
                  <a:pt x="104775" y="95250"/>
                </a:lnTo>
                <a:cubicBezTo>
                  <a:pt x="104775" y="97869"/>
                  <a:pt x="106918" y="100013"/>
                  <a:pt x="109537" y="100013"/>
                </a:cubicBezTo>
                <a:lnTo>
                  <a:pt x="119062" y="100013"/>
                </a:lnTo>
                <a:cubicBezTo>
                  <a:pt x="121682" y="100013"/>
                  <a:pt x="123825" y="97869"/>
                  <a:pt x="123825" y="95250"/>
                </a:cubicBezTo>
                <a:lnTo>
                  <a:pt x="123825" y="76200"/>
                </a:lnTo>
                <a:lnTo>
                  <a:pt x="133350" y="76200"/>
                </a:lnTo>
                <a:cubicBezTo>
                  <a:pt x="143857" y="76200"/>
                  <a:pt x="152400" y="84743"/>
                  <a:pt x="152400" y="95250"/>
                </a:cubicBezTo>
                <a:lnTo>
                  <a:pt x="152400" y="133350"/>
                </a:lnTo>
                <a:cubicBezTo>
                  <a:pt x="152400" y="143857"/>
                  <a:pt x="143857" y="152400"/>
                  <a:pt x="133350" y="152400"/>
                </a:cubicBezTo>
                <a:lnTo>
                  <a:pt x="95250" y="152400"/>
                </a:lnTo>
                <a:close/>
                <a:moveTo>
                  <a:pt x="0" y="95250"/>
                </a:moveTo>
                <a:cubicBezTo>
                  <a:pt x="0" y="84743"/>
                  <a:pt x="8543" y="76200"/>
                  <a:pt x="19050" y="76200"/>
                </a:cubicBezTo>
                <a:lnTo>
                  <a:pt x="28575" y="76200"/>
                </a:lnTo>
                <a:lnTo>
                  <a:pt x="28575" y="95250"/>
                </a:lnTo>
                <a:cubicBezTo>
                  <a:pt x="28575" y="97869"/>
                  <a:pt x="30718" y="100013"/>
                  <a:pt x="33338" y="100013"/>
                </a:cubicBezTo>
                <a:lnTo>
                  <a:pt x="42863" y="100013"/>
                </a:lnTo>
                <a:cubicBezTo>
                  <a:pt x="45482" y="100013"/>
                  <a:pt x="47625" y="97869"/>
                  <a:pt x="47625" y="95250"/>
                </a:cubicBezTo>
                <a:lnTo>
                  <a:pt x="47625" y="76200"/>
                </a:lnTo>
                <a:lnTo>
                  <a:pt x="57150" y="76200"/>
                </a:lnTo>
                <a:cubicBezTo>
                  <a:pt x="67657" y="76200"/>
                  <a:pt x="76200" y="84743"/>
                  <a:pt x="76200" y="95250"/>
                </a:cubicBezTo>
                <a:lnTo>
                  <a:pt x="76200" y="133350"/>
                </a:lnTo>
                <a:cubicBezTo>
                  <a:pt x="76200" y="143857"/>
                  <a:pt x="67657" y="152400"/>
                  <a:pt x="571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95250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6" name="Text 14"/>
          <p:cNvSpPr/>
          <p:nvPr/>
        </p:nvSpPr>
        <p:spPr>
          <a:xfrm>
            <a:off x="853440" y="4359594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Materia prima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5790" y="470249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8" name="Text 16"/>
          <p:cNvSpPr/>
          <p:nvPr/>
        </p:nvSpPr>
        <p:spPr>
          <a:xfrm>
            <a:off x="853440" y="4664394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6740" y="5045394"/>
            <a:ext cx="3267075" cy="685800"/>
          </a:xfrm>
          <a:prstGeom prst="roundRect">
            <a:avLst>
              <a:gd name="adj" fmla="val 11111"/>
            </a:avLst>
          </a:prstGeom>
          <a:solidFill>
            <a:srgbClr val="2B6CB0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" y="5159694"/>
            <a:ext cx="3114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FC = Energía × Mano de Obra × Materia Prima × Seguridad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62080" y="2332673"/>
            <a:ext cx="3663315" cy="3596640"/>
          </a:xfrm>
          <a:prstGeom prst="roundRect">
            <a:avLst>
              <a:gd name="adj" fmla="val 3178"/>
            </a:avLst>
          </a:prstGeom>
          <a:solidFill>
            <a:srgbClr val="1A202C">
              <a:alpha val="60000"/>
            </a:srgbClr>
          </a:solidFill>
          <a:ln w="20320">
            <a:solidFill>
              <a:srgbClr val="DD6B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60200" y="2530794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DD6B20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7363" y="266414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031700" y="2626044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Factores Objetivos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60200" y="3140394"/>
            <a:ext cx="3343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Costos mensuales o anuales más importantes al establecer una industria.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07825" y="4016694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0481" y="7144"/>
                </a:moveTo>
                <a:cubicBezTo>
                  <a:pt x="40481" y="3185"/>
                  <a:pt x="43666" y="0"/>
                  <a:pt x="47625" y="0"/>
                </a:cubicBezTo>
                <a:cubicBezTo>
                  <a:pt x="51584" y="0"/>
                  <a:pt x="54769" y="3185"/>
                  <a:pt x="54769" y="7144"/>
                </a:cubicBezTo>
                <a:lnTo>
                  <a:pt x="54769" y="19050"/>
                </a:lnTo>
                <a:lnTo>
                  <a:pt x="71438" y="19050"/>
                </a:lnTo>
                <a:cubicBezTo>
                  <a:pt x="76706" y="19050"/>
                  <a:pt x="80962" y="23306"/>
                  <a:pt x="80962" y="28575"/>
                </a:cubicBezTo>
                <a:cubicBezTo>
                  <a:pt x="80962" y="33844"/>
                  <a:pt x="76706" y="38100"/>
                  <a:pt x="71438" y="38100"/>
                </a:cubicBezTo>
                <a:lnTo>
                  <a:pt x="37237" y="38100"/>
                </a:lnTo>
                <a:cubicBezTo>
                  <a:pt x="29825" y="38100"/>
                  <a:pt x="23813" y="44113"/>
                  <a:pt x="23813" y="51524"/>
                </a:cubicBezTo>
                <a:cubicBezTo>
                  <a:pt x="23813" y="58222"/>
                  <a:pt x="28724" y="63877"/>
                  <a:pt x="35332" y="64830"/>
                </a:cubicBezTo>
                <a:lnTo>
                  <a:pt x="62597" y="68729"/>
                </a:lnTo>
                <a:cubicBezTo>
                  <a:pt x="78611" y="71021"/>
                  <a:pt x="90488" y="84713"/>
                  <a:pt x="90488" y="100876"/>
                </a:cubicBezTo>
                <a:cubicBezTo>
                  <a:pt x="90488" y="118824"/>
                  <a:pt x="75932" y="133350"/>
                  <a:pt x="58013" y="133350"/>
                </a:cubicBezTo>
                <a:lnTo>
                  <a:pt x="54769" y="133350"/>
                </a:lnTo>
                <a:lnTo>
                  <a:pt x="54769" y="145256"/>
                </a:lnTo>
                <a:cubicBezTo>
                  <a:pt x="54769" y="149215"/>
                  <a:pt x="51584" y="152400"/>
                  <a:pt x="47625" y="152400"/>
                </a:cubicBezTo>
                <a:cubicBezTo>
                  <a:pt x="43666" y="152400"/>
                  <a:pt x="40481" y="149215"/>
                  <a:pt x="40481" y="145256"/>
                </a:cubicBezTo>
                <a:lnTo>
                  <a:pt x="40481" y="133350"/>
                </a:lnTo>
                <a:lnTo>
                  <a:pt x="19050" y="133350"/>
                </a:lnTo>
                <a:cubicBezTo>
                  <a:pt x="13781" y="133350"/>
                  <a:pt x="9525" y="129094"/>
                  <a:pt x="9525" y="123825"/>
                </a:cubicBezTo>
                <a:cubicBezTo>
                  <a:pt x="9525" y="118556"/>
                  <a:pt x="13781" y="114300"/>
                  <a:pt x="19050" y="114300"/>
                </a:cubicBezTo>
                <a:lnTo>
                  <a:pt x="58013" y="114300"/>
                </a:lnTo>
                <a:cubicBezTo>
                  <a:pt x="65425" y="114300"/>
                  <a:pt x="71438" y="108287"/>
                  <a:pt x="71438" y="100876"/>
                </a:cubicBezTo>
                <a:cubicBezTo>
                  <a:pt x="71438" y="94178"/>
                  <a:pt x="66526" y="88523"/>
                  <a:pt x="59918" y="87570"/>
                </a:cubicBezTo>
                <a:lnTo>
                  <a:pt x="32653" y="83671"/>
                </a:lnTo>
                <a:cubicBezTo>
                  <a:pt x="16639" y="81409"/>
                  <a:pt x="4763" y="67687"/>
                  <a:pt x="4763" y="51524"/>
                </a:cubicBezTo>
                <a:cubicBezTo>
                  <a:pt x="4763" y="33605"/>
                  <a:pt x="19318" y="19050"/>
                  <a:pt x="37237" y="19050"/>
                </a:cubicBezTo>
                <a:lnTo>
                  <a:pt x="40481" y="19050"/>
                </a:lnTo>
                <a:lnTo>
                  <a:pt x="40481" y="7144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7" name="Text 25"/>
          <p:cNvSpPr/>
          <p:nvPr/>
        </p:nvSpPr>
        <p:spPr>
          <a:xfrm>
            <a:off x="4726900" y="3978594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Costo del lote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69725" y="432149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66705" y="28902"/>
                </a:moveTo>
                <a:lnTo>
                  <a:pt x="66705" y="43666"/>
                </a:lnTo>
                <a:lnTo>
                  <a:pt x="66854" y="43815"/>
                </a:lnTo>
                <a:cubicBezTo>
                  <a:pt x="68788" y="19288"/>
                  <a:pt x="89297" y="0"/>
                  <a:pt x="114330" y="0"/>
                </a:cubicBezTo>
                <a:cubicBezTo>
                  <a:pt x="120313" y="0"/>
                  <a:pt x="126057" y="1101"/>
                  <a:pt x="131326" y="3125"/>
                </a:cubicBezTo>
                <a:cubicBezTo>
                  <a:pt x="134303" y="4256"/>
                  <a:pt x="134838" y="8037"/>
                  <a:pt x="132606" y="10299"/>
                </a:cubicBezTo>
                <a:lnTo>
                  <a:pt x="106204" y="36701"/>
                </a:lnTo>
                <a:cubicBezTo>
                  <a:pt x="105311" y="37594"/>
                  <a:pt x="104805" y="38814"/>
                  <a:pt x="104805" y="40065"/>
                </a:cubicBezTo>
                <a:lnTo>
                  <a:pt x="104805" y="52388"/>
                </a:lnTo>
                <a:cubicBezTo>
                  <a:pt x="104805" y="55007"/>
                  <a:pt x="106948" y="57150"/>
                  <a:pt x="109567" y="57150"/>
                </a:cubicBezTo>
                <a:lnTo>
                  <a:pt x="121890" y="57150"/>
                </a:lnTo>
                <a:cubicBezTo>
                  <a:pt x="123140" y="57150"/>
                  <a:pt x="124361" y="56644"/>
                  <a:pt x="125254" y="55751"/>
                </a:cubicBezTo>
                <a:lnTo>
                  <a:pt x="151656" y="29349"/>
                </a:lnTo>
                <a:cubicBezTo>
                  <a:pt x="153918" y="27087"/>
                  <a:pt x="157698" y="27652"/>
                  <a:pt x="158829" y="30629"/>
                </a:cubicBezTo>
                <a:cubicBezTo>
                  <a:pt x="160853" y="35897"/>
                  <a:pt x="161955" y="41642"/>
                  <a:pt x="161955" y="47625"/>
                </a:cubicBezTo>
                <a:cubicBezTo>
                  <a:pt x="161955" y="65663"/>
                  <a:pt x="151924" y="81379"/>
                  <a:pt x="137100" y="89446"/>
                </a:cubicBezTo>
                <a:lnTo>
                  <a:pt x="161359" y="113705"/>
                </a:lnTo>
                <a:cubicBezTo>
                  <a:pt x="166926" y="119271"/>
                  <a:pt x="166926" y="128320"/>
                  <a:pt x="161359" y="133916"/>
                </a:cubicBezTo>
                <a:lnTo>
                  <a:pt x="143470" y="151805"/>
                </a:lnTo>
                <a:cubicBezTo>
                  <a:pt x="137904" y="157371"/>
                  <a:pt x="128855" y="157371"/>
                  <a:pt x="123259" y="151805"/>
                </a:cubicBezTo>
                <a:lnTo>
                  <a:pt x="85755" y="114300"/>
                </a:lnTo>
                <a:cubicBezTo>
                  <a:pt x="77599" y="106144"/>
                  <a:pt x="75754" y="94089"/>
                  <a:pt x="80248" y="84147"/>
                </a:cubicBezTo>
                <a:lnTo>
                  <a:pt x="53251" y="57150"/>
                </a:lnTo>
                <a:lnTo>
                  <a:pt x="38487" y="57150"/>
                </a:lnTo>
                <a:cubicBezTo>
                  <a:pt x="35302" y="57150"/>
                  <a:pt x="32325" y="55572"/>
                  <a:pt x="30569" y="52923"/>
                </a:cubicBezTo>
                <a:lnTo>
                  <a:pt x="6965" y="17532"/>
                </a:lnTo>
                <a:cubicBezTo>
                  <a:pt x="5715" y="15657"/>
                  <a:pt x="5953" y="13127"/>
                  <a:pt x="7560" y="11519"/>
                </a:cubicBezTo>
                <a:lnTo>
                  <a:pt x="21074" y="-1994"/>
                </a:lnTo>
                <a:cubicBezTo>
                  <a:pt x="22681" y="-3602"/>
                  <a:pt x="25182" y="-3840"/>
                  <a:pt x="27087" y="-2590"/>
                </a:cubicBezTo>
                <a:lnTo>
                  <a:pt x="62478" y="20985"/>
                </a:lnTo>
                <a:cubicBezTo>
                  <a:pt x="65127" y="22741"/>
                  <a:pt x="66705" y="25718"/>
                  <a:pt x="66705" y="28902"/>
                </a:cubicBezTo>
                <a:close/>
                <a:moveTo>
                  <a:pt x="64175" y="88285"/>
                </a:moveTo>
                <a:cubicBezTo>
                  <a:pt x="62299" y="99298"/>
                  <a:pt x="64889" y="110936"/>
                  <a:pt x="72033" y="120253"/>
                </a:cubicBezTo>
                <a:lnTo>
                  <a:pt x="43755" y="148501"/>
                </a:lnTo>
                <a:cubicBezTo>
                  <a:pt x="35391" y="156865"/>
                  <a:pt x="21818" y="156865"/>
                  <a:pt x="13454" y="148501"/>
                </a:cubicBezTo>
                <a:cubicBezTo>
                  <a:pt x="5090" y="140137"/>
                  <a:pt x="5090" y="126563"/>
                  <a:pt x="13454" y="118199"/>
                </a:cubicBezTo>
                <a:lnTo>
                  <a:pt x="53757" y="77897"/>
                </a:lnTo>
                <a:lnTo>
                  <a:pt x="64175" y="88315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9" name="Text 27"/>
          <p:cNvSpPr/>
          <p:nvPr/>
        </p:nvSpPr>
        <p:spPr>
          <a:xfrm>
            <a:off x="4726900" y="4283394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Costo de mantenimiento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98300" y="462629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31" name="Text 29"/>
          <p:cNvSpPr/>
          <p:nvPr/>
        </p:nvSpPr>
        <p:spPr>
          <a:xfrm>
            <a:off x="4726900" y="4588194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Costo de construcción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88775" y="493109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9954" y="38100"/>
                </a:moveTo>
                <a:lnTo>
                  <a:pt x="99745" y="23813"/>
                </a:lnTo>
                <a:lnTo>
                  <a:pt x="33635" y="23813"/>
                </a:lnTo>
                <a:lnTo>
                  <a:pt x="23426" y="38100"/>
                </a:lnTo>
                <a:lnTo>
                  <a:pt x="109954" y="38100"/>
                </a:lnTo>
                <a:close/>
                <a:moveTo>
                  <a:pt x="0" y="44202"/>
                </a:moveTo>
                <a:cubicBezTo>
                  <a:pt x="0" y="40243"/>
                  <a:pt x="1250" y="36374"/>
                  <a:pt x="3542" y="33129"/>
                </a:cubicBezTo>
                <a:lnTo>
                  <a:pt x="18127" y="12740"/>
                </a:lnTo>
                <a:cubicBezTo>
                  <a:pt x="21699" y="7739"/>
                  <a:pt x="27474" y="4763"/>
                  <a:pt x="33605" y="4763"/>
                </a:cubicBezTo>
                <a:lnTo>
                  <a:pt x="99715" y="4763"/>
                </a:lnTo>
                <a:cubicBezTo>
                  <a:pt x="105876" y="4763"/>
                  <a:pt x="111651" y="7739"/>
                  <a:pt x="115223" y="12740"/>
                </a:cubicBezTo>
                <a:lnTo>
                  <a:pt x="129778" y="33129"/>
                </a:lnTo>
                <a:cubicBezTo>
                  <a:pt x="132100" y="36374"/>
                  <a:pt x="133320" y="40243"/>
                  <a:pt x="133320" y="44202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44202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33" name="Text 31"/>
          <p:cNvSpPr/>
          <p:nvPr/>
        </p:nvSpPr>
        <p:spPr>
          <a:xfrm>
            <a:off x="4726900" y="4892994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Costo de materia prima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60200" y="5273994"/>
            <a:ext cx="3267075" cy="457200"/>
          </a:xfrm>
          <a:prstGeom prst="roundRect">
            <a:avLst>
              <a:gd name="adj" fmla="val 16667"/>
            </a:avLst>
          </a:prstGeom>
          <a:solidFill>
            <a:srgbClr val="DD6B20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536400" y="5388294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Valor relativo por alternativa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35541" y="2332673"/>
            <a:ext cx="3663315" cy="3596640"/>
          </a:xfrm>
          <a:prstGeom prst="roundRect">
            <a:avLst>
              <a:gd name="adj" fmla="val 3178"/>
            </a:avLst>
          </a:prstGeom>
          <a:solidFill>
            <a:srgbClr val="1A202C">
              <a:alpha val="60000"/>
            </a:srgbClr>
          </a:solidFill>
          <a:ln w="20320">
            <a:solidFill>
              <a:srgbClr val="4A556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3661" y="2530794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4A5568"/>
          </a:solidFill>
          <a:ln/>
        </p:spPr>
      </p:sp>
      <p:sp>
        <p:nvSpPr>
          <p:cNvPr id="38" name="Shape 36"/>
          <p:cNvSpPr/>
          <p:nvPr/>
        </p:nvSpPr>
        <p:spPr>
          <a:xfrm>
            <a:off x="8443198" y="2664144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905161" y="2626044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Factores Subjetivos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33661" y="3140394"/>
            <a:ext cx="33432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cualitativos que afectan significativamente el funcionamiento. Calificación en </a:t>
            </a:r>
            <a:r>
              <a:rPr lang="en-US" sz="120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porcentaje (%)</a:t>
            </a: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52711" y="401669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0285" y="1994"/>
                </a:moveTo>
                <a:cubicBezTo>
                  <a:pt x="142190" y="179"/>
                  <a:pt x="144959" y="-476"/>
                  <a:pt x="147518" y="357"/>
                </a:cubicBezTo>
                <a:cubicBezTo>
                  <a:pt x="150435" y="1339"/>
                  <a:pt x="152400" y="4078"/>
                  <a:pt x="152400" y="7144"/>
                </a:cubicBezTo>
                <a:lnTo>
                  <a:pt x="152400" y="62776"/>
                </a:lnTo>
                <a:cubicBezTo>
                  <a:pt x="152400" y="101828"/>
                  <a:pt x="120223" y="133350"/>
                  <a:pt x="81320" y="133350"/>
                </a:cubicBezTo>
                <a:cubicBezTo>
                  <a:pt x="58400" y="133350"/>
                  <a:pt x="38636" y="118616"/>
                  <a:pt x="31462" y="98018"/>
                </a:cubicBezTo>
                <a:cubicBezTo>
                  <a:pt x="20925" y="107186"/>
                  <a:pt x="14287" y="120670"/>
                  <a:pt x="14287" y="135731"/>
                </a:cubicBezTo>
                <a:cubicBezTo>
                  <a:pt x="14287" y="139690"/>
                  <a:pt x="11103" y="142875"/>
                  <a:pt x="7144" y="142875"/>
                </a:cubicBezTo>
                <a:cubicBezTo>
                  <a:pt x="3185" y="142875"/>
                  <a:pt x="0" y="139690"/>
                  <a:pt x="0" y="135731"/>
                </a:cubicBezTo>
                <a:cubicBezTo>
                  <a:pt x="0" y="113437"/>
                  <a:pt x="11370" y="93791"/>
                  <a:pt x="28605" y="82242"/>
                </a:cubicBezTo>
                <a:cubicBezTo>
                  <a:pt x="39112" y="75218"/>
                  <a:pt x="51643" y="71438"/>
                  <a:pt x="64294" y="71438"/>
                </a:cubicBezTo>
                <a:lnTo>
                  <a:pt x="88106" y="71438"/>
                </a:lnTo>
                <a:cubicBezTo>
                  <a:pt x="92065" y="71438"/>
                  <a:pt x="95250" y="68253"/>
                  <a:pt x="95250" y="64294"/>
                </a:cubicBezTo>
                <a:cubicBezTo>
                  <a:pt x="95250" y="60335"/>
                  <a:pt x="92065" y="57150"/>
                  <a:pt x="88106" y="57150"/>
                </a:cubicBezTo>
                <a:lnTo>
                  <a:pt x="64294" y="57150"/>
                </a:lnTo>
                <a:cubicBezTo>
                  <a:pt x="52477" y="57150"/>
                  <a:pt x="41285" y="59769"/>
                  <a:pt x="31254" y="64443"/>
                </a:cubicBezTo>
                <a:cubicBezTo>
                  <a:pt x="38189" y="43607"/>
                  <a:pt x="57805" y="28575"/>
                  <a:pt x="80962" y="28575"/>
                </a:cubicBezTo>
                <a:cubicBezTo>
                  <a:pt x="100727" y="28575"/>
                  <a:pt x="115431" y="21997"/>
                  <a:pt x="125224" y="15478"/>
                </a:cubicBezTo>
                <a:cubicBezTo>
                  <a:pt x="130939" y="11668"/>
                  <a:pt x="135791" y="7114"/>
                  <a:pt x="140315" y="1994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42" name="Text 40"/>
          <p:cNvSpPr/>
          <p:nvPr/>
        </p:nvSpPr>
        <p:spPr>
          <a:xfrm>
            <a:off x="8600361" y="397859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ambiental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43186" y="432149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35017" y="-4405"/>
                </a:moveTo>
                <a:cubicBezTo>
                  <a:pt x="136475" y="-3810"/>
                  <a:pt x="137547" y="-2500"/>
                  <a:pt x="137845" y="-953"/>
                </a:cubicBezTo>
                <a:lnTo>
                  <a:pt x="142875" y="23813"/>
                </a:lnTo>
                <a:lnTo>
                  <a:pt x="167640" y="28813"/>
                </a:lnTo>
                <a:cubicBezTo>
                  <a:pt x="169188" y="29141"/>
                  <a:pt x="170468" y="30182"/>
                  <a:pt x="171093" y="31641"/>
                </a:cubicBezTo>
                <a:cubicBezTo>
                  <a:pt x="171718" y="33099"/>
                  <a:pt x="171539" y="34766"/>
                  <a:pt x="170676" y="36076"/>
                </a:cubicBezTo>
                <a:lnTo>
                  <a:pt x="156716" y="57120"/>
                </a:lnTo>
                <a:lnTo>
                  <a:pt x="170676" y="78165"/>
                </a:lnTo>
                <a:cubicBezTo>
                  <a:pt x="171539" y="79474"/>
                  <a:pt x="171718" y="81141"/>
                  <a:pt x="171093" y="82600"/>
                </a:cubicBezTo>
                <a:cubicBezTo>
                  <a:pt x="170468" y="84058"/>
                  <a:pt x="169188" y="85130"/>
                  <a:pt x="167640" y="85427"/>
                </a:cubicBezTo>
                <a:lnTo>
                  <a:pt x="149126" y="89208"/>
                </a:lnTo>
                <a:cubicBezTo>
                  <a:pt x="145584" y="86618"/>
                  <a:pt x="141655" y="84564"/>
                  <a:pt x="137398" y="83135"/>
                </a:cubicBezTo>
                <a:cubicBezTo>
                  <a:pt x="136654" y="79355"/>
                  <a:pt x="135374" y="75783"/>
                  <a:pt x="133618" y="72509"/>
                </a:cubicBezTo>
                <a:cubicBezTo>
                  <a:pt x="136446" y="68074"/>
                  <a:pt x="138113" y="62805"/>
                  <a:pt x="138113" y="57120"/>
                </a:cubicBezTo>
                <a:cubicBezTo>
                  <a:pt x="138113" y="41344"/>
                  <a:pt x="125313" y="28545"/>
                  <a:pt x="109538" y="28545"/>
                </a:cubicBezTo>
                <a:cubicBezTo>
                  <a:pt x="95280" y="28545"/>
                  <a:pt x="83463" y="38993"/>
                  <a:pt x="81320" y="52626"/>
                </a:cubicBezTo>
                <a:cubicBezTo>
                  <a:pt x="73432" y="46583"/>
                  <a:pt x="63609" y="42952"/>
                  <a:pt x="52923" y="42833"/>
                </a:cubicBezTo>
                <a:lnTo>
                  <a:pt x="48429" y="36076"/>
                </a:lnTo>
                <a:cubicBezTo>
                  <a:pt x="47565" y="34766"/>
                  <a:pt x="47387" y="33099"/>
                  <a:pt x="48012" y="31641"/>
                </a:cubicBezTo>
                <a:cubicBezTo>
                  <a:pt x="48637" y="30182"/>
                  <a:pt x="49917" y="29111"/>
                  <a:pt x="51465" y="28813"/>
                </a:cubicBezTo>
                <a:lnTo>
                  <a:pt x="76200" y="23813"/>
                </a:lnTo>
                <a:lnTo>
                  <a:pt x="81201" y="-952"/>
                </a:lnTo>
                <a:cubicBezTo>
                  <a:pt x="81528" y="-2500"/>
                  <a:pt x="82570" y="-3780"/>
                  <a:pt x="84028" y="-4405"/>
                </a:cubicBezTo>
                <a:cubicBezTo>
                  <a:pt x="85487" y="-5030"/>
                  <a:pt x="87154" y="-4852"/>
                  <a:pt x="88463" y="-3989"/>
                </a:cubicBezTo>
                <a:lnTo>
                  <a:pt x="109537" y="10001"/>
                </a:lnTo>
                <a:lnTo>
                  <a:pt x="130582" y="-3959"/>
                </a:lnTo>
                <a:cubicBezTo>
                  <a:pt x="131891" y="-4822"/>
                  <a:pt x="133558" y="-5001"/>
                  <a:pt x="135017" y="-4376"/>
                </a:cubicBezTo>
                <a:close/>
                <a:moveTo>
                  <a:pt x="123825" y="57150"/>
                </a:moveTo>
                <a:cubicBezTo>
                  <a:pt x="123825" y="58281"/>
                  <a:pt x="123706" y="59382"/>
                  <a:pt x="123438" y="60454"/>
                </a:cubicBezTo>
                <a:cubicBezTo>
                  <a:pt x="116979" y="55394"/>
                  <a:pt x="108853" y="52388"/>
                  <a:pt x="100013" y="52388"/>
                </a:cubicBezTo>
                <a:cubicBezTo>
                  <a:pt x="98643" y="52388"/>
                  <a:pt x="97304" y="52447"/>
                  <a:pt x="95994" y="52596"/>
                </a:cubicBezTo>
                <a:cubicBezTo>
                  <a:pt x="97899" y="46940"/>
                  <a:pt x="103257" y="42863"/>
                  <a:pt x="109537" y="42863"/>
                </a:cubicBezTo>
                <a:cubicBezTo>
                  <a:pt x="117425" y="42863"/>
                  <a:pt x="123825" y="49262"/>
                  <a:pt x="123825" y="57150"/>
                </a:cubicBezTo>
                <a:close/>
                <a:moveTo>
                  <a:pt x="28575" y="152400"/>
                </a:moveTo>
                <a:cubicBezTo>
                  <a:pt x="12799" y="152400"/>
                  <a:pt x="0" y="139601"/>
                  <a:pt x="0" y="123825"/>
                </a:cubicBezTo>
                <a:cubicBezTo>
                  <a:pt x="0" y="111175"/>
                  <a:pt x="8215" y="100429"/>
                  <a:pt x="19616" y="96679"/>
                </a:cubicBezTo>
                <a:cubicBezTo>
                  <a:pt x="19229" y="94684"/>
                  <a:pt x="19050" y="92601"/>
                  <a:pt x="19050" y="90488"/>
                </a:cubicBezTo>
                <a:cubicBezTo>
                  <a:pt x="19050" y="72063"/>
                  <a:pt x="33963" y="57150"/>
                  <a:pt x="52388" y="57150"/>
                </a:cubicBezTo>
                <a:cubicBezTo>
                  <a:pt x="65216" y="57150"/>
                  <a:pt x="76349" y="64383"/>
                  <a:pt x="81915" y="75009"/>
                </a:cubicBezTo>
                <a:cubicBezTo>
                  <a:pt x="86291" y="69919"/>
                  <a:pt x="92779" y="66675"/>
                  <a:pt x="100013" y="66675"/>
                </a:cubicBezTo>
                <a:cubicBezTo>
                  <a:pt x="113169" y="66675"/>
                  <a:pt x="123825" y="77331"/>
                  <a:pt x="123825" y="90488"/>
                </a:cubicBezTo>
                <a:cubicBezTo>
                  <a:pt x="123825" y="92125"/>
                  <a:pt x="123646" y="93702"/>
                  <a:pt x="123349" y="95250"/>
                </a:cubicBezTo>
                <a:cubicBezTo>
                  <a:pt x="123498" y="95250"/>
                  <a:pt x="123676" y="95250"/>
                  <a:pt x="123825" y="95250"/>
                </a:cubicBezTo>
                <a:cubicBezTo>
                  <a:pt x="139601" y="95250"/>
                  <a:pt x="152400" y="108049"/>
                  <a:pt x="152400" y="123825"/>
                </a:cubicBezTo>
                <a:cubicBezTo>
                  <a:pt x="152400" y="139601"/>
                  <a:pt x="139601" y="152400"/>
                  <a:pt x="123825" y="152400"/>
                </a:cubicBezTo>
                <a:lnTo>
                  <a:pt x="28575" y="152400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44" name="Text 42"/>
          <p:cNvSpPr/>
          <p:nvPr/>
        </p:nvSpPr>
        <p:spPr>
          <a:xfrm>
            <a:off x="8600361" y="428339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Clima social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43186" y="462629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38100" y="19050"/>
                </a:moveTo>
                <a:cubicBezTo>
                  <a:pt x="38100" y="8543"/>
                  <a:pt x="46643" y="0"/>
                  <a:pt x="57150" y="0"/>
                </a:cubicBezTo>
                <a:lnTo>
                  <a:pt x="114300" y="0"/>
                </a:lnTo>
                <a:cubicBezTo>
                  <a:pt x="124807" y="0"/>
                  <a:pt x="133350" y="8543"/>
                  <a:pt x="133350" y="19050"/>
                </a:cubicBezTo>
                <a:lnTo>
                  <a:pt x="133350" y="38100"/>
                </a:lnTo>
                <a:lnTo>
                  <a:pt x="152400" y="38100"/>
                </a:lnTo>
                <a:cubicBezTo>
                  <a:pt x="162907" y="38100"/>
                  <a:pt x="171450" y="46643"/>
                  <a:pt x="171450" y="57150"/>
                </a:cubicBezTo>
                <a:lnTo>
                  <a:pt x="171450" y="133350"/>
                </a:lnTo>
                <a:cubicBezTo>
                  <a:pt x="171450" y="143857"/>
                  <a:pt x="162907" y="152400"/>
                  <a:pt x="15240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57150"/>
                </a:lnTo>
                <a:cubicBezTo>
                  <a:pt x="0" y="46643"/>
                  <a:pt x="8543" y="38100"/>
                  <a:pt x="19050" y="38100"/>
                </a:cubicBezTo>
                <a:lnTo>
                  <a:pt x="38100" y="38100"/>
                </a:lnTo>
                <a:lnTo>
                  <a:pt x="38100" y="19050"/>
                </a:lnTo>
                <a:close/>
                <a:moveTo>
                  <a:pt x="80962" y="104775"/>
                </a:moveTo>
                <a:cubicBezTo>
                  <a:pt x="75694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100013" y="138113"/>
                </a:lnTo>
                <a:lnTo>
                  <a:pt x="100013" y="114300"/>
                </a:lnTo>
                <a:cubicBezTo>
                  <a:pt x="100013" y="109031"/>
                  <a:pt x="95756" y="104775"/>
                  <a:pt x="90488" y="104775"/>
                </a:cubicBezTo>
                <a:lnTo>
                  <a:pt x="80962" y="104775"/>
                </a:lnTo>
                <a:close/>
                <a:moveTo>
                  <a:pt x="38100" y="109537"/>
                </a:moveTo>
                <a:lnTo>
                  <a:pt x="38100" y="100013"/>
                </a:lnTo>
                <a:cubicBezTo>
                  <a:pt x="38100" y="97393"/>
                  <a:pt x="35957" y="95250"/>
                  <a:pt x="33338" y="95250"/>
                </a:cubicBezTo>
                <a:lnTo>
                  <a:pt x="23813" y="95250"/>
                </a:lnTo>
                <a:cubicBezTo>
                  <a:pt x="21193" y="95250"/>
                  <a:pt x="19050" y="97393"/>
                  <a:pt x="19050" y="100013"/>
                </a:cubicBezTo>
                <a:lnTo>
                  <a:pt x="19050" y="109537"/>
                </a:lnTo>
                <a:cubicBezTo>
                  <a:pt x="19050" y="112157"/>
                  <a:pt x="21193" y="114300"/>
                  <a:pt x="23813" y="114300"/>
                </a:cubicBezTo>
                <a:lnTo>
                  <a:pt x="33338" y="114300"/>
                </a:lnTo>
                <a:cubicBezTo>
                  <a:pt x="35957" y="114300"/>
                  <a:pt x="38100" y="112157"/>
                  <a:pt x="38100" y="109537"/>
                </a:cubicBezTo>
                <a:close/>
                <a:moveTo>
                  <a:pt x="33338" y="76200"/>
                </a:moveTo>
                <a:cubicBezTo>
                  <a:pt x="35957" y="76200"/>
                  <a:pt x="38100" y="74057"/>
                  <a:pt x="38100" y="71438"/>
                </a:cubicBezTo>
                <a:lnTo>
                  <a:pt x="38100" y="61912"/>
                </a:lnTo>
                <a:cubicBezTo>
                  <a:pt x="38100" y="59293"/>
                  <a:pt x="35957" y="57150"/>
                  <a:pt x="33338" y="57150"/>
                </a:cubicBezTo>
                <a:lnTo>
                  <a:pt x="23813" y="57150"/>
                </a:lnTo>
                <a:cubicBezTo>
                  <a:pt x="21193" y="57150"/>
                  <a:pt x="19050" y="59293"/>
                  <a:pt x="19050" y="61912"/>
                </a:cubicBezTo>
                <a:lnTo>
                  <a:pt x="19050" y="71438"/>
                </a:lnTo>
                <a:cubicBezTo>
                  <a:pt x="19050" y="74057"/>
                  <a:pt x="21193" y="76200"/>
                  <a:pt x="23813" y="76200"/>
                </a:cubicBezTo>
                <a:lnTo>
                  <a:pt x="33338" y="76200"/>
                </a:lnTo>
                <a:close/>
                <a:moveTo>
                  <a:pt x="152400" y="109537"/>
                </a:moveTo>
                <a:lnTo>
                  <a:pt x="152400" y="100013"/>
                </a:lnTo>
                <a:cubicBezTo>
                  <a:pt x="152400" y="97393"/>
                  <a:pt x="150257" y="95250"/>
                  <a:pt x="147638" y="95250"/>
                </a:cubicBezTo>
                <a:lnTo>
                  <a:pt x="138113" y="95250"/>
                </a:lnTo>
                <a:cubicBezTo>
                  <a:pt x="135493" y="95250"/>
                  <a:pt x="133350" y="97393"/>
                  <a:pt x="133350" y="100013"/>
                </a:cubicBezTo>
                <a:lnTo>
                  <a:pt x="133350" y="109537"/>
                </a:lnTo>
                <a:cubicBezTo>
                  <a:pt x="133350" y="112157"/>
                  <a:pt x="135493" y="114300"/>
                  <a:pt x="138113" y="114300"/>
                </a:cubicBezTo>
                <a:lnTo>
                  <a:pt x="147638" y="114300"/>
                </a:lnTo>
                <a:cubicBezTo>
                  <a:pt x="150257" y="114300"/>
                  <a:pt x="152400" y="112157"/>
                  <a:pt x="152400" y="109537"/>
                </a:cubicBezTo>
                <a:close/>
                <a:moveTo>
                  <a:pt x="147638" y="76200"/>
                </a:moveTo>
                <a:cubicBezTo>
                  <a:pt x="150257" y="76200"/>
                  <a:pt x="152400" y="74057"/>
                  <a:pt x="152400" y="71438"/>
                </a:cubicBezTo>
                <a:lnTo>
                  <a:pt x="152400" y="61912"/>
                </a:lnTo>
                <a:cubicBezTo>
                  <a:pt x="152400" y="59293"/>
                  <a:pt x="150257" y="57150"/>
                  <a:pt x="147638" y="57150"/>
                </a:cubicBezTo>
                <a:lnTo>
                  <a:pt x="138113" y="57150"/>
                </a:lnTo>
                <a:cubicBezTo>
                  <a:pt x="135493" y="57150"/>
                  <a:pt x="133350" y="59293"/>
                  <a:pt x="133350" y="61912"/>
                </a:cubicBezTo>
                <a:lnTo>
                  <a:pt x="133350" y="71438"/>
                </a:lnTo>
                <a:cubicBezTo>
                  <a:pt x="133350" y="74057"/>
                  <a:pt x="135493" y="76200"/>
                  <a:pt x="138113" y="76200"/>
                </a:cubicBezTo>
                <a:lnTo>
                  <a:pt x="147638" y="76200"/>
                </a:lnTo>
                <a:close/>
                <a:moveTo>
                  <a:pt x="78581" y="30956"/>
                </a:moveTo>
                <a:lnTo>
                  <a:pt x="78581" y="40481"/>
                </a:lnTo>
                <a:lnTo>
                  <a:pt x="69056" y="40481"/>
                </a:lnTo>
                <a:cubicBezTo>
                  <a:pt x="66437" y="40481"/>
                  <a:pt x="64294" y="42624"/>
                  <a:pt x="64294" y="45244"/>
                </a:cubicBezTo>
                <a:lnTo>
                  <a:pt x="64294" y="50006"/>
                </a:lnTo>
                <a:cubicBezTo>
                  <a:pt x="64294" y="52626"/>
                  <a:pt x="66437" y="54769"/>
                  <a:pt x="69056" y="54769"/>
                </a:cubicBezTo>
                <a:lnTo>
                  <a:pt x="78581" y="54769"/>
                </a:lnTo>
                <a:lnTo>
                  <a:pt x="78581" y="64294"/>
                </a:lnTo>
                <a:cubicBezTo>
                  <a:pt x="78581" y="66913"/>
                  <a:pt x="80724" y="69056"/>
                  <a:pt x="83344" y="69056"/>
                </a:cubicBezTo>
                <a:lnTo>
                  <a:pt x="88106" y="69056"/>
                </a:lnTo>
                <a:cubicBezTo>
                  <a:pt x="90726" y="69056"/>
                  <a:pt x="92869" y="66913"/>
                  <a:pt x="92869" y="64294"/>
                </a:cubicBezTo>
                <a:lnTo>
                  <a:pt x="92869" y="54769"/>
                </a:lnTo>
                <a:lnTo>
                  <a:pt x="102394" y="54769"/>
                </a:lnTo>
                <a:cubicBezTo>
                  <a:pt x="105013" y="54769"/>
                  <a:pt x="107156" y="52626"/>
                  <a:pt x="107156" y="50006"/>
                </a:cubicBezTo>
                <a:lnTo>
                  <a:pt x="107156" y="45244"/>
                </a:lnTo>
                <a:cubicBezTo>
                  <a:pt x="107156" y="42624"/>
                  <a:pt x="105013" y="40481"/>
                  <a:pt x="102394" y="40481"/>
                </a:cubicBezTo>
                <a:lnTo>
                  <a:pt x="92869" y="40481"/>
                </a:lnTo>
                <a:lnTo>
                  <a:pt x="92869" y="30956"/>
                </a:lnTo>
                <a:cubicBezTo>
                  <a:pt x="92869" y="28337"/>
                  <a:pt x="90726" y="26194"/>
                  <a:pt x="88106" y="26194"/>
                </a:cubicBezTo>
                <a:lnTo>
                  <a:pt x="83344" y="26194"/>
                </a:lnTo>
                <a:cubicBezTo>
                  <a:pt x="80724" y="26194"/>
                  <a:pt x="78581" y="28337"/>
                  <a:pt x="78581" y="30956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46" name="Text 44"/>
          <p:cNvSpPr/>
          <p:nvPr/>
        </p:nvSpPr>
        <p:spPr>
          <a:xfrm>
            <a:off x="8600361" y="4588194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Servicios comunitarios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43186" y="493109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48" name="Text 46"/>
          <p:cNvSpPr/>
          <p:nvPr/>
        </p:nvSpPr>
        <p:spPr>
          <a:xfrm>
            <a:off x="8600361" y="4892994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Instituciones educativas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62236" y="523589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8575" y="0"/>
                </a:moveTo>
                <a:cubicBezTo>
                  <a:pt x="12799" y="0"/>
                  <a:pt x="0" y="12799"/>
                  <a:pt x="0" y="28575"/>
                </a:cubicBezTo>
                <a:lnTo>
                  <a:pt x="0" y="114300"/>
                </a:lnTo>
                <a:cubicBezTo>
                  <a:pt x="0" y="123170"/>
                  <a:pt x="6072" y="130641"/>
                  <a:pt x="14288" y="132755"/>
                </a:cubicBezTo>
                <a:lnTo>
                  <a:pt x="14288" y="142875"/>
                </a:lnTo>
                <a:cubicBezTo>
                  <a:pt x="14288" y="148144"/>
                  <a:pt x="18544" y="152400"/>
                  <a:pt x="23813" y="152400"/>
                </a:cubicBezTo>
                <a:lnTo>
                  <a:pt x="28575" y="152400"/>
                </a:lnTo>
                <a:cubicBezTo>
                  <a:pt x="33844" y="152400"/>
                  <a:pt x="38100" y="148144"/>
                  <a:pt x="38100" y="142875"/>
                </a:cubicBezTo>
                <a:lnTo>
                  <a:pt x="38100" y="133350"/>
                </a:lnTo>
                <a:lnTo>
                  <a:pt x="95250" y="133350"/>
                </a:lnTo>
                <a:lnTo>
                  <a:pt x="95250" y="142875"/>
                </a:lnTo>
                <a:cubicBezTo>
                  <a:pt x="95250" y="148144"/>
                  <a:pt x="99506" y="152400"/>
                  <a:pt x="104775" y="152400"/>
                </a:cubicBezTo>
                <a:lnTo>
                  <a:pt x="109537" y="152400"/>
                </a:lnTo>
                <a:cubicBezTo>
                  <a:pt x="114806" y="152400"/>
                  <a:pt x="119062" y="148144"/>
                  <a:pt x="119062" y="142875"/>
                </a:cubicBezTo>
                <a:lnTo>
                  <a:pt x="119062" y="132755"/>
                </a:lnTo>
                <a:cubicBezTo>
                  <a:pt x="127278" y="130641"/>
                  <a:pt x="133350" y="123170"/>
                  <a:pt x="133350" y="114300"/>
                </a:cubicBezTo>
                <a:lnTo>
                  <a:pt x="133350" y="28575"/>
                </a:lnTo>
                <a:cubicBezTo>
                  <a:pt x="133350" y="12799"/>
                  <a:pt x="120551" y="0"/>
                  <a:pt x="104775" y="0"/>
                </a:cubicBezTo>
                <a:lnTo>
                  <a:pt x="28575" y="0"/>
                </a:lnTo>
                <a:close/>
                <a:moveTo>
                  <a:pt x="19050" y="52388"/>
                </a:moveTo>
                <a:cubicBezTo>
                  <a:pt x="19050" y="47119"/>
                  <a:pt x="23306" y="42863"/>
                  <a:pt x="28575" y="42863"/>
                </a:cubicBezTo>
                <a:lnTo>
                  <a:pt x="59531" y="42863"/>
                </a:lnTo>
                <a:lnTo>
                  <a:pt x="59531" y="76200"/>
                </a:lnTo>
                <a:lnTo>
                  <a:pt x="28575" y="76200"/>
                </a:lnTo>
                <a:cubicBezTo>
                  <a:pt x="23306" y="76200"/>
                  <a:pt x="19050" y="71944"/>
                  <a:pt x="19050" y="66675"/>
                </a:cubicBezTo>
                <a:lnTo>
                  <a:pt x="19050" y="52388"/>
                </a:lnTo>
                <a:close/>
                <a:moveTo>
                  <a:pt x="73819" y="76200"/>
                </a:moveTo>
                <a:lnTo>
                  <a:pt x="73819" y="42863"/>
                </a:lnTo>
                <a:lnTo>
                  <a:pt x="104775" y="42863"/>
                </a:lnTo>
                <a:cubicBezTo>
                  <a:pt x="110044" y="42863"/>
                  <a:pt x="114300" y="47119"/>
                  <a:pt x="114300" y="52388"/>
                </a:cubicBezTo>
                <a:lnTo>
                  <a:pt x="114300" y="66675"/>
                </a:lnTo>
                <a:cubicBezTo>
                  <a:pt x="114300" y="71944"/>
                  <a:pt x="110044" y="76200"/>
                  <a:pt x="104775" y="76200"/>
                </a:cubicBezTo>
                <a:lnTo>
                  <a:pt x="73819" y="76200"/>
                </a:lnTo>
                <a:close/>
                <a:moveTo>
                  <a:pt x="28575" y="95250"/>
                </a:moveTo>
                <a:cubicBezTo>
                  <a:pt x="33832" y="95250"/>
                  <a:pt x="38100" y="99518"/>
                  <a:pt x="38100" y="104775"/>
                </a:cubicBezTo>
                <a:cubicBezTo>
                  <a:pt x="38100" y="110032"/>
                  <a:pt x="33832" y="114300"/>
                  <a:pt x="28575" y="114300"/>
                </a:cubicBezTo>
                <a:cubicBezTo>
                  <a:pt x="23318" y="114300"/>
                  <a:pt x="19050" y="110032"/>
                  <a:pt x="19050" y="104775"/>
                </a:cubicBezTo>
                <a:cubicBezTo>
                  <a:pt x="19050" y="99518"/>
                  <a:pt x="23318" y="95250"/>
                  <a:pt x="28575" y="95250"/>
                </a:cubicBezTo>
                <a:close/>
                <a:moveTo>
                  <a:pt x="104775" y="95250"/>
                </a:moveTo>
                <a:cubicBezTo>
                  <a:pt x="110032" y="95250"/>
                  <a:pt x="114300" y="99518"/>
                  <a:pt x="114300" y="104775"/>
                </a:cubicBezTo>
                <a:cubicBezTo>
                  <a:pt x="114300" y="110032"/>
                  <a:pt x="110032" y="114300"/>
                  <a:pt x="104775" y="114300"/>
                </a:cubicBezTo>
                <a:cubicBezTo>
                  <a:pt x="99518" y="114300"/>
                  <a:pt x="95250" y="110032"/>
                  <a:pt x="95250" y="104775"/>
                </a:cubicBezTo>
                <a:cubicBezTo>
                  <a:pt x="95250" y="99518"/>
                  <a:pt x="99518" y="95250"/>
                  <a:pt x="104775" y="95250"/>
                </a:cubicBezTo>
                <a:close/>
                <a:moveTo>
                  <a:pt x="45244" y="21431"/>
                </a:moveTo>
                <a:cubicBezTo>
                  <a:pt x="45244" y="17472"/>
                  <a:pt x="48429" y="14288"/>
                  <a:pt x="52388" y="14288"/>
                </a:cubicBezTo>
                <a:lnTo>
                  <a:pt x="80962" y="14288"/>
                </a:lnTo>
                <a:cubicBezTo>
                  <a:pt x="84921" y="14288"/>
                  <a:pt x="88106" y="17472"/>
                  <a:pt x="88106" y="21431"/>
                </a:cubicBezTo>
                <a:cubicBezTo>
                  <a:pt x="88106" y="25390"/>
                  <a:pt x="84921" y="28575"/>
                  <a:pt x="80962" y="28575"/>
                </a:cubicBezTo>
                <a:lnTo>
                  <a:pt x="52388" y="28575"/>
                </a:lnTo>
                <a:cubicBezTo>
                  <a:pt x="48429" y="28575"/>
                  <a:pt x="45244" y="25390"/>
                  <a:pt x="45244" y="21431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50" name="Text 48"/>
          <p:cNvSpPr/>
          <p:nvPr/>
        </p:nvSpPr>
        <p:spPr>
          <a:xfrm>
            <a:off x="8600361" y="5197794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Transporte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33661" y="5540694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52" name="Text 50"/>
          <p:cNvSpPr/>
          <p:nvPr/>
        </p:nvSpPr>
        <p:spPr>
          <a:xfrm>
            <a:off x="8600361" y="5502594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Actitud de la comunidad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4810" y="6093141"/>
            <a:ext cx="11418570" cy="579120"/>
          </a:xfrm>
          <a:prstGeom prst="roundRect">
            <a:avLst>
              <a:gd name="adj" fmla="val 13158"/>
            </a:avLst>
          </a:prstGeom>
          <a:solidFill>
            <a:srgbClr val="DD6B20">
              <a:alpha val="20000"/>
            </a:srgbClr>
          </a:solidFill>
          <a:ln w="10160">
            <a:solidFill>
              <a:srgbClr val="DD6B20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30416" y="631031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45541"/>
                </a:moveTo>
                <a:cubicBezTo>
                  <a:pt x="90179" y="45541"/>
                  <a:pt x="93762" y="49124"/>
                  <a:pt x="93762" y="53578"/>
                </a:cubicBezTo>
                <a:lnTo>
                  <a:pt x="93762" y="91083"/>
                </a:lnTo>
                <a:cubicBezTo>
                  <a:pt x="93762" y="95536"/>
                  <a:pt x="90179" y="99120"/>
                  <a:pt x="85725" y="99120"/>
                </a:cubicBezTo>
                <a:cubicBezTo>
                  <a:pt x="81271" y="99120"/>
                  <a:pt x="77688" y="95536"/>
                  <a:pt x="77688" y="91083"/>
                </a:cubicBezTo>
                <a:lnTo>
                  <a:pt x="77688" y="53578"/>
                </a:lnTo>
                <a:cubicBezTo>
                  <a:pt x="77688" y="49124"/>
                  <a:pt x="81271" y="45541"/>
                  <a:pt x="85725" y="45541"/>
                </a:cubicBezTo>
                <a:close/>
                <a:moveTo>
                  <a:pt x="76784" y="117872"/>
                </a:moveTo>
                <a:cubicBezTo>
                  <a:pt x="76581" y="114553"/>
                  <a:pt x="78236" y="111396"/>
                  <a:pt x="81081" y="109675"/>
                </a:cubicBezTo>
                <a:cubicBezTo>
                  <a:pt x="83926" y="107954"/>
                  <a:pt x="87491" y="107954"/>
                  <a:pt x="90336" y="109675"/>
                </a:cubicBezTo>
                <a:cubicBezTo>
                  <a:pt x="93181" y="111396"/>
                  <a:pt x="94836" y="114553"/>
                  <a:pt x="94632" y="117872"/>
                </a:cubicBezTo>
                <a:cubicBezTo>
                  <a:pt x="94836" y="121191"/>
                  <a:pt x="93181" y="124348"/>
                  <a:pt x="90336" y="126069"/>
                </a:cubicBezTo>
                <a:cubicBezTo>
                  <a:pt x="87491" y="127790"/>
                  <a:pt x="83926" y="127790"/>
                  <a:pt x="81081" y="126069"/>
                </a:cubicBezTo>
                <a:cubicBezTo>
                  <a:pt x="78236" y="124348"/>
                  <a:pt x="76581" y="121191"/>
                  <a:pt x="76784" y="117872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55" name="Text 53"/>
          <p:cNvSpPr/>
          <p:nvPr/>
        </p:nvSpPr>
        <p:spPr>
          <a:xfrm>
            <a:off x="774382" y="6249358"/>
            <a:ext cx="1091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 un subfactor crítico es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sz="13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el Factor Crítico total de la zona será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452" y="355452"/>
            <a:ext cx="115521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kern="0" spc="112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SECUENCIA METODOLÓGICA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5452" y="639813"/>
            <a:ext cx="11641050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9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Etapas del Método Sinérgico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3224" y="1172991"/>
            <a:ext cx="11463324" cy="1172991"/>
          </a:xfrm>
          <a:custGeom>
            <a:avLst/>
            <a:gdLst/>
            <a:ahLst/>
            <a:cxnLst/>
            <a:rect l="l" t="t" r="r" b="b"/>
            <a:pathLst>
              <a:path w="11463324" h="1172991">
                <a:moveTo>
                  <a:pt x="35560" y="0"/>
                </a:moveTo>
                <a:lnTo>
                  <a:pt x="11392281" y="0"/>
                </a:lnTo>
                <a:cubicBezTo>
                  <a:pt x="11431510" y="70"/>
                  <a:pt x="11463274" y="31891"/>
                  <a:pt x="11463274" y="71120"/>
                </a:cubicBezTo>
                <a:lnTo>
                  <a:pt x="11463274" y="1101852"/>
                </a:lnTo>
                <a:cubicBezTo>
                  <a:pt x="11463274" y="1141081"/>
                  <a:pt x="11431510" y="1172902"/>
                  <a:pt x="11392281" y="1172972"/>
                </a:cubicBezTo>
                <a:lnTo>
                  <a:pt x="35560" y="1172972"/>
                </a:lnTo>
                <a:cubicBezTo>
                  <a:pt x="15921" y="1172972"/>
                  <a:pt x="0" y="1157051"/>
                  <a:pt x="0" y="1137412"/>
                </a:cubicBezTo>
                <a:lnTo>
                  <a:pt x="0" y="35560"/>
                </a:lnTo>
                <a:cubicBezTo>
                  <a:pt x="0" y="15921"/>
                  <a:pt x="15921" y="0"/>
                  <a:pt x="35560" y="0"/>
                </a:cubicBezTo>
                <a:close/>
              </a:path>
            </a:pathLst>
          </a:custGeom>
          <a:solidFill>
            <a:srgbClr val="2B6CB0">
              <a:alpha val="14902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3224" y="1172991"/>
            <a:ext cx="35545" cy="1172991"/>
          </a:xfrm>
          <a:custGeom>
            <a:avLst/>
            <a:gdLst/>
            <a:ahLst/>
            <a:cxnLst/>
            <a:rect l="l" t="t" r="r" b="b"/>
            <a:pathLst>
              <a:path w="35545" h="1172991">
                <a:moveTo>
                  <a:pt x="35560" y="0"/>
                </a:moveTo>
                <a:lnTo>
                  <a:pt x="35560" y="0"/>
                </a:lnTo>
                <a:lnTo>
                  <a:pt x="35560" y="1172972"/>
                </a:lnTo>
                <a:lnTo>
                  <a:pt x="35560" y="1172972"/>
                </a:lnTo>
                <a:cubicBezTo>
                  <a:pt x="15921" y="1172972"/>
                  <a:pt x="0" y="1157051"/>
                  <a:pt x="0" y="1137412"/>
                </a:cubicBezTo>
                <a:lnTo>
                  <a:pt x="0" y="35560"/>
                </a:lnTo>
                <a:cubicBezTo>
                  <a:pt x="0" y="15921"/>
                  <a:pt x="15921" y="0"/>
                  <a:pt x="3556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6" name="Shape 4"/>
          <p:cNvSpPr/>
          <p:nvPr/>
        </p:nvSpPr>
        <p:spPr>
          <a:xfrm>
            <a:off x="568723" y="1350717"/>
            <a:ext cx="497633" cy="497633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15405" y="1350717"/>
            <a:ext cx="604268" cy="49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08536" y="1350717"/>
            <a:ext cx="10539149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Asignar Valor Binario a Factores Críticos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08536" y="1670624"/>
            <a:ext cx="10530262" cy="49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9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Asignar el valor binario (1 o 0) a los factores críticos para cada localización alternativa. Si algún factor crítico es 0, la ubicación queda descalificada.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3224" y="2488163"/>
            <a:ext cx="11463324" cy="924175"/>
          </a:xfrm>
          <a:custGeom>
            <a:avLst/>
            <a:gdLst/>
            <a:ahLst/>
            <a:cxnLst/>
            <a:rect l="l" t="t" r="r" b="b"/>
            <a:pathLst>
              <a:path w="11463324" h="924175">
                <a:moveTo>
                  <a:pt x="35560" y="0"/>
                </a:moveTo>
                <a:lnTo>
                  <a:pt x="11392281" y="0"/>
                </a:lnTo>
                <a:cubicBezTo>
                  <a:pt x="11431510" y="70"/>
                  <a:pt x="11463274" y="31891"/>
                  <a:pt x="11463274" y="71120"/>
                </a:cubicBezTo>
                <a:lnTo>
                  <a:pt x="11463274" y="853059"/>
                </a:lnTo>
                <a:cubicBezTo>
                  <a:pt x="11463274" y="892288"/>
                  <a:pt x="11431510" y="924109"/>
                  <a:pt x="11392281" y="924179"/>
                </a:cubicBezTo>
                <a:lnTo>
                  <a:pt x="35560" y="924179"/>
                </a:lnTo>
                <a:cubicBezTo>
                  <a:pt x="15921" y="924179"/>
                  <a:pt x="0" y="908258"/>
                  <a:pt x="0" y="888619"/>
                </a:cubicBezTo>
                <a:lnTo>
                  <a:pt x="0" y="35560"/>
                </a:lnTo>
                <a:cubicBezTo>
                  <a:pt x="0" y="15921"/>
                  <a:pt x="15921" y="0"/>
                  <a:pt x="35560" y="0"/>
                </a:cubicBezTo>
                <a:close/>
              </a:path>
            </a:pathLst>
          </a:custGeom>
          <a:solidFill>
            <a:srgbClr val="2B6CB0">
              <a:alpha val="14902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73224" y="2488163"/>
            <a:ext cx="35545" cy="924175"/>
          </a:xfrm>
          <a:custGeom>
            <a:avLst/>
            <a:gdLst/>
            <a:ahLst/>
            <a:cxnLst/>
            <a:rect l="l" t="t" r="r" b="b"/>
            <a:pathLst>
              <a:path w="35545" h="924175">
                <a:moveTo>
                  <a:pt x="35560" y="0"/>
                </a:moveTo>
                <a:lnTo>
                  <a:pt x="35560" y="0"/>
                </a:lnTo>
                <a:lnTo>
                  <a:pt x="35560" y="924179"/>
                </a:lnTo>
                <a:lnTo>
                  <a:pt x="35560" y="924179"/>
                </a:lnTo>
                <a:cubicBezTo>
                  <a:pt x="15921" y="924179"/>
                  <a:pt x="0" y="908258"/>
                  <a:pt x="0" y="888619"/>
                </a:cubicBezTo>
                <a:lnTo>
                  <a:pt x="0" y="35560"/>
                </a:lnTo>
                <a:cubicBezTo>
                  <a:pt x="0" y="15921"/>
                  <a:pt x="15921" y="0"/>
                  <a:pt x="3556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8723" y="2665889"/>
            <a:ext cx="497633" cy="497633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515405" y="2665889"/>
            <a:ext cx="604268" cy="49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08536" y="2665889"/>
            <a:ext cx="10539149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Asignar Valor Relativo a Factores Objetivos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08536" y="2985796"/>
            <a:ext cx="10530262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9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Asignar un valor relativo a cada factor objetivo (FO) para cada localización alternativa, basándose en los costos asociados.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3224" y="3554519"/>
            <a:ext cx="11463324" cy="924175"/>
          </a:xfrm>
          <a:custGeom>
            <a:avLst/>
            <a:gdLst/>
            <a:ahLst/>
            <a:cxnLst/>
            <a:rect l="l" t="t" r="r" b="b"/>
            <a:pathLst>
              <a:path w="11463324" h="924175">
                <a:moveTo>
                  <a:pt x="35560" y="0"/>
                </a:moveTo>
                <a:lnTo>
                  <a:pt x="11392281" y="0"/>
                </a:lnTo>
                <a:cubicBezTo>
                  <a:pt x="11431510" y="70"/>
                  <a:pt x="11463274" y="31891"/>
                  <a:pt x="11463274" y="71120"/>
                </a:cubicBezTo>
                <a:lnTo>
                  <a:pt x="11463274" y="853059"/>
                </a:lnTo>
                <a:cubicBezTo>
                  <a:pt x="11463274" y="892288"/>
                  <a:pt x="11431510" y="924109"/>
                  <a:pt x="11392281" y="924179"/>
                </a:cubicBezTo>
                <a:lnTo>
                  <a:pt x="35560" y="924179"/>
                </a:lnTo>
                <a:cubicBezTo>
                  <a:pt x="15921" y="924179"/>
                  <a:pt x="0" y="908258"/>
                  <a:pt x="0" y="888619"/>
                </a:cubicBezTo>
                <a:lnTo>
                  <a:pt x="0" y="35560"/>
                </a:lnTo>
                <a:cubicBezTo>
                  <a:pt x="0" y="15921"/>
                  <a:pt x="15921" y="0"/>
                  <a:pt x="35560" y="0"/>
                </a:cubicBezTo>
                <a:close/>
              </a:path>
            </a:pathLst>
          </a:custGeom>
          <a:solidFill>
            <a:srgbClr val="DD6B20">
              <a:alpha val="14902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73224" y="3554519"/>
            <a:ext cx="35545" cy="924175"/>
          </a:xfrm>
          <a:custGeom>
            <a:avLst/>
            <a:gdLst/>
            <a:ahLst/>
            <a:cxnLst/>
            <a:rect l="l" t="t" r="r" b="b"/>
            <a:pathLst>
              <a:path w="35545" h="924175">
                <a:moveTo>
                  <a:pt x="35560" y="0"/>
                </a:moveTo>
                <a:lnTo>
                  <a:pt x="35560" y="0"/>
                </a:lnTo>
                <a:lnTo>
                  <a:pt x="35560" y="924179"/>
                </a:lnTo>
                <a:lnTo>
                  <a:pt x="35560" y="924179"/>
                </a:lnTo>
                <a:cubicBezTo>
                  <a:pt x="15921" y="924179"/>
                  <a:pt x="0" y="908258"/>
                  <a:pt x="0" y="888619"/>
                </a:cubicBezTo>
                <a:lnTo>
                  <a:pt x="0" y="35560"/>
                </a:lnTo>
                <a:cubicBezTo>
                  <a:pt x="0" y="15921"/>
                  <a:pt x="15921" y="0"/>
                  <a:pt x="35560" y="0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8" name="Shape 16"/>
          <p:cNvSpPr/>
          <p:nvPr/>
        </p:nvSpPr>
        <p:spPr>
          <a:xfrm>
            <a:off x="568723" y="3732245"/>
            <a:ext cx="497633" cy="497633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19" name="Text 17"/>
          <p:cNvSpPr/>
          <p:nvPr/>
        </p:nvSpPr>
        <p:spPr>
          <a:xfrm>
            <a:off x="515405" y="3732245"/>
            <a:ext cx="604268" cy="49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8536" y="3732245"/>
            <a:ext cx="10539149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Estimar Valor Relativo de Factores Subjetivos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8536" y="4052152"/>
            <a:ext cx="10530262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9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Estimar un valor relativo de cada factor subjetivo (FS) para cada localización alternativa, utilizando ponderaciones porcentuales.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3224" y="4620875"/>
            <a:ext cx="11463324" cy="924175"/>
          </a:xfrm>
          <a:custGeom>
            <a:avLst/>
            <a:gdLst/>
            <a:ahLst/>
            <a:cxnLst/>
            <a:rect l="l" t="t" r="r" b="b"/>
            <a:pathLst>
              <a:path w="11463324" h="924175">
                <a:moveTo>
                  <a:pt x="35560" y="0"/>
                </a:moveTo>
                <a:lnTo>
                  <a:pt x="11392281" y="0"/>
                </a:lnTo>
                <a:cubicBezTo>
                  <a:pt x="11431510" y="70"/>
                  <a:pt x="11463274" y="31891"/>
                  <a:pt x="11463274" y="71120"/>
                </a:cubicBezTo>
                <a:lnTo>
                  <a:pt x="11463274" y="853059"/>
                </a:lnTo>
                <a:cubicBezTo>
                  <a:pt x="11463274" y="892288"/>
                  <a:pt x="11431510" y="924109"/>
                  <a:pt x="11392281" y="924179"/>
                </a:cubicBezTo>
                <a:lnTo>
                  <a:pt x="35560" y="924179"/>
                </a:lnTo>
                <a:cubicBezTo>
                  <a:pt x="15921" y="924179"/>
                  <a:pt x="0" y="908258"/>
                  <a:pt x="0" y="888619"/>
                </a:cubicBezTo>
                <a:lnTo>
                  <a:pt x="0" y="35560"/>
                </a:lnTo>
                <a:cubicBezTo>
                  <a:pt x="0" y="15921"/>
                  <a:pt x="15921" y="0"/>
                  <a:pt x="35560" y="0"/>
                </a:cubicBezTo>
                <a:close/>
              </a:path>
            </a:pathLst>
          </a:custGeom>
          <a:solidFill>
            <a:srgbClr val="DD6B20">
              <a:alpha val="14902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73224" y="4620875"/>
            <a:ext cx="35545" cy="924175"/>
          </a:xfrm>
          <a:custGeom>
            <a:avLst/>
            <a:gdLst/>
            <a:ahLst/>
            <a:cxnLst/>
            <a:rect l="l" t="t" r="r" b="b"/>
            <a:pathLst>
              <a:path w="35545" h="924175">
                <a:moveTo>
                  <a:pt x="35560" y="0"/>
                </a:moveTo>
                <a:lnTo>
                  <a:pt x="35560" y="0"/>
                </a:lnTo>
                <a:lnTo>
                  <a:pt x="35560" y="924179"/>
                </a:lnTo>
                <a:lnTo>
                  <a:pt x="35560" y="924179"/>
                </a:lnTo>
                <a:cubicBezTo>
                  <a:pt x="15921" y="924179"/>
                  <a:pt x="0" y="908258"/>
                  <a:pt x="0" y="888619"/>
                </a:cubicBezTo>
                <a:lnTo>
                  <a:pt x="0" y="35560"/>
                </a:lnTo>
                <a:cubicBezTo>
                  <a:pt x="0" y="15921"/>
                  <a:pt x="15921" y="0"/>
                  <a:pt x="35560" y="0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4" name="Shape 22"/>
          <p:cNvSpPr/>
          <p:nvPr/>
        </p:nvSpPr>
        <p:spPr>
          <a:xfrm>
            <a:off x="568723" y="4798601"/>
            <a:ext cx="497633" cy="497633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25" name="Text 23"/>
          <p:cNvSpPr/>
          <p:nvPr/>
        </p:nvSpPr>
        <p:spPr>
          <a:xfrm>
            <a:off x="515405" y="4798601"/>
            <a:ext cx="604268" cy="49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08536" y="4798601"/>
            <a:ext cx="10539149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Combinar Factores mediante el Algoritmo Sinérgico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08536" y="5118507"/>
            <a:ext cx="10530262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9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Combinar los factores objetivos, subjetivos y críticos mediante la fórmula del algoritmo sinérgico para obtener el índice de localización.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73224" y="5687230"/>
            <a:ext cx="11463324" cy="924175"/>
          </a:xfrm>
          <a:custGeom>
            <a:avLst/>
            <a:gdLst/>
            <a:ahLst/>
            <a:cxnLst/>
            <a:rect l="l" t="t" r="r" b="b"/>
            <a:pathLst>
              <a:path w="11463324" h="924175">
                <a:moveTo>
                  <a:pt x="35560" y="0"/>
                </a:moveTo>
                <a:lnTo>
                  <a:pt x="11392281" y="0"/>
                </a:lnTo>
                <a:cubicBezTo>
                  <a:pt x="11431510" y="70"/>
                  <a:pt x="11463274" y="31891"/>
                  <a:pt x="11463274" y="71120"/>
                </a:cubicBezTo>
                <a:lnTo>
                  <a:pt x="11463274" y="853059"/>
                </a:lnTo>
                <a:cubicBezTo>
                  <a:pt x="11463274" y="892288"/>
                  <a:pt x="11431510" y="924109"/>
                  <a:pt x="11392281" y="924179"/>
                </a:cubicBezTo>
                <a:lnTo>
                  <a:pt x="35560" y="924179"/>
                </a:lnTo>
                <a:cubicBezTo>
                  <a:pt x="15921" y="924179"/>
                  <a:pt x="0" y="908258"/>
                  <a:pt x="0" y="888619"/>
                </a:cubicBezTo>
                <a:lnTo>
                  <a:pt x="0" y="35560"/>
                </a:lnTo>
                <a:cubicBezTo>
                  <a:pt x="0" y="15921"/>
                  <a:pt x="15921" y="0"/>
                  <a:pt x="3556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73224" y="5687230"/>
            <a:ext cx="35545" cy="924175"/>
          </a:xfrm>
          <a:custGeom>
            <a:avLst/>
            <a:gdLst/>
            <a:ahLst/>
            <a:cxnLst/>
            <a:rect l="l" t="t" r="r" b="b"/>
            <a:pathLst>
              <a:path w="35545" h="924175">
                <a:moveTo>
                  <a:pt x="35560" y="0"/>
                </a:moveTo>
                <a:lnTo>
                  <a:pt x="35560" y="0"/>
                </a:lnTo>
                <a:lnTo>
                  <a:pt x="35560" y="924179"/>
                </a:lnTo>
                <a:lnTo>
                  <a:pt x="35560" y="924179"/>
                </a:lnTo>
                <a:cubicBezTo>
                  <a:pt x="15921" y="924179"/>
                  <a:pt x="0" y="908258"/>
                  <a:pt x="0" y="888619"/>
                </a:cubicBezTo>
                <a:lnTo>
                  <a:pt x="0" y="35560"/>
                </a:lnTo>
                <a:cubicBezTo>
                  <a:pt x="0" y="15921"/>
                  <a:pt x="15921" y="0"/>
                  <a:pt x="3556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0" name="Shape 28"/>
          <p:cNvSpPr/>
          <p:nvPr/>
        </p:nvSpPr>
        <p:spPr>
          <a:xfrm>
            <a:off x="568723" y="5864956"/>
            <a:ext cx="497633" cy="497633"/>
          </a:xfrm>
          <a:prstGeom prst="roundRect">
            <a:avLst>
              <a:gd name="adj" fmla="val 50000"/>
            </a:avLst>
          </a:prstGeom>
          <a:solidFill>
            <a:srgbClr val="4A5568"/>
          </a:solidFill>
          <a:ln/>
        </p:spPr>
      </p:sp>
      <p:sp>
        <p:nvSpPr>
          <p:cNvPr id="31" name="Text 29"/>
          <p:cNvSpPr/>
          <p:nvPr/>
        </p:nvSpPr>
        <p:spPr>
          <a:xfrm>
            <a:off x="515405" y="5864956"/>
            <a:ext cx="604268" cy="49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08536" y="5864956"/>
            <a:ext cx="10539149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Seleccionar la Mejor Ubicación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08536" y="6184863"/>
            <a:ext cx="10530262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9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Seleccionar la ubicación que tenga la </a:t>
            </a:r>
            <a:r>
              <a:rPr lang="en-US" sz="1259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máxima medida de preferencia de localización (MPL o IL)</a:t>
            </a:r>
            <a:r>
              <a:rPr lang="en-US" sz="1259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itanigoukin.co.jp/7126b83c8a9bb13c3123497353583593ebfc5de2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17585" b="1758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202C">
                  <a:alpha val="98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2081212"/>
            <a:ext cx="1771650" cy="419100"/>
          </a:xfrm>
          <a:prstGeom prst="roundRect">
            <a:avLst>
              <a:gd name="adj" fmla="val 18182"/>
            </a:avLst>
          </a:prstGeom>
          <a:solidFill>
            <a:srgbClr val="DD6B20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157413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CAPÍTULO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28913"/>
            <a:ext cx="88201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Ejemplo de Aplicación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671888"/>
            <a:ext cx="1524000" cy="57150"/>
          </a:xfrm>
          <a:prstGeom prst="roundRect">
            <a:avLst>
              <a:gd name="adj" fmla="val 0"/>
            </a:avLst>
          </a:prstGeom>
          <a:solidFill>
            <a:srgbClr val="DD6B2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033837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Aplicación práctica del método sinérgico con datos de cuatro localizaciones tentativas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CASO PRÁCTICO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Datos del Proyecto y Factores Críticos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23010"/>
            <a:ext cx="11418570" cy="1226820"/>
          </a:xfrm>
          <a:prstGeom prst="roundRect">
            <a:avLst>
              <a:gd name="adj" fmla="val 9317"/>
            </a:avLst>
          </a:prstGeom>
          <a:solidFill>
            <a:srgbClr val="2B6CB0">
              <a:alpha val="14902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9120" y="1417318"/>
            <a:ext cx="111156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un proyecto se han identificado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localizaciones tentativas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en todas ellas los costos del lote, mantenimiento, materia prima y construcción son diferentes. Además se han identificado como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críticos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la continuidad de los procesos la disponibilidad de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Energía eléctrica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la </a:t>
            </a:r>
            <a:r>
              <a:rPr lang="en-US" sz="13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Materia prima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2607474"/>
            <a:ext cx="11418570" cy="3131820"/>
          </a:xfrm>
          <a:prstGeom prst="roundRect">
            <a:avLst>
              <a:gd name="adj" fmla="val 3650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4839" y="283988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817245" y="2801782"/>
            <a:ext cx="1088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Tabla de Costos y Factores Críticos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9120" y="3220882"/>
          <a:ext cx="11029950" cy="2324099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7346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Localización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Costo del Lote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Mantenimiento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Materia Prima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Construcción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Energía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DD6B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Materia Prima (FC)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DD6B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46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Ciudad 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$150,000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$20,000/año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$80,000/año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$500,000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DD6B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DD6B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46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Ciudad 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$180,000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$25,000/año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$75,000/año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$550,000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46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Ciudad 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$120,000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$18,000/año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$85,000/año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$480,000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71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Ciudad 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$200,000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$22,000/año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$70,000/año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$600,000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84810" y="5899311"/>
            <a:ext cx="5627370" cy="883920"/>
          </a:xfrm>
          <a:prstGeom prst="roundRect">
            <a:avLst>
              <a:gd name="adj" fmla="val 8621"/>
            </a:avLst>
          </a:prstGeom>
          <a:solidFill>
            <a:srgbClr val="DD6B20">
              <a:alpha val="20000"/>
            </a:srgbClr>
          </a:solidFill>
          <a:ln w="10160">
            <a:solidFill>
              <a:srgbClr val="DD6B20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4832" y="611648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2" name="Text 9"/>
          <p:cNvSpPr/>
          <p:nvPr/>
        </p:nvSpPr>
        <p:spPr>
          <a:xfrm>
            <a:off x="817245" y="6055519"/>
            <a:ext cx="512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 Crítico Ciudad C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1020" y="6398419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FC = 1 × 0 = </a:t>
            </a:r>
            <a:r>
              <a:rPr lang="en-US" sz="120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(Descalificada por materia prima)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76010" y="5899311"/>
            <a:ext cx="5627370" cy="883920"/>
          </a:xfrm>
          <a:prstGeom prst="roundRect">
            <a:avLst>
              <a:gd name="adj" fmla="val 8621"/>
            </a:avLst>
          </a:prstGeom>
          <a:solidFill>
            <a:srgbClr val="2B6CB0">
              <a:alpha val="20000"/>
            </a:srgbClr>
          </a:solidFill>
          <a:ln w="10160">
            <a:solidFill>
              <a:srgbClr val="2B6CB0">
                <a:alpha val="40000"/>
              </a:srgbClr>
            </a:solidFill>
            <a:prstDash val="solid"/>
          </a:ln>
        </p:spPr>
      </p:sp>
      <p:sp>
        <p:nvSpPr>
          <p:cNvPr id="9" name="Shape 12"/>
          <p:cNvSpPr/>
          <p:nvPr/>
        </p:nvSpPr>
        <p:spPr>
          <a:xfrm>
            <a:off x="6356032" y="611648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6" name="Text 13"/>
          <p:cNvSpPr/>
          <p:nvPr/>
        </p:nvSpPr>
        <p:spPr>
          <a:xfrm>
            <a:off x="6608445" y="6055519"/>
            <a:ext cx="512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Críticos Otras Ciudades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32220" y="6398419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FC = 1 × 1 = </a:t>
            </a:r>
            <a:r>
              <a:rPr lang="en-US" sz="1200" b="1" dirty="0">
                <a:solidFill>
                  <a:srgbClr val="2B6C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1200" dirty="0">
                <a:solidFill>
                  <a:srgbClr val="F7FAFC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(Aptas para evaluación)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OBJETIVO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Cálculo de Factores Objetivo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675" y="1019175"/>
            <a:ext cx="11547475" cy="1728788"/>
          </a:xfrm>
          <a:prstGeom prst="roundRect">
            <a:avLst>
              <a:gd name="adj" fmla="val 5510"/>
            </a:avLst>
          </a:prstGeom>
          <a:solidFill>
            <a:srgbClr val="2B6CB0">
              <a:alpha val="14902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287" y="121284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19844"/>
                </a:lnTo>
                <a:cubicBezTo>
                  <a:pt x="119062" y="8899"/>
                  <a:pt x="110164" y="0"/>
                  <a:pt x="99219" y="0"/>
                </a:cubicBezTo>
                <a:lnTo>
                  <a:pt x="19844" y="0"/>
                </a:lnTo>
                <a:close/>
                <a:moveTo>
                  <a:pt x="29766" y="19844"/>
                </a:moveTo>
                <a:lnTo>
                  <a:pt x="89297" y="19844"/>
                </a:lnTo>
                <a:cubicBezTo>
                  <a:pt x="94785" y="19844"/>
                  <a:pt x="99219" y="24278"/>
                  <a:pt x="99219" y="29766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29766" y="49609"/>
                </a:lnTo>
                <a:cubicBezTo>
                  <a:pt x="24278" y="49609"/>
                  <a:pt x="19844" y="45176"/>
                  <a:pt x="19844" y="39688"/>
                </a:cubicBezTo>
                <a:lnTo>
                  <a:pt x="19844" y="29766"/>
                </a:lnTo>
                <a:cubicBezTo>
                  <a:pt x="19844" y="24278"/>
                  <a:pt x="24278" y="19844"/>
                  <a:pt x="29766" y="19844"/>
                </a:cubicBezTo>
                <a:close/>
                <a:moveTo>
                  <a:pt x="34727" y="71934"/>
                </a:moveTo>
                <a:cubicBezTo>
                  <a:pt x="34727" y="76041"/>
                  <a:pt x="31392" y="79375"/>
                  <a:pt x="27285" y="79375"/>
                </a:cubicBezTo>
                <a:cubicBezTo>
                  <a:pt x="23178" y="79375"/>
                  <a:pt x="19844" y="76041"/>
                  <a:pt x="19844" y="71934"/>
                </a:cubicBezTo>
                <a:cubicBezTo>
                  <a:pt x="19844" y="67827"/>
                  <a:pt x="23178" y="64492"/>
                  <a:pt x="27285" y="64492"/>
                </a:cubicBezTo>
                <a:cubicBezTo>
                  <a:pt x="31392" y="64492"/>
                  <a:pt x="34727" y="67827"/>
                  <a:pt x="34727" y="71934"/>
                </a:cubicBezTo>
                <a:close/>
                <a:moveTo>
                  <a:pt x="59531" y="79375"/>
                </a:moveTo>
                <a:cubicBezTo>
                  <a:pt x="55424" y="79375"/>
                  <a:pt x="52090" y="76041"/>
                  <a:pt x="52090" y="71934"/>
                </a:cubicBezTo>
                <a:cubicBezTo>
                  <a:pt x="52090" y="67827"/>
                  <a:pt x="55424" y="64492"/>
                  <a:pt x="59531" y="64492"/>
                </a:cubicBezTo>
                <a:cubicBezTo>
                  <a:pt x="63638" y="64492"/>
                  <a:pt x="66973" y="67827"/>
                  <a:pt x="66973" y="71934"/>
                </a:cubicBezTo>
                <a:cubicBezTo>
                  <a:pt x="66973" y="76041"/>
                  <a:pt x="63638" y="79375"/>
                  <a:pt x="59531" y="79375"/>
                </a:cubicBezTo>
                <a:close/>
                <a:moveTo>
                  <a:pt x="99219" y="71934"/>
                </a:moveTo>
                <a:cubicBezTo>
                  <a:pt x="99219" y="76041"/>
                  <a:pt x="95884" y="79375"/>
                  <a:pt x="91777" y="79375"/>
                </a:cubicBezTo>
                <a:cubicBezTo>
                  <a:pt x="87670" y="79375"/>
                  <a:pt x="84336" y="76041"/>
                  <a:pt x="84336" y="71934"/>
                </a:cubicBezTo>
                <a:cubicBezTo>
                  <a:pt x="84336" y="67827"/>
                  <a:pt x="87670" y="64492"/>
                  <a:pt x="91777" y="64492"/>
                </a:cubicBezTo>
                <a:cubicBezTo>
                  <a:pt x="95884" y="64492"/>
                  <a:pt x="99219" y="67827"/>
                  <a:pt x="99219" y="71934"/>
                </a:cubicBezTo>
                <a:close/>
                <a:moveTo>
                  <a:pt x="27285" y="109141"/>
                </a:moveTo>
                <a:cubicBezTo>
                  <a:pt x="23178" y="109141"/>
                  <a:pt x="19844" y="105806"/>
                  <a:pt x="19844" y="101699"/>
                </a:cubicBezTo>
                <a:cubicBezTo>
                  <a:pt x="19844" y="97592"/>
                  <a:pt x="23178" y="94258"/>
                  <a:pt x="27285" y="94258"/>
                </a:cubicBezTo>
                <a:cubicBezTo>
                  <a:pt x="31392" y="94258"/>
                  <a:pt x="34727" y="97592"/>
                  <a:pt x="34727" y="101699"/>
                </a:cubicBezTo>
                <a:cubicBezTo>
                  <a:pt x="34727" y="105806"/>
                  <a:pt x="31392" y="109141"/>
                  <a:pt x="27285" y="109141"/>
                </a:cubicBezTo>
                <a:close/>
                <a:moveTo>
                  <a:pt x="66973" y="101699"/>
                </a:moveTo>
                <a:cubicBezTo>
                  <a:pt x="66973" y="105806"/>
                  <a:pt x="63638" y="109141"/>
                  <a:pt x="59531" y="109141"/>
                </a:cubicBezTo>
                <a:cubicBezTo>
                  <a:pt x="55424" y="109141"/>
                  <a:pt x="52090" y="105806"/>
                  <a:pt x="52090" y="101699"/>
                </a:cubicBezTo>
                <a:cubicBezTo>
                  <a:pt x="52090" y="97592"/>
                  <a:pt x="55424" y="94258"/>
                  <a:pt x="59531" y="94258"/>
                </a:cubicBezTo>
                <a:cubicBezTo>
                  <a:pt x="63638" y="94258"/>
                  <a:pt x="66973" y="97592"/>
                  <a:pt x="66973" y="101699"/>
                </a:cubicBezTo>
                <a:close/>
                <a:moveTo>
                  <a:pt x="91777" y="109141"/>
                </a:moveTo>
                <a:cubicBezTo>
                  <a:pt x="87670" y="109141"/>
                  <a:pt x="84336" y="105806"/>
                  <a:pt x="84336" y="101699"/>
                </a:cubicBezTo>
                <a:cubicBezTo>
                  <a:pt x="84336" y="97592"/>
                  <a:pt x="87670" y="94258"/>
                  <a:pt x="91777" y="94258"/>
                </a:cubicBezTo>
                <a:cubicBezTo>
                  <a:pt x="95884" y="94258"/>
                  <a:pt x="99219" y="97592"/>
                  <a:pt x="99219" y="101699"/>
                </a:cubicBezTo>
                <a:cubicBezTo>
                  <a:pt x="99219" y="105806"/>
                  <a:pt x="95884" y="109141"/>
                  <a:pt x="91777" y="109141"/>
                </a:cubicBezTo>
                <a:close/>
                <a:moveTo>
                  <a:pt x="19844" y="131465"/>
                </a:moveTo>
                <a:cubicBezTo>
                  <a:pt x="19844" y="127341"/>
                  <a:pt x="23161" y="124023"/>
                  <a:pt x="27285" y="124023"/>
                </a:cubicBezTo>
                <a:lnTo>
                  <a:pt x="62012" y="124023"/>
                </a:lnTo>
                <a:cubicBezTo>
                  <a:pt x="66135" y="124023"/>
                  <a:pt x="69453" y="127341"/>
                  <a:pt x="69453" y="131465"/>
                </a:cubicBezTo>
                <a:cubicBezTo>
                  <a:pt x="69453" y="135589"/>
                  <a:pt x="66135" y="138906"/>
                  <a:pt x="62012" y="138906"/>
                </a:cubicBezTo>
                <a:lnTo>
                  <a:pt x="27285" y="138906"/>
                </a:lnTo>
                <a:cubicBezTo>
                  <a:pt x="23161" y="138906"/>
                  <a:pt x="19844" y="135589"/>
                  <a:pt x="19844" y="131465"/>
                </a:cubicBezTo>
                <a:close/>
                <a:moveTo>
                  <a:pt x="91777" y="124023"/>
                </a:moveTo>
                <a:cubicBezTo>
                  <a:pt x="95901" y="124023"/>
                  <a:pt x="99219" y="127341"/>
                  <a:pt x="99219" y="131465"/>
                </a:cubicBezTo>
                <a:cubicBezTo>
                  <a:pt x="99219" y="135589"/>
                  <a:pt x="95901" y="138906"/>
                  <a:pt x="91777" y="138906"/>
                </a:cubicBezTo>
                <a:cubicBezTo>
                  <a:pt x="87654" y="138906"/>
                  <a:pt x="84336" y="135589"/>
                  <a:pt x="84336" y="131465"/>
                </a:cubicBezTo>
                <a:cubicBezTo>
                  <a:pt x="84336" y="127341"/>
                  <a:pt x="87654" y="124023"/>
                  <a:pt x="91777" y="124023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681037" y="1181098"/>
            <a:ext cx="1110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Formulación para el Factor Objetivo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2600" y="1498598"/>
            <a:ext cx="11295063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primer paso corresponde a calcular el </a:t>
            </a:r>
            <a:r>
              <a:rPr lang="en-US" sz="1125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valor relativo a cada factor objetivo</a:t>
            </a:r>
            <a:r>
              <a:rPr lang="en-US" sz="1125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mediante la siguiente formulación: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2600" y="1857770"/>
            <a:ext cx="11223625" cy="730250"/>
          </a:xfrm>
          <a:prstGeom prst="roundRect">
            <a:avLst>
              <a:gd name="adj" fmla="val 8696"/>
            </a:avLst>
          </a:prstGeom>
          <a:solidFill>
            <a:srgbClr val="1A202C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9913" y="1984770"/>
            <a:ext cx="11049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</a:t>
            </a:r>
            <a:r>
              <a:rPr lang="en-US" sz="938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2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(1/C</a:t>
            </a:r>
            <a:r>
              <a:rPr lang="en-US" sz="938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2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/ Σ(1/C</a:t>
            </a:r>
            <a:r>
              <a:rPr lang="en-US" sz="938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</a:t>
            </a:r>
            <a:r>
              <a:rPr lang="en-US" sz="12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7850" y="2270520"/>
            <a:ext cx="1103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Donde C</a:t>
            </a: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sz="100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costo total de la localización 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675" y="2883302"/>
            <a:ext cx="11547475" cy="2268537"/>
          </a:xfrm>
          <a:prstGeom prst="roundRect">
            <a:avLst>
              <a:gd name="adj" fmla="val 4199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2522" y="307697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99219" y="0"/>
                </a:moveTo>
                <a:cubicBezTo>
                  <a:pt x="88274" y="0"/>
                  <a:pt x="79375" y="8899"/>
                  <a:pt x="79375" y="19844"/>
                </a:cubicBezTo>
                <a:lnTo>
                  <a:pt x="79375" y="29766"/>
                </a:lnTo>
                <a:lnTo>
                  <a:pt x="64492" y="29766"/>
                </a:lnTo>
                <a:lnTo>
                  <a:pt x="64492" y="7441"/>
                </a:lnTo>
                <a:cubicBezTo>
                  <a:pt x="64492" y="3318"/>
                  <a:pt x="61175" y="0"/>
                  <a:pt x="57051" y="0"/>
                </a:cubicBezTo>
                <a:cubicBezTo>
                  <a:pt x="52927" y="0"/>
                  <a:pt x="49609" y="3318"/>
                  <a:pt x="49609" y="7441"/>
                </a:cubicBezTo>
                <a:lnTo>
                  <a:pt x="49609" y="29766"/>
                </a:lnTo>
                <a:lnTo>
                  <a:pt x="29766" y="29766"/>
                </a:lnTo>
                <a:lnTo>
                  <a:pt x="29766" y="7441"/>
                </a:lnTo>
                <a:cubicBezTo>
                  <a:pt x="29766" y="3318"/>
                  <a:pt x="26448" y="0"/>
                  <a:pt x="22324" y="0"/>
                </a:cubicBezTo>
                <a:cubicBezTo>
                  <a:pt x="18200" y="0"/>
                  <a:pt x="14883" y="3318"/>
                  <a:pt x="14883" y="7441"/>
                </a:cubicBezTo>
                <a:lnTo>
                  <a:pt x="14883" y="30386"/>
                </a:lnTo>
                <a:cubicBezTo>
                  <a:pt x="6325" y="32587"/>
                  <a:pt x="0" y="40370"/>
                  <a:pt x="0" y="49609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158750" y="158750"/>
                </a:lnTo>
                <a:cubicBezTo>
                  <a:pt x="169695" y="158750"/>
                  <a:pt x="178594" y="149851"/>
                  <a:pt x="178594" y="138906"/>
                </a:cubicBezTo>
                <a:lnTo>
                  <a:pt x="178594" y="79375"/>
                </a:lnTo>
                <a:cubicBezTo>
                  <a:pt x="178594" y="68430"/>
                  <a:pt x="169695" y="59531"/>
                  <a:pt x="158750" y="59531"/>
                </a:cubicBezTo>
                <a:lnTo>
                  <a:pt x="138906" y="59531"/>
                </a:lnTo>
                <a:lnTo>
                  <a:pt x="138906" y="19844"/>
                </a:lnTo>
                <a:cubicBezTo>
                  <a:pt x="138906" y="8899"/>
                  <a:pt x="130008" y="0"/>
                  <a:pt x="119062" y="0"/>
                </a:cubicBezTo>
                <a:lnTo>
                  <a:pt x="99219" y="0"/>
                </a:lnTo>
                <a:close/>
                <a:moveTo>
                  <a:pt x="119062" y="34727"/>
                </a:moveTo>
                <a:lnTo>
                  <a:pt x="119062" y="44648"/>
                </a:lnTo>
                <a:cubicBezTo>
                  <a:pt x="119062" y="47377"/>
                  <a:pt x="116830" y="49609"/>
                  <a:pt x="114102" y="49609"/>
                </a:cubicBezTo>
                <a:lnTo>
                  <a:pt x="104180" y="49609"/>
                </a:lnTo>
                <a:cubicBezTo>
                  <a:pt x="101451" y="49609"/>
                  <a:pt x="99219" y="47377"/>
                  <a:pt x="99219" y="44648"/>
                </a:cubicBezTo>
                <a:lnTo>
                  <a:pt x="99219" y="34727"/>
                </a:lnTo>
                <a:cubicBezTo>
                  <a:pt x="99219" y="31998"/>
                  <a:pt x="101451" y="29766"/>
                  <a:pt x="104180" y="29766"/>
                </a:cubicBezTo>
                <a:lnTo>
                  <a:pt x="114102" y="29766"/>
                </a:lnTo>
                <a:cubicBezTo>
                  <a:pt x="116830" y="29766"/>
                  <a:pt x="119062" y="31998"/>
                  <a:pt x="119062" y="34727"/>
                </a:cubicBezTo>
                <a:close/>
                <a:moveTo>
                  <a:pt x="114102" y="59531"/>
                </a:moveTo>
                <a:cubicBezTo>
                  <a:pt x="116830" y="59531"/>
                  <a:pt x="119062" y="61764"/>
                  <a:pt x="119062" y="64492"/>
                </a:cubicBezTo>
                <a:lnTo>
                  <a:pt x="119062" y="74414"/>
                </a:lnTo>
                <a:cubicBezTo>
                  <a:pt x="119062" y="77143"/>
                  <a:pt x="116830" y="79375"/>
                  <a:pt x="114102" y="79375"/>
                </a:cubicBezTo>
                <a:lnTo>
                  <a:pt x="104180" y="79375"/>
                </a:lnTo>
                <a:cubicBezTo>
                  <a:pt x="101451" y="79375"/>
                  <a:pt x="99219" y="77143"/>
                  <a:pt x="99219" y="74414"/>
                </a:cubicBezTo>
                <a:lnTo>
                  <a:pt x="99219" y="64492"/>
                </a:lnTo>
                <a:cubicBezTo>
                  <a:pt x="99219" y="61764"/>
                  <a:pt x="101451" y="59531"/>
                  <a:pt x="104180" y="59531"/>
                </a:cubicBezTo>
                <a:lnTo>
                  <a:pt x="114102" y="59531"/>
                </a:lnTo>
                <a:close/>
                <a:moveTo>
                  <a:pt x="119062" y="94258"/>
                </a:moveTo>
                <a:lnTo>
                  <a:pt x="119062" y="104180"/>
                </a:lnTo>
                <a:cubicBezTo>
                  <a:pt x="119062" y="106908"/>
                  <a:pt x="116830" y="109141"/>
                  <a:pt x="114102" y="109141"/>
                </a:cubicBezTo>
                <a:lnTo>
                  <a:pt x="104180" y="109141"/>
                </a:lnTo>
                <a:cubicBezTo>
                  <a:pt x="101451" y="109141"/>
                  <a:pt x="99219" y="106908"/>
                  <a:pt x="99219" y="104180"/>
                </a:cubicBezTo>
                <a:lnTo>
                  <a:pt x="99219" y="94258"/>
                </a:lnTo>
                <a:cubicBezTo>
                  <a:pt x="99219" y="91529"/>
                  <a:pt x="101451" y="89297"/>
                  <a:pt x="104180" y="89297"/>
                </a:cubicBezTo>
                <a:lnTo>
                  <a:pt x="114102" y="89297"/>
                </a:lnTo>
                <a:cubicBezTo>
                  <a:pt x="116830" y="89297"/>
                  <a:pt x="119062" y="91529"/>
                  <a:pt x="119062" y="94258"/>
                </a:cubicBezTo>
                <a:close/>
                <a:moveTo>
                  <a:pt x="153789" y="89297"/>
                </a:moveTo>
                <a:cubicBezTo>
                  <a:pt x="156518" y="89297"/>
                  <a:pt x="158750" y="91529"/>
                  <a:pt x="158750" y="94258"/>
                </a:cubicBezTo>
                <a:lnTo>
                  <a:pt x="158750" y="104180"/>
                </a:lnTo>
                <a:cubicBezTo>
                  <a:pt x="158750" y="106908"/>
                  <a:pt x="156518" y="109141"/>
                  <a:pt x="153789" y="109141"/>
                </a:cubicBezTo>
                <a:lnTo>
                  <a:pt x="143867" y="109141"/>
                </a:lnTo>
                <a:cubicBezTo>
                  <a:pt x="141139" y="109141"/>
                  <a:pt x="138906" y="106908"/>
                  <a:pt x="138906" y="104180"/>
                </a:cubicBezTo>
                <a:lnTo>
                  <a:pt x="138906" y="94258"/>
                </a:lnTo>
                <a:cubicBezTo>
                  <a:pt x="138906" y="91529"/>
                  <a:pt x="141139" y="89297"/>
                  <a:pt x="143867" y="89297"/>
                </a:cubicBezTo>
                <a:lnTo>
                  <a:pt x="153789" y="89297"/>
                </a:lnTo>
                <a:close/>
                <a:moveTo>
                  <a:pt x="79375" y="94258"/>
                </a:moveTo>
                <a:lnTo>
                  <a:pt x="79375" y="104180"/>
                </a:lnTo>
                <a:cubicBezTo>
                  <a:pt x="79375" y="106908"/>
                  <a:pt x="77143" y="109141"/>
                  <a:pt x="74414" y="109141"/>
                </a:cubicBezTo>
                <a:lnTo>
                  <a:pt x="64492" y="109141"/>
                </a:lnTo>
                <a:cubicBezTo>
                  <a:pt x="61764" y="109141"/>
                  <a:pt x="59531" y="106908"/>
                  <a:pt x="59531" y="104180"/>
                </a:cubicBezTo>
                <a:lnTo>
                  <a:pt x="59531" y="94258"/>
                </a:lnTo>
                <a:cubicBezTo>
                  <a:pt x="59531" y="91529"/>
                  <a:pt x="61764" y="89297"/>
                  <a:pt x="64492" y="89297"/>
                </a:cubicBezTo>
                <a:lnTo>
                  <a:pt x="74414" y="89297"/>
                </a:lnTo>
                <a:cubicBezTo>
                  <a:pt x="77143" y="89297"/>
                  <a:pt x="79375" y="91529"/>
                  <a:pt x="79375" y="94258"/>
                </a:cubicBezTo>
                <a:close/>
                <a:moveTo>
                  <a:pt x="74414" y="59531"/>
                </a:moveTo>
                <a:cubicBezTo>
                  <a:pt x="77143" y="59531"/>
                  <a:pt x="79375" y="61764"/>
                  <a:pt x="79375" y="64492"/>
                </a:cubicBezTo>
                <a:lnTo>
                  <a:pt x="79375" y="74414"/>
                </a:lnTo>
                <a:cubicBezTo>
                  <a:pt x="79375" y="77143"/>
                  <a:pt x="77143" y="79375"/>
                  <a:pt x="74414" y="79375"/>
                </a:cubicBezTo>
                <a:lnTo>
                  <a:pt x="64492" y="79375"/>
                </a:lnTo>
                <a:cubicBezTo>
                  <a:pt x="61764" y="79375"/>
                  <a:pt x="59531" y="77143"/>
                  <a:pt x="59531" y="74414"/>
                </a:cubicBezTo>
                <a:lnTo>
                  <a:pt x="59531" y="64492"/>
                </a:lnTo>
                <a:cubicBezTo>
                  <a:pt x="59531" y="61764"/>
                  <a:pt x="61764" y="59531"/>
                  <a:pt x="64492" y="59531"/>
                </a:cubicBezTo>
                <a:lnTo>
                  <a:pt x="74414" y="59531"/>
                </a:lnTo>
                <a:close/>
                <a:moveTo>
                  <a:pt x="39688" y="94258"/>
                </a:moveTo>
                <a:lnTo>
                  <a:pt x="39688" y="104180"/>
                </a:lnTo>
                <a:cubicBezTo>
                  <a:pt x="39688" y="106908"/>
                  <a:pt x="37455" y="109141"/>
                  <a:pt x="34727" y="109141"/>
                </a:cubicBezTo>
                <a:lnTo>
                  <a:pt x="24805" y="109141"/>
                </a:lnTo>
                <a:cubicBezTo>
                  <a:pt x="22076" y="109141"/>
                  <a:pt x="19844" y="106908"/>
                  <a:pt x="19844" y="104180"/>
                </a:cubicBezTo>
                <a:lnTo>
                  <a:pt x="19844" y="94258"/>
                </a:lnTo>
                <a:cubicBezTo>
                  <a:pt x="19844" y="91529"/>
                  <a:pt x="22076" y="89297"/>
                  <a:pt x="24805" y="89297"/>
                </a:cubicBezTo>
                <a:lnTo>
                  <a:pt x="34727" y="89297"/>
                </a:lnTo>
                <a:cubicBezTo>
                  <a:pt x="37455" y="89297"/>
                  <a:pt x="39688" y="91529"/>
                  <a:pt x="39688" y="94258"/>
                </a:cubicBezTo>
                <a:close/>
                <a:moveTo>
                  <a:pt x="34727" y="59531"/>
                </a:moveTo>
                <a:cubicBezTo>
                  <a:pt x="37455" y="59531"/>
                  <a:pt x="39688" y="61764"/>
                  <a:pt x="39688" y="64492"/>
                </a:cubicBezTo>
                <a:lnTo>
                  <a:pt x="39688" y="74414"/>
                </a:lnTo>
                <a:cubicBezTo>
                  <a:pt x="39688" y="77143"/>
                  <a:pt x="37455" y="79375"/>
                  <a:pt x="34727" y="79375"/>
                </a:cubicBezTo>
                <a:lnTo>
                  <a:pt x="24805" y="79375"/>
                </a:lnTo>
                <a:cubicBezTo>
                  <a:pt x="22076" y="79375"/>
                  <a:pt x="19844" y="77143"/>
                  <a:pt x="19844" y="74414"/>
                </a:cubicBezTo>
                <a:lnTo>
                  <a:pt x="19844" y="64492"/>
                </a:lnTo>
                <a:cubicBezTo>
                  <a:pt x="19844" y="61764"/>
                  <a:pt x="22076" y="59531"/>
                  <a:pt x="24805" y="59531"/>
                </a:cubicBezTo>
                <a:lnTo>
                  <a:pt x="34727" y="59531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3" name="Text 11"/>
          <p:cNvSpPr/>
          <p:nvPr/>
        </p:nvSpPr>
        <p:spPr>
          <a:xfrm>
            <a:off x="681037" y="3045225"/>
            <a:ext cx="1110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Cálculo del Factor Objetivo para Ciudad 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2600" y="3362725"/>
            <a:ext cx="11223625" cy="769938"/>
          </a:xfrm>
          <a:prstGeom prst="roundRect">
            <a:avLst>
              <a:gd name="adj" fmla="val 8247"/>
            </a:avLst>
          </a:prstGeom>
          <a:solidFill>
            <a:srgbClr val="2B6CB0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3489725"/>
            <a:ext cx="11041063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Costos Ciudad A: Lote $150,000 + Mantenimiento $20,000 + Materia Prima $80,000 + Construcción $500,000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3785397"/>
            <a:ext cx="11049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Costo Total A = $750,000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2600" y="4229897"/>
            <a:ext cx="11223625" cy="762000"/>
          </a:xfrm>
          <a:prstGeom prst="roundRect">
            <a:avLst>
              <a:gd name="adj" fmla="val 8333"/>
            </a:avLst>
          </a:prstGeom>
          <a:solidFill>
            <a:srgbClr val="DD6B20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09600" y="4356897"/>
            <a:ext cx="11041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</a:t>
            </a:r>
            <a:r>
              <a:rPr lang="en-US" sz="844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</a:t>
            </a:r>
            <a:r>
              <a:rPr lang="en-US" sz="1125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(1/750,000) / [(1/750,000) + (1/830,000) + (1/703,000) + (1/892,000)]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9913" y="4642647"/>
            <a:ext cx="11049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</a:t>
            </a:r>
            <a:r>
              <a:rPr lang="en-US" sz="938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</a:t>
            </a:r>
            <a:r>
              <a:rPr lang="en-US" sz="125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0.2624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0675" y="5287170"/>
            <a:ext cx="11547475" cy="1879600"/>
          </a:xfrm>
          <a:prstGeom prst="roundRect">
            <a:avLst>
              <a:gd name="adj" fmla="val 5068"/>
            </a:avLst>
          </a:prstGeom>
          <a:solidFill>
            <a:srgbClr val="2B6CB0">
              <a:alpha val="14902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366" y="5480844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79375" y="49609"/>
                </a:moveTo>
                <a:lnTo>
                  <a:pt x="79375" y="79375"/>
                </a:lnTo>
                <a:lnTo>
                  <a:pt x="119062" y="79375"/>
                </a:lnTo>
                <a:lnTo>
                  <a:pt x="119062" y="49609"/>
                </a:lnTo>
                <a:lnTo>
                  <a:pt x="79375" y="49609"/>
                </a:lnTo>
                <a:close/>
                <a:moveTo>
                  <a:pt x="59531" y="49609"/>
                </a:moveTo>
                <a:lnTo>
                  <a:pt x="19844" y="49609"/>
                </a:lnTo>
                <a:lnTo>
                  <a:pt x="19844" y="79375"/>
                </a:lnTo>
                <a:lnTo>
                  <a:pt x="59531" y="79375"/>
                </a:lnTo>
                <a:lnTo>
                  <a:pt x="59531" y="49609"/>
                </a:lnTo>
                <a:close/>
                <a:moveTo>
                  <a:pt x="0" y="99219"/>
                </a:moveTo>
                <a:lnTo>
                  <a:pt x="0" y="29766"/>
                </a:lnTo>
                <a:cubicBezTo>
                  <a:pt x="0" y="18821"/>
                  <a:pt x="8899" y="9922"/>
                  <a:pt x="19844" y="9922"/>
                </a:cubicBezTo>
                <a:lnTo>
                  <a:pt x="119062" y="9922"/>
                </a:lnTo>
                <a:cubicBezTo>
                  <a:pt x="130008" y="9922"/>
                  <a:pt x="138906" y="18821"/>
                  <a:pt x="138906" y="29766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99219"/>
                </a:lnTo>
                <a:close/>
                <a:moveTo>
                  <a:pt x="119062" y="99219"/>
                </a:moveTo>
                <a:lnTo>
                  <a:pt x="79375" y="99219"/>
                </a:lnTo>
                <a:lnTo>
                  <a:pt x="79375" y="128984"/>
                </a:lnTo>
                <a:lnTo>
                  <a:pt x="119062" y="128984"/>
                </a:lnTo>
                <a:lnTo>
                  <a:pt x="119062" y="99219"/>
                </a:lnTo>
                <a:close/>
                <a:moveTo>
                  <a:pt x="59531" y="128984"/>
                </a:moveTo>
                <a:lnTo>
                  <a:pt x="59531" y="99219"/>
                </a:lnTo>
                <a:lnTo>
                  <a:pt x="19844" y="99219"/>
                </a:lnTo>
                <a:lnTo>
                  <a:pt x="19844" y="128984"/>
                </a:lnTo>
                <a:lnTo>
                  <a:pt x="59531" y="128984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681037" y="5449094"/>
            <a:ext cx="1110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Factores Objetivo de Todas las Ciudades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2600" y="5766594"/>
            <a:ext cx="2714625" cy="730250"/>
          </a:xfrm>
          <a:prstGeom prst="roundRect">
            <a:avLst>
              <a:gd name="adj" fmla="val 8696"/>
            </a:avLst>
          </a:pr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24" name="Text 22"/>
          <p:cNvSpPr/>
          <p:nvPr/>
        </p:nvSpPr>
        <p:spPr>
          <a:xfrm>
            <a:off x="577850" y="5893594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Ciudad 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1975" y="6115844"/>
            <a:ext cx="2555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2B6C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0.2524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21050" y="5766594"/>
            <a:ext cx="2714625" cy="730250"/>
          </a:xfrm>
          <a:prstGeom prst="roundRect">
            <a:avLst>
              <a:gd name="adj" fmla="val 8696"/>
            </a:avLst>
          </a:prstGeom>
          <a:solidFill>
            <a:srgbClr val="1A202C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416300" y="5893594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Ciudad 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400425" y="6115844"/>
            <a:ext cx="2555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2B6C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0.2572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59500" y="5766594"/>
            <a:ext cx="2714625" cy="730250"/>
          </a:xfrm>
          <a:prstGeom prst="roundRect">
            <a:avLst>
              <a:gd name="adj" fmla="val 8696"/>
            </a:avLst>
          </a:prstGeom>
          <a:solidFill>
            <a:srgbClr val="1A202C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254750" y="5893594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Ciudad C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38875" y="6115844"/>
            <a:ext cx="2555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2B6C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0.3036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997950" y="5766594"/>
            <a:ext cx="2714625" cy="730250"/>
          </a:xfrm>
          <a:prstGeom prst="roundRect">
            <a:avLst>
              <a:gd name="adj" fmla="val 8696"/>
            </a:avLst>
          </a:prstGeom>
          <a:solidFill>
            <a:srgbClr val="1A202C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093200" y="5893594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Ciudad 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77325" y="6115844"/>
            <a:ext cx="2555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2B6C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0.1547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2600" y="6591993"/>
            <a:ext cx="11223625" cy="412750"/>
          </a:xfrm>
          <a:prstGeom prst="roundRect">
            <a:avLst>
              <a:gd name="adj" fmla="val 15385"/>
            </a:avLst>
          </a:prstGeom>
          <a:solidFill>
            <a:srgbClr val="DD6B20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197747" y="6738046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62508" y="44648"/>
                </a:moveTo>
                <a:cubicBezTo>
                  <a:pt x="62508" y="39720"/>
                  <a:pt x="66509" y="35719"/>
                  <a:pt x="71438" y="35719"/>
                </a:cubicBezTo>
                <a:cubicBezTo>
                  <a:pt x="76366" y="35719"/>
                  <a:pt x="80367" y="39720"/>
                  <a:pt x="80367" y="44648"/>
                </a:cubicBezTo>
                <a:cubicBezTo>
                  <a:pt x="80367" y="49577"/>
                  <a:pt x="76366" y="53578"/>
                  <a:pt x="71438" y="53578"/>
                </a:cubicBezTo>
                <a:cubicBezTo>
                  <a:pt x="66509" y="53578"/>
                  <a:pt x="62508" y="49577"/>
                  <a:pt x="62508" y="44648"/>
                </a:cubicBezTo>
                <a:close/>
                <a:moveTo>
                  <a:pt x="60275" y="62508"/>
                </a:moveTo>
                <a:lnTo>
                  <a:pt x="73670" y="62508"/>
                </a:lnTo>
                <a:cubicBezTo>
                  <a:pt x="77381" y="62508"/>
                  <a:pt x="80367" y="65494"/>
                  <a:pt x="80367" y="69205"/>
                </a:cubicBezTo>
                <a:lnTo>
                  <a:pt x="80367" y="93762"/>
                </a:lnTo>
                <a:lnTo>
                  <a:pt x="82600" y="93762"/>
                </a:lnTo>
                <a:cubicBezTo>
                  <a:pt x="86311" y="93762"/>
                  <a:pt x="89297" y="96748"/>
                  <a:pt x="89297" y="100459"/>
                </a:cubicBezTo>
                <a:cubicBezTo>
                  <a:pt x="89297" y="104170"/>
                  <a:pt x="86311" y="107156"/>
                  <a:pt x="82600" y="107156"/>
                </a:cubicBezTo>
                <a:lnTo>
                  <a:pt x="60275" y="107156"/>
                </a:lnTo>
                <a:cubicBezTo>
                  <a:pt x="56564" y="107156"/>
                  <a:pt x="53578" y="104170"/>
                  <a:pt x="53578" y="100459"/>
                </a:cubicBezTo>
                <a:cubicBezTo>
                  <a:pt x="53578" y="96748"/>
                  <a:pt x="56564" y="93762"/>
                  <a:pt x="60275" y="93762"/>
                </a:cubicBezTo>
                <a:lnTo>
                  <a:pt x="66973" y="93762"/>
                </a:lnTo>
                <a:lnTo>
                  <a:pt x="66973" y="75902"/>
                </a:lnTo>
                <a:lnTo>
                  <a:pt x="60275" y="75902"/>
                </a:lnTo>
                <a:cubicBezTo>
                  <a:pt x="56564" y="75902"/>
                  <a:pt x="53578" y="72916"/>
                  <a:pt x="53578" y="69205"/>
                </a:cubicBezTo>
                <a:cubicBezTo>
                  <a:pt x="53578" y="65494"/>
                  <a:pt x="56564" y="62508"/>
                  <a:pt x="60275" y="62508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37" name="Text 35"/>
          <p:cNvSpPr/>
          <p:nvPr/>
        </p:nvSpPr>
        <p:spPr>
          <a:xfrm>
            <a:off x="764381" y="6687243"/>
            <a:ext cx="10882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Suma de FO = </a:t>
            </a:r>
            <a:r>
              <a:rPr lang="en-US" sz="1125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1.0000</a:t>
            </a:r>
            <a:r>
              <a:rPr lang="en-US" sz="1125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(siempre es un término relativo)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842" y="320842"/>
            <a:ext cx="11614484" cy="19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1" b="1" kern="0" spc="10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SUBJETIVOS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0842" y="577516"/>
            <a:ext cx="11694695" cy="320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74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Determinación de Factores Subjetivos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4051" y="1029903"/>
            <a:ext cx="11540691" cy="559869"/>
          </a:xfrm>
          <a:prstGeom prst="roundRect">
            <a:avLst>
              <a:gd name="adj" fmla="val 17192"/>
            </a:avLst>
          </a:prstGeom>
          <a:solidFill>
            <a:srgbClr val="2B6CB0">
              <a:alpha val="14902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7680" y="1193531"/>
            <a:ext cx="11285621" cy="232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carácter subjetivo de los factores de orden cualitativo hace necesario asignar una </a:t>
            </a:r>
            <a:r>
              <a:rPr lang="en-US" sz="1137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medida de comparación</a:t>
            </a:r>
            <a:r>
              <a:rPr lang="en-US" sz="1137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que valore los distintos factores.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4051" y="1726536"/>
            <a:ext cx="5685322" cy="2156059"/>
          </a:xfrm>
          <a:prstGeom prst="roundRect">
            <a:avLst>
              <a:gd name="adj" fmla="val 4464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7680" y="1922248"/>
            <a:ext cx="200526" cy="160421"/>
          </a:xfrm>
          <a:custGeom>
            <a:avLst/>
            <a:gdLst/>
            <a:ahLst/>
            <a:cxnLst/>
            <a:rect l="l" t="t" r="r" b="b"/>
            <a:pathLst>
              <a:path w="200526" h="160421">
                <a:moveTo>
                  <a:pt x="120316" y="10026"/>
                </a:moveTo>
                <a:lnTo>
                  <a:pt x="160421" y="10026"/>
                </a:lnTo>
                <a:cubicBezTo>
                  <a:pt x="165967" y="10026"/>
                  <a:pt x="170447" y="14507"/>
                  <a:pt x="170447" y="20053"/>
                </a:cubicBezTo>
                <a:cubicBezTo>
                  <a:pt x="170447" y="25598"/>
                  <a:pt x="165967" y="30079"/>
                  <a:pt x="160421" y="30079"/>
                </a:cubicBezTo>
                <a:lnTo>
                  <a:pt x="124828" y="30079"/>
                </a:lnTo>
                <a:cubicBezTo>
                  <a:pt x="123198" y="38163"/>
                  <a:pt x="117653" y="44836"/>
                  <a:pt x="110289" y="48032"/>
                </a:cubicBezTo>
                <a:lnTo>
                  <a:pt x="110289" y="140368"/>
                </a:lnTo>
                <a:lnTo>
                  <a:pt x="160421" y="140368"/>
                </a:lnTo>
                <a:cubicBezTo>
                  <a:pt x="165967" y="140368"/>
                  <a:pt x="170447" y="144849"/>
                  <a:pt x="170447" y="150395"/>
                </a:cubicBezTo>
                <a:cubicBezTo>
                  <a:pt x="170447" y="155941"/>
                  <a:pt x="165967" y="160421"/>
                  <a:pt x="160421" y="160421"/>
                </a:cubicBezTo>
                <a:lnTo>
                  <a:pt x="40105" y="160421"/>
                </a:lnTo>
                <a:cubicBezTo>
                  <a:pt x="34559" y="160421"/>
                  <a:pt x="30079" y="155941"/>
                  <a:pt x="30079" y="150395"/>
                </a:cubicBezTo>
                <a:cubicBezTo>
                  <a:pt x="30079" y="144849"/>
                  <a:pt x="34559" y="140368"/>
                  <a:pt x="40105" y="140368"/>
                </a:cubicBezTo>
                <a:lnTo>
                  <a:pt x="90237" y="140368"/>
                </a:lnTo>
                <a:lnTo>
                  <a:pt x="90237" y="48032"/>
                </a:lnTo>
                <a:cubicBezTo>
                  <a:pt x="82874" y="44805"/>
                  <a:pt x="77328" y="38131"/>
                  <a:pt x="75699" y="30079"/>
                </a:cubicBezTo>
                <a:lnTo>
                  <a:pt x="40105" y="30079"/>
                </a:lnTo>
                <a:cubicBezTo>
                  <a:pt x="34559" y="30079"/>
                  <a:pt x="30079" y="25598"/>
                  <a:pt x="30079" y="20053"/>
                </a:cubicBezTo>
                <a:cubicBezTo>
                  <a:pt x="30079" y="14507"/>
                  <a:pt x="34559" y="10026"/>
                  <a:pt x="40105" y="10026"/>
                </a:cubicBezTo>
                <a:lnTo>
                  <a:pt x="80211" y="10026"/>
                </a:lnTo>
                <a:cubicBezTo>
                  <a:pt x="84785" y="3948"/>
                  <a:pt x="92054" y="0"/>
                  <a:pt x="100263" y="0"/>
                </a:cubicBezTo>
                <a:cubicBezTo>
                  <a:pt x="108472" y="0"/>
                  <a:pt x="115741" y="3948"/>
                  <a:pt x="120316" y="10026"/>
                </a:cubicBezTo>
                <a:close/>
                <a:moveTo>
                  <a:pt x="137737" y="100263"/>
                </a:moveTo>
                <a:lnTo>
                  <a:pt x="183106" y="100263"/>
                </a:lnTo>
                <a:lnTo>
                  <a:pt x="160421" y="61349"/>
                </a:lnTo>
                <a:lnTo>
                  <a:pt x="137737" y="100263"/>
                </a:lnTo>
                <a:close/>
                <a:moveTo>
                  <a:pt x="160421" y="130342"/>
                </a:moveTo>
                <a:cubicBezTo>
                  <a:pt x="140713" y="130342"/>
                  <a:pt x="124326" y="119689"/>
                  <a:pt x="120942" y="105621"/>
                </a:cubicBezTo>
                <a:cubicBezTo>
                  <a:pt x="120128" y="102174"/>
                  <a:pt x="121256" y="98634"/>
                  <a:pt x="123042" y="95563"/>
                </a:cubicBezTo>
                <a:lnTo>
                  <a:pt x="152870" y="44429"/>
                </a:lnTo>
                <a:cubicBezTo>
                  <a:pt x="154437" y="41735"/>
                  <a:pt x="157319" y="40105"/>
                  <a:pt x="160421" y="40105"/>
                </a:cubicBezTo>
                <a:cubicBezTo>
                  <a:pt x="163523" y="40105"/>
                  <a:pt x="166406" y="41766"/>
                  <a:pt x="167972" y="44429"/>
                </a:cubicBezTo>
                <a:lnTo>
                  <a:pt x="197800" y="95563"/>
                </a:lnTo>
                <a:cubicBezTo>
                  <a:pt x="199586" y="98634"/>
                  <a:pt x="200714" y="102174"/>
                  <a:pt x="199900" y="105621"/>
                </a:cubicBezTo>
                <a:cubicBezTo>
                  <a:pt x="196516" y="119658"/>
                  <a:pt x="180129" y="130342"/>
                  <a:pt x="160421" y="130342"/>
                </a:cubicBezTo>
                <a:close/>
                <a:moveTo>
                  <a:pt x="39729" y="61349"/>
                </a:moveTo>
                <a:lnTo>
                  <a:pt x="17045" y="100263"/>
                </a:lnTo>
                <a:lnTo>
                  <a:pt x="62445" y="100263"/>
                </a:lnTo>
                <a:lnTo>
                  <a:pt x="39729" y="61349"/>
                </a:lnTo>
                <a:close/>
                <a:moveTo>
                  <a:pt x="282" y="105621"/>
                </a:moveTo>
                <a:cubicBezTo>
                  <a:pt x="-533" y="102174"/>
                  <a:pt x="595" y="98634"/>
                  <a:pt x="2381" y="95563"/>
                </a:cubicBezTo>
                <a:lnTo>
                  <a:pt x="32210" y="44429"/>
                </a:lnTo>
                <a:cubicBezTo>
                  <a:pt x="33776" y="41735"/>
                  <a:pt x="36659" y="40105"/>
                  <a:pt x="39761" y="40105"/>
                </a:cubicBezTo>
                <a:cubicBezTo>
                  <a:pt x="42863" y="40105"/>
                  <a:pt x="45745" y="41766"/>
                  <a:pt x="47312" y="44429"/>
                </a:cubicBezTo>
                <a:lnTo>
                  <a:pt x="77140" y="95563"/>
                </a:lnTo>
                <a:cubicBezTo>
                  <a:pt x="78926" y="98634"/>
                  <a:pt x="80054" y="102174"/>
                  <a:pt x="79239" y="105621"/>
                </a:cubicBezTo>
                <a:cubicBezTo>
                  <a:pt x="75855" y="119658"/>
                  <a:pt x="59469" y="130342"/>
                  <a:pt x="39761" y="130342"/>
                </a:cubicBezTo>
                <a:cubicBezTo>
                  <a:pt x="20053" y="130342"/>
                  <a:pt x="3666" y="119689"/>
                  <a:pt x="282" y="105621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688206" y="1890164"/>
            <a:ext cx="5237747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3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Escala de Ponderación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7680" y="2243091"/>
            <a:ext cx="5358063" cy="417095"/>
          </a:xfrm>
          <a:prstGeom prst="roundRect">
            <a:avLst>
              <a:gd name="adj" fmla="val 15385"/>
            </a:avLst>
          </a:prstGeom>
          <a:solidFill>
            <a:srgbClr val="2B6CB0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83933" y="2355385"/>
            <a:ext cx="1371600" cy="19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Mano de obra "buena"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91313" y="2339343"/>
            <a:ext cx="336884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7680" y="2756438"/>
            <a:ext cx="5358063" cy="417095"/>
          </a:xfrm>
          <a:prstGeom prst="roundRect">
            <a:avLst>
              <a:gd name="adj" fmla="val 15385"/>
            </a:avLst>
          </a:prstGeom>
          <a:solidFill>
            <a:srgbClr val="DD6B20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83933" y="2868733"/>
            <a:ext cx="1572126" cy="19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Mano de obra "excelente"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58828" y="2852691"/>
            <a:ext cx="368968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7680" y="3269785"/>
            <a:ext cx="5358063" cy="417095"/>
          </a:xfrm>
          <a:prstGeom prst="roundRect">
            <a:avLst>
              <a:gd name="adj" fmla="val 15385"/>
            </a:avLst>
          </a:prstGeom>
          <a:solidFill>
            <a:srgbClr val="2B6CB0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83933" y="3382080"/>
            <a:ext cx="1483895" cy="19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Otros factores (variable)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41156" y="3366038"/>
            <a:ext cx="585537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0-100%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9419" y="1726536"/>
            <a:ext cx="5685322" cy="2156059"/>
          </a:xfrm>
          <a:prstGeom prst="roundRect">
            <a:avLst>
              <a:gd name="adj" fmla="val 4464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DD6B20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3127" y="1922248"/>
            <a:ext cx="140368" cy="160421"/>
          </a:xfrm>
          <a:custGeom>
            <a:avLst/>
            <a:gdLst/>
            <a:ahLst/>
            <a:cxnLst/>
            <a:rect l="l" t="t" r="r" b="b"/>
            <a:pathLst>
              <a:path w="140368" h="160421">
                <a:moveTo>
                  <a:pt x="60158" y="40105"/>
                </a:moveTo>
                <a:cubicBezTo>
                  <a:pt x="60158" y="23504"/>
                  <a:pt x="46680" y="10026"/>
                  <a:pt x="30079" y="10026"/>
                </a:cubicBezTo>
                <a:cubicBezTo>
                  <a:pt x="13478" y="10026"/>
                  <a:pt x="0" y="23504"/>
                  <a:pt x="0" y="40105"/>
                </a:cubicBezTo>
                <a:cubicBezTo>
                  <a:pt x="0" y="56706"/>
                  <a:pt x="13478" y="70184"/>
                  <a:pt x="30079" y="70184"/>
                </a:cubicBezTo>
                <a:cubicBezTo>
                  <a:pt x="46680" y="70184"/>
                  <a:pt x="60158" y="56706"/>
                  <a:pt x="60158" y="40105"/>
                </a:cubicBezTo>
                <a:close/>
                <a:moveTo>
                  <a:pt x="140368" y="120316"/>
                </a:moveTo>
                <a:cubicBezTo>
                  <a:pt x="140368" y="103715"/>
                  <a:pt x="126890" y="90237"/>
                  <a:pt x="110289" y="90237"/>
                </a:cubicBezTo>
                <a:cubicBezTo>
                  <a:pt x="93688" y="90237"/>
                  <a:pt x="80211" y="103715"/>
                  <a:pt x="80211" y="120316"/>
                </a:cubicBezTo>
                <a:cubicBezTo>
                  <a:pt x="80211" y="136917"/>
                  <a:pt x="93688" y="150395"/>
                  <a:pt x="110289" y="150395"/>
                </a:cubicBezTo>
                <a:cubicBezTo>
                  <a:pt x="126890" y="150395"/>
                  <a:pt x="140368" y="136917"/>
                  <a:pt x="140368" y="120316"/>
                </a:cubicBezTo>
                <a:close/>
                <a:moveTo>
                  <a:pt x="137423" y="27134"/>
                </a:moveTo>
                <a:cubicBezTo>
                  <a:pt x="141340" y="23217"/>
                  <a:pt x="141340" y="16857"/>
                  <a:pt x="137423" y="12940"/>
                </a:cubicBezTo>
                <a:cubicBezTo>
                  <a:pt x="133507" y="9024"/>
                  <a:pt x="127146" y="9024"/>
                  <a:pt x="123230" y="12940"/>
                </a:cubicBezTo>
                <a:lnTo>
                  <a:pt x="2914" y="133256"/>
                </a:lnTo>
                <a:cubicBezTo>
                  <a:pt x="-1003" y="137173"/>
                  <a:pt x="-1003" y="143533"/>
                  <a:pt x="2914" y="147450"/>
                </a:cubicBezTo>
                <a:cubicBezTo>
                  <a:pt x="6830" y="151366"/>
                  <a:pt x="13191" y="151366"/>
                  <a:pt x="17107" y="147450"/>
                </a:cubicBezTo>
                <a:lnTo>
                  <a:pt x="137423" y="27134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0" name="Text 18"/>
          <p:cNvSpPr/>
          <p:nvPr/>
        </p:nvSpPr>
        <p:spPr>
          <a:xfrm>
            <a:off x="6543575" y="1890164"/>
            <a:ext cx="5237747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3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Ponderaciones Asignadas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3048" y="2243091"/>
            <a:ext cx="1155032" cy="19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1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ambiental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677626" y="2307259"/>
            <a:ext cx="1026695" cy="64168"/>
          </a:xfrm>
          <a:prstGeom prst="roundRect">
            <a:avLst>
              <a:gd name="adj" fmla="val 50000"/>
            </a:avLst>
          </a:prstGeom>
          <a:solidFill>
            <a:srgbClr val="1A202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77626" y="2307259"/>
            <a:ext cx="770021" cy="64168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24" name="Text 22"/>
          <p:cNvSpPr/>
          <p:nvPr/>
        </p:nvSpPr>
        <p:spPr>
          <a:xfrm>
            <a:off x="6343048" y="2499764"/>
            <a:ext cx="770021" cy="19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1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Clima social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77626" y="2563933"/>
            <a:ext cx="1026695" cy="64168"/>
          </a:xfrm>
          <a:prstGeom prst="roundRect">
            <a:avLst>
              <a:gd name="adj" fmla="val 50000"/>
            </a:avLst>
          </a:prstGeom>
          <a:solidFill>
            <a:srgbClr val="1A202C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77626" y="2563933"/>
            <a:ext cx="617621" cy="64168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27" name="Text 25"/>
          <p:cNvSpPr/>
          <p:nvPr/>
        </p:nvSpPr>
        <p:spPr>
          <a:xfrm>
            <a:off x="6343048" y="2756438"/>
            <a:ext cx="1387642" cy="19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1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Servicios comunitarios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677626" y="2820606"/>
            <a:ext cx="1026695" cy="64168"/>
          </a:xfrm>
          <a:prstGeom prst="roundRect">
            <a:avLst>
              <a:gd name="adj" fmla="val 50000"/>
            </a:avLst>
          </a:prstGeom>
          <a:solidFill>
            <a:srgbClr val="1A202C"/>
          </a:solidFill>
          <a:ln/>
        </p:spPr>
      </p:sp>
      <p:sp>
        <p:nvSpPr>
          <p:cNvPr id="29" name="Shape 27"/>
          <p:cNvSpPr/>
          <p:nvPr/>
        </p:nvSpPr>
        <p:spPr>
          <a:xfrm>
            <a:off x="10677626" y="2820606"/>
            <a:ext cx="818147" cy="64168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30" name="Text 28"/>
          <p:cNvSpPr/>
          <p:nvPr/>
        </p:nvSpPr>
        <p:spPr>
          <a:xfrm>
            <a:off x="6343048" y="3013112"/>
            <a:ext cx="705853" cy="19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1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Transporte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677626" y="3077280"/>
            <a:ext cx="1026695" cy="64168"/>
          </a:xfrm>
          <a:prstGeom prst="roundRect">
            <a:avLst>
              <a:gd name="adj" fmla="val 50000"/>
            </a:avLst>
          </a:prstGeom>
          <a:solidFill>
            <a:srgbClr val="1A202C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77626" y="3077280"/>
            <a:ext cx="721895" cy="64168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33" name="Text 31"/>
          <p:cNvSpPr/>
          <p:nvPr/>
        </p:nvSpPr>
        <p:spPr>
          <a:xfrm>
            <a:off x="6343048" y="3269785"/>
            <a:ext cx="850232" cy="19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1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Competencia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677626" y="3333954"/>
            <a:ext cx="1026695" cy="64168"/>
          </a:xfrm>
          <a:prstGeom prst="roundRect">
            <a:avLst>
              <a:gd name="adj" fmla="val 50000"/>
            </a:avLst>
          </a:prstGeom>
          <a:solidFill>
            <a:srgbClr val="1A202C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77626" y="3333954"/>
            <a:ext cx="465221" cy="64168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36" name="Text 34"/>
          <p:cNvSpPr/>
          <p:nvPr/>
        </p:nvSpPr>
        <p:spPr>
          <a:xfrm>
            <a:off x="6343048" y="3526459"/>
            <a:ext cx="1499937" cy="19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1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Actitud de la comunidad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677626" y="3590627"/>
            <a:ext cx="1026695" cy="64168"/>
          </a:xfrm>
          <a:prstGeom prst="roundRect">
            <a:avLst>
              <a:gd name="adj" fmla="val 50000"/>
            </a:avLst>
          </a:prstGeom>
          <a:solidFill>
            <a:srgbClr val="1A202C"/>
          </a:solidFill>
          <a:ln/>
        </p:spPr>
      </p:sp>
      <p:sp>
        <p:nvSpPr>
          <p:cNvPr id="38" name="Shape 36"/>
          <p:cNvSpPr/>
          <p:nvPr/>
        </p:nvSpPr>
        <p:spPr>
          <a:xfrm>
            <a:off x="10677626" y="3590627"/>
            <a:ext cx="874295" cy="64168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39" name="Shape 37"/>
          <p:cNvSpPr/>
          <p:nvPr/>
        </p:nvSpPr>
        <p:spPr>
          <a:xfrm>
            <a:off x="324051" y="4017346"/>
            <a:ext cx="11540691" cy="2605238"/>
          </a:xfrm>
          <a:prstGeom prst="roundRect">
            <a:avLst>
              <a:gd name="adj" fmla="val 3695"/>
            </a:avLst>
          </a:prstGeom>
          <a:solidFill>
            <a:srgbClr val="2B6CB0">
              <a:alpha val="14902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7785" y="4213058"/>
            <a:ext cx="120316" cy="160421"/>
          </a:xfrm>
          <a:custGeom>
            <a:avLst/>
            <a:gdLst/>
            <a:ahLst/>
            <a:cxnLst/>
            <a:rect l="l" t="t" r="r" b="b"/>
            <a:pathLst>
              <a:path w="120316" h="160421">
                <a:moveTo>
                  <a:pt x="97569" y="10026"/>
                </a:moveTo>
                <a:lnTo>
                  <a:pt x="100263" y="10026"/>
                </a:lnTo>
                <a:cubicBezTo>
                  <a:pt x="111323" y="10026"/>
                  <a:pt x="120316" y="19019"/>
                  <a:pt x="120316" y="30079"/>
                </a:cubicBezTo>
                <a:lnTo>
                  <a:pt x="120316" y="140368"/>
                </a:lnTo>
                <a:cubicBezTo>
                  <a:pt x="120316" y="151429"/>
                  <a:pt x="111323" y="160421"/>
                  <a:pt x="100263" y="160421"/>
                </a:cubicBezTo>
                <a:lnTo>
                  <a:pt x="20053" y="160421"/>
                </a:lnTo>
                <a:cubicBezTo>
                  <a:pt x="8992" y="160421"/>
                  <a:pt x="0" y="151429"/>
                  <a:pt x="0" y="140368"/>
                </a:cubicBezTo>
                <a:lnTo>
                  <a:pt x="0" y="30079"/>
                </a:lnTo>
                <a:cubicBezTo>
                  <a:pt x="0" y="19019"/>
                  <a:pt x="8992" y="10026"/>
                  <a:pt x="20053" y="10026"/>
                </a:cubicBezTo>
                <a:lnTo>
                  <a:pt x="22747" y="10026"/>
                </a:lnTo>
                <a:cubicBezTo>
                  <a:pt x="26194" y="4042"/>
                  <a:pt x="32680" y="0"/>
                  <a:pt x="40105" y="0"/>
                </a:cubicBezTo>
                <a:lnTo>
                  <a:pt x="80211" y="0"/>
                </a:lnTo>
                <a:cubicBezTo>
                  <a:pt x="87636" y="0"/>
                  <a:pt x="94122" y="4042"/>
                  <a:pt x="97569" y="10026"/>
                </a:cubicBezTo>
                <a:close/>
                <a:moveTo>
                  <a:pt x="77704" y="35092"/>
                </a:moveTo>
                <a:cubicBezTo>
                  <a:pt x="81871" y="35092"/>
                  <a:pt x="85224" y="31740"/>
                  <a:pt x="85224" y="27572"/>
                </a:cubicBezTo>
                <a:cubicBezTo>
                  <a:pt x="85224" y="23405"/>
                  <a:pt x="81871" y="20053"/>
                  <a:pt x="77704" y="20053"/>
                </a:cubicBezTo>
                <a:lnTo>
                  <a:pt x="42612" y="20053"/>
                </a:lnTo>
                <a:cubicBezTo>
                  <a:pt x="38445" y="20053"/>
                  <a:pt x="35092" y="23405"/>
                  <a:pt x="35092" y="27572"/>
                </a:cubicBezTo>
                <a:cubicBezTo>
                  <a:pt x="35092" y="31740"/>
                  <a:pt x="38445" y="35092"/>
                  <a:pt x="42612" y="35092"/>
                </a:cubicBezTo>
                <a:lnTo>
                  <a:pt x="77704" y="35092"/>
                </a:lnTo>
                <a:close/>
                <a:moveTo>
                  <a:pt x="40105" y="80211"/>
                </a:moveTo>
                <a:cubicBezTo>
                  <a:pt x="40105" y="74677"/>
                  <a:pt x="35613" y="70184"/>
                  <a:pt x="30079" y="70184"/>
                </a:cubicBezTo>
                <a:cubicBezTo>
                  <a:pt x="24545" y="70184"/>
                  <a:pt x="20053" y="74677"/>
                  <a:pt x="20053" y="80211"/>
                </a:cubicBezTo>
                <a:cubicBezTo>
                  <a:pt x="20053" y="85744"/>
                  <a:pt x="24545" y="90237"/>
                  <a:pt x="30079" y="90237"/>
                </a:cubicBezTo>
                <a:cubicBezTo>
                  <a:pt x="35613" y="90237"/>
                  <a:pt x="40105" y="85744"/>
                  <a:pt x="40105" y="80211"/>
                </a:cubicBezTo>
                <a:close/>
                <a:moveTo>
                  <a:pt x="50132" y="80211"/>
                </a:moveTo>
                <a:cubicBezTo>
                  <a:pt x="50132" y="84378"/>
                  <a:pt x="53484" y="87730"/>
                  <a:pt x="57651" y="87730"/>
                </a:cubicBezTo>
                <a:lnTo>
                  <a:pt x="92743" y="87730"/>
                </a:lnTo>
                <a:cubicBezTo>
                  <a:pt x="96911" y="87730"/>
                  <a:pt x="100263" y="84378"/>
                  <a:pt x="100263" y="80211"/>
                </a:cubicBezTo>
                <a:cubicBezTo>
                  <a:pt x="100263" y="76043"/>
                  <a:pt x="96911" y="72691"/>
                  <a:pt x="92743" y="72691"/>
                </a:cubicBezTo>
                <a:lnTo>
                  <a:pt x="57651" y="72691"/>
                </a:lnTo>
                <a:cubicBezTo>
                  <a:pt x="53484" y="72691"/>
                  <a:pt x="50132" y="76043"/>
                  <a:pt x="50132" y="80211"/>
                </a:cubicBezTo>
                <a:close/>
                <a:moveTo>
                  <a:pt x="50132" y="120316"/>
                </a:moveTo>
                <a:cubicBezTo>
                  <a:pt x="50132" y="124483"/>
                  <a:pt x="53484" y="127836"/>
                  <a:pt x="57651" y="127836"/>
                </a:cubicBezTo>
                <a:lnTo>
                  <a:pt x="92743" y="127836"/>
                </a:lnTo>
                <a:cubicBezTo>
                  <a:pt x="96911" y="127836"/>
                  <a:pt x="100263" y="124483"/>
                  <a:pt x="100263" y="120316"/>
                </a:cubicBezTo>
                <a:cubicBezTo>
                  <a:pt x="100263" y="116149"/>
                  <a:pt x="96911" y="112796"/>
                  <a:pt x="92743" y="112796"/>
                </a:cubicBezTo>
                <a:lnTo>
                  <a:pt x="57651" y="112796"/>
                </a:lnTo>
                <a:cubicBezTo>
                  <a:pt x="53484" y="112796"/>
                  <a:pt x="50132" y="116149"/>
                  <a:pt x="50132" y="120316"/>
                </a:cubicBezTo>
                <a:close/>
                <a:moveTo>
                  <a:pt x="30079" y="130342"/>
                </a:moveTo>
                <a:cubicBezTo>
                  <a:pt x="35613" y="130342"/>
                  <a:pt x="40105" y="125849"/>
                  <a:pt x="40105" y="120316"/>
                </a:cubicBezTo>
                <a:cubicBezTo>
                  <a:pt x="40105" y="114782"/>
                  <a:pt x="35613" y="110289"/>
                  <a:pt x="30079" y="110289"/>
                </a:cubicBezTo>
                <a:cubicBezTo>
                  <a:pt x="24545" y="110289"/>
                  <a:pt x="20053" y="114782"/>
                  <a:pt x="20053" y="120316"/>
                </a:cubicBezTo>
                <a:cubicBezTo>
                  <a:pt x="20053" y="125849"/>
                  <a:pt x="24545" y="130342"/>
                  <a:pt x="30079" y="130342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41" name="Text 39"/>
          <p:cNvSpPr/>
          <p:nvPr/>
        </p:nvSpPr>
        <p:spPr>
          <a:xfrm>
            <a:off x="688206" y="4180974"/>
            <a:ext cx="11093116" cy="22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3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Factores Subjetivos por Ciudad</a:t>
            </a:r>
            <a:endParaRPr lang="en-US" sz="16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227534"/>
              </p:ext>
            </p:extLst>
          </p:nvPr>
        </p:nvGraphicFramePr>
        <p:xfrm>
          <a:off x="487680" y="4501816"/>
          <a:ext cx="11213431" cy="2242690"/>
        </p:xfrm>
        <a:graphic>
          <a:graphicData uri="http://schemas.openxmlformats.org/drawingml/2006/table">
            <a:tbl>
              <a:tblPr/>
              <a:tblGrid>
                <a:gridCol w="1575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010">
                  <a:extLst>
                    <a:ext uri="{9D8B030D-6E8A-4147-A177-3AD203B41FA5}">
                      <a16:colId xmlns:a16="http://schemas.microsoft.com/office/drawing/2014/main" val="671988329"/>
                    </a:ext>
                  </a:extLst>
                </a:gridCol>
                <a:gridCol w="2003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3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9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5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96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Factor Subjetivo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Ponderación</a:t>
                      </a:r>
                      <a:endParaRPr lang="en-US" sz="1400" dirty="0">
                        <a:solidFill>
                          <a:srgbClr val="FF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Ciudad 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Ciudad B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Ciudad C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Ciudad 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69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Mano de obra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微软雅黑" charset="0"/>
                          <a:ea typeface="微软雅黑" charset="0"/>
                          <a:cs typeface="微软雅黑" charset="0"/>
                        </a:rPr>
                        <a:t>45%</a:t>
                      </a: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45%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2B6C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969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Clima social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微软雅黑" charset="0"/>
                          <a:ea typeface="微软雅黑" charset="0"/>
                          <a:cs typeface="微软雅黑" charset="0"/>
                        </a:rPr>
                        <a:t>30%</a:t>
                      </a: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969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Servicios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微软雅黑" charset="0"/>
                          <a:ea typeface="微软雅黑" charset="0"/>
                          <a:cs typeface="微软雅黑" charset="0"/>
                        </a:rPr>
                        <a:t>25%</a:t>
                      </a: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26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FS Total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微软雅黑" charset="0"/>
                          <a:ea typeface="微软雅黑" charset="0"/>
                          <a:cs typeface="微软雅黑" charset="0"/>
                        </a:rPr>
                        <a:t>100%</a:t>
                      </a: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2B6CB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65%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2B6CB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73%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2B6CB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98%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DD6B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90%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6253" marR="96253" marT="96253" marB="962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RESULTADOS FINALES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Combinación y Resultados Finales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675" y="1019175"/>
            <a:ext cx="11547475" cy="2355850"/>
          </a:xfrm>
          <a:prstGeom prst="roundRect">
            <a:avLst>
              <a:gd name="adj" fmla="val 4043"/>
            </a:avLst>
          </a:prstGeom>
          <a:solidFill>
            <a:srgbClr val="2B6CB0">
              <a:alpha val="14902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444" y="121284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20433" y="70848"/>
                </a:moveTo>
                <a:cubicBezTo>
                  <a:pt x="24557" y="42013"/>
                  <a:pt x="49392" y="19844"/>
                  <a:pt x="79375" y="19844"/>
                </a:cubicBezTo>
                <a:cubicBezTo>
                  <a:pt x="95808" y="19844"/>
                  <a:pt x="110691" y="26510"/>
                  <a:pt x="121481" y="37269"/>
                </a:cubicBezTo>
                <a:cubicBezTo>
                  <a:pt x="121543" y="37331"/>
                  <a:pt x="121605" y="37393"/>
                  <a:pt x="121667" y="37455"/>
                </a:cubicBezTo>
                <a:lnTo>
                  <a:pt x="124023" y="39688"/>
                </a:lnTo>
                <a:lnTo>
                  <a:pt x="109172" y="39688"/>
                </a:lnTo>
                <a:cubicBezTo>
                  <a:pt x="103684" y="39688"/>
                  <a:pt x="99250" y="44121"/>
                  <a:pt x="99250" y="49609"/>
                </a:cubicBezTo>
                <a:cubicBezTo>
                  <a:pt x="99250" y="55097"/>
                  <a:pt x="103684" y="59531"/>
                  <a:pt x="109172" y="59531"/>
                </a:cubicBezTo>
                <a:lnTo>
                  <a:pt x="148859" y="59531"/>
                </a:lnTo>
                <a:cubicBezTo>
                  <a:pt x="154347" y="59531"/>
                  <a:pt x="158781" y="55097"/>
                  <a:pt x="158781" y="49609"/>
                </a:cubicBezTo>
                <a:lnTo>
                  <a:pt x="158781" y="9922"/>
                </a:lnTo>
                <a:cubicBezTo>
                  <a:pt x="158781" y="4434"/>
                  <a:pt x="154347" y="0"/>
                  <a:pt x="148859" y="0"/>
                </a:cubicBezTo>
                <a:cubicBezTo>
                  <a:pt x="143371" y="0"/>
                  <a:pt x="138937" y="4434"/>
                  <a:pt x="138937" y="9922"/>
                </a:cubicBezTo>
                <a:lnTo>
                  <a:pt x="138937" y="26479"/>
                </a:lnTo>
                <a:lnTo>
                  <a:pt x="135434" y="23161"/>
                </a:lnTo>
                <a:cubicBezTo>
                  <a:pt x="121078" y="8868"/>
                  <a:pt x="101234" y="0"/>
                  <a:pt x="79375" y="0"/>
                </a:cubicBezTo>
                <a:cubicBezTo>
                  <a:pt x="39377" y="0"/>
                  <a:pt x="6294" y="29580"/>
                  <a:pt x="806" y="68058"/>
                </a:cubicBezTo>
                <a:cubicBezTo>
                  <a:pt x="31" y="73484"/>
                  <a:pt x="3783" y="78507"/>
                  <a:pt x="9209" y="79282"/>
                </a:cubicBezTo>
                <a:cubicBezTo>
                  <a:pt x="14635" y="80057"/>
                  <a:pt x="19658" y="76274"/>
                  <a:pt x="20433" y="70879"/>
                </a:cubicBezTo>
                <a:close/>
                <a:moveTo>
                  <a:pt x="157944" y="90692"/>
                </a:moveTo>
                <a:cubicBezTo>
                  <a:pt x="158719" y="85266"/>
                  <a:pt x="154936" y="80243"/>
                  <a:pt x="149541" y="79468"/>
                </a:cubicBezTo>
                <a:cubicBezTo>
                  <a:pt x="144146" y="78693"/>
                  <a:pt x="139092" y="82476"/>
                  <a:pt x="138317" y="87871"/>
                </a:cubicBezTo>
                <a:cubicBezTo>
                  <a:pt x="134193" y="116706"/>
                  <a:pt x="109358" y="138875"/>
                  <a:pt x="79375" y="138875"/>
                </a:cubicBezTo>
                <a:cubicBezTo>
                  <a:pt x="62942" y="138875"/>
                  <a:pt x="48059" y="132209"/>
                  <a:pt x="37269" y="121450"/>
                </a:cubicBezTo>
                <a:cubicBezTo>
                  <a:pt x="37207" y="121388"/>
                  <a:pt x="37145" y="121326"/>
                  <a:pt x="37083" y="121264"/>
                </a:cubicBezTo>
                <a:lnTo>
                  <a:pt x="34727" y="119031"/>
                </a:lnTo>
                <a:lnTo>
                  <a:pt x="49578" y="119031"/>
                </a:lnTo>
                <a:cubicBezTo>
                  <a:pt x="55066" y="119031"/>
                  <a:pt x="59500" y="114598"/>
                  <a:pt x="59500" y="109110"/>
                </a:cubicBezTo>
                <a:cubicBezTo>
                  <a:pt x="59500" y="103622"/>
                  <a:pt x="55066" y="99188"/>
                  <a:pt x="49578" y="99188"/>
                </a:cubicBezTo>
                <a:lnTo>
                  <a:pt x="9922" y="99219"/>
                </a:lnTo>
                <a:cubicBezTo>
                  <a:pt x="7286" y="99219"/>
                  <a:pt x="4744" y="100273"/>
                  <a:pt x="2884" y="102164"/>
                </a:cubicBezTo>
                <a:cubicBezTo>
                  <a:pt x="1023" y="104056"/>
                  <a:pt x="-31" y="106567"/>
                  <a:pt x="0" y="109234"/>
                </a:cubicBezTo>
                <a:lnTo>
                  <a:pt x="310" y="148611"/>
                </a:lnTo>
                <a:cubicBezTo>
                  <a:pt x="341" y="154099"/>
                  <a:pt x="4837" y="158502"/>
                  <a:pt x="10325" y="158440"/>
                </a:cubicBezTo>
                <a:cubicBezTo>
                  <a:pt x="15813" y="158378"/>
                  <a:pt x="20216" y="153913"/>
                  <a:pt x="20154" y="148425"/>
                </a:cubicBezTo>
                <a:lnTo>
                  <a:pt x="20030" y="132457"/>
                </a:lnTo>
                <a:lnTo>
                  <a:pt x="23347" y="135589"/>
                </a:lnTo>
                <a:cubicBezTo>
                  <a:pt x="37703" y="149882"/>
                  <a:pt x="57516" y="158750"/>
                  <a:pt x="79375" y="158750"/>
                </a:cubicBezTo>
                <a:cubicBezTo>
                  <a:pt x="119373" y="158750"/>
                  <a:pt x="152456" y="129170"/>
                  <a:pt x="157944" y="90692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681037" y="1181098"/>
            <a:ext cx="1110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Fórmula del Algoritmo Sinérgico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2600" y="1498598"/>
            <a:ext cx="11223625" cy="508000"/>
          </a:xfrm>
          <a:prstGeom prst="roundRect">
            <a:avLst>
              <a:gd name="adj" fmla="val 12500"/>
            </a:avLst>
          </a:prstGeom>
          <a:solidFill>
            <a:srgbClr val="1A202C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1975" y="1625598"/>
            <a:ext cx="11064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IL = FC × [α × FO + (1-α) × FS]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2600" y="2101755"/>
            <a:ext cx="3659187" cy="603250"/>
          </a:xfrm>
          <a:prstGeom prst="roundRect">
            <a:avLst>
              <a:gd name="adj" fmla="val 10526"/>
            </a:avLst>
          </a:prstGeom>
          <a:solidFill>
            <a:srgbClr val="2B6CB0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6100" y="2197005"/>
            <a:ext cx="353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131" y="2387505"/>
            <a:ext cx="3540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Índice de Localización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67200" y="2101755"/>
            <a:ext cx="3659187" cy="603250"/>
          </a:xfrm>
          <a:prstGeom prst="roundRect">
            <a:avLst>
              <a:gd name="adj" fmla="val 10526"/>
            </a:avLst>
          </a:prstGeom>
          <a:solidFill>
            <a:srgbClr val="DD6B20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330700" y="2197005"/>
            <a:ext cx="353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26732" y="2387505"/>
            <a:ext cx="3540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 Crítico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51800" y="2101755"/>
            <a:ext cx="3659187" cy="603250"/>
          </a:xfrm>
          <a:prstGeom prst="roundRect">
            <a:avLst>
              <a:gd name="adj" fmla="val 10526"/>
            </a:avLst>
          </a:prstGeom>
          <a:solidFill>
            <a:srgbClr val="2B6CB0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115300" y="2197005"/>
            <a:ext cx="353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11331" y="2387505"/>
            <a:ext cx="3540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Nivel de confiabilidad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2600" y="2800255"/>
            <a:ext cx="11223625" cy="412750"/>
          </a:xfrm>
          <a:prstGeom prst="roundRect">
            <a:avLst>
              <a:gd name="adj" fmla="val 15385"/>
            </a:avLst>
          </a:prstGeom>
          <a:solidFill>
            <a:srgbClr val="DD6B20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794250" y="2946301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62508" y="44648"/>
                </a:moveTo>
                <a:cubicBezTo>
                  <a:pt x="62508" y="39720"/>
                  <a:pt x="66509" y="35719"/>
                  <a:pt x="71438" y="35719"/>
                </a:cubicBezTo>
                <a:cubicBezTo>
                  <a:pt x="76366" y="35719"/>
                  <a:pt x="80367" y="39720"/>
                  <a:pt x="80367" y="44648"/>
                </a:cubicBezTo>
                <a:cubicBezTo>
                  <a:pt x="80367" y="49577"/>
                  <a:pt x="76366" y="53578"/>
                  <a:pt x="71438" y="53578"/>
                </a:cubicBezTo>
                <a:cubicBezTo>
                  <a:pt x="66509" y="53578"/>
                  <a:pt x="62508" y="49577"/>
                  <a:pt x="62508" y="44648"/>
                </a:cubicBezTo>
                <a:close/>
                <a:moveTo>
                  <a:pt x="60275" y="62508"/>
                </a:moveTo>
                <a:lnTo>
                  <a:pt x="73670" y="62508"/>
                </a:lnTo>
                <a:cubicBezTo>
                  <a:pt x="77381" y="62508"/>
                  <a:pt x="80367" y="65494"/>
                  <a:pt x="80367" y="69205"/>
                </a:cubicBezTo>
                <a:lnTo>
                  <a:pt x="80367" y="93762"/>
                </a:lnTo>
                <a:lnTo>
                  <a:pt x="82600" y="93762"/>
                </a:lnTo>
                <a:cubicBezTo>
                  <a:pt x="86311" y="93762"/>
                  <a:pt x="89297" y="96748"/>
                  <a:pt x="89297" y="100459"/>
                </a:cubicBezTo>
                <a:cubicBezTo>
                  <a:pt x="89297" y="104170"/>
                  <a:pt x="86311" y="107156"/>
                  <a:pt x="82600" y="107156"/>
                </a:cubicBezTo>
                <a:lnTo>
                  <a:pt x="60275" y="107156"/>
                </a:lnTo>
                <a:cubicBezTo>
                  <a:pt x="56564" y="107156"/>
                  <a:pt x="53578" y="104170"/>
                  <a:pt x="53578" y="100459"/>
                </a:cubicBezTo>
                <a:cubicBezTo>
                  <a:pt x="53578" y="96748"/>
                  <a:pt x="56564" y="93762"/>
                  <a:pt x="60275" y="93762"/>
                </a:cubicBezTo>
                <a:lnTo>
                  <a:pt x="66973" y="93762"/>
                </a:lnTo>
                <a:lnTo>
                  <a:pt x="66973" y="75902"/>
                </a:lnTo>
                <a:lnTo>
                  <a:pt x="60275" y="75902"/>
                </a:lnTo>
                <a:cubicBezTo>
                  <a:pt x="56564" y="75902"/>
                  <a:pt x="53578" y="72916"/>
                  <a:pt x="53578" y="69205"/>
                </a:cubicBezTo>
                <a:cubicBezTo>
                  <a:pt x="53578" y="65494"/>
                  <a:pt x="56564" y="62508"/>
                  <a:pt x="60275" y="62508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0" name="Text 18"/>
          <p:cNvSpPr/>
          <p:nvPr/>
        </p:nvSpPr>
        <p:spPr>
          <a:xfrm>
            <a:off x="764381" y="2895505"/>
            <a:ext cx="10882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Alfa (α) = </a:t>
            </a:r>
            <a:r>
              <a:rPr lang="en-US" sz="1125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0.8</a:t>
            </a:r>
            <a:r>
              <a:rPr lang="en-US" sz="1125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(80% de confiabilidad)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0675" y="3508279"/>
            <a:ext cx="11547475" cy="1974850"/>
          </a:xfrm>
          <a:prstGeom prst="roundRect">
            <a:avLst>
              <a:gd name="adj" fmla="val 4823"/>
            </a:avLst>
          </a:prstGeom>
          <a:solidFill>
            <a:srgbClr val="1A202C">
              <a:alpha val="60000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2522" y="3701952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99219" y="0"/>
                </a:moveTo>
                <a:cubicBezTo>
                  <a:pt x="88274" y="0"/>
                  <a:pt x="79375" y="8899"/>
                  <a:pt x="79375" y="19844"/>
                </a:cubicBezTo>
                <a:lnTo>
                  <a:pt x="79375" y="29766"/>
                </a:lnTo>
                <a:lnTo>
                  <a:pt x="64492" y="29766"/>
                </a:lnTo>
                <a:lnTo>
                  <a:pt x="64492" y="7441"/>
                </a:lnTo>
                <a:cubicBezTo>
                  <a:pt x="64492" y="3318"/>
                  <a:pt x="61175" y="0"/>
                  <a:pt x="57051" y="0"/>
                </a:cubicBezTo>
                <a:cubicBezTo>
                  <a:pt x="52927" y="0"/>
                  <a:pt x="49609" y="3318"/>
                  <a:pt x="49609" y="7441"/>
                </a:cubicBezTo>
                <a:lnTo>
                  <a:pt x="49609" y="29766"/>
                </a:lnTo>
                <a:lnTo>
                  <a:pt x="29766" y="29766"/>
                </a:lnTo>
                <a:lnTo>
                  <a:pt x="29766" y="7441"/>
                </a:lnTo>
                <a:cubicBezTo>
                  <a:pt x="29766" y="3318"/>
                  <a:pt x="26448" y="0"/>
                  <a:pt x="22324" y="0"/>
                </a:cubicBezTo>
                <a:cubicBezTo>
                  <a:pt x="18200" y="0"/>
                  <a:pt x="14883" y="3318"/>
                  <a:pt x="14883" y="7441"/>
                </a:cubicBezTo>
                <a:lnTo>
                  <a:pt x="14883" y="30386"/>
                </a:lnTo>
                <a:cubicBezTo>
                  <a:pt x="6325" y="32587"/>
                  <a:pt x="0" y="40370"/>
                  <a:pt x="0" y="49609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158750" y="158750"/>
                </a:lnTo>
                <a:cubicBezTo>
                  <a:pt x="169695" y="158750"/>
                  <a:pt x="178594" y="149851"/>
                  <a:pt x="178594" y="138906"/>
                </a:cubicBezTo>
                <a:lnTo>
                  <a:pt x="178594" y="79375"/>
                </a:lnTo>
                <a:cubicBezTo>
                  <a:pt x="178594" y="68430"/>
                  <a:pt x="169695" y="59531"/>
                  <a:pt x="158750" y="59531"/>
                </a:cubicBezTo>
                <a:lnTo>
                  <a:pt x="138906" y="59531"/>
                </a:lnTo>
                <a:lnTo>
                  <a:pt x="138906" y="19844"/>
                </a:lnTo>
                <a:cubicBezTo>
                  <a:pt x="138906" y="8899"/>
                  <a:pt x="130008" y="0"/>
                  <a:pt x="119062" y="0"/>
                </a:cubicBezTo>
                <a:lnTo>
                  <a:pt x="99219" y="0"/>
                </a:lnTo>
                <a:close/>
                <a:moveTo>
                  <a:pt x="119062" y="34727"/>
                </a:moveTo>
                <a:lnTo>
                  <a:pt x="119062" y="44648"/>
                </a:lnTo>
                <a:cubicBezTo>
                  <a:pt x="119062" y="47377"/>
                  <a:pt x="116830" y="49609"/>
                  <a:pt x="114102" y="49609"/>
                </a:cubicBezTo>
                <a:lnTo>
                  <a:pt x="104180" y="49609"/>
                </a:lnTo>
                <a:cubicBezTo>
                  <a:pt x="101451" y="49609"/>
                  <a:pt x="99219" y="47377"/>
                  <a:pt x="99219" y="44648"/>
                </a:cubicBezTo>
                <a:lnTo>
                  <a:pt x="99219" y="34727"/>
                </a:lnTo>
                <a:cubicBezTo>
                  <a:pt x="99219" y="31998"/>
                  <a:pt x="101451" y="29766"/>
                  <a:pt x="104180" y="29766"/>
                </a:cubicBezTo>
                <a:lnTo>
                  <a:pt x="114102" y="29766"/>
                </a:lnTo>
                <a:cubicBezTo>
                  <a:pt x="116830" y="29766"/>
                  <a:pt x="119062" y="31998"/>
                  <a:pt x="119062" y="34727"/>
                </a:cubicBezTo>
                <a:close/>
                <a:moveTo>
                  <a:pt x="114102" y="59531"/>
                </a:moveTo>
                <a:cubicBezTo>
                  <a:pt x="116830" y="59531"/>
                  <a:pt x="119062" y="61764"/>
                  <a:pt x="119062" y="64492"/>
                </a:cubicBezTo>
                <a:lnTo>
                  <a:pt x="119062" y="74414"/>
                </a:lnTo>
                <a:cubicBezTo>
                  <a:pt x="119062" y="77143"/>
                  <a:pt x="116830" y="79375"/>
                  <a:pt x="114102" y="79375"/>
                </a:cubicBezTo>
                <a:lnTo>
                  <a:pt x="104180" y="79375"/>
                </a:lnTo>
                <a:cubicBezTo>
                  <a:pt x="101451" y="79375"/>
                  <a:pt x="99219" y="77143"/>
                  <a:pt x="99219" y="74414"/>
                </a:cubicBezTo>
                <a:lnTo>
                  <a:pt x="99219" y="64492"/>
                </a:lnTo>
                <a:cubicBezTo>
                  <a:pt x="99219" y="61764"/>
                  <a:pt x="101451" y="59531"/>
                  <a:pt x="104180" y="59531"/>
                </a:cubicBezTo>
                <a:lnTo>
                  <a:pt x="114102" y="59531"/>
                </a:lnTo>
                <a:close/>
                <a:moveTo>
                  <a:pt x="119062" y="94258"/>
                </a:moveTo>
                <a:lnTo>
                  <a:pt x="119062" y="104180"/>
                </a:lnTo>
                <a:cubicBezTo>
                  <a:pt x="119062" y="106908"/>
                  <a:pt x="116830" y="109141"/>
                  <a:pt x="114102" y="109141"/>
                </a:cubicBezTo>
                <a:lnTo>
                  <a:pt x="104180" y="109141"/>
                </a:lnTo>
                <a:cubicBezTo>
                  <a:pt x="101451" y="109141"/>
                  <a:pt x="99219" y="106908"/>
                  <a:pt x="99219" y="104180"/>
                </a:cubicBezTo>
                <a:lnTo>
                  <a:pt x="99219" y="94258"/>
                </a:lnTo>
                <a:cubicBezTo>
                  <a:pt x="99219" y="91529"/>
                  <a:pt x="101451" y="89297"/>
                  <a:pt x="104180" y="89297"/>
                </a:cubicBezTo>
                <a:lnTo>
                  <a:pt x="114102" y="89297"/>
                </a:lnTo>
                <a:cubicBezTo>
                  <a:pt x="116830" y="89297"/>
                  <a:pt x="119062" y="91529"/>
                  <a:pt x="119062" y="94258"/>
                </a:cubicBezTo>
                <a:close/>
                <a:moveTo>
                  <a:pt x="153789" y="89297"/>
                </a:moveTo>
                <a:cubicBezTo>
                  <a:pt x="156518" y="89297"/>
                  <a:pt x="158750" y="91529"/>
                  <a:pt x="158750" y="94258"/>
                </a:cubicBezTo>
                <a:lnTo>
                  <a:pt x="158750" y="104180"/>
                </a:lnTo>
                <a:cubicBezTo>
                  <a:pt x="158750" y="106908"/>
                  <a:pt x="156518" y="109141"/>
                  <a:pt x="153789" y="109141"/>
                </a:cubicBezTo>
                <a:lnTo>
                  <a:pt x="143867" y="109141"/>
                </a:lnTo>
                <a:cubicBezTo>
                  <a:pt x="141139" y="109141"/>
                  <a:pt x="138906" y="106908"/>
                  <a:pt x="138906" y="104180"/>
                </a:cubicBezTo>
                <a:lnTo>
                  <a:pt x="138906" y="94258"/>
                </a:lnTo>
                <a:cubicBezTo>
                  <a:pt x="138906" y="91529"/>
                  <a:pt x="141139" y="89297"/>
                  <a:pt x="143867" y="89297"/>
                </a:cubicBezTo>
                <a:lnTo>
                  <a:pt x="153789" y="89297"/>
                </a:lnTo>
                <a:close/>
                <a:moveTo>
                  <a:pt x="79375" y="94258"/>
                </a:moveTo>
                <a:lnTo>
                  <a:pt x="79375" y="104180"/>
                </a:lnTo>
                <a:cubicBezTo>
                  <a:pt x="79375" y="106908"/>
                  <a:pt x="77143" y="109141"/>
                  <a:pt x="74414" y="109141"/>
                </a:cubicBezTo>
                <a:lnTo>
                  <a:pt x="64492" y="109141"/>
                </a:lnTo>
                <a:cubicBezTo>
                  <a:pt x="61764" y="109141"/>
                  <a:pt x="59531" y="106908"/>
                  <a:pt x="59531" y="104180"/>
                </a:cubicBezTo>
                <a:lnTo>
                  <a:pt x="59531" y="94258"/>
                </a:lnTo>
                <a:cubicBezTo>
                  <a:pt x="59531" y="91529"/>
                  <a:pt x="61764" y="89297"/>
                  <a:pt x="64492" y="89297"/>
                </a:cubicBezTo>
                <a:lnTo>
                  <a:pt x="74414" y="89297"/>
                </a:lnTo>
                <a:cubicBezTo>
                  <a:pt x="77143" y="89297"/>
                  <a:pt x="79375" y="91529"/>
                  <a:pt x="79375" y="94258"/>
                </a:cubicBezTo>
                <a:close/>
                <a:moveTo>
                  <a:pt x="74414" y="59531"/>
                </a:moveTo>
                <a:cubicBezTo>
                  <a:pt x="77143" y="59531"/>
                  <a:pt x="79375" y="61764"/>
                  <a:pt x="79375" y="64492"/>
                </a:cubicBezTo>
                <a:lnTo>
                  <a:pt x="79375" y="74414"/>
                </a:lnTo>
                <a:cubicBezTo>
                  <a:pt x="79375" y="77143"/>
                  <a:pt x="77143" y="79375"/>
                  <a:pt x="74414" y="79375"/>
                </a:cubicBezTo>
                <a:lnTo>
                  <a:pt x="64492" y="79375"/>
                </a:lnTo>
                <a:cubicBezTo>
                  <a:pt x="61764" y="79375"/>
                  <a:pt x="59531" y="77143"/>
                  <a:pt x="59531" y="74414"/>
                </a:cubicBezTo>
                <a:lnTo>
                  <a:pt x="59531" y="64492"/>
                </a:lnTo>
                <a:cubicBezTo>
                  <a:pt x="59531" y="61764"/>
                  <a:pt x="61764" y="59531"/>
                  <a:pt x="64492" y="59531"/>
                </a:cubicBezTo>
                <a:lnTo>
                  <a:pt x="74414" y="59531"/>
                </a:lnTo>
                <a:close/>
                <a:moveTo>
                  <a:pt x="39688" y="94258"/>
                </a:moveTo>
                <a:lnTo>
                  <a:pt x="39688" y="104180"/>
                </a:lnTo>
                <a:cubicBezTo>
                  <a:pt x="39688" y="106908"/>
                  <a:pt x="37455" y="109141"/>
                  <a:pt x="34727" y="109141"/>
                </a:cubicBezTo>
                <a:lnTo>
                  <a:pt x="24805" y="109141"/>
                </a:lnTo>
                <a:cubicBezTo>
                  <a:pt x="22076" y="109141"/>
                  <a:pt x="19844" y="106908"/>
                  <a:pt x="19844" y="104180"/>
                </a:cubicBezTo>
                <a:lnTo>
                  <a:pt x="19844" y="94258"/>
                </a:lnTo>
                <a:cubicBezTo>
                  <a:pt x="19844" y="91529"/>
                  <a:pt x="22076" y="89297"/>
                  <a:pt x="24805" y="89297"/>
                </a:cubicBezTo>
                <a:lnTo>
                  <a:pt x="34727" y="89297"/>
                </a:lnTo>
                <a:cubicBezTo>
                  <a:pt x="37455" y="89297"/>
                  <a:pt x="39688" y="91529"/>
                  <a:pt x="39688" y="94258"/>
                </a:cubicBezTo>
                <a:close/>
                <a:moveTo>
                  <a:pt x="34727" y="59531"/>
                </a:moveTo>
                <a:cubicBezTo>
                  <a:pt x="37455" y="59531"/>
                  <a:pt x="39688" y="61764"/>
                  <a:pt x="39688" y="64492"/>
                </a:cubicBezTo>
                <a:lnTo>
                  <a:pt x="39688" y="74414"/>
                </a:lnTo>
                <a:cubicBezTo>
                  <a:pt x="39688" y="77143"/>
                  <a:pt x="37455" y="79375"/>
                  <a:pt x="34727" y="79375"/>
                </a:cubicBezTo>
                <a:lnTo>
                  <a:pt x="24805" y="79375"/>
                </a:lnTo>
                <a:cubicBezTo>
                  <a:pt x="22076" y="79375"/>
                  <a:pt x="19844" y="77143"/>
                  <a:pt x="19844" y="74414"/>
                </a:cubicBezTo>
                <a:lnTo>
                  <a:pt x="19844" y="64492"/>
                </a:lnTo>
                <a:cubicBezTo>
                  <a:pt x="19844" y="61764"/>
                  <a:pt x="22076" y="59531"/>
                  <a:pt x="24805" y="59531"/>
                </a:cubicBezTo>
                <a:lnTo>
                  <a:pt x="34727" y="59531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3" name="Text 21"/>
          <p:cNvSpPr/>
          <p:nvPr/>
        </p:nvSpPr>
        <p:spPr>
          <a:xfrm>
            <a:off x="681037" y="3670202"/>
            <a:ext cx="1110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Cálculo del Índice de Localización - Ciudad 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2600" y="3987702"/>
            <a:ext cx="11223625" cy="762000"/>
          </a:xfrm>
          <a:prstGeom prst="roundRect">
            <a:avLst>
              <a:gd name="adj" fmla="val 8333"/>
            </a:avLst>
          </a:prstGeom>
          <a:solidFill>
            <a:srgbClr val="2B6CB0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09600" y="4086421"/>
            <a:ext cx="11041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IL</a:t>
            </a:r>
            <a:r>
              <a:rPr lang="en-US" sz="140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</a:t>
            </a:r>
            <a:r>
              <a:rPr lang="en-US" sz="240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FC</a:t>
            </a:r>
            <a:r>
              <a:rPr lang="en-US" sz="140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</a:t>
            </a:r>
            <a:r>
              <a:rPr lang="en-US" sz="240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× [α × FO</a:t>
            </a:r>
            <a:r>
              <a:rPr lang="en-US" sz="140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</a:t>
            </a:r>
            <a:r>
              <a:rPr lang="en-US" sz="240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(1-α) × FS</a:t>
            </a:r>
            <a:r>
              <a:rPr lang="en-US" sz="140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</a:t>
            </a:r>
            <a:r>
              <a:rPr lang="en-US" sz="240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09600" y="4400452"/>
            <a:ext cx="11041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IL</a:t>
            </a:r>
            <a:r>
              <a:rPr lang="en-US" sz="140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</a:t>
            </a:r>
            <a:r>
              <a:rPr lang="en-US" sz="240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1 × [0.8 × 0.2845 + 0.2 × 0.65]</a:t>
            </a:r>
            <a:endParaRPr lang="en-US" sz="3600" dirty="0"/>
          </a:p>
        </p:txBody>
      </p:sp>
      <p:sp>
        <p:nvSpPr>
          <p:cNvPr id="27" name="Shape 25"/>
          <p:cNvSpPr/>
          <p:nvPr/>
        </p:nvSpPr>
        <p:spPr>
          <a:xfrm>
            <a:off x="482600" y="4844952"/>
            <a:ext cx="11223625" cy="476250"/>
          </a:xfrm>
          <a:prstGeom prst="roundRect">
            <a:avLst>
              <a:gd name="adj" fmla="val 13333"/>
            </a:avLst>
          </a:prstGeom>
          <a:solidFill>
            <a:srgbClr val="DD6B20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69913" y="4971952"/>
            <a:ext cx="11049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IL</a:t>
            </a:r>
            <a:r>
              <a:rPr lang="en-US" sz="14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</a:t>
            </a:r>
            <a:r>
              <a:rPr lang="en-US" sz="24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0.3576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320675" y="5616476"/>
            <a:ext cx="11547475" cy="1744663"/>
          </a:xfrm>
          <a:prstGeom prst="roundRect">
            <a:avLst>
              <a:gd name="adj" fmla="val 5460"/>
            </a:avLst>
          </a:prstGeom>
          <a:solidFill>
            <a:srgbClr val="2B6CB0">
              <a:alpha val="14902"/>
            </a:srgbClr>
          </a:solidFill>
          <a:ln w="10160">
            <a:solidFill>
              <a:srgbClr val="2B6CB0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444" y="581014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4741" y="0"/>
                </a:moveTo>
                <a:lnTo>
                  <a:pt x="114195" y="0"/>
                </a:lnTo>
                <a:cubicBezTo>
                  <a:pt x="122411" y="0"/>
                  <a:pt x="129108" y="6759"/>
                  <a:pt x="128798" y="14945"/>
                </a:cubicBezTo>
                <a:cubicBezTo>
                  <a:pt x="128736" y="16588"/>
                  <a:pt x="128674" y="18231"/>
                  <a:pt x="128581" y="19844"/>
                </a:cubicBezTo>
                <a:lnTo>
                  <a:pt x="143960" y="19844"/>
                </a:lnTo>
                <a:cubicBezTo>
                  <a:pt x="152053" y="19844"/>
                  <a:pt x="159184" y="26541"/>
                  <a:pt x="158564" y="35285"/>
                </a:cubicBezTo>
                <a:cubicBezTo>
                  <a:pt x="156239" y="67438"/>
                  <a:pt x="139805" y="85111"/>
                  <a:pt x="121977" y="94351"/>
                </a:cubicBezTo>
                <a:cubicBezTo>
                  <a:pt x="117078" y="96893"/>
                  <a:pt x="112086" y="98785"/>
                  <a:pt x="107342" y="100180"/>
                </a:cubicBezTo>
                <a:cubicBezTo>
                  <a:pt x="101079" y="109048"/>
                  <a:pt x="94568" y="113729"/>
                  <a:pt x="89390" y="116241"/>
                </a:cubicBezTo>
                <a:lnTo>
                  <a:pt x="89390" y="138906"/>
                </a:lnTo>
                <a:lnTo>
                  <a:pt x="109234" y="138906"/>
                </a:lnTo>
                <a:cubicBezTo>
                  <a:pt x="114722" y="138906"/>
                  <a:pt x="119156" y="143340"/>
                  <a:pt x="119156" y="148828"/>
                </a:cubicBezTo>
                <a:cubicBezTo>
                  <a:pt x="119156" y="154316"/>
                  <a:pt x="114722" y="158750"/>
                  <a:pt x="109234" y="158750"/>
                </a:cubicBezTo>
                <a:lnTo>
                  <a:pt x="49702" y="158750"/>
                </a:lnTo>
                <a:cubicBezTo>
                  <a:pt x="44214" y="158750"/>
                  <a:pt x="39781" y="154316"/>
                  <a:pt x="39781" y="148828"/>
                </a:cubicBezTo>
                <a:cubicBezTo>
                  <a:pt x="39781" y="143340"/>
                  <a:pt x="44214" y="138906"/>
                  <a:pt x="49702" y="138906"/>
                </a:cubicBezTo>
                <a:lnTo>
                  <a:pt x="69546" y="138906"/>
                </a:lnTo>
                <a:lnTo>
                  <a:pt x="69546" y="116241"/>
                </a:lnTo>
                <a:cubicBezTo>
                  <a:pt x="64585" y="113854"/>
                  <a:pt x="58415" y="109420"/>
                  <a:pt x="52400" y="101265"/>
                </a:cubicBezTo>
                <a:cubicBezTo>
                  <a:pt x="46695" y="99777"/>
                  <a:pt x="40494" y="97513"/>
                  <a:pt x="34448" y="94103"/>
                </a:cubicBezTo>
                <a:cubicBezTo>
                  <a:pt x="17673" y="84708"/>
                  <a:pt x="2542" y="67004"/>
                  <a:pt x="372" y="35223"/>
                </a:cubicBezTo>
                <a:cubicBezTo>
                  <a:pt x="-217" y="26510"/>
                  <a:pt x="6883" y="19813"/>
                  <a:pt x="14976" y="19813"/>
                </a:cubicBezTo>
                <a:lnTo>
                  <a:pt x="30355" y="19813"/>
                </a:lnTo>
                <a:cubicBezTo>
                  <a:pt x="30262" y="18200"/>
                  <a:pt x="30200" y="16588"/>
                  <a:pt x="30138" y="14914"/>
                </a:cubicBezTo>
                <a:cubicBezTo>
                  <a:pt x="29828" y="6697"/>
                  <a:pt x="36525" y="-31"/>
                  <a:pt x="44741" y="-31"/>
                </a:cubicBezTo>
                <a:close/>
                <a:moveTo>
                  <a:pt x="31471" y="34727"/>
                </a:moveTo>
                <a:lnTo>
                  <a:pt x="15224" y="34727"/>
                </a:lnTo>
                <a:cubicBezTo>
                  <a:pt x="17146" y="60989"/>
                  <a:pt x="29208" y="74135"/>
                  <a:pt x="41641" y="81111"/>
                </a:cubicBezTo>
                <a:cubicBezTo>
                  <a:pt x="37176" y="69546"/>
                  <a:pt x="33486" y="54446"/>
                  <a:pt x="31471" y="34727"/>
                </a:cubicBezTo>
                <a:close/>
                <a:moveTo>
                  <a:pt x="117822" y="79623"/>
                </a:moveTo>
                <a:cubicBezTo>
                  <a:pt x="130380" y="72244"/>
                  <a:pt x="141728" y="59128"/>
                  <a:pt x="143650" y="34727"/>
                </a:cubicBezTo>
                <a:lnTo>
                  <a:pt x="127434" y="34727"/>
                </a:lnTo>
                <a:cubicBezTo>
                  <a:pt x="125512" y="53609"/>
                  <a:pt x="122039" y="68275"/>
                  <a:pt x="117822" y="79623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31" name="Text 29"/>
          <p:cNvSpPr/>
          <p:nvPr/>
        </p:nvSpPr>
        <p:spPr>
          <a:xfrm>
            <a:off x="681037" y="5778399"/>
            <a:ext cx="1110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Índices de Localización - Resultados Finales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8950" y="6133999"/>
            <a:ext cx="2695575" cy="1060450"/>
          </a:xfrm>
          <a:prstGeom prst="roundRect">
            <a:avLst>
              <a:gd name="adj" fmla="val 5988"/>
            </a:avLst>
          </a:prstGeom>
          <a:solidFill>
            <a:srgbClr val="1A202C">
              <a:alpha val="60000"/>
            </a:srgbClr>
          </a:solidFill>
          <a:ln w="20320">
            <a:solidFill>
              <a:srgbClr val="2B6C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0550" y="6267354"/>
            <a:ext cx="249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Ciudad 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2769" y="6489604"/>
            <a:ext cx="2547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2B6C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0.3576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327400" y="6133999"/>
            <a:ext cx="2695575" cy="1060450"/>
          </a:xfrm>
          <a:prstGeom prst="roundRect">
            <a:avLst>
              <a:gd name="adj" fmla="val 5988"/>
            </a:avLst>
          </a:prstGeom>
          <a:solidFill>
            <a:srgbClr val="1A202C">
              <a:alpha val="60000"/>
            </a:srgbClr>
          </a:solidFill>
          <a:ln w="2032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6" name="Text 34"/>
          <p:cNvSpPr/>
          <p:nvPr/>
        </p:nvSpPr>
        <p:spPr>
          <a:xfrm>
            <a:off x="3429000" y="6267354"/>
            <a:ext cx="249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Ciudad B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401219" y="6489604"/>
            <a:ext cx="2547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2B6CB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0.3517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65850" y="6133999"/>
            <a:ext cx="2695575" cy="1060450"/>
          </a:xfrm>
          <a:prstGeom prst="roundRect">
            <a:avLst>
              <a:gd name="adj" fmla="val 5988"/>
            </a:avLst>
          </a:prstGeom>
          <a:solidFill>
            <a:srgbClr val="1A202C">
              <a:alpha val="60000"/>
            </a:srgbClr>
          </a:solidFill>
          <a:ln w="20320">
            <a:solidFill>
              <a:srgbClr val="FB2C3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7450" y="6267354"/>
            <a:ext cx="249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Ciudad C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39669" y="6489604"/>
            <a:ext cx="2547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0.0000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71419" y="6807104"/>
            <a:ext cx="248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FC = 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04300" y="6133999"/>
            <a:ext cx="2695575" cy="1060450"/>
          </a:xfrm>
          <a:prstGeom prst="roundRect">
            <a:avLst>
              <a:gd name="adj" fmla="val 5988"/>
            </a:avLst>
          </a:prstGeom>
          <a:solidFill>
            <a:srgbClr val="DD6B20">
              <a:alpha val="20000"/>
            </a:srgbClr>
          </a:solidFill>
          <a:ln w="20320">
            <a:solidFill>
              <a:srgbClr val="DD6B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05901" y="6267354"/>
            <a:ext cx="249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Ciudad 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078119" y="6489604"/>
            <a:ext cx="2547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0.3037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 flipV="1">
            <a:off x="317500" y="6472936"/>
            <a:ext cx="1023938" cy="300035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46" name="Text 44"/>
          <p:cNvSpPr/>
          <p:nvPr/>
        </p:nvSpPr>
        <p:spPr>
          <a:xfrm>
            <a:off x="317500" y="6542826"/>
            <a:ext cx="107950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 OPCIÓN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ducationleaves.com/d8f9e7cebddbaf11f2de9aa464125ee0cff7c550.jpg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2B6CB0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989790" y="335403"/>
            <a:ext cx="2209800" cy="533400"/>
          </a:xfrm>
          <a:prstGeom prst="roundRect">
            <a:avLst>
              <a:gd name="adj" fmla="val 21429"/>
            </a:avLst>
          </a:prstGeom>
          <a:solidFill>
            <a:srgbClr val="DD6B20"/>
          </a:solidFill>
          <a:ln/>
        </p:spPr>
      </p:sp>
      <p:sp>
        <p:nvSpPr>
          <p:cNvPr id="5" name="Text 2"/>
          <p:cNvSpPr/>
          <p:nvPr/>
        </p:nvSpPr>
        <p:spPr>
          <a:xfrm>
            <a:off x="5237440" y="449703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kern="0" spc="9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914168" y="1097282"/>
            <a:ext cx="8362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Método Sinérgico de Brown y Gibson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1897382"/>
            <a:ext cx="1219200" cy="57150"/>
          </a:xfrm>
          <a:prstGeom prst="roundRect">
            <a:avLst>
              <a:gd name="adj" fmla="val 0"/>
            </a:avLst>
          </a:prstGeom>
          <a:solidFill>
            <a:srgbClr val="DD6B20"/>
          </a:solidFill>
          <a:ln/>
        </p:spPr>
      </p:sp>
      <p:sp>
        <p:nvSpPr>
          <p:cNvPr id="8" name="Text 5"/>
          <p:cNvSpPr/>
          <p:nvPr/>
        </p:nvSpPr>
        <p:spPr>
          <a:xfrm>
            <a:off x="1771650" y="2564132"/>
            <a:ext cx="86487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método sinérgico de Brown y Gibson proporciona un </a:t>
            </a:r>
            <a:r>
              <a:rPr lang="en-US" sz="180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marco cuantitativo robusto</a:t>
            </a:r>
            <a:r>
              <a:rPr lang="en-US" sz="180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la toma de decisiones de localización, integrando factores críticos, objetivos y subjetivos en una </a:t>
            </a:r>
            <a:r>
              <a:rPr lang="en-US" sz="1800" b="1" dirty="0">
                <a:solidFill>
                  <a:srgbClr val="DD6B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medida de preferencia única</a:t>
            </a:r>
            <a:r>
              <a:rPr lang="en-US" sz="180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que permite seleccionar la alternativa óptima de manera sistemática y fundamentada.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32610" y="4358642"/>
            <a:ext cx="2684145" cy="1588770"/>
          </a:xfrm>
          <a:prstGeom prst="roundRect">
            <a:avLst>
              <a:gd name="adj" fmla="val 7194"/>
            </a:avLst>
          </a:prstGeom>
          <a:solidFill>
            <a:srgbClr val="2B6CB0">
              <a:alpha val="20000"/>
            </a:srgbClr>
          </a:solidFill>
          <a:ln w="10160">
            <a:solidFill>
              <a:srgbClr val="2B6CB0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70146" y="45529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39471" y="37281"/>
                </a:moveTo>
                <a:cubicBezTo>
                  <a:pt x="145275" y="29301"/>
                  <a:pt x="143489" y="18138"/>
                  <a:pt x="135508" y="12334"/>
                </a:cubicBezTo>
                <a:cubicBezTo>
                  <a:pt x="127527" y="6530"/>
                  <a:pt x="116365" y="8316"/>
                  <a:pt x="110561" y="16297"/>
                </a:cubicBezTo>
                <a:lnTo>
                  <a:pt x="51402" y="97613"/>
                </a:lnTo>
                <a:lnTo>
                  <a:pt x="30473" y="76684"/>
                </a:lnTo>
                <a:cubicBezTo>
                  <a:pt x="23496" y="69707"/>
                  <a:pt x="12167" y="69707"/>
                  <a:pt x="5190" y="76684"/>
                </a:cubicBezTo>
                <a:cubicBezTo>
                  <a:pt x="-1786" y="83660"/>
                  <a:pt x="-1786" y="94990"/>
                  <a:pt x="5190" y="101966"/>
                </a:cubicBezTo>
                <a:lnTo>
                  <a:pt x="40909" y="137685"/>
                </a:lnTo>
                <a:cubicBezTo>
                  <a:pt x="44593" y="141368"/>
                  <a:pt x="49727" y="143266"/>
                  <a:pt x="54918" y="142875"/>
                </a:cubicBezTo>
                <a:cubicBezTo>
                  <a:pt x="60108" y="142484"/>
                  <a:pt x="64908" y="139805"/>
                  <a:pt x="67977" y="135564"/>
                </a:cubicBezTo>
                <a:lnTo>
                  <a:pt x="139415" y="37337"/>
                </a:lnTo>
                <a:close/>
                <a:moveTo>
                  <a:pt x="210908" y="113184"/>
                </a:moveTo>
                <a:cubicBezTo>
                  <a:pt x="216712" y="105203"/>
                  <a:pt x="214926" y="94041"/>
                  <a:pt x="206946" y="88236"/>
                </a:cubicBezTo>
                <a:cubicBezTo>
                  <a:pt x="198965" y="82432"/>
                  <a:pt x="187802" y="84218"/>
                  <a:pt x="181998" y="92199"/>
                </a:cubicBezTo>
                <a:lnTo>
                  <a:pt x="87120" y="222628"/>
                </a:lnTo>
                <a:lnTo>
                  <a:pt x="48332" y="183840"/>
                </a:lnTo>
                <a:cubicBezTo>
                  <a:pt x="41356" y="176864"/>
                  <a:pt x="30026" y="176864"/>
                  <a:pt x="23050" y="183840"/>
                </a:cubicBezTo>
                <a:cubicBezTo>
                  <a:pt x="16073" y="190816"/>
                  <a:pt x="16073" y="202146"/>
                  <a:pt x="23050" y="209122"/>
                </a:cubicBezTo>
                <a:lnTo>
                  <a:pt x="76628" y="262700"/>
                </a:lnTo>
                <a:cubicBezTo>
                  <a:pt x="80311" y="266384"/>
                  <a:pt x="85446" y="268281"/>
                  <a:pt x="90636" y="267891"/>
                </a:cubicBezTo>
                <a:cubicBezTo>
                  <a:pt x="95827" y="267500"/>
                  <a:pt x="100626" y="264821"/>
                  <a:pt x="103696" y="260579"/>
                </a:cubicBezTo>
                <a:lnTo>
                  <a:pt x="210852" y="113240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1" name="Text 8"/>
          <p:cNvSpPr/>
          <p:nvPr/>
        </p:nvSpPr>
        <p:spPr>
          <a:xfrm>
            <a:off x="1984058" y="4953000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Sistemático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988820" y="5295900"/>
            <a:ext cx="2371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Proceso estructurado en 5 etapas claras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753570" y="4358642"/>
            <a:ext cx="2684145" cy="1588770"/>
          </a:xfrm>
          <a:prstGeom prst="roundRect">
            <a:avLst>
              <a:gd name="adj" fmla="val 7194"/>
            </a:avLst>
          </a:prstGeom>
          <a:solidFill>
            <a:srgbClr val="DD6B20">
              <a:alpha val="20000"/>
            </a:srgbClr>
          </a:solidFill>
          <a:ln w="10160">
            <a:solidFill>
              <a:srgbClr val="DD6B20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19668" y="455295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14313" y="17859"/>
                </a:moveTo>
                <a:lnTo>
                  <a:pt x="285750" y="17859"/>
                </a:lnTo>
                <a:cubicBezTo>
                  <a:pt x="295628" y="17859"/>
                  <a:pt x="303609" y="25840"/>
                  <a:pt x="303609" y="35719"/>
                </a:cubicBezTo>
                <a:cubicBezTo>
                  <a:pt x="303609" y="45597"/>
                  <a:pt x="295628" y="53578"/>
                  <a:pt x="285750" y="53578"/>
                </a:cubicBezTo>
                <a:lnTo>
                  <a:pt x="222349" y="53578"/>
                </a:lnTo>
                <a:cubicBezTo>
                  <a:pt x="219447" y="67977"/>
                  <a:pt x="209569" y="79865"/>
                  <a:pt x="196453" y="85558"/>
                </a:cubicBezTo>
                <a:lnTo>
                  <a:pt x="196453" y="250031"/>
                </a:lnTo>
                <a:lnTo>
                  <a:pt x="285750" y="250031"/>
                </a:lnTo>
                <a:cubicBezTo>
                  <a:pt x="295628" y="250031"/>
                  <a:pt x="303609" y="258012"/>
                  <a:pt x="303609" y="267891"/>
                </a:cubicBezTo>
                <a:cubicBezTo>
                  <a:pt x="303609" y="277769"/>
                  <a:pt x="295628" y="285750"/>
                  <a:pt x="285750" y="285750"/>
                </a:cubicBezTo>
                <a:lnTo>
                  <a:pt x="71438" y="285750"/>
                </a:lnTo>
                <a:cubicBezTo>
                  <a:pt x="61559" y="285750"/>
                  <a:pt x="53578" y="277769"/>
                  <a:pt x="53578" y="267891"/>
                </a:cubicBezTo>
                <a:cubicBezTo>
                  <a:pt x="53578" y="258012"/>
                  <a:pt x="61559" y="250031"/>
                  <a:pt x="71438" y="250031"/>
                </a:cubicBezTo>
                <a:lnTo>
                  <a:pt x="160734" y="250031"/>
                </a:lnTo>
                <a:lnTo>
                  <a:pt x="160734" y="85558"/>
                </a:lnTo>
                <a:cubicBezTo>
                  <a:pt x="147619" y="79809"/>
                  <a:pt x="137740" y="67921"/>
                  <a:pt x="134838" y="53578"/>
                </a:cubicBezTo>
                <a:lnTo>
                  <a:pt x="71438" y="53578"/>
                </a:lnTo>
                <a:cubicBezTo>
                  <a:pt x="61559" y="53578"/>
                  <a:pt x="53578" y="45597"/>
                  <a:pt x="53578" y="35719"/>
                </a:cubicBezTo>
                <a:cubicBezTo>
                  <a:pt x="53578" y="25840"/>
                  <a:pt x="61559" y="17859"/>
                  <a:pt x="71438" y="17859"/>
                </a:cubicBezTo>
                <a:lnTo>
                  <a:pt x="142875" y="17859"/>
                </a:lnTo>
                <a:cubicBezTo>
                  <a:pt x="151023" y="7032"/>
                  <a:pt x="163971" y="0"/>
                  <a:pt x="178594" y="0"/>
                </a:cubicBezTo>
                <a:cubicBezTo>
                  <a:pt x="193216" y="0"/>
                  <a:pt x="206164" y="7032"/>
                  <a:pt x="214313" y="17859"/>
                </a:cubicBezTo>
                <a:close/>
                <a:moveTo>
                  <a:pt x="245343" y="178594"/>
                </a:moveTo>
                <a:lnTo>
                  <a:pt x="326157" y="178594"/>
                </a:lnTo>
                <a:lnTo>
                  <a:pt x="285750" y="109277"/>
                </a:lnTo>
                <a:lnTo>
                  <a:pt x="245343" y="178594"/>
                </a:lnTo>
                <a:close/>
                <a:moveTo>
                  <a:pt x="285750" y="232172"/>
                </a:moveTo>
                <a:cubicBezTo>
                  <a:pt x="250645" y="232172"/>
                  <a:pt x="221456" y="213196"/>
                  <a:pt x="215429" y="188137"/>
                </a:cubicBezTo>
                <a:cubicBezTo>
                  <a:pt x="213978" y="181998"/>
                  <a:pt x="215987" y="175692"/>
                  <a:pt x="219168" y="170222"/>
                </a:cubicBezTo>
                <a:lnTo>
                  <a:pt x="272300" y="79139"/>
                </a:lnTo>
                <a:cubicBezTo>
                  <a:pt x="275090" y="74340"/>
                  <a:pt x="280225" y="71438"/>
                  <a:pt x="285750" y="71438"/>
                </a:cubicBezTo>
                <a:cubicBezTo>
                  <a:pt x="291275" y="71438"/>
                  <a:pt x="296410" y="74395"/>
                  <a:pt x="299200" y="79139"/>
                </a:cubicBezTo>
                <a:lnTo>
                  <a:pt x="352332" y="170222"/>
                </a:lnTo>
                <a:cubicBezTo>
                  <a:pt x="355513" y="175692"/>
                  <a:pt x="357522" y="181998"/>
                  <a:pt x="356071" y="188137"/>
                </a:cubicBezTo>
                <a:cubicBezTo>
                  <a:pt x="350044" y="213140"/>
                  <a:pt x="320855" y="232172"/>
                  <a:pt x="285750" y="232172"/>
                </a:cubicBezTo>
                <a:close/>
                <a:moveTo>
                  <a:pt x="70768" y="109277"/>
                </a:moveTo>
                <a:lnTo>
                  <a:pt x="30361" y="178594"/>
                </a:lnTo>
                <a:lnTo>
                  <a:pt x="111230" y="178594"/>
                </a:lnTo>
                <a:lnTo>
                  <a:pt x="70768" y="109277"/>
                </a:lnTo>
                <a:close/>
                <a:moveTo>
                  <a:pt x="502" y="188137"/>
                </a:moveTo>
                <a:cubicBezTo>
                  <a:pt x="-949" y="181998"/>
                  <a:pt x="1060" y="175692"/>
                  <a:pt x="4242" y="170222"/>
                </a:cubicBezTo>
                <a:lnTo>
                  <a:pt x="57373" y="79139"/>
                </a:lnTo>
                <a:cubicBezTo>
                  <a:pt x="60164" y="74340"/>
                  <a:pt x="65298" y="71438"/>
                  <a:pt x="70824" y="71438"/>
                </a:cubicBezTo>
                <a:cubicBezTo>
                  <a:pt x="76349" y="71438"/>
                  <a:pt x="81483" y="74395"/>
                  <a:pt x="84274" y="79139"/>
                </a:cubicBezTo>
                <a:lnTo>
                  <a:pt x="137406" y="170222"/>
                </a:lnTo>
                <a:cubicBezTo>
                  <a:pt x="140587" y="175692"/>
                  <a:pt x="142596" y="181998"/>
                  <a:pt x="141145" y="188137"/>
                </a:cubicBezTo>
                <a:cubicBezTo>
                  <a:pt x="135117" y="213140"/>
                  <a:pt x="105928" y="232172"/>
                  <a:pt x="70824" y="232172"/>
                </a:cubicBezTo>
                <a:cubicBezTo>
                  <a:pt x="35719" y="232172"/>
                  <a:pt x="6530" y="213196"/>
                  <a:pt x="502" y="188137"/>
                </a:cubicBez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15" name="Text 12"/>
          <p:cNvSpPr/>
          <p:nvPr/>
        </p:nvSpPr>
        <p:spPr>
          <a:xfrm>
            <a:off x="4905018" y="4953000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909781" y="5295900"/>
            <a:ext cx="2371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Combina factores cuantitativos y cualitativos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74531" y="4358642"/>
            <a:ext cx="2684145" cy="1588770"/>
          </a:xfrm>
          <a:prstGeom prst="roundRect">
            <a:avLst>
              <a:gd name="adj" fmla="val 7194"/>
            </a:avLst>
          </a:prstGeom>
          <a:solidFill>
            <a:srgbClr val="2B6CB0">
              <a:alpha val="20000"/>
            </a:srgbClr>
          </a:solidFill>
          <a:ln w="10160">
            <a:solidFill>
              <a:srgbClr val="2B6CB0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876467" y="45529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9" name="Text 16"/>
          <p:cNvSpPr/>
          <p:nvPr/>
        </p:nvSpPr>
        <p:spPr>
          <a:xfrm>
            <a:off x="7825978" y="4953000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830741" y="5295900"/>
            <a:ext cx="2371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Basado en datos y ponderaciones medibles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801547" y="630174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2" name="Text 19"/>
          <p:cNvSpPr/>
          <p:nvPr/>
        </p:nvSpPr>
        <p:spPr>
          <a:xfrm>
            <a:off x="4037290" y="6256018"/>
            <a:ext cx="441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Gestión de Operaciones - Localización de Planta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1606</Words>
  <Application>Microsoft Office PowerPoint</Application>
  <PresentationFormat>Panorámica</PresentationFormat>
  <Paragraphs>327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Alimama ShuHeiTi</vt:lpstr>
      <vt:lpstr>Arial</vt:lpstr>
      <vt:lpstr>Calibri</vt:lpstr>
      <vt:lpstr>MiSans</vt:lpstr>
      <vt:lpstr>微软雅黑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Localización de Planta</dc:title>
  <dc:subject>Métodos de Localización de Planta</dc:subject>
  <dc:creator>Kimi</dc:creator>
  <cp:lastModifiedBy>Guillermo Aguirre</cp:lastModifiedBy>
  <cp:revision>5</cp:revision>
  <dcterms:created xsi:type="dcterms:W3CDTF">2026-04-25T17:19:56Z</dcterms:created>
  <dcterms:modified xsi:type="dcterms:W3CDTF">2026-04-25T20:16:11Z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{"Label":"Métodos de Localización de Planta","ContentProducer":"001191110108MACG2KBH8F10000","ProduceID":"19dc59d4-9252-8021-8000-0000e32c860d","ReservedCode1":"","ContentPropagator":"001191110108MACG2KBH8F20000","PropagateID":"19dc59d4-9252-8021-8000-0000e32c860d","ReservedCode2":""}</vt:lpwstr>
  </property>
</Properties>
</file>