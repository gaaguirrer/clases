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42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3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8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9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6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0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8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7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3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3/14/2022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14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D265BF-7402-4CF8-88EB-4718038EC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5300" y="330696"/>
            <a:ext cx="3730839" cy="1697343"/>
          </a:xfrm>
        </p:spPr>
        <p:txBody>
          <a:bodyPr anchor="b">
            <a:normAutofit/>
          </a:bodyPr>
          <a:lstStyle/>
          <a:p>
            <a:r>
              <a:rPr lang="es-NI" sz="4000" dirty="0"/>
              <a:t>Series de tiempo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C3DAAB-BEF8-412D-AF67-9DB174A43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6779" y="4197005"/>
            <a:ext cx="3137031" cy="979680"/>
          </a:xfrm>
        </p:spPr>
        <p:txBody>
          <a:bodyPr anchor="t">
            <a:normAutofit/>
          </a:bodyPr>
          <a:lstStyle/>
          <a:p>
            <a:pPr algn="just"/>
            <a:r>
              <a:rPr lang="es-NI" sz="1800" dirty="0"/>
              <a:t>Media Móvil Simple / Promedio Móvil Simple</a:t>
            </a:r>
          </a:p>
        </p:txBody>
      </p:sp>
      <p:pic>
        <p:nvPicPr>
          <p:cNvPr id="4" name="Picture 3" descr="Láser azul neón digitalizando un papel desenvuelto">
            <a:extLst>
              <a:ext uri="{FF2B5EF4-FFF2-40B4-BE49-F238E27FC236}">
                <a16:creationId xmlns:a16="http://schemas.microsoft.com/office/drawing/2014/main" id="{DC7F4BCD-18AD-AABF-0BAE-336612163B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68" r="13877" b="-1"/>
          <a:stretch/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801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43753E-9287-4958-9FED-AB895314BA53}"/>
              </a:ext>
            </a:extLst>
          </p:cNvPr>
          <p:cNvSpPr/>
          <p:nvPr/>
        </p:nvSpPr>
        <p:spPr>
          <a:xfrm>
            <a:off x="2995810" y="0"/>
            <a:ext cx="62164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91570" y="968989"/>
            <a:ext cx="106179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El método de </a:t>
            </a:r>
            <a:r>
              <a:rPr lang="es-ES" sz="2400" b="1" dirty="0"/>
              <a:t>Media Móvil Simple </a:t>
            </a:r>
            <a:r>
              <a:rPr lang="es-ES" sz="2400" dirty="0"/>
              <a:t>(o </a:t>
            </a:r>
            <a:r>
              <a:rPr lang="es-ES" sz="2400" b="1" dirty="0"/>
              <a:t>Promedio Móvil Simple</a:t>
            </a:r>
            <a:r>
              <a:rPr lang="es-ES" sz="2400" dirty="0"/>
              <a:t>) es un procedimiento de cálculo sencillo que pertenece a la categoría de pronósticos de Series de Tiempo, que </a:t>
            </a:r>
            <a:r>
              <a:rPr lang="es-ES" sz="2400" u="sng" dirty="0"/>
              <a:t>utiliza información histórica del desempeño de la variable que se desea pronosticar </a:t>
            </a:r>
            <a:r>
              <a:rPr lang="es-ES" sz="2400" dirty="0"/>
              <a:t>para poder generar un pronóstico de la misma a futuro. Es decir, se considera válida la premisa que el pasado es de utilidad para predecir el futuro.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El </a:t>
            </a:r>
            <a:r>
              <a:rPr lang="es-ES" sz="2400" b="1" dirty="0"/>
              <a:t>escenario ideal</a:t>
            </a:r>
            <a:r>
              <a:rPr lang="es-ES" sz="2400" dirty="0"/>
              <a:t> para la utilización del método de Media Móvil Simple es cuando la </a:t>
            </a:r>
            <a:r>
              <a:rPr lang="es-ES" sz="2400" u="sng" dirty="0">
                <a:solidFill>
                  <a:srgbClr val="FF0000"/>
                </a:solidFill>
              </a:rPr>
              <a:t>demanda real </a:t>
            </a:r>
            <a:r>
              <a:rPr lang="es-ES" sz="2400" dirty="0">
                <a:solidFill>
                  <a:schemeClr val="accent4"/>
                </a:solidFill>
              </a:rPr>
              <a:t>no presenta</a:t>
            </a:r>
            <a:r>
              <a:rPr lang="es-ES" sz="2400" dirty="0"/>
              <a:t> mayores variaciones de corto plazo, </a:t>
            </a:r>
            <a:r>
              <a:rPr lang="es-ES" sz="2400" dirty="0">
                <a:solidFill>
                  <a:schemeClr val="accent4"/>
                </a:solidFill>
              </a:rPr>
              <a:t>no presenta </a:t>
            </a:r>
            <a:r>
              <a:rPr lang="es-ES" sz="2400" dirty="0"/>
              <a:t>una tendencia marcada e idealmente </a:t>
            </a:r>
            <a:r>
              <a:rPr lang="es-ES" sz="2400" dirty="0">
                <a:solidFill>
                  <a:schemeClr val="accent4"/>
                </a:solidFill>
              </a:rPr>
              <a:t>no presenta </a:t>
            </a:r>
            <a:r>
              <a:rPr lang="es-ES" sz="2400" dirty="0"/>
              <a:t>estacionalidades.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En este contexto, por ejemplo, se podría esperar que muchos productos alimenticios presentan estas características (arroz, aceite, azúcar, </a:t>
            </a:r>
            <a:r>
              <a:rPr lang="es-ES" sz="2400" dirty="0" err="1"/>
              <a:t>etc</a:t>
            </a:r>
            <a:r>
              <a:rPr lang="es-ES" sz="2400" dirty="0"/>
              <a:t>) y por tanto su aplicación en principio puede resultar adecuada.</a:t>
            </a:r>
            <a:endParaRPr lang="es-NI" sz="2400" dirty="0"/>
          </a:p>
        </p:txBody>
      </p:sp>
    </p:spTree>
    <p:extLst>
      <p:ext uri="{BB962C8B-B14F-4D97-AF65-F5344CB8AC3E}">
        <p14:creationId xmlns:p14="http://schemas.microsoft.com/office/powerpoint/2010/main" val="400724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43753E-9287-4958-9FED-AB895314BA53}"/>
              </a:ext>
            </a:extLst>
          </p:cNvPr>
          <p:cNvSpPr/>
          <p:nvPr/>
        </p:nvSpPr>
        <p:spPr>
          <a:xfrm>
            <a:off x="2995810" y="0"/>
            <a:ext cx="62164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91570" y="968989"/>
            <a:ext cx="106179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La función matemática que permite obtener un pronóstico utilizando Media Móvil Simple es:</a:t>
            </a:r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Donde </a:t>
            </a:r>
            <a:r>
              <a:rPr lang="es-ES" sz="2400" dirty="0">
                <a:solidFill>
                  <a:schemeClr val="accent4"/>
                </a:solidFill>
              </a:rPr>
              <a:t>F</a:t>
            </a:r>
            <a:r>
              <a:rPr lang="es-ES" sz="2400" baseline="-25000" dirty="0">
                <a:solidFill>
                  <a:schemeClr val="accent4"/>
                </a:solidFill>
              </a:rPr>
              <a:t>t</a:t>
            </a:r>
            <a:r>
              <a:rPr lang="es-ES" sz="2400" dirty="0"/>
              <a:t> </a:t>
            </a:r>
            <a:r>
              <a:rPr lang="es-ES" sz="2400" u="sng" dirty="0"/>
              <a:t>es la demanda pronosticada</a:t>
            </a:r>
            <a:r>
              <a:rPr lang="es-ES" sz="2400" dirty="0"/>
              <a:t> para el </a:t>
            </a:r>
            <a:r>
              <a:rPr lang="es-ES" sz="2400" u="sng" dirty="0"/>
              <a:t>período</a:t>
            </a:r>
            <a:r>
              <a:rPr lang="es-ES" sz="2400" dirty="0"/>
              <a:t> </a:t>
            </a:r>
            <a:r>
              <a:rPr lang="es-ES" sz="2400" dirty="0">
                <a:solidFill>
                  <a:schemeClr val="accent4"/>
                </a:solidFill>
              </a:rPr>
              <a:t>t</a:t>
            </a:r>
            <a:r>
              <a:rPr lang="es-ES" sz="2400" dirty="0"/>
              <a:t> y </a:t>
            </a:r>
            <a:r>
              <a:rPr lang="es-ES" sz="2400" dirty="0">
                <a:solidFill>
                  <a:schemeClr val="accent4"/>
                </a:solidFill>
              </a:rPr>
              <a:t>A</a:t>
            </a:r>
            <a:r>
              <a:rPr lang="es-ES" sz="2400" baseline="-25000" dirty="0">
                <a:solidFill>
                  <a:schemeClr val="accent4"/>
                </a:solidFill>
              </a:rPr>
              <a:t>t</a:t>
            </a:r>
            <a:r>
              <a:rPr lang="es-ES" sz="2400" dirty="0"/>
              <a:t> la </a:t>
            </a:r>
            <a:r>
              <a:rPr lang="es-ES" sz="2400" u="sng" dirty="0"/>
              <a:t>demanda real </a:t>
            </a:r>
            <a:r>
              <a:rPr lang="es-ES" sz="2400" dirty="0"/>
              <a:t>para el período t. La constante o parámetro </a:t>
            </a:r>
            <a:r>
              <a:rPr lang="es-ES" sz="2400" dirty="0">
                <a:solidFill>
                  <a:schemeClr val="accent4"/>
                </a:solidFill>
              </a:rPr>
              <a:t>n</a:t>
            </a:r>
            <a:r>
              <a:rPr lang="es-ES" sz="2400" dirty="0"/>
              <a:t> determina </a:t>
            </a:r>
            <a:r>
              <a:rPr lang="es-ES" sz="2400" u="sng" dirty="0"/>
              <a:t>el número de períodos a promediar</a:t>
            </a:r>
            <a:r>
              <a:rPr lang="es-ES" sz="2400" dirty="0"/>
              <a:t>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u="sng" dirty="0"/>
              <a:t>Mientras mayor sea el valor de n el pronostico suele presentar menor variabilidad</a:t>
            </a:r>
            <a:r>
              <a:rPr lang="es-ES" sz="2400" dirty="0"/>
              <a:t> y aproximar una tendencia de la serie de tiempo. Por cierto, esto último no necesariamente es mejor y por tanto se pueden utilizar distintos valores de n para efectos de evaluación y luego comparar el desempeño.</a:t>
            </a:r>
            <a:endParaRPr lang="es-NI" sz="2400" dirty="0"/>
          </a:p>
        </p:txBody>
      </p:sp>
      <p:pic>
        <p:nvPicPr>
          <p:cNvPr id="1026" name="Picture 2" descr="Media Movil Simple">
            <a:extLst>
              <a:ext uri="{FF2B5EF4-FFF2-40B4-BE49-F238E27FC236}">
                <a16:creationId xmlns:a16="http://schemas.microsoft.com/office/drawing/2014/main" id="{F1282D04-D86E-475C-9238-D85E846AD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737" y="2033943"/>
            <a:ext cx="5401821" cy="91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297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43753E-9287-4958-9FED-AB895314BA53}"/>
              </a:ext>
            </a:extLst>
          </p:cNvPr>
          <p:cNvSpPr/>
          <p:nvPr/>
        </p:nvSpPr>
        <p:spPr>
          <a:xfrm>
            <a:off x="2995810" y="0"/>
            <a:ext cx="621642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91570" y="968989"/>
            <a:ext cx="106179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La función matemática que permite obtener un pronóstico utilizando Media Móvil Simple es:</a:t>
            </a:r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Donde </a:t>
            </a:r>
            <a:r>
              <a:rPr lang="es-ES" sz="2400" dirty="0">
                <a:solidFill>
                  <a:schemeClr val="accent4"/>
                </a:solidFill>
              </a:rPr>
              <a:t>F</a:t>
            </a:r>
            <a:r>
              <a:rPr lang="es-ES" sz="2400" baseline="-25000" dirty="0">
                <a:solidFill>
                  <a:schemeClr val="accent4"/>
                </a:solidFill>
              </a:rPr>
              <a:t>t</a:t>
            </a:r>
            <a:r>
              <a:rPr lang="es-ES" sz="2400" dirty="0"/>
              <a:t> </a:t>
            </a:r>
            <a:r>
              <a:rPr lang="es-ES" sz="2400" u="sng" dirty="0"/>
              <a:t>es la demanda pronosticada</a:t>
            </a:r>
            <a:r>
              <a:rPr lang="es-ES" sz="2400" dirty="0"/>
              <a:t> para el </a:t>
            </a:r>
            <a:r>
              <a:rPr lang="es-ES" sz="2400" u="sng" dirty="0"/>
              <a:t>período</a:t>
            </a:r>
            <a:r>
              <a:rPr lang="es-ES" sz="2400" dirty="0"/>
              <a:t> </a:t>
            </a:r>
            <a:r>
              <a:rPr lang="es-ES" sz="2400" dirty="0">
                <a:solidFill>
                  <a:schemeClr val="accent4"/>
                </a:solidFill>
              </a:rPr>
              <a:t>t</a:t>
            </a:r>
            <a:r>
              <a:rPr lang="es-ES" sz="2400" dirty="0"/>
              <a:t> y </a:t>
            </a:r>
            <a:r>
              <a:rPr lang="es-ES" sz="2400" dirty="0">
                <a:solidFill>
                  <a:schemeClr val="accent4"/>
                </a:solidFill>
              </a:rPr>
              <a:t>A</a:t>
            </a:r>
            <a:r>
              <a:rPr lang="es-ES" sz="2400" baseline="-25000" dirty="0">
                <a:solidFill>
                  <a:schemeClr val="accent4"/>
                </a:solidFill>
              </a:rPr>
              <a:t>t</a:t>
            </a:r>
            <a:r>
              <a:rPr lang="es-ES" sz="2400" dirty="0"/>
              <a:t> la </a:t>
            </a:r>
            <a:r>
              <a:rPr lang="es-ES" sz="2400" u="sng" dirty="0"/>
              <a:t>demanda real </a:t>
            </a:r>
            <a:r>
              <a:rPr lang="es-ES" sz="2400" dirty="0"/>
              <a:t>para el período t. La constante o parámetro </a:t>
            </a:r>
            <a:r>
              <a:rPr lang="es-ES" sz="2400" dirty="0">
                <a:solidFill>
                  <a:schemeClr val="accent4"/>
                </a:solidFill>
              </a:rPr>
              <a:t>n</a:t>
            </a:r>
            <a:r>
              <a:rPr lang="es-ES" sz="2400" dirty="0"/>
              <a:t> determina </a:t>
            </a:r>
            <a:r>
              <a:rPr lang="es-ES" sz="2400" u="sng" dirty="0"/>
              <a:t>el número de períodos a promediar</a:t>
            </a:r>
            <a:r>
              <a:rPr lang="es-ES" sz="2400" dirty="0"/>
              <a:t>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u="sng" dirty="0"/>
              <a:t>Mientras mayor sea el valor de n el pronostico suele presentar menor variabilidad</a:t>
            </a:r>
            <a:r>
              <a:rPr lang="es-ES" sz="2400" dirty="0"/>
              <a:t> y aproximar una tendencia de la serie de tiempo. Por cierto, esto último no necesariamente es mejor y por tanto se pueden utilizar distintos valores de n para efectos de evaluación y luego comparar el desempeño.</a:t>
            </a:r>
            <a:endParaRPr lang="es-NI" sz="2400" dirty="0"/>
          </a:p>
        </p:txBody>
      </p:sp>
      <p:pic>
        <p:nvPicPr>
          <p:cNvPr id="1026" name="Picture 2" descr="Media Movil Simple">
            <a:extLst>
              <a:ext uri="{FF2B5EF4-FFF2-40B4-BE49-F238E27FC236}">
                <a16:creationId xmlns:a16="http://schemas.microsoft.com/office/drawing/2014/main" id="{F1282D04-D86E-475C-9238-D85E846AD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737" y="2033943"/>
            <a:ext cx="5401821" cy="91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106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43753E-9287-4958-9FED-AB895314BA53}"/>
              </a:ext>
            </a:extLst>
          </p:cNvPr>
          <p:cNvSpPr/>
          <p:nvPr/>
        </p:nvSpPr>
        <p:spPr>
          <a:xfrm>
            <a:off x="791570" y="0"/>
            <a:ext cx="106088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- Ejemplo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91570" y="968989"/>
            <a:ext cx="10617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Una compañía presenta en el siguiente tabulado el reporte de ventas correspondiente al año 2019:</a:t>
            </a:r>
            <a:endParaRPr lang="es-NI" sz="2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B105448-543B-4DE2-BD17-545ACB169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442610"/>
              </p:ext>
            </p:extLst>
          </p:nvPr>
        </p:nvGraphicFramePr>
        <p:xfrm>
          <a:off x="1009161" y="2073988"/>
          <a:ext cx="4722899" cy="3636958"/>
        </p:xfrm>
        <a:graphic>
          <a:graphicData uri="http://schemas.openxmlformats.org/drawingml/2006/table">
            <a:tbl>
              <a:tblPr/>
              <a:tblGrid>
                <a:gridCol w="2266302">
                  <a:extLst>
                    <a:ext uri="{9D8B030D-6E8A-4147-A177-3AD203B41FA5}">
                      <a16:colId xmlns:a16="http://schemas.microsoft.com/office/drawing/2014/main" val="1461776340"/>
                    </a:ext>
                  </a:extLst>
                </a:gridCol>
                <a:gridCol w="2456597">
                  <a:extLst>
                    <a:ext uri="{9D8B030D-6E8A-4147-A177-3AD203B41FA5}">
                      <a16:colId xmlns:a16="http://schemas.microsoft.com/office/drawing/2014/main" val="43366977"/>
                    </a:ext>
                  </a:extLst>
                </a:gridCol>
              </a:tblGrid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 b="1">
                          <a:solidFill>
                            <a:srgbClr val="FFFFFF"/>
                          </a:solidFill>
                          <a:effectLst/>
                        </a:rPr>
                        <a:t>MES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b="1" dirty="0">
                          <a:solidFill>
                            <a:srgbClr val="FFFFFF"/>
                          </a:solidFill>
                          <a:effectLst/>
                        </a:rPr>
                        <a:t>VENTAS REALES (2019)</a:t>
                      </a:r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891193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Enero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80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386734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Febrero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90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807955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Marzo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85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5449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Abril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70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44026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Mayo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80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750253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Junio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058504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Julio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63131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Agosto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234456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Septiembre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038940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Octubre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20712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Noviembre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548998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Diciembre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150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3147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A217271-AF7D-49B0-9F6B-3B0DE2403B36}"/>
              </a:ext>
            </a:extLst>
          </p:cNvPr>
          <p:cNvSpPr txBox="1"/>
          <p:nvPr/>
        </p:nvSpPr>
        <p:spPr>
          <a:xfrm>
            <a:off x="6096000" y="1845753"/>
            <a:ext cx="54659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Teniendo en cuenta los datos anteriores, se debe calcular un pronóstico mediante la técnica de Promedio Móvil utilizando:</a:t>
            </a:r>
          </a:p>
          <a:p>
            <a:pPr algn="just"/>
            <a:endParaRPr lang="es-ES" sz="2000" dirty="0"/>
          </a:p>
          <a:p>
            <a:pPr marL="457200" indent="-457200" algn="just">
              <a:buFont typeface="+mj-lt"/>
              <a:buAutoNum type="alphaLcParenR"/>
            </a:pPr>
            <a:r>
              <a:rPr lang="es-ES" sz="2000" dirty="0"/>
              <a:t>Un período de 3 meses (a partir de abril de 2019)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s-ES" sz="2000" dirty="0"/>
              <a:t>Un período de 6 meses (a partir de julio de 2019)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El objetivo consiste en identificar con cuál de los dos períodos del pronóstico se obtiene mayor precisión al compararse con las ventas reales del reporte.</a:t>
            </a:r>
            <a:endParaRPr lang="es-NI" sz="2000" dirty="0"/>
          </a:p>
        </p:txBody>
      </p:sp>
    </p:spTree>
    <p:extLst>
      <p:ext uri="{BB962C8B-B14F-4D97-AF65-F5344CB8AC3E}">
        <p14:creationId xmlns:p14="http://schemas.microsoft.com/office/powerpoint/2010/main" val="67455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43753E-9287-4958-9FED-AB895314BA53}"/>
              </a:ext>
            </a:extLst>
          </p:cNvPr>
          <p:cNvSpPr/>
          <p:nvPr/>
        </p:nvSpPr>
        <p:spPr>
          <a:xfrm>
            <a:off x="791570" y="0"/>
            <a:ext cx="106088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- Ejemplo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82472" y="923330"/>
            <a:ext cx="10617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Solución</a:t>
            </a:r>
            <a:endParaRPr lang="es-NI" sz="24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B105448-543B-4DE2-BD17-545ACB169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349150"/>
              </p:ext>
            </p:extLst>
          </p:nvPr>
        </p:nvGraphicFramePr>
        <p:xfrm>
          <a:off x="899979" y="1732794"/>
          <a:ext cx="3358123" cy="3679748"/>
        </p:xfrm>
        <a:graphic>
          <a:graphicData uri="http://schemas.openxmlformats.org/drawingml/2006/table">
            <a:tbl>
              <a:tblPr/>
              <a:tblGrid>
                <a:gridCol w="997060">
                  <a:extLst>
                    <a:ext uri="{9D8B030D-6E8A-4147-A177-3AD203B41FA5}">
                      <a16:colId xmlns:a16="http://schemas.microsoft.com/office/drawing/2014/main" val="1461776340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43366977"/>
                    </a:ext>
                  </a:extLst>
                </a:gridCol>
                <a:gridCol w="928048">
                  <a:extLst>
                    <a:ext uri="{9D8B030D-6E8A-4147-A177-3AD203B41FA5}">
                      <a16:colId xmlns:a16="http://schemas.microsoft.com/office/drawing/2014/main" val="3611819027"/>
                    </a:ext>
                  </a:extLst>
                </a:gridCol>
                <a:gridCol w="941696">
                  <a:extLst>
                    <a:ext uri="{9D8B030D-6E8A-4147-A177-3AD203B41FA5}">
                      <a16:colId xmlns:a16="http://schemas.microsoft.com/office/drawing/2014/main" val="2161031458"/>
                    </a:ext>
                  </a:extLst>
                </a:gridCol>
              </a:tblGrid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 b="1">
                          <a:solidFill>
                            <a:srgbClr val="FFFFFF"/>
                          </a:solidFill>
                          <a:effectLst/>
                        </a:rPr>
                        <a:t>MES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b="1" dirty="0">
                          <a:solidFill>
                            <a:srgbClr val="FFFFFF"/>
                          </a:solidFill>
                          <a:effectLst/>
                        </a:rPr>
                        <a:t>A</a:t>
                      </a:r>
                      <a:r>
                        <a:rPr lang="es-NI" sz="1500" b="1" baseline="-25000" dirty="0">
                          <a:solidFill>
                            <a:srgbClr val="FFFFFF"/>
                          </a:solidFill>
                          <a:effectLst/>
                        </a:rPr>
                        <a:t>t</a:t>
                      </a:r>
                      <a:endParaRPr lang="es-NI" sz="1500" baseline="-25000" dirty="0">
                        <a:effectLst/>
                      </a:endParaRP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800" b="1" baseline="0" dirty="0">
                          <a:solidFill>
                            <a:schemeClr val="bg1"/>
                          </a:solidFill>
                          <a:effectLst/>
                        </a:rPr>
                        <a:t>F</a:t>
                      </a:r>
                      <a:r>
                        <a:rPr lang="es-NI" sz="1800" b="1" baseline="-25000" dirty="0">
                          <a:solidFill>
                            <a:schemeClr val="bg1"/>
                          </a:solidFill>
                          <a:effectLst/>
                        </a:rPr>
                        <a:t>t </a:t>
                      </a:r>
                      <a:r>
                        <a:rPr lang="es-NI" sz="1800" b="1" baseline="0" dirty="0">
                          <a:solidFill>
                            <a:schemeClr val="bg1"/>
                          </a:solidFill>
                          <a:effectLst/>
                        </a:rPr>
                        <a:t>(3m)</a:t>
                      </a: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b="1" baseline="0" dirty="0">
                          <a:solidFill>
                            <a:schemeClr val="bg1"/>
                          </a:solidFill>
                          <a:effectLst/>
                        </a:rPr>
                        <a:t>F</a:t>
                      </a:r>
                      <a:r>
                        <a:rPr lang="es-NI" sz="1500" b="1" baseline="-25000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r>
                        <a:rPr lang="es-NI" sz="1500" b="1" baseline="0" dirty="0">
                          <a:solidFill>
                            <a:schemeClr val="bg1"/>
                          </a:solidFill>
                          <a:effectLst/>
                        </a:rPr>
                        <a:t> (6m)</a:t>
                      </a: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891193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solidFill>
                            <a:srgbClr val="003300"/>
                          </a:solidFill>
                          <a:effectLst/>
                        </a:rPr>
                        <a:t>Enero</a:t>
                      </a:r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80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386734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Febrero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90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807955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Marzo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solidFill>
                            <a:srgbClr val="003300"/>
                          </a:solidFill>
                          <a:effectLst/>
                        </a:rPr>
                        <a:t>85</a:t>
                      </a:r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5449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Abril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70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44026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Mayo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80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750253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Junio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78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058504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Julio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63131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Agosto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95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234456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Septiembre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103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038940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Octubre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20712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Noviembre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103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548998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Diciembre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150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3147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4FC82AE-8104-4F49-B845-1418F5E4482B}"/>
                  </a:ext>
                </a:extLst>
              </p:cNvPr>
              <p:cNvSpPr txBox="1"/>
              <p:nvPr/>
            </p:nvSpPr>
            <p:spPr>
              <a:xfrm>
                <a:off x="4573696" y="1846660"/>
                <a:ext cx="3035510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𝐴𝑏𝑟𝑖</m:t>
                              </m:r>
                              <m:r>
                                <a:rPr lang="es-NI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80+90+85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=85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4FC82AE-8104-4F49-B845-1418F5E44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696" y="1846660"/>
                <a:ext cx="3035510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FE45220-A525-45AE-8AC4-7DC7A726CDE8}"/>
                  </a:ext>
                </a:extLst>
              </p:cNvPr>
              <p:cNvSpPr txBox="1"/>
              <p:nvPr/>
            </p:nvSpPr>
            <p:spPr>
              <a:xfrm>
                <a:off x="4578245" y="2571314"/>
                <a:ext cx="3071931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𝑀𝑎𝑦𝑜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90+85</m:t>
                          </m:r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+70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82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FE45220-A525-45AE-8AC4-7DC7A726C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245" y="2571314"/>
                <a:ext cx="3071931" cy="525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9379849-1F5F-4E0C-A65E-214DCAF3DDD6}"/>
                  </a:ext>
                </a:extLst>
              </p:cNvPr>
              <p:cNvSpPr txBox="1"/>
              <p:nvPr/>
            </p:nvSpPr>
            <p:spPr>
              <a:xfrm>
                <a:off x="4555485" y="3343769"/>
                <a:ext cx="3070328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𝐽𝑢𝑛𝑖𝑜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85</m:t>
                          </m:r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+70+80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9379849-1F5F-4E0C-A65E-214DCAF3D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485" y="3343769"/>
                <a:ext cx="3070328" cy="525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F94E831-0100-45B0-909F-1B0DC0CEBEDC}"/>
                  </a:ext>
                </a:extLst>
              </p:cNvPr>
              <p:cNvSpPr txBox="1"/>
              <p:nvPr/>
            </p:nvSpPr>
            <p:spPr>
              <a:xfrm>
                <a:off x="4573695" y="4020622"/>
                <a:ext cx="3178233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𝐽𝑢𝑙𝑖𝑜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70+80+105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F94E831-0100-45B0-909F-1B0DC0CEB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695" y="4020622"/>
                <a:ext cx="3178233" cy="525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AD38794-60FB-4819-8C23-17EE268B0B9F}"/>
                  </a:ext>
                </a:extLst>
              </p:cNvPr>
              <p:cNvSpPr txBox="1"/>
              <p:nvPr/>
            </p:nvSpPr>
            <p:spPr>
              <a:xfrm>
                <a:off x="4573694" y="4756304"/>
                <a:ext cx="3358123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𝐴𝑔𝑜𝑠𝑡𝑜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80+105+100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AD38794-60FB-4819-8C23-17EE268B0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694" y="4756304"/>
                <a:ext cx="3358123" cy="5259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5BF0B9B-0E06-4E80-9C5B-88B60D114E9B}"/>
                  </a:ext>
                </a:extLst>
              </p:cNvPr>
              <p:cNvSpPr txBox="1"/>
              <p:nvPr/>
            </p:nvSpPr>
            <p:spPr>
              <a:xfrm>
                <a:off x="8113788" y="1846660"/>
                <a:ext cx="4078212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𝑆𝑒𝑝𝑡𝑖𝑒𝑚𝑏𝑟𝑒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105</m:t>
                          </m:r>
                          <m:r>
                            <a:rPr lang="es-NI" b="0" i="1" smtClean="0">
                              <a:latin typeface="Cambria Math" panose="02040503050406030204" pitchFamily="18" charset="0"/>
                            </a:rPr>
                            <m:t>+100+105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103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5BF0B9B-0E06-4E80-9C5B-88B60D114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788" y="1846660"/>
                <a:ext cx="4078212" cy="5259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4208282-2B0C-4C99-933F-D58CD5495EE9}"/>
                  </a:ext>
                </a:extLst>
              </p:cNvPr>
              <p:cNvSpPr txBox="1"/>
              <p:nvPr/>
            </p:nvSpPr>
            <p:spPr>
              <a:xfrm>
                <a:off x="8113788" y="2598812"/>
                <a:ext cx="4078212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𝑂𝑐𝑡𝑢𝑏𝑟𝑒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1" smtClean="0">
                              <a:latin typeface="Cambria Math" panose="02040503050406030204" pitchFamily="18" charset="0"/>
                            </a:rPr>
                            <m:t>100+105+100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102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4208282-2B0C-4C99-933F-D58CD5495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788" y="2598812"/>
                <a:ext cx="4078212" cy="5259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56366D6-DB65-4DCD-A5AC-8C8C18E48628}"/>
                  </a:ext>
                </a:extLst>
              </p:cNvPr>
              <p:cNvSpPr txBox="1"/>
              <p:nvPr/>
            </p:nvSpPr>
            <p:spPr>
              <a:xfrm>
                <a:off x="8113788" y="3309683"/>
                <a:ext cx="4078212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𝑁𝑜𝑣𝑖𝑒𝑚𝑏𝑟𝑒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1" smtClean="0">
                              <a:latin typeface="Cambria Math" panose="02040503050406030204" pitchFamily="18" charset="0"/>
                            </a:rPr>
                            <m:t>105+100+105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103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56366D6-DB65-4DCD-A5AC-8C8C18E48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788" y="3309683"/>
                <a:ext cx="4078212" cy="5259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BDF2BC23-EA5E-4A59-B36C-F798F7867D93}"/>
                  </a:ext>
                </a:extLst>
              </p:cNvPr>
              <p:cNvSpPr txBox="1"/>
              <p:nvPr/>
            </p:nvSpPr>
            <p:spPr>
              <a:xfrm>
                <a:off x="8113788" y="4015018"/>
                <a:ext cx="4078212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𝐷𝑖𝑐𝑖𝑒𝑚𝑏𝑟𝑒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1" smtClean="0">
                              <a:latin typeface="Cambria Math" panose="02040503050406030204" pitchFamily="18" charset="0"/>
                            </a:rPr>
                            <m:t>100+105+100</m:t>
                          </m:r>
                        </m:num>
                        <m:den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102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BDF2BC23-EA5E-4A59-B36C-F798F7867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788" y="4015018"/>
                <a:ext cx="4078212" cy="5259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914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43753E-9287-4958-9FED-AB895314BA53}"/>
              </a:ext>
            </a:extLst>
          </p:cNvPr>
          <p:cNvSpPr/>
          <p:nvPr/>
        </p:nvSpPr>
        <p:spPr>
          <a:xfrm>
            <a:off x="791570" y="0"/>
            <a:ext cx="106088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- Ejemplo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82472" y="923330"/>
            <a:ext cx="10617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Solución</a:t>
            </a:r>
            <a:endParaRPr lang="es-NI" sz="24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B105448-543B-4DE2-BD17-545ACB169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730265"/>
              </p:ext>
            </p:extLst>
          </p:nvPr>
        </p:nvGraphicFramePr>
        <p:xfrm>
          <a:off x="899979" y="1732794"/>
          <a:ext cx="3358123" cy="3679748"/>
        </p:xfrm>
        <a:graphic>
          <a:graphicData uri="http://schemas.openxmlformats.org/drawingml/2006/table">
            <a:tbl>
              <a:tblPr/>
              <a:tblGrid>
                <a:gridCol w="997060">
                  <a:extLst>
                    <a:ext uri="{9D8B030D-6E8A-4147-A177-3AD203B41FA5}">
                      <a16:colId xmlns:a16="http://schemas.microsoft.com/office/drawing/2014/main" val="1461776340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43366977"/>
                    </a:ext>
                  </a:extLst>
                </a:gridCol>
                <a:gridCol w="928048">
                  <a:extLst>
                    <a:ext uri="{9D8B030D-6E8A-4147-A177-3AD203B41FA5}">
                      <a16:colId xmlns:a16="http://schemas.microsoft.com/office/drawing/2014/main" val="3611819027"/>
                    </a:ext>
                  </a:extLst>
                </a:gridCol>
                <a:gridCol w="941696">
                  <a:extLst>
                    <a:ext uri="{9D8B030D-6E8A-4147-A177-3AD203B41FA5}">
                      <a16:colId xmlns:a16="http://schemas.microsoft.com/office/drawing/2014/main" val="2161031458"/>
                    </a:ext>
                  </a:extLst>
                </a:gridCol>
              </a:tblGrid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 b="1">
                          <a:solidFill>
                            <a:srgbClr val="FFFFFF"/>
                          </a:solidFill>
                          <a:effectLst/>
                        </a:rPr>
                        <a:t>MES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b="1" dirty="0">
                          <a:solidFill>
                            <a:srgbClr val="FFFFFF"/>
                          </a:solidFill>
                          <a:effectLst/>
                        </a:rPr>
                        <a:t>A</a:t>
                      </a:r>
                      <a:r>
                        <a:rPr lang="es-NI" sz="1500" b="1" baseline="-25000" dirty="0">
                          <a:solidFill>
                            <a:srgbClr val="FFFFFF"/>
                          </a:solidFill>
                          <a:effectLst/>
                        </a:rPr>
                        <a:t>t</a:t>
                      </a:r>
                      <a:endParaRPr lang="es-NI" sz="1500" baseline="-25000" dirty="0">
                        <a:effectLst/>
                      </a:endParaRP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800" b="1" baseline="0" dirty="0">
                          <a:solidFill>
                            <a:schemeClr val="bg1"/>
                          </a:solidFill>
                          <a:effectLst/>
                        </a:rPr>
                        <a:t>F</a:t>
                      </a:r>
                      <a:r>
                        <a:rPr lang="es-NI" sz="1800" b="1" baseline="-25000" dirty="0">
                          <a:solidFill>
                            <a:schemeClr val="bg1"/>
                          </a:solidFill>
                          <a:effectLst/>
                        </a:rPr>
                        <a:t>t </a:t>
                      </a:r>
                      <a:r>
                        <a:rPr lang="es-NI" sz="1800" b="1" baseline="0" dirty="0">
                          <a:solidFill>
                            <a:schemeClr val="bg1"/>
                          </a:solidFill>
                          <a:effectLst/>
                        </a:rPr>
                        <a:t>(3m)</a:t>
                      </a: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b="1" baseline="0" dirty="0">
                          <a:solidFill>
                            <a:schemeClr val="bg1"/>
                          </a:solidFill>
                          <a:effectLst/>
                        </a:rPr>
                        <a:t>F</a:t>
                      </a:r>
                      <a:r>
                        <a:rPr lang="es-NI" sz="1500" b="1" baseline="-25000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r>
                        <a:rPr lang="es-NI" sz="1500" b="1" baseline="0" dirty="0">
                          <a:solidFill>
                            <a:schemeClr val="bg1"/>
                          </a:solidFill>
                          <a:effectLst/>
                        </a:rPr>
                        <a:t> (6m)</a:t>
                      </a: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891193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solidFill>
                            <a:srgbClr val="003300"/>
                          </a:solidFill>
                          <a:effectLst/>
                        </a:rPr>
                        <a:t>Enero</a:t>
                      </a:r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80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386734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Febrero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90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807955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Marzo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solidFill>
                            <a:srgbClr val="003300"/>
                          </a:solidFill>
                          <a:effectLst/>
                        </a:rPr>
                        <a:t>85</a:t>
                      </a:r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5449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Abril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70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44026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Mayo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80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750253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Junio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78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058504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Julio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63131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Agosto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95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88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234456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Septiembre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103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91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038940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Octubre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20712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Noviembre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103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548998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Diciembre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150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3147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CDF7DE7-F3BE-4440-BEE6-A5D3D8374F61}"/>
                  </a:ext>
                </a:extLst>
              </p:cNvPr>
              <p:cNvSpPr txBox="1"/>
              <p:nvPr/>
            </p:nvSpPr>
            <p:spPr>
              <a:xfrm>
                <a:off x="4506883" y="1846660"/>
                <a:ext cx="4910072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𝐽𝑢𝑙𝑖𝑜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80+90+85+70+80+105</m:t>
                          </m:r>
                        </m:num>
                        <m:den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CDF7DE7-F3BE-4440-BEE6-A5D3D8374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83" y="1846660"/>
                <a:ext cx="4910072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3B6660-17CD-4E85-87B6-0EB446A2D6FF}"/>
                  </a:ext>
                </a:extLst>
              </p:cNvPr>
              <p:cNvSpPr txBox="1"/>
              <p:nvPr/>
            </p:nvSpPr>
            <p:spPr>
              <a:xfrm>
                <a:off x="4506882" y="2571314"/>
                <a:ext cx="5169381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𝐴𝑔𝑜𝑠𝑡𝑜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90+85+70+80+105+100</m:t>
                          </m:r>
                        </m:num>
                        <m:den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88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3B6660-17CD-4E85-87B6-0EB446A2D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82" y="2571314"/>
                <a:ext cx="5169381" cy="525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931D494-73FA-435C-BE1F-52BAB83EE81C}"/>
                  </a:ext>
                </a:extLst>
              </p:cNvPr>
              <p:cNvSpPr txBox="1"/>
              <p:nvPr/>
            </p:nvSpPr>
            <p:spPr>
              <a:xfrm>
                <a:off x="4506882" y="3236256"/>
                <a:ext cx="5537870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𝑆𝑒𝑝𝑡𝑖𝑒𝑚𝑏𝑟𝑒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85+70+80+105+100+105</m:t>
                          </m:r>
                        </m:num>
                        <m:den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91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931D494-73FA-435C-BE1F-52BAB83EE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82" y="3236256"/>
                <a:ext cx="5537870" cy="525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89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43753E-9287-4958-9FED-AB895314BA53}"/>
              </a:ext>
            </a:extLst>
          </p:cNvPr>
          <p:cNvSpPr/>
          <p:nvPr/>
        </p:nvSpPr>
        <p:spPr>
          <a:xfrm>
            <a:off x="791570" y="0"/>
            <a:ext cx="106088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- Ejemplo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82472" y="923330"/>
            <a:ext cx="10617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Solución</a:t>
            </a:r>
            <a:endParaRPr lang="es-NI" sz="24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B105448-543B-4DE2-BD17-545ACB169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591831"/>
              </p:ext>
            </p:extLst>
          </p:nvPr>
        </p:nvGraphicFramePr>
        <p:xfrm>
          <a:off x="899979" y="1732794"/>
          <a:ext cx="3358123" cy="3679748"/>
        </p:xfrm>
        <a:graphic>
          <a:graphicData uri="http://schemas.openxmlformats.org/drawingml/2006/table">
            <a:tbl>
              <a:tblPr/>
              <a:tblGrid>
                <a:gridCol w="997060">
                  <a:extLst>
                    <a:ext uri="{9D8B030D-6E8A-4147-A177-3AD203B41FA5}">
                      <a16:colId xmlns:a16="http://schemas.microsoft.com/office/drawing/2014/main" val="1461776340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43366977"/>
                    </a:ext>
                  </a:extLst>
                </a:gridCol>
                <a:gridCol w="928048">
                  <a:extLst>
                    <a:ext uri="{9D8B030D-6E8A-4147-A177-3AD203B41FA5}">
                      <a16:colId xmlns:a16="http://schemas.microsoft.com/office/drawing/2014/main" val="3611819027"/>
                    </a:ext>
                  </a:extLst>
                </a:gridCol>
                <a:gridCol w="941696">
                  <a:extLst>
                    <a:ext uri="{9D8B030D-6E8A-4147-A177-3AD203B41FA5}">
                      <a16:colId xmlns:a16="http://schemas.microsoft.com/office/drawing/2014/main" val="2161031458"/>
                    </a:ext>
                  </a:extLst>
                </a:gridCol>
              </a:tblGrid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 b="1">
                          <a:solidFill>
                            <a:srgbClr val="FFFFFF"/>
                          </a:solidFill>
                          <a:effectLst/>
                        </a:rPr>
                        <a:t>MES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b="1" dirty="0">
                          <a:solidFill>
                            <a:srgbClr val="FFFFFF"/>
                          </a:solidFill>
                          <a:effectLst/>
                        </a:rPr>
                        <a:t>A</a:t>
                      </a:r>
                      <a:r>
                        <a:rPr lang="es-NI" sz="1500" b="1" baseline="-25000" dirty="0">
                          <a:solidFill>
                            <a:srgbClr val="FFFFFF"/>
                          </a:solidFill>
                          <a:effectLst/>
                        </a:rPr>
                        <a:t>t</a:t>
                      </a:r>
                      <a:endParaRPr lang="es-NI" sz="1500" baseline="-25000" dirty="0">
                        <a:effectLst/>
                      </a:endParaRP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800" b="1" baseline="0" dirty="0">
                          <a:solidFill>
                            <a:schemeClr val="bg1"/>
                          </a:solidFill>
                          <a:effectLst/>
                        </a:rPr>
                        <a:t>F</a:t>
                      </a:r>
                      <a:r>
                        <a:rPr lang="es-NI" sz="1800" b="1" baseline="-25000" dirty="0">
                          <a:solidFill>
                            <a:schemeClr val="bg1"/>
                          </a:solidFill>
                          <a:effectLst/>
                        </a:rPr>
                        <a:t>t </a:t>
                      </a:r>
                      <a:r>
                        <a:rPr lang="es-NI" sz="1800" b="1" baseline="0" dirty="0">
                          <a:solidFill>
                            <a:schemeClr val="bg1"/>
                          </a:solidFill>
                          <a:effectLst/>
                        </a:rPr>
                        <a:t>(3m)</a:t>
                      </a: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b="1" baseline="0" dirty="0">
                          <a:solidFill>
                            <a:schemeClr val="bg1"/>
                          </a:solidFill>
                          <a:effectLst/>
                        </a:rPr>
                        <a:t>F</a:t>
                      </a:r>
                      <a:r>
                        <a:rPr lang="es-NI" sz="1500" b="1" baseline="-25000" dirty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r>
                        <a:rPr lang="es-NI" sz="1500" b="1" baseline="0" dirty="0">
                          <a:solidFill>
                            <a:schemeClr val="bg1"/>
                          </a:solidFill>
                          <a:effectLst/>
                        </a:rPr>
                        <a:t> (6m)</a:t>
                      </a:r>
                    </a:p>
                  </a:txBody>
                  <a:tcPr marL="24118" marR="24118" marT="24118" marB="24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891193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solidFill>
                            <a:srgbClr val="003300"/>
                          </a:solidFill>
                          <a:effectLst/>
                        </a:rPr>
                        <a:t>Enero</a:t>
                      </a:r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80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386734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Febrero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90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807955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Marzo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solidFill>
                            <a:srgbClr val="003300"/>
                          </a:solidFill>
                          <a:effectLst/>
                        </a:rPr>
                        <a:t>85</a:t>
                      </a:r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5449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Abril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solidFill>
                            <a:srgbClr val="003300"/>
                          </a:solidFill>
                          <a:effectLst/>
                        </a:rPr>
                        <a:t>70</a:t>
                      </a:r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44026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Mayo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80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750253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Junio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78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NI" sz="1500" dirty="0">
                        <a:effectLst/>
                      </a:endParaRP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058504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Julio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63131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Agosto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95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88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234456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Septiembre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103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91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038940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Octubre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105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93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20712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Noviembre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100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103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99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548998"/>
                  </a:ext>
                </a:extLst>
              </a:tr>
              <a:tr h="279766">
                <a:tc>
                  <a:txBody>
                    <a:bodyPr/>
                    <a:lstStyle/>
                    <a:p>
                      <a:pPr algn="ctr"/>
                      <a:r>
                        <a:rPr lang="es-NI" sz="1500">
                          <a:effectLst/>
                        </a:rPr>
                        <a:t>Diciembre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150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102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500" dirty="0">
                          <a:effectLst/>
                        </a:rPr>
                        <a:t>103</a:t>
                      </a:r>
                    </a:p>
                  </a:txBody>
                  <a:tcPr marL="24118" marR="24118" marT="24118" marB="24118" anchor="ctr">
                    <a:lnL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3147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CDF7DE7-F3BE-4440-BEE6-A5D3D8374F61}"/>
                  </a:ext>
                </a:extLst>
              </p:cNvPr>
              <p:cNvSpPr txBox="1"/>
              <p:nvPr/>
            </p:nvSpPr>
            <p:spPr>
              <a:xfrm>
                <a:off x="4506883" y="1846660"/>
                <a:ext cx="4910072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𝐽𝑢𝑙𝑖𝑜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80+90+85+70+80+105</m:t>
                          </m:r>
                        </m:num>
                        <m:den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CDF7DE7-F3BE-4440-BEE6-A5D3D8374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83" y="1846660"/>
                <a:ext cx="4910072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3B6660-17CD-4E85-87B6-0EB446A2D6FF}"/>
                  </a:ext>
                </a:extLst>
              </p:cNvPr>
              <p:cNvSpPr txBox="1"/>
              <p:nvPr/>
            </p:nvSpPr>
            <p:spPr>
              <a:xfrm>
                <a:off x="4506882" y="2571314"/>
                <a:ext cx="5169381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𝐴𝑔𝑜𝑠𝑡𝑜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90+85+70+80+105+100</m:t>
                          </m:r>
                        </m:num>
                        <m:den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88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3B6660-17CD-4E85-87B6-0EB446A2D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82" y="2571314"/>
                <a:ext cx="5169381" cy="525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931D494-73FA-435C-BE1F-52BAB83EE81C}"/>
                  </a:ext>
                </a:extLst>
              </p:cNvPr>
              <p:cNvSpPr txBox="1"/>
              <p:nvPr/>
            </p:nvSpPr>
            <p:spPr>
              <a:xfrm>
                <a:off x="4506882" y="3236256"/>
                <a:ext cx="5537870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NI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𝑆𝑒𝑝𝑡𝑖𝑒𝑚𝑏𝑟𝑒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b="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85+70+80+105+100+105</m:t>
                          </m:r>
                        </m:num>
                        <m:den>
                          <m:r>
                            <a:rPr lang="es-NI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b="0" i="0" smtClean="0">
                          <a:latin typeface="Cambria Math" panose="02040503050406030204" pitchFamily="18" charset="0"/>
                        </a:rPr>
                        <m:t>91</m:t>
                      </m:r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931D494-73FA-435C-BE1F-52BAB83EE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82" y="3236256"/>
                <a:ext cx="5537870" cy="525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36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43753E-9287-4958-9FED-AB895314BA53}"/>
              </a:ext>
            </a:extLst>
          </p:cNvPr>
          <p:cNvSpPr/>
          <p:nvPr/>
        </p:nvSpPr>
        <p:spPr>
          <a:xfrm>
            <a:off x="791570" y="0"/>
            <a:ext cx="106088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- Ejemplo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82472" y="923330"/>
            <a:ext cx="106179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Solución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Aunque existen diversos indicadores de precisión de un pronóstico, en este caso el resultado es más que evidente, pues podemos observar como el pronóstico con un período móvil de 3 meses logra aproximarse en una mayor medida a las ventas reales del año 2009 con relación a las previsiones obtenidas mediante el pronóstico con un período móvil de 6 meses.</a:t>
            </a:r>
            <a:endParaRPr lang="es-NI" sz="2400" dirty="0"/>
          </a:p>
        </p:txBody>
      </p:sp>
    </p:spTree>
    <p:extLst>
      <p:ext uri="{BB962C8B-B14F-4D97-AF65-F5344CB8AC3E}">
        <p14:creationId xmlns:p14="http://schemas.microsoft.com/office/powerpoint/2010/main" val="4129991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F1E95A2-E5F1-4C8A-92DC-CE369D193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8EC2CE8-C9E9-4AD3-B259-F52577E2CD23}"/>
              </a:ext>
            </a:extLst>
          </p:cNvPr>
          <p:cNvSpPr txBox="1"/>
          <p:nvPr/>
        </p:nvSpPr>
        <p:spPr>
          <a:xfrm>
            <a:off x="755360" y="1600072"/>
            <a:ext cx="6804626" cy="355310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 err="1"/>
              <a:t>NiCat</a:t>
            </a:r>
            <a:r>
              <a:rPr lang="en-US" sz="2400" dirty="0"/>
              <a:t> es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compañía</a:t>
            </a:r>
            <a:r>
              <a:rPr lang="en-US" sz="2400" dirty="0"/>
              <a:t> </a:t>
            </a:r>
            <a:r>
              <a:rPr lang="en-US" sz="2400" dirty="0" err="1"/>
              <a:t>productora</a:t>
            </a:r>
            <a:r>
              <a:rPr lang="en-US" sz="2400" dirty="0"/>
              <a:t> de </a:t>
            </a:r>
            <a:r>
              <a:rPr lang="en-US" sz="2400" dirty="0" err="1"/>
              <a:t>alimentos</a:t>
            </a:r>
            <a:r>
              <a:rPr lang="en-US" sz="2400" dirty="0"/>
              <a:t> para </a:t>
            </a:r>
            <a:r>
              <a:rPr lang="en-US" sz="2400" dirty="0" err="1"/>
              <a:t>gato</a:t>
            </a:r>
            <a:r>
              <a:rPr lang="en-US" sz="2400" dirty="0"/>
              <a:t> y </a:t>
            </a:r>
            <a:r>
              <a:rPr lang="en-US" sz="2400" dirty="0" err="1"/>
              <a:t>requiere</a:t>
            </a:r>
            <a:r>
              <a:rPr lang="en-US" sz="2400" dirty="0"/>
              <a:t> </a:t>
            </a:r>
            <a:r>
              <a:rPr lang="en-US" sz="2400" dirty="0" err="1"/>
              <a:t>calcular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pronóstico</a:t>
            </a:r>
            <a:r>
              <a:rPr lang="en-US" sz="2400" dirty="0"/>
              <a:t> de </a:t>
            </a:r>
            <a:r>
              <a:rPr lang="en-US" sz="2400" dirty="0" err="1"/>
              <a:t>demanda</a:t>
            </a:r>
            <a:r>
              <a:rPr lang="en-US" sz="2400" dirty="0"/>
              <a:t> con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método</a:t>
            </a:r>
            <a:r>
              <a:rPr lang="en-US" sz="2400" dirty="0"/>
              <a:t> de media o </a:t>
            </a:r>
            <a:r>
              <a:rPr lang="en-US" sz="2400" dirty="0" err="1"/>
              <a:t>promedio</a:t>
            </a:r>
            <a:r>
              <a:rPr lang="en-US" sz="2400" dirty="0"/>
              <a:t> </a:t>
            </a:r>
            <a:r>
              <a:rPr lang="en-US" sz="2400" dirty="0" err="1"/>
              <a:t>móvil</a:t>
            </a:r>
            <a:r>
              <a:rPr lang="en-US" sz="2400" dirty="0"/>
              <a:t> simple, </a:t>
            </a:r>
            <a:r>
              <a:rPr lang="en-US" sz="2400" dirty="0" err="1"/>
              <a:t>considerando</a:t>
            </a:r>
            <a:r>
              <a:rPr lang="en-US" sz="2400" dirty="0"/>
              <a:t> un </a:t>
            </a:r>
            <a:r>
              <a:rPr lang="en-US" sz="2400" dirty="0" err="1"/>
              <a:t>periodo</a:t>
            </a:r>
            <a:r>
              <a:rPr lang="en-US" sz="2400" dirty="0"/>
              <a:t> de 3 meses.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24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/>
              <a:t>La </a:t>
            </a:r>
            <a:r>
              <a:rPr lang="en-US" sz="2400" dirty="0" err="1"/>
              <a:t>siguiente</a:t>
            </a:r>
            <a:r>
              <a:rPr lang="en-US" sz="2400" dirty="0"/>
              <a:t> </a:t>
            </a:r>
            <a:r>
              <a:rPr lang="en-US" sz="2400" dirty="0" err="1"/>
              <a:t>tabla</a:t>
            </a:r>
            <a:r>
              <a:rPr lang="en-US" sz="2400" dirty="0"/>
              <a:t> </a:t>
            </a:r>
            <a:r>
              <a:rPr lang="en-US" sz="2400" dirty="0" err="1"/>
              <a:t>nos</a:t>
            </a:r>
            <a:r>
              <a:rPr lang="en-US" sz="2400" dirty="0"/>
              <a:t> </a:t>
            </a:r>
            <a:r>
              <a:rPr lang="en-US" sz="2400" dirty="0" err="1"/>
              <a:t>muestra</a:t>
            </a:r>
            <a:r>
              <a:rPr lang="en-US" sz="2400" dirty="0"/>
              <a:t> la </a:t>
            </a:r>
            <a:r>
              <a:rPr lang="en-US" sz="2400" dirty="0" err="1"/>
              <a:t>demanda</a:t>
            </a:r>
            <a:r>
              <a:rPr lang="en-US" sz="2400" dirty="0"/>
              <a:t> real a </a:t>
            </a:r>
            <a:r>
              <a:rPr lang="en-US" sz="2400" dirty="0" err="1"/>
              <a:t>través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próximos</a:t>
            </a:r>
            <a:r>
              <a:rPr lang="en-US" sz="2400" dirty="0"/>
              <a:t> 18 meses </a:t>
            </a:r>
            <a:r>
              <a:rPr lang="en-US" sz="2400" dirty="0" err="1"/>
              <a:t>iniciando</a:t>
            </a:r>
            <a:r>
              <a:rPr lang="en-US" sz="2400" dirty="0"/>
              <a:t> </a:t>
            </a:r>
            <a:r>
              <a:rPr lang="en-US" sz="2400" dirty="0" err="1"/>
              <a:t>desde</a:t>
            </a:r>
            <a:r>
              <a:rPr lang="en-US" sz="2400" dirty="0"/>
              <a:t> </a:t>
            </a:r>
            <a:r>
              <a:rPr lang="en-US" sz="2400" dirty="0" err="1"/>
              <a:t>enero</a:t>
            </a:r>
            <a:r>
              <a:rPr lang="en-US" sz="2400" dirty="0"/>
              <a:t>, con lo </a:t>
            </a:r>
            <a:r>
              <a:rPr lang="en-US" sz="2400" dirty="0" err="1"/>
              <a:t>cual</a:t>
            </a:r>
            <a:r>
              <a:rPr lang="en-US" sz="2400" dirty="0"/>
              <a:t> </a:t>
            </a:r>
            <a:r>
              <a:rPr lang="en-US" sz="2400" dirty="0" err="1"/>
              <a:t>pronosticamos</a:t>
            </a:r>
            <a:r>
              <a:rPr lang="en-US" sz="2400" dirty="0"/>
              <a:t> la </a:t>
            </a:r>
            <a:r>
              <a:rPr lang="en-US" sz="2400" dirty="0" err="1"/>
              <a:t>demanda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siguientes</a:t>
            </a:r>
            <a:r>
              <a:rPr lang="en-US" sz="2400" dirty="0"/>
              <a:t> </a:t>
            </a:r>
            <a:r>
              <a:rPr lang="en-US" sz="2400" dirty="0" err="1"/>
              <a:t>periodos</a:t>
            </a:r>
            <a:r>
              <a:rPr lang="en-US" sz="2400" dirty="0"/>
              <a:t>:</a:t>
            </a:r>
          </a:p>
        </p:txBody>
      </p:sp>
      <p:pic>
        <p:nvPicPr>
          <p:cNvPr id="3074" name="Picture 2" descr="Primer tabla - promedio simple">
            <a:extLst>
              <a:ext uri="{FF2B5EF4-FFF2-40B4-BE49-F238E27FC236}">
                <a16:creationId xmlns:a16="http://schemas.microsoft.com/office/drawing/2014/main" id="{3F164C38-D261-4B59-B463-4EC01D2B60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12"/>
          <a:stretch/>
        </p:blipFill>
        <p:spPr bwMode="auto">
          <a:xfrm>
            <a:off x="8315346" y="973621"/>
            <a:ext cx="2125192" cy="511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FCF674C-D208-4497-A189-02E8503DA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E56059D0-E445-484E-B040-56EC6CE933AB}"/>
              </a:ext>
            </a:extLst>
          </p:cNvPr>
          <p:cNvSpPr/>
          <p:nvPr/>
        </p:nvSpPr>
        <p:spPr>
          <a:xfrm>
            <a:off x="791570" y="0"/>
            <a:ext cx="106088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Media Móvil Simple - Ejercicio 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3B7B7094-F0F1-4B38-90F1-034DDE7FBF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9527395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1"/>
      </a:lt2>
      <a:accent1>
        <a:srgbClr val="E7299E"/>
      </a:accent1>
      <a:accent2>
        <a:srgbClr val="CE17D5"/>
      </a:accent2>
      <a:accent3>
        <a:srgbClr val="9129E7"/>
      </a:accent3>
      <a:accent4>
        <a:srgbClr val="452ED9"/>
      </a:accent4>
      <a:accent5>
        <a:srgbClr val="295FE7"/>
      </a:accent5>
      <a:accent6>
        <a:srgbClr val="179CD5"/>
      </a:accent6>
      <a:hlink>
        <a:srgbClr val="3F4EBF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854</Words>
  <Application>Microsoft Office PowerPoint</Application>
  <PresentationFormat>Panorámica</PresentationFormat>
  <Paragraphs>209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Calisto MT</vt:lpstr>
      <vt:lpstr>Cambria Math</vt:lpstr>
      <vt:lpstr>Univers Condensed</vt:lpstr>
      <vt:lpstr>ChronicleVTI</vt:lpstr>
      <vt:lpstr>Series de tiempo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Series de tiempo</dc:title>
  <dc:creator>Guillermo AntonioAguirre</dc:creator>
  <cp:lastModifiedBy>Guillermo AntonioAguirre</cp:lastModifiedBy>
  <cp:revision>5</cp:revision>
  <dcterms:created xsi:type="dcterms:W3CDTF">2022-03-14T15:59:42Z</dcterms:created>
  <dcterms:modified xsi:type="dcterms:W3CDTF">2022-03-14T17:07:11Z</dcterms:modified>
</cp:coreProperties>
</file>