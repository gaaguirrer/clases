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1" r:id="rId6"/>
    <p:sldId id="260" r:id="rId7"/>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0" d="100"/>
          <a:sy n="70" d="100"/>
        </p:scale>
        <p:origin x="660" y="60"/>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BF98BCD0-D618-416A-BC9C-383FDC3E388B}"/>
    <pc:docChg chg="addSld delSld modSld">
      <pc:chgData name="Guillermo AntonioAguirre" userId="42908199-65f4-4d4a-8e05-6e659ccb82ce" providerId="ADAL" clId="{BF98BCD0-D618-416A-BC9C-383FDC3E388B}" dt="2023-08-14T02:21:00.469" v="4" actId="2696"/>
      <pc:docMkLst>
        <pc:docMk/>
      </pc:docMkLst>
      <pc:sldChg chg="modSp add del mod">
        <pc:chgData name="Guillermo AntonioAguirre" userId="42908199-65f4-4d4a-8e05-6e659ccb82ce" providerId="ADAL" clId="{BF98BCD0-D618-416A-BC9C-383FDC3E388B}" dt="2023-08-14T02:21:00.469" v="4" actId="2696"/>
        <pc:sldMkLst>
          <pc:docMk/>
          <pc:sldMk cId="2486744873" sldId="262"/>
        </pc:sldMkLst>
        <pc:spChg chg="mod">
          <ac:chgData name="Guillermo AntonioAguirre" userId="42908199-65f4-4d4a-8e05-6e659ccb82ce" providerId="ADAL" clId="{BF98BCD0-D618-416A-BC9C-383FDC3E388B}" dt="2023-08-14T02:20:19.819" v="3"/>
          <ac:spMkLst>
            <pc:docMk/>
            <pc:sldMk cId="2486744873" sldId="262"/>
            <ac:spMk id="5" creationId="{DD4DE418-1647-466F-A7B8-3513694E7CF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7F35D7-9141-479D-8A57-6AAC88C21DB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78BD84ED-387F-41D3-99E2-119EF6E92A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ADADFC85-FF2D-4A9A-93A5-44731C495695}"/>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5" name="Marcador de pie de página 4">
            <a:extLst>
              <a:ext uri="{FF2B5EF4-FFF2-40B4-BE49-F238E27FC236}">
                <a16:creationId xmlns:a16="http://schemas.microsoft.com/office/drawing/2014/main" id="{5CF323B7-E002-41E3-9EA3-BA3846B7E2F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A2C5D0E1-FBCC-49DC-A0C8-301B7B2029EA}"/>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3078926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4C029C-E32B-44A3-BDEA-8E7BF94550FC}"/>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AAC43A98-CA37-4261-825D-0E5C286E3FD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9E4794F6-B6DF-469A-A11C-8D67E7FAF03E}"/>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5" name="Marcador de pie de página 4">
            <a:extLst>
              <a:ext uri="{FF2B5EF4-FFF2-40B4-BE49-F238E27FC236}">
                <a16:creationId xmlns:a16="http://schemas.microsoft.com/office/drawing/2014/main" id="{6410D02A-F2E0-48F6-9AC8-A75FC02BD812}"/>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ED69A9F4-DD68-47BB-9D5A-953231DFC1DA}"/>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1270380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52AD56-14A4-407A-8929-2A8EB99F0E8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8A7810CC-164B-4ADE-ACFC-D79183F43F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66ABC86-9DE0-41D2-961B-AC2B924E2A91}"/>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5" name="Marcador de pie de página 4">
            <a:extLst>
              <a:ext uri="{FF2B5EF4-FFF2-40B4-BE49-F238E27FC236}">
                <a16:creationId xmlns:a16="http://schemas.microsoft.com/office/drawing/2014/main" id="{E100829E-A494-42FE-9B06-528532DE150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A9E12D32-EF19-49BA-96A7-3131F7E0FD1A}"/>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1238769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3E8EE-474E-4806-A7B5-1BD9FE8223AF}"/>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87121974-C3CE-4332-8C1C-E045F517839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185B0C36-5477-45B8-A215-1204E13145A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2AA95378-A4BF-42C3-8D14-733FE0CEE9C7}"/>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6" name="Marcador de pie de página 5">
            <a:extLst>
              <a:ext uri="{FF2B5EF4-FFF2-40B4-BE49-F238E27FC236}">
                <a16:creationId xmlns:a16="http://schemas.microsoft.com/office/drawing/2014/main" id="{CEB8F5C8-2C9F-4BEC-AD7C-D513A73F5969}"/>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F47EDB3A-9571-4275-A880-2E135952FFD5}"/>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87263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DDB05-24CA-44E7-A823-E47C59F1119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CB2AFB7A-6B78-4942-8F6D-F6E65C8F97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3B6252F-999E-44EE-99ED-9C814341BE5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7403750C-147C-42DB-A1A6-FBED35813F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00BFB2D-CCFA-4AC1-A05C-9F069F0C75B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3E526A2F-0364-4AD9-B8AE-F052D62356D7}"/>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8" name="Marcador de pie de página 7">
            <a:extLst>
              <a:ext uri="{FF2B5EF4-FFF2-40B4-BE49-F238E27FC236}">
                <a16:creationId xmlns:a16="http://schemas.microsoft.com/office/drawing/2014/main" id="{57510808-5B02-4C64-9F6E-A5193BD9B96E}"/>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3FBBCEF9-5938-4C6B-84B3-D1BF22B57C82}"/>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1983254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2F515-D0CE-47B0-A50D-1D036F24B9FA}"/>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AB5D0147-8783-43A0-89DC-BF9ACEF81830}"/>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4" name="Marcador de pie de página 3">
            <a:extLst>
              <a:ext uri="{FF2B5EF4-FFF2-40B4-BE49-F238E27FC236}">
                <a16:creationId xmlns:a16="http://schemas.microsoft.com/office/drawing/2014/main" id="{7C5A445F-DA21-41DA-99DB-3FB380C8B857}"/>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EFED92B8-62B8-440E-9759-267E8CB09D2F}"/>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776742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FA89369-AF21-4299-A39E-0B6586794620}"/>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3" name="Marcador de pie de página 2">
            <a:extLst>
              <a:ext uri="{FF2B5EF4-FFF2-40B4-BE49-F238E27FC236}">
                <a16:creationId xmlns:a16="http://schemas.microsoft.com/office/drawing/2014/main" id="{8BF913B3-7DC5-4DC0-8BC6-DD9798E09D70}"/>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B98B5DB4-00E4-49C4-BAE7-F02D03C2F1B7}"/>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1251592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AD6133-C002-4CB4-9474-C42A4E08B96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D6135A52-CD9F-479F-A40E-BB95B66DC2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54AFA5E7-188C-4095-B1D8-1BD8E4DB1A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0A9DE88-4624-4377-8287-6CD96CC73DDD}"/>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6" name="Marcador de pie de página 5">
            <a:extLst>
              <a:ext uri="{FF2B5EF4-FFF2-40B4-BE49-F238E27FC236}">
                <a16:creationId xmlns:a16="http://schemas.microsoft.com/office/drawing/2014/main" id="{9873FE88-2F59-4907-B22E-CE092BB400CC}"/>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675C5165-6423-42EA-BBB3-F846F674FE9B}"/>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4239878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029F9D-F26A-4826-B4BD-405DE88DA08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436F5D27-C125-4D2C-A8DC-56023402E2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37E7E3C2-736F-4488-B672-FA2A6B498A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090578D-F166-439F-AE03-795738C14E2E}"/>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6" name="Marcador de pie de página 5">
            <a:extLst>
              <a:ext uri="{FF2B5EF4-FFF2-40B4-BE49-F238E27FC236}">
                <a16:creationId xmlns:a16="http://schemas.microsoft.com/office/drawing/2014/main" id="{440C3101-BC59-49B2-88E7-46F692414080}"/>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47A2AB70-6603-4166-B2B0-C0FC895D8C3B}"/>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2178166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C91E8-216D-4782-8DF9-9F948208BEDE}"/>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D1EFC25C-51D8-4903-835F-0B3C67BAC41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F627D012-1004-4FDC-9F08-3D04EF72D373}"/>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5" name="Marcador de pie de página 4">
            <a:extLst>
              <a:ext uri="{FF2B5EF4-FFF2-40B4-BE49-F238E27FC236}">
                <a16:creationId xmlns:a16="http://schemas.microsoft.com/office/drawing/2014/main" id="{F2FEDADC-04EE-4415-B7C9-9DE1C7B12CA2}"/>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1DC731FB-FD90-4C64-AA38-12372F7A1F7B}"/>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4070726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F2EDFBD-4812-410B-993E-AAA8887474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6B871C57-F6B8-4EB9-994E-3F50E63D549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91E00243-1742-41CB-BEDC-399616781A7D}"/>
              </a:ext>
            </a:extLst>
          </p:cNvPr>
          <p:cNvSpPr>
            <a:spLocks noGrp="1"/>
          </p:cNvSpPr>
          <p:nvPr>
            <p:ph type="dt" sz="half" idx="10"/>
          </p:nvPr>
        </p:nvSpPr>
        <p:spPr/>
        <p:txBody>
          <a:bodyPr/>
          <a:lstStyle/>
          <a:p>
            <a:fld id="{0FDBE6FC-D6BD-4049-A0DF-C559EADC998C}" type="datetimeFigureOut">
              <a:rPr lang="es-NI" smtClean="0"/>
              <a:t>13/8/2023</a:t>
            </a:fld>
            <a:endParaRPr lang="es-NI"/>
          </a:p>
        </p:txBody>
      </p:sp>
      <p:sp>
        <p:nvSpPr>
          <p:cNvPr id="5" name="Marcador de pie de página 4">
            <a:extLst>
              <a:ext uri="{FF2B5EF4-FFF2-40B4-BE49-F238E27FC236}">
                <a16:creationId xmlns:a16="http://schemas.microsoft.com/office/drawing/2014/main" id="{FAF82ED4-65C9-42F1-9970-77D75A8579B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B8104274-1D55-4383-89DB-4C8D5F891D49}"/>
              </a:ext>
            </a:extLst>
          </p:cNvPr>
          <p:cNvSpPr>
            <a:spLocks noGrp="1"/>
          </p:cNvSpPr>
          <p:nvPr>
            <p:ph type="sldNum" sz="quarter" idx="12"/>
          </p:nvPr>
        </p:nvSpPr>
        <p:spPr/>
        <p:txBody>
          <a:bodyPr/>
          <a:lstStyle/>
          <a:p>
            <a:fld id="{9D81AE8B-7F21-417B-8A0E-F0D459AFF651}" type="slidenum">
              <a:rPr lang="es-NI" smtClean="0"/>
              <a:t>‹Nº›</a:t>
            </a:fld>
            <a:endParaRPr lang="es-NI"/>
          </a:p>
        </p:txBody>
      </p:sp>
    </p:spTree>
    <p:extLst>
      <p:ext uri="{BB962C8B-B14F-4D97-AF65-F5344CB8AC3E}">
        <p14:creationId xmlns:p14="http://schemas.microsoft.com/office/powerpoint/2010/main" val="84066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E381950-1120-49A0-A5E5-04B2E50E6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151D21AE-EA8B-4067-B449-1FE1B48066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4DD2D48E-FAE2-48F8-AAF5-938E568CA6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DBE6FC-D6BD-4049-A0DF-C559EADC998C}" type="datetimeFigureOut">
              <a:rPr lang="es-NI" smtClean="0"/>
              <a:t>13/8/2023</a:t>
            </a:fld>
            <a:endParaRPr lang="es-NI"/>
          </a:p>
        </p:txBody>
      </p:sp>
      <p:sp>
        <p:nvSpPr>
          <p:cNvPr id="5" name="Marcador de pie de página 4">
            <a:extLst>
              <a:ext uri="{FF2B5EF4-FFF2-40B4-BE49-F238E27FC236}">
                <a16:creationId xmlns:a16="http://schemas.microsoft.com/office/drawing/2014/main" id="{785BF9D7-18FF-4EFF-9E80-D6A4C86B55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9783754C-A07C-4A0D-92AC-E1F5C4DCFB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81AE8B-7F21-417B-8A0E-F0D459AFF651}" type="slidenum">
              <a:rPr lang="es-NI" smtClean="0"/>
              <a:t>‹Nº›</a:t>
            </a:fld>
            <a:endParaRPr lang="es-NI"/>
          </a:p>
        </p:txBody>
      </p:sp>
    </p:spTree>
    <p:extLst>
      <p:ext uri="{BB962C8B-B14F-4D97-AF65-F5344CB8AC3E}">
        <p14:creationId xmlns:p14="http://schemas.microsoft.com/office/powerpoint/2010/main" val="3866581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D4DE418-1647-466F-A7B8-3513694E7CF5}"/>
              </a:ext>
            </a:extLst>
          </p:cNvPr>
          <p:cNvSpPr txBox="1"/>
          <p:nvPr/>
        </p:nvSpPr>
        <p:spPr>
          <a:xfrm>
            <a:off x="255639" y="242104"/>
            <a:ext cx="11680722" cy="1569660"/>
          </a:xfrm>
          <a:prstGeom prst="rect">
            <a:avLst/>
          </a:prstGeom>
          <a:noFill/>
        </p:spPr>
        <p:txBody>
          <a:bodyPr wrap="square">
            <a:spAutoFit/>
          </a:bodyPr>
          <a:lstStyle/>
          <a:p>
            <a:r>
              <a:rPr lang="es-NI" sz="2400" dirty="0"/>
              <a:t>Una fábrica de abanicos desea calcular los intervalos de confianza del 95% de sus productos, para ello toma una muestra de 120 aspas y calcula que la velocidad media de giro es de 21 vueltas por segundo con una desviación estándar de 0.24 vueltas por segundo, calcule dichos intervalos</a:t>
            </a:r>
          </a:p>
        </p:txBody>
      </p:sp>
    </p:spTree>
    <p:extLst>
      <p:ext uri="{BB962C8B-B14F-4D97-AF65-F5344CB8AC3E}">
        <p14:creationId xmlns:p14="http://schemas.microsoft.com/office/powerpoint/2010/main" val="1120044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D4DE418-1647-466F-A7B8-3513694E7CF5}"/>
              </a:ext>
            </a:extLst>
          </p:cNvPr>
          <p:cNvSpPr txBox="1"/>
          <p:nvPr/>
        </p:nvSpPr>
        <p:spPr>
          <a:xfrm>
            <a:off x="255639" y="242104"/>
            <a:ext cx="11680722" cy="1569660"/>
          </a:xfrm>
          <a:prstGeom prst="rect">
            <a:avLst/>
          </a:prstGeom>
          <a:noFill/>
        </p:spPr>
        <p:txBody>
          <a:bodyPr wrap="square">
            <a:spAutoFit/>
          </a:bodyPr>
          <a:lstStyle/>
          <a:p>
            <a:r>
              <a:rPr lang="es-NI" sz="2400" dirty="0"/>
              <a:t>Una fábrica de abanicos desea calcular los intervalos de confianza del 95% de sus productos, para ello toma una muestra de 120 aspas y calcula que la velocidad media de giro es de 21 vueltas por segundo con una desviación estándar de 0.24 vueltas por segundo, calcule dichos intervalos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E8C128FD-7026-4794-B8CA-31FEFAD7E9BC}"/>
                  </a:ext>
                </a:extLst>
              </p:cNvPr>
              <p:cNvSpPr txBox="1"/>
              <p:nvPr/>
            </p:nvSpPr>
            <p:spPr>
              <a:xfrm>
                <a:off x="383458" y="2035277"/>
                <a:ext cx="1932039" cy="1569660"/>
              </a:xfrm>
              <a:prstGeom prst="rect">
                <a:avLst/>
              </a:prstGeom>
              <a:noFill/>
            </p:spPr>
            <p:txBody>
              <a:bodyPr wrap="square" rtlCol="0">
                <a:spAutoFit/>
              </a:bodyPr>
              <a:lstStyle/>
              <a:p>
                <a:r>
                  <a:rPr lang="es-NI" sz="2400" dirty="0"/>
                  <a:t>Datos</a:t>
                </a:r>
              </a:p>
              <a:p>
                <a:r>
                  <a:rPr lang="es-NI" sz="2400" dirty="0"/>
                  <a:t>n = 120</a:t>
                </a:r>
              </a:p>
              <a:p>
                <a:pPr/>
                <a14:m>
                  <m:oMathPara xmlns:m="http://schemas.openxmlformats.org/officeDocument/2006/math">
                    <m:oMathParaPr>
                      <m:jc m:val="left"/>
                    </m:oMathParaPr>
                    <m:oMath xmlns:m="http://schemas.openxmlformats.org/officeDocument/2006/math">
                      <m:r>
                        <a:rPr lang="es-NI" sz="2400" i="1" dirty="0" smtClean="0">
                          <a:latin typeface="Cambria Math" panose="02040503050406030204" pitchFamily="18" charset="0"/>
                        </a:rPr>
                        <m:t>𝜎</m:t>
                      </m:r>
                      <m:r>
                        <a:rPr lang="es-NI" sz="2400" b="0" i="0" dirty="0" smtClean="0">
                          <a:latin typeface="Cambria Math" panose="02040503050406030204" pitchFamily="18" charset="0"/>
                        </a:rPr>
                        <m:t>=0.24</m:t>
                      </m:r>
                    </m:oMath>
                  </m:oMathPara>
                </a14:m>
                <a:endParaRPr lang="es-NI" sz="2400" b="0" dirty="0"/>
              </a:p>
              <a:p>
                <a:r>
                  <a:rPr lang="es-NI" sz="2400" b="0" dirty="0"/>
                  <a:t>Z = ?</a:t>
                </a:r>
              </a:p>
            </p:txBody>
          </p:sp>
        </mc:Choice>
        <mc:Fallback xmlns="">
          <p:sp>
            <p:nvSpPr>
              <p:cNvPr id="2" name="CuadroTexto 1">
                <a:extLst>
                  <a:ext uri="{FF2B5EF4-FFF2-40B4-BE49-F238E27FC236}">
                    <a16:creationId xmlns:a16="http://schemas.microsoft.com/office/drawing/2014/main" id="{E8C128FD-7026-4794-B8CA-31FEFAD7E9BC}"/>
                  </a:ext>
                </a:extLst>
              </p:cNvPr>
              <p:cNvSpPr txBox="1">
                <a:spLocks noRot="1" noChangeAspect="1" noMove="1" noResize="1" noEditPoints="1" noAdjustHandles="1" noChangeArrowheads="1" noChangeShapeType="1" noTextEdit="1"/>
              </p:cNvSpPr>
              <p:nvPr/>
            </p:nvSpPr>
            <p:spPr>
              <a:xfrm>
                <a:off x="383458" y="2035277"/>
                <a:ext cx="1932039" cy="1569660"/>
              </a:xfrm>
              <a:prstGeom prst="rect">
                <a:avLst/>
              </a:prstGeom>
              <a:blipFill>
                <a:blip r:embed="rId2"/>
                <a:stretch>
                  <a:fillRect l="-5047" t="-3113" b="-8171"/>
                </a:stretch>
              </a:blipFill>
            </p:spPr>
            <p:txBody>
              <a:bodyPr/>
              <a:lstStyle/>
              <a:p>
                <a:r>
                  <a:rPr lang="es-NI">
                    <a:noFill/>
                  </a:rPr>
                  <a:t> </a:t>
                </a:r>
              </a:p>
            </p:txBody>
          </p:sp>
        </mc:Fallback>
      </mc:AlternateContent>
    </p:spTree>
    <p:extLst>
      <p:ext uri="{BB962C8B-B14F-4D97-AF65-F5344CB8AC3E}">
        <p14:creationId xmlns:p14="http://schemas.microsoft.com/office/powerpoint/2010/main" val="3434474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D4DE418-1647-466F-A7B8-3513694E7CF5}"/>
              </a:ext>
            </a:extLst>
          </p:cNvPr>
          <p:cNvSpPr txBox="1"/>
          <p:nvPr/>
        </p:nvSpPr>
        <p:spPr>
          <a:xfrm>
            <a:off x="255639" y="242104"/>
            <a:ext cx="11680722" cy="1569660"/>
          </a:xfrm>
          <a:prstGeom prst="rect">
            <a:avLst/>
          </a:prstGeom>
          <a:noFill/>
        </p:spPr>
        <p:txBody>
          <a:bodyPr wrap="square">
            <a:spAutoFit/>
          </a:bodyPr>
          <a:lstStyle/>
          <a:p>
            <a:r>
              <a:rPr lang="es-NI" sz="2400" dirty="0"/>
              <a:t>Una fábrica de abanicos desea calcular los intervalos de confianza del 95% de sus productos, para ello toma una muestra de 120 aspas y calcula que la velocidad media de giro es de 21 vueltas por segundo con una desviación estándar de 0.24 vueltas por segundo, calcule dichos intervalos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E8C128FD-7026-4794-B8CA-31FEFAD7E9BC}"/>
                  </a:ext>
                </a:extLst>
              </p:cNvPr>
              <p:cNvSpPr txBox="1"/>
              <p:nvPr/>
            </p:nvSpPr>
            <p:spPr>
              <a:xfrm>
                <a:off x="383458" y="2035277"/>
                <a:ext cx="1932039" cy="1938992"/>
              </a:xfrm>
              <a:prstGeom prst="rect">
                <a:avLst/>
              </a:prstGeom>
              <a:noFill/>
            </p:spPr>
            <p:txBody>
              <a:bodyPr wrap="square" rtlCol="0">
                <a:spAutoFit/>
              </a:bodyPr>
              <a:lstStyle/>
              <a:p>
                <a:r>
                  <a:rPr lang="es-NI" sz="2400" dirty="0"/>
                  <a:t>Datos</a:t>
                </a:r>
              </a:p>
              <a:p>
                <a:r>
                  <a:rPr lang="es-NI" sz="2400" dirty="0"/>
                  <a:t>n = 120</a:t>
                </a:r>
              </a:p>
              <a:p>
                <a:pPr/>
                <a14:m>
                  <m:oMathPara xmlns:m="http://schemas.openxmlformats.org/officeDocument/2006/math">
                    <m:oMathParaPr>
                      <m:jc m:val="left"/>
                    </m:oMathParaPr>
                    <m:oMath xmlns:m="http://schemas.openxmlformats.org/officeDocument/2006/math">
                      <m:r>
                        <a:rPr lang="es-NI" sz="2400" i="1" dirty="0" smtClean="0">
                          <a:latin typeface="Cambria Math" panose="02040503050406030204" pitchFamily="18" charset="0"/>
                        </a:rPr>
                        <m:t>𝜎</m:t>
                      </m:r>
                      <m:r>
                        <a:rPr lang="es-NI" sz="2400" b="0" i="0" dirty="0" smtClean="0">
                          <a:latin typeface="Cambria Math" panose="02040503050406030204" pitchFamily="18" charset="0"/>
                        </a:rPr>
                        <m:t>=0.24</m:t>
                      </m:r>
                    </m:oMath>
                  </m:oMathPara>
                </a14:m>
                <a:endParaRPr lang="es-NI" sz="2400" b="0" dirty="0"/>
              </a:p>
              <a:p>
                <a14:m>
                  <m:oMath xmlns:m="http://schemas.openxmlformats.org/officeDocument/2006/math">
                    <m:acc>
                      <m:accPr>
                        <m:chr m:val="̅"/>
                        <m:ctrlPr>
                          <a:rPr lang="es-NI" sz="2400" i="1" smtClean="0">
                            <a:solidFill>
                              <a:srgbClr val="836967"/>
                            </a:solidFill>
                            <a:latin typeface="Cambria Math" panose="02040503050406030204" pitchFamily="18" charset="0"/>
                          </a:rPr>
                        </m:ctrlPr>
                      </m:accPr>
                      <m:e>
                        <m:r>
                          <a:rPr lang="es-NI" sz="2400" i="1">
                            <a:latin typeface="Cambria Math" panose="02040503050406030204" pitchFamily="18" charset="0"/>
                          </a:rPr>
                          <m:t>𝑥</m:t>
                        </m:r>
                      </m:e>
                    </m:acc>
                  </m:oMath>
                </a14:m>
                <a:r>
                  <a:rPr lang="es-NI" sz="2400" dirty="0"/>
                  <a:t> = 21</a:t>
                </a:r>
                <a:endParaRPr lang="es-NI" sz="2400" b="0" dirty="0"/>
              </a:p>
              <a:p>
                <a:r>
                  <a:rPr lang="es-NI" sz="2400" b="0" dirty="0"/>
                  <a:t>Z = ?</a:t>
                </a:r>
              </a:p>
            </p:txBody>
          </p:sp>
        </mc:Choice>
        <mc:Fallback xmlns="">
          <p:sp>
            <p:nvSpPr>
              <p:cNvPr id="2" name="CuadroTexto 1">
                <a:extLst>
                  <a:ext uri="{FF2B5EF4-FFF2-40B4-BE49-F238E27FC236}">
                    <a16:creationId xmlns:a16="http://schemas.microsoft.com/office/drawing/2014/main" id="{E8C128FD-7026-4794-B8CA-31FEFAD7E9BC}"/>
                  </a:ext>
                </a:extLst>
              </p:cNvPr>
              <p:cNvSpPr txBox="1">
                <a:spLocks noRot="1" noChangeAspect="1" noMove="1" noResize="1" noEditPoints="1" noAdjustHandles="1" noChangeArrowheads="1" noChangeShapeType="1" noTextEdit="1"/>
              </p:cNvSpPr>
              <p:nvPr/>
            </p:nvSpPr>
            <p:spPr>
              <a:xfrm>
                <a:off x="383458" y="2035277"/>
                <a:ext cx="1932039" cy="1938992"/>
              </a:xfrm>
              <a:prstGeom prst="rect">
                <a:avLst/>
              </a:prstGeom>
              <a:blipFill>
                <a:blip r:embed="rId2"/>
                <a:stretch>
                  <a:fillRect l="-5047" t="-2516" b="-6289"/>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A8597158-E986-4078-B3AA-83977053CC56}"/>
                  </a:ext>
                </a:extLst>
              </p:cNvPr>
              <p:cNvSpPr txBox="1"/>
              <p:nvPr/>
            </p:nvSpPr>
            <p:spPr>
              <a:xfrm>
                <a:off x="2315497" y="1917290"/>
                <a:ext cx="9493045" cy="1938992"/>
              </a:xfrm>
              <a:prstGeom prst="rect">
                <a:avLst/>
              </a:prstGeom>
              <a:noFill/>
            </p:spPr>
            <p:txBody>
              <a:bodyPr wrap="square" rtlCol="0">
                <a:spAutoFit/>
              </a:bodyPr>
              <a:lstStyle/>
              <a:p>
                <a:r>
                  <a:rPr lang="es-NI" sz="2400" dirty="0"/>
                  <a:t>Recuerde que z lo encontramos usando la tabla, para calcular su probabilidad debemos trabajar con el intervalo e confianza, que nos indicaron que es de 95%, por lo cual sabemos que 1 - </a:t>
                </a:r>
                <a14:m>
                  <m:oMath xmlns:m="http://schemas.openxmlformats.org/officeDocument/2006/math">
                    <m:r>
                      <a:rPr lang="es-NI" sz="2400" dirty="0" smtClean="0">
                        <a:latin typeface="Cambria Math" panose="02040503050406030204" pitchFamily="18" charset="0"/>
                      </a:rPr>
                      <m:t>∝</m:t>
                    </m:r>
                    <m:r>
                      <a:rPr lang="es-NI" sz="2400" b="0" i="0" dirty="0" smtClean="0">
                        <a:latin typeface="Cambria Math" panose="02040503050406030204" pitchFamily="18" charset="0"/>
                      </a:rPr>
                      <m:t> =0.95</m:t>
                    </m:r>
                  </m:oMath>
                </a14:m>
                <a:endParaRPr lang="es-NI" sz="2400" b="0" dirty="0"/>
              </a:p>
              <a:p>
                <a:r>
                  <a:rPr lang="es-NI" sz="2400" dirty="0"/>
                  <a:t>Lo que nos indica que el valor de </a:t>
                </a:r>
                <a14:m>
                  <m:oMath xmlns:m="http://schemas.openxmlformats.org/officeDocument/2006/math">
                    <m:r>
                      <a:rPr lang="es-NI" sz="2400" dirty="0" smtClean="0">
                        <a:latin typeface="Cambria Math" panose="02040503050406030204" pitchFamily="18" charset="0"/>
                      </a:rPr>
                      <m:t>∝</m:t>
                    </m:r>
                    <m:r>
                      <a:rPr lang="es-NI" sz="2400" b="0" i="0" dirty="0" smtClean="0">
                        <a:latin typeface="Cambria Math" panose="02040503050406030204" pitchFamily="18" charset="0"/>
                      </a:rPr>
                      <m:t> =0.05</m:t>
                    </m:r>
                  </m:oMath>
                </a14:m>
                <a:r>
                  <a:rPr lang="es-NI" sz="2400" dirty="0"/>
                  <a:t> así para trabajar con la probabilidad de z calculamos 1 – ( </a:t>
                </a:r>
                <a14:m>
                  <m:oMath xmlns:m="http://schemas.openxmlformats.org/officeDocument/2006/math">
                    <m:r>
                      <a:rPr lang="es-NI" sz="2400" dirty="0" smtClean="0">
                        <a:latin typeface="Cambria Math" panose="02040503050406030204" pitchFamily="18" charset="0"/>
                      </a:rPr>
                      <m:t>∝</m:t>
                    </m:r>
                    <m:r>
                      <a:rPr lang="es-NI" sz="2400" b="0" i="0" dirty="0" smtClean="0">
                        <a:latin typeface="Cambria Math" panose="02040503050406030204" pitchFamily="18" charset="0"/>
                      </a:rPr>
                      <m:t>/2)=</m:t>
                    </m:r>
                  </m:oMath>
                </a14:m>
                <a:r>
                  <a:rPr lang="es-NI" sz="2400" dirty="0"/>
                  <a:t> 1 – (0.05/2) = 1 – 0.025 = 0.975 </a:t>
                </a:r>
              </a:p>
            </p:txBody>
          </p:sp>
        </mc:Choice>
        <mc:Fallback xmlns="">
          <p:sp>
            <p:nvSpPr>
              <p:cNvPr id="3" name="CuadroTexto 2">
                <a:extLst>
                  <a:ext uri="{FF2B5EF4-FFF2-40B4-BE49-F238E27FC236}">
                    <a16:creationId xmlns:a16="http://schemas.microsoft.com/office/drawing/2014/main" id="{A8597158-E986-4078-B3AA-83977053CC56}"/>
                  </a:ext>
                </a:extLst>
              </p:cNvPr>
              <p:cNvSpPr txBox="1">
                <a:spLocks noRot="1" noChangeAspect="1" noMove="1" noResize="1" noEditPoints="1" noAdjustHandles="1" noChangeArrowheads="1" noChangeShapeType="1" noTextEdit="1"/>
              </p:cNvSpPr>
              <p:nvPr/>
            </p:nvSpPr>
            <p:spPr>
              <a:xfrm>
                <a:off x="2315497" y="1917290"/>
                <a:ext cx="9493045" cy="1938992"/>
              </a:xfrm>
              <a:prstGeom prst="rect">
                <a:avLst/>
              </a:prstGeom>
              <a:blipFill>
                <a:blip r:embed="rId3"/>
                <a:stretch>
                  <a:fillRect l="-1028" t="-2516" b="-6289"/>
                </a:stretch>
              </a:blipFill>
            </p:spPr>
            <p:txBody>
              <a:bodyPr/>
              <a:lstStyle/>
              <a:p>
                <a:r>
                  <a:rPr lang="es-NI">
                    <a:noFill/>
                  </a:rPr>
                  <a:t> </a:t>
                </a:r>
              </a:p>
            </p:txBody>
          </p:sp>
        </mc:Fallback>
      </mc:AlternateContent>
      <p:sp>
        <p:nvSpPr>
          <p:cNvPr id="6" name="CuadroTexto 5">
            <a:extLst>
              <a:ext uri="{FF2B5EF4-FFF2-40B4-BE49-F238E27FC236}">
                <a16:creationId xmlns:a16="http://schemas.microsoft.com/office/drawing/2014/main" id="{8650F007-F8AB-4AAB-B898-02ACC4EA4D5D}"/>
              </a:ext>
            </a:extLst>
          </p:cNvPr>
          <p:cNvSpPr txBox="1"/>
          <p:nvPr/>
        </p:nvSpPr>
        <p:spPr>
          <a:xfrm>
            <a:off x="550607" y="4355690"/>
            <a:ext cx="11257935" cy="830997"/>
          </a:xfrm>
          <a:prstGeom prst="rect">
            <a:avLst/>
          </a:prstGeom>
          <a:noFill/>
        </p:spPr>
        <p:txBody>
          <a:bodyPr wrap="square" rtlCol="0">
            <a:spAutoFit/>
          </a:bodyPr>
          <a:lstStyle/>
          <a:p>
            <a:r>
              <a:rPr lang="es-NI" sz="2400" dirty="0"/>
              <a:t>Buscamos el valor de la probabilidad de z en la tabla en este caso buscamos 0.975 en la tabla de valores z</a:t>
            </a:r>
          </a:p>
        </p:txBody>
      </p:sp>
    </p:spTree>
    <p:extLst>
      <p:ext uri="{BB962C8B-B14F-4D97-AF65-F5344CB8AC3E}">
        <p14:creationId xmlns:p14="http://schemas.microsoft.com/office/powerpoint/2010/main" val="2303923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Captura de pantalla de computadora&#10;&#10;Descripción generada automáticamente">
            <a:extLst>
              <a:ext uri="{FF2B5EF4-FFF2-40B4-BE49-F238E27FC236}">
                <a16:creationId xmlns:a16="http://schemas.microsoft.com/office/drawing/2014/main" id="{82A802E3-7D05-4584-B68D-59665489F9D9}"/>
              </a:ext>
            </a:extLst>
          </p:cNvPr>
          <p:cNvPicPr>
            <a:picLocks noChangeAspect="1"/>
          </p:cNvPicPr>
          <p:nvPr/>
        </p:nvPicPr>
        <p:blipFill rotWithShape="1">
          <a:blip r:embed="rId2"/>
          <a:srcRect l="4235" t="15897" r="6733" b="10088"/>
          <a:stretch/>
        </p:blipFill>
        <p:spPr>
          <a:xfrm>
            <a:off x="0" y="665493"/>
            <a:ext cx="12192000" cy="5698435"/>
          </a:xfrm>
          <a:prstGeom prst="rect">
            <a:avLst/>
          </a:prstGeom>
        </p:spPr>
      </p:pic>
      <p:sp>
        <p:nvSpPr>
          <p:cNvPr id="4" name="Elipse 3">
            <a:extLst>
              <a:ext uri="{FF2B5EF4-FFF2-40B4-BE49-F238E27FC236}">
                <a16:creationId xmlns:a16="http://schemas.microsoft.com/office/drawing/2014/main" id="{D7032C0F-4666-4B15-9D66-8FC0B6AEB9AC}"/>
              </a:ext>
            </a:extLst>
          </p:cNvPr>
          <p:cNvSpPr/>
          <p:nvPr/>
        </p:nvSpPr>
        <p:spPr>
          <a:xfrm>
            <a:off x="9304774" y="5315578"/>
            <a:ext cx="612949" cy="287547"/>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7" name="Conector recto de flecha 6">
            <a:extLst>
              <a:ext uri="{FF2B5EF4-FFF2-40B4-BE49-F238E27FC236}">
                <a16:creationId xmlns:a16="http://schemas.microsoft.com/office/drawing/2014/main" id="{819D0460-ABCF-42EE-9BF9-92D1DD22CD12}"/>
              </a:ext>
            </a:extLst>
          </p:cNvPr>
          <p:cNvCxnSpPr/>
          <p:nvPr/>
        </p:nvCxnSpPr>
        <p:spPr>
          <a:xfrm flipV="1">
            <a:off x="9937820" y="1647930"/>
            <a:ext cx="0" cy="382842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6DF14DAC-EC69-4384-A5B3-2FC3ED5B2790}"/>
              </a:ext>
            </a:extLst>
          </p:cNvPr>
          <p:cNvCxnSpPr>
            <a:cxnSpLocks/>
            <a:stCxn id="4" idx="4"/>
          </p:cNvCxnSpPr>
          <p:nvPr/>
        </p:nvCxnSpPr>
        <p:spPr>
          <a:xfrm flipH="1">
            <a:off x="4290646" y="5603125"/>
            <a:ext cx="532060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ángulo 10">
            <a:extLst>
              <a:ext uri="{FF2B5EF4-FFF2-40B4-BE49-F238E27FC236}">
                <a16:creationId xmlns:a16="http://schemas.microsoft.com/office/drawing/2014/main" id="{F062CC31-AEBA-4CB0-94CE-C17823476A4B}"/>
              </a:ext>
            </a:extLst>
          </p:cNvPr>
          <p:cNvSpPr/>
          <p:nvPr/>
        </p:nvSpPr>
        <p:spPr>
          <a:xfrm>
            <a:off x="4371035" y="5355773"/>
            <a:ext cx="281354" cy="217205"/>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extLst>
              <a:ext uri="{FF2B5EF4-FFF2-40B4-BE49-F238E27FC236}">
                <a16:creationId xmlns:a16="http://schemas.microsoft.com/office/drawing/2014/main" id="{5AA21766-5761-41D4-83BA-FD3D016DA854}"/>
              </a:ext>
            </a:extLst>
          </p:cNvPr>
          <p:cNvSpPr/>
          <p:nvPr/>
        </p:nvSpPr>
        <p:spPr>
          <a:xfrm>
            <a:off x="9515790" y="1647930"/>
            <a:ext cx="376812" cy="211015"/>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89267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D4DE418-1647-466F-A7B8-3513694E7CF5}"/>
              </a:ext>
            </a:extLst>
          </p:cNvPr>
          <p:cNvSpPr txBox="1"/>
          <p:nvPr/>
        </p:nvSpPr>
        <p:spPr>
          <a:xfrm>
            <a:off x="255639" y="242104"/>
            <a:ext cx="11680722" cy="1569660"/>
          </a:xfrm>
          <a:prstGeom prst="rect">
            <a:avLst/>
          </a:prstGeom>
          <a:noFill/>
        </p:spPr>
        <p:txBody>
          <a:bodyPr wrap="square">
            <a:spAutoFit/>
          </a:bodyPr>
          <a:lstStyle/>
          <a:p>
            <a:r>
              <a:rPr lang="es-NI" sz="2400" dirty="0"/>
              <a:t>Una fábrica de abanicos desea calcular los intervalos de confianza del 95% de sus productos, para ello toma una muestra de 120 aspas y calcula que la velocidad media de giro es de 21 vueltas por segundo con una desviación estándar de 0.24 vueltas por segundo, calcule dichos intervalos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E8C128FD-7026-4794-B8CA-31FEFAD7E9BC}"/>
                  </a:ext>
                </a:extLst>
              </p:cNvPr>
              <p:cNvSpPr txBox="1"/>
              <p:nvPr/>
            </p:nvSpPr>
            <p:spPr>
              <a:xfrm>
                <a:off x="383458" y="1910582"/>
                <a:ext cx="1932039" cy="2677656"/>
              </a:xfrm>
              <a:prstGeom prst="rect">
                <a:avLst/>
              </a:prstGeom>
              <a:noFill/>
            </p:spPr>
            <p:txBody>
              <a:bodyPr wrap="square" rtlCol="0">
                <a:spAutoFit/>
              </a:bodyPr>
              <a:lstStyle/>
              <a:p>
                <a:r>
                  <a:rPr lang="es-NI" sz="2400" dirty="0"/>
                  <a:t>Datos</a:t>
                </a:r>
              </a:p>
              <a:p>
                <a:r>
                  <a:rPr lang="es-NI" sz="2400" dirty="0"/>
                  <a:t>n = 120</a:t>
                </a:r>
              </a:p>
              <a:p>
                <a:pPr/>
                <a14:m>
                  <m:oMathPara xmlns:m="http://schemas.openxmlformats.org/officeDocument/2006/math">
                    <m:oMathParaPr>
                      <m:jc m:val="left"/>
                    </m:oMathParaPr>
                    <m:oMath xmlns:m="http://schemas.openxmlformats.org/officeDocument/2006/math">
                      <m:r>
                        <a:rPr lang="es-NI" sz="2400" i="1" dirty="0" smtClean="0">
                          <a:latin typeface="Cambria Math" panose="02040503050406030204" pitchFamily="18" charset="0"/>
                        </a:rPr>
                        <m:t>𝜎</m:t>
                      </m:r>
                      <m:r>
                        <a:rPr lang="es-NI" sz="2400" b="0" i="0" dirty="0" smtClean="0">
                          <a:latin typeface="Cambria Math" panose="02040503050406030204" pitchFamily="18" charset="0"/>
                        </a:rPr>
                        <m:t>=0.24</m:t>
                      </m:r>
                    </m:oMath>
                  </m:oMathPara>
                </a14:m>
                <a:endParaRPr lang="es-NI" sz="2400" b="0" dirty="0"/>
              </a:p>
              <a:p>
                <a14:m>
                  <m:oMath xmlns:m="http://schemas.openxmlformats.org/officeDocument/2006/math">
                    <m:acc>
                      <m:accPr>
                        <m:chr m:val="̅"/>
                        <m:ctrlPr>
                          <a:rPr lang="es-NI" sz="2400" i="1" smtClean="0">
                            <a:solidFill>
                              <a:srgbClr val="836967"/>
                            </a:solidFill>
                            <a:latin typeface="Cambria Math" panose="02040503050406030204" pitchFamily="18" charset="0"/>
                          </a:rPr>
                        </m:ctrlPr>
                      </m:accPr>
                      <m:e>
                        <m:r>
                          <a:rPr lang="es-NI" sz="2400" i="1">
                            <a:latin typeface="Cambria Math" panose="02040503050406030204" pitchFamily="18" charset="0"/>
                          </a:rPr>
                          <m:t>𝑥</m:t>
                        </m:r>
                      </m:e>
                    </m:acc>
                  </m:oMath>
                </a14:m>
                <a:r>
                  <a:rPr lang="es-NI" sz="2400" b="0" dirty="0"/>
                  <a:t> = 21</a:t>
                </a:r>
              </a:p>
              <a:p>
                <a:r>
                  <a:rPr lang="es-NI" sz="2400" b="0" dirty="0"/>
                  <a:t>Z = 1.9+0.06</a:t>
                </a:r>
              </a:p>
              <a:p>
                <a:r>
                  <a:rPr lang="es-NI" sz="2400" dirty="0"/>
                  <a:t>Z = 1.96</a:t>
                </a:r>
              </a:p>
              <a:p>
                <a:endParaRPr lang="es-NI" sz="2400" b="0" dirty="0"/>
              </a:p>
            </p:txBody>
          </p:sp>
        </mc:Choice>
        <mc:Fallback xmlns="">
          <p:sp>
            <p:nvSpPr>
              <p:cNvPr id="2" name="CuadroTexto 1">
                <a:extLst>
                  <a:ext uri="{FF2B5EF4-FFF2-40B4-BE49-F238E27FC236}">
                    <a16:creationId xmlns:a16="http://schemas.microsoft.com/office/drawing/2014/main" id="{E8C128FD-7026-4794-B8CA-31FEFAD7E9BC}"/>
                  </a:ext>
                </a:extLst>
              </p:cNvPr>
              <p:cNvSpPr txBox="1">
                <a:spLocks noRot="1" noChangeAspect="1" noMove="1" noResize="1" noEditPoints="1" noAdjustHandles="1" noChangeArrowheads="1" noChangeShapeType="1" noTextEdit="1"/>
              </p:cNvSpPr>
              <p:nvPr/>
            </p:nvSpPr>
            <p:spPr>
              <a:xfrm>
                <a:off x="383458" y="1910582"/>
                <a:ext cx="1932039" cy="2677656"/>
              </a:xfrm>
              <a:prstGeom prst="rect">
                <a:avLst/>
              </a:prstGeom>
              <a:blipFill>
                <a:blip r:embed="rId2"/>
                <a:stretch>
                  <a:fillRect l="-5047" t="-1818"/>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6C793B82-D35E-4EEE-9A64-CC3474B47B91}"/>
                  </a:ext>
                </a:extLst>
              </p:cNvPr>
              <p:cNvSpPr txBox="1"/>
              <p:nvPr/>
            </p:nvSpPr>
            <p:spPr>
              <a:xfrm>
                <a:off x="2438399" y="1811764"/>
                <a:ext cx="211917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NI" sz="3200" i="1" smtClean="0">
                              <a:solidFill>
                                <a:srgbClr val="836967"/>
                              </a:solidFill>
                              <a:latin typeface="Cambria Math" panose="02040503050406030204" pitchFamily="18" charset="0"/>
                            </a:rPr>
                          </m:ctrlPr>
                        </m:accPr>
                        <m:e>
                          <m:r>
                            <a:rPr lang="es-NI" sz="3200" i="1">
                              <a:latin typeface="Cambria Math" panose="02040503050406030204" pitchFamily="18" charset="0"/>
                            </a:rPr>
                            <m:t>𝑥</m:t>
                          </m:r>
                        </m:e>
                      </m:acc>
                      <m:r>
                        <a:rPr lang="es-NI" sz="3200" i="0">
                          <a:latin typeface="Cambria Math" panose="02040503050406030204" pitchFamily="18" charset="0"/>
                        </a:rPr>
                        <m:t>±</m:t>
                      </m:r>
                      <m:r>
                        <a:rPr lang="es-NI" sz="3200" i="1">
                          <a:latin typeface="Cambria Math" panose="02040503050406030204" pitchFamily="18" charset="0"/>
                        </a:rPr>
                        <m:t>𝑧</m:t>
                      </m:r>
                      <m:r>
                        <a:rPr lang="es-NI" sz="3200" i="0">
                          <a:latin typeface="Cambria Math" panose="02040503050406030204" pitchFamily="18" charset="0"/>
                        </a:rPr>
                        <m:t>∗</m:t>
                      </m:r>
                      <m:f>
                        <m:fPr>
                          <m:type m:val="lin"/>
                          <m:ctrlPr>
                            <a:rPr lang="es-NI" sz="3200" i="1">
                              <a:latin typeface="Cambria Math" panose="02040503050406030204" pitchFamily="18" charset="0"/>
                            </a:rPr>
                          </m:ctrlPr>
                        </m:fPr>
                        <m:num>
                          <m:r>
                            <a:rPr lang="es-NI" sz="3200" i="1">
                              <a:latin typeface="Cambria Math" panose="02040503050406030204" pitchFamily="18" charset="0"/>
                            </a:rPr>
                            <m:t>𝜎</m:t>
                          </m:r>
                        </m:num>
                        <m:den>
                          <m:r>
                            <a:rPr lang="es-NI" sz="3200" i="1">
                              <a:latin typeface="Cambria Math" panose="02040503050406030204" pitchFamily="18" charset="0"/>
                            </a:rPr>
                            <m:t>𝑛</m:t>
                          </m:r>
                        </m:den>
                      </m:f>
                    </m:oMath>
                  </m:oMathPara>
                </a14:m>
                <a:endParaRPr lang="es-NI" sz="3200" dirty="0"/>
              </a:p>
            </p:txBody>
          </p:sp>
        </mc:Choice>
        <mc:Fallback xmlns="">
          <p:sp>
            <p:nvSpPr>
              <p:cNvPr id="4" name="CuadroTexto 3">
                <a:extLst>
                  <a:ext uri="{FF2B5EF4-FFF2-40B4-BE49-F238E27FC236}">
                    <a16:creationId xmlns:a16="http://schemas.microsoft.com/office/drawing/2014/main" id="{6C793B82-D35E-4EEE-9A64-CC3474B47B91}"/>
                  </a:ext>
                </a:extLst>
              </p:cNvPr>
              <p:cNvSpPr txBox="1">
                <a:spLocks noRot="1" noChangeAspect="1" noMove="1" noResize="1" noEditPoints="1" noAdjustHandles="1" noChangeArrowheads="1" noChangeShapeType="1" noTextEdit="1"/>
              </p:cNvSpPr>
              <p:nvPr/>
            </p:nvSpPr>
            <p:spPr>
              <a:xfrm>
                <a:off x="2438399" y="1811764"/>
                <a:ext cx="2119170" cy="492443"/>
              </a:xfrm>
              <a:prstGeom prst="rect">
                <a:avLst/>
              </a:prstGeom>
              <a:blipFill>
                <a:blip r:embed="rId3"/>
                <a:stretch>
                  <a:fillRect/>
                </a:stretch>
              </a:blipFill>
            </p:spPr>
            <p:txBody>
              <a:bodyPr/>
              <a:lstStyle/>
              <a:p>
                <a:r>
                  <a:rPr lang="es-NI">
                    <a:noFill/>
                  </a:rPr>
                  <a:t> </a:t>
                </a:r>
              </a:p>
            </p:txBody>
          </p:sp>
        </mc:Fallback>
      </mc:AlternateContent>
      <p:cxnSp>
        <p:nvCxnSpPr>
          <p:cNvPr id="8" name="Conector recto 7">
            <a:extLst>
              <a:ext uri="{FF2B5EF4-FFF2-40B4-BE49-F238E27FC236}">
                <a16:creationId xmlns:a16="http://schemas.microsoft.com/office/drawing/2014/main" id="{483BD260-5D6C-4524-82C6-F9E4C1F725F1}"/>
              </a:ext>
            </a:extLst>
          </p:cNvPr>
          <p:cNvCxnSpPr>
            <a:cxnSpLocks/>
          </p:cNvCxnSpPr>
          <p:nvPr/>
        </p:nvCxnSpPr>
        <p:spPr>
          <a:xfrm>
            <a:off x="2133602" y="1811764"/>
            <a:ext cx="0" cy="2344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DA36A973-46FD-4ABE-B084-E99A1D59B0AB}"/>
                  </a:ext>
                </a:extLst>
              </p:cNvPr>
              <p:cNvSpPr txBox="1"/>
              <p:nvPr/>
            </p:nvSpPr>
            <p:spPr>
              <a:xfrm>
                <a:off x="2438399" y="2737842"/>
                <a:ext cx="3639651" cy="492443"/>
              </a:xfrm>
              <a:prstGeom prst="rect">
                <a:avLst/>
              </a:prstGeom>
              <a:noFill/>
            </p:spPr>
            <p:txBody>
              <a:bodyPr wrap="none" lIns="0" tIns="0" rIns="0" bIns="0" rtlCol="0">
                <a:spAutoFit/>
              </a:bodyPr>
              <a:lstStyle/>
              <a:p>
                <a:r>
                  <a:rPr lang="es-NI" sz="3200" dirty="0"/>
                  <a:t>21</a:t>
                </a:r>
                <a14:m>
                  <m:oMath xmlns:m="http://schemas.openxmlformats.org/officeDocument/2006/math">
                    <m:r>
                      <a:rPr lang="es-NI" sz="3200" i="0">
                        <a:latin typeface="Cambria Math" panose="02040503050406030204" pitchFamily="18" charset="0"/>
                      </a:rPr>
                      <m:t>±</m:t>
                    </m:r>
                    <m:r>
                      <a:rPr lang="es-NI" sz="3200" b="0" i="0" smtClean="0">
                        <a:latin typeface="Cambria Math" panose="02040503050406030204" pitchFamily="18" charset="0"/>
                      </a:rPr>
                      <m:t>1.96 </m:t>
                    </m:r>
                    <m:r>
                      <a:rPr lang="es-NI" sz="3200" i="0">
                        <a:latin typeface="Cambria Math" panose="02040503050406030204" pitchFamily="18" charset="0"/>
                      </a:rPr>
                      <m:t>∗</m:t>
                    </m:r>
                    <m:f>
                      <m:fPr>
                        <m:type m:val="lin"/>
                        <m:ctrlPr>
                          <a:rPr lang="es-NI" sz="3200" i="1">
                            <a:latin typeface="Cambria Math" panose="02040503050406030204" pitchFamily="18" charset="0"/>
                          </a:rPr>
                        </m:ctrlPr>
                      </m:fPr>
                      <m:num>
                        <m:r>
                          <a:rPr lang="es-NI" sz="3200" b="0" i="1" smtClean="0">
                            <a:latin typeface="Cambria Math" panose="02040503050406030204" pitchFamily="18" charset="0"/>
                          </a:rPr>
                          <m:t>0.24</m:t>
                        </m:r>
                      </m:num>
                      <m:den>
                        <m:r>
                          <a:rPr lang="es-NI" sz="3200" b="0" i="1" smtClean="0">
                            <a:latin typeface="Cambria Math" panose="02040503050406030204" pitchFamily="18" charset="0"/>
                          </a:rPr>
                          <m:t>120</m:t>
                        </m:r>
                      </m:den>
                    </m:f>
                  </m:oMath>
                </a14:m>
                <a:endParaRPr lang="es-NI" sz="3200" dirty="0"/>
              </a:p>
            </p:txBody>
          </p:sp>
        </mc:Choice>
        <mc:Fallback xmlns="">
          <p:sp>
            <p:nvSpPr>
              <p:cNvPr id="10" name="CuadroTexto 9">
                <a:extLst>
                  <a:ext uri="{FF2B5EF4-FFF2-40B4-BE49-F238E27FC236}">
                    <a16:creationId xmlns:a16="http://schemas.microsoft.com/office/drawing/2014/main" id="{DA36A973-46FD-4ABE-B084-E99A1D59B0AB}"/>
                  </a:ext>
                </a:extLst>
              </p:cNvPr>
              <p:cNvSpPr txBox="1">
                <a:spLocks noRot="1" noChangeAspect="1" noMove="1" noResize="1" noEditPoints="1" noAdjustHandles="1" noChangeArrowheads="1" noChangeShapeType="1" noTextEdit="1"/>
              </p:cNvSpPr>
              <p:nvPr/>
            </p:nvSpPr>
            <p:spPr>
              <a:xfrm>
                <a:off x="2438399" y="2737842"/>
                <a:ext cx="3639651" cy="492443"/>
              </a:xfrm>
              <a:prstGeom prst="rect">
                <a:avLst/>
              </a:prstGeom>
              <a:blipFill>
                <a:blip r:embed="rId4"/>
                <a:stretch>
                  <a:fillRect l="-6700" t="-23457" b="-50617"/>
                </a:stretch>
              </a:blipFill>
            </p:spPr>
            <p:txBody>
              <a:bodyPr/>
              <a:lstStyle/>
              <a:p>
                <a:r>
                  <a:rPr lang="es-NI">
                    <a:noFill/>
                  </a:rPr>
                  <a:t> </a:t>
                </a:r>
              </a:p>
            </p:txBody>
          </p:sp>
        </mc:Fallback>
      </mc:AlternateContent>
      <p:cxnSp>
        <p:nvCxnSpPr>
          <p:cNvPr id="11" name="Conector recto 10">
            <a:extLst>
              <a:ext uri="{FF2B5EF4-FFF2-40B4-BE49-F238E27FC236}">
                <a16:creationId xmlns:a16="http://schemas.microsoft.com/office/drawing/2014/main" id="{0C301EE3-7C67-411F-A78B-B886BCCBC2AF}"/>
              </a:ext>
            </a:extLst>
          </p:cNvPr>
          <p:cNvCxnSpPr>
            <a:cxnSpLocks/>
          </p:cNvCxnSpPr>
          <p:nvPr/>
        </p:nvCxnSpPr>
        <p:spPr>
          <a:xfrm>
            <a:off x="6078050" y="1496291"/>
            <a:ext cx="0" cy="49322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96B22013-9A29-4D56-9553-DF2B93C8E4D0}"/>
                  </a:ext>
                </a:extLst>
              </p:cNvPr>
              <p:cNvSpPr txBox="1"/>
              <p:nvPr/>
            </p:nvSpPr>
            <p:spPr>
              <a:xfrm>
                <a:off x="6446800" y="3910142"/>
                <a:ext cx="4122154" cy="492443"/>
              </a:xfrm>
              <a:prstGeom prst="rect">
                <a:avLst/>
              </a:prstGeom>
              <a:noFill/>
            </p:spPr>
            <p:txBody>
              <a:bodyPr wrap="none" lIns="0" tIns="0" rIns="0" bIns="0" rtlCol="0">
                <a:spAutoFit/>
              </a:bodyPr>
              <a:lstStyle/>
              <a:p>
                <a:r>
                  <a:rPr lang="es-NI" sz="3200" dirty="0"/>
                  <a:t>Li=21</a:t>
                </a:r>
                <a14:m>
                  <m:oMath xmlns:m="http://schemas.openxmlformats.org/officeDocument/2006/math">
                    <m:r>
                      <a:rPr lang="es-NI" sz="3200" b="0" i="0" dirty="0" smtClean="0">
                        <a:latin typeface="Cambria Math" panose="02040503050406030204" pitchFamily="18" charset="0"/>
                      </a:rPr>
                      <m:t> </m:t>
                    </m:r>
                    <m:r>
                      <a:rPr lang="es-NI" sz="3200" dirty="0">
                        <a:latin typeface="Cambria Math" panose="02040503050406030204" pitchFamily="18" charset="0"/>
                      </a:rPr>
                      <m:t>−</m:t>
                    </m:r>
                    <m:r>
                      <a:rPr lang="es-NI" sz="3200" b="0" i="0" dirty="0" smtClean="0">
                        <a:latin typeface="Cambria Math" panose="02040503050406030204" pitchFamily="18" charset="0"/>
                      </a:rPr>
                      <m:t> </m:t>
                    </m:r>
                    <m:r>
                      <a:rPr lang="es-NI" sz="3200" b="0" i="0" smtClean="0">
                        <a:latin typeface="Cambria Math" panose="02040503050406030204" pitchFamily="18" charset="0"/>
                      </a:rPr>
                      <m:t>1.93 </m:t>
                    </m:r>
                    <m:r>
                      <a:rPr lang="es-NI" sz="3200" i="0">
                        <a:latin typeface="Cambria Math" panose="02040503050406030204" pitchFamily="18" charset="0"/>
                      </a:rPr>
                      <m:t>∗</m:t>
                    </m:r>
                    <m:f>
                      <m:fPr>
                        <m:type m:val="lin"/>
                        <m:ctrlPr>
                          <a:rPr lang="es-NI" sz="3200" i="1" smtClean="0">
                            <a:latin typeface="Cambria Math" panose="02040503050406030204" pitchFamily="18" charset="0"/>
                          </a:rPr>
                        </m:ctrlPr>
                      </m:fPr>
                      <m:num>
                        <m:r>
                          <a:rPr lang="es-NI" sz="3200" b="0" i="1" smtClean="0">
                            <a:latin typeface="Cambria Math" panose="02040503050406030204" pitchFamily="18" charset="0"/>
                          </a:rPr>
                          <m:t>0.24</m:t>
                        </m:r>
                      </m:num>
                      <m:den>
                        <m:r>
                          <a:rPr lang="es-NI" sz="3200" b="0" i="1" smtClean="0">
                            <a:latin typeface="Cambria Math" panose="02040503050406030204" pitchFamily="18" charset="0"/>
                          </a:rPr>
                          <m:t>120</m:t>
                        </m:r>
                      </m:den>
                    </m:f>
                  </m:oMath>
                </a14:m>
                <a:endParaRPr lang="es-NI" sz="3200" dirty="0"/>
              </a:p>
            </p:txBody>
          </p:sp>
        </mc:Choice>
        <mc:Fallback xmlns="">
          <p:sp>
            <p:nvSpPr>
              <p:cNvPr id="13" name="CuadroTexto 12">
                <a:extLst>
                  <a:ext uri="{FF2B5EF4-FFF2-40B4-BE49-F238E27FC236}">
                    <a16:creationId xmlns:a16="http://schemas.microsoft.com/office/drawing/2014/main" id="{96B22013-9A29-4D56-9553-DF2B93C8E4D0}"/>
                  </a:ext>
                </a:extLst>
              </p:cNvPr>
              <p:cNvSpPr txBox="1">
                <a:spLocks noRot="1" noChangeAspect="1" noMove="1" noResize="1" noEditPoints="1" noAdjustHandles="1" noChangeArrowheads="1" noChangeShapeType="1" noTextEdit="1"/>
              </p:cNvSpPr>
              <p:nvPr/>
            </p:nvSpPr>
            <p:spPr>
              <a:xfrm>
                <a:off x="6446800" y="3910142"/>
                <a:ext cx="4122154" cy="492443"/>
              </a:xfrm>
              <a:prstGeom prst="rect">
                <a:avLst/>
              </a:prstGeom>
              <a:blipFill>
                <a:blip r:embed="rId5"/>
                <a:stretch>
                  <a:fillRect l="-6065" t="-23457" b="-50617"/>
                </a:stretch>
              </a:blipFill>
            </p:spPr>
            <p:txBody>
              <a:bodyPr/>
              <a:lstStyle/>
              <a:p>
                <a:r>
                  <a:rPr lang="es-NI">
                    <a:noFill/>
                  </a:rPr>
                  <a:t> </a:t>
                </a:r>
              </a:p>
            </p:txBody>
          </p:sp>
        </mc:Fallback>
      </mc:AlternateContent>
      <p:grpSp>
        <p:nvGrpSpPr>
          <p:cNvPr id="19" name="Grupo 18">
            <a:extLst>
              <a:ext uri="{FF2B5EF4-FFF2-40B4-BE49-F238E27FC236}">
                <a16:creationId xmlns:a16="http://schemas.microsoft.com/office/drawing/2014/main" id="{F4E64FD5-12DA-49D0-B6FD-901091B95792}"/>
              </a:ext>
            </a:extLst>
          </p:cNvPr>
          <p:cNvGrpSpPr/>
          <p:nvPr/>
        </p:nvGrpSpPr>
        <p:grpSpPr>
          <a:xfrm>
            <a:off x="6400797" y="1652631"/>
            <a:ext cx="4196210" cy="1962124"/>
            <a:chOff x="6400797" y="2012851"/>
            <a:chExt cx="4196210" cy="1962124"/>
          </a:xfrm>
        </p:grpSpPr>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F87D39D-5DE0-4DD4-A7F7-39DCB7291308}"/>
                    </a:ext>
                  </a:extLst>
                </p:cNvPr>
                <p:cNvSpPr txBox="1"/>
                <p:nvPr/>
              </p:nvSpPr>
              <p:spPr>
                <a:xfrm>
                  <a:off x="6418747" y="2012851"/>
                  <a:ext cx="4178260" cy="492443"/>
                </a:xfrm>
                <a:prstGeom prst="rect">
                  <a:avLst/>
                </a:prstGeom>
                <a:noFill/>
              </p:spPr>
              <p:txBody>
                <a:bodyPr wrap="none" lIns="0" tIns="0" rIns="0" bIns="0" rtlCol="0">
                  <a:spAutoFit/>
                </a:bodyPr>
                <a:lstStyle/>
                <a:p>
                  <a:r>
                    <a:rPr lang="es-NI" sz="3200" dirty="0"/>
                    <a:t>Ls=21</a:t>
                  </a:r>
                  <a14:m>
                    <m:oMath xmlns:m="http://schemas.openxmlformats.org/officeDocument/2006/math">
                      <m:r>
                        <a:rPr lang="es-NI" sz="3200" dirty="0" smtClean="0">
                          <a:latin typeface="Cambria Math" panose="02040503050406030204" pitchFamily="18" charset="0"/>
                        </a:rPr>
                        <m:t>+</m:t>
                      </m:r>
                      <m:r>
                        <a:rPr lang="es-NI" sz="3200" b="0" i="0" smtClean="0">
                          <a:latin typeface="Cambria Math" panose="02040503050406030204" pitchFamily="18" charset="0"/>
                        </a:rPr>
                        <m:t>1.96 </m:t>
                      </m:r>
                      <m:r>
                        <a:rPr lang="es-NI" sz="3200" i="0">
                          <a:latin typeface="Cambria Math" panose="02040503050406030204" pitchFamily="18" charset="0"/>
                        </a:rPr>
                        <m:t>∗</m:t>
                      </m:r>
                      <m:f>
                        <m:fPr>
                          <m:type m:val="lin"/>
                          <m:ctrlPr>
                            <a:rPr lang="es-NI" sz="3200" i="1">
                              <a:latin typeface="Cambria Math" panose="02040503050406030204" pitchFamily="18" charset="0"/>
                            </a:rPr>
                          </m:ctrlPr>
                        </m:fPr>
                        <m:num>
                          <m:r>
                            <a:rPr lang="es-NI" sz="3200" b="0" i="1" smtClean="0">
                              <a:latin typeface="Cambria Math" panose="02040503050406030204" pitchFamily="18" charset="0"/>
                            </a:rPr>
                            <m:t>0.24</m:t>
                          </m:r>
                        </m:num>
                        <m:den>
                          <m:r>
                            <a:rPr lang="es-NI" sz="3200" b="0" i="1" smtClean="0">
                              <a:latin typeface="Cambria Math" panose="02040503050406030204" pitchFamily="18" charset="0"/>
                            </a:rPr>
                            <m:t>120</m:t>
                          </m:r>
                        </m:den>
                      </m:f>
                    </m:oMath>
                  </a14:m>
                  <a:endParaRPr lang="es-NI" sz="3200" dirty="0"/>
                </a:p>
              </p:txBody>
            </p:sp>
          </mc:Choice>
          <mc:Fallback xmlns="">
            <p:sp>
              <p:nvSpPr>
                <p:cNvPr id="12" name="CuadroTexto 11">
                  <a:extLst>
                    <a:ext uri="{FF2B5EF4-FFF2-40B4-BE49-F238E27FC236}">
                      <a16:creationId xmlns:a16="http://schemas.microsoft.com/office/drawing/2014/main" id="{FF87D39D-5DE0-4DD4-A7F7-39DCB7291308}"/>
                    </a:ext>
                  </a:extLst>
                </p:cNvPr>
                <p:cNvSpPr txBox="1">
                  <a:spLocks noRot="1" noChangeAspect="1" noMove="1" noResize="1" noEditPoints="1" noAdjustHandles="1" noChangeArrowheads="1" noChangeShapeType="1" noTextEdit="1"/>
                </p:cNvSpPr>
                <p:nvPr/>
              </p:nvSpPr>
              <p:spPr>
                <a:xfrm>
                  <a:off x="6418747" y="2012851"/>
                  <a:ext cx="4178260" cy="492443"/>
                </a:xfrm>
                <a:prstGeom prst="rect">
                  <a:avLst/>
                </a:prstGeom>
                <a:blipFill>
                  <a:blip r:embed="rId6"/>
                  <a:stretch>
                    <a:fillRect l="-5985" t="-23457" b="-50617"/>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CA5EEA7A-C7EA-4DA0-8E3F-F73A0EEA7EF3}"/>
                    </a:ext>
                  </a:extLst>
                </p:cNvPr>
                <p:cNvSpPr txBox="1"/>
                <p:nvPr/>
              </p:nvSpPr>
              <p:spPr>
                <a:xfrm>
                  <a:off x="6418747" y="2383460"/>
                  <a:ext cx="3495765" cy="492443"/>
                </a:xfrm>
                <a:prstGeom prst="rect">
                  <a:avLst/>
                </a:prstGeom>
                <a:noFill/>
              </p:spPr>
              <p:txBody>
                <a:bodyPr wrap="none" lIns="0" tIns="0" rIns="0" bIns="0" rtlCol="0">
                  <a:spAutoFit/>
                </a:bodyPr>
                <a:lstStyle/>
                <a:p>
                  <a:r>
                    <a:rPr lang="es-NI" sz="3200" dirty="0"/>
                    <a:t>Ls=21</a:t>
                  </a:r>
                  <a14:m>
                    <m:oMath xmlns:m="http://schemas.openxmlformats.org/officeDocument/2006/math">
                      <m:r>
                        <a:rPr lang="es-NI" sz="3200" dirty="0" smtClean="0">
                          <a:latin typeface="Cambria Math" panose="02040503050406030204" pitchFamily="18" charset="0"/>
                        </a:rPr>
                        <m:t>+</m:t>
                      </m:r>
                      <m:r>
                        <a:rPr lang="es-NI" sz="3200" b="0" i="0" smtClean="0">
                          <a:latin typeface="Cambria Math" panose="02040503050406030204" pitchFamily="18" charset="0"/>
                        </a:rPr>
                        <m:t>1.96 </m:t>
                      </m:r>
                      <m:r>
                        <a:rPr lang="es-NI" sz="3200" i="0">
                          <a:latin typeface="Cambria Math" panose="02040503050406030204" pitchFamily="18" charset="0"/>
                        </a:rPr>
                        <m:t>∗</m:t>
                      </m:r>
                      <m:r>
                        <a:rPr lang="es-NI" sz="3200" i="1" smtClean="0">
                          <a:latin typeface="Cambria Math" panose="02040503050406030204" pitchFamily="18" charset="0"/>
                        </a:rPr>
                        <m:t>0</m:t>
                      </m:r>
                      <m:r>
                        <a:rPr lang="es-NI" sz="3200" b="0" i="1" smtClean="0">
                          <a:latin typeface="Cambria Math" panose="02040503050406030204" pitchFamily="18" charset="0"/>
                        </a:rPr>
                        <m:t>.002</m:t>
                      </m:r>
                    </m:oMath>
                  </a14:m>
                  <a:endParaRPr lang="es-NI" sz="3200" dirty="0"/>
                </a:p>
              </p:txBody>
            </p:sp>
          </mc:Choice>
          <mc:Fallback xmlns="">
            <p:sp>
              <p:nvSpPr>
                <p:cNvPr id="14" name="CuadroTexto 13">
                  <a:extLst>
                    <a:ext uri="{FF2B5EF4-FFF2-40B4-BE49-F238E27FC236}">
                      <a16:creationId xmlns:a16="http://schemas.microsoft.com/office/drawing/2014/main" id="{CA5EEA7A-C7EA-4DA0-8E3F-F73A0EEA7EF3}"/>
                    </a:ext>
                  </a:extLst>
                </p:cNvPr>
                <p:cNvSpPr txBox="1">
                  <a:spLocks noRot="1" noChangeAspect="1" noMove="1" noResize="1" noEditPoints="1" noAdjustHandles="1" noChangeArrowheads="1" noChangeShapeType="1" noTextEdit="1"/>
                </p:cNvSpPr>
                <p:nvPr/>
              </p:nvSpPr>
              <p:spPr>
                <a:xfrm>
                  <a:off x="6418747" y="2383460"/>
                  <a:ext cx="3495765" cy="492443"/>
                </a:xfrm>
                <a:prstGeom prst="rect">
                  <a:avLst/>
                </a:prstGeom>
                <a:blipFill>
                  <a:blip r:embed="rId7"/>
                  <a:stretch>
                    <a:fillRect l="-7155" t="-24691" b="-49383"/>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7CA5364-CA0A-48F8-B256-E9BFDB1C1CE9}"/>
                    </a:ext>
                  </a:extLst>
                </p:cNvPr>
                <p:cNvSpPr txBox="1"/>
                <p:nvPr/>
              </p:nvSpPr>
              <p:spPr>
                <a:xfrm>
                  <a:off x="6418747" y="2706381"/>
                  <a:ext cx="3495765" cy="492443"/>
                </a:xfrm>
                <a:prstGeom prst="rect">
                  <a:avLst/>
                </a:prstGeom>
                <a:noFill/>
              </p:spPr>
              <p:txBody>
                <a:bodyPr wrap="none" lIns="0" tIns="0" rIns="0" bIns="0" rtlCol="0">
                  <a:spAutoFit/>
                </a:bodyPr>
                <a:lstStyle/>
                <a:p>
                  <a:r>
                    <a:rPr lang="es-NI" sz="3200" dirty="0"/>
                    <a:t>Ls=21</a:t>
                  </a:r>
                  <a14:m>
                    <m:oMath xmlns:m="http://schemas.openxmlformats.org/officeDocument/2006/math">
                      <m:r>
                        <a:rPr lang="es-NI" sz="3200" dirty="0" smtClean="0">
                          <a:latin typeface="Cambria Math" panose="02040503050406030204" pitchFamily="18" charset="0"/>
                        </a:rPr>
                        <m:t>+</m:t>
                      </m:r>
                      <m:r>
                        <a:rPr lang="es-NI" sz="3200" b="0" i="0" smtClean="0">
                          <a:latin typeface="Cambria Math" panose="02040503050406030204" pitchFamily="18" charset="0"/>
                        </a:rPr>
                        <m:t>1.96 </m:t>
                      </m:r>
                      <m:r>
                        <a:rPr lang="es-NI" sz="3200" i="0">
                          <a:latin typeface="Cambria Math" panose="02040503050406030204" pitchFamily="18" charset="0"/>
                        </a:rPr>
                        <m:t>∗</m:t>
                      </m:r>
                      <m:r>
                        <a:rPr lang="es-NI" sz="3200" i="1" smtClean="0">
                          <a:latin typeface="Cambria Math" panose="02040503050406030204" pitchFamily="18" charset="0"/>
                        </a:rPr>
                        <m:t>0</m:t>
                      </m:r>
                      <m:r>
                        <a:rPr lang="es-NI" sz="3200" b="0" i="1" smtClean="0">
                          <a:latin typeface="Cambria Math" panose="02040503050406030204" pitchFamily="18" charset="0"/>
                        </a:rPr>
                        <m:t>.002</m:t>
                      </m:r>
                    </m:oMath>
                  </a14:m>
                  <a:endParaRPr lang="es-NI" sz="3200" dirty="0"/>
                </a:p>
              </p:txBody>
            </p:sp>
          </mc:Choice>
          <mc:Fallback xmlns="">
            <p:sp>
              <p:nvSpPr>
                <p:cNvPr id="15" name="CuadroTexto 14">
                  <a:extLst>
                    <a:ext uri="{FF2B5EF4-FFF2-40B4-BE49-F238E27FC236}">
                      <a16:creationId xmlns:a16="http://schemas.microsoft.com/office/drawing/2014/main" id="{27CA5364-CA0A-48F8-B256-E9BFDB1C1CE9}"/>
                    </a:ext>
                  </a:extLst>
                </p:cNvPr>
                <p:cNvSpPr txBox="1">
                  <a:spLocks noRot="1" noChangeAspect="1" noMove="1" noResize="1" noEditPoints="1" noAdjustHandles="1" noChangeArrowheads="1" noChangeShapeType="1" noTextEdit="1"/>
                </p:cNvSpPr>
                <p:nvPr/>
              </p:nvSpPr>
              <p:spPr>
                <a:xfrm>
                  <a:off x="6418747" y="2706381"/>
                  <a:ext cx="3495765" cy="492443"/>
                </a:xfrm>
                <a:prstGeom prst="rect">
                  <a:avLst/>
                </a:prstGeom>
                <a:blipFill>
                  <a:blip r:embed="rId8"/>
                  <a:stretch>
                    <a:fillRect l="-7155" t="-24691" b="-49383"/>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BAFF454-81C6-4C6A-A1B7-F3F6FE4F28C9}"/>
                    </a:ext>
                  </a:extLst>
                </p:cNvPr>
                <p:cNvSpPr txBox="1"/>
                <p:nvPr/>
              </p:nvSpPr>
              <p:spPr>
                <a:xfrm>
                  <a:off x="6400797" y="3076990"/>
                  <a:ext cx="2824491" cy="492443"/>
                </a:xfrm>
                <a:prstGeom prst="rect">
                  <a:avLst/>
                </a:prstGeom>
                <a:noFill/>
              </p:spPr>
              <p:txBody>
                <a:bodyPr wrap="none" lIns="0" tIns="0" rIns="0" bIns="0" rtlCol="0">
                  <a:spAutoFit/>
                </a:bodyPr>
                <a:lstStyle/>
                <a:p>
                  <a:r>
                    <a:rPr lang="es-NI" sz="3200" dirty="0"/>
                    <a:t>Ls=21</a:t>
                  </a:r>
                  <a14:m>
                    <m:oMath xmlns:m="http://schemas.openxmlformats.org/officeDocument/2006/math">
                      <m:r>
                        <a:rPr lang="es-NI" sz="3200" dirty="0" smtClean="0">
                          <a:latin typeface="Cambria Math" panose="02040503050406030204" pitchFamily="18" charset="0"/>
                        </a:rPr>
                        <m:t>+</m:t>
                      </m:r>
                    </m:oMath>
                  </a14:m>
                  <a:r>
                    <a:rPr lang="es-NI" sz="3200" dirty="0"/>
                    <a:t>0.003292</a:t>
                  </a:r>
                </a:p>
              </p:txBody>
            </p:sp>
          </mc:Choice>
          <mc:Fallback xmlns="">
            <p:sp>
              <p:nvSpPr>
                <p:cNvPr id="17" name="CuadroTexto 16">
                  <a:extLst>
                    <a:ext uri="{FF2B5EF4-FFF2-40B4-BE49-F238E27FC236}">
                      <a16:creationId xmlns:a16="http://schemas.microsoft.com/office/drawing/2014/main" id="{7BAFF454-81C6-4C6A-A1B7-F3F6FE4F28C9}"/>
                    </a:ext>
                  </a:extLst>
                </p:cNvPr>
                <p:cNvSpPr txBox="1">
                  <a:spLocks noRot="1" noChangeAspect="1" noMove="1" noResize="1" noEditPoints="1" noAdjustHandles="1" noChangeArrowheads="1" noChangeShapeType="1" noTextEdit="1"/>
                </p:cNvSpPr>
                <p:nvPr/>
              </p:nvSpPr>
              <p:spPr>
                <a:xfrm>
                  <a:off x="6400797" y="3076990"/>
                  <a:ext cx="2824491" cy="492443"/>
                </a:xfrm>
                <a:prstGeom prst="rect">
                  <a:avLst/>
                </a:prstGeom>
                <a:blipFill>
                  <a:blip r:embed="rId9"/>
                  <a:stretch>
                    <a:fillRect l="-8639" t="-25000" r="-7991" b="-51250"/>
                  </a:stretch>
                </a:blipFill>
              </p:spPr>
              <p:txBody>
                <a:bodyPr/>
                <a:lstStyle/>
                <a:p>
                  <a:r>
                    <a:rPr lang="es-NI">
                      <a:noFill/>
                    </a:rPr>
                    <a:t> </a:t>
                  </a:r>
                </a:p>
              </p:txBody>
            </p:sp>
          </mc:Fallback>
        </mc:AlternateContent>
        <p:sp>
          <p:nvSpPr>
            <p:cNvPr id="18" name="CuadroTexto 17">
              <a:extLst>
                <a:ext uri="{FF2B5EF4-FFF2-40B4-BE49-F238E27FC236}">
                  <a16:creationId xmlns:a16="http://schemas.microsoft.com/office/drawing/2014/main" id="{CA9A76C4-3A5A-4CAF-B735-FB1D75858CB3}"/>
                </a:ext>
              </a:extLst>
            </p:cNvPr>
            <p:cNvSpPr txBox="1"/>
            <p:nvPr/>
          </p:nvSpPr>
          <p:spPr>
            <a:xfrm>
              <a:off x="6461517" y="3482532"/>
              <a:ext cx="2309928" cy="492443"/>
            </a:xfrm>
            <a:prstGeom prst="rect">
              <a:avLst/>
            </a:prstGeom>
            <a:noFill/>
          </p:spPr>
          <p:txBody>
            <a:bodyPr wrap="none" lIns="0" tIns="0" rIns="0" bIns="0" rtlCol="0">
              <a:spAutoFit/>
            </a:bodyPr>
            <a:lstStyle/>
            <a:p>
              <a:r>
                <a:rPr lang="es-NI" sz="3200" dirty="0"/>
                <a:t>Ls=21.003292</a:t>
              </a:r>
            </a:p>
          </p:txBody>
        </p:sp>
      </p:grpSp>
      <p:cxnSp>
        <p:nvCxnSpPr>
          <p:cNvPr id="21" name="Conector recto 20">
            <a:extLst>
              <a:ext uri="{FF2B5EF4-FFF2-40B4-BE49-F238E27FC236}">
                <a16:creationId xmlns:a16="http://schemas.microsoft.com/office/drawing/2014/main" id="{F8F53485-64B8-44C7-9138-B3F5A84C2330}"/>
              </a:ext>
            </a:extLst>
          </p:cNvPr>
          <p:cNvCxnSpPr>
            <a:cxnSpLocks/>
          </p:cNvCxnSpPr>
          <p:nvPr/>
        </p:nvCxnSpPr>
        <p:spPr>
          <a:xfrm flipH="1">
            <a:off x="6461517" y="3740727"/>
            <a:ext cx="54748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2D3D6D63-1A6E-44B9-9D6C-4F0CC73F7207}"/>
                  </a:ext>
                </a:extLst>
              </p:cNvPr>
              <p:cNvSpPr txBox="1"/>
              <p:nvPr/>
            </p:nvSpPr>
            <p:spPr>
              <a:xfrm>
                <a:off x="6461517" y="4396629"/>
                <a:ext cx="2758769" cy="492443"/>
              </a:xfrm>
              <a:prstGeom prst="rect">
                <a:avLst/>
              </a:prstGeom>
              <a:noFill/>
            </p:spPr>
            <p:txBody>
              <a:bodyPr wrap="none" lIns="0" tIns="0" rIns="0" bIns="0" rtlCol="0">
                <a:spAutoFit/>
              </a:bodyPr>
              <a:lstStyle/>
              <a:p>
                <a:r>
                  <a:rPr lang="es-NI" sz="3200" dirty="0"/>
                  <a:t>Li=21</a:t>
                </a:r>
                <a14:m>
                  <m:oMath xmlns:m="http://schemas.openxmlformats.org/officeDocument/2006/math">
                    <m:r>
                      <a:rPr lang="es-NI" sz="3200" b="0" i="1" smtClean="0">
                        <a:latin typeface="Cambria Math" panose="02040503050406030204" pitchFamily="18" charset="0"/>
                      </a:rPr>
                      <m:t>−</m:t>
                    </m:r>
                  </m:oMath>
                </a14:m>
                <a:r>
                  <a:rPr lang="es-NI" sz="3200" dirty="0"/>
                  <a:t>0.003292</a:t>
                </a:r>
              </a:p>
            </p:txBody>
          </p:sp>
        </mc:Choice>
        <mc:Fallback xmlns="">
          <p:sp>
            <p:nvSpPr>
              <p:cNvPr id="24" name="CuadroTexto 23">
                <a:extLst>
                  <a:ext uri="{FF2B5EF4-FFF2-40B4-BE49-F238E27FC236}">
                    <a16:creationId xmlns:a16="http://schemas.microsoft.com/office/drawing/2014/main" id="{2D3D6D63-1A6E-44B9-9D6C-4F0CC73F7207}"/>
                  </a:ext>
                </a:extLst>
              </p:cNvPr>
              <p:cNvSpPr txBox="1">
                <a:spLocks noRot="1" noChangeAspect="1" noMove="1" noResize="1" noEditPoints="1" noAdjustHandles="1" noChangeArrowheads="1" noChangeShapeType="1" noTextEdit="1"/>
              </p:cNvSpPr>
              <p:nvPr/>
            </p:nvSpPr>
            <p:spPr>
              <a:xfrm>
                <a:off x="6461517" y="4396629"/>
                <a:ext cx="2758769" cy="492443"/>
              </a:xfrm>
              <a:prstGeom prst="rect">
                <a:avLst/>
              </a:prstGeom>
              <a:blipFill>
                <a:blip r:embed="rId10"/>
                <a:stretch>
                  <a:fillRect l="-9051" t="-23457" r="-7947" b="-50617"/>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F49716E2-6A82-4B33-8998-90804C427AAF}"/>
              </a:ext>
            </a:extLst>
          </p:cNvPr>
          <p:cNvSpPr txBox="1"/>
          <p:nvPr/>
        </p:nvSpPr>
        <p:spPr>
          <a:xfrm>
            <a:off x="6476234" y="4804866"/>
            <a:ext cx="2244204" cy="492443"/>
          </a:xfrm>
          <a:prstGeom prst="rect">
            <a:avLst/>
          </a:prstGeom>
          <a:noFill/>
        </p:spPr>
        <p:txBody>
          <a:bodyPr wrap="none" lIns="0" tIns="0" rIns="0" bIns="0" rtlCol="0">
            <a:spAutoFit/>
          </a:bodyPr>
          <a:lstStyle/>
          <a:p>
            <a:r>
              <a:rPr lang="es-NI" sz="3200" dirty="0"/>
              <a:t>Li=20.996708</a:t>
            </a:r>
          </a:p>
        </p:txBody>
      </p:sp>
      <p:cxnSp>
        <p:nvCxnSpPr>
          <p:cNvPr id="26" name="Conector recto 25">
            <a:extLst>
              <a:ext uri="{FF2B5EF4-FFF2-40B4-BE49-F238E27FC236}">
                <a16:creationId xmlns:a16="http://schemas.microsoft.com/office/drawing/2014/main" id="{7E616F32-F333-4AFC-A1A4-FF1298F38A5C}"/>
              </a:ext>
            </a:extLst>
          </p:cNvPr>
          <p:cNvCxnSpPr>
            <a:cxnSpLocks/>
          </p:cNvCxnSpPr>
          <p:nvPr/>
        </p:nvCxnSpPr>
        <p:spPr>
          <a:xfrm flipH="1">
            <a:off x="383458" y="4396629"/>
            <a:ext cx="547484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F3F523A1-B728-4633-99E7-EE8AD44836C5}"/>
              </a:ext>
            </a:extLst>
          </p:cNvPr>
          <p:cNvSpPr txBox="1"/>
          <p:nvPr/>
        </p:nvSpPr>
        <p:spPr>
          <a:xfrm>
            <a:off x="507857" y="4914151"/>
            <a:ext cx="5317975" cy="1200329"/>
          </a:xfrm>
          <a:prstGeom prst="rect">
            <a:avLst/>
          </a:prstGeom>
          <a:noFill/>
        </p:spPr>
        <p:txBody>
          <a:bodyPr wrap="square" rtlCol="0">
            <a:spAutoFit/>
          </a:bodyPr>
          <a:lstStyle/>
          <a:p>
            <a:r>
              <a:rPr lang="es-NI" sz="2400" dirty="0"/>
              <a:t>Respuesta: La media obtenida es confiable, pues se encuentra dentro del intervalo de confianza</a:t>
            </a:r>
          </a:p>
        </p:txBody>
      </p:sp>
    </p:spTree>
    <p:extLst>
      <p:ext uri="{BB962C8B-B14F-4D97-AF65-F5344CB8AC3E}">
        <p14:creationId xmlns:p14="http://schemas.microsoft.com/office/powerpoint/2010/main" val="1976910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D4DE418-1647-466F-A7B8-3513694E7CF5}"/>
              </a:ext>
            </a:extLst>
          </p:cNvPr>
          <p:cNvSpPr txBox="1"/>
          <p:nvPr/>
        </p:nvSpPr>
        <p:spPr>
          <a:xfrm>
            <a:off x="255639" y="242104"/>
            <a:ext cx="11680722" cy="1569660"/>
          </a:xfrm>
          <a:prstGeom prst="rect">
            <a:avLst/>
          </a:prstGeom>
          <a:noFill/>
        </p:spPr>
        <p:txBody>
          <a:bodyPr wrap="square">
            <a:spAutoFit/>
          </a:bodyPr>
          <a:lstStyle/>
          <a:p>
            <a:r>
              <a:rPr lang="es-ES" sz="2400" dirty="0"/>
              <a:t>Una fábrica de navajas toma una muestre de 35 navajas y se sometieron a una prueba para saber cuánto cortes podían hacer antes de perder el filo, en promedio tomó 328 cortes el perder el filo, con una desviación estándar de 3.28, determine los intervalos de confianza para el 95% de aciertos</a:t>
            </a:r>
            <a:endParaRPr lang="es-NI" sz="2400" dirty="0"/>
          </a:p>
        </p:txBody>
      </p:sp>
    </p:spTree>
    <p:extLst>
      <p:ext uri="{BB962C8B-B14F-4D97-AF65-F5344CB8AC3E}">
        <p14:creationId xmlns:p14="http://schemas.microsoft.com/office/powerpoint/2010/main" val="45036037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462</Words>
  <Application>Microsoft Office PowerPoint</Application>
  <PresentationFormat>Panorámica</PresentationFormat>
  <Paragraphs>34</Paragraphs>
  <Slides>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Calibri Light</vt:lpstr>
      <vt:lpstr>Cambria Math</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AntonioAguirre</cp:lastModifiedBy>
  <cp:revision>1</cp:revision>
  <dcterms:created xsi:type="dcterms:W3CDTF">2021-08-23T20:30:11Z</dcterms:created>
  <dcterms:modified xsi:type="dcterms:W3CDTF">2023-08-14T02:21:11Z</dcterms:modified>
</cp:coreProperties>
</file>