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60" r:id="rId5"/>
    <p:sldId id="259"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4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70" d="100"/>
          <a:sy n="70" d="100"/>
        </p:scale>
        <p:origin x="660" y="60"/>
      </p:cViewPr>
      <p:guideLst>
        <p:guide orient="horz" pos="204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12-18T18:17:50.542"/>
    </inkml:context>
    <inkml:brush xml:id="br0">
      <inkml:brushProperty name="width" value="0.05292" units="cm"/>
      <inkml:brushProperty name="height" value="0.05292" units="cm"/>
      <inkml:brushProperty name="color" value="#FF0000"/>
    </inkml:brush>
  </inkml:definitions>
  <inkml:trace contextRef="#ctx0" brushRef="#br0">18504 15726 0,'25'-25'93,"0"1"-77,0 24 0,49 0-1,50-25-15,-25 0 16,1 25-16,73 0 16,26 0-16,-26 0 15,-49 0-15,0 0 16,0 0-16,-24 0 15,-1 0-15,-25 0 16,1 0-16,-1 0 16,25 0-16,-24 0 15,24 0-15,0 0 16,25 0-16,25 0 16,-25 0-16,25 0 15,-25 0-15,0 0 16,25 0-16,-50 0 15,0 0-15,-24 0 16,24 0-16,74 0 16,-98 0-1,-1 0 1,25 0-16,1 0 16,-26 0-16,25 0 0,50 0 15,-50 0-15,25 0 16,25 0-1,-25 0-15,0 0 16,25 0-16,25 0 16,-25 0-16,148 0 15,50 0 1,-24 0 0,-149 0-1,-1 0-15,-49 0 16,50 0-16,-1 0 15,-49 0-15,50 0 16,0 0-16,-25 0 16,49 0-16,-24 0 15,24 0-15,-24 0 16,24 0-16,1 0 16,-1 0-16,0 0 15,1 0-15,-1 0 16,-24 0-16,-50 0 15,-25 0-15,0 0 16,1 0-16,48 0 16,-23 0-16,-26 0 15,149 0 1,-149 0 0,-25 0-16,1 0 15,-26-25-15,1 0 16,-25 25 46,24 0-46,-24 0 0,0 0-16,0 0 15,24 0-15,1 0 16,-25 0-16,0 0 15,-1 0-15,26 0 16,0 0-16,-1 0 16,1 0-16,0 0 15,24 0-15,25 0 32,0 0-17,-74 0-15,25 0 16,-25 0-16,24 0 15,-24 0 1,25 0 0,98 0-1,26 0 1,-75 0-16,-24 0 16,-50 0-16,-1 0 15,1 0-15,0 0 16</inkml:trace>
  <inkml:trace contextRef="#ctx0" brushRef="#br0" timeOffset="4160">18554 15329 0,'50'0'78,"-26"0"-63,1 0-15,25 0 16,-1 0-16,1 0 16,0 0-16,-1 0 15,-24 0-15,25 0 16,-1 0 0,1 0-1,-25 0-15,-1 0 16,1 0-16,0 0 15,25 0-15,-1 0 16,1 0-16,-25 0 16,24 0-16,1 0 15,24 0-15,-24 0 16,0 0-16,24 0 16,0 0-1,75 0 1,-50 0-16,-74 0 15,50 0 1,-26 0 0,-24-25-16,0 25 15,0-24-15,-1 24 16,26-25-16,-25 0 16,49-25-1,-24 26-15,-25-1 16,24 0-16,-24 0 15,25 0-15,-26-24 16,26 24-16,-25 0 16,0 0-16,24 1 15,1-26-15,-25 25 16,24 0-16,-24-24 16,25 24-16,-1 0 15,-24 0-15,50-49 16,-51 49-1,1 0 1,0 25-16,0-24 16,24-26-1,-24 25-15,0-24 0,25-1 16,-26 25-16,1 0 16,25-49-1,-1 24 1,-24 25-1,0 1-15,0-1 16,0-25-16,-1 1 16,1 24-16,25-50 15,0 1 1,-50 49 0,49-24-16,1-75 15,-25 99 1,-1-25-1,1 25-15,0 1 0,0-26 16,0 50 0,24-50-16,-24 26 0,25-26 15,-1 0 1,1 26-16,-25-1 16,99-50-1,-25-49 1,25 50-1,-75 24-15,1 25 16,25-24-16,-26 24 16,-24 0-16,25 0 15,-26 1-15,1-26 16,25 50-16,-25-25 16,24 0-1,-24 25-15,25-49 16,-1 49-16,1-25 15,-1 0-15,26 0 16,-1 1-16,1-1 16,-1 0-16,-24 25 15,49-25-15,-50 25 16,1-25-16,-25 25 16,49 0-16,-24-24 15,-25-1-15,24 25 16,1-25-1,0 0-15,-1 25 16,-24-25-16,0 1 16,49 24-16,-24-25 15,-25 0 1,74 0 0,0-25-1,-25 26 1,50-26-1,-49 50 17,-25-25-32,-1 25 15,1-25 1,-25 25-16,24 0 16,1 0-16,74-24 15,-99 24-15,74-25 16,-25 0-16,25 25 31,50-50-31,-50 50 16,-24 0-1,-1 0-15,1 0 16,-1 0-16,25 0 16,25 0-16,0 0 15,0 0-15,-24 0 16,-1 0-16,0 0 15,25 0-15,-49 0 16,-1 0-16,0 0 16,-24 25-16,0-25 15,-26 0-15,51 25 16,-1 0-16,1 0 16,-1-1-16,-24 1 15,-1 0-15,1-25 16,24 25-1,-49 0-15,0-25 16,0 49-16,24-49 16,1 50-1,99 49-15,74 25 32,-173-99-17,49 49-15,-50-24 16,-24 0-16,25-26 15,-25 1-15,-1-25 16,1 25 0,-25 0-16,50 0 0,-50-1 15,49 51 1,-24-26-16,25-24 0,-25 25 16,-1-25-16,1 24 15,0 1-15,25-25 16,-25-1-16,-1 26 15,26-25 1,0 25-16,-1 24 31,-49-49-31,50 24 16,-25 1-16,24-25 16,-24 24-16,0-24 15,0 25-15,24-25 16,-24-1-16,25 1 15,-1 25-15,1-1 16,-1 1-16,51 0 16,-1 49-1,-25-50-15,-24 1 16,-1-25-16,-24 0 16,25-1-16,0 26 15,-26-50-15,26 25 16,-25 0-16,24-25 15,-24 24-15,0 1 16,25-25-16,-26 25 16,1-25-1,0 25 1,25-25 0,-1 25-1,50 24 1,-74-49-1,0 0 1,49 25 0,-49 0-16,25 0 15,-25-25 1,49 25-16,-49-25 16,49 24-16,1 1 15,-1 0-15,1-25 16,24 0-16,-25 25 15,-24 0-15,-1-25 16,-24 0-16,25 24 16,-25-24-16,24 0 31,-24 0-15,25 25-16,-26-25 31,26 0-16,-25 0 1,0 25-16</inkml:trace>
  <inkml:trace contextRef="#ctx0" brushRef="#br0" timeOffset="6185.82">29716 13866 0,'0'25'109,"0"-1"-93,0 26-16,0-25 16,-25 49-16,25-24 15,0-1 1,0 1-16,0 24 16,0-49-16,0 25 15,0 0-15,0-26 16,0 26-16,0-25 15,0 24 1,0-24 0,0 50-1,0-26 1,0 26 0,0-26-1,0 1 1,0-1-1,25 1 1,-25 0 0,0-26-1,0 1 1,0 0-16,0 25 16,0-26-1,0 1 1,0 0-1,0 0 1,0 0-16,0-1 16,25 1-1,-25 25-15,0-25 32,0 0-17,0-1 16,0 1-31,0 0 32,0 0 30,25 0-46,-25-1 15,0 1 125,0 0-140,0 0 46,0 0-46</inkml:trace>
  <inkml:trace contextRef="#ctx0" brushRef="#br0" timeOffset="7472">30063 14089 0,'-25'0'94,"25"25"-94,-49 0 16,-1 24-1,50-24-15,-49 0 16,49 24-16,-50-49 16,50 50-16,-50-25 15,26 25-15,24-26 16,-25 1-16,25 0 16,-25 0-16,0 24 15,25-24-15,-25-25 16,1 50-16,-1-1 31</inkml:trace>
  <inkml:trace contextRef="#ctx0" brushRef="#br0" timeOffset="8191.98">30510 14213 0,'-50'0'16,"25"25"-1,1-25-15,24 49 16,-50-24-16,0 25 16,26 0-16,-26-26 15,-25 76 1,51-76-16,-26 26 15,50 0-15,-50-26 16,26 26-16,-26 0 16,25-26-16,-24 51 15,24-26-15,0-24 16,-25 25-16,26 24 16,-26-49-16,25 25 15,25-26 1</inkml:trace>
  <inkml:trace contextRef="#ctx0" brushRef="#br0" timeOffset="8888.64">30634 14585 0,'-50'0'0,"1"25"16,24-25-1,0 25-15,0 24 16,0 1-16,-24 0 16,-1 49-16,1-25 15,24 1-15,-25-26 16,25 26-16,-24-26 16,-1 50 15,-24 1-16,24-1 1,0-25 0,1-24-1,49-75 142,49-24-157,1-1 15,49-24-15</inkml:trace>
  <inkml:trace contextRef="#ctx0" brushRef="#br0" timeOffset="9560.59">31229 14486 0,'-25'0'47,"25"25"-32,-25 0-15,25-1 16,-24-24-16,-1 50 16,-25 0-16,25 24 15,-24-24-15,24 49 16,-49-50-16,49 1 15,-25 0-15,25 24 16,-49 0-16,24-24 16,1 24-1,24-24-15,0-25 0,0 25 16,1-26 0,-1 1-1,0 0 1,0 0-1,0 0 17,75-50 77</inkml:trace>
  <inkml:trace contextRef="#ctx0" brushRef="#br0" timeOffset="10235.48">31899 14808 0,'-25'0'31,"0"0"-15,-24 0-1,24 25 1,0 25-16,0-25 16,-24 24-16,-1 26 15,0-26 1,-24 50 0,-50 25-1,50-49 1,-1 49-1,1-25 1,24-49 0,25-1-1,50-73 110,0-1-109,49-25-16</inkml:trace>
  <inkml:trace contextRef="#ctx0" brushRef="#br0" timeOffset="11033">32023 14635 0,'-25'25'16,"0"-25"-16,0 24 16,1 26-1,-1-50 1,25 25-16,-50 0 16,50 24-16,-49-24 15,24 25-15,-25-1 16,25-24-16,-24 25 15,24 24-15,0-49 16,-24 24-16,24 1 16,-25 0-1,25-1 1,1 1 0,24-25-16,-50 0 0,25-1 15</inkml:trace>
  <inkml:trace contextRef="#ctx0" brushRef="#br0" timeOffset="14073.37">29071 16222 0,'50'0'93,"-25"0"-77,-1 0-16,76-25 16,-76 25-16,1 0 15,0 0 1,0 0 0,0 0-1,-1 0 1,1 0 15,0 0-31,25 0 78,-50 25-62,0 25-16,-25-25 15,0-1-15,-25 51 16,-49-50-16,50 24 16,-1-24-16,0 0 15,26 0 1,73-25 78,-24 0-79,0 0-15,0 0 16,24 0-16,26 25 16,-26-1-1,26-24 1,-51 25-16,1 0 15,0-25-15,0 0 16,24 25 15,-49 0 1,0-1-17,0 26-15,-24-50 16,-1 25-16,-25 0 15,1-1 1,24-24 0,-25 0-1,25 25-15,1-25 16,-26 25 0,25-25-1,0 0 16,-24 0-15,49 25 0,-25-25-1</inkml:trace>
  <inkml:trace contextRef="#ctx0" brushRef="#br0" timeOffset="14785.53">29865 16842 0</inkml:trace>
  <inkml:trace contextRef="#ctx0" brushRef="#br0" timeOffset="16849.99">29939 16173 0,'0'24'141,"25"1"-141,-25 0 15,25 0 1,0 24-16,-1 1 15,-24-25 1,0 0 0,25 0-16,-25-1 31,0 1-31,25 25 47,0-25-47,-25-1 31,0 1-15,0 0-1,0 0 17,0 0-17,0-1 16,0 1-15,25-25 15,-25 50-15,0-25 31</inkml:trace>
  <inkml:trace contextRef="#ctx0" brushRef="#br0" timeOffset="18016.99">30187 16197 0,'0'-24'31,"25"-1"-15,0 25-1,25 0-15,-26 0 16,51 0 0,-26-25-1,-24 25 79,-25 25-63,0 0-31,0-1 16,0 26-16,0 0 15,0-26 1,0 26-16,0-25 16,-25 99-1,25-99-15,0 0 16,0 24-16,-24 1 16,24-1-1,0-24-15,0 0 16,-25 25-16,25-1 15,0-24 1,0 0-16,0 0 16,-25-25 156,0 0-157</inkml:trace>
  <inkml:trace contextRef="#ctx0" brushRef="#br0" timeOffset="18767.95">30237 16470 0,'25'-24'94,"0"24"-94,24 0 15,-24 0-15,25 0 16,-1-25-16,-24 25 16,0 0-16,0 0 15,-1 0 1,1 0 0</inkml:trace>
  <inkml:trace contextRef="#ctx0" brushRef="#br0" timeOffset="20088.45">30783 16222 0,'24'-25'78,"26"25"-62,-25 0-1,0 0 1,-1 0 47,-24 25-63,0 25 15,0-1 1,0-24 124,0 0-124,0 0-16,50-25 31,-50 25-15,50 0 0,-26-1 15,-24 1-16,0 0 1,0 0-16,0 0 16,0-1 15,0 1-31,-24 0 31,-1-25-15,0 25-1,0 0-15,-24-25 16,-1 0 0,0 0-1,26 0-15,-26 24 16,25 1-16,0-25 16,1 0 30</inkml:trace>
  <inkml:trace contextRef="#ctx0" brushRef="#br0" timeOffset="38129.87">32717 9401 0,'25'0'62,"-25"25"-46,25 49-16,0 50 15,0-25-15,-1 1 16,26 24-16,-25-25 16,-25 0-16,25 75 15,-25 99 1,0 99 0,0-199-1,0-24-15,0 25 0,0-1 16,0 150-1,0 24 1,0-24 0,0-175-1,0-48-15,0-1 16,0 0-16,0 0 16,0-24-16,0 24 15,0 0-15,0 0 16,0 1-16,0 48 15,0 26-15,0-50 16,0 74-16,-25-49 16,0-25-16,-25 50 15,26 49-15,24-74 16,0 223 0,0-248-16,0 25 15,0-25-15,0 25 16,0-50-16,0 0 15,0-24-15,0-26 16,0-24-16,0 25 16,0-25-1,0-1 17,0 1-17,0 0 1,0 0-1,0 0-15,0-1 16,0 1-16,0 25 16,0-1-1,0 1-15,124 595 63,-100-571-63,1 100 62,0-149-46,-25 0 0,0 24 30,0-24-30,25 0 31,-25 0 62,0-1-77</inkml:trace>
  <inkml:trace contextRef="#ctx0" brushRef="#br0" timeOffset="40320.74">31824 18033 0,'25'0'94,"0"0"-79,25 0-15,-26 0 16,100 50 31,-99-1-47,-25 1 15,25-25-15,0-1 16,-25 26 15,0-25-15,0 24 0,-99 51 15,74-76-31,0-24 15,0 25 48,25 0-1,0 0-46,50 0 15,49-25-15,-25 0 0,-49 0-16,0 0 15,25 0 16,-25 0 126</inkml:trace>
  <inkml:trace contextRef="#ctx0" brushRef="#br0" timeOffset="40968.37">32345 17785 0,'25'0'16,"0"25"0,25 74 30,-50-74-30,0 49-16,49 75 47,-24-99-47,74 173 62,-74-198-46,-25-1 0,0 26 124</inkml:trace>
  <inkml:trace contextRef="#ctx0" brushRef="#br0" timeOffset="41449.79">32916 18604 0</inkml:trace>
  <inkml:trace contextRef="#ctx0" brushRef="#br0" timeOffset="43056.99">32941 18033 0,'24'-25'62,"1"25"-31,25 0-15,-25 0-16,-1 0 16,26 0-16,24 0 46,-49 0-30,0 25 0,25 49 15,-50-49-15,0 0-16,0 0 15,-100 148 32,76-148-47,-1 0 16,0 0-16,25 0 47,-25-1-47,25 1 15,0 0 1,0 25 15,0-25-31,25-1 16,25-24 15,123 0 31,-148-49-62,-99-150 63,-1 174-63,26 1 16,-1-1-16,25 0 15,-99-25 16,99 50-15,1-24 15,-1 24-15,0-25 0,25 0 30,0 0-30,0 0-16,25-24 16,-25 24-16,49 0 15,51 0 32,-76 1-47,1 24 47,0 0-47</inkml:trace>
  <inkml:trace contextRef="#ctx0" brushRef="#br0" timeOffset="43918.43">33536 17735 0,'0'0'0,"-25"0"16,0 50-16,1 0 16,24 49 30,0-74-14,49-1-1,1-24-15,-25 0-1,24 0 16,-49-24-31,0-1 16,0 74 78,0 26-94,0-1 15,0 25-15,25 25 16,124 348 31,-149-423-31,25-24-16,-25 0 15,0 0 16,0-50 48,-50 0-79,25 0 15,-24 1-15,24-51 16,-25 26-1</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12-18T18:21:43.375"/>
    </inkml:context>
    <inkml:brush xml:id="br0">
      <inkml:brushProperty name="width" value="0.05292" units="cm"/>
      <inkml:brushProperty name="height" value="0.05292" units="cm"/>
      <inkml:brushProperty name="color" value="#FF0000"/>
    </inkml:brush>
  </inkml:definitions>
  <inkml:trace contextRef="#ctx0" brushRef="#br0">32593 8062 0</inkml:trace>
  <inkml:trace contextRef="#ctx0" brushRef="#br0" timeOffset="12335.87">23540 7094 0</inkml:trace>
  <inkml:trace contextRef="#ctx0" brushRef="#br0" timeOffset="13191.46">20687 7913 0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724BE6-8B83-4FF2-A748-C46F14006911}"/>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NI"/>
          </a:p>
        </p:txBody>
      </p:sp>
      <p:sp>
        <p:nvSpPr>
          <p:cNvPr id="3" name="Subtítulo 2">
            <a:extLst>
              <a:ext uri="{FF2B5EF4-FFF2-40B4-BE49-F238E27FC236}">
                <a16:creationId xmlns:a16="http://schemas.microsoft.com/office/drawing/2014/main" id="{C82F37DC-83C4-4D48-BB68-DF66D97402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NI"/>
          </a:p>
        </p:txBody>
      </p:sp>
      <p:sp>
        <p:nvSpPr>
          <p:cNvPr id="4" name="Marcador de fecha 3">
            <a:extLst>
              <a:ext uri="{FF2B5EF4-FFF2-40B4-BE49-F238E27FC236}">
                <a16:creationId xmlns:a16="http://schemas.microsoft.com/office/drawing/2014/main" id="{1FE12BB6-847D-4BD5-93C2-F092104FB6E7}"/>
              </a:ext>
            </a:extLst>
          </p:cNvPr>
          <p:cNvSpPr>
            <a:spLocks noGrp="1"/>
          </p:cNvSpPr>
          <p:nvPr>
            <p:ph type="dt" sz="half" idx="10"/>
          </p:nvPr>
        </p:nvSpPr>
        <p:spPr/>
        <p:txBody>
          <a:bodyPr/>
          <a:lstStyle/>
          <a:p>
            <a:fld id="{3A2D17BA-9783-4713-A89D-55FA01F0BA23}" type="datetimeFigureOut">
              <a:rPr lang="es-NI" smtClean="0"/>
              <a:t>18/12/2021</a:t>
            </a:fld>
            <a:endParaRPr lang="es-NI"/>
          </a:p>
        </p:txBody>
      </p:sp>
      <p:sp>
        <p:nvSpPr>
          <p:cNvPr id="5" name="Marcador de pie de página 4">
            <a:extLst>
              <a:ext uri="{FF2B5EF4-FFF2-40B4-BE49-F238E27FC236}">
                <a16:creationId xmlns:a16="http://schemas.microsoft.com/office/drawing/2014/main" id="{E482095F-00E3-4B4F-A355-C6FA2B50172F}"/>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854641B9-9859-467F-813C-0A3AADC1D6A4}"/>
              </a:ext>
            </a:extLst>
          </p:cNvPr>
          <p:cNvSpPr>
            <a:spLocks noGrp="1"/>
          </p:cNvSpPr>
          <p:nvPr>
            <p:ph type="sldNum" sz="quarter" idx="12"/>
          </p:nvPr>
        </p:nvSpPr>
        <p:spPr/>
        <p:txBody>
          <a:bodyPr/>
          <a:lstStyle/>
          <a:p>
            <a:fld id="{1969E08A-515C-455F-A883-1FAD857FF5E3}" type="slidenum">
              <a:rPr lang="es-NI" smtClean="0"/>
              <a:t>‹Nº›</a:t>
            </a:fld>
            <a:endParaRPr lang="es-NI"/>
          </a:p>
        </p:txBody>
      </p:sp>
    </p:spTree>
    <p:extLst>
      <p:ext uri="{BB962C8B-B14F-4D97-AF65-F5344CB8AC3E}">
        <p14:creationId xmlns:p14="http://schemas.microsoft.com/office/powerpoint/2010/main" val="625514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A38643-044E-4987-9EED-96FDC0184120}"/>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083B69AB-E52F-497B-8AEB-0B6980AEAF6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710A8665-818B-485D-AD20-F6BB4474B774}"/>
              </a:ext>
            </a:extLst>
          </p:cNvPr>
          <p:cNvSpPr>
            <a:spLocks noGrp="1"/>
          </p:cNvSpPr>
          <p:nvPr>
            <p:ph type="dt" sz="half" idx="10"/>
          </p:nvPr>
        </p:nvSpPr>
        <p:spPr/>
        <p:txBody>
          <a:bodyPr/>
          <a:lstStyle/>
          <a:p>
            <a:fld id="{3A2D17BA-9783-4713-A89D-55FA01F0BA23}" type="datetimeFigureOut">
              <a:rPr lang="es-NI" smtClean="0"/>
              <a:t>18/12/2021</a:t>
            </a:fld>
            <a:endParaRPr lang="es-NI"/>
          </a:p>
        </p:txBody>
      </p:sp>
      <p:sp>
        <p:nvSpPr>
          <p:cNvPr id="5" name="Marcador de pie de página 4">
            <a:extLst>
              <a:ext uri="{FF2B5EF4-FFF2-40B4-BE49-F238E27FC236}">
                <a16:creationId xmlns:a16="http://schemas.microsoft.com/office/drawing/2014/main" id="{53C0A1D4-B6AD-453C-BE3A-2AF3BE6518CD}"/>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7FF4013F-0B9C-4339-B1B4-D31A411D0AFF}"/>
              </a:ext>
            </a:extLst>
          </p:cNvPr>
          <p:cNvSpPr>
            <a:spLocks noGrp="1"/>
          </p:cNvSpPr>
          <p:nvPr>
            <p:ph type="sldNum" sz="quarter" idx="12"/>
          </p:nvPr>
        </p:nvSpPr>
        <p:spPr/>
        <p:txBody>
          <a:bodyPr/>
          <a:lstStyle/>
          <a:p>
            <a:fld id="{1969E08A-515C-455F-A883-1FAD857FF5E3}" type="slidenum">
              <a:rPr lang="es-NI" smtClean="0"/>
              <a:t>‹Nº›</a:t>
            </a:fld>
            <a:endParaRPr lang="es-NI"/>
          </a:p>
        </p:txBody>
      </p:sp>
    </p:spTree>
    <p:extLst>
      <p:ext uri="{BB962C8B-B14F-4D97-AF65-F5344CB8AC3E}">
        <p14:creationId xmlns:p14="http://schemas.microsoft.com/office/powerpoint/2010/main" val="4016360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55601F-5CAE-445C-B1F7-8ADBB7EA1F0B}"/>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1DCEADDC-7582-4FC4-8DA4-6D30F50811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3C345F7-5F10-4533-A8B7-A298B228E052}"/>
              </a:ext>
            </a:extLst>
          </p:cNvPr>
          <p:cNvSpPr>
            <a:spLocks noGrp="1"/>
          </p:cNvSpPr>
          <p:nvPr>
            <p:ph type="dt" sz="half" idx="10"/>
          </p:nvPr>
        </p:nvSpPr>
        <p:spPr/>
        <p:txBody>
          <a:bodyPr/>
          <a:lstStyle/>
          <a:p>
            <a:fld id="{3A2D17BA-9783-4713-A89D-55FA01F0BA23}" type="datetimeFigureOut">
              <a:rPr lang="es-NI" smtClean="0"/>
              <a:t>18/12/2021</a:t>
            </a:fld>
            <a:endParaRPr lang="es-NI"/>
          </a:p>
        </p:txBody>
      </p:sp>
      <p:sp>
        <p:nvSpPr>
          <p:cNvPr id="5" name="Marcador de pie de página 4">
            <a:extLst>
              <a:ext uri="{FF2B5EF4-FFF2-40B4-BE49-F238E27FC236}">
                <a16:creationId xmlns:a16="http://schemas.microsoft.com/office/drawing/2014/main" id="{BEA5AF06-5860-41FE-9E59-9B18EBE3555C}"/>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7536C29C-6B31-4F17-8773-00FBF9871F1C}"/>
              </a:ext>
            </a:extLst>
          </p:cNvPr>
          <p:cNvSpPr>
            <a:spLocks noGrp="1"/>
          </p:cNvSpPr>
          <p:nvPr>
            <p:ph type="sldNum" sz="quarter" idx="12"/>
          </p:nvPr>
        </p:nvSpPr>
        <p:spPr/>
        <p:txBody>
          <a:bodyPr/>
          <a:lstStyle/>
          <a:p>
            <a:fld id="{1969E08A-515C-455F-A883-1FAD857FF5E3}" type="slidenum">
              <a:rPr lang="es-NI" smtClean="0"/>
              <a:t>‹Nº›</a:t>
            </a:fld>
            <a:endParaRPr lang="es-NI"/>
          </a:p>
        </p:txBody>
      </p:sp>
    </p:spTree>
    <p:extLst>
      <p:ext uri="{BB962C8B-B14F-4D97-AF65-F5344CB8AC3E}">
        <p14:creationId xmlns:p14="http://schemas.microsoft.com/office/powerpoint/2010/main" val="987921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935A9A-6F05-4C84-A780-85571D439F11}"/>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C768E794-0285-4A18-BB39-2B72611D293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contenido 3">
            <a:extLst>
              <a:ext uri="{FF2B5EF4-FFF2-40B4-BE49-F238E27FC236}">
                <a16:creationId xmlns:a16="http://schemas.microsoft.com/office/drawing/2014/main" id="{35D94DAD-C5A5-4623-95E5-EB3B95D7A3C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fecha 4">
            <a:extLst>
              <a:ext uri="{FF2B5EF4-FFF2-40B4-BE49-F238E27FC236}">
                <a16:creationId xmlns:a16="http://schemas.microsoft.com/office/drawing/2014/main" id="{A1662EE4-5C15-46D9-A681-E16CC9A52A0A}"/>
              </a:ext>
            </a:extLst>
          </p:cNvPr>
          <p:cNvSpPr>
            <a:spLocks noGrp="1"/>
          </p:cNvSpPr>
          <p:nvPr>
            <p:ph type="dt" sz="half" idx="10"/>
          </p:nvPr>
        </p:nvSpPr>
        <p:spPr/>
        <p:txBody>
          <a:bodyPr/>
          <a:lstStyle/>
          <a:p>
            <a:fld id="{3A2D17BA-9783-4713-A89D-55FA01F0BA23}" type="datetimeFigureOut">
              <a:rPr lang="es-NI" smtClean="0"/>
              <a:t>18/12/2021</a:t>
            </a:fld>
            <a:endParaRPr lang="es-NI"/>
          </a:p>
        </p:txBody>
      </p:sp>
      <p:sp>
        <p:nvSpPr>
          <p:cNvPr id="6" name="Marcador de pie de página 5">
            <a:extLst>
              <a:ext uri="{FF2B5EF4-FFF2-40B4-BE49-F238E27FC236}">
                <a16:creationId xmlns:a16="http://schemas.microsoft.com/office/drawing/2014/main" id="{9BFE5EF0-6FBC-42C0-8DF6-9A28A0349FFD}"/>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B6E77C18-1048-4697-AF8D-F8F1703241D7}"/>
              </a:ext>
            </a:extLst>
          </p:cNvPr>
          <p:cNvSpPr>
            <a:spLocks noGrp="1"/>
          </p:cNvSpPr>
          <p:nvPr>
            <p:ph type="sldNum" sz="quarter" idx="12"/>
          </p:nvPr>
        </p:nvSpPr>
        <p:spPr/>
        <p:txBody>
          <a:bodyPr/>
          <a:lstStyle/>
          <a:p>
            <a:fld id="{1969E08A-515C-455F-A883-1FAD857FF5E3}" type="slidenum">
              <a:rPr lang="es-NI" smtClean="0"/>
              <a:t>‹Nº›</a:t>
            </a:fld>
            <a:endParaRPr lang="es-NI"/>
          </a:p>
        </p:txBody>
      </p:sp>
    </p:spTree>
    <p:extLst>
      <p:ext uri="{BB962C8B-B14F-4D97-AF65-F5344CB8AC3E}">
        <p14:creationId xmlns:p14="http://schemas.microsoft.com/office/powerpoint/2010/main" val="3816605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5D1C96-C644-414E-B132-B5CAFE102B0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4EFF2AE2-28DA-45C9-A669-BB19125397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1355C08-22A1-498E-99CA-B45C8B007C0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texto 4">
            <a:extLst>
              <a:ext uri="{FF2B5EF4-FFF2-40B4-BE49-F238E27FC236}">
                <a16:creationId xmlns:a16="http://schemas.microsoft.com/office/drawing/2014/main" id="{88C0B727-9652-4242-AE24-1B6F6A8B15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E8727349-80CF-445B-8F72-F4715CC94525}"/>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7" name="Marcador de fecha 6">
            <a:extLst>
              <a:ext uri="{FF2B5EF4-FFF2-40B4-BE49-F238E27FC236}">
                <a16:creationId xmlns:a16="http://schemas.microsoft.com/office/drawing/2014/main" id="{8BCFABD2-3508-4B16-B153-F7833F624221}"/>
              </a:ext>
            </a:extLst>
          </p:cNvPr>
          <p:cNvSpPr>
            <a:spLocks noGrp="1"/>
          </p:cNvSpPr>
          <p:nvPr>
            <p:ph type="dt" sz="half" idx="10"/>
          </p:nvPr>
        </p:nvSpPr>
        <p:spPr/>
        <p:txBody>
          <a:bodyPr/>
          <a:lstStyle/>
          <a:p>
            <a:fld id="{3A2D17BA-9783-4713-A89D-55FA01F0BA23}" type="datetimeFigureOut">
              <a:rPr lang="es-NI" smtClean="0"/>
              <a:t>18/12/2021</a:t>
            </a:fld>
            <a:endParaRPr lang="es-NI"/>
          </a:p>
        </p:txBody>
      </p:sp>
      <p:sp>
        <p:nvSpPr>
          <p:cNvPr id="8" name="Marcador de pie de página 7">
            <a:extLst>
              <a:ext uri="{FF2B5EF4-FFF2-40B4-BE49-F238E27FC236}">
                <a16:creationId xmlns:a16="http://schemas.microsoft.com/office/drawing/2014/main" id="{5F02CF6E-C6AA-4724-8118-C7E8404F23C2}"/>
              </a:ext>
            </a:extLst>
          </p:cNvPr>
          <p:cNvSpPr>
            <a:spLocks noGrp="1"/>
          </p:cNvSpPr>
          <p:nvPr>
            <p:ph type="ftr" sz="quarter" idx="11"/>
          </p:nvPr>
        </p:nvSpPr>
        <p:spPr/>
        <p:txBody>
          <a:bodyPr/>
          <a:lstStyle/>
          <a:p>
            <a:endParaRPr lang="es-NI"/>
          </a:p>
        </p:txBody>
      </p:sp>
      <p:sp>
        <p:nvSpPr>
          <p:cNvPr id="9" name="Marcador de número de diapositiva 8">
            <a:extLst>
              <a:ext uri="{FF2B5EF4-FFF2-40B4-BE49-F238E27FC236}">
                <a16:creationId xmlns:a16="http://schemas.microsoft.com/office/drawing/2014/main" id="{26CCEFB7-B8C3-40E0-8C8F-2A92ABE2585D}"/>
              </a:ext>
            </a:extLst>
          </p:cNvPr>
          <p:cNvSpPr>
            <a:spLocks noGrp="1"/>
          </p:cNvSpPr>
          <p:nvPr>
            <p:ph type="sldNum" sz="quarter" idx="12"/>
          </p:nvPr>
        </p:nvSpPr>
        <p:spPr/>
        <p:txBody>
          <a:bodyPr/>
          <a:lstStyle/>
          <a:p>
            <a:fld id="{1969E08A-515C-455F-A883-1FAD857FF5E3}" type="slidenum">
              <a:rPr lang="es-NI" smtClean="0"/>
              <a:t>‹Nº›</a:t>
            </a:fld>
            <a:endParaRPr lang="es-NI"/>
          </a:p>
        </p:txBody>
      </p:sp>
    </p:spTree>
    <p:extLst>
      <p:ext uri="{BB962C8B-B14F-4D97-AF65-F5344CB8AC3E}">
        <p14:creationId xmlns:p14="http://schemas.microsoft.com/office/powerpoint/2010/main" val="1071492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5BE74D-7FCB-4424-A541-228B34D4EB57}"/>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fecha 2">
            <a:extLst>
              <a:ext uri="{FF2B5EF4-FFF2-40B4-BE49-F238E27FC236}">
                <a16:creationId xmlns:a16="http://schemas.microsoft.com/office/drawing/2014/main" id="{9B3186FC-85B0-4FFF-821D-54FDCCDE3BEC}"/>
              </a:ext>
            </a:extLst>
          </p:cNvPr>
          <p:cNvSpPr>
            <a:spLocks noGrp="1"/>
          </p:cNvSpPr>
          <p:nvPr>
            <p:ph type="dt" sz="half" idx="10"/>
          </p:nvPr>
        </p:nvSpPr>
        <p:spPr/>
        <p:txBody>
          <a:bodyPr/>
          <a:lstStyle/>
          <a:p>
            <a:fld id="{3A2D17BA-9783-4713-A89D-55FA01F0BA23}" type="datetimeFigureOut">
              <a:rPr lang="es-NI" smtClean="0"/>
              <a:t>18/12/2021</a:t>
            </a:fld>
            <a:endParaRPr lang="es-NI"/>
          </a:p>
        </p:txBody>
      </p:sp>
      <p:sp>
        <p:nvSpPr>
          <p:cNvPr id="4" name="Marcador de pie de página 3">
            <a:extLst>
              <a:ext uri="{FF2B5EF4-FFF2-40B4-BE49-F238E27FC236}">
                <a16:creationId xmlns:a16="http://schemas.microsoft.com/office/drawing/2014/main" id="{FBDBB932-D376-40D4-AF2E-6A736C09563C}"/>
              </a:ext>
            </a:extLst>
          </p:cNvPr>
          <p:cNvSpPr>
            <a:spLocks noGrp="1"/>
          </p:cNvSpPr>
          <p:nvPr>
            <p:ph type="ftr" sz="quarter" idx="11"/>
          </p:nvPr>
        </p:nvSpPr>
        <p:spPr/>
        <p:txBody>
          <a:bodyPr/>
          <a:lstStyle/>
          <a:p>
            <a:endParaRPr lang="es-NI"/>
          </a:p>
        </p:txBody>
      </p:sp>
      <p:sp>
        <p:nvSpPr>
          <p:cNvPr id="5" name="Marcador de número de diapositiva 4">
            <a:extLst>
              <a:ext uri="{FF2B5EF4-FFF2-40B4-BE49-F238E27FC236}">
                <a16:creationId xmlns:a16="http://schemas.microsoft.com/office/drawing/2014/main" id="{CBDA6261-E879-4941-8F5F-AE9556E1F72F}"/>
              </a:ext>
            </a:extLst>
          </p:cNvPr>
          <p:cNvSpPr>
            <a:spLocks noGrp="1"/>
          </p:cNvSpPr>
          <p:nvPr>
            <p:ph type="sldNum" sz="quarter" idx="12"/>
          </p:nvPr>
        </p:nvSpPr>
        <p:spPr/>
        <p:txBody>
          <a:bodyPr/>
          <a:lstStyle/>
          <a:p>
            <a:fld id="{1969E08A-515C-455F-A883-1FAD857FF5E3}" type="slidenum">
              <a:rPr lang="es-NI" smtClean="0"/>
              <a:t>‹Nº›</a:t>
            </a:fld>
            <a:endParaRPr lang="es-NI"/>
          </a:p>
        </p:txBody>
      </p:sp>
    </p:spTree>
    <p:extLst>
      <p:ext uri="{BB962C8B-B14F-4D97-AF65-F5344CB8AC3E}">
        <p14:creationId xmlns:p14="http://schemas.microsoft.com/office/powerpoint/2010/main" val="4294198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A6514BE-618F-4E97-881C-39B73929BE8D}"/>
              </a:ext>
            </a:extLst>
          </p:cNvPr>
          <p:cNvSpPr>
            <a:spLocks noGrp="1"/>
          </p:cNvSpPr>
          <p:nvPr>
            <p:ph type="dt" sz="half" idx="10"/>
          </p:nvPr>
        </p:nvSpPr>
        <p:spPr/>
        <p:txBody>
          <a:bodyPr/>
          <a:lstStyle/>
          <a:p>
            <a:fld id="{3A2D17BA-9783-4713-A89D-55FA01F0BA23}" type="datetimeFigureOut">
              <a:rPr lang="es-NI" smtClean="0"/>
              <a:t>18/12/2021</a:t>
            </a:fld>
            <a:endParaRPr lang="es-NI"/>
          </a:p>
        </p:txBody>
      </p:sp>
      <p:sp>
        <p:nvSpPr>
          <p:cNvPr id="3" name="Marcador de pie de página 2">
            <a:extLst>
              <a:ext uri="{FF2B5EF4-FFF2-40B4-BE49-F238E27FC236}">
                <a16:creationId xmlns:a16="http://schemas.microsoft.com/office/drawing/2014/main" id="{9F042087-9C03-42B1-9D59-F789A602212F}"/>
              </a:ext>
            </a:extLst>
          </p:cNvPr>
          <p:cNvSpPr>
            <a:spLocks noGrp="1"/>
          </p:cNvSpPr>
          <p:nvPr>
            <p:ph type="ftr" sz="quarter" idx="11"/>
          </p:nvPr>
        </p:nvSpPr>
        <p:spPr/>
        <p:txBody>
          <a:bodyPr/>
          <a:lstStyle/>
          <a:p>
            <a:endParaRPr lang="es-NI"/>
          </a:p>
        </p:txBody>
      </p:sp>
      <p:sp>
        <p:nvSpPr>
          <p:cNvPr id="4" name="Marcador de número de diapositiva 3">
            <a:extLst>
              <a:ext uri="{FF2B5EF4-FFF2-40B4-BE49-F238E27FC236}">
                <a16:creationId xmlns:a16="http://schemas.microsoft.com/office/drawing/2014/main" id="{ECBD1876-E071-42F0-9CE1-B2A1FA6085E4}"/>
              </a:ext>
            </a:extLst>
          </p:cNvPr>
          <p:cNvSpPr>
            <a:spLocks noGrp="1"/>
          </p:cNvSpPr>
          <p:nvPr>
            <p:ph type="sldNum" sz="quarter" idx="12"/>
          </p:nvPr>
        </p:nvSpPr>
        <p:spPr/>
        <p:txBody>
          <a:bodyPr/>
          <a:lstStyle/>
          <a:p>
            <a:fld id="{1969E08A-515C-455F-A883-1FAD857FF5E3}" type="slidenum">
              <a:rPr lang="es-NI" smtClean="0"/>
              <a:t>‹Nº›</a:t>
            </a:fld>
            <a:endParaRPr lang="es-NI"/>
          </a:p>
        </p:txBody>
      </p:sp>
    </p:spTree>
    <p:extLst>
      <p:ext uri="{BB962C8B-B14F-4D97-AF65-F5344CB8AC3E}">
        <p14:creationId xmlns:p14="http://schemas.microsoft.com/office/powerpoint/2010/main" val="3211320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8DFE63-D1D9-4993-8E9A-F058B6A84CB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BA9863FA-8971-4B4B-8536-CFD5679DEF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texto 3">
            <a:extLst>
              <a:ext uri="{FF2B5EF4-FFF2-40B4-BE49-F238E27FC236}">
                <a16:creationId xmlns:a16="http://schemas.microsoft.com/office/drawing/2014/main" id="{423AAE7D-E4E6-42B1-AF1C-C8AE6996D2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1D035D8-B3CD-4854-A934-151BFBE4510F}"/>
              </a:ext>
            </a:extLst>
          </p:cNvPr>
          <p:cNvSpPr>
            <a:spLocks noGrp="1"/>
          </p:cNvSpPr>
          <p:nvPr>
            <p:ph type="dt" sz="half" idx="10"/>
          </p:nvPr>
        </p:nvSpPr>
        <p:spPr/>
        <p:txBody>
          <a:bodyPr/>
          <a:lstStyle/>
          <a:p>
            <a:fld id="{3A2D17BA-9783-4713-A89D-55FA01F0BA23}" type="datetimeFigureOut">
              <a:rPr lang="es-NI" smtClean="0"/>
              <a:t>18/12/2021</a:t>
            </a:fld>
            <a:endParaRPr lang="es-NI"/>
          </a:p>
        </p:txBody>
      </p:sp>
      <p:sp>
        <p:nvSpPr>
          <p:cNvPr id="6" name="Marcador de pie de página 5">
            <a:extLst>
              <a:ext uri="{FF2B5EF4-FFF2-40B4-BE49-F238E27FC236}">
                <a16:creationId xmlns:a16="http://schemas.microsoft.com/office/drawing/2014/main" id="{CA6BE5D5-F38A-4736-9FE8-A72FBC51C58E}"/>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69C80215-0DBB-47BC-83DC-4583E1606E7D}"/>
              </a:ext>
            </a:extLst>
          </p:cNvPr>
          <p:cNvSpPr>
            <a:spLocks noGrp="1"/>
          </p:cNvSpPr>
          <p:nvPr>
            <p:ph type="sldNum" sz="quarter" idx="12"/>
          </p:nvPr>
        </p:nvSpPr>
        <p:spPr/>
        <p:txBody>
          <a:bodyPr/>
          <a:lstStyle/>
          <a:p>
            <a:fld id="{1969E08A-515C-455F-A883-1FAD857FF5E3}" type="slidenum">
              <a:rPr lang="es-NI" smtClean="0"/>
              <a:t>‹Nº›</a:t>
            </a:fld>
            <a:endParaRPr lang="es-NI"/>
          </a:p>
        </p:txBody>
      </p:sp>
    </p:spTree>
    <p:extLst>
      <p:ext uri="{BB962C8B-B14F-4D97-AF65-F5344CB8AC3E}">
        <p14:creationId xmlns:p14="http://schemas.microsoft.com/office/powerpoint/2010/main" val="1444854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3E82C1-B6EE-4738-8CB0-88CC2AA0B3A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posición de imagen 2">
            <a:extLst>
              <a:ext uri="{FF2B5EF4-FFF2-40B4-BE49-F238E27FC236}">
                <a16:creationId xmlns:a16="http://schemas.microsoft.com/office/drawing/2014/main" id="{D042471C-87FD-4017-8FEC-E7B72FBE55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NI"/>
          </a:p>
        </p:txBody>
      </p:sp>
      <p:sp>
        <p:nvSpPr>
          <p:cNvPr id="4" name="Marcador de texto 3">
            <a:extLst>
              <a:ext uri="{FF2B5EF4-FFF2-40B4-BE49-F238E27FC236}">
                <a16:creationId xmlns:a16="http://schemas.microsoft.com/office/drawing/2014/main" id="{967A8906-3C1C-4496-828E-68FDC58385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B626AB3-A2BD-4517-B168-B90B2F7F63D6}"/>
              </a:ext>
            </a:extLst>
          </p:cNvPr>
          <p:cNvSpPr>
            <a:spLocks noGrp="1"/>
          </p:cNvSpPr>
          <p:nvPr>
            <p:ph type="dt" sz="half" idx="10"/>
          </p:nvPr>
        </p:nvSpPr>
        <p:spPr/>
        <p:txBody>
          <a:bodyPr/>
          <a:lstStyle/>
          <a:p>
            <a:fld id="{3A2D17BA-9783-4713-A89D-55FA01F0BA23}" type="datetimeFigureOut">
              <a:rPr lang="es-NI" smtClean="0"/>
              <a:t>18/12/2021</a:t>
            </a:fld>
            <a:endParaRPr lang="es-NI"/>
          </a:p>
        </p:txBody>
      </p:sp>
      <p:sp>
        <p:nvSpPr>
          <p:cNvPr id="6" name="Marcador de pie de página 5">
            <a:extLst>
              <a:ext uri="{FF2B5EF4-FFF2-40B4-BE49-F238E27FC236}">
                <a16:creationId xmlns:a16="http://schemas.microsoft.com/office/drawing/2014/main" id="{D2264481-4837-4E28-8E3C-51B7FB5CF63A}"/>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D38BC68C-6841-4842-B6A0-4A36DC16BCB5}"/>
              </a:ext>
            </a:extLst>
          </p:cNvPr>
          <p:cNvSpPr>
            <a:spLocks noGrp="1"/>
          </p:cNvSpPr>
          <p:nvPr>
            <p:ph type="sldNum" sz="quarter" idx="12"/>
          </p:nvPr>
        </p:nvSpPr>
        <p:spPr/>
        <p:txBody>
          <a:bodyPr/>
          <a:lstStyle/>
          <a:p>
            <a:fld id="{1969E08A-515C-455F-A883-1FAD857FF5E3}" type="slidenum">
              <a:rPr lang="es-NI" smtClean="0"/>
              <a:t>‹Nº›</a:t>
            </a:fld>
            <a:endParaRPr lang="es-NI"/>
          </a:p>
        </p:txBody>
      </p:sp>
    </p:spTree>
    <p:extLst>
      <p:ext uri="{BB962C8B-B14F-4D97-AF65-F5344CB8AC3E}">
        <p14:creationId xmlns:p14="http://schemas.microsoft.com/office/powerpoint/2010/main" val="19263129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A512A3-3700-45EF-8B55-0A96006BAFA0}"/>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6222BB08-822A-4401-B92A-59336E3A89A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EC407359-4FCE-4E47-806B-E27611EB3454}"/>
              </a:ext>
            </a:extLst>
          </p:cNvPr>
          <p:cNvSpPr>
            <a:spLocks noGrp="1"/>
          </p:cNvSpPr>
          <p:nvPr>
            <p:ph type="dt" sz="half" idx="10"/>
          </p:nvPr>
        </p:nvSpPr>
        <p:spPr/>
        <p:txBody>
          <a:bodyPr/>
          <a:lstStyle/>
          <a:p>
            <a:fld id="{3A2D17BA-9783-4713-A89D-55FA01F0BA23}" type="datetimeFigureOut">
              <a:rPr lang="es-NI" smtClean="0"/>
              <a:t>18/12/2021</a:t>
            </a:fld>
            <a:endParaRPr lang="es-NI"/>
          </a:p>
        </p:txBody>
      </p:sp>
      <p:sp>
        <p:nvSpPr>
          <p:cNvPr id="5" name="Marcador de pie de página 4">
            <a:extLst>
              <a:ext uri="{FF2B5EF4-FFF2-40B4-BE49-F238E27FC236}">
                <a16:creationId xmlns:a16="http://schemas.microsoft.com/office/drawing/2014/main" id="{C61FD528-9E55-4478-B4F2-1E509750F349}"/>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5FE58A8E-B0D6-486C-B363-054E430696B9}"/>
              </a:ext>
            </a:extLst>
          </p:cNvPr>
          <p:cNvSpPr>
            <a:spLocks noGrp="1"/>
          </p:cNvSpPr>
          <p:nvPr>
            <p:ph type="sldNum" sz="quarter" idx="12"/>
          </p:nvPr>
        </p:nvSpPr>
        <p:spPr/>
        <p:txBody>
          <a:bodyPr/>
          <a:lstStyle/>
          <a:p>
            <a:fld id="{1969E08A-515C-455F-A883-1FAD857FF5E3}" type="slidenum">
              <a:rPr lang="es-NI" smtClean="0"/>
              <a:t>‹Nº›</a:t>
            </a:fld>
            <a:endParaRPr lang="es-NI"/>
          </a:p>
        </p:txBody>
      </p:sp>
    </p:spTree>
    <p:extLst>
      <p:ext uri="{BB962C8B-B14F-4D97-AF65-F5344CB8AC3E}">
        <p14:creationId xmlns:p14="http://schemas.microsoft.com/office/powerpoint/2010/main" val="3567659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7CED455-B102-4360-8C16-B05EFD22771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6EE99507-8BCA-48F2-840A-8372E0EB9789}"/>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11AF4D18-6007-4918-B623-C387F0B249B4}"/>
              </a:ext>
            </a:extLst>
          </p:cNvPr>
          <p:cNvSpPr>
            <a:spLocks noGrp="1"/>
          </p:cNvSpPr>
          <p:nvPr>
            <p:ph type="dt" sz="half" idx="10"/>
          </p:nvPr>
        </p:nvSpPr>
        <p:spPr/>
        <p:txBody>
          <a:bodyPr/>
          <a:lstStyle/>
          <a:p>
            <a:fld id="{3A2D17BA-9783-4713-A89D-55FA01F0BA23}" type="datetimeFigureOut">
              <a:rPr lang="es-NI" smtClean="0"/>
              <a:t>18/12/2021</a:t>
            </a:fld>
            <a:endParaRPr lang="es-NI"/>
          </a:p>
        </p:txBody>
      </p:sp>
      <p:sp>
        <p:nvSpPr>
          <p:cNvPr id="5" name="Marcador de pie de página 4">
            <a:extLst>
              <a:ext uri="{FF2B5EF4-FFF2-40B4-BE49-F238E27FC236}">
                <a16:creationId xmlns:a16="http://schemas.microsoft.com/office/drawing/2014/main" id="{470BF8B2-CD1E-4FD2-A406-EC5B136C6EEE}"/>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84A4D33D-BE42-4889-95F7-6883DBBB0329}"/>
              </a:ext>
            </a:extLst>
          </p:cNvPr>
          <p:cNvSpPr>
            <a:spLocks noGrp="1"/>
          </p:cNvSpPr>
          <p:nvPr>
            <p:ph type="sldNum" sz="quarter" idx="12"/>
          </p:nvPr>
        </p:nvSpPr>
        <p:spPr/>
        <p:txBody>
          <a:bodyPr/>
          <a:lstStyle/>
          <a:p>
            <a:fld id="{1969E08A-515C-455F-A883-1FAD857FF5E3}" type="slidenum">
              <a:rPr lang="es-NI" smtClean="0"/>
              <a:t>‹Nº›</a:t>
            </a:fld>
            <a:endParaRPr lang="es-NI"/>
          </a:p>
        </p:txBody>
      </p:sp>
    </p:spTree>
    <p:extLst>
      <p:ext uri="{BB962C8B-B14F-4D97-AF65-F5344CB8AC3E}">
        <p14:creationId xmlns:p14="http://schemas.microsoft.com/office/powerpoint/2010/main" val="2196936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DD07001-EEF9-429F-9589-F96FA4F765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E0D5F9C5-2372-454A-89C3-3F667B4483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4FCAB667-316E-4306-AD60-12A150B086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2D17BA-9783-4713-A89D-55FA01F0BA23}" type="datetimeFigureOut">
              <a:rPr lang="es-NI" smtClean="0"/>
              <a:t>18/12/2021</a:t>
            </a:fld>
            <a:endParaRPr lang="es-NI"/>
          </a:p>
        </p:txBody>
      </p:sp>
      <p:sp>
        <p:nvSpPr>
          <p:cNvPr id="5" name="Marcador de pie de página 4">
            <a:extLst>
              <a:ext uri="{FF2B5EF4-FFF2-40B4-BE49-F238E27FC236}">
                <a16:creationId xmlns:a16="http://schemas.microsoft.com/office/drawing/2014/main" id="{9E5AA846-58E5-445C-B015-D8EF456B5C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NI"/>
          </a:p>
        </p:txBody>
      </p:sp>
      <p:sp>
        <p:nvSpPr>
          <p:cNvPr id="6" name="Marcador de número de diapositiva 5">
            <a:extLst>
              <a:ext uri="{FF2B5EF4-FFF2-40B4-BE49-F238E27FC236}">
                <a16:creationId xmlns:a16="http://schemas.microsoft.com/office/drawing/2014/main" id="{63C724E6-31E0-4F7D-BBD7-7DA6729B98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69E08A-515C-455F-A883-1FAD857FF5E3}" type="slidenum">
              <a:rPr lang="es-NI" smtClean="0"/>
              <a:t>‹Nº›</a:t>
            </a:fld>
            <a:endParaRPr lang="es-NI"/>
          </a:p>
        </p:txBody>
      </p:sp>
    </p:spTree>
    <p:extLst>
      <p:ext uri="{BB962C8B-B14F-4D97-AF65-F5344CB8AC3E}">
        <p14:creationId xmlns:p14="http://schemas.microsoft.com/office/powerpoint/2010/main" val="33529513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EFC1C54-6D44-464D-B2C9-06EFF795534B}"/>
              </a:ext>
            </a:extLst>
          </p:cNvPr>
          <p:cNvSpPr/>
          <p:nvPr/>
        </p:nvSpPr>
        <p:spPr>
          <a:xfrm>
            <a:off x="5122976" y="0"/>
            <a:ext cx="1946047" cy="923330"/>
          </a:xfrm>
          <a:prstGeom prst="rect">
            <a:avLst/>
          </a:prstGeom>
          <a:noFill/>
        </p:spPr>
        <p:txBody>
          <a:bodyPr wrap="none" lIns="91440" tIns="45720" rIns="91440" bIns="45720">
            <a:spAutoFit/>
          </a:bodyPr>
          <a:lstStyle/>
          <a:p>
            <a:pPr algn="ctr"/>
            <a:r>
              <a:rPr lang="es-ES" sz="5400" b="0" cap="none" spc="0" dirty="0" err="1">
                <a:ln w="0"/>
                <a:solidFill>
                  <a:schemeClr val="tx1"/>
                </a:solidFill>
                <a:effectLst>
                  <a:outerShdw blurRad="38100" dist="19050" dir="2700000" algn="tl" rotWithShape="0">
                    <a:schemeClr val="dk1">
                      <a:alpha val="40000"/>
                    </a:schemeClr>
                  </a:outerShdw>
                </a:effectLst>
              </a:rPr>
              <a:t>Anova</a:t>
            </a:r>
            <a:endParaRPr lang="es-ES" sz="5400" b="0" cap="none" spc="0" dirty="0">
              <a:ln w="0"/>
              <a:solidFill>
                <a:schemeClr val="tx1"/>
              </a:solidFill>
              <a:effectLst>
                <a:outerShdw blurRad="38100" dist="19050" dir="2700000" algn="tl" rotWithShape="0">
                  <a:schemeClr val="dk1">
                    <a:alpha val="40000"/>
                  </a:schemeClr>
                </a:outerShdw>
              </a:effectLst>
            </a:endParaRPr>
          </a:p>
        </p:txBody>
      </p:sp>
      <p:sp>
        <p:nvSpPr>
          <p:cNvPr id="5" name="CuadroTexto 4">
            <a:extLst>
              <a:ext uri="{FF2B5EF4-FFF2-40B4-BE49-F238E27FC236}">
                <a16:creationId xmlns:a16="http://schemas.microsoft.com/office/drawing/2014/main" id="{5563EE2A-F9F3-496B-9C06-FDA7B10F09E4}"/>
              </a:ext>
            </a:extLst>
          </p:cNvPr>
          <p:cNvSpPr txBox="1"/>
          <p:nvPr/>
        </p:nvSpPr>
        <p:spPr>
          <a:xfrm>
            <a:off x="477672" y="873456"/>
            <a:ext cx="11313994" cy="5909310"/>
          </a:xfrm>
          <a:prstGeom prst="rect">
            <a:avLst/>
          </a:prstGeom>
          <a:noFill/>
        </p:spPr>
        <p:txBody>
          <a:bodyPr wrap="square" rtlCol="0">
            <a:spAutoFit/>
          </a:bodyPr>
          <a:lstStyle/>
          <a:p>
            <a:pPr algn="just"/>
            <a:r>
              <a:rPr lang="es-ES" b="0" i="0" dirty="0">
                <a:solidFill>
                  <a:srgbClr val="333333"/>
                </a:solidFill>
                <a:effectLst/>
                <a:latin typeface="Verdana" panose="020B0604030504040204" pitchFamily="34" charset="0"/>
                <a:ea typeface="Verdana" panose="020B0604030504040204" pitchFamily="34" charset="0"/>
              </a:rPr>
              <a:t>La técnica de análisis de varianza (ANOVA) también conocida como análisis factorial y desarrollada por Fisher en 1930, constituye la herramienta básica para el estudio del efecto de uno o más factores (cada uno con dos o más niveles) sobre la media de una variable continua. Es por lo tanto el test estadístico a emplear cuando se desea comparar las medias de dos o más grupos. Esta técnica puede generalizarse también para estudiar los posibles efectos de los factores sobre la varianza de una variable.</a:t>
            </a:r>
          </a:p>
          <a:p>
            <a:pPr algn="just"/>
            <a:endParaRPr lang="es-ES" b="0" i="0" dirty="0">
              <a:solidFill>
                <a:srgbClr val="333333"/>
              </a:solidFill>
              <a:effectLst/>
              <a:latin typeface="Verdana" panose="020B0604030504040204" pitchFamily="34" charset="0"/>
              <a:ea typeface="Verdana" panose="020B0604030504040204" pitchFamily="34" charset="0"/>
            </a:endParaRPr>
          </a:p>
          <a:p>
            <a:pPr algn="just"/>
            <a:r>
              <a:rPr lang="es-ES" b="0" i="0" dirty="0">
                <a:solidFill>
                  <a:srgbClr val="333333"/>
                </a:solidFill>
                <a:effectLst/>
                <a:latin typeface="Verdana" panose="020B0604030504040204" pitchFamily="34" charset="0"/>
                <a:ea typeface="Verdana" panose="020B0604030504040204" pitchFamily="34" charset="0"/>
              </a:rPr>
              <a:t>La hipótesis nula de la que parten los diferentes tipos de ANOVA es que la media de la variable estudiada es la misma en los diferentes grupos, en contraposición a la hipótesis alternativa de que al menos dos medias difieren de forma significativa. ANOVA permite comparar múltiples medias, pero lo hace mediante el estudio de las varianzas.</a:t>
            </a:r>
          </a:p>
          <a:p>
            <a:pPr algn="just"/>
            <a:endParaRPr lang="es-ES" dirty="0">
              <a:solidFill>
                <a:srgbClr val="333333"/>
              </a:solidFill>
              <a:latin typeface="Verdana" panose="020B0604030504040204" pitchFamily="34" charset="0"/>
              <a:ea typeface="Verdana" panose="020B0604030504040204" pitchFamily="34" charset="0"/>
            </a:endParaRPr>
          </a:p>
          <a:p>
            <a:pPr algn="just"/>
            <a:r>
              <a:rPr lang="es-ES" b="0" i="0" dirty="0">
                <a:solidFill>
                  <a:srgbClr val="333333"/>
                </a:solidFill>
                <a:effectLst/>
                <a:latin typeface="Verdana" panose="020B0604030504040204" pitchFamily="34" charset="0"/>
                <a:ea typeface="Verdana" panose="020B0604030504040204" pitchFamily="34" charset="0"/>
              </a:rPr>
              <a:t>El funcionamiento básico de un ANOVA consiste en calcular la media de cada uno de los grupos para a continuación comparar la varianza de estas medias (varianza explicada por la variable grupo, </a:t>
            </a:r>
            <a:r>
              <a:rPr lang="es-ES" b="0" i="0" dirty="0" err="1">
                <a:solidFill>
                  <a:srgbClr val="333333"/>
                </a:solidFill>
                <a:effectLst/>
                <a:latin typeface="Verdana" panose="020B0604030504040204" pitchFamily="34" charset="0"/>
                <a:ea typeface="Verdana" panose="020B0604030504040204" pitchFamily="34" charset="0"/>
              </a:rPr>
              <a:t>intervarianza</a:t>
            </a:r>
            <a:r>
              <a:rPr lang="es-ES" b="0" i="0" dirty="0">
                <a:solidFill>
                  <a:srgbClr val="333333"/>
                </a:solidFill>
                <a:effectLst/>
                <a:latin typeface="Verdana" panose="020B0604030504040204" pitchFamily="34" charset="0"/>
                <a:ea typeface="Verdana" panose="020B0604030504040204" pitchFamily="34" charset="0"/>
              </a:rPr>
              <a:t>) frente a la varianza promedio dentro de los grupos (la no explicada por la variable grupo, </a:t>
            </a:r>
            <a:r>
              <a:rPr lang="es-ES" b="0" i="0" dirty="0" err="1">
                <a:solidFill>
                  <a:srgbClr val="333333"/>
                </a:solidFill>
                <a:effectLst/>
                <a:latin typeface="Verdana" panose="020B0604030504040204" pitchFamily="34" charset="0"/>
                <a:ea typeface="Verdana" panose="020B0604030504040204" pitchFamily="34" charset="0"/>
              </a:rPr>
              <a:t>intravarianza</a:t>
            </a:r>
            <a:r>
              <a:rPr lang="es-ES" b="0" i="0" dirty="0">
                <a:solidFill>
                  <a:srgbClr val="333333"/>
                </a:solidFill>
                <a:effectLst/>
                <a:latin typeface="Verdana" panose="020B0604030504040204" pitchFamily="34" charset="0"/>
                <a:ea typeface="Verdana" panose="020B0604030504040204" pitchFamily="34" charset="0"/>
              </a:rPr>
              <a:t>). Bajo la hipótesis nula de que las observaciones de los distintos grupos proceden todas la misma población (tienen la misma media y varianza), la varianza ponderada entre grupos será la misma que la varianza promedio dentro de los grupos. Conforme las medias de los grupos estén más alejadas las unas de las otras, la varianza entre medias se incrementará y dejará de ser igual a la varianza promedio dentro de los grupos.</a:t>
            </a:r>
          </a:p>
          <a:p>
            <a:endParaRPr lang="es-NI" dirty="0"/>
          </a:p>
        </p:txBody>
      </p:sp>
    </p:spTree>
    <p:extLst>
      <p:ext uri="{BB962C8B-B14F-4D97-AF65-F5344CB8AC3E}">
        <p14:creationId xmlns:p14="http://schemas.microsoft.com/office/powerpoint/2010/main" val="1143733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EFC1C54-6D44-464D-B2C9-06EFF795534B}"/>
              </a:ext>
            </a:extLst>
          </p:cNvPr>
          <p:cNvSpPr/>
          <p:nvPr/>
        </p:nvSpPr>
        <p:spPr>
          <a:xfrm>
            <a:off x="5122976" y="0"/>
            <a:ext cx="1946047" cy="923330"/>
          </a:xfrm>
          <a:prstGeom prst="rect">
            <a:avLst/>
          </a:prstGeom>
          <a:noFill/>
        </p:spPr>
        <p:txBody>
          <a:bodyPr wrap="none" lIns="91440" tIns="45720" rIns="91440" bIns="45720">
            <a:spAutoFit/>
          </a:bodyPr>
          <a:lstStyle/>
          <a:p>
            <a:pPr algn="ctr"/>
            <a:r>
              <a:rPr lang="es-ES" sz="5400" b="0" cap="none" spc="0" dirty="0" err="1">
                <a:ln w="0"/>
                <a:solidFill>
                  <a:schemeClr val="tx1"/>
                </a:solidFill>
                <a:effectLst>
                  <a:outerShdw blurRad="38100" dist="19050" dir="2700000" algn="tl" rotWithShape="0">
                    <a:schemeClr val="dk1">
                      <a:alpha val="40000"/>
                    </a:schemeClr>
                  </a:outerShdw>
                </a:effectLst>
              </a:rPr>
              <a:t>Anova</a:t>
            </a:r>
            <a:endParaRPr lang="es-ES" sz="5400" b="0" cap="none" spc="0" dirty="0">
              <a:ln w="0"/>
              <a:solidFill>
                <a:schemeClr val="tx1"/>
              </a:solidFill>
              <a:effectLst>
                <a:outerShdw blurRad="38100" dist="19050" dir="2700000" algn="tl" rotWithShape="0">
                  <a:schemeClr val="dk1">
                    <a:alpha val="40000"/>
                  </a:schemeClr>
                </a:outerShdw>
              </a:effectLst>
            </a:endParaRPr>
          </a:p>
        </p:txBody>
      </p:sp>
      <p:pic>
        <p:nvPicPr>
          <p:cNvPr id="1026" name="Picture 2">
            <a:extLst>
              <a:ext uri="{FF2B5EF4-FFF2-40B4-BE49-F238E27FC236}">
                <a16:creationId xmlns:a16="http://schemas.microsoft.com/office/drawing/2014/main" id="{6F6C03AC-A29A-4EAD-9790-B06ED9D959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20798"/>
            <a:ext cx="5939275" cy="379866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30903B22-4773-4596-8B9C-4BC9E47C7C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0162" y="1320798"/>
            <a:ext cx="5939276" cy="3798662"/>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6333B633-E440-4C79-B6AD-B592F062A9AA}"/>
              </a:ext>
            </a:extLst>
          </p:cNvPr>
          <p:cNvSpPr txBox="1"/>
          <p:nvPr/>
        </p:nvSpPr>
        <p:spPr>
          <a:xfrm>
            <a:off x="2651078" y="5402070"/>
            <a:ext cx="7762164" cy="369332"/>
          </a:xfrm>
          <a:prstGeom prst="rect">
            <a:avLst/>
          </a:prstGeom>
          <a:noFill/>
        </p:spPr>
        <p:txBody>
          <a:bodyPr wrap="square">
            <a:spAutoFit/>
          </a:bodyPr>
          <a:lstStyle/>
          <a:p>
            <a:pPr algn="just"/>
            <a:r>
              <a:rPr lang="es-ES" b="0" i="0" dirty="0">
                <a:solidFill>
                  <a:srgbClr val="333333"/>
                </a:solidFill>
                <a:effectLst/>
                <a:latin typeface="Verdana" panose="020B0604030504040204" pitchFamily="34" charset="0"/>
                <a:ea typeface="Verdana" panose="020B0604030504040204" pitchFamily="34" charset="0"/>
              </a:rPr>
              <a:t>La línea negra es la media para todas las observaciones.</a:t>
            </a:r>
          </a:p>
        </p:txBody>
      </p:sp>
    </p:spTree>
    <p:extLst>
      <p:ext uri="{BB962C8B-B14F-4D97-AF65-F5344CB8AC3E}">
        <p14:creationId xmlns:p14="http://schemas.microsoft.com/office/powerpoint/2010/main" val="2382363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EFC1C54-6D44-464D-B2C9-06EFF795534B}"/>
              </a:ext>
            </a:extLst>
          </p:cNvPr>
          <p:cNvSpPr/>
          <p:nvPr/>
        </p:nvSpPr>
        <p:spPr>
          <a:xfrm>
            <a:off x="5122976" y="0"/>
            <a:ext cx="1946047" cy="923330"/>
          </a:xfrm>
          <a:prstGeom prst="rect">
            <a:avLst/>
          </a:prstGeom>
          <a:noFill/>
        </p:spPr>
        <p:txBody>
          <a:bodyPr wrap="none" lIns="91440" tIns="45720" rIns="91440" bIns="45720">
            <a:spAutoFit/>
          </a:bodyPr>
          <a:lstStyle/>
          <a:p>
            <a:pPr algn="ctr"/>
            <a:r>
              <a:rPr lang="es-ES" sz="5400" b="0" cap="none" spc="0" dirty="0" err="1">
                <a:ln w="0"/>
                <a:solidFill>
                  <a:schemeClr val="tx1"/>
                </a:solidFill>
                <a:effectLst>
                  <a:outerShdw blurRad="38100" dist="19050" dir="2700000" algn="tl" rotWithShape="0">
                    <a:schemeClr val="dk1">
                      <a:alpha val="40000"/>
                    </a:schemeClr>
                  </a:outerShdw>
                </a:effectLst>
              </a:rPr>
              <a:t>Anova</a:t>
            </a:r>
            <a:endParaRPr lang="es-ES" sz="5400" b="0" cap="none" spc="0" dirty="0">
              <a:ln w="0"/>
              <a:solidFill>
                <a:schemeClr val="tx1"/>
              </a:solidFill>
              <a:effectLst>
                <a:outerShdw blurRad="38100" dist="19050" dir="2700000" algn="tl" rotWithShape="0">
                  <a:schemeClr val="dk1">
                    <a:alpha val="40000"/>
                  </a:schemeClr>
                </a:outerShdw>
              </a:effectLst>
            </a:endParaRPr>
          </a:p>
        </p:txBody>
      </p:sp>
      <p:sp>
        <p:nvSpPr>
          <p:cNvPr id="5" name="CuadroTexto 4">
            <a:extLst>
              <a:ext uri="{FF2B5EF4-FFF2-40B4-BE49-F238E27FC236}">
                <a16:creationId xmlns:a16="http://schemas.microsoft.com/office/drawing/2014/main" id="{5563EE2A-F9F3-496B-9C06-FDA7B10F09E4}"/>
              </a:ext>
            </a:extLst>
          </p:cNvPr>
          <p:cNvSpPr txBox="1"/>
          <p:nvPr/>
        </p:nvSpPr>
        <p:spPr>
          <a:xfrm>
            <a:off x="477672" y="873456"/>
            <a:ext cx="11313994" cy="3416320"/>
          </a:xfrm>
          <a:prstGeom prst="rect">
            <a:avLst/>
          </a:prstGeom>
          <a:noFill/>
        </p:spPr>
        <p:txBody>
          <a:bodyPr wrap="square" rtlCol="0">
            <a:spAutoFit/>
          </a:bodyPr>
          <a:lstStyle/>
          <a:p>
            <a:pPr algn="just"/>
            <a:r>
              <a:rPr lang="es-ES" b="0" i="0" dirty="0">
                <a:solidFill>
                  <a:srgbClr val="333333"/>
                </a:solidFill>
                <a:effectLst/>
                <a:latin typeface="Verdana" panose="020B0604030504040204" pitchFamily="34" charset="0"/>
                <a:ea typeface="Verdana" panose="020B0604030504040204" pitchFamily="34" charset="0"/>
              </a:rPr>
              <a:t>El estadístico estudiado en el ANOVA, conocido como </a:t>
            </a:r>
            <a:r>
              <a:rPr lang="es-ES" b="0" i="0" dirty="0" err="1">
                <a:solidFill>
                  <a:srgbClr val="333333"/>
                </a:solidFill>
                <a:effectLst/>
                <a:latin typeface="Verdana" panose="020B0604030504040204" pitchFamily="34" charset="0"/>
                <a:ea typeface="Verdana" panose="020B0604030504040204" pitchFamily="34" charset="0"/>
              </a:rPr>
              <a:t>F</a:t>
            </a:r>
            <a:r>
              <a:rPr lang="es-ES" b="0" i="0" baseline="-25000" dirty="0" err="1">
                <a:solidFill>
                  <a:srgbClr val="333333"/>
                </a:solidFill>
                <a:effectLst/>
                <a:latin typeface="Verdana" panose="020B0604030504040204" pitchFamily="34" charset="0"/>
                <a:ea typeface="Verdana" panose="020B0604030504040204" pitchFamily="34" charset="0"/>
              </a:rPr>
              <a:t>ratio</a:t>
            </a:r>
            <a:r>
              <a:rPr lang="es-ES" b="0" i="0" dirty="0">
                <a:solidFill>
                  <a:srgbClr val="333333"/>
                </a:solidFill>
                <a:effectLst/>
                <a:latin typeface="Verdana" panose="020B0604030504040204" pitchFamily="34" charset="0"/>
                <a:ea typeface="Verdana" panose="020B0604030504040204" pitchFamily="34" charset="0"/>
              </a:rPr>
              <a:t>, es el ratio entre la varianza de las medias de los grupos y el promedio de la varianza dentro de los grupos. Este estadístico sigue una distribución conocida como “F de Fisher-Snedecor”. Si se cumple la hipótesis nula, el estadístico F adquiere el valor de 1 ya que la </a:t>
            </a:r>
            <a:r>
              <a:rPr lang="es-ES" b="0" i="0" dirty="0" err="1">
                <a:solidFill>
                  <a:srgbClr val="333333"/>
                </a:solidFill>
                <a:effectLst/>
                <a:latin typeface="Verdana" panose="020B0604030504040204" pitchFamily="34" charset="0"/>
                <a:ea typeface="Verdana" panose="020B0604030504040204" pitchFamily="34" charset="0"/>
              </a:rPr>
              <a:t>intervarianza</a:t>
            </a:r>
            <a:r>
              <a:rPr lang="es-ES" b="0" i="0" dirty="0">
                <a:solidFill>
                  <a:srgbClr val="333333"/>
                </a:solidFill>
                <a:effectLst/>
                <a:latin typeface="Verdana" panose="020B0604030504040204" pitchFamily="34" charset="0"/>
                <a:ea typeface="Verdana" panose="020B0604030504040204" pitchFamily="34" charset="0"/>
              </a:rPr>
              <a:t> será igual a la </a:t>
            </a:r>
            <a:r>
              <a:rPr lang="es-ES" b="0" i="0" dirty="0" err="1">
                <a:solidFill>
                  <a:srgbClr val="333333"/>
                </a:solidFill>
                <a:effectLst/>
                <a:latin typeface="Verdana" panose="020B0604030504040204" pitchFamily="34" charset="0"/>
                <a:ea typeface="Verdana" panose="020B0604030504040204" pitchFamily="34" charset="0"/>
              </a:rPr>
              <a:t>intravarianza</a:t>
            </a:r>
            <a:r>
              <a:rPr lang="es-ES" b="0" i="0" dirty="0">
                <a:solidFill>
                  <a:srgbClr val="333333"/>
                </a:solidFill>
                <a:effectLst/>
                <a:latin typeface="Verdana" panose="020B0604030504040204" pitchFamily="34" charset="0"/>
                <a:ea typeface="Verdana" panose="020B0604030504040204" pitchFamily="34" charset="0"/>
              </a:rPr>
              <a:t>. Cuanto más difieran las medias de los grupos mayor será la varianza entre medias en comparación al promedio de la varianza dentro de los grupos, obteniéndose valores de F superiores a 1 y por lo tanto menor la probabilidad de que la distribución adquiera valores tan extremos (menor el p-</a:t>
            </a:r>
            <a:r>
              <a:rPr lang="es-ES" b="0" i="0" dirty="0" err="1">
                <a:solidFill>
                  <a:srgbClr val="333333"/>
                </a:solidFill>
                <a:effectLst/>
                <a:latin typeface="Verdana" panose="020B0604030504040204" pitchFamily="34" charset="0"/>
                <a:ea typeface="Verdana" panose="020B0604030504040204" pitchFamily="34" charset="0"/>
              </a:rPr>
              <a:t>value</a:t>
            </a:r>
            <a:r>
              <a:rPr lang="es-ES" b="0" i="0" dirty="0">
                <a:solidFill>
                  <a:srgbClr val="333333"/>
                </a:solidFill>
                <a:effectLst/>
                <a:latin typeface="Verdana" panose="020B0604030504040204" pitchFamily="34" charset="0"/>
                <a:ea typeface="Verdana" panose="020B0604030504040204" pitchFamily="34" charset="0"/>
              </a:rPr>
              <a:t>).</a:t>
            </a:r>
          </a:p>
          <a:p>
            <a:pPr algn="just"/>
            <a:endParaRPr lang="es-ES" b="0" i="0" dirty="0">
              <a:solidFill>
                <a:srgbClr val="333333"/>
              </a:solidFill>
              <a:effectLst/>
              <a:latin typeface="Verdana" panose="020B0604030504040204" pitchFamily="34" charset="0"/>
              <a:ea typeface="Verdana" panose="020B0604030504040204" pitchFamily="34" charset="0"/>
            </a:endParaRPr>
          </a:p>
          <a:p>
            <a:pPr algn="just"/>
            <a:r>
              <a:rPr lang="es-ES" b="0" i="0" dirty="0">
                <a:solidFill>
                  <a:srgbClr val="333333"/>
                </a:solidFill>
                <a:effectLst/>
                <a:latin typeface="Verdana" panose="020B0604030504040204" pitchFamily="34" charset="0"/>
                <a:ea typeface="Verdana" panose="020B0604030504040204" pitchFamily="34" charset="0"/>
              </a:rPr>
              <a:t>En concreto, si S</a:t>
            </a:r>
            <a:r>
              <a:rPr lang="es-ES" b="0" i="0" baseline="30000" dirty="0">
                <a:solidFill>
                  <a:srgbClr val="333333"/>
                </a:solidFill>
                <a:effectLst/>
                <a:latin typeface="Verdana" panose="020B0604030504040204" pitchFamily="34" charset="0"/>
                <a:ea typeface="Verdana" panose="020B0604030504040204" pitchFamily="34" charset="0"/>
              </a:rPr>
              <a:t>2</a:t>
            </a:r>
            <a:r>
              <a:rPr lang="es-ES" b="0" i="0" baseline="-25000" dirty="0">
                <a:solidFill>
                  <a:srgbClr val="333333"/>
                </a:solidFill>
                <a:effectLst/>
                <a:latin typeface="Verdana" panose="020B0604030504040204" pitchFamily="34" charset="0"/>
                <a:ea typeface="Verdana" panose="020B0604030504040204" pitchFamily="34" charset="0"/>
              </a:rPr>
              <a:t>1</a:t>
            </a:r>
            <a:r>
              <a:rPr lang="es-ES" b="0" i="0" dirty="0">
                <a:solidFill>
                  <a:srgbClr val="333333"/>
                </a:solidFill>
                <a:effectLst/>
                <a:latin typeface="Verdana" panose="020B0604030504040204" pitchFamily="34" charset="0"/>
                <a:ea typeface="Verdana" panose="020B0604030504040204" pitchFamily="34" charset="0"/>
              </a:rPr>
              <a:t> es la </a:t>
            </a:r>
            <a:r>
              <a:rPr lang="es-ES" b="0" i="0" dirty="0" err="1">
                <a:solidFill>
                  <a:srgbClr val="333333"/>
                </a:solidFill>
                <a:effectLst/>
                <a:latin typeface="Verdana" panose="020B0604030504040204" pitchFamily="34" charset="0"/>
                <a:ea typeface="Verdana" panose="020B0604030504040204" pitchFamily="34" charset="0"/>
              </a:rPr>
              <a:t>la</a:t>
            </a:r>
            <a:r>
              <a:rPr lang="es-ES" b="0" i="0" dirty="0">
                <a:solidFill>
                  <a:srgbClr val="333333"/>
                </a:solidFill>
                <a:effectLst/>
                <a:latin typeface="Verdana" panose="020B0604030504040204" pitchFamily="34" charset="0"/>
                <a:ea typeface="Verdana" panose="020B0604030504040204" pitchFamily="34" charset="0"/>
              </a:rPr>
              <a:t> varianza de una muestra de tamaño N</a:t>
            </a:r>
            <a:r>
              <a:rPr lang="es-ES" b="0" i="0" baseline="-25000" dirty="0">
                <a:solidFill>
                  <a:srgbClr val="333333"/>
                </a:solidFill>
                <a:effectLst/>
                <a:latin typeface="Verdana" panose="020B0604030504040204" pitchFamily="34" charset="0"/>
                <a:ea typeface="Verdana" panose="020B0604030504040204" pitchFamily="34" charset="0"/>
              </a:rPr>
              <a:t>1</a:t>
            </a:r>
            <a:r>
              <a:rPr lang="es-ES" b="0" i="0" dirty="0">
                <a:solidFill>
                  <a:srgbClr val="333333"/>
                </a:solidFill>
                <a:effectLst/>
                <a:latin typeface="Verdana" panose="020B0604030504040204" pitchFamily="34" charset="0"/>
                <a:ea typeface="Verdana" panose="020B0604030504040204" pitchFamily="34" charset="0"/>
              </a:rPr>
              <a:t> extraída de una población normal de varianza σ</a:t>
            </a:r>
            <a:r>
              <a:rPr lang="es-ES" b="0" i="0" baseline="30000" dirty="0">
                <a:solidFill>
                  <a:srgbClr val="333333"/>
                </a:solidFill>
                <a:effectLst/>
                <a:latin typeface="Verdana" panose="020B0604030504040204" pitchFamily="34" charset="0"/>
                <a:ea typeface="Verdana" panose="020B0604030504040204" pitchFamily="34" charset="0"/>
              </a:rPr>
              <a:t>2</a:t>
            </a:r>
            <a:r>
              <a:rPr lang="es-ES" b="0" i="0" baseline="-25000" dirty="0">
                <a:solidFill>
                  <a:srgbClr val="333333"/>
                </a:solidFill>
                <a:effectLst/>
                <a:latin typeface="Verdana" panose="020B0604030504040204" pitchFamily="34" charset="0"/>
                <a:ea typeface="Verdana" panose="020B0604030504040204" pitchFamily="34" charset="0"/>
              </a:rPr>
              <a:t>1</a:t>
            </a:r>
            <a:r>
              <a:rPr lang="es-ES" b="0" i="0" dirty="0">
                <a:solidFill>
                  <a:srgbClr val="333333"/>
                </a:solidFill>
                <a:effectLst/>
                <a:latin typeface="Verdana" panose="020B0604030504040204" pitchFamily="34" charset="0"/>
                <a:ea typeface="Verdana" panose="020B0604030504040204" pitchFamily="34" charset="0"/>
              </a:rPr>
              <a:t> y S</a:t>
            </a:r>
            <a:r>
              <a:rPr lang="es-ES" b="0" i="0" baseline="30000" dirty="0">
                <a:solidFill>
                  <a:srgbClr val="333333"/>
                </a:solidFill>
                <a:effectLst/>
                <a:latin typeface="Verdana" panose="020B0604030504040204" pitchFamily="34" charset="0"/>
                <a:ea typeface="Verdana" panose="020B0604030504040204" pitchFamily="34" charset="0"/>
              </a:rPr>
              <a:t>2</a:t>
            </a:r>
            <a:r>
              <a:rPr lang="es-ES" b="0" i="0" baseline="-25000" dirty="0">
                <a:solidFill>
                  <a:srgbClr val="333333"/>
                </a:solidFill>
                <a:effectLst/>
                <a:latin typeface="Verdana" panose="020B0604030504040204" pitchFamily="34" charset="0"/>
                <a:ea typeface="Verdana" panose="020B0604030504040204" pitchFamily="34" charset="0"/>
              </a:rPr>
              <a:t>2</a:t>
            </a:r>
            <a:r>
              <a:rPr lang="es-ES" b="0" i="0" dirty="0">
                <a:solidFill>
                  <a:srgbClr val="333333"/>
                </a:solidFill>
                <a:effectLst/>
                <a:latin typeface="Verdana" panose="020B0604030504040204" pitchFamily="34" charset="0"/>
                <a:ea typeface="Verdana" panose="020B0604030504040204" pitchFamily="34" charset="0"/>
              </a:rPr>
              <a:t> es la varianza de una muestra de tamaño N</a:t>
            </a:r>
            <a:r>
              <a:rPr lang="es-ES" b="0" i="0" baseline="-25000" dirty="0">
                <a:solidFill>
                  <a:srgbClr val="333333"/>
                </a:solidFill>
                <a:effectLst/>
                <a:latin typeface="Verdana" panose="020B0604030504040204" pitchFamily="34" charset="0"/>
                <a:ea typeface="Verdana" panose="020B0604030504040204" pitchFamily="34" charset="0"/>
              </a:rPr>
              <a:t>2</a:t>
            </a:r>
            <a:r>
              <a:rPr lang="es-ES" b="0" i="0" dirty="0">
                <a:solidFill>
                  <a:srgbClr val="333333"/>
                </a:solidFill>
                <a:effectLst/>
                <a:latin typeface="Verdana" panose="020B0604030504040204" pitchFamily="34" charset="0"/>
                <a:ea typeface="Verdana" panose="020B0604030504040204" pitchFamily="34" charset="0"/>
              </a:rPr>
              <a:t> extraída de una población normal de varianza σ</a:t>
            </a:r>
            <a:r>
              <a:rPr lang="es-ES" b="0" i="0" baseline="30000" dirty="0">
                <a:solidFill>
                  <a:srgbClr val="333333"/>
                </a:solidFill>
                <a:effectLst/>
                <a:latin typeface="Verdana" panose="020B0604030504040204" pitchFamily="34" charset="0"/>
                <a:ea typeface="Verdana" panose="020B0604030504040204" pitchFamily="34" charset="0"/>
              </a:rPr>
              <a:t>2</a:t>
            </a:r>
            <a:r>
              <a:rPr lang="es-ES" b="0" i="0" baseline="-25000" dirty="0">
                <a:solidFill>
                  <a:srgbClr val="333333"/>
                </a:solidFill>
                <a:effectLst/>
                <a:latin typeface="Verdana" panose="020B0604030504040204" pitchFamily="34" charset="0"/>
                <a:ea typeface="Verdana" panose="020B0604030504040204" pitchFamily="34" charset="0"/>
              </a:rPr>
              <a:t>2</a:t>
            </a:r>
            <a:r>
              <a:rPr lang="es-ES" b="0" i="0" dirty="0">
                <a:solidFill>
                  <a:srgbClr val="333333"/>
                </a:solidFill>
                <a:effectLst/>
                <a:latin typeface="Verdana" panose="020B0604030504040204" pitchFamily="34" charset="0"/>
                <a:ea typeface="Verdana" panose="020B0604030504040204" pitchFamily="34" charset="0"/>
              </a:rPr>
              <a:t>, y ambas muestras son independientes, el cociente:</a:t>
            </a:r>
            <a:endParaRPr lang="es-NI" dirty="0"/>
          </a:p>
        </p:txBody>
      </p:sp>
      <p:pic>
        <p:nvPicPr>
          <p:cNvPr id="3" name="Imagen 2">
            <a:extLst>
              <a:ext uri="{FF2B5EF4-FFF2-40B4-BE49-F238E27FC236}">
                <a16:creationId xmlns:a16="http://schemas.microsoft.com/office/drawing/2014/main" id="{FD7ACCE3-5590-4E8C-A618-655D23FAA729}"/>
              </a:ext>
            </a:extLst>
          </p:cNvPr>
          <p:cNvPicPr>
            <a:picLocks noChangeAspect="1"/>
          </p:cNvPicPr>
          <p:nvPr/>
        </p:nvPicPr>
        <p:blipFill>
          <a:blip r:embed="rId2"/>
          <a:stretch>
            <a:fillRect/>
          </a:stretch>
        </p:blipFill>
        <p:spPr>
          <a:xfrm>
            <a:off x="4529193" y="4523096"/>
            <a:ext cx="2283513" cy="1461448"/>
          </a:xfrm>
          <a:prstGeom prst="rect">
            <a:avLst/>
          </a:prstGeom>
        </p:spPr>
      </p:pic>
    </p:spTree>
    <p:extLst>
      <p:ext uri="{BB962C8B-B14F-4D97-AF65-F5344CB8AC3E}">
        <p14:creationId xmlns:p14="http://schemas.microsoft.com/office/powerpoint/2010/main" val="3973906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EFC1C54-6D44-464D-B2C9-06EFF795534B}"/>
              </a:ext>
            </a:extLst>
          </p:cNvPr>
          <p:cNvSpPr/>
          <p:nvPr/>
        </p:nvSpPr>
        <p:spPr>
          <a:xfrm>
            <a:off x="5122976" y="0"/>
            <a:ext cx="1946047" cy="923330"/>
          </a:xfrm>
          <a:prstGeom prst="rect">
            <a:avLst/>
          </a:prstGeom>
          <a:noFill/>
        </p:spPr>
        <p:txBody>
          <a:bodyPr wrap="none" lIns="91440" tIns="45720" rIns="91440" bIns="45720">
            <a:spAutoFit/>
          </a:bodyPr>
          <a:lstStyle/>
          <a:p>
            <a:pPr algn="ctr"/>
            <a:r>
              <a:rPr lang="es-ES" sz="5400" b="0" cap="none" spc="0" dirty="0" err="1">
                <a:ln w="0"/>
                <a:solidFill>
                  <a:schemeClr val="tx1"/>
                </a:solidFill>
                <a:effectLst>
                  <a:outerShdw blurRad="38100" dist="19050" dir="2700000" algn="tl" rotWithShape="0">
                    <a:schemeClr val="dk1">
                      <a:alpha val="40000"/>
                    </a:schemeClr>
                  </a:outerShdw>
                </a:effectLst>
              </a:rPr>
              <a:t>Anova</a:t>
            </a:r>
            <a:endParaRPr lang="es-ES" sz="5400" b="0" cap="none" spc="0" dirty="0">
              <a:ln w="0"/>
              <a:solidFill>
                <a:schemeClr val="tx1"/>
              </a:solidFill>
              <a:effectLst>
                <a:outerShdw blurRad="38100" dist="19050" dir="2700000" algn="tl" rotWithShape="0">
                  <a:schemeClr val="dk1">
                    <a:alpha val="40000"/>
                  </a:schemeClr>
                </a:outerShdw>
              </a:effectLst>
            </a:endParaRPr>
          </a:p>
        </p:txBody>
      </p:sp>
      <p:sp>
        <p:nvSpPr>
          <p:cNvPr id="5" name="CuadroTexto 4">
            <a:extLst>
              <a:ext uri="{FF2B5EF4-FFF2-40B4-BE49-F238E27FC236}">
                <a16:creationId xmlns:a16="http://schemas.microsoft.com/office/drawing/2014/main" id="{5563EE2A-F9F3-496B-9C06-FDA7B10F09E4}"/>
              </a:ext>
            </a:extLst>
          </p:cNvPr>
          <p:cNvSpPr txBox="1"/>
          <p:nvPr/>
        </p:nvSpPr>
        <p:spPr>
          <a:xfrm>
            <a:off x="477672" y="873456"/>
            <a:ext cx="11313994" cy="3416320"/>
          </a:xfrm>
          <a:prstGeom prst="rect">
            <a:avLst/>
          </a:prstGeom>
          <a:noFill/>
        </p:spPr>
        <p:txBody>
          <a:bodyPr wrap="square" rtlCol="0">
            <a:spAutoFit/>
          </a:bodyPr>
          <a:lstStyle/>
          <a:p>
            <a:pPr algn="just"/>
            <a:r>
              <a:rPr lang="es-ES" b="0" i="0" dirty="0">
                <a:solidFill>
                  <a:srgbClr val="333333"/>
                </a:solidFill>
                <a:effectLst/>
                <a:latin typeface="Verdana" panose="020B0604030504040204" pitchFamily="34" charset="0"/>
                <a:ea typeface="Verdana" panose="020B0604030504040204" pitchFamily="34" charset="0"/>
              </a:rPr>
              <a:t>se distribuye como una variable F de Snedecor con (N1 y N2) grados de libertad. En el caso del ANOVA, dado que dos de las condiciones son la normalidad de los grupos y la homocedasticidad de varianza (σ</a:t>
            </a:r>
            <a:r>
              <a:rPr lang="es-ES" b="0" i="0" baseline="30000" dirty="0">
                <a:solidFill>
                  <a:srgbClr val="333333"/>
                </a:solidFill>
                <a:effectLst/>
                <a:latin typeface="Verdana" panose="020B0604030504040204" pitchFamily="34" charset="0"/>
                <a:ea typeface="Verdana" panose="020B0604030504040204" pitchFamily="34" charset="0"/>
              </a:rPr>
              <a:t>2</a:t>
            </a:r>
            <a:r>
              <a:rPr lang="es-ES" b="0" i="0" baseline="-25000" dirty="0">
                <a:solidFill>
                  <a:srgbClr val="333333"/>
                </a:solidFill>
                <a:effectLst/>
                <a:latin typeface="Verdana" panose="020B0604030504040204" pitchFamily="34" charset="0"/>
                <a:ea typeface="Verdana" panose="020B0604030504040204" pitchFamily="34" charset="0"/>
              </a:rPr>
              <a:t>1</a:t>
            </a:r>
            <a:r>
              <a:rPr lang="es-ES" b="0" i="0" dirty="0">
                <a:solidFill>
                  <a:srgbClr val="333333"/>
                </a:solidFill>
                <a:effectLst/>
                <a:latin typeface="Verdana" panose="020B0604030504040204" pitchFamily="34" charset="0"/>
                <a:ea typeface="Verdana" panose="020B0604030504040204" pitchFamily="34" charset="0"/>
              </a:rPr>
              <a:t> = σ</a:t>
            </a:r>
            <a:r>
              <a:rPr lang="es-ES" b="0" i="0" baseline="30000" dirty="0">
                <a:solidFill>
                  <a:srgbClr val="333333"/>
                </a:solidFill>
                <a:effectLst/>
                <a:latin typeface="Verdana" panose="020B0604030504040204" pitchFamily="34" charset="0"/>
                <a:ea typeface="Verdana" panose="020B0604030504040204" pitchFamily="34" charset="0"/>
              </a:rPr>
              <a:t>2</a:t>
            </a:r>
            <a:r>
              <a:rPr lang="es-ES" b="0" i="0" baseline="-25000" dirty="0">
                <a:solidFill>
                  <a:srgbClr val="333333"/>
                </a:solidFill>
                <a:effectLst/>
                <a:latin typeface="Verdana" panose="020B0604030504040204" pitchFamily="34" charset="0"/>
                <a:ea typeface="Verdana" panose="020B0604030504040204" pitchFamily="34" charset="0"/>
              </a:rPr>
              <a:t>1</a:t>
            </a:r>
            <a:r>
              <a:rPr lang="es-ES" b="0" i="0" dirty="0">
                <a:solidFill>
                  <a:srgbClr val="333333"/>
                </a:solidFill>
                <a:effectLst/>
                <a:latin typeface="Verdana" panose="020B0604030504040204" pitchFamily="34" charset="0"/>
                <a:ea typeface="Verdana" panose="020B0604030504040204" pitchFamily="34" charset="0"/>
              </a:rPr>
              <a:t>), el valor F se puede obtener dividiendo las dos varianzas calculadas a partir de las muestras (</a:t>
            </a:r>
            <a:r>
              <a:rPr lang="es-ES" b="0" i="0" dirty="0" err="1">
                <a:solidFill>
                  <a:srgbClr val="333333"/>
                </a:solidFill>
                <a:effectLst/>
                <a:latin typeface="Verdana" panose="020B0604030504040204" pitchFamily="34" charset="0"/>
                <a:ea typeface="Verdana" panose="020B0604030504040204" pitchFamily="34" charset="0"/>
              </a:rPr>
              <a:t>intervariaza</a:t>
            </a:r>
            <a:r>
              <a:rPr lang="es-ES" b="0" i="0" dirty="0">
                <a:solidFill>
                  <a:srgbClr val="333333"/>
                </a:solidFill>
                <a:effectLst/>
                <a:latin typeface="Verdana" panose="020B0604030504040204" pitchFamily="34" charset="0"/>
                <a:ea typeface="Verdana" panose="020B0604030504040204" pitchFamily="34" charset="0"/>
              </a:rPr>
              <a:t> y </a:t>
            </a:r>
            <a:r>
              <a:rPr lang="es-ES" b="0" i="0" dirty="0" err="1">
                <a:solidFill>
                  <a:srgbClr val="333333"/>
                </a:solidFill>
                <a:effectLst/>
                <a:latin typeface="Verdana" panose="020B0604030504040204" pitchFamily="34" charset="0"/>
                <a:ea typeface="Verdana" panose="020B0604030504040204" pitchFamily="34" charset="0"/>
              </a:rPr>
              <a:t>intravarianza</a:t>
            </a:r>
            <a:r>
              <a:rPr lang="es-ES" b="0" i="0" dirty="0">
                <a:solidFill>
                  <a:srgbClr val="333333"/>
                </a:solidFill>
                <a:effectLst/>
                <a:latin typeface="Verdana" panose="020B0604030504040204" pitchFamily="34" charset="0"/>
                <a:ea typeface="Verdana" panose="020B0604030504040204" pitchFamily="34" charset="0"/>
              </a:rPr>
              <a:t>).</a:t>
            </a:r>
          </a:p>
          <a:p>
            <a:pPr algn="just"/>
            <a:endParaRPr lang="es-ES" b="0" i="0" dirty="0">
              <a:solidFill>
                <a:srgbClr val="333333"/>
              </a:solidFill>
              <a:effectLst/>
              <a:latin typeface="Verdana" panose="020B0604030504040204" pitchFamily="34" charset="0"/>
              <a:ea typeface="Verdana" panose="020B0604030504040204" pitchFamily="34" charset="0"/>
            </a:endParaRPr>
          </a:p>
          <a:p>
            <a:pPr algn="just"/>
            <a:r>
              <a:rPr lang="es-ES" b="0" i="0" dirty="0">
                <a:solidFill>
                  <a:srgbClr val="333333"/>
                </a:solidFill>
                <a:effectLst/>
                <a:latin typeface="Verdana" panose="020B0604030504040204" pitchFamily="34" charset="0"/>
                <a:ea typeface="Verdana" panose="020B0604030504040204" pitchFamily="34" charset="0"/>
              </a:rPr>
              <a:t>Existen diferentes tipos de ANOVA dependiendo de la si se trata de datos independientes (ANOVA entre sujetos), si son pareados (ANOVA de mediciones repetidas), si comparan la variable cuantitativa dependiente contra los niveles de una única variable </a:t>
            </a:r>
            <a:r>
              <a:rPr lang="es-ES" b="0" i="0" dirty="0" err="1">
                <a:solidFill>
                  <a:srgbClr val="333333"/>
                </a:solidFill>
                <a:effectLst/>
                <a:latin typeface="Verdana" panose="020B0604030504040204" pitchFamily="34" charset="0"/>
                <a:ea typeface="Verdana" panose="020B0604030504040204" pitchFamily="34" charset="0"/>
              </a:rPr>
              <a:t>explicatoria</a:t>
            </a:r>
            <a:r>
              <a:rPr lang="es-ES" b="0" i="0" dirty="0">
                <a:solidFill>
                  <a:srgbClr val="333333"/>
                </a:solidFill>
                <a:effectLst/>
                <a:latin typeface="Verdana" panose="020B0604030504040204" pitchFamily="34" charset="0"/>
                <a:ea typeface="Verdana" panose="020B0604030504040204" pitchFamily="34" charset="0"/>
              </a:rPr>
              <a:t> o factor (ANOVA de una vía) o frente a dos factores (ANOVA de dos vías). Este último puede ser a su vez aditivo o de interacción (los factores son independientes o no lo son). Cada uno de estos tipos de ANOVA tiene una serie de requerimientos.</a:t>
            </a:r>
          </a:p>
          <a:p>
            <a:endParaRPr lang="es-NI" dirty="0"/>
          </a:p>
        </p:txBody>
      </p:sp>
    </p:spTree>
    <p:extLst>
      <p:ext uri="{BB962C8B-B14F-4D97-AF65-F5344CB8AC3E}">
        <p14:creationId xmlns:p14="http://schemas.microsoft.com/office/powerpoint/2010/main" val="992571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EFC1C54-6D44-464D-B2C9-06EFF795534B}"/>
              </a:ext>
            </a:extLst>
          </p:cNvPr>
          <p:cNvSpPr/>
          <p:nvPr/>
        </p:nvSpPr>
        <p:spPr>
          <a:xfrm>
            <a:off x="3452904" y="0"/>
            <a:ext cx="5286191" cy="923330"/>
          </a:xfrm>
          <a:prstGeom prst="rect">
            <a:avLst/>
          </a:prstGeom>
          <a:noFill/>
        </p:spPr>
        <p:txBody>
          <a:bodyPr wrap="none" lIns="91440" tIns="45720" rIns="91440" bIns="45720">
            <a:spAutoFit/>
          </a:bodyPr>
          <a:lstStyle/>
          <a:p>
            <a:pPr algn="ctr"/>
            <a:r>
              <a:rPr lang="es-ES" sz="5400" b="0" cap="none" spc="0">
                <a:ln w="0"/>
                <a:solidFill>
                  <a:schemeClr val="tx1"/>
                </a:solidFill>
                <a:effectLst>
                  <a:outerShdw blurRad="38100" dist="19050" dir="2700000" algn="tl" rotWithShape="0">
                    <a:schemeClr val="dk1">
                      <a:alpha val="40000"/>
                    </a:schemeClr>
                  </a:outerShdw>
                </a:effectLst>
              </a:rPr>
              <a:t>ANOVA de una vía</a:t>
            </a:r>
            <a:endParaRPr lang="es-ES" sz="5400" b="0" cap="none" spc="0" dirty="0">
              <a:ln w="0"/>
              <a:solidFill>
                <a:schemeClr val="tx1"/>
              </a:solidFill>
              <a:effectLst>
                <a:outerShdw blurRad="38100" dist="19050" dir="2700000" algn="tl" rotWithShape="0">
                  <a:schemeClr val="dk1">
                    <a:alpha val="40000"/>
                  </a:schemeClr>
                </a:outerShdw>
              </a:effectLst>
            </a:endParaRPr>
          </a:p>
        </p:txBody>
      </p:sp>
      <p:sp>
        <p:nvSpPr>
          <p:cNvPr id="5" name="CuadroTexto 4">
            <a:extLst>
              <a:ext uri="{FF2B5EF4-FFF2-40B4-BE49-F238E27FC236}">
                <a16:creationId xmlns:a16="http://schemas.microsoft.com/office/drawing/2014/main" id="{5563EE2A-F9F3-496B-9C06-FDA7B10F09E4}"/>
              </a:ext>
            </a:extLst>
          </p:cNvPr>
          <p:cNvSpPr txBox="1"/>
          <p:nvPr/>
        </p:nvSpPr>
        <p:spPr>
          <a:xfrm>
            <a:off x="477672" y="873456"/>
            <a:ext cx="11313994" cy="4247317"/>
          </a:xfrm>
          <a:prstGeom prst="rect">
            <a:avLst/>
          </a:prstGeom>
          <a:noFill/>
        </p:spPr>
        <p:txBody>
          <a:bodyPr wrap="square" rtlCol="0">
            <a:spAutoFit/>
          </a:bodyPr>
          <a:lstStyle/>
          <a:p>
            <a:pPr algn="just"/>
            <a:r>
              <a:rPr lang="es-ES" b="0" i="0" dirty="0">
                <a:solidFill>
                  <a:srgbClr val="333333"/>
                </a:solidFill>
                <a:effectLst/>
                <a:latin typeface="Verdana" panose="020B0604030504040204" pitchFamily="34" charset="0"/>
                <a:ea typeface="Verdana" panose="020B0604030504040204" pitchFamily="34" charset="0"/>
              </a:rPr>
              <a:t>El ANOVA de una vía, ANOVA con un factor o modelo factorial de un solo factor es el tipo de análisis que se emplea cuando los datos no están pareados y se quiere estudiar si existen diferencias significativas entre las medias de una variable aleatoria continua en los diferentes niveles de otra variable cualitativa o factor. Es una extensión de los t-test independientes para más de dos grupos.</a:t>
            </a:r>
          </a:p>
          <a:p>
            <a:pPr algn="just"/>
            <a:endParaRPr lang="es-ES" b="0" i="0" dirty="0">
              <a:solidFill>
                <a:srgbClr val="333333"/>
              </a:solidFill>
              <a:effectLst/>
              <a:latin typeface="Verdana" panose="020B0604030504040204" pitchFamily="34" charset="0"/>
              <a:ea typeface="Verdana" panose="020B0604030504040204" pitchFamily="34" charset="0"/>
            </a:endParaRPr>
          </a:p>
          <a:p>
            <a:pPr algn="just"/>
            <a:r>
              <a:rPr lang="es-ES" b="0" i="0" dirty="0">
                <a:solidFill>
                  <a:srgbClr val="333333"/>
                </a:solidFill>
                <a:effectLst/>
                <a:latin typeface="Verdana" panose="020B0604030504040204" pitchFamily="34" charset="0"/>
                <a:ea typeface="Verdana" panose="020B0604030504040204" pitchFamily="34" charset="0"/>
              </a:rPr>
              <a:t>Las hipótesis contrastadas en un ANOVA de un factor son:</a:t>
            </a:r>
          </a:p>
          <a:p>
            <a:pPr algn="just"/>
            <a:endParaRPr lang="es-ES" b="0" i="0" dirty="0">
              <a:solidFill>
                <a:srgbClr val="333333"/>
              </a:solidFill>
              <a:effectLst/>
              <a:latin typeface="Verdana" panose="020B0604030504040204" pitchFamily="34" charset="0"/>
              <a:ea typeface="Verdana" panose="020B0604030504040204" pitchFamily="34" charset="0"/>
            </a:endParaRPr>
          </a:p>
          <a:p>
            <a:pPr marL="627063" indent="-285750" algn="just">
              <a:buFont typeface="Arial" panose="020B0604020202020204" pitchFamily="34" charset="0"/>
              <a:buChar char="•"/>
            </a:pPr>
            <a:r>
              <a:rPr lang="es-ES" b="0" i="0" dirty="0">
                <a:solidFill>
                  <a:srgbClr val="333333"/>
                </a:solidFill>
                <a:effectLst/>
                <a:latin typeface="Verdana" panose="020B0604030504040204" pitchFamily="34" charset="0"/>
                <a:ea typeface="Verdana" panose="020B0604030504040204" pitchFamily="34" charset="0"/>
              </a:rPr>
              <a:t>H</a:t>
            </a:r>
            <a:r>
              <a:rPr lang="es-ES" b="0" i="0" baseline="-25000" dirty="0">
                <a:solidFill>
                  <a:srgbClr val="333333"/>
                </a:solidFill>
                <a:effectLst/>
                <a:latin typeface="Verdana" panose="020B0604030504040204" pitchFamily="34" charset="0"/>
                <a:ea typeface="Verdana" panose="020B0604030504040204" pitchFamily="34" charset="0"/>
              </a:rPr>
              <a:t>0</a:t>
            </a:r>
            <a:r>
              <a:rPr lang="es-ES" b="0" i="0" dirty="0">
                <a:solidFill>
                  <a:srgbClr val="333333"/>
                </a:solidFill>
                <a:effectLst/>
                <a:latin typeface="Verdana" panose="020B0604030504040204" pitchFamily="34" charset="0"/>
                <a:ea typeface="Verdana" panose="020B0604030504040204" pitchFamily="34" charset="0"/>
              </a:rPr>
              <a:t>: No hay diferencias entre las medias de los diferentes grupos : μ</a:t>
            </a:r>
            <a:r>
              <a:rPr lang="es-ES" b="0" i="0" baseline="-25000" dirty="0">
                <a:solidFill>
                  <a:srgbClr val="333333"/>
                </a:solidFill>
                <a:effectLst/>
                <a:latin typeface="Verdana" panose="020B0604030504040204" pitchFamily="34" charset="0"/>
                <a:ea typeface="Verdana" panose="020B0604030504040204" pitchFamily="34" charset="0"/>
              </a:rPr>
              <a:t>1</a:t>
            </a:r>
            <a:r>
              <a:rPr lang="es-ES" b="0" i="0" dirty="0">
                <a:solidFill>
                  <a:srgbClr val="333333"/>
                </a:solidFill>
                <a:effectLst/>
                <a:latin typeface="Verdana" panose="020B0604030504040204" pitchFamily="34" charset="0"/>
                <a:ea typeface="Verdana" panose="020B0604030504040204" pitchFamily="34" charset="0"/>
              </a:rPr>
              <a:t>=μ</a:t>
            </a:r>
            <a:r>
              <a:rPr lang="es-ES" b="0" i="0" baseline="-25000" dirty="0">
                <a:solidFill>
                  <a:srgbClr val="333333"/>
                </a:solidFill>
                <a:effectLst/>
                <a:latin typeface="Verdana" panose="020B0604030504040204" pitchFamily="34" charset="0"/>
                <a:ea typeface="Verdana" panose="020B0604030504040204" pitchFamily="34" charset="0"/>
              </a:rPr>
              <a:t>2</a:t>
            </a:r>
            <a:r>
              <a:rPr lang="es-ES" b="0" i="0" dirty="0">
                <a:solidFill>
                  <a:srgbClr val="333333"/>
                </a:solidFill>
                <a:effectLst/>
                <a:latin typeface="Verdana" panose="020B0604030504040204" pitchFamily="34" charset="0"/>
                <a:ea typeface="Verdana" panose="020B0604030504040204" pitchFamily="34" charset="0"/>
              </a:rPr>
              <a:t>...=</a:t>
            </a:r>
            <a:r>
              <a:rPr lang="es-ES" b="0" i="0" dirty="0" err="1">
                <a:solidFill>
                  <a:srgbClr val="333333"/>
                </a:solidFill>
                <a:effectLst/>
                <a:latin typeface="Verdana" panose="020B0604030504040204" pitchFamily="34" charset="0"/>
                <a:ea typeface="Verdana" panose="020B0604030504040204" pitchFamily="34" charset="0"/>
              </a:rPr>
              <a:t>μ</a:t>
            </a:r>
            <a:r>
              <a:rPr lang="es-ES" b="0" i="0" baseline="-25000" dirty="0" err="1">
                <a:solidFill>
                  <a:srgbClr val="333333"/>
                </a:solidFill>
                <a:effectLst/>
                <a:latin typeface="Verdana" panose="020B0604030504040204" pitchFamily="34" charset="0"/>
                <a:ea typeface="Verdana" panose="020B0604030504040204" pitchFamily="34" charset="0"/>
              </a:rPr>
              <a:t>k</a:t>
            </a:r>
            <a:r>
              <a:rPr lang="es-ES" b="0" i="0" dirty="0">
                <a:solidFill>
                  <a:srgbClr val="333333"/>
                </a:solidFill>
                <a:effectLst/>
                <a:latin typeface="Verdana" panose="020B0604030504040204" pitchFamily="34" charset="0"/>
                <a:ea typeface="Verdana" panose="020B0604030504040204" pitchFamily="34" charset="0"/>
              </a:rPr>
              <a:t>=μ</a:t>
            </a:r>
          </a:p>
          <a:p>
            <a:pPr marL="627063" indent="-285750" algn="just">
              <a:buFont typeface="Arial" panose="020B0604020202020204" pitchFamily="34" charset="0"/>
              <a:buChar char="•"/>
            </a:pPr>
            <a:r>
              <a:rPr lang="es-ES" b="0" i="0" dirty="0">
                <a:solidFill>
                  <a:srgbClr val="333333"/>
                </a:solidFill>
                <a:effectLst/>
                <a:latin typeface="Verdana" panose="020B0604030504040204" pitchFamily="34" charset="0"/>
                <a:ea typeface="Verdana" panose="020B0604030504040204" pitchFamily="34" charset="0"/>
              </a:rPr>
              <a:t>H</a:t>
            </a:r>
            <a:r>
              <a:rPr lang="es-ES" b="0" i="0" baseline="-25000" dirty="0">
                <a:solidFill>
                  <a:srgbClr val="333333"/>
                </a:solidFill>
                <a:effectLst/>
                <a:latin typeface="Verdana" panose="020B0604030504040204" pitchFamily="34" charset="0"/>
                <a:ea typeface="Verdana" panose="020B0604030504040204" pitchFamily="34" charset="0"/>
              </a:rPr>
              <a:t>1</a:t>
            </a:r>
            <a:r>
              <a:rPr lang="es-ES" b="0" i="0" dirty="0">
                <a:solidFill>
                  <a:srgbClr val="333333"/>
                </a:solidFill>
                <a:effectLst/>
                <a:latin typeface="Verdana" panose="020B0604030504040204" pitchFamily="34" charset="0"/>
                <a:ea typeface="Verdana" panose="020B0604030504040204" pitchFamily="34" charset="0"/>
              </a:rPr>
              <a:t>: Al menos un par de medias son significativamente distintas la una de la otra.</a:t>
            </a:r>
          </a:p>
          <a:p>
            <a:pPr algn="just"/>
            <a:endParaRPr lang="es-ES" b="0" i="0" dirty="0">
              <a:solidFill>
                <a:srgbClr val="333333"/>
              </a:solidFill>
              <a:effectLst/>
              <a:latin typeface="Verdana" panose="020B0604030504040204" pitchFamily="34" charset="0"/>
              <a:ea typeface="Verdana" panose="020B0604030504040204" pitchFamily="34" charset="0"/>
            </a:endParaRPr>
          </a:p>
          <a:p>
            <a:pPr algn="just"/>
            <a:r>
              <a:rPr lang="es-ES" b="0" i="0" dirty="0">
                <a:solidFill>
                  <a:srgbClr val="333333"/>
                </a:solidFill>
                <a:effectLst/>
                <a:latin typeface="Verdana" panose="020B0604030504040204" pitchFamily="34" charset="0"/>
                <a:ea typeface="Verdana" panose="020B0604030504040204" pitchFamily="34" charset="0"/>
              </a:rPr>
              <a:t>Otra forma de plantear las hipótesis de un ANOVA es la siguiente. Si se considera μ como el valor esperado para una observación cualquiera de la población (la media de todas las observaciones sin tener en cuenta los diferentes niveles), y α</a:t>
            </a:r>
            <a:r>
              <a:rPr lang="es-ES" b="0" i="0" baseline="-25000" dirty="0">
                <a:solidFill>
                  <a:srgbClr val="333333"/>
                </a:solidFill>
                <a:effectLst/>
                <a:latin typeface="Verdana" panose="020B0604030504040204" pitchFamily="34" charset="0"/>
                <a:ea typeface="Verdana" panose="020B0604030504040204" pitchFamily="34" charset="0"/>
              </a:rPr>
              <a:t>i</a:t>
            </a:r>
            <a:r>
              <a:rPr lang="es-ES" b="0" i="0" dirty="0">
                <a:solidFill>
                  <a:srgbClr val="333333"/>
                </a:solidFill>
                <a:effectLst/>
                <a:latin typeface="Verdana" panose="020B0604030504040204" pitchFamily="34" charset="0"/>
                <a:ea typeface="Verdana" panose="020B0604030504040204" pitchFamily="34" charset="0"/>
              </a:rPr>
              <a:t> el efecto introducido por el nivel i. La media de un determinado nivel (</a:t>
            </a:r>
            <a:r>
              <a:rPr lang="es-ES" b="0" i="0" dirty="0" err="1">
                <a:solidFill>
                  <a:srgbClr val="333333"/>
                </a:solidFill>
                <a:effectLst/>
                <a:latin typeface="Verdana" panose="020B0604030504040204" pitchFamily="34" charset="0"/>
                <a:ea typeface="Verdana" panose="020B0604030504040204" pitchFamily="34" charset="0"/>
              </a:rPr>
              <a:t>μ</a:t>
            </a:r>
            <a:r>
              <a:rPr lang="es-ES" b="0" i="0" baseline="-25000" dirty="0" err="1">
                <a:solidFill>
                  <a:srgbClr val="333333"/>
                </a:solidFill>
                <a:effectLst/>
                <a:latin typeface="Verdana" panose="020B0604030504040204" pitchFamily="34" charset="0"/>
                <a:ea typeface="Verdana" panose="020B0604030504040204" pitchFamily="34" charset="0"/>
              </a:rPr>
              <a:t>i</a:t>
            </a:r>
            <a:r>
              <a:rPr lang="es-ES" b="0" i="0" dirty="0">
                <a:solidFill>
                  <a:srgbClr val="333333"/>
                </a:solidFill>
                <a:effectLst/>
                <a:latin typeface="Verdana" panose="020B0604030504040204" pitchFamily="34" charset="0"/>
                <a:ea typeface="Verdana" panose="020B0604030504040204" pitchFamily="34" charset="0"/>
              </a:rPr>
              <a:t>) se puede definir como:</a:t>
            </a:r>
            <a:endParaRPr lang="es-NI" dirty="0"/>
          </a:p>
        </p:txBody>
      </p:sp>
      <p:pic>
        <p:nvPicPr>
          <p:cNvPr id="3" name="Imagen 2">
            <a:extLst>
              <a:ext uri="{FF2B5EF4-FFF2-40B4-BE49-F238E27FC236}">
                <a16:creationId xmlns:a16="http://schemas.microsoft.com/office/drawing/2014/main" id="{FDFCAF33-F033-4338-A46F-24767C37D81B}"/>
              </a:ext>
            </a:extLst>
          </p:cNvPr>
          <p:cNvPicPr>
            <a:picLocks noChangeAspect="1"/>
          </p:cNvPicPr>
          <p:nvPr/>
        </p:nvPicPr>
        <p:blipFill>
          <a:blip r:embed="rId2"/>
          <a:stretch>
            <a:fillRect/>
          </a:stretch>
        </p:blipFill>
        <p:spPr>
          <a:xfrm>
            <a:off x="4928544" y="5345516"/>
            <a:ext cx="2334910" cy="639028"/>
          </a:xfrm>
          <a:prstGeom prst="rect">
            <a:avLst/>
          </a:prstGeom>
        </p:spPr>
      </p:pic>
    </p:spTree>
    <p:extLst>
      <p:ext uri="{BB962C8B-B14F-4D97-AF65-F5344CB8AC3E}">
        <p14:creationId xmlns:p14="http://schemas.microsoft.com/office/powerpoint/2010/main" val="3826066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EFC1C54-6D44-464D-B2C9-06EFF795534B}"/>
              </a:ext>
            </a:extLst>
          </p:cNvPr>
          <p:cNvSpPr/>
          <p:nvPr/>
        </p:nvSpPr>
        <p:spPr>
          <a:xfrm>
            <a:off x="3452904" y="0"/>
            <a:ext cx="5286191" cy="923330"/>
          </a:xfrm>
          <a:prstGeom prst="rect">
            <a:avLst/>
          </a:prstGeom>
          <a:noFill/>
        </p:spPr>
        <p:txBody>
          <a:bodyPr wrap="none" lIns="91440" tIns="45720" rIns="91440" bIns="45720">
            <a:spAutoFit/>
          </a:bodyPr>
          <a:lstStyle/>
          <a:p>
            <a:pPr algn="ctr"/>
            <a:r>
              <a:rPr lang="es-ES" sz="5400" b="0" cap="none" spc="0">
                <a:ln w="0"/>
                <a:solidFill>
                  <a:schemeClr val="tx1"/>
                </a:solidFill>
                <a:effectLst>
                  <a:outerShdw blurRad="38100" dist="19050" dir="2700000" algn="tl" rotWithShape="0">
                    <a:schemeClr val="dk1">
                      <a:alpha val="40000"/>
                    </a:schemeClr>
                  </a:outerShdw>
                </a:effectLst>
              </a:rPr>
              <a:t>ANOVA de una vía</a:t>
            </a:r>
            <a:endParaRPr lang="es-ES" sz="5400" b="0" cap="none" spc="0" dirty="0">
              <a:ln w="0"/>
              <a:solidFill>
                <a:schemeClr val="tx1"/>
              </a:solidFill>
              <a:effectLst>
                <a:outerShdw blurRad="38100" dist="19050" dir="2700000" algn="tl" rotWithShape="0">
                  <a:schemeClr val="dk1">
                    <a:alpha val="40000"/>
                  </a:schemeClr>
                </a:outerShdw>
              </a:effectLst>
            </a:endParaRPr>
          </a:p>
        </p:txBody>
      </p:sp>
      <p:sp>
        <p:nvSpPr>
          <p:cNvPr id="5" name="CuadroTexto 4">
            <a:extLst>
              <a:ext uri="{FF2B5EF4-FFF2-40B4-BE49-F238E27FC236}">
                <a16:creationId xmlns:a16="http://schemas.microsoft.com/office/drawing/2014/main" id="{5563EE2A-F9F3-496B-9C06-FDA7B10F09E4}"/>
              </a:ext>
            </a:extLst>
          </p:cNvPr>
          <p:cNvSpPr txBox="1"/>
          <p:nvPr/>
        </p:nvSpPr>
        <p:spPr>
          <a:xfrm>
            <a:off x="477672" y="873456"/>
            <a:ext cx="11313994" cy="4801314"/>
          </a:xfrm>
          <a:prstGeom prst="rect">
            <a:avLst/>
          </a:prstGeom>
          <a:noFill/>
        </p:spPr>
        <p:txBody>
          <a:bodyPr wrap="square" rtlCol="0">
            <a:spAutoFit/>
          </a:bodyPr>
          <a:lstStyle/>
          <a:p>
            <a:pPr marL="627063" indent="-285750" algn="just">
              <a:buFont typeface="Arial" panose="020B0604020202020204" pitchFamily="34" charset="0"/>
              <a:buChar char="•"/>
            </a:pPr>
            <a:r>
              <a:rPr lang="es-ES" b="0" i="0" dirty="0">
                <a:solidFill>
                  <a:srgbClr val="333333"/>
                </a:solidFill>
                <a:effectLst/>
                <a:latin typeface="Verdana" panose="020B0604030504040204" pitchFamily="34" charset="0"/>
                <a:ea typeface="Verdana" panose="020B0604030504040204" pitchFamily="34" charset="0"/>
              </a:rPr>
              <a:t>H</a:t>
            </a:r>
            <a:r>
              <a:rPr lang="es-ES" b="0" i="0" baseline="-25000" dirty="0">
                <a:solidFill>
                  <a:srgbClr val="333333"/>
                </a:solidFill>
                <a:effectLst/>
                <a:latin typeface="Verdana" panose="020B0604030504040204" pitchFamily="34" charset="0"/>
                <a:ea typeface="Verdana" panose="020B0604030504040204" pitchFamily="34" charset="0"/>
              </a:rPr>
              <a:t>0</a:t>
            </a:r>
            <a:r>
              <a:rPr lang="es-ES" b="0" i="0" dirty="0">
                <a:solidFill>
                  <a:srgbClr val="333333"/>
                </a:solidFill>
                <a:effectLst/>
                <a:latin typeface="Verdana" panose="020B0604030504040204" pitchFamily="34" charset="0"/>
                <a:ea typeface="Verdana" panose="020B0604030504040204" pitchFamily="34" charset="0"/>
              </a:rPr>
              <a:t>: Ningún nivel introduce un efecto sobre la media total: α</a:t>
            </a:r>
            <a:r>
              <a:rPr lang="es-ES" b="0" i="0" baseline="-25000" dirty="0">
                <a:solidFill>
                  <a:srgbClr val="333333"/>
                </a:solidFill>
                <a:effectLst/>
                <a:latin typeface="Verdana" panose="020B0604030504040204" pitchFamily="34" charset="0"/>
                <a:ea typeface="Verdana" panose="020B0604030504040204" pitchFamily="34" charset="0"/>
              </a:rPr>
              <a:t>1</a:t>
            </a:r>
            <a:r>
              <a:rPr lang="es-ES" b="0" i="0" dirty="0">
                <a:solidFill>
                  <a:srgbClr val="333333"/>
                </a:solidFill>
                <a:effectLst/>
                <a:latin typeface="Verdana" panose="020B0604030504040204" pitchFamily="34" charset="0"/>
                <a:ea typeface="Verdana" panose="020B0604030504040204" pitchFamily="34" charset="0"/>
              </a:rPr>
              <a:t>=α</a:t>
            </a:r>
            <a:r>
              <a:rPr lang="es-ES" b="0" i="0" baseline="-25000" dirty="0">
                <a:solidFill>
                  <a:srgbClr val="333333"/>
                </a:solidFill>
                <a:effectLst/>
                <a:latin typeface="Verdana" panose="020B0604030504040204" pitchFamily="34" charset="0"/>
                <a:ea typeface="Verdana" panose="020B0604030504040204" pitchFamily="34" charset="0"/>
              </a:rPr>
              <a:t>2</a:t>
            </a:r>
            <a:r>
              <a:rPr lang="es-ES" b="0" i="0" dirty="0">
                <a:solidFill>
                  <a:srgbClr val="333333"/>
                </a:solidFill>
                <a:effectLst/>
                <a:latin typeface="Verdana" panose="020B0604030504040204" pitchFamily="34" charset="0"/>
                <a:ea typeface="Verdana" panose="020B0604030504040204" pitchFamily="34" charset="0"/>
              </a:rPr>
              <a:t>=...α</a:t>
            </a:r>
            <a:r>
              <a:rPr lang="es-ES" b="0" i="0" baseline="-25000" dirty="0">
                <a:solidFill>
                  <a:srgbClr val="333333"/>
                </a:solidFill>
                <a:effectLst/>
                <a:latin typeface="Verdana" panose="020B0604030504040204" pitchFamily="34" charset="0"/>
                <a:ea typeface="Verdana" panose="020B0604030504040204" pitchFamily="34" charset="0"/>
              </a:rPr>
              <a:t>k</a:t>
            </a:r>
            <a:r>
              <a:rPr lang="es-ES" b="0" i="0" dirty="0">
                <a:solidFill>
                  <a:srgbClr val="333333"/>
                </a:solidFill>
                <a:effectLst/>
                <a:latin typeface="Verdana" panose="020B0604030504040204" pitchFamily="34" charset="0"/>
                <a:ea typeface="Verdana" panose="020B0604030504040204" pitchFamily="34" charset="0"/>
              </a:rPr>
              <a:t>=0</a:t>
            </a:r>
          </a:p>
          <a:p>
            <a:pPr marL="627063" indent="-285750" algn="just">
              <a:buFont typeface="Arial" panose="020B0604020202020204" pitchFamily="34" charset="0"/>
              <a:buChar char="•"/>
            </a:pPr>
            <a:r>
              <a:rPr lang="es-ES" b="0" i="0" dirty="0">
                <a:solidFill>
                  <a:srgbClr val="333333"/>
                </a:solidFill>
                <a:effectLst/>
                <a:latin typeface="Verdana" panose="020B0604030504040204" pitchFamily="34" charset="0"/>
                <a:ea typeface="Verdana" panose="020B0604030504040204" pitchFamily="34" charset="0"/>
              </a:rPr>
              <a:t>H</a:t>
            </a:r>
            <a:r>
              <a:rPr lang="es-ES" b="0" i="0" baseline="-25000" dirty="0">
                <a:solidFill>
                  <a:srgbClr val="333333"/>
                </a:solidFill>
                <a:effectLst/>
                <a:latin typeface="Verdana" panose="020B0604030504040204" pitchFamily="34" charset="0"/>
                <a:ea typeface="Verdana" panose="020B0604030504040204" pitchFamily="34" charset="0"/>
              </a:rPr>
              <a:t>1</a:t>
            </a:r>
            <a:r>
              <a:rPr lang="es-ES" b="0" i="0" dirty="0">
                <a:solidFill>
                  <a:srgbClr val="333333"/>
                </a:solidFill>
                <a:effectLst/>
                <a:latin typeface="Verdana" panose="020B0604030504040204" pitchFamily="34" charset="0"/>
                <a:ea typeface="Verdana" panose="020B0604030504040204" pitchFamily="34" charset="0"/>
              </a:rPr>
              <a:t>: Al menos un nivel introduce un efecto que desplaza su media: Algún α</a:t>
            </a:r>
            <a:r>
              <a:rPr lang="es-ES" b="0" i="0" baseline="-25000" dirty="0">
                <a:solidFill>
                  <a:srgbClr val="333333"/>
                </a:solidFill>
                <a:effectLst/>
                <a:latin typeface="Verdana" panose="020B0604030504040204" pitchFamily="34" charset="0"/>
                <a:ea typeface="Verdana" panose="020B0604030504040204" pitchFamily="34" charset="0"/>
              </a:rPr>
              <a:t>i</a:t>
            </a:r>
            <a:r>
              <a:rPr lang="es-ES" b="0" i="0" dirty="0">
                <a:solidFill>
                  <a:srgbClr val="333333"/>
                </a:solidFill>
                <a:effectLst/>
                <a:latin typeface="Verdana" panose="020B0604030504040204" pitchFamily="34" charset="0"/>
                <a:ea typeface="Verdana" panose="020B0604030504040204" pitchFamily="34" charset="0"/>
              </a:rPr>
              <a:t>≠</a:t>
            </a:r>
          </a:p>
          <a:p>
            <a:pPr marL="627063" indent="-285750" algn="just">
              <a:buFont typeface="Arial" panose="020B0604020202020204" pitchFamily="34" charset="0"/>
              <a:buChar char="•"/>
            </a:pPr>
            <a:endParaRPr lang="es-NI" dirty="0">
              <a:solidFill>
                <a:srgbClr val="333333"/>
              </a:solidFill>
              <a:latin typeface="Verdana" panose="020B0604030504040204" pitchFamily="34" charset="0"/>
              <a:ea typeface="Verdana" panose="020B0604030504040204" pitchFamily="34" charset="0"/>
            </a:endParaRPr>
          </a:p>
          <a:p>
            <a:pPr algn="just"/>
            <a:r>
              <a:rPr lang="es-ES" dirty="0">
                <a:solidFill>
                  <a:srgbClr val="333333"/>
                </a:solidFill>
                <a:latin typeface="Verdana" panose="020B0604030504040204" pitchFamily="34" charset="0"/>
                <a:ea typeface="Verdana" panose="020B0604030504040204" pitchFamily="34" charset="0"/>
              </a:rPr>
              <a:t>Como se ha mencionado anteriormente, la diferencia entre medias se detecta a través del estudio de la varianza entre grupos y dentro de grupos. Para lograrlo, el ANOVA requiere de una descomposición de la varianza basada en la siguiente idea:</a:t>
            </a:r>
          </a:p>
          <a:p>
            <a:pPr algn="just"/>
            <a:endParaRPr lang="es-ES" dirty="0">
              <a:solidFill>
                <a:srgbClr val="333333"/>
              </a:solidFill>
              <a:latin typeface="Verdana" panose="020B0604030504040204" pitchFamily="34" charset="0"/>
              <a:ea typeface="Verdana" panose="020B0604030504040204" pitchFamily="34" charset="0"/>
            </a:endParaRPr>
          </a:p>
          <a:p>
            <a:pPr algn="just"/>
            <a:r>
              <a:rPr lang="es-ES" i="1" dirty="0">
                <a:solidFill>
                  <a:srgbClr val="333333"/>
                </a:solidFill>
                <a:latin typeface="Verdana" panose="020B0604030504040204" pitchFamily="34" charset="0"/>
                <a:ea typeface="Verdana" panose="020B0604030504040204" pitchFamily="34" charset="0"/>
              </a:rPr>
              <a:t>Variabilidad total =</a:t>
            </a:r>
          </a:p>
          <a:p>
            <a:pPr algn="just"/>
            <a:r>
              <a:rPr lang="es-ES" i="1" dirty="0">
                <a:solidFill>
                  <a:srgbClr val="333333"/>
                </a:solidFill>
                <a:latin typeface="Verdana" panose="020B0604030504040204" pitchFamily="34" charset="0"/>
                <a:ea typeface="Verdana" panose="020B0604030504040204" pitchFamily="34" charset="0"/>
              </a:rPr>
              <a:t>variabilidad debida a los diferentes niveles del factor + variabilidad residual</a:t>
            </a:r>
          </a:p>
          <a:p>
            <a:pPr algn="just"/>
            <a:endParaRPr lang="es-ES" dirty="0">
              <a:solidFill>
                <a:srgbClr val="333333"/>
              </a:solidFill>
              <a:latin typeface="Verdana" panose="020B0604030504040204" pitchFamily="34" charset="0"/>
              <a:ea typeface="Verdana" panose="020B0604030504040204" pitchFamily="34" charset="0"/>
            </a:endParaRPr>
          </a:p>
          <a:p>
            <a:pPr algn="just"/>
            <a:r>
              <a:rPr lang="es-ES" dirty="0">
                <a:solidFill>
                  <a:srgbClr val="333333"/>
                </a:solidFill>
                <a:latin typeface="Verdana" panose="020B0604030504040204" pitchFamily="34" charset="0"/>
                <a:ea typeface="Verdana" panose="020B0604030504040204" pitchFamily="34" charset="0"/>
              </a:rPr>
              <a:t>lo que es equivalente a:</a:t>
            </a:r>
          </a:p>
          <a:p>
            <a:pPr algn="just"/>
            <a:endParaRPr lang="es-ES" dirty="0">
              <a:solidFill>
                <a:srgbClr val="333333"/>
              </a:solidFill>
              <a:latin typeface="Verdana" panose="020B0604030504040204" pitchFamily="34" charset="0"/>
              <a:ea typeface="Verdana" panose="020B0604030504040204" pitchFamily="34" charset="0"/>
            </a:endParaRPr>
          </a:p>
          <a:p>
            <a:pPr algn="just"/>
            <a:r>
              <a:rPr lang="es-ES" i="1" dirty="0">
                <a:solidFill>
                  <a:srgbClr val="333333"/>
                </a:solidFill>
                <a:latin typeface="Verdana" panose="020B0604030504040204" pitchFamily="34" charset="0"/>
                <a:ea typeface="Verdana" panose="020B0604030504040204" pitchFamily="34" charset="0"/>
              </a:rPr>
              <a:t>variabilidad explicada por el factor + variabilidad no explicada por el factor</a:t>
            </a:r>
          </a:p>
          <a:p>
            <a:pPr algn="just"/>
            <a:endParaRPr lang="es-ES" dirty="0">
              <a:solidFill>
                <a:srgbClr val="333333"/>
              </a:solidFill>
              <a:latin typeface="Verdana" panose="020B0604030504040204" pitchFamily="34" charset="0"/>
              <a:ea typeface="Verdana" panose="020B0604030504040204" pitchFamily="34" charset="0"/>
            </a:endParaRPr>
          </a:p>
          <a:p>
            <a:pPr algn="just"/>
            <a:r>
              <a:rPr lang="es-ES" dirty="0">
                <a:solidFill>
                  <a:srgbClr val="333333"/>
                </a:solidFill>
                <a:latin typeface="Verdana" panose="020B0604030504040204" pitchFamily="34" charset="0"/>
                <a:ea typeface="Verdana" panose="020B0604030504040204" pitchFamily="34" charset="0"/>
              </a:rPr>
              <a:t>lo que es equivalente a:</a:t>
            </a:r>
          </a:p>
          <a:p>
            <a:pPr algn="just"/>
            <a:endParaRPr lang="es-ES" dirty="0">
              <a:solidFill>
                <a:srgbClr val="333333"/>
              </a:solidFill>
              <a:latin typeface="Verdana" panose="020B0604030504040204" pitchFamily="34" charset="0"/>
              <a:ea typeface="Verdana" panose="020B0604030504040204" pitchFamily="34" charset="0"/>
            </a:endParaRPr>
          </a:p>
          <a:p>
            <a:pPr algn="just"/>
            <a:r>
              <a:rPr lang="es-ES" dirty="0">
                <a:solidFill>
                  <a:srgbClr val="333333"/>
                </a:solidFill>
                <a:latin typeface="Verdana" panose="020B0604030504040204" pitchFamily="34" charset="0"/>
                <a:ea typeface="Verdana" panose="020B0604030504040204" pitchFamily="34" charset="0"/>
              </a:rPr>
              <a:t>(</a:t>
            </a:r>
            <a:r>
              <a:rPr lang="es-ES" i="1" dirty="0">
                <a:solidFill>
                  <a:srgbClr val="333333"/>
                </a:solidFill>
                <a:latin typeface="Verdana" panose="020B0604030504040204" pitchFamily="34" charset="0"/>
                <a:ea typeface="Verdana" panose="020B0604030504040204" pitchFamily="34" charset="0"/>
              </a:rPr>
              <a:t>varianza entre niveles) + (varianza dentro de los niveles)</a:t>
            </a:r>
          </a:p>
        </p:txBody>
      </p:sp>
    </p:spTree>
    <p:extLst>
      <p:ext uri="{BB962C8B-B14F-4D97-AF65-F5344CB8AC3E}">
        <p14:creationId xmlns:p14="http://schemas.microsoft.com/office/powerpoint/2010/main" val="3555006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EFC1C54-6D44-464D-B2C9-06EFF795534B}"/>
              </a:ext>
            </a:extLst>
          </p:cNvPr>
          <p:cNvSpPr/>
          <p:nvPr/>
        </p:nvSpPr>
        <p:spPr>
          <a:xfrm>
            <a:off x="3452904" y="0"/>
            <a:ext cx="5286191" cy="923330"/>
          </a:xfrm>
          <a:prstGeom prst="rect">
            <a:avLst/>
          </a:prstGeom>
          <a:noFill/>
        </p:spPr>
        <p:txBody>
          <a:bodyPr wrap="none" lIns="91440" tIns="45720" rIns="91440" bIns="45720">
            <a:spAutoFit/>
          </a:bodyPr>
          <a:lstStyle/>
          <a:p>
            <a:pPr algn="ctr"/>
            <a:r>
              <a:rPr lang="es-ES" sz="5400" b="0" cap="none" spc="0">
                <a:ln w="0"/>
                <a:solidFill>
                  <a:schemeClr val="tx1"/>
                </a:solidFill>
                <a:effectLst>
                  <a:outerShdw blurRad="38100" dist="19050" dir="2700000" algn="tl" rotWithShape="0">
                    <a:schemeClr val="dk1">
                      <a:alpha val="40000"/>
                    </a:schemeClr>
                  </a:outerShdw>
                </a:effectLst>
              </a:rPr>
              <a:t>ANOVA de una vía</a:t>
            </a:r>
            <a:endParaRPr lang="es-ES" sz="5400" b="0" cap="none" spc="0" dirty="0">
              <a:ln w="0"/>
              <a:solidFill>
                <a:schemeClr val="tx1"/>
              </a:solidFill>
              <a:effectLst>
                <a:outerShdw blurRad="38100" dist="19050" dir="2700000" algn="tl" rotWithShape="0">
                  <a:schemeClr val="dk1">
                    <a:alpha val="40000"/>
                  </a:schemeClr>
                </a:outerShdw>
              </a:effectLst>
            </a:endParaRPr>
          </a:p>
        </p:txBody>
      </p:sp>
      <p:sp>
        <p:nvSpPr>
          <p:cNvPr id="5" name="CuadroTexto 4">
            <a:extLst>
              <a:ext uri="{FF2B5EF4-FFF2-40B4-BE49-F238E27FC236}">
                <a16:creationId xmlns:a16="http://schemas.microsoft.com/office/drawing/2014/main" id="{5563EE2A-F9F3-496B-9C06-FDA7B10F09E4}"/>
              </a:ext>
            </a:extLst>
          </p:cNvPr>
          <p:cNvSpPr txBox="1"/>
          <p:nvPr/>
        </p:nvSpPr>
        <p:spPr>
          <a:xfrm>
            <a:off x="477672" y="873456"/>
            <a:ext cx="11313994" cy="4247317"/>
          </a:xfrm>
          <a:prstGeom prst="rect">
            <a:avLst/>
          </a:prstGeom>
          <a:noFill/>
        </p:spPr>
        <p:txBody>
          <a:bodyPr wrap="square" rtlCol="0">
            <a:spAutoFit/>
          </a:bodyPr>
          <a:lstStyle/>
          <a:p>
            <a:pPr algn="just"/>
            <a:r>
              <a:rPr lang="es-ES" b="0" i="0" dirty="0">
                <a:solidFill>
                  <a:srgbClr val="333333"/>
                </a:solidFill>
                <a:effectLst/>
                <a:latin typeface="Verdana" panose="020B0604030504040204" pitchFamily="34" charset="0"/>
                <a:ea typeface="Verdana" panose="020B0604030504040204" pitchFamily="34" charset="0"/>
              </a:rPr>
              <a:t>Para poder calcular las diferentes varianzas en primer lugar se tienen que obtener las Sumas de Cuadrados (SS o Sc):</a:t>
            </a:r>
          </a:p>
          <a:p>
            <a:pPr algn="just"/>
            <a:endParaRPr lang="es-ES" b="0" i="0" dirty="0">
              <a:solidFill>
                <a:srgbClr val="333333"/>
              </a:solidFill>
              <a:effectLst/>
              <a:latin typeface="Verdana" panose="020B0604030504040204" pitchFamily="34" charset="0"/>
              <a:ea typeface="Verdana" panose="020B0604030504040204" pitchFamily="34" charset="0"/>
            </a:endParaRPr>
          </a:p>
          <a:p>
            <a:pPr algn="just"/>
            <a:r>
              <a:rPr lang="es-ES" b="1" i="0" dirty="0">
                <a:solidFill>
                  <a:srgbClr val="333333"/>
                </a:solidFill>
                <a:effectLst/>
                <a:latin typeface="Verdana" panose="020B0604030504040204" pitchFamily="34" charset="0"/>
                <a:ea typeface="Verdana" panose="020B0604030504040204" pitchFamily="34" charset="0"/>
              </a:rPr>
              <a:t>Suma de Cuadrados Total o Total Sum </a:t>
            </a:r>
            <a:r>
              <a:rPr lang="es-ES" b="1" i="0" dirty="0" err="1">
                <a:solidFill>
                  <a:srgbClr val="333333"/>
                </a:solidFill>
                <a:effectLst/>
                <a:latin typeface="Verdana" panose="020B0604030504040204" pitchFamily="34" charset="0"/>
                <a:ea typeface="Verdana" panose="020B0604030504040204" pitchFamily="34" charset="0"/>
              </a:rPr>
              <a:t>of</a:t>
            </a:r>
            <a:r>
              <a:rPr lang="es-ES" b="1" i="0" dirty="0">
                <a:solidFill>
                  <a:srgbClr val="333333"/>
                </a:solidFill>
                <a:effectLst/>
                <a:latin typeface="Verdana" panose="020B0604030504040204" pitchFamily="34" charset="0"/>
                <a:ea typeface="Verdana" panose="020B0604030504040204" pitchFamily="34" charset="0"/>
              </a:rPr>
              <a:t> </a:t>
            </a:r>
            <a:r>
              <a:rPr lang="es-ES" b="1" i="0" dirty="0" err="1">
                <a:solidFill>
                  <a:srgbClr val="333333"/>
                </a:solidFill>
                <a:effectLst/>
                <a:latin typeface="Verdana" panose="020B0604030504040204" pitchFamily="34" charset="0"/>
                <a:ea typeface="Verdana" panose="020B0604030504040204" pitchFamily="34" charset="0"/>
              </a:rPr>
              <a:t>Squares</a:t>
            </a:r>
            <a:r>
              <a:rPr lang="es-ES" b="1" i="0" dirty="0">
                <a:solidFill>
                  <a:srgbClr val="333333"/>
                </a:solidFill>
                <a:effectLst/>
                <a:latin typeface="Verdana" panose="020B0604030504040204" pitchFamily="34" charset="0"/>
                <a:ea typeface="Verdana" panose="020B0604030504040204" pitchFamily="34" charset="0"/>
              </a:rPr>
              <a:t> (TSS): </a:t>
            </a:r>
            <a:r>
              <a:rPr lang="es-ES" b="0" i="0" dirty="0">
                <a:solidFill>
                  <a:srgbClr val="333333"/>
                </a:solidFill>
                <a:effectLst/>
                <a:latin typeface="Verdana" panose="020B0604030504040204" pitchFamily="34" charset="0"/>
                <a:ea typeface="Verdana" panose="020B0604030504040204" pitchFamily="34" charset="0"/>
              </a:rPr>
              <a:t>mide la variabilidad total de los datos, se define como la suma de los cuadrados de las diferencias de cada observación respecto a la media general de todas las observaciones. Los grados de libertad de la suma de cuadrados totales es igual al número total de observaciones menos uno (N-1).</a:t>
            </a:r>
          </a:p>
          <a:p>
            <a:pPr algn="just"/>
            <a:endParaRPr lang="es-ES" b="0" i="0" dirty="0">
              <a:solidFill>
                <a:srgbClr val="333333"/>
              </a:solidFill>
              <a:effectLst/>
              <a:latin typeface="Verdana" panose="020B0604030504040204" pitchFamily="34" charset="0"/>
              <a:ea typeface="Verdana" panose="020B0604030504040204" pitchFamily="34" charset="0"/>
            </a:endParaRPr>
          </a:p>
          <a:p>
            <a:pPr algn="just"/>
            <a:r>
              <a:rPr lang="es-ES" b="1" i="0" dirty="0">
                <a:solidFill>
                  <a:srgbClr val="333333"/>
                </a:solidFill>
                <a:effectLst/>
                <a:latin typeface="Verdana" panose="020B0604030504040204" pitchFamily="34" charset="0"/>
                <a:ea typeface="Verdana" panose="020B0604030504040204" pitchFamily="34" charset="0"/>
              </a:rPr>
              <a:t>Suma de cuadrados del factor o Sum </a:t>
            </a:r>
            <a:r>
              <a:rPr lang="es-ES" b="1" i="0" dirty="0" err="1">
                <a:solidFill>
                  <a:srgbClr val="333333"/>
                </a:solidFill>
                <a:effectLst/>
                <a:latin typeface="Verdana" panose="020B0604030504040204" pitchFamily="34" charset="0"/>
                <a:ea typeface="Verdana" panose="020B0604030504040204" pitchFamily="34" charset="0"/>
              </a:rPr>
              <a:t>of</a:t>
            </a:r>
            <a:r>
              <a:rPr lang="es-ES" b="1" i="0" dirty="0">
                <a:solidFill>
                  <a:srgbClr val="333333"/>
                </a:solidFill>
                <a:effectLst/>
                <a:latin typeface="Verdana" panose="020B0604030504040204" pitchFamily="34" charset="0"/>
                <a:ea typeface="Verdana" panose="020B0604030504040204" pitchFamily="34" charset="0"/>
              </a:rPr>
              <a:t> </a:t>
            </a:r>
            <a:r>
              <a:rPr lang="es-ES" b="1" i="0" dirty="0" err="1">
                <a:solidFill>
                  <a:srgbClr val="333333"/>
                </a:solidFill>
                <a:effectLst/>
                <a:latin typeface="Verdana" panose="020B0604030504040204" pitchFamily="34" charset="0"/>
                <a:ea typeface="Verdana" panose="020B0604030504040204" pitchFamily="34" charset="0"/>
              </a:rPr>
              <a:t>Squares</a:t>
            </a:r>
            <a:r>
              <a:rPr lang="es-ES" b="1" i="0" dirty="0">
                <a:solidFill>
                  <a:srgbClr val="333333"/>
                </a:solidFill>
                <a:effectLst/>
                <a:latin typeface="Verdana" panose="020B0604030504040204" pitchFamily="34" charset="0"/>
                <a:ea typeface="Verdana" panose="020B0604030504040204" pitchFamily="34" charset="0"/>
              </a:rPr>
              <a:t> </a:t>
            </a:r>
            <a:r>
              <a:rPr lang="es-ES" b="1" i="0" dirty="0" err="1">
                <a:solidFill>
                  <a:srgbClr val="333333"/>
                </a:solidFill>
                <a:effectLst/>
                <a:latin typeface="Verdana" panose="020B0604030504040204" pitchFamily="34" charset="0"/>
                <a:ea typeface="Verdana" panose="020B0604030504040204" pitchFamily="34" charset="0"/>
              </a:rPr>
              <a:t>due</a:t>
            </a:r>
            <a:r>
              <a:rPr lang="es-ES" b="1" i="0" dirty="0">
                <a:solidFill>
                  <a:srgbClr val="333333"/>
                </a:solidFill>
                <a:effectLst/>
                <a:latin typeface="Verdana" panose="020B0604030504040204" pitchFamily="34" charset="0"/>
                <a:ea typeface="Verdana" panose="020B0604030504040204" pitchFamily="34" charset="0"/>
              </a:rPr>
              <a:t> </a:t>
            </a:r>
            <a:r>
              <a:rPr lang="es-ES" b="1" i="0" dirty="0" err="1">
                <a:solidFill>
                  <a:srgbClr val="333333"/>
                </a:solidFill>
                <a:effectLst/>
                <a:latin typeface="Verdana" panose="020B0604030504040204" pitchFamily="34" charset="0"/>
                <a:ea typeface="Verdana" panose="020B0604030504040204" pitchFamily="34" charset="0"/>
              </a:rPr>
              <a:t>to</a:t>
            </a:r>
            <a:r>
              <a:rPr lang="es-ES" b="1" i="0" dirty="0">
                <a:solidFill>
                  <a:srgbClr val="333333"/>
                </a:solidFill>
                <a:effectLst/>
                <a:latin typeface="Verdana" panose="020B0604030504040204" pitchFamily="34" charset="0"/>
                <a:ea typeface="Verdana" panose="020B0604030504040204" pitchFamily="34" charset="0"/>
              </a:rPr>
              <a:t> </a:t>
            </a:r>
            <a:r>
              <a:rPr lang="es-ES" b="1" i="0" dirty="0" err="1">
                <a:solidFill>
                  <a:srgbClr val="333333"/>
                </a:solidFill>
                <a:effectLst/>
                <a:latin typeface="Verdana" panose="020B0604030504040204" pitchFamily="34" charset="0"/>
                <a:ea typeface="Verdana" panose="020B0604030504040204" pitchFamily="34" charset="0"/>
              </a:rPr>
              <a:t>Treatment</a:t>
            </a:r>
            <a:r>
              <a:rPr lang="es-ES" b="1" i="0" dirty="0">
                <a:solidFill>
                  <a:srgbClr val="333333"/>
                </a:solidFill>
                <a:effectLst/>
                <a:latin typeface="Verdana" panose="020B0604030504040204" pitchFamily="34" charset="0"/>
                <a:ea typeface="Verdana" panose="020B0604030504040204" pitchFamily="34" charset="0"/>
              </a:rPr>
              <a:t> (SST): </a:t>
            </a:r>
            <a:r>
              <a:rPr lang="es-ES" b="0" i="0" dirty="0">
                <a:solidFill>
                  <a:srgbClr val="333333"/>
                </a:solidFill>
                <a:effectLst/>
                <a:latin typeface="Verdana" panose="020B0604030504040204" pitchFamily="34" charset="0"/>
                <a:ea typeface="Verdana" panose="020B0604030504040204" pitchFamily="34" charset="0"/>
              </a:rPr>
              <a:t>mide la variabilidad en los datos asociada al efecto del factor sobre la media (la diferencia de las medias entre los diferentes niveles o grupos). Se obtiene como la suma de los cuadrados de las desviaciones de la media de cada proveedor respecto de la media general, ponderando cada diferencia al cuadrado por el número de observaciones de cada grupo. Los grados de libertad correspondientes son igual al número niveles del factor menos uno (k-1).</a:t>
            </a:r>
          </a:p>
          <a:p>
            <a:pPr algn="just"/>
            <a:endParaRPr lang="es-ES" b="0" i="0" dirty="0">
              <a:solidFill>
                <a:srgbClr val="333333"/>
              </a:solidFill>
              <a:effectLst/>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805687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EFC1C54-6D44-464D-B2C9-06EFF795534B}"/>
              </a:ext>
            </a:extLst>
          </p:cNvPr>
          <p:cNvSpPr/>
          <p:nvPr/>
        </p:nvSpPr>
        <p:spPr>
          <a:xfrm>
            <a:off x="3452904" y="0"/>
            <a:ext cx="5286191" cy="923330"/>
          </a:xfrm>
          <a:prstGeom prst="rect">
            <a:avLst/>
          </a:prstGeom>
          <a:noFill/>
        </p:spPr>
        <p:txBody>
          <a:bodyPr wrap="none" lIns="91440" tIns="45720" rIns="91440" bIns="45720">
            <a:spAutoFit/>
          </a:bodyPr>
          <a:lstStyle/>
          <a:p>
            <a:pPr algn="ctr"/>
            <a:r>
              <a:rPr lang="es-ES" sz="5400" b="0" cap="none" spc="0">
                <a:ln w="0"/>
                <a:solidFill>
                  <a:schemeClr val="tx1"/>
                </a:solidFill>
                <a:effectLst>
                  <a:outerShdw blurRad="38100" dist="19050" dir="2700000" algn="tl" rotWithShape="0">
                    <a:schemeClr val="dk1">
                      <a:alpha val="40000"/>
                    </a:schemeClr>
                  </a:outerShdw>
                </a:effectLst>
              </a:rPr>
              <a:t>ANOVA de una vía</a:t>
            </a:r>
            <a:endParaRPr lang="es-ES" sz="5400" b="0" cap="none" spc="0" dirty="0">
              <a:ln w="0"/>
              <a:solidFill>
                <a:schemeClr val="tx1"/>
              </a:solidFill>
              <a:effectLst>
                <a:outerShdw blurRad="38100" dist="19050" dir="2700000" algn="tl" rotWithShape="0">
                  <a:schemeClr val="dk1">
                    <a:alpha val="40000"/>
                  </a:schemeClr>
                </a:outerShdw>
              </a:effectLst>
            </a:endParaRPr>
          </a:p>
        </p:txBody>
      </p:sp>
      <p:sp>
        <p:nvSpPr>
          <p:cNvPr id="5" name="CuadroTexto 4">
            <a:extLst>
              <a:ext uri="{FF2B5EF4-FFF2-40B4-BE49-F238E27FC236}">
                <a16:creationId xmlns:a16="http://schemas.microsoft.com/office/drawing/2014/main" id="{5563EE2A-F9F3-496B-9C06-FDA7B10F09E4}"/>
              </a:ext>
            </a:extLst>
          </p:cNvPr>
          <p:cNvSpPr txBox="1"/>
          <p:nvPr/>
        </p:nvSpPr>
        <p:spPr>
          <a:xfrm>
            <a:off x="477672" y="873456"/>
            <a:ext cx="11313994" cy="4247317"/>
          </a:xfrm>
          <a:prstGeom prst="rect">
            <a:avLst/>
          </a:prstGeom>
          <a:noFill/>
        </p:spPr>
        <p:txBody>
          <a:bodyPr wrap="square" rtlCol="0">
            <a:spAutoFit/>
          </a:bodyPr>
          <a:lstStyle/>
          <a:p>
            <a:pPr algn="just"/>
            <a:r>
              <a:rPr lang="es-ES" b="1" i="0" dirty="0">
                <a:solidFill>
                  <a:srgbClr val="333333"/>
                </a:solidFill>
                <a:effectLst/>
                <a:latin typeface="Verdana" panose="020B0604030504040204" pitchFamily="34" charset="0"/>
                <a:ea typeface="Verdana" panose="020B0604030504040204" pitchFamily="34" charset="0"/>
              </a:rPr>
              <a:t>Suma de cuadrados residual/error o Sum </a:t>
            </a:r>
            <a:r>
              <a:rPr lang="es-ES" b="1" i="0" dirty="0" err="1">
                <a:solidFill>
                  <a:srgbClr val="333333"/>
                </a:solidFill>
                <a:effectLst/>
                <a:latin typeface="Verdana" panose="020B0604030504040204" pitchFamily="34" charset="0"/>
                <a:ea typeface="Verdana" panose="020B0604030504040204" pitchFamily="34" charset="0"/>
              </a:rPr>
              <a:t>of</a:t>
            </a:r>
            <a:r>
              <a:rPr lang="es-ES" b="1" i="0" dirty="0">
                <a:solidFill>
                  <a:srgbClr val="333333"/>
                </a:solidFill>
                <a:effectLst/>
                <a:latin typeface="Verdana" panose="020B0604030504040204" pitchFamily="34" charset="0"/>
                <a:ea typeface="Verdana" panose="020B0604030504040204" pitchFamily="34" charset="0"/>
              </a:rPr>
              <a:t> </a:t>
            </a:r>
            <a:r>
              <a:rPr lang="es-ES" b="1" i="0" dirty="0" err="1">
                <a:solidFill>
                  <a:srgbClr val="333333"/>
                </a:solidFill>
                <a:effectLst/>
                <a:latin typeface="Verdana" panose="020B0604030504040204" pitchFamily="34" charset="0"/>
                <a:ea typeface="Verdana" panose="020B0604030504040204" pitchFamily="34" charset="0"/>
              </a:rPr>
              <a:t>Squares</a:t>
            </a:r>
            <a:r>
              <a:rPr lang="es-ES" b="1" i="0" dirty="0">
                <a:solidFill>
                  <a:srgbClr val="333333"/>
                </a:solidFill>
                <a:effectLst/>
                <a:latin typeface="Verdana" panose="020B0604030504040204" pitchFamily="34" charset="0"/>
                <a:ea typeface="Verdana" panose="020B0604030504040204" pitchFamily="34" charset="0"/>
              </a:rPr>
              <a:t> </a:t>
            </a:r>
            <a:r>
              <a:rPr lang="es-ES" b="1" i="0" dirty="0" err="1">
                <a:solidFill>
                  <a:srgbClr val="333333"/>
                </a:solidFill>
                <a:effectLst/>
                <a:latin typeface="Verdana" panose="020B0604030504040204" pitchFamily="34" charset="0"/>
                <a:ea typeface="Verdana" panose="020B0604030504040204" pitchFamily="34" charset="0"/>
              </a:rPr>
              <a:t>of</a:t>
            </a:r>
            <a:r>
              <a:rPr lang="es-ES" b="1" i="0" dirty="0">
                <a:solidFill>
                  <a:srgbClr val="333333"/>
                </a:solidFill>
                <a:effectLst/>
                <a:latin typeface="Verdana" panose="020B0604030504040204" pitchFamily="34" charset="0"/>
                <a:ea typeface="Verdana" panose="020B0604030504040204" pitchFamily="34" charset="0"/>
              </a:rPr>
              <a:t> </a:t>
            </a:r>
            <a:r>
              <a:rPr lang="es-ES" b="1" i="0" dirty="0" err="1">
                <a:solidFill>
                  <a:srgbClr val="333333"/>
                </a:solidFill>
                <a:effectLst/>
                <a:latin typeface="Verdana" panose="020B0604030504040204" pitchFamily="34" charset="0"/>
                <a:ea typeface="Verdana" panose="020B0604030504040204" pitchFamily="34" charset="0"/>
              </a:rPr>
              <a:t>Errors</a:t>
            </a:r>
            <a:r>
              <a:rPr lang="es-ES" b="1" i="0" dirty="0">
                <a:solidFill>
                  <a:srgbClr val="333333"/>
                </a:solidFill>
                <a:effectLst/>
                <a:latin typeface="Verdana" panose="020B0604030504040204" pitchFamily="34" charset="0"/>
                <a:ea typeface="Verdana" panose="020B0604030504040204" pitchFamily="34" charset="0"/>
              </a:rPr>
              <a:t> (SSE): </a:t>
            </a:r>
            <a:r>
              <a:rPr lang="es-ES" b="0" i="0" dirty="0">
                <a:solidFill>
                  <a:srgbClr val="333333"/>
                </a:solidFill>
                <a:effectLst/>
                <a:latin typeface="Verdana" panose="020B0604030504040204" pitchFamily="34" charset="0"/>
                <a:ea typeface="Verdana" panose="020B0604030504040204" pitchFamily="34" charset="0"/>
              </a:rPr>
              <a:t>mide la variabilidad dentro de cada nivel, es decir, la variabilidad que no es debida a variable cualitativa o factor. Se calcula como la suma de los cuadrados de las desviaciones de cada observación respecto a la media del nivel al que pertenece. Los grados de libertad asignados a la suma de cuadrados residual equivale la diferencia entre los grados de libertad totales y los grados de libertad del factor, o lo que es lo mismo (N-k). En estadística se emplea el termino error o residual ya que se considera que esta es la variabilidad que muestran los datos debido a los errores de medida. Desde el punto de vista biológico tiene más sentido llamarlo Suma de cuadrados dentro de grupos ya que se sabe que la variabilidad observada no solo se debe a errores de medida, si no a los muchos factores que no se controlan y que afectan a los procesos biológicos.</a:t>
            </a:r>
          </a:p>
          <a:p>
            <a:pPr algn="just"/>
            <a:endParaRPr lang="es-ES" dirty="0">
              <a:solidFill>
                <a:srgbClr val="333333"/>
              </a:solidFill>
              <a:latin typeface="Verdana" panose="020B0604030504040204" pitchFamily="34" charset="0"/>
              <a:ea typeface="Verdana" panose="020B0604030504040204" pitchFamily="34" charset="0"/>
            </a:endParaRPr>
          </a:p>
          <a:p>
            <a:pPr algn="ctr"/>
            <a:r>
              <a:rPr lang="es-ES" dirty="0">
                <a:latin typeface="Verdana" panose="020B0604030504040204" pitchFamily="34" charset="0"/>
                <a:ea typeface="Verdana" panose="020B0604030504040204" pitchFamily="34" charset="0"/>
              </a:rPr>
              <a:t>TSS=SSE+SST</a:t>
            </a:r>
          </a:p>
          <a:p>
            <a:pPr algn="just"/>
            <a:r>
              <a:rPr lang="es-ES" dirty="0">
                <a:latin typeface="Verdana" panose="020B0604030504040204" pitchFamily="34" charset="0"/>
                <a:ea typeface="Verdana" panose="020B0604030504040204" pitchFamily="34" charset="0"/>
              </a:rPr>
              <a:t> </a:t>
            </a:r>
          </a:p>
          <a:p>
            <a:pPr algn="just"/>
            <a:endParaRPr lang="es-ES" b="0" i="0" dirty="0">
              <a:solidFill>
                <a:srgbClr val="333333"/>
              </a:solidFill>
              <a:effectLst/>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911666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EFC1C54-6D44-464D-B2C9-06EFF795534B}"/>
              </a:ext>
            </a:extLst>
          </p:cNvPr>
          <p:cNvSpPr/>
          <p:nvPr/>
        </p:nvSpPr>
        <p:spPr>
          <a:xfrm>
            <a:off x="3452904" y="0"/>
            <a:ext cx="5286191" cy="923330"/>
          </a:xfrm>
          <a:prstGeom prst="rect">
            <a:avLst/>
          </a:prstGeom>
          <a:noFill/>
        </p:spPr>
        <p:txBody>
          <a:bodyPr wrap="none" lIns="91440" tIns="45720" rIns="91440" bIns="45720">
            <a:spAutoFit/>
          </a:bodyPr>
          <a:lstStyle/>
          <a:p>
            <a:pPr algn="ctr"/>
            <a:r>
              <a:rPr lang="es-ES" sz="5400" b="0" cap="none" spc="0">
                <a:ln w="0"/>
                <a:solidFill>
                  <a:schemeClr val="tx1"/>
                </a:solidFill>
                <a:effectLst>
                  <a:outerShdw blurRad="38100" dist="19050" dir="2700000" algn="tl" rotWithShape="0">
                    <a:schemeClr val="dk1">
                      <a:alpha val="40000"/>
                    </a:schemeClr>
                  </a:outerShdw>
                </a:effectLst>
              </a:rPr>
              <a:t>ANOVA de una vía</a:t>
            </a:r>
            <a:endParaRPr lang="es-ES" sz="5400" b="0" cap="none" spc="0" dirty="0">
              <a:ln w="0"/>
              <a:solidFill>
                <a:schemeClr val="tx1"/>
              </a:solidFill>
              <a:effectLst>
                <a:outerShdw blurRad="38100" dist="19050" dir="2700000" algn="tl" rotWithShape="0">
                  <a:schemeClr val="dk1">
                    <a:alpha val="40000"/>
                  </a:schemeClr>
                </a:outerShdw>
              </a:effectLst>
            </a:endParaRPr>
          </a:p>
        </p:txBody>
      </p:sp>
      <p:sp>
        <p:nvSpPr>
          <p:cNvPr id="5" name="CuadroTexto 4">
            <a:extLst>
              <a:ext uri="{FF2B5EF4-FFF2-40B4-BE49-F238E27FC236}">
                <a16:creationId xmlns:a16="http://schemas.microsoft.com/office/drawing/2014/main" id="{5563EE2A-F9F3-496B-9C06-FDA7B10F09E4}"/>
              </a:ext>
            </a:extLst>
          </p:cNvPr>
          <p:cNvSpPr txBox="1"/>
          <p:nvPr/>
        </p:nvSpPr>
        <p:spPr>
          <a:xfrm>
            <a:off x="477672" y="873456"/>
            <a:ext cx="11313994" cy="2585323"/>
          </a:xfrm>
          <a:prstGeom prst="rect">
            <a:avLst/>
          </a:prstGeom>
          <a:noFill/>
        </p:spPr>
        <p:txBody>
          <a:bodyPr wrap="square" rtlCol="0">
            <a:spAutoFit/>
          </a:bodyPr>
          <a:lstStyle/>
          <a:p>
            <a:pPr algn="just"/>
            <a:r>
              <a:rPr lang="es-ES" i="0" dirty="0">
                <a:solidFill>
                  <a:srgbClr val="333333"/>
                </a:solidFill>
                <a:effectLst/>
                <a:latin typeface="Verdana" panose="020B0604030504040204" pitchFamily="34" charset="0"/>
                <a:ea typeface="Verdana" panose="020B0604030504040204" pitchFamily="34" charset="0"/>
              </a:rPr>
              <a:t>Una vez descompuesta la suma de cuadrados se puede obtener la descomposición de la varianza dividiendo la Suma de Cuadrados entre los respectivos grados de libertad. De forma estricta, al cociente entre la Suma de Cuadrados y sus correspondientes grados de libertad se le denomina Cuadrados Medios o Mean Sum </a:t>
            </a:r>
            <a:r>
              <a:rPr lang="es-ES" i="0" dirty="0" err="1">
                <a:solidFill>
                  <a:srgbClr val="333333"/>
                </a:solidFill>
                <a:effectLst/>
                <a:latin typeface="Verdana" panose="020B0604030504040204" pitchFamily="34" charset="0"/>
                <a:ea typeface="Verdana" panose="020B0604030504040204" pitchFamily="34" charset="0"/>
              </a:rPr>
              <a:t>of</a:t>
            </a:r>
            <a:r>
              <a:rPr lang="es-ES" i="0" dirty="0">
                <a:solidFill>
                  <a:srgbClr val="333333"/>
                </a:solidFill>
                <a:effectLst/>
                <a:latin typeface="Verdana" panose="020B0604030504040204" pitchFamily="34" charset="0"/>
                <a:ea typeface="Verdana" panose="020B0604030504040204" pitchFamily="34" charset="0"/>
              </a:rPr>
              <a:t> </a:t>
            </a:r>
            <a:r>
              <a:rPr lang="es-ES" i="0" dirty="0" err="1">
                <a:solidFill>
                  <a:srgbClr val="333333"/>
                </a:solidFill>
                <a:effectLst/>
                <a:latin typeface="Verdana" panose="020B0604030504040204" pitchFamily="34" charset="0"/>
                <a:ea typeface="Verdana" panose="020B0604030504040204" pitchFamily="34" charset="0"/>
              </a:rPr>
              <a:t>Squares</a:t>
            </a:r>
            <a:r>
              <a:rPr lang="es-ES" i="0" dirty="0">
                <a:solidFill>
                  <a:srgbClr val="333333"/>
                </a:solidFill>
                <a:effectLst/>
                <a:latin typeface="Verdana" panose="020B0604030504040204" pitchFamily="34" charset="0"/>
                <a:ea typeface="Verdana" panose="020B0604030504040204" pitchFamily="34" charset="0"/>
              </a:rPr>
              <a:t> y pueden ser empleado como estimador de la varianza:</a:t>
            </a:r>
          </a:p>
          <a:p>
            <a:pPr algn="just"/>
            <a:endParaRPr lang="es-ES" i="0" dirty="0">
              <a:solidFill>
                <a:srgbClr val="333333"/>
              </a:solidFill>
              <a:effectLst/>
              <a:latin typeface="Verdana" panose="020B0604030504040204" pitchFamily="34" charset="0"/>
              <a:ea typeface="Verdana" panose="020B0604030504040204" pitchFamily="34" charset="0"/>
            </a:endParaRPr>
          </a:p>
          <a:p>
            <a:pPr algn="just"/>
            <a:r>
              <a:rPr lang="es-ES" i="0" dirty="0">
                <a:solidFill>
                  <a:srgbClr val="333333"/>
                </a:solidFill>
                <a:effectLst/>
                <a:latin typeface="Verdana" panose="020B0604030504040204" pitchFamily="34" charset="0"/>
                <a:ea typeface="Verdana" panose="020B0604030504040204" pitchFamily="34" charset="0"/>
              </a:rPr>
              <a:t>ANOVA se define como análisis de varianza, pero en un sentido estricto, se trata de un análisis de la Suma de Cuadrados Medios.</a:t>
            </a:r>
          </a:p>
          <a:p>
            <a:pPr algn="just"/>
            <a:endParaRPr lang="es-ES" b="0" i="0" dirty="0">
              <a:solidFill>
                <a:srgbClr val="333333"/>
              </a:solidFill>
              <a:effectLst/>
              <a:latin typeface="Verdana" panose="020B0604030504040204" pitchFamily="34" charset="0"/>
              <a:ea typeface="Verdana" panose="020B0604030504040204" pitchFamily="34" charset="0"/>
            </a:endParaRPr>
          </a:p>
        </p:txBody>
      </p:sp>
      <p:pic>
        <p:nvPicPr>
          <p:cNvPr id="3" name="Imagen 2">
            <a:extLst>
              <a:ext uri="{FF2B5EF4-FFF2-40B4-BE49-F238E27FC236}">
                <a16:creationId xmlns:a16="http://schemas.microsoft.com/office/drawing/2014/main" id="{6D7B7351-06D9-4EC5-A330-66C888E417F7}"/>
              </a:ext>
            </a:extLst>
          </p:cNvPr>
          <p:cNvPicPr>
            <a:picLocks noChangeAspect="1"/>
          </p:cNvPicPr>
          <p:nvPr/>
        </p:nvPicPr>
        <p:blipFill>
          <a:blip r:embed="rId2"/>
          <a:stretch>
            <a:fillRect/>
          </a:stretch>
        </p:blipFill>
        <p:spPr>
          <a:xfrm>
            <a:off x="534419" y="3266435"/>
            <a:ext cx="11123162" cy="3025183"/>
          </a:xfrm>
          <a:prstGeom prst="rect">
            <a:avLst/>
          </a:prstGeom>
        </p:spPr>
      </p:pic>
    </p:spTree>
    <p:extLst>
      <p:ext uri="{BB962C8B-B14F-4D97-AF65-F5344CB8AC3E}">
        <p14:creationId xmlns:p14="http://schemas.microsoft.com/office/powerpoint/2010/main" val="1848876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EFC1C54-6D44-464D-B2C9-06EFF795534B}"/>
              </a:ext>
            </a:extLst>
          </p:cNvPr>
          <p:cNvSpPr/>
          <p:nvPr/>
        </p:nvSpPr>
        <p:spPr>
          <a:xfrm>
            <a:off x="3452904" y="0"/>
            <a:ext cx="5286191" cy="923330"/>
          </a:xfrm>
          <a:prstGeom prst="rect">
            <a:avLst/>
          </a:prstGeom>
          <a:noFill/>
        </p:spPr>
        <p:txBody>
          <a:bodyPr wrap="none" lIns="91440" tIns="45720" rIns="91440" bIns="45720">
            <a:spAutoFit/>
          </a:bodyPr>
          <a:lstStyle/>
          <a:p>
            <a:pPr algn="ctr"/>
            <a:r>
              <a:rPr lang="es-ES" sz="5400" b="0" cap="none" spc="0">
                <a:ln w="0"/>
                <a:solidFill>
                  <a:schemeClr val="tx1"/>
                </a:solidFill>
                <a:effectLst>
                  <a:outerShdw blurRad="38100" dist="19050" dir="2700000" algn="tl" rotWithShape="0">
                    <a:schemeClr val="dk1">
                      <a:alpha val="40000"/>
                    </a:schemeClr>
                  </a:outerShdw>
                </a:effectLst>
              </a:rPr>
              <a:t>ANOVA de una vía</a:t>
            </a:r>
            <a:endParaRPr lang="es-ES" sz="5400" b="0" cap="none" spc="0" dirty="0">
              <a:ln w="0"/>
              <a:solidFill>
                <a:schemeClr val="tx1"/>
              </a:solidFill>
              <a:effectLst>
                <a:outerShdw blurRad="38100" dist="19050" dir="2700000" algn="tl" rotWithShape="0">
                  <a:schemeClr val="dk1">
                    <a:alpha val="40000"/>
                  </a:schemeClr>
                </a:outerShdw>
              </a:effectLst>
            </a:endParaRPr>
          </a:p>
        </p:txBody>
      </p:sp>
      <p:pic>
        <p:nvPicPr>
          <p:cNvPr id="6" name="Imagen 5">
            <a:extLst>
              <a:ext uri="{FF2B5EF4-FFF2-40B4-BE49-F238E27FC236}">
                <a16:creationId xmlns:a16="http://schemas.microsoft.com/office/drawing/2014/main" id="{8F76F752-5EF2-4AED-A620-DFD956F1CE48}"/>
              </a:ext>
            </a:extLst>
          </p:cNvPr>
          <p:cNvPicPr>
            <a:picLocks noChangeAspect="1"/>
          </p:cNvPicPr>
          <p:nvPr/>
        </p:nvPicPr>
        <p:blipFill>
          <a:blip r:embed="rId2"/>
          <a:stretch>
            <a:fillRect/>
          </a:stretch>
        </p:blipFill>
        <p:spPr>
          <a:xfrm>
            <a:off x="287018" y="1745086"/>
            <a:ext cx="11617964" cy="2957541"/>
          </a:xfrm>
          <a:prstGeom prst="rect">
            <a:avLst/>
          </a:prstGeom>
        </p:spPr>
      </p:pic>
    </p:spTree>
    <p:extLst>
      <p:ext uri="{BB962C8B-B14F-4D97-AF65-F5344CB8AC3E}">
        <p14:creationId xmlns:p14="http://schemas.microsoft.com/office/powerpoint/2010/main" val="3489517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EFC1C54-6D44-464D-B2C9-06EFF795534B}"/>
              </a:ext>
            </a:extLst>
          </p:cNvPr>
          <p:cNvSpPr/>
          <p:nvPr/>
        </p:nvSpPr>
        <p:spPr>
          <a:xfrm>
            <a:off x="3513018" y="0"/>
            <a:ext cx="5165966"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ANOVA | Ejemplo</a:t>
            </a:r>
          </a:p>
        </p:txBody>
      </p:sp>
      <p:sp>
        <p:nvSpPr>
          <p:cNvPr id="5" name="CuadroTexto 4">
            <a:extLst>
              <a:ext uri="{FF2B5EF4-FFF2-40B4-BE49-F238E27FC236}">
                <a16:creationId xmlns:a16="http://schemas.microsoft.com/office/drawing/2014/main" id="{5563EE2A-F9F3-496B-9C06-FDA7B10F09E4}"/>
              </a:ext>
            </a:extLst>
          </p:cNvPr>
          <p:cNvSpPr txBox="1"/>
          <p:nvPr/>
        </p:nvSpPr>
        <p:spPr>
          <a:xfrm>
            <a:off x="477672" y="873456"/>
            <a:ext cx="11313994" cy="2031325"/>
          </a:xfrm>
          <a:prstGeom prst="rect">
            <a:avLst/>
          </a:prstGeom>
          <a:noFill/>
        </p:spPr>
        <p:txBody>
          <a:bodyPr wrap="square" rtlCol="0">
            <a:spAutoFit/>
          </a:bodyPr>
          <a:lstStyle/>
          <a:p>
            <a:pPr algn="just"/>
            <a:r>
              <a:rPr lang="es-ES" b="0" i="0" dirty="0">
                <a:solidFill>
                  <a:srgbClr val="333333"/>
                </a:solidFill>
                <a:effectLst/>
                <a:latin typeface="Verdana" panose="020B0604030504040204" pitchFamily="34" charset="0"/>
                <a:ea typeface="Verdana" panose="020B0604030504040204" pitchFamily="34" charset="0"/>
              </a:rPr>
              <a:t>Tenemos un pequeño negocio que vende donas, frecuentemente compramos las donas a dos panaderías artesanales de la zona, sin embargo hay una nueva panadería que abrió recientemente y nos ofrece su producto, se le compran 4 donas de prueba y se compara con 4 donas de las otras dos panaderías, se desea verificar si hay alguna variante entre el peso de las donas que compramos normalmente (G3 y G2) y las nuevas que nos ofrecen (G1) para decidir si hacer o no la compra a la nueva panadería, determine si las medidas de los grupos son iguales con una significancia del 0.05</a:t>
            </a:r>
          </a:p>
        </p:txBody>
      </p:sp>
      <p:graphicFrame>
        <p:nvGraphicFramePr>
          <p:cNvPr id="2" name="Tabla 2">
            <a:extLst>
              <a:ext uri="{FF2B5EF4-FFF2-40B4-BE49-F238E27FC236}">
                <a16:creationId xmlns:a16="http://schemas.microsoft.com/office/drawing/2014/main" id="{0705A553-99B5-4408-B933-17B1D97DBBE2}"/>
              </a:ext>
            </a:extLst>
          </p:cNvPr>
          <p:cNvGraphicFramePr>
            <a:graphicFrameLocks noGrp="1"/>
          </p:cNvGraphicFramePr>
          <p:nvPr>
            <p:extLst>
              <p:ext uri="{D42A27DB-BD31-4B8C-83A1-F6EECF244321}">
                <p14:modId xmlns:p14="http://schemas.microsoft.com/office/powerpoint/2010/main" val="1430527194"/>
              </p:ext>
            </p:extLst>
          </p:nvPr>
        </p:nvGraphicFramePr>
        <p:xfrm>
          <a:off x="639929" y="3121671"/>
          <a:ext cx="1749988" cy="1854200"/>
        </p:xfrm>
        <a:graphic>
          <a:graphicData uri="http://schemas.openxmlformats.org/drawingml/2006/table">
            <a:tbl>
              <a:tblPr firstRow="1" bandRow="1">
                <a:tableStyleId>{5C22544A-7EE6-4342-B048-85BDC9FD1C3A}</a:tableStyleId>
              </a:tblPr>
              <a:tblGrid>
                <a:gridCol w="451892">
                  <a:extLst>
                    <a:ext uri="{9D8B030D-6E8A-4147-A177-3AD203B41FA5}">
                      <a16:colId xmlns:a16="http://schemas.microsoft.com/office/drawing/2014/main" val="2484249163"/>
                    </a:ext>
                  </a:extLst>
                </a:gridCol>
                <a:gridCol w="532262">
                  <a:extLst>
                    <a:ext uri="{9D8B030D-6E8A-4147-A177-3AD203B41FA5}">
                      <a16:colId xmlns:a16="http://schemas.microsoft.com/office/drawing/2014/main" val="4187904380"/>
                    </a:ext>
                  </a:extLst>
                </a:gridCol>
                <a:gridCol w="765834">
                  <a:extLst>
                    <a:ext uri="{9D8B030D-6E8A-4147-A177-3AD203B41FA5}">
                      <a16:colId xmlns:a16="http://schemas.microsoft.com/office/drawing/2014/main" val="1294615550"/>
                    </a:ext>
                  </a:extLst>
                </a:gridCol>
              </a:tblGrid>
              <a:tr h="370840">
                <a:tc>
                  <a:txBody>
                    <a:bodyPr/>
                    <a:lstStyle/>
                    <a:p>
                      <a:r>
                        <a:rPr lang="es-NI" dirty="0"/>
                        <a:t>G1</a:t>
                      </a:r>
                    </a:p>
                  </a:txBody>
                  <a:tcPr/>
                </a:tc>
                <a:tc>
                  <a:txBody>
                    <a:bodyPr/>
                    <a:lstStyle/>
                    <a:p>
                      <a:r>
                        <a:rPr lang="es-NI" dirty="0"/>
                        <a:t>G2</a:t>
                      </a:r>
                    </a:p>
                  </a:txBody>
                  <a:tcPr/>
                </a:tc>
                <a:tc>
                  <a:txBody>
                    <a:bodyPr/>
                    <a:lstStyle/>
                    <a:p>
                      <a:r>
                        <a:rPr lang="es-NI" dirty="0"/>
                        <a:t>G3</a:t>
                      </a:r>
                    </a:p>
                  </a:txBody>
                  <a:tcPr/>
                </a:tc>
                <a:extLst>
                  <a:ext uri="{0D108BD9-81ED-4DB2-BD59-A6C34878D82A}">
                    <a16:rowId xmlns:a16="http://schemas.microsoft.com/office/drawing/2014/main" val="2104470785"/>
                  </a:ext>
                </a:extLst>
              </a:tr>
              <a:tr h="370840">
                <a:tc>
                  <a:txBody>
                    <a:bodyPr/>
                    <a:lstStyle/>
                    <a:p>
                      <a:r>
                        <a:rPr lang="es-NI" dirty="0"/>
                        <a:t>8</a:t>
                      </a:r>
                    </a:p>
                  </a:txBody>
                  <a:tcPr/>
                </a:tc>
                <a:tc>
                  <a:txBody>
                    <a:bodyPr/>
                    <a:lstStyle/>
                    <a:p>
                      <a:r>
                        <a:rPr lang="es-NI" dirty="0"/>
                        <a:t>3</a:t>
                      </a:r>
                    </a:p>
                  </a:txBody>
                  <a:tcPr/>
                </a:tc>
                <a:tc>
                  <a:txBody>
                    <a:bodyPr/>
                    <a:lstStyle/>
                    <a:p>
                      <a:r>
                        <a:rPr lang="es-NI" dirty="0"/>
                        <a:t>3</a:t>
                      </a:r>
                    </a:p>
                  </a:txBody>
                  <a:tcPr/>
                </a:tc>
                <a:extLst>
                  <a:ext uri="{0D108BD9-81ED-4DB2-BD59-A6C34878D82A}">
                    <a16:rowId xmlns:a16="http://schemas.microsoft.com/office/drawing/2014/main" val="1530175518"/>
                  </a:ext>
                </a:extLst>
              </a:tr>
              <a:tr h="370840">
                <a:tc>
                  <a:txBody>
                    <a:bodyPr/>
                    <a:lstStyle/>
                    <a:p>
                      <a:r>
                        <a:rPr lang="es-NI" dirty="0"/>
                        <a:t>6</a:t>
                      </a:r>
                    </a:p>
                  </a:txBody>
                  <a:tcPr/>
                </a:tc>
                <a:tc>
                  <a:txBody>
                    <a:bodyPr/>
                    <a:lstStyle/>
                    <a:p>
                      <a:r>
                        <a:rPr lang="es-NI" dirty="0"/>
                        <a:t>2</a:t>
                      </a:r>
                    </a:p>
                  </a:txBody>
                  <a:tcPr/>
                </a:tc>
                <a:tc>
                  <a:txBody>
                    <a:bodyPr/>
                    <a:lstStyle/>
                    <a:p>
                      <a:r>
                        <a:rPr lang="es-NI" dirty="0"/>
                        <a:t>4</a:t>
                      </a:r>
                    </a:p>
                  </a:txBody>
                  <a:tcPr/>
                </a:tc>
                <a:extLst>
                  <a:ext uri="{0D108BD9-81ED-4DB2-BD59-A6C34878D82A}">
                    <a16:rowId xmlns:a16="http://schemas.microsoft.com/office/drawing/2014/main" val="3167785662"/>
                  </a:ext>
                </a:extLst>
              </a:tr>
              <a:tr h="370840">
                <a:tc>
                  <a:txBody>
                    <a:bodyPr/>
                    <a:lstStyle/>
                    <a:p>
                      <a:r>
                        <a:rPr lang="es-NI" dirty="0"/>
                        <a:t>10</a:t>
                      </a:r>
                    </a:p>
                  </a:txBody>
                  <a:tcPr/>
                </a:tc>
                <a:tc>
                  <a:txBody>
                    <a:bodyPr/>
                    <a:lstStyle/>
                    <a:p>
                      <a:r>
                        <a:rPr lang="es-NI" dirty="0"/>
                        <a:t>4</a:t>
                      </a:r>
                    </a:p>
                  </a:txBody>
                  <a:tcPr/>
                </a:tc>
                <a:tc>
                  <a:txBody>
                    <a:bodyPr/>
                    <a:lstStyle/>
                    <a:p>
                      <a:r>
                        <a:rPr lang="es-NI" dirty="0"/>
                        <a:t>5</a:t>
                      </a:r>
                    </a:p>
                  </a:txBody>
                  <a:tcPr/>
                </a:tc>
                <a:extLst>
                  <a:ext uri="{0D108BD9-81ED-4DB2-BD59-A6C34878D82A}">
                    <a16:rowId xmlns:a16="http://schemas.microsoft.com/office/drawing/2014/main" val="1601750119"/>
                  </a:ext>
                </a:extLst>
              </a:tr>
              <a:tr h="370840">
                <a:tc>
                  <a:txBody>
                    <a:bodyPr/>
                    <a:lstStyle/>
                    <a:p>
                      <a:r>
                        <a:rPr lang="es-NI" dirty="0"/>
                        <a:t>9</a:t>
                      </a:r>
                    </a:p>
                  </a:txBody>
                  <a:tcPr/>
                </a:tc>
                <a:tc>
                  <a:txBody>
                    <a:bodyPr/>
                    <a:lstStyle/>
                    <a:p>
                      <a:r>
                        <a:rPr lang="es-NI" dirty="0"/>
                        <a:t>3</a:t>
                      </a:r>
                    </a:p>
                  </a:txBody>
                  <a:tcPr/>
                </a:tc>
                <a:tc>
                  <a:txBody>
                    <a:bodyPr/>
                    <a:lstStyle/>
                    <a:p>
                      <a:r>
                        <a:rPr lang="es-NI" dirty="0"/>
                        <a:t>4</a:t>
                      </a:r>
                    </a:p>
                  </a:txBody>
                  <a:tcPr/>
                </a:tc>
                <a:extLst>
                  <a:ext uri="{0D108BD9-81ED-4DB2-BD59-A6C34878D82A}">
                    <a16:rowId xmlns:a16="http://schemas.microsoft.com/office/drawing/2014/main" val="3288788941"/>
                  </a:ext>
                </a:extLst>
              </a:tr>
            </a:tbl>
          </a:graphicData>
        </a:graphic>
      </p:graphicFrame>
      <p:sp>
        <p:nvSpPr>
          <p:cNvPr id="6" name="CuadroTexto 5">
            <a:extLst>
              <a:ext uri="{FF2B5EF4-FFF2-40B4-BE49-F238E27FC236}">
                <a16:creationId xmlns:a16="http://schemas.microsoft.com/office/drawing/2014/main" id="{34439858-178A-403B-B2A7-47551D446D9A}"/>
              </a:ext>
            </a:extLst>
          </p:cNvPr>
          <p:cNvSpPr txBox="1"/>
          <p:nvPr/>
        </p:nvSpPr>
        <p:spPr>
          <a:xfrm>
            <a:off x="2688610" y="3019524"/>
            <a:ext cx="5445456" cy="369332"/>
          </a:xfrm>
          <a:prstGeom prst="rect">
            <a:avLst/>
          </a:prstGeom>
          <a:noFill/>
        </p:spPr>
        <p:txBody>
          <a:bodyPr wrap="square" rtlCol="0">
            <a:spAutoFit/>
          </a:bodyPr>
          <a:lstStyle/>
          <a:p>
            <a:r>
              <a:rPr lang="es-NI" b="1" dirty="0">
                <a:latin typeface="Verdana" panose="020B0604030504040204" pitchFamily="34" charset="0"/>
                <a:ea typeface="Verdana" panose="020B0604030504040204" pitchFamily="34" charset="0"/>
              </a:rPr>
              <a:t>Paso #01: Plantear las hipótesis</a:t>
            </a:r>
          </a:p>
        </p:txBody>
      </p:sp>
      <p:sp>
        <p:nvSpPr>
          <p:cNvPr id="8" name="CuadroTexto 7">
            <a:extLst>
              <a:ext uri="{FF2B5EF4-FFF2-40B4-BE49-F238E27FC236}">
                <a16:creationId xmlns:a16="http://schemas.microsoft.com/office/drawing/2014/main" id="{EA9E38FF-684F-4A69-9BD6-1F6F2611D92E}"/>
              </a:ext>
            </a:extLst>
          </p:cNvPr>
          <p:cNvSpPr txBox="1"/>
          <p:nvPr/>
        </p:nvSpPr>
        <p:spPr>
          <a:xfrm>
            <a:off x="3302759" y="3546900"/>
            <a:ext cx="9921922" cy="646331"/>
          </a:xfrm>
          <a:prstGeom prst="rect">
            <a:avLst/>
          </a:prstGeom>
          <a:noFill/>
        </p:spPr>
        <p:txBody>
          <a:bodyPr wrap="square" rtlCol="0">
            <a:spAutoFit/>
          </a:bodyPr>
          <a:lstStyle/>
          <a:p>
            <a:pPr marL="627063" indent="-285750" algn="just">
              <a:buFont typeface="Arial" panose="020B0604020202020204" pitchFamily="34" charset="0"/>
              <a:buChar char="•"/>
            </a:pPr>
            <a:r>
              <a:rPr lang="es-ES" b="0" i="0" dirty="0">
                <a:solidFill>
                  <a:srgbClr val="333333"/>
                </a:solidFill>
                <a:effectLst/>
                <a:latin typeface="Verdana" panose="020B0604030504040204" pitchFamily="34" charset="0"/>
                <a:ea typeface="Verdana" panose="020B0604030504040204" pitchFamily="34" charset="0"/>
              </a:rPr>
              <a:t>H</a:t>
            </a:r>
            <a:r>
              <a:rPr lang="es-ES" b="0" i="0" baseline="-25000" dirty="0">
                <a:solidFill>
                  <a:srgbClr val="333333"/>
                </a:solidFill>
                <a:effectLst/>
                <a:latin typeface="Verdana" panose="020B0604030504040204" pitchFamily="34" charset="0"/>
                <a:ea typeface="Verdana" panose="020B0604030504040204" pitchFamily="34" charset="0"/>
              </a:rPr>
              <a:t>0</a:t>
            </a:r>
            <a:r>
              <a:rPr lang="es-ES" b="0" i="0" dirty="0">
                <a:solidFill>
                  <a:srgbClr val="333333"/>
                </a:solidFill>
                <a:effectLst/>
                <a:latin typeface="Verdana" panose="020B0604030504040204" pitchFamily="34" charset="0"/>
                <a:ea typeface="Verdana" panose="020B0604030504040204" pitchFamily="34" charset="0"/>
              </a:rPr>
              <a:t>: No hay diferencias entre las medias de los diferentes grupos</a:t>
            </a:r>
          </a:p>
          <a:p>
            <a:pPr marL="627063" indent="-285750" algn="just">
              <a:buFont typeface="Arial" panose="020B0604020202020204" pitchFamily="34" charset="0"/>
              <a:buChar char="•"/>
            </a:pPr>
            <a:r>
              <a:rPr lang="es-ES" b="0" i="0" dirty="0">
                <a:solidFill>
                  <a:srgbClr val="333333"/>
                </a:solidFill>
                <a:effectLst/>
                <a:latin typeface="Verdana" panose="020B0604030504040204" pitchFamily="34" charset="0"/>
                <a:ea typeface="Verdana" panose="020B0604030504040204" pitchFamily="34" charset="0"/>
              </a:rPr>
              <a:t>H</a:t>
            </a:r>
            <a:r>
              <a:rPr lang="es-ES" b="0" i="0" baseline="-25000" dirty="0">
                <a:solidFill>
                  <a:srgbClr val="333333"/>
                </a:solidFill>
                <a:effectLst/>
                <a:latin typeface="Verdana" panose="020B0604030504040204" pitchFamily="34" charset="0"/>
                <a:ea typeface="Verdana" panose="020B0604030504040204" pitchFamily="34" charset="0"/>
              </a:rPr>
              <a:t>1</a:t>
            </a:r>
            <a:r>
              <a:rPr lang="es-ES" b="0" i="0" dirty="0">
                <a:solidFill>
                  <a:srgbClr val="333333"/>
                </a:solidFill>
                <a:effectLst/>
                <a:latin typeface="Verdana" panose="020B0604030504040204" pitchFamily="34" charset="0"/>
                <a:ea typeface="Verdana" panose="020B0604030504040204" pitchFamily="34" charset="0"/>
              </a:rPr>
              <a:t>: Al menos una de las medias son significativamente distintas</a:t>
            </a:r>
            <a:endParaRPr lang="es-NI" dirty="0"/>
          </a:p>
        </p:txBody>
      </p:sp>
      <p:sp>
        <p:nvSpPr>
          <p:cNvPr id="9" name="CuadroTexto 8">
            <a:extLst>
              <a:ext uri="{FF2B5EF4-FFF2-40B4-BE49-F238E27FC236}">
                <a16:creationId xmlns:a16="http://schemas.microsoft.com/office/drawing/2014/main" id="{14BB83CD-FFC5-4E0E-A309-3831FA66D4F9}"/>
              </a:ext>
            </a:extLst>
          </p:cNvPr>
          <p:cNvSpPr txBox="1"/>
          <p:nvPr/>
        </p:nvSpPr>
        <p:spPr>
          <a:xfrm>
            <a:off x="2688609" y="4343525"/>
            <a:ext cx="9921921" cy="369332"/>
          </a:xfrm>
          <a:prstGeom prst="rect">
            <a:avLst/>
          </a:prstGeom>
          <a:noFill/>
        </p:spPr>
        <p:txBody>
          <a:bodyPr wrap="square" rtlCol="0">
            <a:spAutoFit/>
          </a:bodyPr>
          <a:lstStyle/>
          <a:p>
            <a:r>
              <a:rPr lang="es-NI" b="1" dirty="0">
                <a:latin typeface="Verdana" panose="020B0604030504040204" pitchFamily="34" charset="0"/>
                <a:ea typeface="Verdana" panose="020B0604030504040204" pitchFamily="34" charset="0"/>
              </a:rPr>
              <a:t>Paso #02: Determinar el nivel de significancia</a:t>
            </a:r>
          </a:p>
        </p:txBody>
      </p:sp>
      <p:sp>
        <p:nvSpPr>
          <p:cNvPr id="3" name="CuadroTexto 2">
            <a:extLst>
              <a:ext uri="{FF2B5EF4-FFF2-40B4-BE49-F238E27FC236}">
                <a16:creationId xmlns:a16="http://schemas.microsoft.com/office/drawing/2014/main" id="{0572B8D7-FF98-4CBA-A5E1-FFDE98BBB6E7}"/>
              </a:ext>
            </a:extLst>
          </p:cNvPr>
          <p:cNvSpPr txBox="1"/>
          <p:nvPr/>
        </p:nvSpPr>
        <p:spPr>
          <a:xfrm>
            <a:off x="4053386" y="4890447"/>
            <a:ext cx="4421874" cy="369332"/>
          </a:xfrm>
          <a:prstGeom prst="rect">
            <a:avLst/>
          </a:prstGeom>
          <a:noFill/>
        </p:spPr>
        <p:txBody>
          <a:bodyPr wrap="square" rtlCol="0">
            <a:spAutoFit/>
          </a:bodyPr>
          <a:lstStyle/>
          <a:p>
            <a:r>
              <a:rPr lang="es-NI" dirty="0"/>
              <a:t>=0.05</a:t>
            </a:r>
          </a:p>
        </p:txBody>
      </p:sp>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F0BD5F95-A404-45F6-97DF-8FBA80B3C018}"/>
                  </a:ext>
                </a:extLst>
              </p:cNvPr>
              <p:cNvSpPr txBox="1"/>
              <p:nvPr/>
            </p:nvSpPr>
            <p:spPr>
              <a:xfrm>
                <a:off x="3848670" y="4879999"/>
                <a:ext cx="285335" cy="3693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s-NI" sz="2400" smtClean="0">
                          <a:latin typeface="Cambria Math" panose="02040503050406030204" pitchFamily="18" charset="0"/>
                        </a:rPr>
                        <m:t>∝</m:t>
                      </m:r>
                    </m:oMath>
                  </m:oMathPara>
                </a14:m>
                <a:endParaRPr lang="es-NI" sz="2400" dirty="0"/>
              </a:p>
            </p:txBody>
          </p:sp>
        </mc:Choice>
        <mc:Fallback>
          <p:sp>
            <p:nvSpPr>
              <p:cNvPr id="10" name="CuadroTexto 9">
                <a:extLst>
                  <a:ext uri="{FF2B5EF4-FFF2-40B4-BE49-F238E27FC236}">
                    <a16:creationId xmlns:a16="http://schemas.microsoft.com/office/drawing/2014/main" id="{F0BD5F95-A404-45F6-97DF-8FBA80B3C018}"/>
                  </a:ext>
                </a:extLst>
              </p:cNvPr>
              <p:cNvSpPr txBox="1">
                <a:spLocks noRot="1" noChangeAspect="1" noMove="1" noResize="1" noEditPoints="1" noAdjustHandles="1" noChangeArrowheads="1" noChangeShapeType="1" noTextEdit="1"/>
              </p:cNvSpPr>
              <p:nvPr/>
            </p:nvSpPr>
            <p:spPr>
              <a:xfrm>
                <a:off x="3848670" y="4879999"/>
                <a:ext cx="285335" cy="369332"/>
              </a:xfrm>
              <a:prstGeom prst="rect">
                <a:avLst/>
              </a:prstGeom>
              <a:blipFill>
                <a:blip r:embed="rId2"/>
                <a:stretch>
                  <a:fillRect l="-14894" r="-17021"/>
                </a:stretch>
              </a:blipFill>
            </p:spPr>
            <p:txBody>
              <a:bodyPr/>
              <a:lstStyle/>
              <a:p>
                <a:r>
                  <a:rPr lang="es-NI">
                    <a:noFill/>
                  </a:rPr>
                  <a:t> </a:t>
                </a:r>
              </a:p>
            </p:txBody>
          </p:sp>
        </mc:Fallback>
      </mc:AlternateContent>
    </p:spTree>
    <p:extLst>
      <p:ext uri="{BB962C8B-B14F-4D97-AF65-F5344CB8AC3E}">
        <p14:creationId xmlns:p14="http://schemas.microsoft.com/office/powerpoint/2010/main" val="1937942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EFC1C54-6D44-464D-B2C9-06EFF795534B}"/>
              </a:ext>
            </a:extLst>
          </p:cNvPr>
          <p:cNvSpPr/>
          <p:nvPr/>
        </p:nvSpPr>
        <p:spPr>
          <a:xfrm>
            <a:off x="3513018" y="0"/>
            <a:ext cx="5165966"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ANOVA | Ejemplo</a:t>
            </a:r>
          </a:p>
        </p:txBody>
      </p:sp>
      <p:sp>
        <p:nvSpPr>
          <p:cNvPr id="10" name="CuadroTexto 9">
            <a:extLst>
              <a:ext uri="{FF2B5EF4-FFF2-40B4-BE49-F238E27FC236}">
                <a16:creationId xmlns:a16="http://schemas.microsoft.com/office/drawing/2014/main" id="{066090D6-E48B-40A4-BA4B-7CBC43ABE594}"/>
              </a:ext>
            </a:extLst>
          </p:cNvPr>
          <p:cNvSpPr txBox="1"/>
          <p:nvPr/>
        </p:nvSpPr>
        <p:spPr>
          <a:xfrm>
            <a:off x="150126" y="923330"/>
            <a:ext cx="6387152" cy="369332"/>
          </a:xfrm>
          <a:prstGeom prst="rect">
            <a:avLst/>
          </a:prstGeom>
          <a:noFill/>
        </p:spPr>
        <p:txBody>
          <a:bodyPr wrap="square" rtlCol="0">
            <a:spAutoFit/>
          </a:bodyPr>
          <a:lstStyle/>
          <a:p>
            <a:r>
              <a:rPr lang="es-NI" b="1" dirty="0">
                <a:latin typeface="Verdana" panose="020B0604030504040204" pitchFamily="34" charset="0"/>
                <a:ea typeface="Verdana" panose="020B0604030504040204" pitchFamily="34" charset="0"/>
              </a:rPr>
              <a:t>Paso #03: Calcular el estadístico de prueba</a:t>
            </a:r>
          </a:p>
        </p:txBody>
      </p:sp>
      <p:sp>
        <p:nvSpPr>
          <p:cNvPr id="11" name="CuadroTexto 10">
            <a:extLst>
              <a:ext uri="{FF2B5EF4-FFF2-40B4-BE49-F238E27FC236}">
                <a16:creationId xmlns:a16="http://schemas.microsoft.com/office/drawing/2014/main" id="{B6533724-6851-43EE-8874-D8A43FB88E51}"/>
              </a:ext>
            </a:extLst>
          </p:cNvPr>
          <p:cNvSpPr txBox="1"/>
          <p:nvPr/>
        </p:nvSpPr>
        <p:spPr>
          <a:xfrm>
            <a:off x="496863" y="1292662"/>
            <a:ext cx="5753812" cy="369332"/>
          </a:xfrm>
          <a:prstGeom prst="rect">
            <a:avLst/>
          </a:prstGeom>
          <a:noFill/>
        </p:spPr>
        <p:txBody>
          <a:bodyPr wrap="square" rtlCol="0">
            <a:spAutoFit/>
          </a:bodyPr>
          <a:lstStyle/>
          <a:p>
            <a:r>
              <a:rPr lang="es-NI" dirty="0">
                <a:latin typeface="Verdana" panose="020B0604030504040204" pitchFamily="34" charset="0"/>
                <a:ea typeface="Verdana" panose="020B0604030504040204" pitchFamily="34" charset="0"/>
              </a:rPr>
              <a:t>A. Encontrar la media aritmética de cada grupo</a:t>
            </a:r>
          </a:p>
        </p:txBody>
      </p:sp>
      <p:graphicFrame>
        <p:nvGraphicFramePr>
          <p:cNvPr id="12" name="Tabla 2">
            <a:extLst>
              <a:ext uri="{FF2B5EF4-FFF2-40B4-BE49-F238E27FC236}">
                <a16:creationId xmlns:a16="http://schemas.microsoft.com/office/drawing/2014/main" id="{12EBD61C-41F1-40DC-BDE4-1EFA8E7A8ECA}"/>
              </a:ext>
            </a:extLst>
          </p:cNvPr>
          <p:cNvGraphicFramePr>
            <a:graphicFrameLocks noGrp="1"/>
          </p:cNvGraphicFramePr>
          <p:nvPr>
            <p:extLst>
              <p:ext uri="{D42A27DB-BD31-4B8C-83A1-F6EECF244321}">
                <p14:modId xmlns:p14="http://schemas.microsoft.com/office/powerpoint/2010/main" val="2553116883"/>
              </p:ext>
            </p:extLst>
          </p:nvPr>
        </p:nvGraphicFramePr>
        <p:xfrm>
          <a:off x="817349" y="1797838"/>
          <a:ext cx="1871259" cy="2225040"/>
        </p:xfrm>
        <a:graphic>
          <a:graphicData uri="http://schemas.openxmlformats.org/drawingml/2006/table">
            <a:tbl>
              <a:tblPr firstRow="1" bandRow="1">
                <a:tableStyleId>{5C22544A-7EE6-4342-B048-85BDC9FD1C3A}</a:tableStyleId>
              </a:tblPr>
              <a:tblGrid>
                <a:gridCol w="629142">
                  <a:extLst>
                    <a:ext uri="{9D8B030D-6E8A-4147-A177-3AD203B41FA5}">
                      <a16:colId xmlns:a16="http://schemas.microsoft.com/office/drawing/2014/main" val="2484249163"/>
                    </a:ext>
                  </a:extLst>
                </a:gridCol>
                <a:gridCol w="573378">
                  <a:extLst>
                    <a:ext uri="{9D8B030D-6E8A-4147-A177-3AD203B41FA5}">
                      <a16:colId xmlns:a16="http://schemas.microsoft.com/office/drawing/2014/main" val="4187904380"/>
                    </a:ext>
                  </a:extLst>
                </a:gridCol>
                <a:gridCol w="668739">
                  <a:extLst>
                    <a:ext uri="{9D8B030D-6E8A-4147-A177-3AD203B41FA5}">
                      <a16:colId xmlns:a16="http://schemas.microsoft.com/office/drawing/2014/main" val="1294615550"/>
                    </a:ext>
                  </a:extLst>
                </a:gridCol>
              </a:tblGrid>
              <a:tr h="370840">
                <a:tc>
                  <a:txBody>
                    <a:bodyPr/>
                    <a:lstStyle/>
                    <a:p>
                      <a:r>
                        <a:rPr lang="es-NI" dirty="0"/>
                        <a:t>G1</a:t>
                      </a:r>
                    </a:p>
                  </a:txBody>
                  <a:tcPr/>
                </a:tc>
                <a:tc>
                  <a:txBody>
                    <a:bodyPr/>
                    <a:lstStyle/>
                    <a:p>
                      <a:r>
                        <a:rPr lang="es-NI" dirty="0"/>
                        <a:t>G2</a:t>
                      </a:r>
                    </a:p>
                  </a:txBody>
                  <a:tcPr/>
                </a:tc>
                <a:tc>
                  <a:txBody>
                    <a:bodyPr/>
                    <a:lstStyle/>
                    <a:p>
                      <a:r>
                        <a:rPr lang="es-NI" dirty="0"/>
                        <a:t>G3</a:t>
                      </a:r>
                    </a:p>
                  </a:txBody>
                  <a:tcPr/>
                </a:tc>
                <a:extLst>
                  <a:ext uri="{0D108BD9-81ED-4DB2-BD59-A6C34878D82A}">
                    <a16:rowId xmlns:a16="http://schemas.microsoft.com/office/drawing/2014/main" val="2104470785"/>
                  </a:ext>
                </a:extLst>
              </a:tr>
              <a:tr h="370840">
                <a:tc>
                  <a:txBody>
                    <a:bodyPr/>
                    <a:lstStyle/>
                    <a:p>
                      <a:r>
                        <a:rPr lang="es-NI" dirty="0"/>
                        <a:t>8</a:t>
                      </a:r>
                    </a:p>
                  </a:txBody>
                  <a:tcPr/>
                </a:tc>
                <a:tc>
                  <a:txBody>
                    <a:bodyPr/>
                    <a:lstStyle/>
                    <a:p>
                      <a:r>
                        <a:rPr lang="es-NI" dirty="0"/>
                        <a:t>3</a:t>
                      </a:r>
                    </a:p>
                  </a:txBody>
                  <a:tcPr/>
                </a:tc>
                <a:tc>
                  <a:txBody>
                    <a:bodyPr/>
                    <a:lstStyle/>
                    <a:p>
                      <a:r>
                        <a:rPr lang="es-NI" dirty="0"/>
                        <a:t>3</a:t>
                      </a:r>
                    </a:p>
                  </a:txBody>
                  <a:tcPr/>
                </a:tc>
                <a:extLst>
                  <a:ext uri="{0D108BD9-81ED-4DB2-BD59-A6C34878D82A}">
                    <a16:rowId xmlns:a16="http://schemas.microsoft.com/office/drawing/2014/main" val="1530175518"/>
                  </a:ext>
                </a:extLst>
              </a:tr>
              <a:tr h="370840">
                <a:tc>
                  <a:txBody>
                    <a:bodyPr/>
                    <a:lstStyle/>
                    <a:p>
                      <a:r>
                        <a:rPr lang="es-NI" dirty="0"/>
                        <a:t>6</a:t>
                      </a:r>
                    </a:p>
                  </a:txBody>
                  <a:tcPr/>
                </a:tc>
                <a:tc>
                  <a:txBody>
                    <a:bodyPr/>
                    <a:lstStyle/>
                    <a:p>
                      <a:r>
                        <a:rPr lang="es-NI" dirty="0"/>
                        <a:t>2</a:t>
                      </a:r>
                    </a:p>
                  </a:txBody>
                  <a:tcPr/>
                </a:tc>
                <a:tc>
                  <a:txBody>
                    <a:bodyPr/>
                    <a:lstStyle/>
                    <a:p>
                      <a:r>
                        <a:rPr lang="es-NI" dirty="0"/>
                        <a:t>4</a:t>
                      </a:r>
                    </a:p>
                  </a:txBody>
                  <a:tcPr/>
                </a:tc>
                <a:extLst>
                  <a:ext uri="{0D108BD9-81ED-4DB2-BD59-A6C34878D82A}">
                    <a16:rowId xmlns:a16="http://schemas.microsoft.com/office/drawing/2014/main" val="3167785662"/>
                  </a:ext>
                </a:extLst>
              </a:tr>
              <a:tr h="370840">
                <a:tc>
                  <a:txBody>
                    <a:bodyPr/>
                    <a:lstStyle/>
                    <a:p>
                      <a:r>
                        <a:rPr lang="es-NI" dirty="0"/>
                        <a:t>10</a:t>
                      </a:r>
                    </a:p>
                  </a:txBody>
                  <a:tcPr/>
                </a:tc>
                <a:tc>
                  <a:txBody>
                    <a:bodyPr/>
                    <a:lstStyle/>
                    <a:p>
                      <a:r>
                        <a:rPr lang="es-NI" dirty="0"/>
                        <a:t>4</a:t>
                      </a:r>
                    </a:p>
                  </a:txBody>
                  <a:tcPr/>
                </a:tc>
                <a:tc>
                  <a:txBody>
                    <a:bodyPr/>
                    <a:lstStyle/>
                    <a:p>
                      <a:r>
                        <a:rPr lang="es-NI" dirty="0"/>
                        <a:t>5</a:t>
                      </a:r>
                    </a:p>
                  </a:txBody>
                  <a:tcPr/>
                </a:tc>
                <a:extLst>
                  <a:ext uri="{0D108BD9-81ED-4DB2-BD59-A6C34878D82A}">
                    <a16:rowId xmlns:a16="http://schemas.microsoft.com/office/drawing/2014/main" val="1601750119"/>
                  </a:ext>
                </a:extLst>
              </a:tr>
              <a:tr h="370840">
                <a:tc>
                  <a:txBody>
                    <a:bodyPr/>
                    <a:lstStyle/>
                    <a:p>
                      <a:r>
                        <a:rPr lang="es-NI" dirty="0"/>
                        <a:t>9</a:t>
                      </a:r>
                    </a:p>
                  </a:txBody>
                  <a:tcPr/>
                </a:tc>
                <a:tc>
                  <a:txBody>
                    <a:bodyPr/>
                    <a:lstStyle/>
                    <a:p>
                      <a:r>
                        <a:rPr lang="es-NI" dirty="0"/>
                        <a:t>3</a:t>
                      </a:r>
                    </a:p>
                  </a:txBody>
                  <a:tcPr/>
                </a:tc>
                <a:tc>
                  <a:txBody>
                    <a:bodyPr/>
                    <a:lstStyle/>
                    <a:p>
                      <a:r>
                        <a:rPr lang="es-NI" dirty="0"/>
                        <a:t>4</a:t>
                      </a:r>
                    </a:p>
                  </a:txBody>
                  <a:tcPr/>
                </a:tc>
                <a:extLst>
                  <a:ext uri="{0D108BD9-81ED-4DB2-BD59-A6C34878D82A}">
                    <a16:rowId xmlns:a16="http://schemas.microsoft.com/office/drawing/2014/main" val="3288788941"/>
                  </a:ext>
                </a:extLst>
              </a:tr>
              <a:tr h="370840">
                <a:tc>
                  <a:txBody>
                    <a:bodyPr/>
                    <a:lstStyle/>
                    <a:p>
                      <a:pPr algn="ctr"/>
                      <a:r>
                        <a:rPr lang="es-NI" b="1" dirty="0"/>
                        <a:t>8.25</a:t>
                      </a:r>
                    </a:p>
                  </a:txBody>
                  <a:tcPr/>
                </a:tc>
                <a:tc>
                  <a:txBody>
                    <a:bodyPr/>
                    <a:lstStyle/>
                    <a:p>
                      <a:pPr algn="ctr"/>
                      <a:r>
                        <a:rPr lang="es-NI" b="1" dirty="0"/>
                        <a:t>3</a:t>
                      </a:r>
                    </a:p>
                  </a:txBody>
                  <a:tcPr/>
                </a:tc>
                <a:tc>
                  <a:txBody>
                    <a:bodyPr/>
                    <a:lstStyle/>
                    <a:p>
                      <a:pPr algn="ctr"/>
                      <a:r>
                        <a:rPr lang="es-NI" b="1" dirty="0"/>
                        <a:t>4</a:t>
                      </a:r>
                    </a:p>
                  </a:txBody>
                  <a:tcPr/>
                </a:tc>
                <a:extLst>
                  <a:ext uri="{0D108BD9-81ED-4DB2-BD59-A6C34878D82A}">
                    <a16:rowId xmlns:a16="http://schemas.microsoft.com/office/drawing/2014/main" val="1973187439"/>
                  </a:ext>
                </a:extLst>
              </a:tr>
            </a:tbl>
          </a:graphicData>
        </a:graphic>
      </p:graphicFrame>
      <p:sp>
        <p:nvSpPr>
          <p:cNvPr id="13" name="CuadroTexto 12">
            <a:extLst>
              <a:ext uri="{FF2B5EF4-FFF2-40B4-BE49-F238E27FC236}">
                <a16:creationId xmlns:a16="http://schemas.microsoft.com/office/drawing/2014/main" id="{14511648-5A44-409F-8486-3202DDBBC4A9}"/>
              </a:ext>
            </a:extLst>
          </p:cNvPr>
          <p:cNvSpPr txBox="1"/>
          <p:nvPr/>
        </p:nvSpPr>
        <p:spPr>
          <a:xfrm>
            <a:off x="496863" y="4144316"/>
            <a:ext cx="5248844" cy="369332"/>
          </a:xfrm>
          <a:prstGeom prst="rect">
            <a:avLst/>
          </a:prstGeom>
          <a:noFill/>
        </p:spPr>
        <p:txBody>
          <a:bodyPr wrap="square" rtlCol="0">
            <a:spAutoFit/>
          </a:bodyPr>
          <a:lstStyle/>
          <a:p>
            <a:r>
              <a:rPr lang="es-NI" dirty="0">
                <a:latin typeface="Verdana" panose="020B0604030504040204" pitchFamily="34" charset="0"/>
                <a:ea typeface="Verdana" panose="020B0604030504040204" pitchFamily="34" charset="0"/>
              </a:rPr>
              <a:t>B. Calcular el valor n</a:t>
            </a:r>
          </a:p>
        </p:txBody>
      </p:sp>
      <p:sp>
        <p:nvSpPr>
          <p:cNvPr id="14" name="CuadroTexto 13">
            <a:extLst>
              <a:ext uri="{FF2B5EF4-FFF2-40B4-BE49-F238E27FC236}">
                <a16:creationId xmlns:a16="http://schemas.microsoft.com/office/drawing/2014/main" id="{E55EA0A3-5521-4F44-90BD-47740F7AB9CF}"/>
              </a:ext>
            </a:extLst>
          </p:cNvPr>
          <p:cNvSpPr txBox="1"/>
          <p:nvPr/>
        </p:nvSpPr>
        <p:spPr>
          <a:xfrm>
            <a:off x="817349" y="4635086"/>
            <a:ext cx="3932072" cy="923330"/>
          </a:xfrm>
          <a:prstGeom prst="rect">
            <a:avLst/>
          </a:prstGeom>
          <a:noFill/>
        </p:spPr>
        <p:txBody>
          <a:bodyPr wrap="square" rtlCol="0">
            <a:spAutoFit/>
          </a:bodyPr>
          <a:lstStyle/>
          <a:p>
            <a:r>
              <a:rPr lang="es-NI" dirty="0">
                <a:latin typeface="Verdana" panose="020B0604030504040204" pitchFamily="34" charset="0"/>
                <a:ea typeface="Verdana" panose="020B0604030504040204" pitchFamily="34" charset="0"/>
              </a:rPr>
              <a:t>n = Filas x Columnas</a:t>
            </a:r>
            <a:br>
              <a:rPr lang="es-NI" dirty="0">
                <a:latin typeface="Verdana" panose="020B0604030504040204" pitchFamily="34" charset="0"/>
                <a:ea typeface="Verdana" panose="020B0604030504040204" pitchFamily="34" charset="0"/>
              </a:rPr>
            </a:br>
            <a:r>
              <a:rPr lang="es-NI" dirty="0">
                <a:latin typeface="Verdana" panose="020B0604030504040204" pitchFamily="34" charset="0"/>
                <a:ea typeface="Verdana" panose="020B0604030504040204" pitchFamily="34" charset="0"/>
              </a:rPr>
              <a:t>n = 4 * 3</a:t>
            </a:r>
          </a:p>
          <a:p>
            <a:r>
              <a:rPr lang="es-NI" dirty="0">
                <a:latin typeface="Verdana" panose="020B0604030504040204" pitchFamily="34" charset="0"/>
                <a:ea typeface="Verdana" panose="020B0604030504040204" pitchFamily="34" charset="0"/>
              </a:rPr>
              <a:t>n = 12</a:t>
            </a:r>
          </a:p>
        </p:txBody>
      </p:sp>
      <p:sp>
        <p:nvSpPr>
          <p:cNvPr id="15" name="CuadroTexto 14">
            <a:extLst>
              <a:ext uri="{FF2B5EF4-FFF2-40B4-BE49-F238E27FC236}">
                <a16:creationId xmlns:a16="http://schemas.microsoft.com/office/drawing/2014/main" id="{33CCF1AD-8508-4CD2-BB04-17134A89589B}"/>
              </a:ext>
            </a:extLst>
          </p:cNvPr>
          <p:cNvSpPr txBox="1"/>
          <p:nvPr/>
        </p:nvSpPr>
        <p:spPr>
          <a:xfrm>
            <a:off x="6446293" y="1292662"/>
            <a:ext cx="5248844" cy="369332"/>
          </a:xfrm>
          <a:prstGeom prst="rect">
            <a:avLst/>
          </a:prstGeom>
          <a:noFill/>
        </p:spPr>
        <p:txBody>
          <a:bodyPr wrap="square" rtlCol="0">
            <a:spAutoFit/>
          </a:bodyPr>
          <a:lstStyle/>
          <a:p>
            <a:r>
              <a:rPr lang="es-NI" dirty="0">
                <a:latin typeface="Verdana" panose="020B0604030504040204" pitchFamily="34" charset="0"/>
                <a:ea typeface="Verdana" panose="020B0604030504040204" pitchFamily="34" charset="0"/>
              </a:rPr>
              <a:t>C. Calcular la gran media</a:t>
            </a:r>
          </a:p>
        </p:txBody>
      </p:sp>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709DE399-8739-4CED-B444-A5DDCCF3B378}"/>
                  </a:ext>
                </a:extLst>
              </p:cNvPr>
              <p:cNvSpPr txBox="1"/>
              <p:nvPr/>
            </p:nvSpPr>
            <p:spPr>
              <a:xfrm>
                <a:off x="6823880" y="1797838"/>
                <a:ext cx="2306472" cy="1090748"/>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acc>
                        <m:accPr>
                          <m:chr m:val="̅"/>
                          <m:ctrlPr>
                            <a:rPr lang="es-NI" sz="2000" smtClean="0">
                              <a:solidFill>
                                <a:srgbClr val="836967"/>
                              </a:solidFill>
                              <a:latin typeface="Cambria Math" panose="02040503050406030204" pitchFamily="18" charset="0"/>
                            </a:rPr>
                          </m:ctrlPr>
                        </m:accPr>
                        <m:e>
                          <m:acc>
                            <m:accPr>
                              <m:chr m:val="̅"/>
                              <m:ctrlPr>
                                <a:rPr lang="es-NI" sz="2000">
                                  <a:solidFill>
                                    <a:srgbClr val="836967"/>
                                  </a:solidFill>
                                  <a:latin typeface="Cambria Math" panose="02040503050406030204" pitchFamily="18" charset="0"/>
                                </a:rPr>
                              </m:ctrlPr>
                            </m:accPr>
                            <m:e>
                              <m:r>
                                <a:rPr lang="es-NI" sz="2000" i="1">
                                  <a:latin typeface="Cambria Math" panose="02040503050406030204" pitchFamily="18" charset="0"/>
                                </a:rPr>
                                <m:t>𝑥</m:t>
                              </m:r>
                            </m:e>
                          </m:acc>
                        </m:e>
                      </m:acc>
                      <m:r>
                        <a:rPr lang="es-NI" sz="2000" i="0">
                          <a:latin typeface="Cambria Math" panose="02040503050406030204" pitchFamily="18" charset="0"/>
                        </a:rPr>
                        <m:t>=</m:t>
                      </m:r>
                      <m:nary>
                        <m:naryPr>
                          <m:chr m:val="∑"/>
                          <m:limLoc m:val="undOvr"/>
                          <m:grow m:val="on"/>
                          <m:ctrlPr>
                            <a:rPr lang="es-NI" sz="2000" i="1">
                              <a:latin typeface="Cambria Math" panose="02040503050406030204" pitchFamily="18" charset="0"/>
                            </a:rPr>
                          </m:ctrlPr>
                        </m:naryPr>
                        <m:sub>
                          <m:r>
                            <a:rPr lang="es-NI" sz="2000" i="1">
                              <a:latin typeface="Cambria Math" panose="02040503050406030204" pitchFamily="18" charset="0"/>
                            </a:rPr>
                            <m:t>𝑖</m:t>
                          </m:r>
                          <m:r>
                            <a:rPr lang="es-NI" sz="2000" i="0">
                              <a:latin typeface="Cambria Math" panose="02040503050406030204" pitchFamily="18" charset="0"/>
                            </a:rPr>
                            <m:t>=1</m:t>
                          </m:r>
                        </m:sub>
                        <m:sup>
                          <m:r>
                            <a:rPr lang="es-NI" sz="2000" i="1">
                              <a:latin typeface="Cambria Math" panose="02040503050406030204" pitchFamily="18" charset="0"/>
                            </a:rPr>
                            <m:t>𝑐</m:t>
                          </m:r>
                        </m:sup>
                        <m:e>
                          <m:f>
                            <m:fPr>
                              <m:ctrlPr>
                                <a:rPr lang="es-NI" sz="2000" i="1">
                                  <a:solidFill>
                                    <a:srgbClr val="836967"/>
                                  </a:solidFill>
                                  <a:latin typeface="Cambria Math" panose="02040503050406030204" pitchFamily="18" charset="0"/>
                                </a:rPr>
                              </m:ctrlPr>
                            </m:fPr>
                            <m:num>
                              <m:sSub>
                                <m:sSubPr>
                                  <m:ctrlPr>
                                    <a:rPr lang="es-NI" sz="2000" i="1">
                                      <a:solidFill>
                                        <a:srgbClr val="836967"/>
                                      </a:solidFill>
                                      <a:latin typeface="Cambria Math" panose="02040503050406030204" pitchFamily="18" charset="0"/>
                                    </a:rPr>
                                  </m:ctrlPr>
                                </m:sSubPr>
                                <m:e>
                                  <m:acc>
                                    <m:accPr>
                                      <m:chr m:val="̅"/>
                                      <m:ctrlPr>
                                        <a:rPr lang="es-NI" sz="2000" i="1">
                                          <a:solidFill>
                                            <a:srgbClr val="836967"/>
                                          </a:solidFill>
                                          <a:latin typeface="Cambria Math" panose="02040503050406030204" pitchFamily="18" charset="0"/>
                                        </a:rPr>
                                      </m:ctrlPr>
                                    </m:accPr>
                                    <m:e>
                                      <m:r>
                                        <a:rPr lang="es-NI" sz="2000" i="1">
                                          <a:latin typeface="Cambria Math" panose="02040503050406030204" pitchFamily="18" charset="0"/>
                                        </a:rPr>
                                        <m:t>𝑥</m:t>
                                      </m:r>
                                    </m:e>
                                  </m:acc>
                                </m:e>
                                <m:sub>
                                  <m:r>
                                    <a:rPr lang="es-NI" sz="2000" i="1">
                                      <a:latin typeface="Cambria Math" panose="02040503050406030204" pitchFamily="18" charset="0"/>
                                    </a:rPr>
                                    <m:t>𝑖</m:t>
                                  </m:r>
                                </m:sub>
                              </m:sSub>
                            </m:num>
                            <m:den>
                              <m:acc>
                                <m:accPr>
                                  <m:chr m:val="̅"/>
                                  <m:ctrlPr>
                                    <a:rPr lang="es-NI" sz="2000" i="1">
                                      <a:solidFill>
                                        <a:srgbClr val="836967"/>
                                      </a:solidFill>
                                      <a:latin typeface="Cambria Math" panose="02040503050406030204" pitchFamily="18" charset="0"/>
                                    </a:rPr>
                                  </m:ctrlPr>
                                </m:accPr>
                                <m:e>
                                  <m:r>
                                    <a:rPr lang="es-NI" sz="2000" b="0" i="1" smtClean="0">
                                      <a:solidFill>
                                        <a:srgbClr val="836967"/>
                                      </a:solidFill>
                                      <a:latin typeface="Cambria Math" panose="02040503050406030204" pitchFamily="18" charset="0"/>
                                    </a:rPr>
                                    <m:t>#</m:t>
                                  </m:r>
                                  <m:r>
                                    <a:rPr lang="es-NI" sz="2000" i="1">
                                      <a:latin typeface="Cambria Math" panose="02040503050406030204" pitchFamily="18" charset="0"/>
                                    </a:rPr>
                                    <m:t>𝑥</m:t>
                                  </m:r>
                                </m:e>
                              </m:acc>
                            </m:den>
                          </m:f>
                        </m:e>
                      </m:nary>
                    </m:oMath>
                  </m:oMathPara>
                </a14:m>
                <a:endParaRPr lang="es-NI" sz="2000" dirty="0"/>
              </a:p>
            </p:txBody>
          </p:sp>
        </mc:Choice>
        <mc:Fallback>
          <p:sp>
            <p:nvSpPr>
              <p:cNvPr id="16" name="CuadroTexto 15">
                <a:extLst>
                  <a:ext uri="{FF2B5EF4-FFF2-40B4-BE49-F238E27FC236}">
                    <a16:creationId xmlns:a16="http://schemas.microsoft.com/office/drawing/2014/main" id="{709DE399-8739-4CED-B444-A5DDCCF3B378}"/>
                  </a:ext>
                </a:extLst>
              </p:cNvPr>
              <p:cNvSpPr txBox="1">
                <a:spLocks noRot="1" noChangeAspect="1" noMove="1" noResize="1" noEditPoints="1" noAdjustHandles="1" noChangeArrowheads="1" noChangeShapeType="1" noTextEdit="1"/>
              </p:cNvSpPr>
              <p:nvPr/>
            </p:nvSpPr>
            <p:spPr>
              <a:xfrm>
                <a:off x="6823880" y="1797838"/>
                <a:ext cx="2306472" cy="1090748"/>
              </a:xfrm>
              <a:prstGeom prst="rect">
                <a:avLst/>
              </a:prstGeom>
              <a:blipFill>
                <a:blip r:embed="rId2"/>
                <a:stretch>
                  <a:fillRect/>
                </a:stretch>
              </a:blipFill>
            </p:spPr>
            <p:txBody>
              <a:bodyPr/>
              <a:lstStyle/>
              <a:p>
                <a:r>
                  <a:rPr lang="es-NI">
                    <a:noFill/>
                  </a:rPr>
                  <a:t> </a:t>
                </a:r>
              </a:p>
            </p:txBody>
          </p:sp>
        </mc:Fallback>
      </mc:AlternateContent>
      <mc:AlternateContent xmlns:mc="http://schemas.openxmlformats.org/markup-compatibility/2006">
        <mc:Choice xmlns:a14="http://schemas.microsoft.com/office/drawing/2010/main" Requires="a14">
          <p:sp>
            <p:nvSpPr>
              <p:cNvPr id="17" name="CuadroTexto 16">
                <a:extLst>
                  <a:ext uri="{FF2B5EF4-FFF2-40B4-BE49-F238E27FC236}">
                    <a16:creationId xmlns:a16="http://schemas.microsoft.com/office/drawing/2014/main" id="{44CFCA3B-7D0B-4F16-BA70-6C848D0B46A1}"/>
                  </a:ext>
                </a:extLst>
              </p:cNvPr>
              <p:cNvSpPr txBox="1"/>
              <p:nvPr/>
            </p:nvSpPr>
            <p:spPr>
              <a:xfrm>
                <a:off x="6953575" y="3445233"/>
                <a:ext cx="1915524" cy="58451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acc>
                        <m:accPr>
                          <m:chr m:val="̅"/>
                          <m:ctrlPr>
                            <a:rPr lang="es-NI" sz="2000" smtClean="0">
                              <a:solidFill>
                                <a:srgbClr val="836967"/>
                              </a:solidFill>
                              <a:latin typeface="Cambria Math" panose="02040503050406030204" pitchFamily="18" charset="0"/>
                            </a:rPr>
                          </m:ctrlPr>
                        </m:accPr>
                        <m:e>
                          <m:acc>
                            <m:accPr>
                              <m:chr m:val="̅"/>
                              <m:ctrlPr>
                                <a:rPr lang="es-NI" sz="2000">
                                  <a:solidFill>
                                    <a:srgbClr val="836967"/>
                                  </a:solidFill>
                                  <a:latin typeface="Cambria Math" panose="02040503050406030204" pitchFamily="18" charset="0"/>
                                </a:rPr>
                              </m:ctrlPr>
                            </m:accPr>
                            <m:e>
                              <m:r>
                                <a:rPr lang="es-NI" sz="2000" i="1">
                                  <a:latin typeface="Cambria Math" panose="02040503050406030204" pitchFamily="18" charset="0"/>
                                </a:rPr>
                                <m:t>𝑥</m:t>
                              </m:r>
                            </m:e>
                          </m:acc>
                        </m:e>
                      </m:acc>
                      <m:r>
                        <a:rPr lang="es-NI" sz="2000" i="0">
                          <a:latin typeface="Cambria Math" panose="02040503050406030204" pitchFamily="18" charset="0"/>
                        </a:rPr>
                        <m:t>=</m:t>
                      </m:r>
                      <m:f>
                        <m:fPr>
                          <m:ctrlPr>
                            <a:rPr lang="es-NI" sz="2000" i="1">
                              <a:solidFill>
                                <a:srgbClr val="836967"/>
                              </a:solidFill>
                              <a:latin typeface="Cambria Math" panose="02040503050406030204" pitchFamily="18" charset="0"/>
                            </a:rPr>
                          </m:ctrlPr>
                        </m:fPr>
                        <m:num>
                          <m:r>
                            <a:rPr lang="es-NI" sz="2000" b="0" i="0" smtClean="0">
                              <a:solidFill>
                                <a:srgbClr val="836967"/>
                              </a:solidFill>
                              <a:latin typeface="Cambria Math" panose="02040503050406030204" pitchFamily="18" charset="0"/>
                            </a:rPr>
                            <m:t>8.25+3+4</m:t>
                          </m:r>
                        </m:num>
                        <m:den>
                          <m:r>
                            <a:rPr lang="es-NI" sz="2000" b="0" i="0" smtClean="0">
                              <a:latin typeface="Cambria Math" panose="02040503050406030204" pitchFamily="18" charset="0"/>
                            </a:rPr>
                            <m:t>3</m:t>
                          </m:r>
                        </m:den>
                      </m:f>
                    </m:oMath>
                  </m:oMathPara>
                </a14:m>
                <a:endParaRPr lang="es-NI" sz="2000" dirty="0"/>
              </a:p>
            </p:txBody>
          </p:sp>
        </mc:Choice>
        <mc:Fallback>
          <p:sp>
            <p:nvSpPr>
              <p:cNvPr id="17" name="CuadroTexto 16">
                <a:extLst>
                  <a:ext uri="{FF2B5EF4-FFF2-40B4-BE49-F238E27FC236}">
                    <a16:creationId xmlns:a16="http://schemas.microsoft.com/office/drawing/2014/main" id="{44CFCA3B-7D0B-4F16-BA70-6C848D0B46A1}"/>
                  </a:ext>
                </a:extLst>
              </p:cNvPr>
              <p:cNvSpPr txBox="1">
                <a:spLocks noRot="1" noChangeAspect="1" noMove="1" noResize="1" noEditPoints="1" noAdjustHandles="1" noChangeArrowheads="1" noChangeShapeType="1" noTextEdit="1"/>
              </p:cNvSpPr>
              <p:nvPr/>
            </p:nvSpPr>
            <p:spPr>
              <a:xfrm>
                <a:off x="6953575" y="3445233"/>
                <a:ext cx="1915524" cy="584519"/>
              </a:xfrm>
              <a:prstGeom prst="rect">
                <a:avLst/>
              </a:prstGeom>
              <a:blipFill>
                <a:blip r:embed="rId3"/>
                <a:stretch>
                  <a:fillRect/>
                </a:stretch>
              </a:blipFill>
            </p:spPr>
            <p:txBody>
              <a:bodyPr/>
              <a:lstStyle/>
              <a:p>
                <a:r>
                  <a:rPr lang="es-NI">
                    <a:noFill/>
                  </a:rPr>
                  <a:t> </a:t>
                </a:r>
              </a:p>
            </p:txBody>
          </p:sp>
        </mc:Fallback>
      </mc:AlternateContent>
      <mc:AlternateContent xmlns:mc="http://schemas.openxmlformats.org/markup-compatibility/2006">
        <mc:Choice xmlns:a14="http://schemas.microsoft.com/office/drawing/2010/main" Requires="a14">
          <p:sp>
            <p:nvSpPr>
              <p:cNvPr id="18" name="CuadroTexto 17">
                <a:extLst>
                  <a:ext uri="{FF2B5EF4-FFF2-40B4-BE49-F238E27FC236}">
                    <a16:creationId xmlns:a16="http://schemas.microsoft.com/office/drawing/2014/main" id="{F9E85BE6-521A-483D-A76F-47B684280D5F}"/>
                  </a:ext>
                </a:extLst>
              </p:cNvPr>
              <p:cNvSpPr txBox="1"/>
              <p:nvPr/>
            </p:nvSpPr>
            <p:spPr>
              <a:xfrm>
                <a:off x="6823880" y="4221388"/>
                <a:ext cx="1915524" cy="307777"/>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acc>
                        <m:accPr>
                          <m:chr m:val="̅"/>
                          <m:ctrlPr>
                            <a:rPr lang="es-NI" sz="2000" smtClean="0">
                              <a:solidFill>
                                <a:srgbClr val="836967"/>
                              </a:solidFill>
                              <a:latin typeface="Cambria Math" panose="02040503050406030204" pitchFamily="18" charset="0"/>
                            </a:rPr>
                          </m:ctrlPr>
                        </m:accPr>
                        <m:e>
                          <m:acc>
                            <m:accPr>
                              <m:chr m:val="̅"/>
                              <m:ctrlPr>
                                <a:rPr lang="es-NI" sz="2000">
                                  <a:solidFill>
                                    <a:srgbClr val="836967"/>
                                  </a:solidFill>
                                  <a:latin typeface="Cambria Math" panose="02040503050406030204" pitchFamily="18" charset="0"/>
                                </a:rPr>
                              </m:ctrlPr>
                            </m:accPr>
                            <m:e>
                              <m:r>
                                <a:rPr lang="es-NI" sz="2000" i="1">
                                  <a:latin typeface="Cambria Math" panose="02040503050406030204" pitchFamily="18" charset="0"/>
                                </a:rPr>
                                <m:t>𝑥</m:t>
                              </m:r>
                            </m:e>
                          </m:acc>
                        </m:e>
                      </m:acc>
                      <m:r>
                        <a:rPr lang="es-NI" sz="2000" i="0">
                          <a:latin typeface="Cambria Math" panose="02040503050406030204" pitchFamily="18" charset="0"/>
                        </a:rPr>
                        <m:t>=</m:t>
                      </m:r>
                      <m:r>
                        <a:rPr lang="es-NI" sz="2000" i="1" smtClean="0">
                          <a:solidFill>
                            <a:srgbClr val="836967"/>
                          </a:solidFill>
                          <a:latin typeface="Cambria Math" panose="02040503050406030204" pitchFamily="18" charset="0"/>
                        </a:rPr>
                        <m:t>5</m:t>
                      </m:r>
                      <m:r>
                        <a:rPr lang="es-NI" sz="2000" b="0" i="1" smtClean="0">
                          <a:solidFill>
                            <a:srgbClr val="836967"/>
                          </a:solidFill>
                          <a:latin typeface="Cambria Math" panose="02040503050406030204" pitchFamily="18" charset="0"/>
                        </a:rPr>
                        <m:t>.0833</m:t>
                      </m:r>
                    </m:oMath>
                  </m:oMathPara>
                </a14:m>
                <a:endParaRPr lang="es-NI" sz="2000" dirty="0"/>
              </a:p>
            </p:txBody>
          </p:sp>
        </mc:Choice>
        <mc:Fallback>
          <p:sp>
            <p:nvSpPr>
              <p:cNvPr id="18" name="CuadroTexto 17">
                <a:extLst>
                  <a:ext uri="{FF2B5EF4-FFF2-40B4-BE49-F238E27FC236}">
                    <a16:creationId xmlns:a16="http://schemas.microsoft.com/office/drawing/2014/main" id="{F9E85BE6-521A-483D-A76F-47B684280D5F}"/>
                  </a:ext>
                </a:extLst>
              </p:cNvPr>
              <p:cNvSpPr txBox="1">
                <a:spLocks noRot="1" noChangeAspect="1" noMove="1" noResize="1" noEditPoints="1" noAdjustHandles="1" noChangeArrowheads="1" noChangeShapeType="1" noTextEdit="1"/>
              </p:cNvSpPr>
              <p:nvPr/>
            </p:nvSpPr>
            <p:spPr>
              <a:xfrm>
                <a:off x="6823880" y="4221388"/>
                <a:ext cx="1915524" cy="307777"/>
              </a:xfrm>
              <a:prstGeom prst="rect">
                <a:avLst/>
              </a:prstGeom>
              <a:blipFill>
                <a:blip r:embed="rId4"/>
                <a:stretch>
                  <a:fillRect b="-5882"/>
                </a:stretch>
              </a:blipFill>
            </p:spPr>
            <p:txBody>
              <a:bodyPr/>
              <a:lstStyle/>
              <a:p>
                <a:r>
                  <a:rPr lang="es-NI">
                    <a:noFill/>
                  </a:rPr>
                  <a:t> </a:t>
                </a:r>
              </a:p>
            </p:txBody>
          </p:sp>
        </mc:Fallback>
      </mc:AlternateContent>
    </p:spTree>
    <p:extLst>
      <p:ext uri="{BB962C8B-B14F-4D97-AF65-F5344CB8AC3E}">
        <p14:creationId xmlns:p14="http://schemas.microsoft.com/office/powerpoint/2010/main" val="795346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EFC1C54-6D44-464D-B2C9-06EFF795534B}"/>
              </a:ext>
            </a:extLst>
          </p:cNvPr>
          <p:cNvSpPr/>
          <p:nvPr/>
        </p:nvSpPr>
        <p:spPr>
          <a:xfrm>
            <a:off x="3513018" y="0"/>
            <a:ext cx="5165966"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ANOVA | Ejemplo</a:t>
            </a:r>
          </a:p>
        </p:txBody>
      </p:sp>
      <p:sp>
        <p:nvSpPr>
          <p:cNvPr id="10" name="CuadroTexto 9">
            <a:extLst>
              <a:ext uri="{FF2B5EF4-FFF2-40B4-BE49-F238E27FC236}">
                <a16:creationId xmlns:a16="http://schemas.microsoft.com/office/drawing/2014/main" id="{066090D6-E48B-40A4-BA4B-7CBC43ABE594}"/>
              </a:ext>
            </a:extLst>
          </p:cNvPr>
          <p:cNvSpPr txBox="1"/>
          <p:nvPr/>
        </p:nvSpPr>
        <p:spPr>
          <a:xfrm>
            <a:off x="150126" y="923330"/>
            <a:ext cx="6387152" cy="369332"/>
          </a:xfrm>
          <a:prstGeom prst="rect">
            <a:avLst/>
          </a:prstGeom>
          <a:noFill/>
        </p:spPr>
        <p:txBody>
          <a:bodyPr wrap="square" rtlCol="0">
            <a:spAutoFit/>
          </a:bodyPr>
          <a:lstStyle/>
          <a:p>
            <a:r>
              <a:rPr lang="es-NI" b="1" dirty="0">
                <a:latin typeface="Verdana" panose="020B0604030504040204" pitchFamily="34" charset="0"/>
                <a:ea typeface="Verdana" panose="020B0604030504040204" pitchFamily="34" charset="0"/>
              </a:rPr>
              <a:t>Paso #03: Calcular el estadístico de prueba</a:t>
            </a:r>
          </a:p>
        </p:txBody>
      </p:sp>
      <p:sp>
        <p:nvSpPr>
          <p:cNvPr id="11" name="CuadroTexto 10">
            <a:extLst>
              <a:ext uri="{FF2B5EF4-FFF2-40B4-BE49-F238E27FC236}">
                <a16:creationId xmlns:a16="http://schemas.microsoft.com/office/drawing/2014/main" id="{B6533724-6851-43EE-8874-D8A43FB88E51}"/>
              </a:ext>
            </a:extLst>
          </p:cNvPr>
          <p:cNvSpPr txBox="1"/>
          <p:nvPr/>
        </p:nvSpPr>
        <p:spPr>
          <a:xfrm>
            <a:off x="496863" y="1292662"/>
            <a:ext cx="5753812" cy="369332"/>
          </a:xfrm>
          <a:prstGeom prst="rect">
            <a:avLst/>
          </a:prstGeom>
          <a:noFill/>
        </p:spPr>
        <p:txBody>
          <a:bodyPr wrap="square" rtlCol="0">
            <a:spAutoFit/>
          </a:bodyPr>
          <a:lstStyle/>
          <a:p>
            <a:r>
              <a:rPr lang="es-NI" dirty="0">
                <a:latin typeface="Verdana" panose="020B0604030504040204" pitchFamily="34" charset="0"/>
                <a:ea typeface="Verdana" panose="020B0604030504040204" pitchFamily="34" charset="0"/>
              </a:rPr>
              <a:t>D. Calcular la suma de cuadrados totales SCT</a:t>
            </a:r>
          </a:p>
        </p:txBody>
      </p:sp>
      <p:graphicFrame>
        <p:nvGraphicFramePr>
          <p:cNvPr id="12" name="Tabla 2">
            <a:extLst>
              <a:ext uri="{FF2B5EF4-FFF2-40B4-BE49-F238E27FC236}">
                <a16:creationId xmlns:a16="http://schemas.microsoft.com/office/drawing/2014/main" id="{12EBD61C-41F1-40DC-BDE4-1EFA8E7A8ECA}"/>
              </a:ext>
            </a:extLst>
          </p:cNvPr>
          <p:cNvGraphicFramePr>
            <a:graphicFrameLocks noGrp="1"/>
          </p:cNvGraphicFramePr>
          <p:nvPr>
            <p:extLst>
              <p:ext uri="{D42A27DB-BD31-4B8C-83A1-F6EECF244321}">
                <p14:modId xmlns:p14="http://schemas.microsoft.com/office/powerpoint/2010/main" val="3897960339"/>
              </p:ext>
            </p:extLst>
          </p:nvPr>
        </p:nvGraphicFramePr>
        <p:xfrm>
          <a:off x="614384" y="2431435"/>
          <a:ext cx="4177734" cy="2225040"/>
        </p:xfrm>
        <a:graphic>
          <a:graphicData uri="http://schemas.openxmlformats.org/drawingml/2006/table">
            <a:tbl>
              <a:tblPr firstRow="1" bandRow="1">
                <a:tableStyleId>{5C22544A-7EE6-4342-B048-85BDC9FD1C3A}</a:tableStyleId>
              </a:tblPr>
              <a:tblGrid>
                <a:gridCol w="829370">
                  <a:extLst>
                    <a:ext uri="{9D8B030D-6E8A-4147-A177-3AD203B41FA5}">
                      <a16:colId xmlns:a16="http://schemas.microsoft.com/office/drawing/2014/main" val="3703252219"/>
                    </a:ext>
                  </a:extLst>
                </a:gridCol>
                <a:gridCol w="829370">
                  <a:extLst>
                    <a:ext uri="{9D8B030D-6E8A-4147-A177-3AD203B41FA5}">
                      <a16:colId xmlns:a16="http://schemas.microsoft.com/office/drawing/2014/main" val="2484249163"/>
                    </a:ext>
                  </a:extLst>
                </a:gridCol>
                <a:gridCol w="755860">
                  <a:extLst>
                    <a:ext uri="{9D8B030D-6E8A-4147-A177-3AD203B41FA5}">
                      <a16:colId xmlns:a16="http://schemas.microsoft.com/office/drawing/2014/main" val="4187904380"/>
                    </a:ext>
                  </a:extLst>
                </a:gridCol>
                <a:gridCol w="881567">
                  <a:extLst>
                    <a:ext uri="{9D8B030D-6E8A-4147-A177-3AD203B41FA5}">
                      <a16:colId xmlns:a16="http://schemas.microsoft.com/office/drawing/2014/main" val="1294615550"/>
                    </a:ext>
                  </a:extLst>
                </a:gridCol>
                <a:gridCol w="881567">
                  <a:extLst>
                    <a:ext uri="{9D8B030D-6E8A-4147-A177-3AD203B41FA5}">
                      <a16:colId xmlns:a16="http://schemas.microsoft.com/office/drawing/2014/main" val="3367447264"/>
                    </a:ext>
                  </a:extLst>
                </a:gridCol>
              </a:tblGrid>
              <a:tr h="370840">
                <a:tc>
                  <a:txBody>
                    <a:bodyPr/>
                    <a:lstStyle/>
                    <a:p>
                      <a:endParaRPr lang="es-NI" dirty="0"/>
                    </a:p>
                  </a:txBody>
                  <a:tcPr/>
                </a:tc>
                <a:tc>
                  <a:txBody>
                    <a:bodyPr/>
                    <a:lstStyle/>
                    <a:p>
                      <a:r>
                        <a:rPr lang="es-NI" dirty="0"/>
                        <a:t>G1</a:t>
                      </a:r>
                    </a:p>
                  </a:txBody>
                  <a:tcPr/>
                </a:tc>
                <a:tc>
                  <a:txBody>
                    <a:bodyPr/>
                    <a:lstStyle/>
                    <a:p>
                      <a:r>
                        <a:rPr lang="es-NI" dirty="0"/>
                        <a:t>G2</a:t>
                      </a:r>
                    </a:p>
                  </a:txBody>
                  <a:tcPr/>
                </a:tc>
                <a:tc>
                  <a:txBody>
                    <a:bodyPr/>
                    <a:lstStyle/>
                    <a:p>
                      <a:r>
                        <a:rPr lang="es-NI" dirty="0"/>
                        <a:t>G3</a:t>
                      </a:r>
                    </a:p>
                  </a:txBody>
                  <a:tcPr/>
                </a:tc>
                <a:tc>
                  <a:txBody>
                    <a:bodyPr/>
                    <a:lstStyle/>
                    <a:p>
                      <a:pPr algn="ctr"/>
                      <a:r>
                        <a:rPr lang="es-NI" dirty="0"/>
                        <a:t>Total</a:t>
                      </a:r>
                    </a:p>
                  </a:txBody>
                  <a:tcPr/>
                </a:tc>
                <a:extLst>
                  <a:ext uri="{0D108BD9-81ED-4DB2-BD59-A6C34878D82A}">
                    <a16:rowId xmlns:a16="http://schemas.microsoft.com/office/drawing/2014/main" val="2104470785"/>
                  </a:ext>
                </a:extLst>
              </a:tr>
              <a:tr h="370840">
                <a:tc>
                  <a:txBody>
                    <a:bodyPr/>
                    <a:lstStyle/>
                    <a:p>
                      <a:endParaRPr lang="es-NI" dirty="0"/>
                    </a:p>
                  </a:txBody>
                  <a:tcPr/>
                </a:tc>
                <a:tc>
                  <a:txBody>
                    <a:bodyPr/>
                    <a:lstStyle/>
                    <a:p>
                      <a:r>
                        <a:rPr lang="es-NI" dirty="0"/>
                        <a:t>8.53</a:t>
                      </a:r>
                    </a:p>
                  </a:txBody>
                  <a:tcPr/>
                </a:tc>
                <a:tc>
                  <a:txBody>
                    <a:bodyPr/>
                    <a:lstStyle/>
                    <a:p>
                      <a:r>
                        <a:rPr lang="es-NI" dirty="0"/>
                        <a:t>4.33</a:t>
                      </a:r>
                    </a:p>
                  </a:txBody>
                  <a:tcPr/>
                </a:tc>
                <a:tc>
                  <a:txBody>
                    <a:bodyPr/>
                    <a:lstStyle/>
                    <a:p>
                      <a:r>
                        <a:rPr lang="es-NI" dirty="0"/>
                        <a:t>4.33</a:t>
                      </a:r>
                    </a:p>
                  </a:txBody>
                  <a:tcPr/>
                </a:tc>
                <a:tc>
                  <a:txBody>
                    <a:bodyPr/>
                    <a:lstStyle/>
                    <a:p>
                      <a:r>
                        <a:rPr lang="es-NI" dirty="0"/>
                        <a:t>17.19</a:t>
                      </a:r>
                    </a:p>
                  </a:txBody>
                  <a:tcPr/>
                </a:tc>
                <a:extLst>
                  <a:ext uri="{0D108BD9-81ED-4DB2-BD59-A6C34878D82A}">
                    <a16:rowId xmlns:a16="http://schemas.microsoft.com/office/drawing/2014/main" val="1530175518"/>
                  </a:ext>
                </a:extLst>
              </a:tr>
              <a:tr h="370840">
                <a:tc>
                  <a:txBody>
                    <a:bodyPr/>
                    <a:lstStyle/>
                    <a:p>
                      <a:endParaRPr lang="es-NI" dirty="0"/>
                    </a:p>
                  </a:txBody>
                  <a:tcPr/>
                </a:tc>
                <a:tc>
                  <a:txBody>
                    <a:bodyPr/>
                    <a:lstStyle/>
                    <a:p>
                      <a:r>
                        <a:rPr lang="es-NI" dirty="0"/>
                        <a:t>0.85</a:t>
                      </a:r>
                    </a:p>
                  </a:txBody>
                  <a:tcPr/>
                </a:tc>
                <a:tc>
                  <a:txBody>
                    <a:bodyPr/>
                    <a:lstStyle/>
                    <a:p>
                      <a:r>
                        <a:rPr lang="es-NI" dirty="0"/>
                        <a:t>9.49</a:t>
                      </a:r>
                    </a:p>
                  </a:txBody>
                  <a:tcPr/>
                </a:tc>
                <a:tc>
                  <a:txBody>
                    <a:bodyPr/>
                    <a:lstStyle/>
                    <a:p>
                      <a:r>
                        <a:rPr lang="es-NI" dirty="0"/>
                        <a:t>1.17</a:t>
                      </a:r>
                    </a:p>
                  </a:txBody>
                  <a:tcPr/>
                </a:tc>
                <a:tc>
                  <a:txBody>
                    <a:bodyPr/>
                    <a:lstStyle/>
                    <a:p>
                      <a:r>
                        <a:rPr lang="es-NI" dirty="0"/>
                        <a:t>11.51</a:t>
                      </a:r>
                    </a:p>
                  </a:txBody>
                  <a:tcPr/>
                </a:tc>
                <a:extLst>
                  <a:ext uri="{0D108BD9-81ED-4DB2-BD59-A6C34878D82A}">
                    <a16:rowId xmlns:a16="http://schemas.microsoft.com/office/drawing/2014/main" val="3167785662"/>
                  </a:ext>
                </a:extLst>
              </a:tr>
              <a:tr h="370840">
                <a:tc>
                  <a:txBody>
                    <a:bodyPr/>
                    <a:lstStyle/>
                    <a:p>
                      <a:endParaRPr lang="es-NI" dirty="0"/>
                    </a:p>
                  </a:txBody>
                  <a:tcPr/>
                </a:tc>
                <a:tc>
                  <a:txBody>
                    <a:bodyPr/>
                    <a:lstStyle/>
                    <a:p>
                      <a:r>
                        <a:rPr lang="es-NI" dirty="0"/>
                        <a:t>24.2</a:t>
                      </a:r>
                    </a:p>
                  </a:txBody>
                  <a:tcPr/>
                </a:tc>
                <a:tc>
                  <a:txBody>
                    <a:bodyPr/>
                    <a:lstStyle/>
                    <a:p>
                      <a:r>
                        <a:rPr lang="es-NI" dirty="0"/>
                        <a:t>1.17</a:t>
                      </a:r>
                    </a:p>
                  </a:txBody>
                  <a:tcPr/>
                </a:tc>
                <a:tc>
                  <a:txBody>
                    <a:bodyPr/>
                    <a:lstStyle/>
                    <a:p>
                      <a:r>
                        <a:rPr lang="es-NI" dirty="0"/>
                        <a:t>0.0006</a:t>
                      </a:r>
                    </a:p>
                  </a:txBody>
                  <a:tcPr/>
                </a:tc>
                <a:tc>
                  <a:txBody>
                    <a:bodyPr/>
                    <a:lstStyle/>
                    <a:p>
                      <a:r>
                        <a:rPr lang="es-NI" dirty="0"/>
                        <a:t>25.38</a:t>
                      </a:r>
                    </a:p>
                  </a:txBody>
                  <a:tcPr/>
                </a:tc>
                <a:extLst>
                  <a:ext uri="{0D108BD9-81ED-4DB2-BD59-A6C34878D82A}">
                    <a16:rowId xmlns:a16="http://schemas.microsoft.com/office/drawing/2014/main" val="1601750119"/>
                  </a:ext>
                </a:extLst>
              </a:tr>
              <a:tr h="370840">
                <a:tc>
                  <a:txBody>
                    <a:bodyPr/>
                    <a:lstStyle/>
                    <a:p>
                      <a:endParaRPr lang="es-NI" dirty="0"/>
                    </a:p>
                  </a:txBody>
                  <a:tcPr/>
                </a:tc>
                <a:tc>
                  <a:txBody>
                    <a:bodyPr/>
                    <a:lstStyle/>
                    <a:p>
                      <a:r>
                        <a:rPr lang="es-NI" dirty="0"/>
                        <a:t>15.37</a:t>
                      </a:r>
                    </a:p>
                  </a:txBody>
                  <a:tcPr/>
                </a:tc>
                <a:tc>
                  <a:txBody>
                    <a:bodyPr/>
                    <a:lstStyle/>
                    <a:p>
                      <a:r>
                        <a:rPr lang="es-NI" dirty="0"/>
                        <a:t>4.33</a:t>
                      </a:r>
                    </a:p>
                  </a:txBody>
                  <a:tcPr/>
                </a:tc>
                <a:tc>
                  <a:txBody>
                    <a:bodyPr/>
                    <a:lstStyle/>
                    <a:p>
                      <a:r>
                        <a:rPr lang="es-NI" dirty="0"/>
                        <a:t>1.17</a:t>
                      </a:r>
                    </a:p>
                  </a:txBody>
                  <a:tcPr/>
                </a:tc>
                <a:tc>
                  <a:txBody>
                    <a:bodyPr/>
                    <a:lstStyle/>
                    <a:p>
                      <a:r>
                        <a:rPr lang="es-NI" dirty="0"/>
                        <a:t>20.87</a:t>
                      </a:r>
                    </a:p>
                  </a:txBody>
                  <a:tcPr/>
                </a:tc>
                <a:extLst>
                  <a:ext uri="{0D108BD9-81ED-4DB2-BD59-A6C34878D82A}">
                    <a16:rowId xmlns:a16="http://schemas.microsoft.com/office/drawing/2014/main" val="3288788941"/>
                  </a:ext>
                </a:extLst>
              </a:tr>
              <a:tr h="370840">
                <a:tc>
                  <a:txBody>
                    <a:bodyPr/>
                    <a:lstStyle/>
                    <a:p>
                      <a:pPr algn="ctr"/>
                      <a:r>
                        <a:rPr lang="es-NI" b="1" dirty="0"/>
                        <a:t>Total</a:t>
                      </a:r>
                    </a:p>
                  </a:txBody>
                  <a:tcPr/>
                </a:tc>
                <a:tc>
                  <a:txBody>
                    <a:bodyPr/>
                    <a:lstStyle/>
                    <a:p>
                      <a:pPr algn="ctr"/>
                      <a:r>
                        <a:rPr lang="es-NI" b="1" dirty="0"/>
                        <a:t>48.95</a:t>
                      </a:r>
                    </a:p>
                  </a:txBody>
                  <a:tcPr/>
                </a:tc>
                <a:tc>
                  <a:txBody>
                    <a:bodyPr/>
                    <a:lstStyle/>
                    <a:p>
                      <a:pPr algn="ctr"/>
                      <a:r>
                        <a:rPr lang="es-NI" b="1" dirty="0"/>
                        <a:t>19.52</a:t>
                      </a:r>
                    </a:p>
                  </a:txBody>
                  <a:tcPr/>
                </a:tc>
                <a:tc>
                  <a:txBody>
                    <a:bodyPr/>
                    <a:lstStyle/>
                    <a:p>
                      <a:pPr algn="ctr"/>
                      <a:r>
                        <a:rPr lang="es-NI" b="1" dirty="0"/>
                        <a:t>6.68</a:t>
                      </a:r>
                    </a:p>
                  </a:txBody>
                  <a:tcPr/>
                </a:tc>
                <a:tc>
                  <a:txBody>
                    <a:bodyPr/>
                    <a:lstStyle/>
                    <a:p>
                      <a:pPr algn="ctr"/>
                      <a:r>
                        <a:rPr lang="es-NI" b="1" dirty="0">
                          <a:solidFill>
                            <a:srgbClr val="FF0000"/>
                          </a:solidFill>
                        </a:rPr>
                        <a:t>74.95</a:t>
                      </a:r>
                    </a:p>
                  </a:txBody>
                  <a:tcPr/>
                </a:tc>
                <a:extLst>
                  <a:ext uri="{0D108BD9-81ED-4DB2-BD59-A6C34878D82A}">
                    <a16:rowId xmlns:a16="http://schemas.microsoft.com/office/drawing/2014/main" val="1973187439"/>
                  </a:ext>
                </a:extLst>
              </a:tr>
            </a:tbl>
          </a:graphicData>
        </a:graphic>
      </p:graphicFrame>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9BDA7E52-3834-49A7-A67E-05F11E87CBDE}"/>
                  </a:ext>
                </a:extLst>
              </p:cNvPr>
              <p:cNvSpPr txBox="1"/>
              <p:nvPr/>
            </p:nvSpPr>
            <p:spPr>
              <a:xfrm>
                <a:off x="2210937" y="1892826"/>
                <a:ext cx="984629" cy="30777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s-NI" sz="2000" smtClean="0">
                              <a:solidFill>
                                <a:srgbClr val="836967"/>
                              </a:solidFill>
                              <a:latin typeface="Cambria Math" panose="02040503050406030204" pitchFamily="18" charset="0"/>
                            </a:rPr>
                          </m:ctrlPr>
                        </m:sSupPr>
                        <m:e>
                          <m:d>
                            <m:dPr>
                              <m:ctrlPr>
                                <a:rPr lang="es-NI" sz="2000">
                                  <a:solidFill>
                                    <a:srgbClr val="836967"/>
                                  </a:solidFill>
                                  <a:latin typeface="Cambria Math" panose="02040503050406030204" pitchFamily="18" charset="0"/>
                                </a:rPr>
                              </m:ctrlPr>
                            </m:dPr>
                            <m:e>
                              <m:r>
                                <a:rPr lang="es-NI" sz="2000" i="1">
                                  <a:latin typeface="Cambria Math" panose="02040503050406030204" pitchFamily="18" charset="0"/>
                                </a:rPr>
                                <m:t>𝑥</m:t>
                              </m:r>
                              <m:r>
                                <a:rPr lang="es-NI" sz="2000" i="0">
                                  <a:latin typeface="Cambria Math" panose="02040503050406030204" pitchFamily="18" charset="0"/>
                                </a:rPr>
                                <m:t>−</m:t>
                              </m:r>
                              <m:acc>
                                <m:accPr>
                                  <m:chr m:val="̅"/>
                                  <m:ctrlPr>
                                    <a:rPr lang="es-NI" sz="2000" i="1">
                                      <a:solidFill>
                                        <a:srgbClr val="836967"/>
                                      </a:solidFill>
                                      <a:latin typeface="Cambria Math" panose="02040503050406030204" pitchFamily="18" charset="0"/>
                                    </a:rPr>
                                  </m:ctrlPr>
                                </m:accPr>
                                <m:e>
                                  <m:acc>
                                    <m:accPr>
                                      <m:chr m:val="̅"/>
                                      <m:ctrlPr>
                                        <a:rPr lang="es-NI" sz="2000" i="1">
                                          <a:solidFill>
                                            <a:srgbClr val="836967"/>
                                          </a:solidFill>
                                          <a:latin typeface="Cambria Math" panose="02040503050406030204" pitchFamily="18" charset="0"/>
                                        </a:rPr>
                                      </m:ctrlPr>
                                    </m:accPr>
                                    <m:e>
                                      <m:r>
                                        <a:rPr lang="es-NI" sz="2000" i="1">
                                          <a:latin typeface="Cambria Math" panose="02040503050406030204" pitchFamily="18" charset="0"/>
                                        </a:rPr>
                                        <m:t>𝑥</m:t>
                                      </m:r>
                                    </m:e>
                                  </m:acc>
                                </m:e>
                              </m:acc>
                            </m:e>
                          </m:d>
                        </m:e>
                        <m:sup>
                          <m:r>
                            <a:rPr lang="es-NI" sz="2000" i="0">
                              <a:latin typeface="Cambria Math" panose="02040503050406030204" pitchFamily="18" charset="0"/>
                            </a:rPr>
                            <m:t>2</m:t>
                          </m:r>
                        </m:sup>
                      </m:sSup>
                    </m:oMath>
                  </m:oMathPara>
                </a14:m>
                <a:endParaRPr lang="es-NI" sz="2000" dirty="0"/>
              </a:p>
            </p:txBody>
          </p:sp>
        </mc:Choice>
        <mc:Fallback>
          <p:sp>
            <p:nvSpPr>
              <p:cNvPr id="2" name="CuadroTexto 1">
                <a:extLst>
                  <a:ext uri="{FF2B5EF4-FFF2-40B4-BE49-F238E27FC236}">
                    <a16:creationId xmlns:a16="http://schemas.microsoft.com/office/drawing/2014/main" id="{9BDA7E52-3834-49A7-A67E-05F11E87CBDE}"/>
                  </a:ext>
                </a:extLst>
              </p:cNvPr>
              <p:cNvSpPr txBox="1">
                <a:spLocks noRot="1" noChangeAspect="1" noMove="1" noResize="1" noEditPoints="1" noAdjustHandles="1" noChangeArrowheads="1" noChangeShapeType="1" noTextEdit="1"/>
              </p:cNvSpPr>
              <p:nvPr/>
            </p:nvSpPr>
            <p:spPr>
              <a:xfrm>
                <a:off x="2210937" y="1892826"/>
                <a:ext cx="984629" cy="307777"/>
              </a:xfrm>
              <a:prstGeom prst="rect">
                <a:avLst/>
              </a:prstGeom>
              <a:blipFill>
                <a:blip r:embed="rId2"/>
                <a:stretch>
                  <a:fillRect t="-4000" r="-12422"/>
                </a:stretch>
              </a:blipFill>
            </p:spPr>
            <p:txBody>
              <a:bodyPr/>
              <a:lstStyle/>
              <a:p>
                <a:r>
                  <a:rPr lang="es-NI">
                    <a:noFill/>
                  </a:rPr>
                  <a:t> </a:t>
                </a:r>
              </a:p>
            </p:txBody>
          </p:sp>
        </mc:Fallback>
      </mc:AlternateContent>
      <p:sp>
        <p:nvSpPr>
          <p:cNvPr id="19" name="CuadroTexto 18">
            <a:extLst>
              <a:ext uri="{FF2B5EF4-FFF2-40B4-BE49-F238E27FC236}">
                <a16:creationId xmlns:a16="http://schemas.microsoft.com/office/drawing/2014/main" id="{DC240EB1-B634-403B-97CB-372824B2EB92}"/>
              </a:ext>
            </a:extLst>
          </p:cNvPr>
          <p:cNvSpPr txBox="1"/>
          <p:nvPr/>
        </p:nvSpPr>
        <p:spPr>
          <a:xfrm>
            <a:off x="6288062" y="1292662"/>
            <a:ext cx="5753812" cy="369332"/>
          </a:xfrm>
          <a:prstGeom prst="rect">
            <a:avLst/>
          </a:prstGeom>
          <a:noFill/>
        </p:spPr>
        <p:txBody>
          <a:bodyPr wrap="square" rtlCol="0">
            <a:spAutoFit/>
          </a:bodyPr>
          <a:lstStyle/>
          <a:p>
            <a:r>
              <a:rPr lang="es-NI" dirty="0">
                <a:latin typeface="Verdana" panose="020B0604030504040204" pitchFamily="34" charset="0"/>
                <a:ea typeface="Verdana" panose="020B0604030504040204" pitchFamily="34" charset="0"/>
              </a:rPr>
              <a:t>E. Suma de Cuadrados de Grupos SCTR</a:t>
            </a:r>
          </a:p>
        </p:txBody>
      </p:sp>
      <mc:AlternateContent xmlns:mc="http://schemas.openxmlformats.org/markup-compatibility/2006">
        <mc:Choice xmlns:a14="http://schemas.microsoft.com/office/drawing/2010/main" Requires="a14">
          <p:sp>
            <p:nvSpPr>
              <p:cNvPr id="3" name="CuadroTexto 2">
                <a:extLst>
                  <a:ext uri="{FF2B5EF4-FFF2-40B4-BE49-F238E27FC236}">
                    <a16:creationId xmlns:a16="http://schemas.microsoft.com/office/drawing/2014/main" id="{C388EF59-0479-4900-ACEE-28222AB16B43}"/>
                  </a:ext>
                </a:extLst>
              </p:cNvPr>
              <p:cNvSpPr txBox="1"/>
              <p:nvPr/>
            </p:nvSpPr>
            <p:spPr>
              <a:xfrm>
                <a:off x="8060370" y="1738937"/>
                <a:ext cx="1176732" cy="307777"/>
              </a:xfrm>
              <a:prstGeom prst="rect">
                <a:avLst/>
              </a:prstGeom>
              <a:noFill/>
            </p:spPr>
            <p:txBody>
              <a:bodyPr wrap="none" lIns="0" tIns="0" rIns="0" bIns="0" rtlCol="0">
                <a:spAutoFit/>
              </a:bodyPr>
              <a:lstStyle/>
              <a:p>
                <a14:m>
                  <m:oMath xmlns:m="http://schemas.openxmlformats.org/officeDocument/2006/math">
                    <m:r>
                      <a:rPr lang="es-NI" sz="2000" i="1" smtClean="0">
                        <a:latin typeface="Cambria Math" panose="02040503050406030204" pitchFamily="18" charset="0"/>
                      </a:rPr>
                      <m:t>𝐹</m:t>
                    </m:r>
                    <m:d>
                      <m:dPr>
                        <m:ctrlPr>
                          <a:rPr lang="es-NI" sz="2000" i="1">
                            <a:solidFill>
                              <a:srgbClr val="836967"/>
                            </a:solidFill>
                            <a:latin typeface="Cambria Math" panose="02040503050406030204" pitchFamily="18" charset="0"/>
                          </a:rPr>
                        </m:ctrlPr>
                      </m:dPr>
                      <m:e>
                        <m:acc>
                          <m:accPr>
                            <m:chr m:val="̅"/>
                            <m:ctrlPr>
                              <a:rPr lang="es-NI" sz="2000" i="1">
                                <a:solidFill>
                                  <a:srgbClr val="836967"/>
                                </a:solidFill>
                                <a:latin typeface="Cambria Math" panose="02040503050406030204" pitchFamily="18" charset="0"/>
                              </a:rPr>
                            </m:ctrlPr>
                          </m:accPr>
                          <m:e>
                            <m:sSub>
                              <m:sSubPr>
                                <m:ctrlPr>
                                  <a:rPr lang="es-NI" sz="2000" i="1">
                                    <a:solidFill>
                                      <a:srgbClr val="836967"/>
                                    </a:solidFill>
                                    <a:latin typeface="Cambria Math" panose="02040503050406030204" pitchFamily="18" charset="0"/>
                                  </a:rPr>
                                </m:ctrlPr>
                              </m:sSubPr>
                              <m:e>
                                <m:r>
                                  <a:rPr lang="es-NI" sz="2000" i="1">
                                    <a:latin typeface="Cambria Math" panose="02040503050406030204" pitchFamily="18" charset="0"/>
                                  </a:rPr>
                                  <m:t>𝑥</m:t>
                                </m:r>
                              </m:e>
                              <m:sub>
                                <m:r>
                                  <a:rPr lang="es-NI" sz="2000" i="1">
                                    <a:latin typeface="Cambria Math" panose="02040503050406030204" pitchFamily="18" charset="0"/>
                                  </a:rPr>
                                  <m:t>𝑖</m:t>
                                </m:r>
                              </m:sub>
                            </m:sSub>
                          </m:e>
                        </m:acc>
                        <m:r>
                          <a:rPr lang="es-NI" sz="2000" i="0">
                            <a:latin typeface="Cambria Math" panose="02040503050406030204" pitchFamily="18" charset="0"/>
                          </a:rPr>
                          <m:t>−</m:t>
                        </m:r>
                        <m:acc>
                          <m:accPr>
                            <m:chr m:val="̅"/>
                            <m:ctrlPr>
                              <a:rPr lang="es-NI" sz="2000" i="1">
                                <a:solidFill>
                                  <a:srgbClr val="836967"/>
                                </a:solidFill>
                                <a:latin typeface="Cambria Math" panose="02040503050406030204" pitchFamily="18" charset="0"/>
                              </a:rPr>
                            </m:ctrlPr>
                          </m:accPr>
                          <m:e>
                            <m:acc>
                              <m:accPr>
                                <m:chr m:val="̅"/>
                                <m:ctrlPr>
                                  <a:rPr lang="es-NI" sz="2000" i="1">
                                    <a:solidFill>
                                      <a:srgbClr val="836967"/>
                                    </a:solidFill>
                                    <a:latin typeface="Cambria Math" panose="02040503050406030204" pitchFamily="18" charset="0"/>
                                  </a:rPr>
                                </m:ctrlPr>
                              </m:accPr>
                              <m:e>
                                <m:r>
                                  <a:rPr lang="es-NI" sz="2000" i="1">
                                    <a:latin typeface="Cambria Math" panose="02040503050406030204" pitchFamily="18" charset="0"/>
                                  </a:rPr>
                                  <m:t>𝑥</m:t>
                                </m:r>
                              </m:e>
                            </m:acc>
                          </m:e>
                        </m:acc>
                      </m:e>
                    </m:d>
                  </m:oMath>
                </a14:m>
                <a:r>
                  <a:rPr lang="es-NI" sz="2000" baseline="30000" dirty="0"/>
                  <a:t>2</a:t>
                </a:r>
              </a:p>
            </p:txBody>
          </p:sp>
        </mc:Choice>
        <mc:Fallback>
          <p:sp>
            <p:nvSpPr>
              <p:cNvPr id="3" name="CuadroTexto 2">
                <a:extLst>
                  <a:ext uri="{FF2B5EF4-FFF2-40B4-BE49-F238E27FC236}">
                    <a16:creationId xmlns:a16="http://schemas.microsoft.com/office/drawing/2014/main" id="{C388EF59-0479-4900-ACEE-28222AB16B43}"/>
                  </a:ext>
                </a:extLst>
              </p:cNvPr>
              <p:cNvSpPr txBox="1">
                <a:spLocks noRot="1" noChangeAspect="1" noMove="1" noResize="1" noEditPoints="1" noAdjustHandles="1" noChangeArrowheads="1" noChangeShapeType="1" noTextEdit="1"/>
              </p:cNvSpPr>
              <p:nvPr/>
            </p:nvSpPr>
            <p:spPr>
              <a:xfrm>
                <a:off x="8060370" y="1738937"/>
                <a:ext cx="1176732" cy="307777"/>
              </a:xfrm>
              <a:prstGeom prst="rect">
                <a:avLst/>
              </a:prstGeom>
              <a:blipFill>
                <a:blip r:embed="rId3"/>
                <a:stretch>
                  <a:fillRect l="-7254" t="-15686" r="-11399" b="-17647"/>
                </a:stretch>
              </a:blipFill>
            </p:spPr>
            <p:txBody>
              <a:bodyPr/>
              <a:lstStyle/>
              <a:p>
                <a:r>
                  <a:rPr lang="es-NI">
                    <a:noFill/>
                  </a:rPr>
                  <a:t> </a:t>
                </a:r>
              </a:p>
            </p:txBody>
          </p:sp>
        </mc:Fallback>
      </mc:AlternateContent>
      <p:graphicFrame>
        <p:nvGraphicFramePr>
          <p:cNvPr id="5" name="Tabla 5">
            <a:extLst>
              <a:ext uri="{FF2B5EF4-FFF2-40B4-BE49-F238E27FC236}">
                <a16:creationId xmlns:a16="http://schemas.microsoft.com/office/drawing/2014/main" id="{5E1A58AA-8F9B-48BC-9DD4-1C93C4DBAE94}"/>
              </a:ext>
            </a:extLst>
          </p:cNvPr>
          <p:cNvGraphicFramePr>
            <a:graphicFrameLocks noGrp="1"/>
          </p:cNvGraphicFramePr>
          <p:nvPr>
            <p:extLst>
              <p:ext uri="{D42A27DB-BD31-4B8C-83A1-F6EECF244321}">
                <p14:modId xmlns:p14="http://schemas.microsoft.com/office/powerpoint/2010/main" val="4216360661"/>
              </p:ext>
            </p:extLst>
          </p:nvPr>
        </p:nvGraphicFramePr>
        <p:xfrm>
          <a:off x="6412931" y="2254778"/>
          <a:ext cx="4750936" cy="370840"/>
        </p:xfrm>
        <a:graphic>
          <a:graphicData uri="http://schemas.openxmlformats.org/drawingml/2006/table">
            <a:tbl>
              <a:tblPr firstRow="1" bandRow="1">
                <a:tableStyleId>{5C22544A-7EE6-4342-B048-85BDC9FD1C3A}</a:tableStyleId>
              </a:tblPr>
              <a:tblGrid>
                <a:gridCol w="1187734">
                  <a:extLst>
                    <a:ext uri="{9D8B030D-6E8A-4147-A177-3AD203B41FA5}">
                      <a16:colId xmlns:a16="http://schemas.microsoft.com/office/drawing/2014/main" val="1799759322"/>
                    </a:ext>
                  </a:extLst>
                </a:gridCol>
                <a:gridCol w="1187734">
                  <a:extLst>
                    <a:ext uri="{9D8B030D-6E8A-4147-A177-3AD203B41FA5}">
                      <a16:colId xmlns:a16="http://schemas.microsoft.com/office/drawing/2014/main" val="497149640"/>
                    </a:ext>
                  </a:extLst>
                </a:gridCol>
                <a:gridCol w="1187734">
                  <a:extLst>
                    <a:ext uri="{9D8B030D-6E8A-4147-A177-3AD203B41FA5}">
                      <a16:colId xmlns:a16="http://schemas.microsoft.com/office/drawing/2014/main" val="305844753"/>
                    </a:ext>
                  </a:extLst>
                </a:gridCol>
                <a:gridCol w="1187734">
                  <a:extLst>
                    <a:ext uri="{9D8B030D-6E8A-4147-A177-3AD203B41FA5}">
                      <a16:colId xmlns:a16="http://schemas.microsoft.com/office/drawing/2014/main" val="3898357508"/>
                    </a:ext>
                  </a:extLst>
                </a:gridCol>
              </a:tblGrid>
              <a:tr h="370840">
                <a:tc>
                  <a:txBody>
                    <a:bodyPr/>
                    <a:lstStyle/>
                    <a:p>
                      <a:r>
                        <a:rPr lang="es-NI" dirty="0"/>
                        <a:t>40.2 </a:t>
                      </a:r>
                    </a:p>
                  </a:txBody>
                  <a:tcPr/>
                </a:tc>
                <a:tc>
                  <a:txBody>
                    <a:bodyPr/>
                    <a:lstStyle/>
                    <a:p>
                      <a:r>
                        <a:rPr lang="es-NI" dirty="0"/>
                        <a:t>17.31</a:t>
                      </a:r>
                    </a:p>
                  </a:txBody>
                  <a:tcPr/>
                </a:tc>
                <a:tc>
                  <a:txBody>
                    <a:bodyPr/>
                    <a:lstStyle/>
                    <a:p>
                      <a:r>
                        <a:rPr lang="es-NI" dirty="0"/>
                        <a:t>4.67</a:t>
                      </a:r>
                    </a:p>
                  </a:txBody>
                  <a:tcPr/>
                </a:tc>
                <a:tc>
                  <a:txBody>
                    <a:bodyPr/>
                    <a:lstStyle/>
                    <a:p>
                      <a:r>
                        <a:rPr lang="es-NI" dirty="0">
                          <a:highlight>
                            <a:srgbClr val="FF0000"/>
                          </a:highlight>
                        </a:rPr>
                        <a:t>62.18</a:t>
                      </a:r>
                    </a:p>
                  </a:txBody>
                  <a:tcPr/>
                </a:tc>
                <a:extLst>
                  <a:ext uri="{0D108BD9-81ED-4DB2-BD59-A6C34878D82A}">
                    <a16:rowId xmlns:a16="http://schemas.microsoft.com/office/drawing/2014/main" val="1084518620"/>
                  </a:ext>
                </a:extLst>
              </a:tr>
            </a:tbl>
          </a:graphicData>
        </a:graphic>
      </p:graphicFrame>
      <p:sp>
        <p:nvSpPr>
          <p:cNvPr id="20" name="CuadroTexto 19">
            <a:extLst>
              <a:ext uri="{FF2B5EF4-FFF2-40B4-BE49-F238E27FC236}">
                <a16:creationId xmlns:a16="http://schemas.microsoft.com/office/drawing/2014/main" id="{24B96866-6CE8-42F6-8C6E-7BAC9EEADB62}"/>
              </a:ext>
            </a:extLst>
          </p:cNvPr>
          <p:cNvSpPr txBox="1"/>
          <p:nvPr/>
        </p:nvSpPr>
        <p:spPr>
          <a:xfrm>
            <a:off x="6200164" y="2881727"/>
            <a:ext cx="5753812" cy="369332"/>
          </a:xfrm>
          <a:prstGeom prst="rect">
            <a:avLst/>
          </a:prstGeom>
          <a:noFill/>
        </p:spPr>
        <p:txBody>
          <a:bodyPr wrap="square" rtlCol="0">
            <a:spAutoFit/>
          </a:bodyPr>
          <a:lstStyle/>
          <a:p>
            <a:r>
              <a:rPr lang="es-NI" dirty="0">
                <a:latin typeface="Verdana" panose="020B0604030504040204" pitchFamily="34" charset="0"/>
                <a:ea typeface="Verdana" panose="020B0604030504040204" pitchFamily="34" charset="0"/>
              </a:rPr>
              <a:t>F. Suma de cuadrados de error</a:t>
            </a:r>
          </a:p>
        </p:txBody>
      </p:sp>
      <p:graphicFrame>
        <p:nvGraphicFramePr>
          <p:cNvPr id="21" name="Tabla 2">
            <a:extLst>
              <a:ext uri="{FF2B5EF4-FFF2-40B4-BE49-F238E27FC236}">
                <a16:creationId xmlns:a16="http://schemas.microsoft.com/office/drawing/2014/main" id="{5CDCE14F-583E-4C02-B973-50BA82605550}"/>
              </a:ext>
            </a:extLst>
          </p:cNvPr>
          <p:cNvGraphicFramePr>
            <a:graphicFrameLocks noGrp="1"/>
          </p:cNvGraphicFramePr>
          <p:nvPr>
            <p:extLst>
              <p:ext uri="{D42A27DB-BD31-4B8C-83A1-F6EECF244321}">
                <p14:modId xmlns:p14="http://schemas.microsoft.com/office/powerpoint/2010/main" val="23615113"/>
              </p:ext>
            </p:extLst>
          </p:nvPr>
        </p:nvGraphicFramePr>
        <p:xfrm>
          <a:off x="6767771" y="3953930"/>
          <a:ext cx="3348364" cy="2225040"/>
        </p:xfrm>
        <a:graphic>
          <a:graphicData uri="http://schemas.openxmlformats.org/drawingml/2006/table">
            <a:tbl>
              <a:tblPr firstRow="1" bandRow="1">
                <a:tableStyleId>{5C22544A-7EE6-4342-B048-85BDC9FD1C3A}</a:tableStyleId>
              </a:tblPr>
              <a:tblGrid>
                <a:gridCol w="829370">
                  <a:extLst>
                    <a:ext uri="{9D8B030D-6E8A-4147-A177-3AD203B41FA5}">
                      <a16:colId xmlns:a16="http://schemas.microsoft.com/office/drawing/2014/main" val="2484249163"/>
                    </a:ext>
                  </a:extLst>
                </a:gridCol>
                <a:gridCol w="755860">
                  <a:extLst>
                    <a:ext uri="{9D8B030D-6E8A-4147-A177-3AD203B41FA5}">
                      <a16:colId xmlns:a16="http://schemas.microsoft.com/office/drawing/2014/main" val="4187904380"/>
                    </a:ext>
                  </a:extLst>
                </a:gridCol>
                <a:gridCol w="881567">
                  <a:extLst>
                    <a:ext uri="{9D8B030D-6E8A-4147-A177-3AD203B41FA5}">
                      <a16:colId xmlns:a16="http://schemas.microsoft.com/office/drawing/2014/main" val="1294615550"/>
                    </a:ext>
                  </a:extLst>
                </a:gridCol>
                <a:gridCol w="881567">
                  <a:extLst>
                    <a:ext uri="{9D8B030D-6E8A-4147-A177-3AD203B41FA5}">
                      <a16:colId xmlns:a16="http://schemas.microsoft.com/office/drawing/2014/main" val="3367447264"/>
                    </a:ext>
                  </a:extLst>
                </a:gridCol>
              </a:tblGrid>
              <a:tr h="370840">
                <a:tc>
                  <a:txBody>
                    <a:bodyPr/>
                    <a:lstStyle/>
                    <a:p>
                      <a:r>
                        <a:rPr lang="es-NI" dirty="0"/>
                        <a:t>G1</a:t>
                      </a:r>
                    </a:p>
                  </a:txBody>
                  <a:tcPr/>
                </a:tc>
                <a:tc>
                  <a:txBody>
                    <a:bodyPr/>
                    <a:lstStyle/>
                    <a:p>
                      <a:r>
                        <a:rPr lang="es-NI" dirty="0"/>
                        <a:t>G2</a:t>
                      </a:r>
                    </a:p>
                  </a:txBody>
                  <a:tcPr/>
                </a:tc>
                <a:tc>
                  <a:txBody>
                    <a:bodyPr/>
                    <a:lstStyle/>
                    <a:p>
                      <a:r>
                        <a:rPr lang="es-NI" dirty="0"/>
                        <a:t>G3</a:t>
                      </a:r>
                    </a:p>
                  </a:txBody>
                  <a:tcPr/>
                </a:tc>
                <a:tc>
                  <a:txBody>
                    <a:bodyPr/>
                    <a:lstStyle/>
                    <a:p>
                      <a:pPr algn="ctr"/>
                      <a:r>
                        <a:rPr lang="es-NI" dirty="0"/>
                        <a:t>Total</a:t>
                      </a:r>
                    </a:p>
                  </a:txBody>
                  <a:tcPr/>
                </a:tc>
                <a:extLst>
                  <a:ext uri="{0D108BD9-81ED-4DB2-BD59-A6C34878D82A}">
                    <a16:rowId xmlns:a16="http://schemas.microsoft.com/office/drawing/2014/main" val="2104470785"/>
                  </a:ext>
                </a:extLst>
              </a:tr>
              <a:tr h="370840">
                <a:tc>
                  <a:txBody>
                    <a:bodyPr/>
                    <a:lstStyle/>
                    <a:p>
                      <a:r>
                        <a:rPr lang="es-NI" dirty="0"/>
                        <a:t>0.06</a:t>
                      </a:r>
                    </a:p>
                  </a:txBody>
                  <a:tcPr/>
                </a:tc>
                <a:tc>
                  <a:txBody>
                    <a:bodyPr/>
                    <a:lstStyle/>
                    <a:p>
                      <a:r>
                        <a:rPr lang="es-NI" dirty="0"/>
                        <a:t>0</a:t>
                      </a:r>
                    </a:p>
                  </a:txBody>
                  <a:tcPr/>
                </a:tc>
                <a:tc>
                  <a:txBody>
                    <a:bodyPr/>
                    <a:lstStyle/>
                    <a:p>
                      <a:r>
                        <a:rPr lang="es-NI" dirty="0"/>
                        <a:t>1</a:t>
                      </a:r>
                    </a:p>
                  </a:txBody>
                  <a:tcPr/>
                </a:tc>
                <a:tc>
                  <a:txBody>
                    <a:bodyPr/>
                    <a:lstStyle/>
                    <a:p>
                      <a:r>
                        <a:rPr lang="es-NI" dirty="0"/>
                        <a:t>1.06</a:t>
                      </a:r>
                    </a:p>
                  </a:txBody>
                  <a:tcPr/>
                </a:tc>
                <a:extLst>
                  <a:ext uri="{0D108BD9-81ED-4DB2-BD59-A6C34878D82A}">
                    <a16:rowId xmlns:a16="http://schemas.microsoft.com/office/drawing/2014/main" val="1530175518"/>
                  </a:ext>
                </a:extLst>
              </a:tr>
              <a:tr h="370840">
                <a:tc>
                  <a:txBody>
                    <a:bodyPr/>
                    <a:lstStyle/>
                    <a:p>
                      <a:r>
                        <a:rPr lang="es-NI" dirty="0"/>
                        <a:t>5.06</a:t>
                      </a:r>
                    </a:p>
                  </a:txBody>
                  <a:tcPr/>
                </a:tc>
                <a:tc>
                  <a:txBody>
                    <a:bodyPr/>
                    <a:lstStyle/>
                    <a:p>
                      <a:r>
                        <a:rPr lang="es-NI" dirty="0"/>
                        <a:t>1</a:t>
                      </a:r>
                    </a:p>
                  </a:txBody>
                  <a:tcPr/>
                </a:tc>
                <a:tc>
                  <a:txBody>
                    <a:bodyPr/>
                    <a:lstStyle/>
                    <a:p>
                      <a:r>
                        <a:rPr lang="es-NI" dirty="0"/>
                        <a:t>0</a:t>
                      </a:r>
                    </a:p>
                  </a:txBody>
                  <a:tcPr/>
                </a:tc>
                <a:tc>
                  <a:txBody>
                    <a:bodyPr/>
                    <a:lstStyle/>
                    <a:p>
                      <a:r>
                        <a:rPr lang="es-NI" dirty="0"/>
                        <a:t>6.06</a:t>
                      </a:r>
                    </a:p>
                  </a:txBody>
                  <a:tcPr/>
                </a:tc>
                <a:extLst>
                  <a:ext uri="{0D108BD9-81ED-4DB2-BD59-A6C34878D82A}">
                    <a16:rowId xmlns:a16="http://schemas.microsoft.com/office/drawing/2014/main" val="3167785662"/>
                  </a:ext>
                </a:extLst>
              </a:tr>
              <a:tr h="370840">
                <a:tc>
                  <a:txBody>
                    <a:bodyPr/>
                    <a:lstStyle/>
                    <a:p>
                      <a:r>
                        <a:rPr lang="es-NI" dirty="0"/>
                        <a:t>3.06</a:t>
                      </a:r>
                    </a:p>
                  </a:txBody>
                  <a:tcPr/>
                </a:tc>
                <a:tc>
                  <a:txBody>
                    <a:bodyPr/>
                    <a:lstStyle/>
                    <a:p>
                      <a:r>
                        <a:rPr lang="es-NI" dirty="0"/>
                        <a:t>1</a:t>
                      </a:r>
                    </a:p>
                  </a:txBody>
                  <a:tcPr/>
                </a:tc>
                <a:tc>
                  <a:txBody>
                    <a:bodyPr/>
                    <a:lstStyle/>
                    <a:p>
                      <a:r>
                        <a:rPr lang="es-NI" dirty="0"/>
                        <a:t>1</a:t>
                      </a:r>
                    </a:p>
                  </a:txBody>
                  <a:tcPr/>
                </a:tc>
                <a:tc>
                  <a:txBody>
                    <a:bodyPr/>
                    <a:lstStyle/>
                    <a:p>
                      <a:r>
                        <a:rPr lang="es-NI" dirty="0"/>
                        <a:t>5.06</a:t>
                      </a:r>
                    </a:p>
                  </a:txBody>
                  <a:tcPr/>
                </a:tc>
                <a:extLst>
                  <a:ext uri="{0D108BD9-81ED-4DB2-BD59-A6C34878D82A}">
                    <a16:rowId xmlns:a16="http://schemas.microsoft.com/office/drawing/2014/main" val="1601750119"/>
                  </a:ext>
                </a:extLst>
              </a:tr>
              <a:tr h="370840">
                <a:tc>
                  <a:txBody>
                    <a:bodyPr/>
                    <a:lstStyle/>
                    <a:p>
                      <a:r>
                        <a:rPr lang="es-NI" dirty="0"/>
                        <a:t>0.56</a:t>
                      </a:r>
                    </a:p>
                  </a:txBody>
                  <a:tcPr/>
                </a:tc>
                <a:tc>
                  <a:txBody>
                    <a:bodyPr/>
                    <a:lstStyle/>
                    <a:p>
                      <a:r>
                        <a:rPr lang="es-NI" dirty="0"/>
                        <a:t>0</a:t>
                      </a:r>
                    </a:p>
                  </a:txBody>
                  <a:tcPr/>
                </a:tc>
                <a:tc>
                  <a:txBody>
                    <a:bodyPr/>
                    <a:lstStyle/>
                    <a:p>
                      <a:r>
                        <a:rPr lang="es-NI" dirty="0"/>
                        <a:t>0</a:t>
                      </a:r>
                    </a:p>
                  </a:txBody>
                  <a:tcPr/>
                </a:tc>
                <a:tc>
                  <a:txBody>
                    <a:bodyPr/>
                    <a:lstStyle/>
                    <a:p>
                      <a:r>
                        <a:rPr lang="es-NI" dirty="0"/>
                        <a:t>0.56</a:t>
                      </a:r>
                    </a:p>
                  </a:txBody>
                  <a:tcPr/>
                </a:tc>
                <a:extLst>
                  <a:ext uri="{0D108BD9-81ED-4DB2-BD59-A6C34878D82A}">
                    <a16:rowId xmlns:a16="http://schemas.microsoft.com/office/drawing/2014/main" val="3288788941"/>
                  </a:ext>
                </a:extLst>
              </a:tr>
              <a:tr h="370840">
                <a:tc>
                  <a:txBody>
                    <a:bodyPr/>
                    <a:lstStyle/>
                    <a:p>
                      <a:pPr algn="ctr"/>
                      <a:r>
                        <a:rPr lang="es-NI" b="1" dirty="0"/>
                        <a:t>8.74</a:t>
                      </a:r>
                    </a:p>
                  </a:txBody>
                  <a:tcPr/>
                </a:tc>
                <a:tc>
                  <a:txBody>
                    <a:bodyPr/>
                    <a:lstStyle/>
                    <a:p>
                      <a:pPr algn="ctr"/>
                      <a:r>
                        <a:rPr lang="es-NI" b="1" dirty="0"/>
                        <a:t>2</a:t>
                      </a:r>
                    </a:p>
                  </a:txBody>
                  <a:tcPr/>
                </a:tc>
                <a:tc>
                  <a:txBody>
                    <a:bodyPr/>
                    <a:lstStyle/>
                    <a:p>
                      <a:pPr algn="ctr"/>
                      <a:r>
                        <a:rPr lang="es-NI" b="1" dirty="0"/>
                        <a:t>2</a:t>
                      </a:r>
                    </a:p>
                  </a:txBody>
                  <a:tcPr/>
                </a:tc>
                <a:tc>
                  <a:txBody>
                    <a:bodyPr/>
                    <a:lstStyle/>
                    <a:p>
                      <a:pPr algn="ctr"/>
                      <a:r>
                        <a:rPr lang="es-NI" b="1" dirty="0">
                          <a:solidFill>
                            <a:srgbClr val="FF0000"/>
                          </a:solidFill>
                        </a:rPr>
                        <a:t>12.74</a:t>
                      </a:r>
                    </a:p>
                  </a:txBody>
                  <a:tcPr/>
                </a:tc>
                <a:extLst>
                  <a:ext uri="{0D108BD9-81ED-4DB2-BD59-A6C34878D82A}">
                    <a16:rowId xmlns:a16="http://schemas.microsoft.com/office/drawing/2014/main" val="1973187439"/>
                  </a:ext>
                </a:extLst>
              </a:tr>
            </a:tbl>
          </a:graphicData>
        </a:graphic>
      </p:graphicFrame>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B74EDB59-B253-4ABA-935C-B5D99B274777}"/>
                  </a:ext>
                </a:extLst>
              </p:cNvPr>
              <p:cNvSpPr txBox="1"/>
              <p:nvPr/>
            </p:nvSpPr>
            <p:spPr>
              <a:xfrm>
                <a:off x="8013381" y="3329943"/>
                <a:ext cx="1129668" cy="30777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s-NI" sz="2000" smtClean="0">
                              <a:solidFill>
                                <a:srgbClr val="836967"/>
                              </a:solidFill>
                              <a:latin typeface="Cambria Math" panose="02040503050406030204" pitchFamily="18" charset="0"/>
                            </a:rPr>
                          </m:ctrlPr>
                        </m:sSupPr>
                        <m:e>
                          <m:d>
                            <m:dPr>
                              <m:ctrlPr>
                                <a:rPr lang="es-NI" sz="2000">
                                  <a:solidFill>
                                    <a:srgbClr val="836967"/>
                                  </a:solidFill>
                                  <a:latin typeface="Cambria Math" panose="02040503050406030204" pitchFamily="18" charset="0"/>
                                </a:rPr>
                              </m:ctrlPr>
                            </m:dPr>
                            <m:e>
                              <m:sSub>
                                <m:sSubPr>
                                  <m:ctrlPr>
                                    <a:rPr lang="es-NI" sz="2000">
                                      <a:solidFill>
                                        <a:srgbClr val="836967"/>
                                      </a:solidFill>
                                      <a:latin typeface="Cambria Math" panose="02040503050406030204" pitchFamily="18" charset="0"/>
                                    </a:rPr>
                                  </m:ctrlPr>
                                </m:sSubPr>
                                <m:e>
                                  <m:r>
                                    <a:rPr lang="es-NI" sz="2000" i="1">
                                      <a:latin typeface="Cambria Math" panose="02040503050406030204" pitchFamily="18" charset="0"/>
                                    </a:rPr>
                                    <m:t>𝑥</m:t>
                                  </m:r>
                                </m:e>
                                <m:sub>
                                  <m:r>
                                    <a:rPr lang="es-NI" sz="2000" i="1">
                                      <a:latin typeface="Cambria Math" panose="02040503050406030204" pitchFamily="18" charset="0"/>
                                    </a:rPr>
                                    <m:t>𝑖</m:t>
                                  </m:r>
                                </m:sub>
                              </m:sSub>
                              <m:r>
                                <a:rPr lang="es-NI" sz="2000" i="0">
                                  <a:latin typeface="Cambria Math" panose="02040503050406030204" pitchFamily="18" charset="0"/>
                                </a:rPr>
                                <m:t>−</m:t>
                              </m:r>
                              <m:sSub>
                                <m:sSubPr>
                                  <m:ctrlPr>
                                    <a:rPr lang="es-NI" sz="2000" i="1">
                                      <a:solidFill>
                                        <a:srgbClr val="836967"/>
                                      </a:solidFill>
                                      <a:latin typeface="Cambria Math" panose="02040503050406030204" pitchFamily="18" charset="0"/>
                                    </a:rPr>
                                  </m:ctrlPr>
                                </m:sSubPr>
                                <m:e>
                                  <m:acc>
                                    <m:accPr>
                                      <m:chr m:val="̅"/>
                                      <m:ctrlPr>
                                        <a:rPr lang="es-NI" sz="2000" i="1">
                                          <a:solidFill>
                                            <a:srgbClr val="836967"/>
                                          </a:solidFill>
                                          <a:latin typeface="Cambria Math" panose="02040503050406030204" pitchFamily="18" charset="0"/>
                                        </a:rPr>
                                      </m:ctrlPr>
                                    </m:accPr>
                                    <m:e>
                                      <m:r>
                                        <a:rPr lang="es-NI" sz="2000" i="1">
                                          <a:latin typeface="Cambria Math" panose="02040503050406030204" pitchFamily="18" charset="0"/>
                                        </a:rPr>
                                        <m:t>𝑥</m:t>
                                      </m:r>
                                    </m:e>
                                  </m:acc>
                                </m:e>
                                <m:sub>
                                  <m:r>
                                    <a:rPr lang="es-NI" sz="2000" i="1">
                                      <a:latin typeface="Cambria Math" panose="02040503050406030204" pitchFamily="18" charset="0"/>
                                    </a:rPr>
                                    <m:t>𝑖</m:t>
                                  </m:r>
                                </m:sub>
                              </m:sSub>
                            </m:e>
                          </m:d>
                        </m:e>
                        <m:sup>
                          <m:r>
                            <a:rPr lang="es-NI" sz="2000" i="0">
                              <a:latin typeface="Cambria Math" panose="02040503050406030204" pitchFamily="18" charset="0"/>
                            </a:rPr>
                            <m:t>2</m:t>
                          </m:r>
                        </m:sup>
                      </m:sSup>
                    </m:oMath>
                  </m:oMathPara>
                </a14:m>
                <a:endParaRPr lang="es-NI" sz="2000" dirty="0"/>
              </a:p>
            </p:txBody>
          </p:sp>
        </mc:Choice>
        <mc:Fallback>
          <p:sp>
            <p:nvSpPr>
              <p:cNvPr id="6" name="CuadroTexto 5">
                <a:extLst>
                  <a:ext uri="{FF2B5EF4-FFF2-40B4-BE49-F238E27FC236}">
                    <a16:creationId xmlns:a16="http://schemas.microsoft.com/office/drawing/2014/main" id="{B74EDB59-B253-4ABA-935C-B5D99B274777}"/>
                  </a:ext>
                </a:extLst>
              </p:cNvPr>
              <p:cNvSpPr txBox="1">
                <a:spLocks noRot="1" noChangeAspect="1" noMove="1" noResize="1" noEditPoints="1" noAdjustHandles="1" noChangeArrowheads="1" noChangeShapeType="1" noTextEdit="1"/>
              </p:cNvSpPr>
              <p:nvPr/>
            </p:nvSpPr>
            <p:spPr>
              <a:xfrm>
                <a:off x="8013381" y="3329943"/>
                <a:ext cx="1129668" cy="307777"/>
              </a:xfrm>
              <a:prstGeom prst="rect">
                <a:avLst/>
              </a:prstGeom>
              <a:blipFill>
                <a:blip r:embed="rId4"/>
                <a:stretch>
                  <a:fillRect t="-1961" r="-4324" b="-15686"/>
                </a:stretch>
              </a:blipFill>
            </p:spPr>
            <p:txBody>
              <a:bodyPr/>
              <a:lstStyle/>
              <a:p>
                <a:r>
                  <a:rPr lang="es-NI">
                    <a:noFill/>
                  </a:rPr>
                  <a:t> </a:t>
                </a:r>
              </a:p>
            </p:txBody>
          </p:sp>
        </mc:Fallback>
      </mc:AlternateContent>
    </p:spTree>
    <p:extLst>
      <p:ext uri="{BB962C8B-B14F-4D97-AF65-F5344CB8AC3E}">
        <p14:creationId xmlns:p14="http://schemas.microsoft.com/office/powerpoint/2010/main" val="1013966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EFC1C54-6D44-464D-B2C9-06EFF795534B}"/>
              </a:ext>
            </a:extLst>
          </p:cNvPr>
          <p:cNvSpPr/>
          <p:nvPr/>
        </p:nvSpPr>
        <p:spPr>
          <a:xfrm>
            <a:off x="3513018" y="0"/>
            <a:ext cx="5165966"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ANOVA | Ejemplo</a:t>
            </a:r>
          </a:p>
        </p:txBody>
      </p:sp>
      <p:sp>
        <p:nvSpPr>
          <p:cNvPr id="10" name="CuadroTexto 9">
            <a:extLst>
              <a:ext uri="{FF2B5EF4-FFF2-40B4-BE49-F238E27FC236}">
                <a16:creationId xmlns:a16="http://schemas.microsoft.com/office/drawing/2014/main" id="{066090D6-E48B-40A4-BA4B-7CBC43ABE594}"/>
              </a:ext>
            </a:extLst>
          </p:cNvPr>
          <p:cNvSpPr txBox="1"/>
          <p:nvPr/>
        </p:nvSpPr>
        <p:spPr>
          <a:xfrm>
            <a:off x="150126" y="923330"/>
            <a:ext cx="6387152" cy="369332"/>
          </a:xfrm>
          <a:prstGeom prst="rect">
            <a:avLst/>
          </a:prstGeom>
          <a:noFill/>
        </p:spPr>
        <p:txBody>
          <a:bodyPr wrap="square" rtlCol="0">
            <a:spAutoFit/>
          </a:bodyPr>
          <a:lstStyle/>
          <a:p>
            <a:r>
              <a:rPr lang="es-NI" b="1" dirty="0">
                <a:latin typeface="Verdana" panose="020B0604030504040204" pitchFamily="34" charset="0"/>
                <a:ea typeface="Verdana" panose="020B0604030504040204" pitchFamily="34" charset="0"/>
              </a:rPr>
              <a:t>Paso #03: Calcular el estadístico de prueba</a:t>
            </a:r>
          </a:p>
        </p:txBody>
      </p:sp>
      <p:sp>
        <p:nvSpPr>
          <p:cNvPr id="11" name="CuadroTexto 10">
            <a:extLst>
              <a:ext uri="{FF2B5EF4-FFF2-40B4-BE49-F238E27FC236}">
                <a16:creationId xmlns:a16="http://schemas.microsoft.com/office/drawing/2014/main" id="{B6533724-6851-43EE-8874-D8A43FB88E51}"/>
              </a:ext>
            </a:extLst>
          </p:cNvPr>
          <p:cNvSpPr txBox="1"/>
          <p:nvPr/>
        </p:nvSpPr>
        <p:spPr>
          <a:xfrm>
            <a:off x="496863" y="1292662"/>
            <a:ext cx="5753812" cy="369332"/>
          </a:xfrm>
          <a:prstGeom prst="rect">
            <a:avLst/>
          </a:prstGeom>
          <a:noFill/>
        </p:spPr>
        <p:txBody>
          <a:bodyPr wrap="square" rtlCol="0">
            <a:spAutoFit/>
          </a:bodyPr>
          <a:lstStyle/>
          <a:p>
            <a:r>
              <a:rPr lang="es-NI" dirty="0">
                <a:latin typeface="Verdana" panose="020B0604030504040204" pitchFamily="34" charset="0"/>
                <a:ea typeface="Verdana" panose="020B0604030504040204" pitchFamily="34" charset="0"/>
              </a:rPr>
              <a:t>G. Calcular Los cuadrados medios</a:t>
            </a:r>
          </a:p>
        </p:txBody>
      </p:sp>
      <p:sp>
        <p:nvSpPr>
          <p:cNvPr id="13" name="CuadroTexto 12">
            <a:extLst>
              <a:ext uri="{FF2B5EF4-FFF2-40B4-BE49-F238E27FC236}">
                <a16:creationId xmlns:a16="http://schemas.microsoft.com/office/drawing/2014/main" id="{07A0411B-8625-4899-B9AF-CC767719A44C}"/>
              </a:ext>
            </a:extLst>
          </p:cNvPr>
          <p:cNvSpPr txBox="1"/>
          <p:nvPr/>
        </p:nvSpPr>
        <p:spPr>
          <a:xfrm>
            <a:off x="1102908" y="1846660"/>
            <a:ext cx="4206072" cy="2308324"/>
          </a:xfrm>
          <a:prstGeom prst="rect">
            <a:avLst/>
          </a:prstGeom>
          <a:noFill/>
        </p:spPr>
        <p:txBody>
          <a:bodyPr wrap="square" rtlCol="0">
            <a:spAutoFit/>
          </a:bodyPr>
          <a:lstStyle/>
          <a:p>
            <a:r>
              <a:rPr lang="es-NI" u="sng" dirty="0">
                <a:latin typeface="Verdana" panose="020B0604030504040204" pitchFamily="34" charset="0"/>
                <a:ea typeface="Verdana" panose="020B0604030504040204" pitchFamily="34" charset="0"/>
              </a:rPr>
              <a:t>Cuadrado medio total CMT</a:t>
            </a:r>
          </a:p>
          <a:p>
            <a:r>
              <a:rPr lang="es-NI" dirty="0">
                <a:latin typeface="Verdana" panose="020B0604030504040204" pitchFamily="34" charset="0"/>
                <a:ea typeface="Verdana" panose="020B0604030504040204" pitchFamily="34" charset="0"/>
              </a:rPr>
              <a:t>SCT / n-1 = 74.95 / 11 = 6.87</a:t>
            </a:r>
          </a:p>
          <a:p>
            <a:endParaRPr lang="es-NI" dirty="0">
              <a:latin typeface="Verdana" panose="020B0604030504040204" pitchFamily="34" charset="0"/>
              <a:ea typeface="Verdana" panose="020B0604030504040204" pitchFamily="34" charset="0"/>
            </a:endParaRPr>
          </a:p>
          <a:p>
            <a:r>
              <a:rPr lang="es-NI" u="sng" dirty="0">
                <a:latin typeface="Verdana" panose="020B0604030504040204" pitchFamily="34" charset="0"/>
                <a:ea typeface="Verdana" panose="020B0604030504040204" pitchFamily="34" charset="0"/>
              </a:rPr>
              <a:t>Cuadrado medio de grupo CMTR</a:t>
            </a:r>
          </a:p>
          <a:p>
            <a:r>
              <a:rPr lang="es-NI" dirty="0">
                <a:latin typeface="Verdana" panose="020B0604030504040204" pitchFamily="34" charset="0"/>
                <a:ea typeface="Verdana" panose="020B0604030504040204" pitchFamily="34" charset="0"/>
              </a:rPr>
              <a:t>SCTR / C -1 = 62.18 / 2 = 31.09</a:t>
            </a:r>
          </a:p>
          <a:p>
            <a:endParaRPr lang="es-NI" dirty="0">
              <a:latin typeface="Verdana" panose="020B0604030504040204" pitchFamily="34" charset="0"/>
              <a:ea typeface="Verdana" panose="020B0604030504040204" pitchFamily="34" charset="0"/>
            </a:endParaRPr>
          </a:p>
          <a:p>
            <a:r>
              <a:rPr lang="es-NI" u="sng" dirty="0">
                <a:latin typeface="Verdana" panose="020B0604030504040204" pitchFamily="34" charset="0"/>
                <a:ea typeface="Verdana" panose="020B0604030504040204" pitchFamily="34" charset="0"/>
              </a:rPr>
              <a:t>Cuadrado medio de error</a:t>
            </a:r>
          </a:p>
          <a:p>
            <a:r>
              <a:rPr lang="es-NI" dirty="0">
                <a:latin typeface="Verdana" panose="020B0604030504040204" pitchFamily="34" charset="0"/>
                <a:ea typeface="Verdana" panose="020B0604030504040204" pitchFamily="34" charset="0"/>
              </a:rPr>
              <a:t>SCE / n-C = 12.74 / 9 = 1.42 </a:t>
            </a:r>
          </a:p>
        </p:txBody>
      </p:sp>
      <p:sp>
        <p:nvSpPr>
          <p:cNvPr id="14" name="CuadroTexto 13">
            <a:extLst>
              <a:ext uri="{FF2B5EF4-FFF2-40B4-BE49-F238E27FC236}">
                <a16:creationId xmlns:a16="http://schemas.microsoft.com/office/drawing/2014/main" id="{6B7FDEDA-1862-42E4-9B64-B640806F6A94}"/>
              </a:ext>
            </a:extLst>
          </p:cNvPr>
          <p:cNvSpPr txBox="1"/>
          <p:nvPr/>
        </p:nvSpPr>
        <p:spPr>
          <a:xfrm>
            <a:off x="6329006" y="1292662"/>
            <a:ext cx="5753812" cy="2031325"/>
          </a:xfrm>
          <a:prstGeom prst="rect">
            <a:avLst/>
          </a:prstGeom>
          <a:noFill/>
        </p:spPr>
        <p:txBody>
          <a:bodyPr wrap="square" rtlCol="0">
            <a:spAutoFit/>
          </a:bodyPr>
          <a:lstStyle/>
          <a:p>
            <a:r>
              <a:rPr lang="es-NI" dirty="0">
                <a:latin typeface="Verdana" panose="020B0604030504040204" pitchFamily="34" charset="0"/>
                <a:ea typeface="Verdana" panose="020B0604030504040204" pitchFamily="34" charset="0"/>
              </a:rPr>
              <a:t>H. Calcular El estadístico de prueba F de Fisher</a:t>
            </a:r>
          </a:p>
          <a:p>
            <a:endParaRPr lang="es-NI" dirty="0">
              <a:latin typeface="Verdana" panose="020B0604030504040204" pitchFamily="34" charset="0"/>
              <a:ea typeface="Verdana" panose="020B0604030504040204" pitchFamily="34" charset="0"/>
            </a:endParaRPr>
          </a:p>
          <a:p>
            <a:r>
              <a:rPr lang="es-NI" dirty="0">
                <a:latin typeface="Verdana" panose="020B0604030504040204" pitchFamily="34" charset="0"/>
                <a:ea typeface="Verdana" panose="020B0604030504040204" pitchFamily="34" charset="0"/>
              </a:rPr>
              <a:t>S= CMTR/CME = 31.09/1.42 = 21.89</a:t>
            </a:r>
          </a:p>
          <a:p>
            <a:endParaRPr lang="es-NI" dirty="0">
              <a:latin typeface="Verdana" panose="020B0604030504040204" pitchFamily="34" charset="0"/>
              <a:ea typeface="Verdana" panose="020B0604030504040204" pitchFamily="34" charset="0"/>
            </a:endParaRPr>
          </a:p>
          <a:p>
            <a:r>
              <a:rPr lang="es-NI" dirty="0" err="1">
                <a:latin typeface="Verdana" panose="020B0604030504040204" pitchFamily="34" charset="0"/>
                <a:ea typeface="Verdana" panose="020B0604030504040204" pitchFamily="34" charset="0"/>
              </a:rPr>
              <a:t>gl</a:t>
            </a:r>
            <a:r>
              <a:rPr lang="es-NI" dirty="0">
                <a:latin typeface="Verdana" panose="020B0604030504040204" pitchFamily="34" charset="0"/>
                <a:ea typeface="Verdana" panose="020B0604030504040204" pitchFamily="34" charset="0"/>
              </a:rPr>
              <a:t>= n-C = 9 </a:t>
            </a:r>
          </a:p>
          <a:p>
            <a:endParaRPr lang="es-NI" dirty="0">
              <a:latin typeface="Verdana" panose="020B0604030504040204" pitchFamily="34" charset="0"/>
              <a:ea typeface="Verdana" panose="020B0604030504040204" pitchFamily="34" charset="0"/>
            </a:endParaRPr>
          </a:p>
          <a:p>
            <a:r>
              <a:rPr lang="es-NI" dirty="0">
                <a:latin typeface="Verdana" panose="020B0604030504040204" pitchFamily="34" charset="0"/>
                <a:ea typeface="Verdana" panose="020B0604030504040204" pitchFamily="34" charset="0"/>
              </a:rPr>
              <a:t>F crítica = 3.173</a:t>
            </a:r>
          </a:p>
        </p:txBody>
      </p:sp>
      <mc:AlternateContent xmlns:mc="http://schemas.openxmlformats.org/markup-compatibility/2006">
        <mc:Choice xmlns:p14="http://schemas.microsoft.com/office/powerpoint/2010/main" Requires="p14">
          <p:contentPart p14:bwMode="auto" r:id="rId2">
            <p14:nvContentPartPr>
              <p14:cNvPr id="7" name="Entrada de lápiz 6">
                <a:extLst>
                  <a:ext uri="{FF2B5EF4-FFF2-40B4-BE49-F238E27FC236}">
                    <a16:creationId xmlns:a16="http://schemas.microsoft.com/office/drawing/2014/main" id="{FA4B891A-46CE-4194-A39B-A0AC7B6656A9}"/>
                  </a:ext>
                </a:extLst>
              </p14:cNvPr>
              <p14:cNvContentPartPr/>
              <p14:nvPr/>
            </p14:nvContentPartPr>
            <p14:xfrm>
              <a:off x="6661440" y="3384360"/>
              <a:ext cx="5519160" cy="3438360"/>
            </p14:xfrm>
          </p:contentPart>
        </mc:Choice>
        <mc:Fallback>
          <p:pic>
            <p:nvPicPr>
              <p:cNvPr id="7" name="Entrada de lápiz 6">
                <a:extLst>
                  <a:ext uri="{FF2B5EF4-FFF2-40B4-BE49-F238E27FC236}">
                    <a16:creationId xmlns:a16="http://schemas.microsoft.com/office/drawing/2014/main" id="{FA4B891A-46CE-4194-A39B-A0AC7B6656A9}"/>
                  </a:ext>
                </a:extLst>
              </p:cNvPr>
              <p:cNvPicPr/>
              <p:nvPr/>
            </p:nvPicPr>
            <p:blipFill>
              <a:blip r:embed="rId3"/>
              <a:stretch>
                <a:fillRect/>
              </a:stretch>
            </p:blipFill>
            <p:spPr>
              <a:xfrm>
                <a:off x="6652080" y="3375000"/>
                <a:ext cx="5537880" cy="3457080"/>
              </a:xfrm>
              <a:prstGeom prst="rect">
                <a:avLst/>
              </a:prstGeom>
            </p:spPr>
          </p:pic>
        </mc:Fallback>
      </mc:AlternateContent>
    </p:spTree>
    <p:extLst>
      <p:ext uri="{BB962C8B-B14F-4D97-AF65-F5344CB8AC3E}">
        <p14:creationId xmlns:p14="http://schemas.microsoft.com/office/powerpoint/2010/main" val="3778311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EFC1C54-6D44-464D-B2C9-06EFF795534B}"/>
              </a:ext>
            </a:extLst>
          </p:cNvPr>
          <p:cNvSpPr/>
          <p:nvPr/>
        </p:nvSpPr>
        <p:spPr>
          <a:xfrm>
            <a:off x="3513018" y="0"/>
            <a:ext cx="5165966"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ANOVA | Ejemplo</a:t>
            </a:r>
          </a:p>
        </p:txBody>
      </p:sp>
      <p:sp>
        <p:nvSpPr>
          <p:cNvPr id="10" name="CuadroTexto 9">
            <a:extLst>
              <a:ext uri="{FF2B5EF4-FFF2-40B4-BE49-F238E27FC236}">
                <a16:creationId xmlns:a16="http://schemas.microsoft.com/office/drawing/2014/main" id="{066090D6-E48B-40A4-BA4B-7CBC43ABE594}"/>
              </a:ext>
            </a:extLst>
          </p:cNvPr>
          <p:cNvSpPr txBox="1"/>
          <p:nvPr/>
        </p:nvSpPr>
        <p:spPr>
          <a:xfrm>
            <a:off x="150126" y="923330"/>
            <a:ext cx="6387152" cy="369332"/>
          </a:xfrm>
          <a:prstGeom prst="rect">
            <a:avLst/>
          </a:prstGeom>
          <a:noFill/>
        </p:spPr>
        <p:txBody>
          <a:bodyPr wrap="square" rtlCol="0">
            <a:spAutoFit/>
          </a:bodyPr>
          <a:lstStyle/>
          <a:p>
            <a:r>
              <a:rPr lang="es-NI" b="1" dirty="0">
                <a:latin typeface="Verdana" panose="020B0604030504040204" pitchFamily="34" charset="0"/>
                <a:ea typeface="Verdana" panose="020B0604030504040204" pitchFamily="34" charset="0"/>
              </a:rPr>
              <a:t>Paso </a:t>
            </a:r>
            <a:r>
              <a:rPr lang="es-NI" b="1">
                <a:latin typeface="Verdana" panose="020B0604030504040204" pitchFamily="34" charset="0"/>
                <a:ea typeface="Verdana" panose="020B0604030504040204" pitchFamily="34" charset="0"/>
              </a:rPr>
              <a:t>#04: </a:t>
            </a:r>
            <a:r>
              <a:rPr lang="es-NI" b="1" dirty="0">
                <a:latin typeface="Verdana" panose="020B0604030504040204" pitchFamily="34" charset="0"/>
                <a:ea typeface="Verdana" panose="020B0604030504040204" pitchFamily="34" charset="0"/>
              </a:rPr>
              <a:t>Decisión y conclusión</a:t>
            </a:r>
          </a:p>
        </p:txBody>
      </p:sp>
      <p:sp>
        <p:nvSpPr>
          <p:cNvPr id="7" name="CuadroTexto 6">
            <a:extLst>
              <a:ext uri="{FF2B5EF4-FFF2-40B4-BE49-F238E27FC236}">
                <a16:creationId xmlns:a16="http://schemas.microsoft.com/office/drawing/2014/main" id="{1C5E6109-E084-4250-9424-830336DD706C}"/>
              </a:ext>
            </a:extLst>
          </p:cNvPr>
          <p:cNvSpPr txBox="1"/>
          <p:nvPr/>
        </p:nvSpPr>
        <p:spPr>
          <a:xfrm>
            <a:off x="466795" y="1495287"/>
            <a:ext cx="11379462" cy="1200329"/>
          </a:xfrm>
          <a:prstGeom prst="rect">
            <a:avLst/>
          </a:prstGeom>
          <a:noFill/>
        </p:spPr>
        <p:txBody>
          <a:bodyPr wrap="square" rtlCol="0">
            <a:spAutoFit/>
          </a:bodyPr>
          <a:lstStyle/>
          <a:p>
            <a:r>
              <a:rPr lang="es-NI" dirty="0">
                <a:latin typeface="Verdana" panose="020B0604030504040204" pitchFamily="34" charset="0"/>
                <a:ea typeface="Verdana" panose="020B0604030504040204" pitchFamily="34" charset="0"/>
              </a:rPr>
              <a:t>Decisión: se rechaza H nula</a:t>
            </a:r>
          </a:p>
          <a:p>
            <a:r>
              <a:rPr lang="es-NI" dirty="0">
                <a:latin typeface="Verdana" panose="020B0604030504040204" pitchFamily="34" charset="0"/>
                <a:ea typeface="Verdana" panose="020B0604030504040204" pitchFamily="34" charset="0"/>
              </a:rPr>
              <a:t>Conclusión: Hay una diferencia entre las donas de la panadería nueva y la de las dos panaderías a las que normalmente les compramos</a:t>
            </a:r>
          </a:p>
          <a:p>
            <a:endParaRPr lang="es-NI" dirty="0">
              <a:latin typeface="Verdana" panose="020B0604030504040204" pitchFamily="34" charset="0"/>
              <a:ea typeface="Verdana" panose="020B0604030504040204" pitchFamily="34" charset="0"/>
            </a:endParaRPr>
          </a:p>
        </p:txBody>
      </p:sp>
      <mc:AlternateContent xmlns:mc="http://schemas.openxmlformats.org/markup-compatibility/2006">
        <mc:Choice xmlns:p14="http://schemas.microsoft.com/office/powerpoint/2010/main" Requires="p14">
          <p:contentPart p14:bwMode="auto" r:id="rId2">
            <p14:nvContentPartPr>
              <p14:cNvPr id="2" name="Entrada de lápiz 1">
                <a:extLst>
                  <a:ext uri="{FF2B5EF4-FFF2-40B4-BE49-F238E27FC236}">
                    <a16:creationId xmlns:a16="http://schemas.microsoft.com/office/drawing/2014/main" id="{4571EF3C-B6A2-4C80-8F45-BD40B2C627D5}"/>
                  </a:ext>
                </a:extLst>
              </p14:cNvPr>
              <p14:cNvContentPartPr/>
              <p14:nvPr/>
            </p14:nvContentPartPr>
            <p14:xfrm>
              <a:off x="7447320" y="2553840"/>
              <a:ext cx="4286520" cy="348840"/>
            </p14:xfrm>
          </p:contentPart>
        </mc:Choice>
        <mc:Fallback>
          <p:pic>
            <p:nvPicPr>
              <p:cNvPr id="2" name="Entrada de lápiz 1">
                <a:extLst>
                  <a:ext uri="{FF2B5EF4-FFF2-40B4-BE49-F238E27FC236}">
                    <a16:creationId xmlns:a16="http://schemas.microsoft.com/office/drawing/2014/main" id="{4571EF3C-B6A2-4C80-8F45-BD40B2C627D5}"/>
                  </a:ext>
                </a:extLst>
              </p:cNvPr>
              <p:cNvPicPr/>
              <p:nvPr/>
            </p:nvPicPr>
            <p:blipFill>
              <a:blip r:embed="rId3"/>
              <a:stretch>
                <a:fillRect/>
              </a:stretch>
            </p:blipFill>
            <p:spPr>
              <a:xfrm>
                <a:off x="7437960" y="2544480"/>
                <a:ext cx="4305240" cy="367560"/>
              </a:xfrm>
              <a:prstGeom prst="rect">
                <a:avLst/>
              </a:prstGeom>
            </p:spPr>
          </p:pic>
        </mc:Fallback>
      </mc:AlternateContent>
    </p:spTree>
    <p:extLst>
      <p:ext uri="{BB962C8B-B14F-4D97-AF65-F5344CB8AC3E}">
        <p14:creationId xmlns:p14="http://schemas.microsoft.com/office/powerpoint/2010/main" val="169036171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220</TotalTime>
  <Words>1907</Words>
  <Application>Microsoft Office PowerPoint</Application>
  <PresentationFormat>Panorámica</PresentationFormat>
  <Paragraphs>191</Paragraphs>
  <Slides>15</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15</vt:i4>
      </vt:variant>
    </vt:vector>
  </HeadingPairs>
  <TitlesOfParts>
    <vt:vector size="21" baseType="lpstr">
      <vt:lpstr>Arial</vt:lpstr>
      <vt:lpstr>Calibri</vt:lpstr>
      <vt:lpstr>Calibri Light</vt:lpstr>
      <vt:lpstr>Cambria Math</vt:lpstr>
      <vt:lpstr>Verdana</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Guillermo Aguirre</dc:creator>
  <cp:lastModifiedBy>Guillermo Aguirre</cp:lastModifiedBy>
  <cp:revision>3</cp:revision>
  <dcterms:created xsi:type="dcterms:W3CDTF">2021-12-18T14:41:50Z</dcterms:created>
  <dcterms:modified xsi:type="dcterms:W3CDTF">2021-12-18T18:22:15Z</dcterms:modified>
</cp:coreProperties>
</file>