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0" d="100"/>
          <a:sy n="70" d="100"/>
        </p:scale>
        <p:origin x="660"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033D75-CABD-4532-9053-3FDF6B35064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A3CEF5FB-CD5C-4366-8CB0-58AD99F83E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CD5F93A7-8C28-4561-AEDC-A71ABB4AE1F2}"/>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5" name="Marcador de pie de página 4">
            <a:extLst>
              <a:ext uri="{FF2B5EF4-FFF2-40B4-BE49-F238E27FC236}">
                <a16:creationId xmlns:a16="http://schemas.microsoft.com/office/drawing/2014/main" id="{4DFE712D-C39E-46D2-BEC6-B08878A32054}"/>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922F5C84-1FCA-4A05-AC12-A389E39AB1C0}"/>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384438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6BE722-A52E-4204-9116-6BADE4467E5A}"/>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A372B790-9ABD-472D-B19D-671B09F1063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D71078BF-717B-4ADD-ACFF-CABDB7273395}"/>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5" name="Marcador de pie de página 4">
            <a:extLst>
              <a:ext uri="{FF2B5EF4-FFF2-40B4-BE49-F238E27FC236}">
                <a16:creationId xmlns:a16="http://schemas.microsoft.com/office/drawing/2014/main" id="{ADC5E537-BE4F-4051-A527-0B37F39541FA}"/>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91748E81-FA35-4F4D-9417-3FFC0B33C858}"/>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3494311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C0E5A-48BC-4228-A39D-FF2EA744B27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87D12B57-A0D9-4F74-834A-0FE3C0A4EE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031787A-A699-4C2C-B99C-903AAC38B533}"/>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5" name="Marcador de pie de página 4">
            <a:extLst>
              <a:ext uri="{FF2B5EF4-FFF2-40B4-BE49-F238E27FC236}">
                <a16:creationId xmlns:a16="http://schemas.microsoft.com/office/drawing/2014/main" id="{960BFFF4-79A0-4460-A4F4-FB59C3993620}"/>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4B0DF8F0-CE0F-4E4E-A742-D40C2A41C974}"/>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80620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B98AB-8F33-44C2-BFF8-EE3C8ACEBEF5}"/>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20995BD6-6BDA-400F-BDFB-C620BA6DAEF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F66B216D-FCB5-49CB-A58D-2CCC4AE0B3A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899B849E-EB97-4143-AD45-DDF1EC297675}"/>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6" name="Marcador de pie de página 5">
            <a:extLst>
              <a:ext uri="{FF2B5EF4-FFF2-40B4-BE49-F238E27FC236}">
                <a16:creationId xmlns:a16="http://schemas.microsoft.com/office/drawing/2014/main" id="{96A7FD3C-70C6-4904-8B32-3BB716016E4B}"/>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406E7EFA-C370-4805-B798-7595975CEA19}"/>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1014745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264E1A-30E9-4957-9898-6872C5E11EB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95FC23BA-049E-42A6-978C-A4D9C88DBB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B023017-7B94-486E-A78E-89564FFC89C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2E425545-6E27-49B8-952F-11A50D61A2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82AC738-9D48-4FFF-8640-E8297FFFB56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88CCABC4-7F81-488D-8BBB-84A2306FFA50}"/>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8" name="Marcador de pie de página 7">
            <a:extLst>
              <a:ext uri="{FF2B5EF4-FFF2-40B4-BE49-F238E27FC236}">
                <a16:creationId xmlns:a16="http://schemas.microsoft.com/office/drawing/2014/main" id="{A8CB5436-EED2-4777-8F71-8754255C8C62}"/>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1D35B743-F7A9-4686-8ADE-1AFC7B3A7578}"/>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1457423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FCB583-61EF-4AC1-BA05-62B6B5C35241}"/>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8D666E40-1705-4D8E-85AC-20A386A53183}"/>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4" name="Marcador de pie de página 3">
            <a:extLst>
              <a:ext uri="{FF2B5EF4-FFF2-40B4-BE49-F238E27FC236}">
                <a16:creationId xmlns:a16="http://schemas.microsoft.com/office/drawing/2014/main" id="{BE4D6222-A735-47FB-A078-B8D6D8344783}"/>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82D89BC5-96E5-4059-BBD5-2CA92F233954}"/>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3128168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E349004-0E32-4FC9-938E-19361176F6D4}"/>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3" name="Marcador de pie de página 2">
            <a:extLst>
              <a:ext uri="{FF2B5EF4-FFF2-40B4-BE49-F238E27FC236}">
                <a16:creationId xmlns:a16="http://schemas.microsoft.com/office/drawing/2014/main" id="{E4E301D6-7E2B-4792-86DC-A3BBDD9D2D26}"/>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487110B9-B263-4136-A77C-7BDD43CD2117}"/>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270017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96A88C-8317-4B6D-8884-DDC5EA6C90D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05E1E796-1F5D-44C0-AB1D-5CC09B2E89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07814491-C933-4D14-8DC0-9E66BC8C6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7F66EC2-B170-4F48-A0A2-53954C37F774}"/>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6" name="Marcador de pie de página 5">
            <a:extLst>
              <a:ext uri="{FF2B5EF4-FFF2-40B4-BE49-F238E27FC236}">
                <a16:creationId xmlns:a16="http://schemas.microsoft.com/office/drawing/2014/main" id="{2765E663-294A-43B3-8688-0FB50F8F10B7}"/>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C459E353-E7BD-4D9E-97D9-B56788221847}"/>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3843144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3B2FC8-0319-4CA1-B779-300FAC8465C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2447DF6D-7342-4682-AC4E-0CA22C17CA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2EAAB6D2-E063-4A54-8C20-9F97595DC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448193D-445F-4A24-9A0D-D8216790341E}"/>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6" name="Marcador de pie de página 5">
            <a:extLst>
              <a:ext uri="{FF2B5EF4-FFF2-40B4-BE49-F238E27FC236}">
                <a16:creationId xmlns:a16="http://schemas.microsoft.com/office/drawing/2014/main" id="{CE73AA23-95AD-4428-94B9-5066ADA1ADB5}"/>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C2FEF7AA-E13B-4015-B32B-BE638F15F78B}"/>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3837105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BDFBBF-A2D2-4F88-BCEE-987F6B6E51A3}"/>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E3737825-9367-40CC-AC78-731FCF86266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1C7B384F-C6CC-4CE8-A5A0-3C7F93417F6F}"/>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5" name="Marcador de pie de página 4">
            <a:extLst>
              <a:ext uri="{FF2B5EF4-FFF2-40B4-BE49-F238E27FC236}">
                <a16:creationId xmlns:a16="http://schemas.microsoft.com/office/drawing/2014/main" id="{B6B70B29-93AF-4D25-97DA-C9DB41E27082}"/>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98E130B-D63C-4662-A648-B8268D7E58A2}"/>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998135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BE611FB-A2E3-428A-A127-7E943CD55F9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C36FF624-3E4B-4726-A2AF-FF152069F40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CA5E7CF0-FD80-44DA-8992-16F28C9085AE}"/>
              </a:ext>
            </a:extLst>
          </p:cNvPr>
          <p:cNvSpPr>
            <a:spLocks noGrp="1"/>
          </p:cNvSpPr>
          <p:nvPr>
            <p:ph type="dt" sz="half" idx="10"/>
          </p:nvPr>
        </p:nvSpPr>
        <p:spPr/>
        <p:txBody>
          <a:bodyPr/>
          <a:lstStyle/>
          <a:p>
            <a:fld id="{ADB7BB9B-67B4-4E57-868D-92C44E068371}" type="datetimeFigureOut">
              <a:rPr lang="es-NI" smtClean="0"/>
              <a:t>22/11/2021</a:t>
            </a:fld>
            <a:endParaRPr lang="es-NI"/>
          </a:p>
        </p:txBody>
      </p:sp>
      <p:sp>
        <p:nvSpPr>
          <p:cNvPr id="5" name="Marcador de pie de página 4">
            <a:extLst>
              <a:ext uri="{FF2B5EF4-FFF2-40B4-BE49-F238E27FC236}">
                <a16:creationId xmlns:a16="http://schemas.microsoft.com/office/drawing/2014/main" id="{62EA0AFD-F9E5-4A22-B14F-F14F08C4AEF5}"/>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8890D04E-3953-4BEE-A204-E11C56712FFF}"/>
              </a:ext>
            </a:extLst>
          </p:cNvPr>
          <p:cNvSpPr>
            <a:spLocks noGrp="1"/>
          </p:cNvSpPr>
          <p:nvPr>
            <p:ph type="sldNum" sz="quarter" idx="12"/>
          </p:nvPr>
        </p:nvSpPr>
        <p:spPr/>
        <p:txBody>
          <a:bodyPr/>
          <a:lstStyle/>
          <a:p>
            <a:fld id="{FA747A22-899D-4D23-A242-F59EB048D558}" type="slidenum">
              <a:rPr lang="es-NI" smtClean="0"/>
              <a:t>‹Nº›</a:t>
            </a:fld>
            <a:endParaRPr lang="es-NI"/>
          </a:p>
        </p:txBody>
      </p:sp>
    </p:spTree>
    <p:extLst>
      <p:ext uri="{BB962C8B-B14F-4D97-AF65-F5344CB8AC3E}">
        <p14:creationId xmlns:p14="http://schemas.microsoft.com/office/powerpoint/2010/main" val="3702397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62426A8-C410-48B3-84D2-6832976C6E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0365A4E3-EFA2-4811-A1C8-DF6BA85332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3E998B73-32CE-44E2-9D2B-5BB684721C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B7BB9B-67B4-4E57-868D-92C44E068371}" type="datetimeFigureOut">
              <a:rPr lang="es-NI" smtClean="0"/>
              <a:t>22/11/2021</a:t>
            </a:fld>
            <a:endParaRPr lang="es-NI"/>
          </a:p>
        </p:txBody>
      </p:sp>
      <p:sp>
        <p:nvSpPr>
          <p:cNvPr id="5" name="Marcador de pie de página 4">
            <a:extLst>
              <a:ext uri="{FF2B5EF4-FFF2-40B4-BE49-F238E27FC236}">
                <a16:creationId xmlns:a16="http://schemas.microsoft.com/office/drawing/2014/main" id="{F0D9C4D8-FE6F-49FE-B859-3E653E2195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A1656E54-1397-47B2-9BC4-E4AFB07AFB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747A22-899D-4D23-A242-F59EB048D558}" type="slidenum">
              <a:rPr lang="es-NI" smtClean="0"/>
              <a:t>‹Nº›</a:t>
            </a:fld>
            <a:endParaRPr lang="es-NI"/>
          </a:p>
        </p:txBody>
      </p:sp>
    </p:spTree>
    <p:extLst>
      <p:ext uri="{BB962C8B-B14F-4D97-AF65-F5344CB8AC3E}">
        <p14:creationId xmlns:p14="http://schemas.microsoft.com/office/powerpoint/2010/main" val="2625303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84A2238A-8835-4157-BF40-59F9D41F5232}"/>
              </a:ext>
            </a:extLst>
          </p:cNvPr>
          <p:cNvSpPr/>
          <p:nvPr/>
        </p:nvSpPr>
        <p:spPr>
          <a:xfrm>
            <a:off x="386809" y="120896"/>
            <a:ext cx="11418382"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Estimación de proporción por intervalos</a:t>
            </a:r>
          </a:p>
        </p:txBody>
      </p:sp>
      <p:sp>
        <p:nvSpPr>
          <p:cNvPr id="5" name="CuadroTexto 4">
            <a:extLst>
              <a:ext uri="{FF2B5EF4-FFF2-40B4-BE49-F238E27FC236}">
                <a16:creationId xmlns:a16="http://schemas.microsoft.com/office/drawing/2014/main" id="{38CA7163-E409-4910-B2ED-4732F2EC9EA2}"/>
              </a:ext>
            </a:extLst>
          </p:cNvPr>
          <p:cNvSpPr txBox="1"/>
          <p:nvPr/>
        </p:nvSpPr>
        <p:spPr>
          <a:xfrm>
            <a:off x="693174" y="1194619"/>
            <a:ext cx="11112017" cy="2308324"/>
          </a:xfrm>
          <a:prstGeom prst="rect">
            <a:avLst/>
          </a:prstGeom>
          <a:noFill/>
        </p:spPr>
        <p:txBody>
          <a:bodyPr wrap="square" rtlCol="0">
            <a:spAutoFit/>
          </a:bodyPr>
          <a:lstStyle/>
          <a:p>
            <a:r>
              <a:rPr lang="es-NI" sz="2400" dirty="0"/>
              <a:t>La estimación de proporción por intervalos, es un proceso mediante el cual se puede calcular el valor de un parámetro de una población usando los datos de proporción de una muestra, dicho en palabras más simples, la aplicación de este cálculo me ayuda a tener una idea más clara del comportamiento de mi población y extrapolando los resultados de una muestra puedo tener una idea más real de la población general, es decir los datos obtenidos se generalizan.</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BE35C883-0C23-458F-97B3-31042D284363}"/>
                  </a:ext>
                </a:extLst>
              </p:cNvPr>
              <p:cNvSpPr txBox="1"/>
              <p:nvPr/>
            </p:nvSpPr>
            <p:spPr>
              <a:xfrm>
                <a:off x="4167330" y="4160277"/>
                <a:ext cx="5260606" cy="15031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NI" sz="4800" i="1" smtClean="0">
                              <a:solidFill>
                                <a:srgbClr val="836967"/>
                              </a:solidFill>
                              <a:latin typeface="Cambria Math" panose="02040503050406030204" pitchFamily="18" charset="0"/>
                            </a:rPr>
                          </m:ctrlPr>
                        </m:accPr>
                        <m:e>
                          <m:r>
                            <a:rPr lang="es-NI" sz="4800" i="1">
                              <a:latin typeface="Cambria Math" panose="02040503050406030204" pitchFamily="18" charset="0"/>
                            </a:rPr>
                            <m:t>𝑝</m:t>
                          </m:r>
                        </m:e>
                      </m:acc>
                      <m:r>
                        <a:rPr lang="es-NI" sz="4800" i="0">
                          <a:latin typeface="Cambria Math" panose="02040503050406030204" pitchFamily="18" charset="0"/>
                        </a:rPr>
                        <m:t>=</m:t>
                      </m:r>
                      <m:r>
                        <a:rPr lang="es-NI" sz="4800" i="1">
                          <a:latin typeface="Cambria Math" panose="02040503050406030204" pitchFamily="18" charset="0"/>
                        </a:rPr>
                        <m:t>𝑝</m:t>
                      </m:r>
                      <m:r>
                        <a:rPr lang="es-NI" sz="4800" i="0">
                          <a:latin typeface="Cambria Math" panose="02040503050406030204" pitchFamily="18" charset="0"/>
                        </a:rPr>
                        <m:t>±</m:t>
                      </m:r>
                      <m:r>
                        <a:rPr lang="es-NI" sz="4800" b="0" i="1" smtClean="0">
                          <a:latin typeface="Cambria Math" panose="02040503050406030204" pitchFamily="18" charset="0"/>
                        </a:rPr>
                        <m:t>𝑧</m:t>
                      </m:r>
                      <m:r>
                        <a:rPr lang="es-NI" sz="4800" b="0" i="1" smtClean="0">
                          <a:latin typeface="Cambria Math" panose="02040503050406030204" pitchFamily="18" charset="0"/>
                        </a:rPr>
                        <m:t> ∗ </m:t>
                      </m:r>
                      <m:rad>
                        <m:radPr>
                          <m:degHide m:val="on"/>
                          <m:ctrlPr>
                            <a:rPr lang="es-NI" sz="4800" i="1">
                              <a:solidFill>
                                <a:srgbClr val="836967"/>
                              </a:solidFill>
                              <a:latin typeface="Cambria Math" panose="02040503050406030204" pitchFamily="18" charset="0"/>
                            </a:rPr>
                          </m:ctrlPr>
                        </m:radPr>
                        <m:deg/>
                        <m:e>
                          <m:f>
                            <m:fPr>
                              <m:ctrlPr>
                                <a:rPr lang="es-NI" sz="4800" i="1">
                                  <a:solidFill>
                                    <a:srgbClr val="836967"/>
                                  </a:solidFill>
                                  <a:latin typeface="Cambria Math" panose="02040503050406030204" pitchFamily="18" charset="0"/>
                                </a:rPr>
                              </m:ctrlPr>
                            </m:fPr>
                            <m:num>
                              <m:r>
                                <a:rPr lang="es-NI" sz="4800" i="1">
                                  <a:latin typeface="Cambria Math" panose="02040503050406030204" pitchFamily="18" charset="0"/>
                                </a:rPr>
                                <m:t>𝑝</m:t>
                              </m:r>
                              <m:r>
                                <a:rPr lang="es-NI" sz="4800" i="0">
                                  <a:latin typeface="Cambria Math" panose="02040503050406030204" pitchFamily="18" charset="0"/>
                                </a:rPr>
                                <m:t>∗</m:t>
                              </m:r>
                              <m:r>
                                <a:rPr lang="es-NI" sz="4800" i="1">
                                  <a:latin typeface="Cambria Math" panose="02040503050406030204" pitchFamily="18" charset="0"/>
                                </a:rPr>
                                <m:t>𝑞</m:t>
                              </m:r>
                            </m:num>
                            <m:den>
                              <m:r>
                                <a:rPr lang="es-NI" sz="4800" i="1">
                                  <a:latin typeface="Cambria Math" panose="02040503050406030204" pitchFamily="18" charset="0"/>
                                </a:rPr>
                                <m:t>𝑛</m:t>
                              </m:r>
                            </m:den>
                          </m:f>
                        </m:e>
                      </m:rad>
                    </m:oMath>
                  </m:oMathPara>
                </a14:m>
                <a:endParaRPr lang="es-NI" sz="4800" dirty="0"/>
              </a:p>
            </p:txBody>
          </p:sp>
        </mc:Choice>
        <mc:Fallback xmlns="">
          <p:sp>
            <p:nvSpPr>
              <p:cNvPr id="6" name="CuadroTexto 5">
                <a:extLst>
                  <a:ext uri="{FF2B5EF4-FFF2-40B4-BE49-F238E27FC236}">
                    <a16:creationId xmlns:a16="http://schemas.microsoft.com/office/drawing/2014/main" id="{BE35C883-0C23-458F-97B3-31042D284363}"/>
                  </a:ext>
                </a:extLst>
              </p:cNvPr>
              <p:cNvSpPr txBox="1">
                <a:spLocks noRot="1" noChangeAspect="1" noMove="1" noResize="1" noEditPoints="1" noAdjustHandles="1" noChangeArrowheads="1" noChangeShapeType="1" noTextEdit="1"/>
              </p:cNvSpPr>
              <p:nvPr/>
            </p:nvSpPr>
            <p:spPr>
              <a:xfrm>
                <a:off x="4167330" y="4160277"/>
                <a:ext cx="5260606" cy="1503104"/>
              </a:xfrm>
              <a:prstGeom prst="rect">
                <a:avLst/>
              </a:prstGeom>
              <a:blipFill>
                <a:blip r:embed="rId2"/>
                <a:stretch>
                  <a:fillRect/>
                </a:stretch>
              </a:blipFill>
            </p:spPr>
            <p:txBody>
              <a:bodyPr/>
              <a:lstStyle/>
              <a:p>
                <a:r>
                  <a:rPr lang="es-NI">
                    <a:noFill/>
                  </a:rPr>
                  <a:t> </a:t>
                </a:r>
              </a:p>
            </p:txBody>
          </p:sp>
        </mc:Fallback>
      </mc:AlternateContent>
    </p:spTree>
    <p:extLst>
      <p:ext uri="{BB962C8B-B14F-4D97-AF65-F5344CB8AC3E}">
        <p14:creationId xmlns:p14="http://schemas.microsoft.com/office/powerpoint/2010/main" val="395471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8CA7163-E409-4910-B2ED-4732F2EC9EA2}"/>
              </a:ext>
            </a:extLst>
          </p:cNvPr>
          <p:cNvSpPr txBox="1"/>
          <p:nvPr/>
        </p:nvSpPr>
        <p:spPr>
          <a:xfrm>
            <a:off x="693174" y="1194619"/>
            <a:ext cx="11112017" cy="1938992"/>
          </a:xfrm>
          <a:prstGeom prst="rect">
            <a:avLst/>
          </a:prstGeom>
          <a:noFill/>
        </p:spPr>
        <p:txBody>
          <a:bodyPr wrap="square" rtlCol="0">
            <a:spAutoFit/>
          </a:bodyPr>
          <a:lstStyle/>
          <a:p>
            <a:r>
              <a:rPr lang="es-NI" sz="2400" dirty="0"/>
              <a:t>La empresa Endúlzame quiere saber la proporción de clientes que prefieren consumir sus dulces. El gerente ha obtenido datos de una encuesta aplicada y basado en ellos afirma que el 33% de los clientes prefieren sus productos. Una muestra de 100 clientes indicó que 22 de ellos consumían dicha marca. Calcule un intervalo de confianza de 95 % e indicar si el gerente tiene la razón</a:t>
            </a:r>
          </a:p>
        </p:txBody>
      </p:sp>
      <p:sp>
        <p:nvSpPr>
          <p:cNvPr id="8" name="Rectángulo 7">
            <a:extLst>
              <a:ext uri="{FF2B5EF4-FFF2-40B4-BE49-F238E27FC236}">
                <a16:creationId xmlns:a16="http://schemas.microsoft.com/office/drawing/2014/main" id="{67D455A5-5FCF-491A-A9A6-332EB45CE792}"/>
              </a:ext>
            </a:extLst>
          </p:cNvPr>
          <p:cNvSpPr/>
          <p:nvPr/>
        </p:nvSpPr>
        <p:spPr>
          <a:xfrm>
            <a:off x="4605048" y="120896"/>
            <a:ext cx="2981907"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Ejemplo 1</a:t>
            </a:r>
          </a:p>
        </p:txBody>
      </p:sp>
    </p:spTree>
    <p:extLst>
      <p:ext uri="{BB962C8B-B14F-4D97-AF65-F5344CB8AC3E}">
        <p14:creationId xmlns:p14="http://schemas.microsoft.com/office/powerpoint/2010/main" val="284360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8CA7163-E409-4910-B2ED-4732F2EC9EA2}"/>
              </a:ext>
            </a:extLst>
          </p:cNvPr>
          <p:cNvSpPr txBox="1"/>
          <p:nvPr/>
        </p:nvSpPr>
        <p:spPr>
          <a:xfrm>
            <a:off x="693174" y="1194619"/>
            <a:ext cx="11112017" cy="1938992"/>
          </a:xfrm>
          <a:prstGeom prst="rect">
            <a:avLst/>
          </a:prstGeom>
          <a:noFill/>
        </p:spPr>
        <p:txBody>
          <a:bodyPr wrap="square" rtlCol="0">
            <a:spAutoFit/>
          </a:bodyPr>
          <a:lstStyle/>
          <a:p>
            <a:r>
              <a:rPr lang="es-NI" sz="2400" dirty="0"/>
              <a:t>La empresa Endúlzame quiere saber la proporción de clientes que prefieren consumir sus dulces. El gerente ha obtenido datos de una encuesta aplicada y basado en ellos afirma que el 33% de los clientes prefieren sus productos. Una muestra de </a:t>
            </a:r>
            <a:r>
              <a:rPr lang="es-NI" sz="2400" dirty="0">
                <a:solidFill>
                  <a:srgbClr val="FF0000"/>
                </a:solidFill>
              </a:rPr>
              <a:t>100 clientes </a:t>
            </a:r>
            <a:r>
              <a:rPr lang="es-NI" sz="2400" dirty="0"/>
              <a:t>indicó que </a:t>
            </a:r>
            <a:r>
              <a:rPr lang="es-NI" sz="2400" dirty="0">
                <a:solidFill>
                  <a:srgbClr val="7030A0"/>
                </a:solidFill>
              </a:rPr>
              <a:t>22 de ellos consumían dicha marca</a:t>
            </a:r>
            <a:r>
              <a:rPr lang="es-NI" sz="2400" dirty="0"/>
              <a:t>. Calcule un intervalo de confianza de 95 % e indicar si el gerente tiene la razón</a:t>
            </a:r>
          </a:p>
        </p:txBody>
      </p:sp>
      <p:sp>
        <p:nvSpPr>
          <p:cNvPr id="8" name="Rectángulo 7">
            <a:extLst>
              <a:ext uri="{FF2B5EF4-FFF2-40B4-BE49-F238E27FC236}">
                <a16:creationId xmlns:a16="http://schemas.microsoft.com/office/drawing/2014/main" id="{67D455A5-5FCF-491A-A9A6-332EB45CE792}"/>
              </a:ext>
            </a:extLst>
          </p:cNvPr>
          <p:cNvSpPr/>
          <p:nvPr/>
        </p:nvSpPr>
        <p:spPr>
          <a:xfrm>
            <a:off x="4605048" y="120896"/>
            <a:ext cx="2981907"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Ejemplo 1</a:t>
            </a:r>
          </a:p>
        </p:txBody>
      </p:sp>
      <p:sp>
        <p:nvSpPr>
          <p:cNvPr id="9" name="CuadroTexto 8">
            <a:extLst>
              <a:ext uri="{FF2B5EF4-FFF2-40B4-BE49-F238E27FC236}">
                <a16:creationId xmlns:a16="http://schemas.microsoft.com/office/drawing/2014/main" id="{3B2FC75B-8ADC-40A4-A34A-DA05AA93B5C9}"/>
              </a:ext>
            </a:extLst>
          </p:cNvPr>
          <p:cNvSpPr txBox="1"/>
          <p:nvPr/>
        </p:nvSpPr>
        <p:spPr>
          <a:xfrm>
            <a:off x="1054509" y="3284004"/>
            <a:ext cx="9785555" cy="3477875"/>
          </a:xfrm>
          <a:prstGeom prst="rect">
            <a:avLst/>
          </a:prstGeom>
          <a:noFill/>
        </p:spPr>
        <p:txBody>
          <a:bodyPr wrap="square" rtlCol="0">
            <a:spAutoFit/>
          </a:bodyPr>
          <a:lstStyle/>
          <a:p>
            <a:r>
              <a:rPr lang="es-NI" sz="2800" b="1" dirty="0"/>
              <a:t>Datos</a:t>
            </a:r>
          </a:p>
          <a:p>
            <a:r>
              <a:rPr lang="es-NI" sz="2400" dirty="0">
                <a:solidFill>
                  <a:srgbClr val="FF0000"/>
                </a:solidFill>
              </a:rPr>
              <a:t>n = 100</a:t>
            </a:r>
          </a:p>
          <a:p>
            <a:r>
              <a:rPr lang="es-NI" sz="2400" dirty="0">
                <a:solidFill>
                  <a:srgbClr val="7030A0"/>
                </a:solidFill>
              </a:rPr>
              <a:t>x=22</a:t>
            </a:r>
          </a:p>
          <a:p>
            <a:r>
              <a:rPr lang="es-NI" sz="2400" dirty="0"/>
              <a:t>p = x/n -&gt; 22/100 = 0.22</a:t>
            </a:r>
          </a:p>
          <a:p>
            <a:r>
              <a:rPr lang="es-NI" sz="2400" dirty="0"/>
              <a:t>q= 1 – p = 1-0.22 = 0.78</a:t>
            </a:r>
          </a:p>
          <a:p>
            <a:r>
              <a:rPr lang="es-NI" sz="2400" dirty="0"/>
              <a:t>Z = ? (lo calculamos del mismo modo que la clase pasada)</a:t>
            </a:r>
          </a:p>
          <a:p>
            <a:r>
              <a:rPr lang="es-NI" sz="2400" dirty="0"/>
              <a:t>1- (a /2) = 0.975 (buscamos este valor en la tabla para encontrar z igual que en las sesiones de clase pasadas)</a:t>
            </a:r>
          </a:p>
          <a:p>
            <a:r>
              <a:rPr lang="es-NI" sz="2400" dirty="0"/>
              <a:t>Z = 1.96</a:t>
            </a:r>
          </a:p>
        </p:txBody>
      </p:sp>
    </p:spTree>
    <p:extLst>
      <p:ext uri="{BB962C8B-B14F-4D97-AF65-F5344CB8AC3E}">
        <p14:creationId xmlns:p14="http://schemas.microsoft.com/office/powerpoint/2010/main" val="1238387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8CA7163-E409-4910-B2ED-4732F2EC9EA2}"/>
              </a:ext>
            </a:extLst>
          </p:cNvPr>
          <p:cNvSpPr txBox="1"/>
          <p:nvPr/>
        </p:nvSpPr>
        <p:spPr>
          <a:xfrm>
            <a:off x="693174" y="1194619"/>
            <a:ext cx="11112017" cy="1938992"/>
          </a:xfrm>
          <a:prstGeom prst="rect">
            <a:avLst/>
          </a:prstGeom>
          <a:noFill/>
        </p:spPr>
        <p:txBody>
          <a:bodyPr wrap="square" rtlCol="0">
            <a:spAutoFit/>
          </a:bodyPr>
          <a:lstStyle/>
          <a:p>
            <a:r>
              <a:rPr lang="es-NI" sz="2400" dirty="0"/>
              <a:t>La empresa Endúlzame quiere saber la proporción de clientes que prefieren consumir sus dulces</a:t>
            </a:r>
            <a:r>
              <a:rPr lang="es-NI" sz="2400" b="1" dirty="0"/>
              <a:t>. El gerente </a:t>
            </a:r>
            <a:r>
              <a:rPr lang="es-NI" sz="2400" dirty="0"/>
              <a:t>ha obtenido datos de una encuesta aplicada y basado en ellos </a:t>
            </a:r>
            <a:r>
              <a:rPr lang="es-NI" sz="2400" b="1" dirty="0"/>
              <a:t>afirma que el 33% de los clientes prefieren sus productos</a:t>
            </a:r>
            <a:r>
              <a:rPr lang="es-NI" sz="2400" dirty="0"/>
              <a:t>. Una muestra de 100 clientes indicó que 22 de ellos consumían dicha marca. Calcule un intervalo de confianza de 95 % e indicar si el gerente tiene la razón</a:t>
            </a:r>
          </a:p>
        </p:txBody>
      </p:sp>
      <p:sp>
        <p:nvSpPr>
          <p:cNvPr id="8" name="Rectángulo 7">
            <a:extLst>
              <a:ext uri="{FF2B5EF4-FFF2-40B4-BE49-F238E27FC236}">
                <a16:creationId xmlns:a16="http://schemas.microsoft.com/office/drawing/2014/main" id="{67D455A5-5FCF-491A-A9A6-332EB45CE792}"/>
              </a:ext>
            </a:extLst>
          </p:cNvPr>
          <p:cNvSpPr/>
          <p:nvPr/>
        </p:nvSpPr>
        <p:spPr>
          <a:xfrm>
            <a:off x="4605048" y="120896"/>
            <a:ext cx="2981907"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Ejemplo 1</a:t>
            </a:r>
          </a:p>
        </p:txBody>
      </p:sp>
      <p:sp>
        <p:nvSpPr>
          <p:cNvPr id="9" name="CuadroTexto 8">
            <a:extLst>
              <a:ext uri="{FF2B5EF4-FFF2-40B4-BE49-F238E27FC236}">
                <a16:creationId xmlns:a16="http://schemas.microsoft.com/office/drawing/2014/main" id="{3B2FC75B-8ADC-40A4-A34A-DA05AA93B5C9}"/>
              </a:ext>
            </a:extLst>
          </p:cNvPr>
          <p:cNvSpPr txBox="1"/>
          <p:nvPr/>
        </p:nvSpPr>
        <p:spPr>
          <a:xfrm>
            <a:off x="803776" y="3166020"/>
            <a:ext cx="1290485" cy="2369880"/>
          </a:xfrm>
          <a:prstGeom prst="rect">
            <a:avLst/>
          </a:prstGeom>
          <a:noFill/>
        </p:spPr>
        <p:txBody>
          <a:bodyPr wrap="square" rtlCol="0">
            <a:spAutoFit/>
          </a:bodyPr>
          <a:lstStyle/>
          <a:p>
            <a:r>
              <a:rPr lang="es-NI" sz="2800" b="1" dirty="0"/>
              <a:t>Datos</a:t>
            </a:r>
          </a:p>
          <a:p>
            <a:r>
              <a:rPr lang="es-NI" sz="2400" dirty="0"/>
              <a:t>n = 100</a:t>
            </a:r>
          </a:p>
          <a:p>
            <a:r>
              <a:rPr lang="es-NI" sz="2400" dirty="0"/>
              <a:t>x=22</a:t>
            </a:r>
          </a:p>
          <a:p>
            <a:r>
              <a:rPr lang="es-NI" sz="2400" dirty="0"/>
              <a:t>p = 0.22</a:t>
            </a:r>
          </a:p>
          <a:p>
            <a:r>
              <a:rPr lang="es-NI" sz="2400" dirty="0"/>
              <a:t>q= 0.78</a:t>
            </a:r>
          </a:p>
          <a:p>
            <a:r>
              <a:rPr lang="es-NI" sz="2400" dirty="0"/>
              <a:t>Z = 1.96</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C99D9A9-4E9D-45D9-BCDC-CA62F6DA4D82}"/>
                  </a:ext>
                </a:extLst>
              </p:cNvPr>
              <p:cNvSpPr txBox="1"/>
              <p:nvPr/>
            </p:nvSpPr>
            <p:spPr>
              <a:xfrm>
                <a:off x="3002204" y="3284004"/>
                <a:ext cx="2189317" cy="6263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NI" sz="2000" i="1" smtClean="0">
                              <a:solidFill>
                                <a:srgbClr val="836967"/>
                              </a:solidFill>
                              <a:latin typeface="Cambria Math" panose="02040503050406030204" pitchFamily="18" charset="0"/>
                            </a:rPr>
                          </m:ctrlPr>
                        </m:accPr>
                        <m:e>
                          <m:r>
                            <a:rPr lang="es-NI" sz="2000" i="1">
                              <a:latin typeface="Cambria Math" panose="02040503050406030204" pitchFamily="18" charset="0"/>
                            </a:rPr>
                            <m:t>𝑝</m:t>
                          </m:r>
                        </m:e>
                      </m:acc>
                      <m:r>
                        <a:rPr lang="es-NI" sz="2000" i="0">
                          <a:latin typeface="Cambria Math" panose="02040503050406030204" pitchFamily="18" charset="0"/>
                        </a:rPr>
                        <m:t>=</m:t>
                      </m:r>
                      <m:r>
                        <a:rPr lang="es-NI" sz="2000" i="1">
                          <a:latin typeface="Cambria Math" panose="02040503050406030204" pitchFamily="18" charset="0"/>
                        </a:rPr>
                        <m:t>𝑝</m:t>
                      </m:r>
                      <m:r>
                        <a:rPr lang="es-NI" sz="2000" i="0">
                          <a:latin typeface="Cambria Math" panose="02040503050406030204" pitchFamily="18" charset="0"/>
                        </a:rPr>
                        <m:t>±</m:t>
                      </m:r>
                      <m:r>
                        <a:rPr lang="es-NI" sz="2000" b="0" i="1" smtClean="0">
                          <a:latin typeface="Cambria Math" panose="02040503050406030204" pitchFamily="18" charset="0"/>
                        </a:rPr>
                        <m:t>𝑧</m:t>
                      </m:r>
                      <m:r>
                        <a:rPr lang="es-NI" sz="2000" b="0" i="1" smtClean="0">
                          <a:latin typeface="Cambria Math" panose="02040503050406030204" pitchFamily="18" charset="0"/>
                        </a:rPr>
                        <m:t> ∗ </m:t>
                      </m:r>
                      <m:rad>
                        <m:radPr>
                          <m:degHide m:val="on"/>
                          <m:ctrlPr>
                            <a:rPr lang="es-NI" sz="2000" i="1">
                              <a:solidFill>
                                <a:srgbClr val="836967"/>
                              </a:solidFill>
                              <a:latin typeface="Cambria Math" panose="02040503050406030204" pitchFamily="18" charset="0"/>
                            </a:rPr>
                          </m:ctrlPr>
                        </m:radPr>
                        <m:deg/>
                        <m:e>
                          <m:f>
                            <m:fPr>
                              <m:ctrlPr>
                                <a:rPr lang="es-NI" sz="2000" i="1">
                                  <a:solidFill>
                                    <a:srgbClr val="836967"/>
                                  </a:solidFill>
                                  <a:latin typeface="Cambria Math" panose="02040503050406030204" pitchFamily="18" charset="0"/>
                                </a:rPr>
                              </m:ctrlPr>
                            </m:fPr>
                            <m:num>
                              <m:r>
                                <a:rPr lang="es-NI" sz="2000" i="1">
                                  <a:latin typeface="Cambria Math" panose="02040503050406030204" pitchFamily="18" charset="0"/>
                                </a:rPr>
                                <m:t>𝑝</m:t>
                              </m:r>
                              <m:r>
                                <a:rPr lang="es-NI" sz="2000" i="0">
                                  <a:latin typeface="Cambria Math" panose="02040503050406030204" pitchFamily="18" charset="0"/>
                                </a:rPr>
                                <m:t>∗</m:t>
                              </m:r>
                              <m:r>
                                <a:rPr lang="es-NI" sz="2000" i="1">
                                  <a:latin typeface="Cambria Math" panose="02040503050406030204" pitchFamily="18" charset="0"/>
                                </a:rPr>
                                <m:t>𝑞</m:t>
                              </m:r>
                            </m:num>
                            <m:den>
                              <m:r>
                                <a:rPr lang="es-NI" sz="2000" i="1">
                                  <a:latin typeface="Cambria Math" panose="02040503050406030204" pitchFamily="18" charset="0"/>
                                </a:rPr>
                                <m:t>𝑛</m:t>
                              </m:r>
                            </m:den>
                          </m:f>
                        </m:e>
                      </m:rad>
                    </m:oMath>
                  </m:oMathPara>
                </a14:m>
                <a:endParaRPr lang="es-NI" sz="2000" dirty="0"/>
              </a:p>
            </p:txBody>
          </p:sp>
        </mc:Choice>
        <mc:Fallback xmlns="">
          <p:sp>
            <p:nvSpPr>
              <p:cNvPr id="6" name="CuadroTexto 5">
                <a:extLst>
                  <a:ext uri="{FF2B5EF4-FFF2-40B4-BE49-F238E27FC236}">
                    <a16:creationId xmlns:a16="http://schemas.microsoft.com/office/drawing/2014/main" id="{5C99D9A9-4E9D-45D9-BCDC-CA62F6DA4D82}"/>
                  </a:ext>
                </a:extLst>
              </p:cNvPr>
              <p:cNvSpPr txBox="1">
                <a:spLocks noRot="1" noChangeAspect="1" noMove="1" noResize="1" noEditPoints="1" noAdjustHandles="1" noChangeArrowheads="1" noChangeShapeType="1" noTextEdit="1"/>
              </p:cNvSpPr>
              <p:nvPr/>
            </p:nvSpPr>
            <p:spPr>
              <a:xfrm>
                <a:off x="3002204" y="3284004"/>
                <a:ext cx="2189317" cy="626325"/>
              </a:xfrm>
              <a:prstGeom prst="rect">
                <a:avLst/>
              </a:prstGeom>
              <a:blipFill>
                <a:blip r:embed="rId2"/>
                <a:stretch>
                  <a:fillRect b="-980"/>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414D6CE-602C-43F1-A565-9E89044CD56A}"/>
                  </a:ext>
                </a:extLst>
              </p:cNvPr>
              <p:cNvSpPr txBox="1"/>
              <p:nvPr/>
            </p:nvSpPr>
            <p:spPr>
              <a:xfrm>
                <a:off x="2515506" y="4060722"/>
                <a:ext cx="3551550" cy="9093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NI" sz="2000" i="1" smtClean="0">
                              <a:solidFill>
                                <a:srgbClr val="836967"/>
                              </a:solidFill>
                              <a:latin typeface="Cambria Math" panose="02040503050406030204" pitchFamily="18" charset="0"/>
                            </a:rPr>
                          </m:ctrlPr>
                        </m:accPr>
                        <m:e>
                          <m:r>
                            <a:rPr lang="es-NI" sz="2000" i="1">
                              <a:latin typeface="Cambria Math" panose="02040503050406030204" pitchFamily="18" charset="0"/>
                            </a:rPr>
                            <m:t>𝑝</m:t>
                          </m:r>
                        </m:e>
                      </m:acc>
                      <m:r>
                        <a:rPr lang="es-NI" sz="2000" i="0">
                          <a:latin typeface="Cambria Math" panose="02040503050406030204" pitchFamily="18" charset="0"/>
                        </a:rPr>
                        <m:t>=</m:t>
                      </m:r>
                      <m:r>
                        <a:rPr lang="es-NI" sz="2000" b="0" i="0" smtClean="0">
                          <a:latin typeface="Cambria Math" panose="02040503050406030204" pitchFamily="18" charset="0"/>
                        </a:rPr>
                        <m:t>0.22</m:t>
                      </m:r>
                      <m:r>
                        <a:rPr lang="es-NI" sz="2000" i="0">
                          <a:latin typeface="Cambria Math" panose="02040503050406030204" pitchFamily="18" charset="0"/>
                        </a:rPr>
                        <m:t>±</m:t>
                      </m:r>
                      <m:r>
                        <a:rPr lang="es-NI" sz="2000" b="0" i="1" smtClean="0">
                          <a:latin typeface="Cambria Math" panose="02040503050406030204" pitchFamily="18" charset="0"/>
                        </a:rPr>
                        <m:t>1.96 ∗ </m:t>
                      </m:r>
                      <m:rad>
                        <m:radPr>
                          <m:degHide m:val="on"/>
                          <m:ctrlPr>
                            <a:rPr lang="es-NI" sz="2000" i="1">
                              <a:solidFill>
                                <a:srgbClr val="836967"/>
                              </a:solidFill>
                              <a:latin typeface="Cambria Math" panose="02040503050406030204" pitchFamily="18" charset="0"/>
                            </a:rPr>
                          </m:ctrlPr>
                        </m:radPr>
                        <m:deg/>
                        <m:e>
                          <m:f>
                            <m:fPr>
                              <m:ctrlPr>
                                <a:rPr lang="es-NI" sz="2000" i="1">
                                  <a:solidFill>
                                    <a:srgbClr val="836967"/>
                                  </a:solidFill>
                                  <a:latin typeface="Cambria Math" panose="02040503050406030204" pitchFamily="18" charset="0"/>
                                </a:rPr>
                              </m:ctrlPr>
                            </m:fPr>
                            <m:num>
                              <m:r>
                                <a:rPr lang="es-NI" sz="2000" b="0" i="0" smtClean="0">
                                  <a:solidFill>
                                    <a:srgbClr val="836967"/>
                                  </a:solidFill>
                                  <a:latin typeface="Cambria Math" panose="02040503050406030204" pitchFamily="18" charset="0"/>
                                </a:rPr>
                                <m:t>0.22</m:t>
                              </m:r>
                              <m:r>
                                <a:rPr lang="es-NI" sz="2000" i="0">
                                  <a:latin typeface="Cambria Math" panose="02040503050406030204" pitchFamily="18" charset="0"/>
                                </a:rPr>
                                <m:t>∗</m:t>
                              </m:r>
                              <m:r>
                                <a:rPr lang="es-NI" sz="2000" b="0" i="1" smtClean="0">
                                  <a:latin typeface="Cambria Math" panose="02040503050406030204" pitchFamily="18" charset="0"/>
                                </a:rPr>
                                <m:t>0.78</m:t>
                              </m:r>
                            </m:num>
                            <m:den>
                              <m:r>
                                <a:rPr lang="es-NI" sz="2000" b="0" i="1" smtClean="0">
                                  <a:latin typeface="Cambria Math" panose="02040503050406030204" pitchFamily="18" charset="0"/>
                                </a:rPr>
                                <m:t>100</m:t>
                              </m:r>
                            </m:den>
                          </m:f>
                        </m:e>
                      </m:rad>
                    </m:oMath>
                  </m:oMathPara>
                </a14:m>
                <a:endParaRPr lang="es-NI" sz="2000" dirty="0"/>
              </a:p>
            </p:txBody>
          </p:sp>
        </mc:Choice>
        <mc:Fallback xmlns="">
          <p:sp>
            <p:nvSpPr>
              <p:cNvPr id="7" name="CuadroTexto 6">
                <a:extLst>
                  <a:ext uri="{FF2B5EF4-FFF2-40B4-BE49-F238E27FC236}">
                    <a16:creationId xmlns:a16="http://schemas.microsoft.com/office/drawing/2014/main" id="{4414D6CE-602C-43F1-A565-9E89044CD56A}"/>
                  </a:ext>
                </a:extLst>
              </p:cNvPr>
              <p:cNvSpPr txBox="1">
                <a:spLocks noRot="1" noChangeAspect="1" noMove="1" noResize="1" noEditPoints="1" noAdjustHandles="1" noChangeArrowheads="1" noChangeShapeType="1" noTextEdit="1"/>
              </p:cNvSpPr>
              <p:nvPr/>
            </p:nvSpPr>
            <p:spPr>
              <a:xfrm>
                <a:off x="2515506" y="4060722"/>
                <a:ext cx="3551550" cy="909352"/>
              </a:xfrm>
              <a:prstGeom prst="rect">
                <a:avLst/>
              </a:prstGeom>
              <a:blipFill>
                <a:blip r:embed="rId3"/>
                <a:stretch>
                  <a:fillRect/>
                </a:stretch>
              </a:blipFill>
            </p:spPr>
            <p:txBody>
              <a:bodyPr/>
              <a:lstStyle/>
              <a:p>
                <a:r>
                  <a:rPr lang="es-NI">
                    <a:noFill/>
                  </a:rPr>
                  <a:t> </a:t>
                </a:r>
              </a:p>
            </p:txBody>
          </p:sp>
        </mc:Fallback>
      </mc:AlternateContent>
      <p:cxnSp>
        <p:nvCxnSpPr>
          <p:cNvPr id="3" name="Conector recto 2">
            <a:extLst>
              <a:ext uri="{FF2B5EF4-FFF2-40B4-BE49-F238E27FC236}">
                <a16:creationId xmlns:a16="http://schemas.microsoft.com/office/drawing/2014/main" id="{B72F8642-0F60-4C36-B9BB-F6F5FDA56877}"/>
              </a:ext>
            </a:extLst>
          </p:cNvPr>
          <p:cNvCxnSpPr/>
          <p:nvPr/>
        </p:nvCxnSpPr>
        <p:spPr>
          <a:xfrm>
            <a:off x="2256500" y="3151272"/>
            <a:ext cx="0" cy="23698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483C841A-67AD-4899-BBE4-AE14A28BB802}"/>
              </a:ext>
            </a:extLst>
          </p:cNvPr>
          <p:cNvCxnSpPr/>
          <p:nvPr/>
        </p:nvCxnSpPr>
        <p:spPr>
          <a:xfrm>
            <a:off x="6307390" y="3133611"/>
            <a:ext cx="0" cy="23698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1CA27B5D-B71F-48D3-A877-0D6DBCA54287}"/>
                  </a:ext>
                </a:extLst>
              </p:cNvPr>
              <p:cNvSpPr txBox="1"/>
              <p:nvPr/>
            </p:nvSpPr>
            <p:spPr>
              <a:xfrm>
                <a:off x="6735094" y="3284003"/>
                <a:ext cx="3159135" cy="626325"/>
              </a:xfrm>
              <a:prstGeom prst="rect">
                <a:avLst/>
              </a:prstGeom>
              <a:noFill/>
            </p:spPr>
            <p:txBody>
              <a:bodyPr wrap="none" lIns="0" tIns="0" rIns="0" bIns="0" rtlCol="0">
                <a:spAutoFit/>
              </a:bodyPr>
              <a:lstStyle/>
              <a:p>
                <a:r>
                  <a:rPr lang="es-NI" sz="2000" dirty="0" err="1"/>
                  <a:t>Ls</a:t>
                </a:r>
                <a14:m>
                  <m:oMath xmlns:m="http://schemas.openxmlformats.org/officeDocument/2006/math">
                    <m:r>
                      <a:rPr lang="es-NI" sz="2000" i="0">
                        <a:latin typeface="Cambria Math" panose="02040503050406030204" pitchFamily="18" charset="0"/>
                      </a:rPr>
                      <m:t>=</m:t>
                    </m:r>
                    <m:r>
                      <a:rPr lang="es-NI" sz="2000" b="0" i="0" smtClean="0">
                        <a:latin typeface="Cambria Math" panose="02040503050406030204" pitchFamily="18" charset="0"/>
                      </a:rPr>
                      <m:t>0.22+ </m:t>
                    </m:r>
                    <m:r>
                      <a:rPr lang="es-NI" sz="2000" b="0" i="1" smtClean="0">
                        <a:latin typeface="Cambria Math" panose="02040503050406030204" pitchFamily="18" charset="0"/>
                      </a:rPr>
                      <m:t>1.96 ∗ </m:t>
                    </m:r>
                    <m:rad>
                      <m:radPr>
                        <m:degHide m:val="on"/>
                        <m:ctrlPr>
                          <a:rPr lang="es-NI" sz="2000" i="1">
                            <a:solidFill>
                              <a:srgbClr val="836967"/>
                            </a:solidFill>
                            <a:latin typeface="Cambria Math" panose="02040503050406030204" pitchFamily="18" charset="0"/>
                          </a:rPr>
                        </m:ctrlPr>
                      </m:radPr>
                      <m:deg/>
                      <m:e>
                        <m:f>
                          <m:fPr>
                            <m:ctrlPr>
                              <a:rPr lang="es-NI" sz="2000" i="1">
                                <a:solidFill>
                                  <a:srgbClr val="836967"/>
                                </a:solidFill>
                                <a:latin typeface="Cambria Math" panose="02040503050406030204" pitchFamily="18" charset="0"/>
                              </a:rPr>
                            </m:ctrlPr>
                          </m:fPr>
                          <m:num>
                            <m:r>
                              <a:rPr lang="es-NI" sz="2000" b="0" i="0" smtClean="0">
                                <a:solidFill>
                                  <a:srgbClr val="836967"/>
                                </a:solidFill>
                                <a:latin typeface="Cambria Math" panose="02040503050406030204" pitchFamily="18" charset="0"/>
                              </a:rPr>
                              <m:t>0.22</m:t>
                            </m:r>
                            <m:r>
                              <a:rPr lang="es-NI" sz="2000" i="0">
                                <a:latin typeface="Cambria Math" panose="02040503050406030204" pitchFamily="18" charset="0"/>
                              </a:rPr>
                              <m:t>∗</m:t>
                            </m:r>
                            <m:r>
                              <a:rPr lang="es-NI" sz="2000" b="0" i="1" smtClean="0">
                                <a:latin typeface="Cambria Math" panose="02040503050406030204" pitchFamily="18" charset="0"/>
                              </a:rPr>
                              <m:t>0.78</m:t>
                            </m:r>
                          </m:num>
                          <m:den>
                            <m:r>
                              <a:rPr lang="es-NI" sz="2000" b="0" i="1" smtClean="0">
                                <a:latin typeface="Cambria Math" panose="02040503050406030204" pitchFamily="18" charset="0"/>
                              </a:rPr>
                              <m:t>100</m:t>
                            </m:r>
                          </m:den>
                        </m:f>
                      </m:e>
                    </m:rad>
                  </m:oMath>
                </a14:m>
                <a:endParaRPr lang="es-NI" sz="2000" dirty="0"/>
              </a:p>
            </p:txBody>
          </p:sp>
        </mc:Choice>
        <mc:Fallback xmlns="">
          <p:sp>
            <p:nvSpPr>
              <p:cNvPr id="12" name="CuadroTexto 11">
                <a:extLst>
                  <a:ext uri="{FF2B5EF4-FFF2-40B4-BE49-F238E27FC236}">
                    <a16:creationId xmlns:a16="http://schemas.microsoft.com/office/drawing/2014/main" id="{1CA27B5D-B71F-48D3-A877-0D6DBCA54287}"/>
                  </a:ext>
                </a:extLst>
              </p:cNvPr>
              <p:cNvSpPr txBox="1">
                <a:spLocks noRot="1" noChangeAspect="1" noMove="1" noResize="1" noEditPoints="1" noAdjustHandles="1" noChangeArrowheads="1" noChangeShapeType="1" noTextEdit="1"/>
              </p:cNvSpPr>
              <p:nvPr/>
            </p:nvSpPr>
            <p:spPr>
              <a:xfrm>
                <a:off x="6735094" y="3284003"/>
                <a:ext cx="3159135" cy="626325"/>
              </a:xfrm>
              <a:prstGeom prst="rect">
                <a:avLst/>
              </a:prstGeom>
              <a:blipFill>
                <a:blip r:embed="rId4"/>
                <a:stretch>
                  <a:fillRect l="-5019" b="-2941"/>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C95E23A-C86F-445C-B92A-886247EECA1C}"/>
                  </a:ext>
                </a:extLst>
              </p:cNvPr>
              <p:cNvSpPr txBox="1"/>
              <p:nvPr/>
            </p:nvSpPr>
            <p:spPr>
              <a:xfrm>
                <a:off x="6715431" y="4155781"/>
                <a:ext cx="3215239" cy="626325"/>
              </a:xfrm>
              <a:prstGeom prst="rect">
                <a:avLst/>
              </a:prstGeom>
              <a:noFill/>
            </p:spPr>
            <p:txBody>
              <a:bodyPr wrap="none" lIns="0" tIns="0" rIns="0" bIns="0" rtlCol="0">
                <a:spAutoFit/>
              </a:bodyPr>
              <a:lstStyle/>
              <a:p>
                <a:r>
                  <a:rPr lang="es-NI" sz="2000" dirty="0"/>
                  <a:t>Li</a:t>
                </a:r>
                <a14:m>
                  <m:oMath xmlns:m="http://schemas.openxmlformats.org/officeDocument/2006/math">
                    <m:r>
                      <a:rPr lang="es-NI" sz="2000" i="0">
                        <a:latin typeface="Cambria Math" panose="02040503050406030204" pitchFamily="18" charset="0"/>
                      </a:rPr>
                      <m:t>=</m:t>
                    </m:r>
                    <m:r>
                      <a:rPr lang="es-NI" sz="2000" b="0" i="0" smtClean="0">
                        <a:latin typeface="Cambria Math" panose="02040503050406030204" pitchFamily="18" charset="0"/>
                      </a:rPr>
                      <m:t>0.22 − </m:t>
                    </m:r>
                    <m:r>
                      <a:rPr lang="es-NI" sz="2000" b="0" i="1" smtClean="0">
                        <a:latin typeface="Cambria Math" panose="02040503050406030204" pitchFamily="18" charset="0"/>
                      </a:rPr>
                      <m:t>1.96 ∗ </m:t>
                    </m:r>
                    <m:rad>
                      <m:radPr>
                        <m:degHide m:val="on"/>
                        <m:ctrlPr>
                          <a:rPr lang="es-NI" sz="2000" i="1">
                            <a:solidFill>
                              <a:srgbClr val="836967"/>
                            </a:solidFill>
                            <a:latin typeface="Cambria Math" panose="02040503050406030204" pitchFamily="18" charset="0"/>
                          </a:rPr>
                        </m:ctrlPr>
                      </m:radPr>
                      <m:deg/>
                      <m:e>
                        <m:f>
                          <m:fPr>
                            <m:ctrlPr>
                              <a:rPr lang="es-NI" sz="2000" i="1">
                                <a:solidFill>
                                  <a:srgbClr val="836967"/>
                                </a:solidFill>
                                <a:latin typeface="Cambria Math" panose="02040503050406030204" pitchFamily="18" charset="0"/>
                              </a:rPr>
                            </m:ctrlPr>
                          </m:fPr>
                          <m:num>
                            <m:r>
                              <a:rPr lang="es-NI" sz="2000" b="0" i="0" smtClean="0">
                                <a:solidFill>
                                  <a:srgbClr val="836967"/>
                                </a:solidFill>
                                <a:latin typeface="Cambria Math" panose="02040503050406030204" pitchFamily="18" charset="0"/>
                              </a:rPr>
                              <m:t>0.22</m:t>
                            </m:r>
                            <m:r>
                              <a:rPr lang="es-NI" sz="2000" i="0">
                                <a:latin typeface="Cambria Math" panose="02040503050406030204" pitchFamily="18" charset="0"/>
                              </a:rPr>
                              <m:t>∗</m:t>
                            </m:r>
                            <m:r>
                              <a:rPr lang="es-NI" sz="2000" b="0" i="1" smtClean="0">
                                <a:latin typeface="Cambria Math" panose="02040503050406030204" pitchFamily="18" charset="0"/>
                              </a:rPr>
                              <m:t>0.78</m:t>
                            </m:r>
                          </m:num>
                          <m:den>
                            <m:r>
                              <a:rPr lang="es-NI" sz="2000" b="0" i="1" smtClean="0">
                                <a:latin typeface="Cambria Math" panose="02040503050406030204" pitchFamily="18" charset="0"/>
                              </a:rPr>
                              <m:t>100</m:t>
                            </m:r>
                          </m:den>
                        </m:f>
                      </m:e>
                    </m:rad>
                  </m:oMath>
                </a14:m>
                <a:endParaRPr lang="es-NI" sz="2000" dirty="0"/>
              </a:p>
            </p:txBody>
          </p:sp>
        </mc:Choice>
        <mc:Fallback xmlns="">
          <p:sp>
            <p:nvSpPr>
              <p:cNvPr id="14" name="CuadroTexto 13">
                <a:extLst>
                  <a:ext uri="{FF2B5EF4-FFF2-40B4-BE49-F238E27FC236}">
                    <a16:creationId xmlns:a16="http://schemas.microsoft.com/office/drawing/2014/main" id="{6C95E23A-C86F-445C-B92A-886247EECA1C}"/>
                  </a:ext>
                </a:extLst>
              </p:cNvPr>
              <p:cNvSpPr txBox="1">
                <a:spLocks noRot="1" noChangeAspect="1" noMove="1" noResize="1" noEditPoints="1" noAdjustHandles="1" noChangeArrowheads="1" noChangeShapeType="1" noTextEdit="1"/>
              </p:cNvSpPr>
              <p:nvPr/>
            </p:nvSpPr>
            <p:spPr>
              <a:xfrm>
                <a:off x="6715431" y="4155781"/>
                <a:ext cx="3215239" cy="626325"/>
              </a:xfrm>
              <a:prstGeom prst="rect">
                <a:avLst/>
              </a:prstGeom>
              <a:blipFill>
                <a:blip r:embed="rId5"/>
                <a:stretch>
                  <a:fillRect l="-4934" b="-2941"/>
                </a:stretch>
              </a:blipFill>
            </p:spPr>
            <p:txBody>
              <a:bodyPr/>
              <a:lstStyle/>
              <a:p>
                <a:r>
                  <a:rPr lang="es-NI">
                    <a:noFill/>
                  </a:rPr>
                  <a:t> </a:t>
                </a:r>
              </a:p>
            </p:txBody>
          </p:sp>
        </mc:Fallback>
      </mc:AlternateContent>
      <p:sp>
        <p:nvSpPr>
          <p:cNvPr id="4" name="CuadroTexto 3">
            <a:extLst>
              <a:ext uri="{FF2B5EF4-FFF2-40B4-BE49-F238E27FC236}">
                <a16:creationId xmlns:a16="http://schemas.microsoft.com/office/drawing/2014/main" id="{F8230BB3-2A70-48BB-A752-3070090D743E}"/>
              </a:ext>
            </a:extLst>
          </p:cNvPr>
          <p:cNvSpPr txBox="1"/>
          <p:nvPr/>
        </p:nvSpPr>
        <p:spPr>
          <a:xfrm>
            <a:off x="9792935" y="3431483"/>
            <a:ext cx="1533830" cy="1292662"/>
          </a:xfrm>
          <a:prstGeom prst="rect">
            <a:avLst/>
          </a:prstGeom>
          <a:noFill/>
        </p:spPr>
        <p:txBody>
          <a:bodyPr wrap="square" rtlCol="0">
            <a:spAutoFit/>
          </a:bodyPr>
          <a:lstStyle/>
          <a:p>
            <a:r>
              <a:rPr lang="es-NI" dirty="0"/>
              <a:t>=0.2859</a:t>
            </a:r>
          </a:p>
          <a:p>
            <a:br>
              <a:rPr lang="es-NI" sz="1050" dirty="0"/>
            </a:br>
            <a:endParaRPr lang="es-NI" sz="1050" dirty="0"/>
          </a:p>
          <a:p>
            <a:endParaRPr lang="es-NI" dirty="0"/>
          </a:p>
          <a:p>
            <a:r>
              <a:rPr lang="es-NI" dirty="0"/>
              <a:t>= 0.1544</a:t>
            </a:r>
          </a:p>
        </p:txBody>
      </p:sp>
      <p:sp>
        <p:nvSpPr>
          <p:cNvPr id="15" name="CuadroTexto 14">
            <a:extLst>
              <a:ext uri="{FF2B5EF4-FFF2-40B4-BE49-F238E27FC236}">
                <a16:creationId xmlns:a16="http://schemas.microsoft.com/office/drawing/2014/main" id="{1B342E24-54D1-43FC-A1F0-15E0902257C9}"/>
              </a:ext>
            </a:extLst>
          </p:cNvPr>
          <p:cNvSpPr txBox="1"/>
          <p:nvPr/>
        </p:nvSpPr>
        <p:spPr>
          <a:xfrm>
            <a:off x="751381" y="5588191"/>
            <a:ext cx="11112017" cy="830997"/>
          </a:xfrm>
          <a:prstGeom prst="rect">
            <a:avLst/>
          </a:prstGeom>
          <a:noFill/>
        </p:spPr>
        <p:txBody>
          <a:bodyPr wrap="square" rtlCol="0">
            <a:spAutoFit/>
          </a:bodyPr>
          <a:lstStyle/>
          <a:p>
            <a:r>
              <a:rPr lang="es-NI" sz="2400" b="1" dirty="0"/>
              <a:t>Respuesta: </a:t>
            </a:r>
            <a:r>
              <a:rPr lang="es-NI" sz="2400" dirty="0"/>
              <a:t>Dado que el intervalo está entre el 15.44% y el 28.59% la estimación del gerente está equivocada.</a:t>
            </a:r>
          </a:p>
        </p:txBody>
      </p:sp>
    </p:spTree>
    <p:extLst>
      <p:ext uri="{BB962C8B-B14F-4D97-AF65-F5344CB8AC3E}">
        <p14:creationId xmlns:p14="http://schemas.microsoft.com/office/powerpoint/2010/main" val="2849925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8CA7163-E409-4910-B2ED-4732F2EC9EA2}"/>
              </a:ext>
            </a:extLst>
          </p:cNvPr>
          <p:cNvSpPr txBox="1"/>
          <p:nvPr/>
        </p:nvSpPr>
        <p:spPr>
          <a:xfrm>
            <a:off x="693174" y="1194619"/>
            <a:ext cx="11112017" cy="4154984"/>
          </a:xfrm>
          <a:prstGeom prst="rect">
            <a:avLst/>
          </a:prstGeom>
          <a:noFill/>
        </p:spPr>
        <p:txBody>
          <a:bodyPr wrap="square" rtlCol="0">
            <a:spAutoFit/>
          </a:bodyPr>
          <a:lstStyle/>
          <a:p>
            <a:r>
              <a:rPr lang="es-NI" sz="2400" dirty="0"/>
              <a:t>La empresa </a:t>
            </a:r>
            <a:r>
              <a:rPr lang="es-NI" sz="2400" dirty="0" err="1"/>
              <a:t>TvLox</a:t>
            </a:r>
            <a:r>
              <a:rPr lang="es-NI" sz="2400" dirty="0"/>
              <a:t> quiere saber la proporción de televidentes que prefieren sus programas. El gerente ha obtenido datos de una encuesta aplicada y basado en ellos afirma que el 23% de los espectadores prefieren sus programas. Una muestra de 150 televidentes indicó que 45 de ellos consumían dicha marca. Calcule un intervalo de confianza de 95 % e indicar si el gerente tiene la razón</a:t>
            </a:r>
          </a:p>
          <a:p>
            <a:endParaRPr lang="es-NI" sz="2400" dirty="0"/>
          </a:p>
          <a:p>
            <a:r>
              <a:rPr lang="es-NI" sz="2400" dirty="0"/>
              <a:t>La empacadora de plátanos </a:t>
            </a:r>
            <a:r>
              <a:rPr lang="es-NI" sz="2400" dirty="0" err="1"/>
              <a:t>Platanica</a:t>
            </a:r>
            <a:r>
              <a:rPr lang="es-NI" sz="2400" dirty="0"/>
              <a:t> S.A. quiere saber la proporción de clientes que prefieren consumir plátanos empacados. El gerente ha obtenido datos de una encuesta aplicada y basado en ellos afirma que el 53% de los clientes prefieren sus productos. Una muestra de 120 clientes indicó que 52 de ellos consumían dicha marca. Calcule un intervalo de confianza de 95 % e indicar si el gerente tiene la razón</a:t>
            </a:r>
          </a:p>
        </p:txBody>
      </p:sp>
      <p:sp>
        <p:nvSpPr>
          <p:cNvPr id="8" name="Rectángulo 7">
            <a:extLst>
              <a:ext uri="{FF2B5EF4-FFF2-40B4-BE49-F238E27FC236}">
                <a16:creationId xmlns:a16="http://schemas.microsoft.com/office/drawing/2014/main" id="{67D455A5-5FCF-491A-A9A6-332EB45CE792}"/>
              </a:ext>
            </a:extLst>
          </p:cNvPr>
          <p:cNvSpPr/>
          <p:nvPr/>
        </p:nvSpPr>
        <p:spPr>
          <a:xfrm>
            <a:off x="4693472" y="120896"/>
            <a:ext cx="2805063"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Ejercicios</a:t>
            </a:r>
          </a:p>
        </p:txBody>
      </p:sp>
    </p:spTree>
    <p:extLst>
      <p:ext uri="{BB962C8B-B14F-4D97-AF65-F5344CB8AC3E}">
        <p14:creationId xmlns:p14="http://schemas.microsoft.com/office/powerpoint/2010/main" val="372241621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595</Words>
  <Application>Microsoft Office PowerPoint</Application>
  <PresentationFormat>Panorámica</PresentationFormat>
  <Paragraphs>36</Paragraphs>
  <Slides>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Arial</vt:lpstr>
      <vt:lpstr>Calibri</vt:lpstr>
      <vt:lpstr>Calibri Light</vt:lpstr>
      <vt:lpstr>Cambria Math</vt:lpstr>
      <vt:lpstr>Tema de Office</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Aguirre</cp:lastModifiedBy>
  <cp:revision>3</cp:revision>
  <dcterms:created xsi:type="dcterms:W3CDTF">2021-08-23T16:45:55Z</dcterms:created>
  <dcterms:modified xsi:type="dcterms:W3CDTF">2021-11-22T16:00:17Z</dcterms:modified>
</cp:coreProperties>
</file>