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4" r:id="rId9"/>
    <p:sldId id="263" r:id="rId10"/>
    <p:sldId id="265" r:id="rId11"/>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88043F-8E5A-4BEA-BB89-01D143F1FB90}" v="4" dt="2022-01-08T16:20:55.394"/>
  </p1510:revLst>
</p1510:revInfo>
</file>

<file path=ppt/tableStyles.xml><?xml version="1.0" encoding="utf-8"?>
<a:tblStyleLst xmlns:a="http://schemas.openxmlformats.org/drawingml/2006/main" def="{5C22544A-7EE6-4342-B048-85BDC9FD1C3A}">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0" d="100"/>
          <a:sy n="70" d="100"/>
        </p:scale>
        <p:origin x="660"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AntonioAguirre" userId="42908199-65f4-4d4a-8e05-6e659ccb82ce" providerId="ADAL" clId="{C888043F-8E5A-4BEA-BB89-01D143F1FB90}"/>
    <pc:docChg chg="undo custSel addSld delSld modSld sldOrd">
      <pc:chgData name="Guillermo AntonioAguirre" userId="42908199-65f4-4d4a-8e05-6e659ccb82ce" providerId="ADAL" clId="{C888043F-8E5A-4BEA-BB89-01D143F1FB90}" dt="2022-01-08T17:13:57.668" v="184" actId="14100"/>
      <pc:docMkLst>
        <pc:docMk/>
      </pc:docMkLst>
      <pc:sldChg chg="modSp mod">
        <pc:chgData name="Guillermo AntonioAguirre" userId="42908199-65f4-4d4a-8e05-6e659ccb82ce" providerId="ADAL" clId="{C888043F-8E5A-4BEA-BB89-01D143F1FB90}" dt="2022-01-08T16:15:12.746" v="39" actId="20577"/>
        <pc:sldMkLst>
          <pc:docMk/>
          <pc:sldMk cId="4092344167" sldId="259"/>
        </pc:sldMkLst>
        <pc:graphicFrameChg chg="modGraphic">
          <ac:chgData name="Guillermo AntonioAguirre" userId="42908199-65f4-4d4a-8e05-6e659ccb82ce" providerId="ADAL" clId="{C888043F-8E5A-4BEA-BB89-01D143F1FB90}" dt="2022-01-08T16:15:12.746" v="39" actId="20577"/>
          <ac:graphicFrameMkLst>
            <pc:docMk/>
            <pc:sldMk cId="4092344167" sldId="259"/>
            <ac:graphicFrameMk id="2" creationId="{BA169430-0028-4867-8D3D-370338401465}"/>
          </ac:graphicFrameMkLst>
        </pc:graphicFrameChg>
      </pc:sldChg>
      <pc:sldChg chg="modSp mod">
        <pc:chgData name="Guillermo AntonioAguirre" userId="42908199-65f4-4d4a-8e05-6e659ccb82ce" providerId="ADAL" clId="{C888043F-8E5A-4BEA-BB89-01D143F1FB90}" dt="2022-01-08T17:13:57.668" v="184" actId="14100"/>
        <pc:sldMkLst>
          <pc:docMk/>
          <pc:sldMk cId="2005098287" sldId="261"/>
        </pc:sldMkLst>
        <pc:graphicFrameChg chg="mod modGraphic">
          <ac:chgData name="Guillermo AntonioAguirre" userId="42908199-65f4-4d4a-8e05-6e659ccb82ce" providerId="ADAL" clId="{C888043F-8E5A-4BEA-BB89-01D143F1FB90}" dt="2022-01-08T17:13:57.668" v="184" actId="14100"/>
          <ac:graphicFrameMkLst>
            <pc:docMk/>
            <pc:sldMk cId="2005098287" sldId="261"/>
            <ac:graphicFrameMk id="6" creationId="{8FA70902-65A5-48DF-A6B3-92E2594D929B}"/>
          </ac:graphicFrameMkLst>
        </pc:graphicFrameChg>
      </pc:sldChg>
      <pc:sldChg chg="addSp delSp modSp add mod ord">
        <pc:chgData name="Guillermo AntonioAguirre" userId="42908199-65f4-4d4a-8e05-6e659ccb82ce" providerId="ADAL" clId="{C888043F-8E5A-4BEA-BB89-01D143F1FB90}" dt="2022-01-08T16:13:22.799" v="35" actId="1076"/>
        <pc:sldMkLst>
          <pc:docMk/>
          <pc:sldMk cId="2284224779" sldId="263"/>
        </pc:sldMkLst>
        <pc:graphicFrameChg chg="modGraphic">
          <ac:chgData name="Guillermo AntonioAguirre" userId="42908199-65f4-4d4a-8e05-6e659ccb82ce" providerId="ADAL" clId="{C888043F-8E5A-4BEA-BB89-01D143F1FB90}" dt="2022-01-08T16:10:52.990" v="22" actId="6549"/>
          <ac:graphicFrameMkLst>
            <pc:docMk/>
            <pc:sldMk cId="2284224779" sldId="263"/>
            <ac:graphicFrameMk id="4" creationId="{376F1546-4643-466C-B665-F18B91CC389A}"/>
          </ac:graphicFrameMkLst>
        </pc:graphicFrameChg>
        <pc:graphicFrameChg chg="add mod modGraphic">
          <ac:chgData name="Guillermo AntonioAguirre" userId="42908199-65f4-4d4a-8e05-6e659ccb82ce" providerId="ADAL" clId="{C888043F-8E5A-4BEA-BB89-01D143F1FB90}" dt="2022-01-08T16:13:22.799" v="35" actId="1076"/>
          <ac:graphicFrameMkLst>
            <pc:docMk/>
            <pc:sldMk cId="2284224779" sldId="263"/>
            <ac:graphicFrameMk id="6" creationId="{03DFAF4D-6105-47E8-AF1B-4FAA0FDDBC7A}"/>
          </ac:graphicFrameMkLst>
        </pc:graphicFrameChg>
        <pc:graphicFrameChg chg="del">
          <ac:chgData name="Guillermo AntonioAguirre" userId="42908199-65f4-4d4a-8e05-6e659ccb82ce" providerId="ADAL" clId="{C888043F-8E5A-4BEA-BB89-01D143F1FB90}" dt="2022-01-08T16:06:52.047" v="1" actId="478"/>
          <ac:graphicFrameMkLst>
            <pc:docMk/>
            <pc:sldMk cId="2284224779" sldId="263"/>
            <ac:graphicFrameMk id="8" creationId="{E5151038-D3D9-496E-9D9C-3931ABF76603}"/>
          </ac:graphicFrameMkLst>
        </pc:graphicFrameChg>
      </pc:sldChg>
      <pc:sldChg chg="add del">
        <pc:chgData name="Guillermo AntonioAguirre" userId="42908199-65f4-4d4a-8e05-6e659ccb82ce" providerId="ADAL" clId="{C888043F-8E5A-4BEA-BB89-01D143F1FB90}" dt="2022-01-08T16:10:51.969" v="21" actId="2890"/>
        <pc:sldMkLst>
          <pc:docMk/>
          <pc:sldMk cId="2094010770" sldId="264"/>
        </pc:sldMkLst>
      </pc:sldChg>
      <pc:sldChg chg="modSp add mod ord">
        <pc:chgData name="Guillermo AntonioAguirre" userId="42908199-65f4-4d4a-8e05-6e659ccb82ce" providerId="ADAL" clId="{C888043F-8E5A-4BEA-BB89-01D143F1FB90}" dt="2022-01-08T16:15:54.470" v="40" actId="1076"/>
        <pc:sldMkLst>
          <pc:docMk/>
          <pc:sldMk cId="3221722832" sldId="264"/>
        </pc:sldMkLst>
        <pc:graphicFrameChg chg="modGraphic">
          <ac:chgData name="Guillermo AntonioAguirre" userId="42908199-65f4-4d4a-8e05-6e659ccb82ce" providerId="ADAL" clId="{C888043F-8E5A-4BEA-BB89-01D143F1FB90}" dt="2022-01-08T16:11:12.729" v="26" actId="6549"/>
          <ac:graphicFrameMkLst>
            <pc:docMk/>
            <pc:sldMk cId="3221722832" sldId="264"/>
            <ac:graphicFrameMk id="4" creationId="{376F1546-4643-466C-B665-F18B91CC389A}"/>
          </ac:graphicFrameMkLst>
        </pc:graphicFrameChg>
        <pc:graphicFrameChg chg="mod modGraphic">
          <ac:chgData name="Guillermo AntonioAguirre" userId="42908199-65f4-4d4a-8e05-6e659ccb82ce" providerId="ADAL" clId="{C888043F-8E5A-4BEA-BB89-01D143F1FB90}" dt="2022-01-08T16:15:54.470" v="40" actId="1076"/>
          <ac:graphicFrameMkLst>
            <pc:docMk/>
            <pc:sldMk cId="3221722832" sldId="264"/>
            <ac:graphicFrameMk id="6" creationId="{03DFAF4D-6105-47E8-AF1B-4FAA0FDDBC7A}"/>
          </ac:graphicFrameMkLst>
        </pc:graphicFrameChg>
      </pc:sldChg>
      <pc:sldChg chg="addSp delSp modSp add mod">
        <pc:chgData name="Guillermo AntonioAguirre" userId="42908199-65f4-4d4a-8e05-6e659ccb82ce" providerId="ADAL" clId="{C888043F-8E5A-4BEA-BB89-01D143F1FB90}" dt="2022-01-08T16:26:10.370" v="180" actId="947"/>
        <pc:sldMkLst>
          <pc:docMk/>
          <pc:sldMk cId="647715471" sldId="265"/>
        </pc:sldMkLst>
        <pc:spChg chg="add mod">
          <ac:chgData name="Guillermo AntonioAguirre" userId="42908199-65f4-4d4a-8e05-6e659ccb82ce" providerId="ADAL" clId="{C888043F-8E5A-4BEA-BB89-01D143F1FB90}" dt="2022-01-08T16:26:10.370" v="180" actId="947"/>
          <ac:spMkLst>
            <pc:docMk/>
            <pc:sldMk cId="647715471" sldId="265"/>
            <ac:spMk id="3" creationId="{635009A4-95DC-4109-A6BE-B9286241ECF3}"/>
          </ac:spMkLst>
        </pc:spChg>
        <pc:graphicFrameChg chg="add mod modGraphic">
          <ac:chgData name="Guillermo AntonioAguirre" userId="42908199-65f4-4d4a-8e05-6e659ccb82ce" providerId="ADAL" clId="{C888043F-8E5A-4BEA-BB89-01D143F1FB90}" dt="2022-01-08T16:20:44.359" v="52" actId="1076"/>
          <ac:graphicFrameMkLst>
            <pc:docMk/>
            <pc:sldMk cId="647715471" sldId="265"/>
            <ac:graphicFrameMk id="2" creationId="{D5216E81-6505-47D7-A499-03654DFAEFAC}"/>
          </ac:graphicFrameMkLst>
        </pc:graphicFrameChg>
        <pc:graphicFrameChg chg="del">
          <ac:chgData name="Guillermo AntonioAguirre" userId="42908199-65f4-4d4a-8e05-6e659ccb82ce" providerId="ADAL" clId="{C888043F-8E5A-4BEA-BB89-01D143F1FB90}" dt="2022-01-08T16:20:00.824" v="44" actId="478"/>
          <ac:graphicFrameMkLst>
            <pc:docMk/>
            <pc:sldMk cId="647715471" sldId="265"/>
            <ac:graphicFrameMk id="4" creationId="{376F1546-4643-466C-B665-F18B91CC389A}"/>
          </ac:graphicFrameMkLst>
        </pc:graphicFrameChg>
        <pc:graphicFrameChg chg="del">
          <ac:chgData name="Guillermo AntonioAguirre" userId="42908199-65f4-4d4a-8e05-6e659ccb82ce" providerId="ADAL" clId="{C888043F-8E5A-4BEA-BB89-01D143F1FB90}" dt="2022-01-08T16:19:56.129" v="42" actId="478"/>
          <ac:graphicFrameMkLst>
            <pc:docMk/>
            <pc:sldMk cId="647715471" sldId="265"/>
            <ac:graphicFrameMk id="6" creationId="{03DFAF4D-6105-47E8-AF1B-4FAA0FDDBC7A}"/>
          </ac:graphicFrameMkLst>
        </pc:graphicFrameChg>
        <pc:graphicFrameChg chg="del">
          <ac:chgData name="Guillermo AntonioAguirre" userId="42908199-65f4-4d4a-8e05-6e659ccb82ce" providerId="ADAL" clId="{C888043F-8E5A-4BEA-BB89-01D143F1FB90}" dt="2022-01-08T16:19:57.660" v="43" actId="478"/>
          <ac:graphicFrameMkLst>
            <pc:docMk/>
            <pc:sldMk cId="647715471" sldId="265"/>
            <ac:graphicFrameMk id="7" creationId="{E6A477B1-DB2E-4A3B-B405-48A0788B6EF9}"/>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5558DB-D140-4980-8E3A-695A12870A5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NI"/>
          </a:p>
        </p:txBody>
      </p:sp>
      <p:sp>
        <p:nvSpPr>
          <p:cNvPr id="3" name="Subtítulo 2">
            <a:extLst>
              <a:ext uri="{FF2B5EF4-FFF2-40B4-BE49-F238E27FC236}">
                <a16:creationId xmlns:a16="http://schemas.microsoft.com/office/drawing/2014/main" id="{1983292E-5803-4E02-A5A1-8E1B2D93BA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NI"/>
          </a:p>
        </p:txBody>
      </p:sp>
      <p:sp>
        <p:nvSpPr>
          <p:cNvPr id="4" name="Marcador de fecha 3">
            <a:extLst>
              <a:ext uri="{FF2B5EF4-FFF2-40B4-BE49-F238E27FC236}">
                <a16:creationId xmlns:a16="http://schemas.microsoft.com/office/drawing/2014/main" id="{9BBD21A5-5E4A-4182-9564-DA7681BE938B}"/>
              </a:ext>
            </a:extLst>
          </p:cNvPr>
          <p:cNvSpPr>
            <a:spLocks noGrp="1"/>
          </p:cNvSpPr>
          <p:nvPr>
            <p:ph type="dt" sz="half" idx="10"/>
          </p:nvPr>
        </p:nvSpPr>
        <p:spPr/>
        <p:txBody>
          <a:bodyPr/>
          <a:lstStyle/>
          <a:p>
            <a:fld id="{5F5063BF-A8A1-410E-9CC3-01DC8395D6F8}" type="datetimeFigureOut">
              <a:rPr lang="es-NI" smtClean="0"/>
              <a:t>8/1/2022</a:t>
            </a:fld>
            <a:endParaRPr lang="es-NI"/>
          </a:p>
        </p:txBody>
      </p:sp>
      <p:sp>
        <p:nvSpPr>
          <p:cNvPr id="5" name="Marcador de pie de página 4">
            <a:extLst>
              <a:ext uri="{FF2B5EF4-FFF2-40B4-BE49-F238E27FC236}">
                <a16:creationId xmlns:a16="http://schemas.microsoft.com/office/drawing/2014/main" id="{E931C29F-B859-4649-94FC-63C90CEE6E36}"/>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1D70EEF5-DC97-48E1-ADEC-FE84643DF4FF}"/>
              </a:ext>
            </a:extLst>
          </p:cNvPr>
          <p:cNvSpPr>
            <a:spLocks noGrp="1"/>
          </p:cNvSpPr>
          <p:nvPr>
            <p:ph type="sldNum" sz="quarter" idx="12"/>
          </p:nvPr>
        </p:nvSpPr>
        <p:spPr/>
        <p:txBody>
          <a:bodyPr/>
          <a:lstStyle/>
          <a:p>
            <a:fld id="{CF09232B-6CFF-4480-9D40-FA768B2F0533}" type="slidenum">
              <a:rPr lang="es-NI" smtClean="0"/>
              <a:t>‹Nº›</a:t>
            </a:fld>
            <a:endParaRPr lang="es-NI"/>
          </a:p>
        </p:txBody>
      </p:sp>
    </p:spTree>
    <p:extLst>
      <p:ext uri="{BB962C8B-B14F-4D97-AF65-F5344CB8AC3E}">
        <p14:creationId xmlns:p14="http://schemas.microsoft.com/office/powerpoint/2010/main" val="139255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642B05-E2D7-480D-B3B9-226BADD9D5E0}"/>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32EBE937-1630-4184-9EFC-1E3BD4E6D40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592D2CAC-AD7D-45DC-9DD1-CBD10D623BA1}"/>
              </a:ext>
            </a:extLst>
          </p:cNvPr>
          <p:cNvSpPr>
            <a:spLocks noGrp="1"/>
          </p:cNvSpPr>
          <p:nvPr>
            <p:ph type="dt" sz="half" idx="10"/>
          </p:nvPr>
        </p:nvSpPr>
        <p:spPr/>
        <p:txBody>
          <a:bodyPr/>
          <a:lstStyle/>
          <a:p>
            <a:fld id="{5F5063BF-A8A1-410E-9CC3-01DC8395D6F8}" type="datetimeFigureOut">
              <a:rPr lang="es-NI" smtClean="0"/>
              <a:t>8/1/2022</a:t>
            </a:fld>
            <a:endParaRPr lang="es-NI"/>
          </a:p>
        </p:txBody>
      </p:sp>
      <p:sp>
        <p:nvSpPr>
          <p:cNvPr id="5" name="Marcador de pie de página 4">
            <a:extLst>
              <a:ext uri="{FF2B5EF4-FFF2-40B4-BE49-F238E27FC236}">
                <a16:creationId xmlns:a16="http://schemas.microsoft.com/office/drawing/2014/main" id="{EAECB15D-670E-4209-9E16-7F2C9B728C28}"/>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244E4E72-8086-4CE3-AB16-41C64E502432}"/>
              </a:ext>
            </a:extLst>
          </p:cNvPr>
          <p:cNvSpPr>
            <a:spLocks noGrp="1"/>
          </p:cNvSpPr>
          <p:nvPr>
            <p:ph type="sldNum" sz="quarter" idx="12"/>
          </p:nvPr>
        </p:nvSpPr>
        <p:spPr/>
        <p:txBody>
          <a:bodyPr/>
          <a:lstStyle/>
          <a:p>
            <a:fld id="{CF09232B-6CFF-4480-9D40-FA768B2F0533}" type="slidenum">
              <a:rPr lang="es-NI" smtClean="0"/>
              <a:t>‹Nº›</a:t>
            </a:fld>
            <a:endParaRPr lang="es-NI"/>
          </a:p>
        </p:txBody>
      </p:sp>
    </p:spTree>
    <p:extLst>
      <p:ext uri="{BB962C8B-B14F-4D97-AF65-F5344CB8AC3E}">
        <p14:creationId xmlns:p14="http://schemas.microsoft.com/office/powerpoint/2010/main" val="3782085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DE4A87-9C9B-4FFF-B119-2519F16FAB5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CF456BC0-6CBB-41CF-AEB8-DDB82195FB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C0ABC95-DF89-48F1-8716-5ED9A776BAFF}"/>
              </a:ext>
            </a:extLst>
          </p:cNvPr>
          <p:cNvSpPr>
            <a:spLocks noGrp="1"/>
          </p:cNvSpPr>
          <p:nvPr>
            <p:ph type="dt" sz="half" idx="10"/>
          </p:nvPr>
        </p:nvSpPr>
        <p:spPr/>
        <p:txBody>
          <a:bodyPr/>
          <a:lstStyle/>
          <a:p>
            <a:fld id="{5F5063BF-A8A1-410E-9CC3-01DC8395D6F8}" type="datetimeFigureOut">
              <a:rPr lang="es-NI" smtClean="0"/>
              <a:t>8/1/2022</a:t>
            </a:fld>
            <a:endParaRPr lang="es-NI"/>
          </a:p>
        </p:txBody>
      </p:sp>
      <p:sp>
        <p:nvSpPr>
          <p:cNvPr id="5" name="Marcador de pie de página 4">
            <a:extLst>
              <a:ext uri="{FF2B5EF4-FFF2-40B4-BE49-F238E27FC236}">
                <a16:creationId xmlns:a16="http://schemas.microsoft.com/office/drawing/2014/main" id="{8A24B2AF-2138-46B2-9C99-BD7C19DAFA3A}"/>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DC2D9B07-1896-42BC-BA70-BD4F4591DAE8}"/>
              </a:ext>
            </a:extLst>
          </p:cNvPr>
          <p:cNvSpPr>
            <a:spLocks noGrp="1"/>
          </p:cNvSpPr>
          <p:nvPr>
            <p:ph type="sldNum" sz="quarter" idx="12"/>
          </p:nvPr>
        </p:nvSpPr>
        <p:spPr/>
        <p:txBody>
          <a:bodyPr/>
          <a:lstStyle/>
          <a:p>
            <a:fld id="{CF09232B-6CFF-4480-9D40-FA768B2F0533}" type="slidenum">
              <a:rPr lang="es-NI" smtClean="0"/>
              <a:t>‹Nº›</a:t>
            </a:fld>
            <a:endParaRPr lang="es-NI"/>
          </a:p>
        </p:txBody>
      </p:sp>
    </p:spTree>
    <p:extLst>
      <p:ext uri="{BB962C8B-B14F-4D97-AF65-F5344CB8AC3E}">
        <p14:creationId xmlns:p14="http://schemas.microsoft.com/office/powerpoint/2010/main" val="386708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958ABB-D24B-4D04-A225-39544556B14D}"/>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2C87789F-E482-4AE4-85DA-B1FA522679F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contenido 3">
            <a:extLst>
              <a:ext uri="{FF2B5EF4-FFF2-40B4-BE49-F238E27FC236}">
                <a16:creationId xmlns:a16="http://schemas.microsoft.com/office/drawing/2014/main" id="{591B639C-1A6D-41D1-A8EF-816782B64FF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fecha 4">
            <a:extLst>
              <a:ext uri="{FF2B5EF4-FFF2-40B4-BE49-F238E27FC236}">
                <a16:creationId xmlns:a16="http://schemas.microsoft.com/office/drawing/2014/main" id="{BBA140BB-730D-45F5-BF02-D6E57DAC65F8}"/>
              </a:ext>
            </a:extLst>
          </p:cNvPr>
          <p:cNvSpPr>
            <a:spLocks noGrp="1"/>
          </p:cNvSpPr>
          <p:nvPr>
            <p:ph type="dt" sz="half" idx="10"/>
          </p:nvPr>
        </p:nvSpPr>
        <p:spPr/>
        <p:txBody>
          <a:bodyPr/>
          <a:lstStyle/>
          <a:p>
            <a:fld id="{5F5063BF-A8A1-410E-9CC3-01DC8395D6F8}" type="datetimeFigureOut">
              <a:rPr lang="es-NI" smtClean="0"/>
              <a:t>8/1/2022</a:t>
            </a:fld>
            <a:endParaRPr lang="es-NI"/>
          </a:p>
        </p:txBody>
      </p:sp>
      <p:sp>
        <p:nvSpPr>
          <p:cNvPr id="6" name="Marcador de pie de página 5">
            <a:extLst>
              <a:ext uri="{FF2B5EF4-FFF2-40B4-BE49-F238E27FC236}">
                <a16:creationId xmlns:a16="http://schemas.microsoft.com/office/drawing/2014/main" id="{5B1EE64B-3128-4252-A08C-488B7FC831B2}"/>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6D7DFCE3-F95F-4F37-B46B-83D7F0D7552B}"/>
              </a:ext>
            </a:extLst>
          </p:cNvPr>
          <p:cNvSpPr>
            <a:spLocks noGrp="1"/>
          </p:cNvSpPr>
          <p:nvPr>
            <p:ph type="sldNum" sz="quarter" idx="12"/>
          </p:nvPr>
        </p:nvSpPr>
        <p:spPr/>
        <p:txBody>
          <a:bodyPr/>
          <a:lstStyle/>
          <a:p>
            <a:fld id="{CF09232B-6CFF-4480-9D40-FA768B2F0533}" type="slidenum">
              <a:rPr lang="es-NI" smtClean="0"/>
              <a:t>‹Nº›</a:t>
            </a:fld>
            <a:endParaRPr lang="es-NI"/>
          </a:p>
        </p:txBody>
      </p:sp>
    </p:spTree>
    <p:extLst>
      <p:ext uri="{BB962C8B-B14F-4D97-AF65-F5344CB8AC3E}">
        <p14:creationId xmlns:p14="http://schemas.microsoft.com/office/powerpoint/2010/main" val="3838483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CD4F64-D168-4465-9609-4141E0F51E7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A84D9D47-C894-4642-BA5E-0A6A8A66A2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FFC765C-703B-4C40-8CC1-310E10619C5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texto 4">
            <a:extLst>
              <a:ext uri="{FF2B5EF4-FFF2-40B4-BE49-F238E27FC236}">
                <a16:creationId xmlns:a16="http://schemas.microsoft.com/office/drawing/2014/main" id="{D77E54A9-763B-455B-98C1-73426AF10D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462CE2D-D8F9-4951-B055-F646B13B417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7" name="Marcador de fecha 6">
            <a:extLst>
              <a:ext uri="{FF2B5EF4-FFF2-40B4-BE49-F238E27FC236}">
                <a16:creationId xmlns:a16="http://schemas.microsoft.com/office/drawing/2014/main" id="{1299FCB4-5C16-4683-9E53-C3D2DC325431}"/>
              </a:ext>
            </a:extLst>
          </p:cNvPr>
          <p:cNvSpPr>
            <a:spLocks noGrp="1"/>
          </p:cNvSpPr>
          <p:nvPr>
            <p:ph type="dt" sz="half" idx="10"/>
          </p:nvPr>
        </p:nvSpPr>
        <p:spPr/>
        <p:txBody>
          <a:bodyPr/>
          <a:lstStyle/>
          <a:p>
            <a:fld id="{5F5063BF-A8A1-410E-9CC3-01DC8395D6F8}" type="datetimeFigureOut">
              <a:rPr lang="es-NI" smtClean="0"/>
              <a:t>8/1/2022</a:t>
            </a:fld>
            <a:endParaRPr lang="es-NI"/>
          </a:p>
        </p:txBody>
      </p:sp>
      <p:sp>
        <p:nvSpPr>
          <p:cNvPr id="8" name="Marcador de pie de página 7">
            <a:extLst>
              <a:ext uri="{FF2B5EF4-FFF2-40B4-BE49-F238E27FC236}">
                <a16:creationId xmlns:a16="http://schemas.microsoft.com/office/drawing/2014/main" id="{6D73436B-5763-44F6-9102-76BF55A6D6E8}"/>
              </a:ext>
            </a:extLst>
          </p:cNvPr>
          <p:cNvSpPr>
            <a:spLocks noGrp="1"/>
          </p:cNvSpPr>
          <p:nvPr>
            <p:ph type="ftr" sz="quarter" idx="11"/>
          </p:nvPr>
        </p:nvSpPr>
        <p:spPr/>
        <p:txBody>
          <a:bodyPr/>
          <a:lstStyle/>
          <a:p>
            <a:endParaRPr lang="es-NI"/>
          </a:p>
        </p:txBody>
      </p:sp>
      <p:sp>
        <p:nvSpPr>
          <p:cNvPr id="9" name="Marcador de número de diapositiva 8">
            <a:extLst>
              <a:ext uri="{FF2B5EF4-FFF2-40B4-BE49-F238E27FC236}">
                <a16:creationId xmlns:a16="http://schemas.microsoft.com/office/drawing/2014/main" id="{DCF90B7E-736D-4E60-B777-85F2BC516AA2}"/>
              </a:ext>
            </a:extLst>
          </p:cNvPr>
          <p:cNvSpPr>
            <a:spLocks noGrp="1"/>
          </p:cNvSpPr>
          <p:nvPr>
            <p:ph type="sldNum" sz="quarter" idx="12"/>
          </p:nvPr>
        </p:nvSpPr>
        <p:spPr/>
        <p:txBody>
          <a:bodyPr/>
          <a:lstStyle/>
          <a:p>
            <a:fld id="{CF09232B-6CFF-4480-9D40-FA768B2F0533}" type="slidenum">
              <a:rPr lang="es-NI" smtClean="0"/>
              <a:t>‹Nº›</a:t>
            </a:fld>
            <a:endParaRPr lang="es-NI"/>
          </a:p>
        </p:txBody>
      </p:sp>
    </p:spTree>
    <p:extLst>
      <p:ext uri="{BB962C8B-B14F-4D97-AF65-F5344CB8AC3E}">
        <p14:creationId xmlns:p14="http://schemas.microsoft.com/office/powerpoint/2010/main" val="189506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C0C125-7899-486B-B9E3-180F334B51E4}"/>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fecha 2">
            <a:extLst>
              <a:ext uri="{FF2B5EF4-FFF2-40B4-BE49-F238E27FC236}">
                <a16:creationId xmlns:a16="http://schemas.microsoft.com/office/drawing/2014/main" id="{543F2BA5-FDFB-4FD2-8B54-D6A303A54335}"/>
              </a:ext>
            </a:extLst>
          </p:cNvPr>
          <p:cNvSpPr>
            <a:spLocks noGrp="1"/>
          </p:cNvSpPr>
          <p:nvPr>
            <p:ph type="dt" sz="half" idx="10"/>
          </p:nvPr>
        </p:nvSpPr>
        <p:spPr/>
        <p:txBody>
          <a:bodyPr/>
          <a:lstStyle/>
          <a:p>
            <a:fld id="{5F5063BF-A8A1-410E-9CC3-01DC8395D6F8}" type="datetimeFigureOut">
              <a:rPr lang="es-NI" smtClean="0"/>
              <a:t>8/1/2022</a:t>
            </a:fld>
            <a:endParaRPr lang="es-NI"/>
          </a:p>
        </p:txBody>
      </p:sp>
      <p:sp>
        <p:nvSpPr>
          <p:cNvPr id="4" name="Marcador de pie de página 3">
            <a:extLst>
              <a:ext uri="{FF2B5EF4-FFF2-40B4-BE49-F238E27FC236}">
                <a16:creationId xmlns:a16="http://schemas.microsoft.com/office/drawing/2014/main" id="{A919A701-2739-4CAA-86E8-D8B22A4C9F77}"/>
              </a:ext>
            </a:extLst>
          </p:cNvPr>
          <p:cNvSpPr>
            <a:spLocks noGrp="1"/>
          </p:cNvSpPr>
          <p:nvPr>
            <p:ph type="ftr" sz="quarter" idx="11"/>
          </p:nvPr>
        </p:nvSpPr>
        <p:spPr/>
        <p:txBody>
          <a:bodyPr/>
          <a:lstStyle/>
          <a:p>
            <a:endParaRPr lang="es-NI"/>
          </a:p>
        </p:txBody>
      </p:sp>
      <p:sp>
        <p:nvSpPr>
          <p:cNvPr id="5" name="Marcador de número de diapositiva 4">
            <a:extLst>
              <a:ext uri="{FF2B5EF4-FFF2-40B4-BE49-F238E27FC236}">
                <a16:creationId xmlns:a16="http://schemas.microsoft.com/office/drawing/2014/main" id="{5EE7692B-A5FE-4B40-BFAF-CC70A53703C9}"/>
              </a:ext>
            </a:extLst>
          </p:cNvPr>
          <p:cNvSpPr>
            <a:spLocks noGrp="1"/>
          </p:cNvSpPr>
          <p:nvPr>
            <p:ph type="sldNum" sz="quarter" idx="12"/>
          </p:nvPr>
        </p:nvSpPr>
        <p:spPr/>
        <p:txBody>
          <a:bodyPr/>
          <a:lstStyle/>
          <a:p>
            <a:fld id="{CF09232B-6CFF-4480-9D40-FA768B2F0533}" type="slidenum">
              <a:rPr lang="es-NI" smtClean="0"/>
              <a:t>‹Nº›</a:t>
            </a:fld>
            <a:endParaRPr lang="es-NI"/>
          </a:p>
        </p:txBody>
      </p:sp>
    </p:spTree>
    <p:extLst>
      <p:ext uri="{BB962C8B-B14F-4D97-AF65-F5344CB8AC3E}">
        <p14:creationId xmlns:p14="http://schemas.microsoft.com/office/powerpoint/2010/main" val="4176149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0C76DC6-9F0F-4D7F-A42C-32B4CBF5192F}"/>
              </a:ext>
            </a:extLst>
          </p:cNvPr>
          <p:cNvSpPr>
            <a:spLocks noGrp="1"/>
          </p:cNvSpPr>
          <p:nvPr>
            <p:ph type="dt" sz="half" idx="10"/>
          </p:nvPr>
        </p:nvSpPr>
        <p:spPr/>
        <p:txBody>
          <a:bodyPr/>
          <a:lstStyle/>
          <a:p>
            <a:fld id="{5F5063BF-A8A1-410E-9CC3-01DC8395D6F8}" type="datetimeFigureOut">
              <a:rPr lang="es-NI" smtClean="0"/>
              <a:t>8/1/2022</a:t>
            </a:fld>
            <a:endParaRPr lang="es-NI"/>
          </a:p>
        </p:txBody>
      </p:sp>
      <p:sp>
        <p:nvSpPr>
          <p:cNvPr id="3" name="Marcador de pie de página 2">
            <a:extLst>
              <a:ext uri="{FF2B5EF4-FFF2-40B4-BE49-F238E27FC236}">
                <a16:creationId xmlns:a16="http://schemas.microsoft.com/office/drawing/2014/main" id="{E09BDBB3-A504-40FD-B61B-92C864B30155}"/>
              </a:ext>
            </a:extLst>
          </p:cNvPr>
          <p:cNvSpPr>
            <a:spLocks noGrp="1"/>
          </p:cNvSpPr>
          <p:nvPr>
            <p:ph type="ftr" sz="quarter" idx="11"/>
          </p:nvPr>
        </p:nvSpPr>
        <p:spPr/>
        <p:txBody>
          <a:bodyPr/>
          <a:lstStyle/>
          <a:p>
            <a:endParaRPr lang="es-NI"/>
          </a:p>
        </p:txBody>
      </p:sp>
      <p:sp>
        <p:nvSpPr>
          <p:cNvPr id="4" name="Marcador de número de diapositiva 3">
            <a:extLst>
              <a:ext uri="{FF2B5EF4-FFF2-40B4-BE49-F238E27FC236}">
                <a16:creationId xmlns:a16="http://schemas.microsoft.com/office/drawing/2014/main" id="{0A051793-8EE2-42CE-9663-55FB543A149E}"/>
              </a:ext>
            </a:extLst>
          </p:cNvPr>
          <p:cNvSpPr>
            <a:spLocks noGrp="1"/>
          </p:cNvSpPr>
          <p:nvPr>
            <p:ph type="sldNum" sz="quarter" idx="12"/>
          </p:nvPr>
        </p:nvSpPr>
        <p:spPr/>
        <p:txBody>
          <a:bodyPr/>
          <a:lstStyle/>
          <a:p>
            <a:fld id="{CF09232B-6CFF-4480-9D40-FA768B2F0533}" type="slidenum">
              <a:rPr lang="es-NI" smtClean="0"/>
              <a:t>‹Nº›</a:t>
            </a:fld>
            <a:endParaRPr lang="es-NI"/>
          </a:p>
        </p:txBody>
      </p:sp>
    </p:spTree>
    <p:extLst>
      <p:ext uri="{BB962C8B-B14F-4D97-AF65-F5344CB8AC3E}">
        <p14:creationId xmlns:p14="http://schemas.microsoft.com/office/powerpoint/2010/main" val="2837316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E2F506-3E6A-42CD-A973-70D049F4E4B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CC4384AD-0B18-4B1F-8E38-FFB26A0C90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texto 3">
            <a:extLst>
              <a:ext uri="{FF2B5EF4-FFF2-40B4-BE49-F238E27FC236}">
                <a16:creationId xmlns:a16="http://schemas.microsoft.com/office/drawing/2014/main" id="{DFFD34F8-06D3-4FBD-98E2-6E85341154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66C003C-E3F2-40B3-9AD4-C07F6D95D37F}"/>
              </a:ext>
            </a:extLst>
          </p:cNvPr>
          <p:cNvSpPr>
            <a:spLocks noGrp="1"/>
          </p:cNvSpPr>
          <p:nvPr>
            <p:ph type="dt" sz="half" idx="10"/>
          </p:nvPr>
        </p:nvSpPr>
        <p:spPr/>
        <p:txBody>
          <a:bodyPr/>
          <a:lstStyle/>
          <a:p>
            <a:fld id="{5F5063BF-A8A1-410E-9CC3-01DC8395D6F8}" type="datetimeFigureOut">
              <a:rPr lang="es-NI" smtClean="0"/>
              <a:t>8/1/2022</a:t>
            </a:fld>
            <a:endParaRPr lang="es-NI"/>
          </a:p>
        </p:txBody>
      </p:sp>
      <p:sp>
        <p:nvSpPr>
          <p:cNvPr id="6" name="Marcador de pie de página 5">
            <a:extLst>
              <a:ext uri="{FF2B5EF4-FFF2-40B4-BE49-F238E27FC236}">
                <a16:creationId xmlns:a16="http://schemas.microsoft.com/office/drawing/2014/main" id="{D6CA4AC1-44E8-4640-B69B-07C9D03754CF}"/>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9300BF72-55D5-4690-8E02-C9DE2130E386}"/>
              </a:ext>
            </a:extLst>
          </p:cNvPr>
          <p:cNvSpPr>
            <a:spLocks noGrp="1"/>
          </p:cNvSpPr>
          <p:nvPr>
            <p:ph type="sldNum" sz="quarter" idx="12"/>
          </p:nvPr>
        </p:nvSpPr>
        <p:spPr/>
        <p:txBody>
          <a:bodyPr/>
          <a:lstStyle/>
          <a:p>
            <a:fld id="{CF09232B-6CFF-4480-9D40-FA768B2F0533}" type="slidenum">
              <a:rPr lang="es-NI" smtClean="0"/>
              <a:t>‹Nº›</a:t>
            </a:fld>
            <a:endParaRPr lang="es-NI"/>
          </a:p>
        </p:txBody>
      </p:sp>
    </p:spTree>
    <p:extLst>
      <p:ext uri="{BB962C8B-B14F-4D97-AF65-F5344CB8AC3E}">
        <p14:creationId xmlns:p14="http://schemas.microsoft.com/office/powerpoint/2010/main" val="2623788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19657F-4B09-4913-8804-932A0620D2E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posición de imagen 2">
            <a:extLst>
              <a:ext uri="{FF2B5EF4-FFF2-40B4-BE49-F238E27FC236}">
                <a16:creationId xmlns:a16="http://schemas.microsoft.com/office/drawing/2014/main" id="{5F95187B-2C2D-44A3-B159-2CC7BCCB75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NI"/>
          </a:p>
        </p:txBody>
      </p:sp>
      <p:sp>
        <p:nvSpPr>
          <p:cNvPr id="4" name="Marcador de texto 3">
            <a:extLst>
              <a:ext uri="{FF2B5EF4-FFF2-40B4-BE49-F238E27FC236}">
                <a16:creationId xmlns:a16="http://schemas.microsoft.com/office/drawing/2014/main" id="{7A6DE070-87E5-4EDA-B5D4-D92FC21867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688E4E6-31BF-49E7-8754-FFE4370A5304}"/>
              </a:ext>
            </a:extLst>
          </p:cNvPr>
          <p:cNvSpPr>
            <a:spLocks noGrp="1"/>
          </p:cNvSpPr>
          <p:nvPr>
            <p:ph type="dt" sz="half" idx="10"/>
          </p:nvPr>
        </p:nvSpPr>
        <p:spPr/>
        <p:txBody>
          <a:bodyPr/>
          <a:lstStyle/>
          <a:p>
            <a:fld id="{5F5063BF-A8A1-410E-9CC3-01DC8395D6F8}" type="datetimeFigureOut">
              <a:rPr lang="es-NI" smtClean="0"/>
              <a:t>8/1/2022</a:t>
            </a:fld>
            <a:endParaRPr lang="es-NI"/>
          </a:p>
        </p:txBody>
      </p:sp>
      <p:sp>
        <p:nvSpPr>
          <p:cNvPr id="6" name="Marcador de pie de página 5">
            <a:extLst>
              <a:ext uri="{FF2B5EF4-FFF2-40B4-BE49-F238E27FC236}">
                <a16:creationId xmlns:a16="http://schemas.microsoft.com/office/drawing/2014/main" id="{5C9E71CF-64F3-4CF3-86A2-DE265C7915F5}"/>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73435C52-C096-4EE7-93B7-30A8CA4C7E61}"/>
              </a:ext>
            </a:extLst>
          </p:cNvPr>
          <p:cNvSpPr>
            <a:spLocks noGrp="1"/>
          </p:cNvSpPr>
          <p:nvPr>
            <p:ph type="sldNum" sz="quarter" idx="12"/>
          </p:nvPr>
        </p:nvSpPr>
        <p:spPr/>
        <p:txBody>
          <a:bodyPr/>
          <a:lstStyle/>
          <a:p>
            <a:fld id="{CF09232B-6CFF-4480-9D40-FA768B2F0533}" type="slidenum">
              <a:rPr lang="es-NI" smtClean="0"/>
              <a:t>‹Nº›</a:t>
            </a:fld>
            <a:endParaRPr lang="es-NI"/>
          </a:p>
        </p:txBody>
      </p:sp>
    </p:spTree>
    <p:extLst>
      <p:ext uri="{BB962C8B-B14F-4D97-AF65-F5344CB8AC3E}">
        <p14:creationId xmlns:p14="http://schemas.microsoft.com/office/powerpoint/2010/main" val="3057493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FC8EA6-DB28-47E5-803E-AC45D839DB85}"/>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30C34DEC-DBD9-42E2-A6E8-0AB7E3EF9F3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CCB29CDD-3F61-4338-A0F5-843C16CD4123}"/>
              </a:ext>
            </a:extLst>
          </p:cNvPr>
          <p:cNvSpPr>
            <a:spLocks noGrp="1"/>
          </p:cNvSpPr>
          <p:nvPr>
            <p:ph type="dt" sz="half" idx="10"/>
          </p:nvPr>
        </p:nvSpPr>
        <p:spPr/>
        <p:txBody>
          <a:bodyPr/>
          <a:lstStyle/>
          <a:p>
            <a:fld id="{5F5063BF-A8A1-410E-9CC3-01DC8395D6F8}" type="datetimeFigureOut">
              <a:rPr lang="es-NI" smtClean="0"/>
              <a:t>8/1/2022</a:t>
            </a:fld>
            <a:endParaRPr lang="es-NI"/>
          </a:p>
        </p:txBody>
      </p:sp>
      <p:sp>
        <p:nvSpPr>
          <p:cNvPr id="5" name="Marcador de pie de página 4">
            <a:extLst>
              <a:ext uri="{FF2B5EF4-FFF2-40B4-BE49-F238E27FC236}">
                <a16:creationId xmlns:a16="http://schemas.microsoft.com/office/drawing/2014/main" id="{339D1160-CF07-4D31-A08F-0A511210FCC4}"/>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B2608723-5A75-4216-915F-5C3F6838D757}"/>
              </a:ext>
            </a:extLst>
          </p:cNvPr>
          <p:cNvSpPr>
            <a:spLocks noGrp="1"/>
          </p:cNvSpPr>
          <p:nvPr>
            <p:ph type="sldNum" sz="quarter" idx="12"/>
          </p:nvPr>
        </p:nvSpPr>
        <p:spPr/>
        <p:txBody>
          <a:bodyPr/>
          <a:lstStyle/>
          <a:p>
            <a:fld id="{CF09232B-6CFF-4480-9D40-FA768B2F0533}" type="slidenum">
              <a:rPr lang="es-NI" smtClean="0"/>
              <a:t>‹Nº›</a:t>
            </a:fld>
            <a:endParaRPr lang="es-NI"/>
          </a:p>
        </p:txBody>
      </p:sp>
    </p:spTree>
    <p:extLst>
      <p:ext uri="{BB962C8B-B14F-4D97-AF65-F5344CB8AC3E}">
        <p14:creationId xmlns:p14="http://schemas.microsoft.com/office/powerpoint/2010/main" val="3437030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30B7A9F-B30D-4512-8698-6D67AEA9743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9B066274-F1FF-473F-AD90-50124C17CA2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4B749DEC-895B-46B0-A6AD-D6002C6D51CD}"/>
              </a:ext>
            </a:extLst>
          </p:cNvPr>
          <p:cNvSpPr>
            <a:spLocks noGrp="1"/>
          </p:cNvSpPr>
          <p:nvPr>
            <p:ph type="dt" sz="half" idx="10"/>
          </p:nvPr>
        </p:nvSpPr>
        <p:spPr/>
        <p:txBody>
          <a:bodyPr/>
          <a:lstStyle/>
          <a:p>
            <a:fld id="{5F5063BF-A8A1-410E-9CC3-01DC8395D6F8}" type="datetimeFigureOut">
              <a:rPr lang="es-NI" smtClean="0"/>
              <a:t>8/1/2022</a:t>
            </a:fld>
            <a:endParaRPr lang="es-NI"/>
          </a:p>
        </p:txBody>
      </p:sp>
      <p:sp>
        <p:nvSpPr>
          <p:cNvPr id="5" name="Marcador de pie de página 4">
            <a:extLst>
              <a:ext uri="{FF2B5EF4-FFF2-40B4-BE49-F238E27FC236}">
                <a16:creationId xmlns:a16="http://schemas.microsoft.com/office/drawing/2014/main" id="{EA61A680-6085-482E-8F6A-2DC2FDC80E19}"/>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3521AF88-1B57-4703-A8E3-A9EE80415DD3}"/>
              </a:ext>
            </a:extLst>
          </p:cNvPr>
          <p:cNvSpPr>
            <a:spLocks noGrp="1"/>
          </p:cNvSpPr>
          <p:nvPr>
            <p:ph type="sldNum" sz="quarter" idx="12"/>
          </p:nvPr>
        </p:nvSpPr>
        <p:spPr/>
        <p:txBody>
          <a:bodyPr/>
          <a:lstStyle/>
          <a:p>
            <a:fld id="{CF09232B-6CFF-4480-9D40-FA768B2F0533}" type="slidenum">
              <a:rPr lang="es-NI" smtClean="0"/>
              <a:t>‹Nº›</a:t>
            </a:fld>
            <a:endParaRPr lang="es-NI"/>
          </a:p>
        </p:txBody>
      </p:sp>
    </p:spTree>
    <p:extLst>
      <p:ext uri="{BB962C8B-B14F-4D97-AF65-F5344CB8AC3E}">
        <p14:creationId xmlns:p14="http://schemas.microsoft.com/office/powerpoint/2010/main" val="106654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04486E6-E27B-49F9-9146-2BC68CA2AB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7195E67D-D76D-46A2-826F-CAF9618F5B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083D6FBE-02B6-47B2-B646-77C2FFD26B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5063BF-A8A1-410E-9CC3-01DC8395D6F8}" type="datetimeFigureOut">
              <a:rPr lang="es-NI" smtClean="0"/>
              <a:t>8/1/2022</a:t>
            </a:fld>
            <a:endParaRPr lang="es-NI"/>
          </a:p>
        </p:txBody>
      </p:sp>
      <p:sp>
        <p:nvSpPr>
          <p:cNvPr id="5" name="Marcador de pie de página 4">
            <a:extLst>
              <a:ext uri="{FF2B5EF4-FFF2-40B4-BE49-F238E27FC236}">
                <a16:creationId xmlns:a16="http://schemas.microsoft.com/office/drawing/2014/main" id="{D686DCF2-FDB0-4ADE-9577-5D8C8B203E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NI"/>
          </a:p>
        </p:txBody>
      </p:sp>
      <p:sp>
        <p:nvSpPr>
          <p:cNvPr id="6" name="Marcador de número de diapositiva 5">
            <a:extLst>
              <a:ext uri="{FF2B5EF4-FFF2-40B4-BE49-F238E27FC236}">
                <a16:creationId xmlns:a16="http://schemas.microsoft.com/office/drawing/2014/main" id="{E766B303-8125-45A5-BAE4-7A4D2F529B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09232B-6CFF-4480-9D40-FA768B2F0533}" type="slidenum">
              <a:rPr lang="es-NI" smtClean="0"/>
              <a:t>‹Nº›</a:t>
            </a:fld>
            <a:endParaRPr lang="es-NI"/>
          </a:p>
        </p:txBody>
      </p:sp>
    </p:spTree>
    <p:extLst>
      <p:ext uri="{BB962C8B-B14F-4D97-AF65-F5344CB8AC3E}">
        <p14:creationId xmlns:p14="http://schemas.microsoft.com/office/powerpoint/2010/main" val="2893568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612E493D-EFD5-47C0-9DB4-F1D982EFDD72}"/>
              </a:ext>
            </a:extLst>
          </p:cNvPr>
          <p:cNvSpPr/>
          <p:nvPr/>
        </p:nvSpPr>
        <p:spPr>
          <a:xfrm>
            <a:off x="3769229" y="0"/>
            <a:ext cx="4871911"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Números Índices</a:t>
            </a:r>
          </a:p>
        </p:txBody>
      </p:sp>
      <p:grpSp>
        <p:nvGrpSpPr>
          <p:cNvPr id="7" name="Grupo 6">
            <a:extLst>
              <a:ext uri="{FF2B5EF4-FFF2-40B4-BE49-F238E27FC236}">
                <a16:creationId xmlns:a16="http://schemas.microsoft.com/office/drawing/2014/main" id="{9A8DEFEB-0346-4BB2-BC50-966FD13D4E1F}"/>
              </a:ext>
            </a:extLst>
          </p:cNvPr>
          <p:cNvGrpSpPr/>
          <p:nvPr/>
        </p:nvGrpSpPr>
        <p:grpSpPr>
          <a:xfrm>
            <a:off x="425355" y="923330"/>
            <a:ext cx="11341290" cy="5355312"/>
            <a:chOff x="225898" y="2373405"/>
            <a:chExt cx="11341290" cy="5355312"/>
          </a:xfrm>
        </p:grpSpPr>
        <p:sp>
          <p:nvSpPr>
            <p:cNvPr id="6" name="CuadroTexto 5">
              <a:extLst>
                <a:ext uri="{FF2B5EF4-FFF2-40B4-BE49-F238E27FC236}">
                  <a16:creationId xmlns:a16="http://schemas.microsoft.com/office/drawing/2014/main" id="{54CA4371-1D08-4433-AFA9-95987A4D21FD}"/>
                </a:ext>
              </a:extLst>
            </p:cNvPr>
            <p:cNvSpPr txBox="1"/>
            <p:nvPr/>
          </p:nvSpPr>
          <p:spPr>
            <a:xfrm>
              <a:off x="225898" y="2373405"/>
              <a:ext cx="11341290" cy="5355312"/>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rPr>
                <a:t>En general, las magnitudes socioeconómicas varían en el tiempo y en el espacio. Con frecuencia estaremos interesados en hacer comparaciones de dichas magnitudes en dos o más periodos de tiempo o en dos o más zonas geográficas. Por ejemplo, analizar la evolución del PIB español en los últimos años, comparar el PIB de los países europeos o, lo que es de más interés, estudiar la evolución de los precios de los productos de consumo a lo largo del tiempo o comparar el nivel de desarrollo de los países del mundo.</a:t>
              </a:r>
            </a:p>
            <a:p>
              <a:endParaRPr lang="es-ES" dirty="0">
                <a:latin typeface="Verdana" panose="020B0604030504040204" pitchFamily="34" charset="0"/>
                <a:ea typeface="Verdana" panose="020B0604030504040204" pitchFamily="34" charset="0"/>
              </a:endParaRPr>
            </a:p>
            <a:p>
              <a:pPr algn="just"/>
              <a:r>
                <a:rPr lang="es-ES" dirty="0">
                  <a:latin typeface="Verdana" panose="020B0604030504040204" pitchFamily="34" charset="0"/>
                  <a:ea typeface="Verdana" panose="020B0604030504040204" pitchFamily="34" charset="0"/>
                </a:rPr>
                <a:t>Un número índice,    , es una medida estadística que recoge la evolución relativa en el periodo t de una magnitud económica (precios, producciones, …) de un conjunto de bienes o productos respecto de un periodo base o de referencia 0. También permite comparar una magnitud económica en una zona geográfica respecto de una zona de referencia. Por tanto, permiten comparar el estado de un fenómeno económico (precios, producción,...) en dos situaciones y es una herramienta imprescindible en los estudios de coyuntura. Utilizaremos la notación de los índices temporales, cuyo uso es más habitual que los espaciales, si bien los desarrollos se pueden generalizar en gran medida a estos últimos.</a:t>
              </a:r>
            </a:p>
            <a:p>
              <a:pPr algn="just"/>
              <a:endParaRPr lang="es-ES"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s-NI" dirty="0">
                  <a:latin typeface="Verdana" panose="020B0604030504040204" pitchFamily="34" charset="0"/>
                  <a:ea typeface="Verdana" panose="020B0604030504040204" pitchFamily="34" charset="0"/>
                </a:rPr>
                <a:t>Período base o de referencia: período de tiempo fijado arbitrariamente que se toma como origen de las comparaciones.</a:t>
              </a:r>
            </a:p>
            <a:p>
              <a:pPr marL="285750" indent="-285750" algn="just">
                <a:buFont typeface="Arial" panose="020B0604020202020204" pitchFamily="34" charset="0"/>
                <a:buChar char="•"/>
              </a:pPr>
              <a:r>
                <a:rPr lang="es-NI" dirty="0">
                  <a:latin typeface="Verdana" panose="020B0604030504040204" pitchFamily="34" charset="0"/>
                  <a:ea typeface="Verdana" panose="020B0604030504040204" pitchFamily="34" charset="0"/>
                </a:rPr>
                <a:t>Período actual o corriente: período de tiempo que se compara con el período base.</a:t>
              </a:r>
            </a:p>
          </p:txBody>
        </p:sp>
        <p:pic>
          <p:nvPicPr>
            <p:cNvPr id="1028" name="Picture 4">
              <a:extLst>
                <a:ext uri="{FF2B5EF4-FFF2-40B4-BE49-F238E27FC236}">
                  <a16:creationId xmlns:a16="http://schemas.microsoft.com/office/drawing/2014/main" id="{8A2F6DE1-9FF1-420B-B4CF-093256AA62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4292" y="4365071"/>
              <a:ext cx="238125" cy="2286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06120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612E493D-EFD5-47C0-9DB4-F1D982EFDD72}"/>
              </a:ext>
            </a:extLst>
          </p:cNvPr>
          <p:cNvSpPr/>
          <p:nvPr/>
        </p:nvSpPr>
        <p:spPr>
          <a:xfrm>
            <a:off x="3769229" y="0"/>
            <a:ext cx="4871911"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Números Índices</a:t>
            </a:r>
          </a:p>
        </p:txBody>
      </p:sp>
      <p:sp>
        <p:nvSpPr>
          <p:cNvPr id="6" name="CuadroTexto 5">
            <a:extLst>
              <a:ext uri="{FF2B5EF4-FFF2-40B4-BE49-F238E27FC236}">
                <a16:creationId xmlns:a16="http://schemas.microsoft.com/office/drawing/2014/main" id="{54CA4371-1D08-4433-AFA9-95987A4D21FD}"/>
              </a:ext>
            </a:extLst>
          </p:cNvPr>
          <p:cNvSpPr txBox="1"/>
          <p:nvPr/>
        </p:nvSpPr>
        <p:spPr>
          <a:xfrm>
            <a:off x="425355" y="923330"/>
            <a:ext cx="11341290" cy="3970318"/>
          </a:xfrm>
          <a:prstGeom prst="rect">
            <a:avLst/>
          </a:prstGeom>
          <a:noFill/>
        </p:spPr>
        <p:txBody>
          <a:bodyPr wrap="square" rtlCol="0">
            <a:spAutoFit/>
          </a:bodyPr>
          <a:lstStyle/>
          <a:p>
            <a:pPr algn="just"/>
            <a:r>
              <a:rPr lang="es-ES" b="1" i="0" dirty="0">
                <a:solidFill>
                  <a:srgbClr val="000000"/>
                </a:solidFill>
                <a:effectLst/>
                <a:latin typeface="Arial, Helvetica, sans-serif"/>
              </a:rPr>
              <a:t>Tipos de números índices</a:t>
            </a:r>
          </a:p>
          <a:p>
            <a:pPr algn="just"/>
            <a:endParaRPr lang="es-ES" b="0" i="0" dirty="0">
              <a:solidFill>
                <a:srgbClr val="000000"/>
              </a:solidFill>
              <a:effectLst/>
              <a:latin typeface="Arial" panose="020B0604020202020204" pitchFamily="34" charset="0"/>
            </a:endParaRPr>
          </a:p>
          <a:p>
            <a:pPr algn="just"/>
            <a:r>
              <a:rPr lang="es-ES" b="0" i="0" dirty="0">
                <a:solidFill>
                  <a:srgbClr val="000000"/>
                </a:solidFill>
                <a:effectLst/>
                <a:latin typeface="Arial, Helvetica, sans-serif"/>
              </a:rPr>
              <a:t>Según que recojan la evolución de una o más magnitudes:</a:t>
            </a:r>
          </a:p>
          <a:p>
            <a:pPr algn="just"/>
            <a:endParaRPr lang="es-ES" b="0" i="0" dirty="0">
              <a:solidFill>
                <a:srgbClr val="000000"/>
              </a:solidFill>
              <a:effectLst/>
              <a:latin typeface="Arial" panose="020B0604020202020204" pitchFamily="34" charset="0"/>
            </a:endParaRPr>
          </a:p>
          <a:p>
            <a:pPr marL="285750" indent="-285750" algn="just">
              <a:buFont typeface="Arial" panose="020B0604020202020204" pitchFamily="34" charset="0"/>
              <a:buChar char="•"/>
            </a:pPr>
            <a:r>
              <a:rPr lang="es-ES" b="0" i="0" dirty="0">
                <a:solidFill>
                  <a:srgbClr val="000000"/>
                </a:solidFill>
                <a:effectLst/>
                <a:latin typeface="Arial, Helvetica, sans-serif"/>
              </a:rPr>
              <a:t>Índices simples: recogen la evolución del precio, la cantidad o el valor de un único bien o producto.</a:t>
            </a:r>
            <a:endParaRPr lang="es-ES" b="0" i="0" dirty="0">
              <a:solidFill>
                <a:srgbClr val="000000"/>
              </a:solidFill>
              <a:effectLst/>
              <a:latin typeface="Arial" panose="020B0604020202020204" pitchFamily="34" charset="0"/>
            </a:endParaRPr>
          </a:p>
          <a:p>
            <a:pPr marL="285750" indent="-285750" algn="just">
              <a:buFont typeface="Arial" panose="020B0604020202020204" pitchFamily="34" charset="0"/>
              <a:buChar char="•"/>
            </a:pPr>
            <a:r>
              <a:rPr lang="es-ES" b="0" i="0" dirty="0">
                <a:solidFill>
                  <a:srgbClr val="000000"/>
                </a:solidFill>
                <a:effectLst/>
                <a:latin typeface="Arial, Helvetica, sans-serif"/>
              </a:rPr>
              <a:t>Índices compuestos, complejos o sintéticos: recogen la evolución conjunta de los precios, las cantidades o los valores de </a:t>
            </a:r>
            <a:r>
              <a:rPr lang="es-ES" b="0" i="1" dirty="0">
                <a:solidFill>
                  <a:srgbClr val="000000"/>
                </a:solidFill>
                <a:effectLst/>
                <a:latin typeface="Arial, Helvetica, sans-serif"/>
              </a:rPr>
              <a:t>k</a:t>
            </a:r>
            <a:r>
              <a:rPr lang="es-ES" b="0" i="0" dirty="0">
                <a:solidFill>
                  <a:srgbClr val="000000"/>
                </a:solidFill>
                <a:effectLst/>
                <a:latin typeface="Arial, Helvetica, sans-serif"/>
              </a:rPr>
              <a:t> bienes o productos.</a:t>
            </a:r>
            <a:r>
              <a:rPr lang="es-ES" b="0" i="0" dirty="0">
                <a:solidFill>
                  <a:srgbClr val="000000"/>
                </a:solidFill>
                <a:effectLst/>
                <a:latin typeface="Arial" panose="020B0604020202020204" pitchFamily="34" charset="0"/>
              </a:rPr>
              <a:t> A su vez, los índices complejos se clasifican como:</a:t>
            </a:r>
          </a:p>
          <a:p>
            <a:pPr marL="1350963" indent="-285750" algn="just">
              <a:buFont typeface="Wingdings" panose="05000000000000000000" pitchFamily="2" charset="2"/>
              <a:buChar char="q"/>
            </a:pPr>
            <a:r>
              <a:rPr lang="es-ES" b="0" i="0" dirty="0">
                <a:solidFill>
                  <a:srgbClr val="000000"/>
                </a:solidFill>
                <a:effectLst/>
                <a:latin typeface="Arial" panose="020B0604020202020204" pitchFamily="34" charset="0"/>
              </a:rPr>
              <a:t>Sin ponderar: todas las magnitudes o componentes tiene la misma importancia, es decir, los mismos pesos. Los k bienes o productos se consideran con el mismo peso.</a:t>
            </a:r>
          </a:p>
          <a:p>
            <a:pPr marL="1350963" indent="-285750" algn="just">
              <a:buFont typeface="Wingdings" panose="05000000000000000000" pitchFamily="2" charset="2"/>
              <a:buChar char="q"/>
            </a:pPr>
            <a:r>
              <a:rPr lang="es-ES" b="0" i="0" dirty="0">
                <a:solidFill>
                  <a:srgbClr val="000000"/>
                </a:solidFill>
                <a:effectLst/>
                <a:latin typeface="Arial" panose="020B0604020202020204" pitchFamily="34" charset="0"/>
              </a:rPr>
              <a:t>Ponderados: cada magnitud o componente tiene un peso diferente asignado en función de diversos criterios. Los k bienes o productos se consideran con distinto peso, peso que recoge la importancia relativa de cada uno de los bienes.</a:t>
            </a:r>
          </a:p>
          <a:p>
            <a:pPr algn="just"/>
            <a:endParaRPr lang="es-ES" dirty="0">
              <a:solidFill>
                <a:srgbClr val="000000"/>
              </a:solidFill>
              <a:latin typeface="Arial" panose="020B0604020202020204" pitchFamily="34" charset="0"/>
            </a:endParaRPr>
          </a:p>
          <a:p>
            <a:pPr algn="just"/>
            <a:endParaRPr lang="es-ES" dirty="0">
              <a:solidFill>
                <a:srgbClr val="000000"/>
              </a:solidFill>
              <a:latin typeface="Arial" panose="020B0604020202020204" pitchFamily="34" charset="0"/>
            </a:endParaRPr>
          </a:p>
        </p:txBody>
      </p:sp>
      <p:graphicFrame>
        <p:nvGraphicFramePr>
          <p:cNvPr id="2" name="Tabla 1">
            <a:extLst>
              <a:ext uri="{FF2B5EF4-FFF2-40B4-BE49-F238E27FC236}">
                <a16:creationId xmlns:a16="http://schemas.microsoft.com/office/drawing/2014/main" id="{BA75F6BB-730B-4DF8-A8FE-6E2AF64E75C3}"/>
              </a:ext>
            </a:extLst>
          </p:cNvPr>
          <p:cNvGraphicFramePr>
            <a:graphicFrameLocks noGrp="1"/>
          </p:cNvGraphicFramePr>
          <p:nvPr>
            <p:extLst>
              <p:ext uri="{D42A27DB-BD31-4B8C-83A1-F6EECF244321}">
                <p14:modId xmlns:p14="http://schemas.microsoft.com/office/powerpoint/2010/main" val="15576683"/>
              </p:ext>
            </p:extLst>
          </p:nvPr>
        </p:nvGraphicFramePr>
        <p:xfrm>
          <a:off x="1363980" y="4521631"/>
          <a:ext cx="10182028" cy="1920240"/>
        </p:xfrm>
        <a:graphic>
          <a:graphicData uri="http://schemas.openxmlformats.org/drawingml/2006/table">
            <a:tbl>
              <a:tblPr>
                <a:tableStyleId>{2D5ABB26-0587-4C30-8999-92F81FD0307C}</a:tableStyleId>
              </a:tblPr>
              <a:tblGrid>
                <a:gridCol w="2545507">
                  <a:extLst>
                    <a:ext uri="{9D8B030D-6E8A-4147-A177-3AD203B41FA5}">
                      <a16:colId xmlns:a16="http://schemas.microsoft.com/office/drawing/2014/main" val="2901774305"/>
                    </a:ext>
                  </a:extLst>
                </a:gridCol>
                <a:gridCol w="2545507">
                  <a:extLst>
                    <a:ext uri="{9D8B030D-6E8A-4147-A177-3AD203B41FA5}">
                      <a16:colId xmlns:a16="http://schemas.microsoft.com/office/drawing/2014/main" val="2445514890"/>
                    </a:ext>
                  </a:extLst>
                </a:gridCol>
                <a:gridCol w="2545507">
                  <a:extLst>
                    <a:ext uri="{9D8B030D-6E8A-4147-A177-3AD203B41FA5}">
                      <a16:colId xmlns:a16="http://schemas.microsoft.com/office/drawing/2014/main" val="1268090767"/>
                    </a:ext>
                  </a:extLst>
                </a:gridCol>
                <a:gridCol w="2545507">
                  <a:extLst>
                    <a:ext uri="{9D8B030D-6E8A-4147-A177-3AD203B41FA5}">
                      <a16:colId xmlns:a16="http://schemas.microsoft.com/office/drawing/2014/main" val="2236380683"/>
                    </a:ext>
                  </a:extLst>
                </a:gridCol>
              </a:tblGrid>
              <a:tr h="0">
                <a:tc>
                  <a:txBody>
                    <a:bodyPr/>
                    <a:lstStyle/>
                    <a:p>
                      <a:br>
                        <a:rPr lang="es-NI" dirty="0"/>
                      </a:br>
                      <a:endParaRPr lang="es-NI"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NI" dirty="0"/>
                        <a:t> Simples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NI"/>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NI"/>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4190624"/>
                  </a:ext>
                </a:extLst>
              </a:tr>
              <a:tr h="0">
                <a:tc>
                  <a:txBody>
                    <a:bodyPr/>
                    <a:lstStyle/>
                    <a:p>
                      <a:r>
                        <a:rPr lang="es-NI"/>
                        <a:t>Números índices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lang="es-NI"/>
                        <a:t>Compuestos o complejos</a:t>
                      </a:r>
                      <a:br>
                        <a:rPr lang="es-NI"/>
                      </a:br>
                      <a:endParaRPr lang="es-NI"/>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NI"/>
                        <a:t>Sin ponderar</a:t>
                      </a:r>
                      <a:br>
                        <a:rPr lang="es-NI"/>
                      </a:br>
                      <a:endParaRPr lang="es-NI"/>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NI"/>
                        <a:t>Sauerbeck, Brandstreet-Dûtot,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47778"/>
                  </a:ext>
                </a:extLst>
              </a:tr>
              <a:tr h="0">
                <a:tc>
                  <a:txBody>
                    <a:bodyPr/>
                    <a:lstStyle/>
                    <a:p>
                      <a:r>
                        <a:rPr lang="es-NI"/>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s-NI"/>
                    </a:p>
                  </a:txBody>
                  <a:tcPr/>
                </a:tc>
                <a:tc>
                  <a:txBody>
                    <a:bodyPr/>
                    <a:lstStyle/>
                    <a:p>
                      <a:r>
                        <a:rPr lang="es-NI"/>
                        <a:t>Ponderados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NI" dirty="0"/>
                        <a:t>Laspeyres, Paasche, </a:t>
                      </a:r>
                      <a:r>
                        <a:rPr lang="es-NI" dirty="0" err="1"/>
                        <a:t>Edgeworth</a:t>
                      </a:r>
                      <a:r>
                        <a:rPr lang="es-NI" dirty="0"/>
                        <a:t>, Fisher,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0208915"/>
                  </a:ext>
                </a:extLst>
              </a:tr>
            </a:tbl>
          </a:graphicData>
        </a:graphic>
      </p:graphicFrame>
    </p:spTree>
    <p:extLst>
      <p:ext uri="{BB962C8B-B14F-4D97-AF65-F5344CB8AC3E}">
        <p14:creationId xmlns:p14="http://schemas.microsoft.com/office/powerpoint/2010/main" val="4278575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612E493D-EFD5-47C0-9DB4-F1D982EFDD72}"/>
              </a:ext>
            </a:extLst>
          </p:cNvPr>
          <p:cNvSpPr/>
          <p:nvPr/>
        </p:nvSpPr>
        <p:spPr>
          <a:xfrm>
            <a:off x="3769229" y="0"/>
            <a:ext cx="4871911"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Números Índices</a:t>
            </a:r>
          </a:p>
        </p:txBody>
      </p:sp>
      <p:sp>
        <p:nvSpPr>
          <p:cNvPr id="6" name="CuadroTexto 5">
            <a:extLst>
              <a:ext uri="{FF2B5EF4-FFF2-40B4-BE49-F238E27FC236}">
                <a16:creationId xmlns:a16="http://schemas.microsoft.com/office/drawing/2014/main" id="{54CA4371-1D08-4433-AFA9-95987A4D21FD}"/>
              </a:ext>
            </a:extLst>
          </p:cNvPr>
          <p:cNvSpPr txBox="1"/>
          <p:nvPr/>
        </p:nvSpPr>
        <p:spPr>
          <a:xfrm>
            <a:off x="425355" y="923330"/>
            <a:ext cx="11341290" cy="2308324"/>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rPr>
              <a:t>Según el tipo de magnitud:</a:t>
            </a:r>
          </a:p>
          <a:p>
            <a:pPr algn="just"/>
            <a:endParaRPr lang="es-ES" dirty="0">
              <a:latin typeface="Verdana" panose="020B0604030504040204" pitchFamily="34" charset="0"/>
              <a:ea typeface="Verdana" panose="020B0604030504040204" pitchFamily="34" charset="0"/>
            </a:endParaRPr>
          </a:p>
          <a:p>
            <a:pPr marL="285750" indent="-285750" algn="just">
              <a:buFont typeface="Arial" panose="020B0604020202020204" pitchFamily="34" charset="0"/>
              <a:buChar char="•"/>
            </a:pPr>
            <a:r>
              <a:rPr lang="es-ES" dirty="0">
                <a:latin typeface="Verdana" panose="020B0604030504040204" pitchFamily="34" charset="0"/>
                <a:ea typeface="Verdana" panose="020B0604030504040204" pitchFamily="34" charset="0"/>
              </a:rPr>
              <a:t>Índices de precios: estudian la evolución de los precios de un bien o de un conjunto de bienes.</a:t>
            </a:r>
          </a:p>
          <a:p>
            <a:pPr marL="285750" indent="-285750" algn="just">
              <a:buFont typeface="Arial" panose="020B0604020202020204" pitchFamily="34" charset="0"/>
              <a:buChar char="•"/>
            </a:pPr>
            <a:r>
              <a:rPr lang="es-ES" dirty="0">
                <a:latin typeface="Verdana" panose="020B0604030504040204" pitchFamily="34" charset="0"/>
                <a:ea typeface="Verdana" panose="020B0604030504040204" pitchFamily="34" charset="0"/>
              </a:rPr>
              <a:t>Índices de cantidades: estudian la evolución de la cantidad producida o consumida de un bien o de un conjunto de bienes.</a:t>
            </a:r>
          </a:p>
          <a:p>
            <a:pPr marL="285750" indent="-285750" algn="just">
              <a:buFont typeface="Arial" panose="020B0604020202020204" pitchFamily="34" charset="0"/>
              <a:buChar char="•"/>
            </a:pPr>
            <a:r>
              <a:rPr lang="es-ES" dirty="0">
                <a:latin typeface="Verdana" panose="020B0604030504040204" pitchFamily="34" charset="0"/>
                <a:ea typeface="Verdana" panose="020B0604030504040204" pitchFamily="34" charset="0"/>
              </a:rPr>
              <a:t>Índices de valores: estudian la evolución del valor de un bien o de un conjunto de bienes.</a:t>
            </a:r>
          </a:p>
          <a:p>
            <a:pPr algn="just"/>
            <a:endParaRPr lang="es-ES" dirty="0">
              <a:latin typeface="Verdana" panose="020B0604030504040204" pitchFamily="34" charset="0"/>
              <a:ea typeface="Verdana" panose="020B0604030504040204" pitchFamily="34" charset="0"/>
            </a:endParaRPr>
          </a:p>
        </p:txBody>
      </p:sp>
      <p:graphicFrame>
        <p:nvGraphicFramePr>
          <p:cNvPr id="2" name="Tabla 1">
            <a:extLst>
              <a:ext uri="{FF2B5EF4-FFF2-40B4-BE49-F238E27FC236}">
                <a16:creationId xmlns:a16="http://schemas.microsoft.com/office/drawing/2014/main" id="{6DD82F73-5A9C-4EEB-A451-F9E297104266}"/>
              </a:ext>
            </a:extLst>
          </p:cNvPr>
          <p:cNvGraphicFramePr>
            <a:graphicFrameLocks noGrp="1"/>
          </p:cNvGraphicFramePr>
          <p:nvPr>
            <p:extLst>
              <p:ext uri="{D42A27DB-BD31-4B8C-83A1-F6EECF244321}">
                <p14:modId xmlns:p14="http://schemas.microsoft.com/office/powerpoint/2010/main" val="775245533"/>
              </p:ext>
            </p:extLst>
          </p:nvPr>
        </p:nvGraphicFramePr>
        <p:xfrm>
          <a:off x="3361944" y="3452654"/>
          <a:ext cx="5468112" cy="1097280"/>
        </p:xfrm>
        <a:graphic>
          <a:graphicData uri="http://schemas.openxmlformats.org/drawingml/2006/table">
            <a:tbl>
              <a:tblPr>
                <a:tableStyleId>{2D5ABB26-0587-4C30-8999-92F81FD0307C}</a:tableStyleId>
              </a:tblPr>
              <a:tblGrid>
                <a:gridCol w="2734056">
                  <a:extLst>
                    <a:ext uri="{9D8B030D-6E8A-4147-A177-3AD203B41FA5}">
                      <a16:colId xmlns:a16="http://schemas.microsoft.com/office/drawing/2014/main" val="3859197451"/>
                    </a:ext>
                  </a:extLst>
                </a:gridCol>
                <a:gridCol w="2734056">
                  <a:extLst>
                    <a:ext uri="{9D8B030D-6E8A-4147-A177-3AD203B41FA5}">
                      <a16:colId xmlns:a16="http://schemas.microsoft.com/office/drawing/2014/main" val="3924535093"/>
                    </a:ext>
                  </a:extLst>
                </a:gridCol>
              </a:tblGrid>
              <a:tr h="0">
                <a:tc>
                  <a:txBody>
                    <a:bodyPr/>
                    <a:lstStyle/>
                    <a:p>
                      <a:r>
                        <a:rPr lang="es-NI"/>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NI"/>
                        <a:t>Precios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5696579"/>
                  </a:ext>
                </a:extLst>
              </a:tr>
              <a:tr h="0">
                <a:tc>
                  <a:txBody>
                    <a:bodyPr/>
                    <a:lstStyle/>
                    <a:p>
                      <a:r>
                        <a:rPr lang="es-NI"/>
                        <a:t>Números índices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NI"/>
                        <a:t>Cantidades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4004366"/>
                  </a:ext>
                </a:extLst>
              </a:tr>
              <a:tr h="190500">
                <a:tc>
                  <a:txBody>
                    <a:bodyPr/>
                    <a:lstStyle/>
                    <a:p>
                      <a:r>
                        <a:rPr lang="es-NI"/>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NI" dirty="0"/>
                        <a:t>Valores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0076089"/>
                  </a:ext>
                </a:extLst>
              </a:tr>
            </a:tbl>
          </a:graphicData>
        </a:graphic>
      </p:graphicFrame>
    </p:spTree>
    <p:extLst>
      <p:ext uri="{BB962C8B-B14F-4D97-AF65-F5344CB8AC3E}">
        <p14:creationId xmlns:p14="http://schemas.microsoft.com/office/powerpoint/2010/main" val="81924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612E493D-EFD5-47C0-9DB4-F1D982EFDD72}"/>
              </a:ext>
            </a:extLst>
          </p:cNvPr>
          <p:cNvSpPr/>
          <p:nvPr/>
        </p:nvSpPr>
        <p:spPr>
          <a:xfrm>
            <a:off x="2445151" y="0"/>
            <a:ext cx="7520072"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Números Índices: Ejemplo</a:t>
            </a:r>
          </a:p>
        </p:txBody>
      </p:sp>
      <p:sp>
        <p:nvSpPr>
          <p:cNvPr id="6" name="CuadroTexto 5">
            <a:extLst>
              <a:ext uri="{FF2B5EF4-FFF2-40B4-BE49-F238E27FC236}">
                <a16:creationId xmlns:a16="http://schemas.microsoft.com/office/drawing/2014/main" id="{54CA4371-1D08-4433-AFA9-95987A4D21FD}"/>
              </a:ext>
            </a:extLst>
          </p:cNvPr>
          <p:cNvSpPr txBox="1"/>
          <p:nvPr/>
        </p:nvSpPr>
        <p:spPr>
          <a:xfrm>
            <a:off x="425355" y="923330"/>
            <a:ext cx="11341290" cy="4524315"/>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rPr>
              <a:t>La tabla siguiente recoge los precios y el consumo de tres artículos básicos en los años 1991 y 1992:</a:t>
            </a: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r>
              <a:rPr lang="es-ES" dirty="0">
                <a:latin typeface="Verdana" panose="020B0604030504040204" pitchFamily="34" charset="0"/>
                <a:ea typeface="Verdana" panose="020B0604030504040204" pitchFamily="34" charset="0"/>
              </a:rPr>
              <a:t>a) Hallar los índices de precios de Laspeyres y Paasche para el conjunto de artículos utilizando como año base 1991.</a:t>
            </a:r>
          </a:p>
          <a:p>
            <a:pPr algn="just"/>
            <a:r>
              <a:rPr lang="es-ES" dirty="0">
                <a:latin typeface="Verdana" panose="020B0604030504040204" pitchFamily="34" charset="0"/>
                <a:ea typeface="Verdana" panose="020B0604030504040204" pitchFamily="34" charset="0"/>
              </a:rPr>
              <a:t>b) El consumo de mantequilla de una familia fue de 1500 pts. en 1991 y de 1950 en 1992. Hallar el incremento real, en porcentaje, del consumo de mantequilla, utilizando el índice más apropiado de los calculados en el apartado anterior.</a:t>
            </a:r>
          </a:p>
          <a:p>
            <a:pPr algn="just"/>
            <a:endParaRPr lang="es-NI" dirty="0">
              <a:latin typeface="Verdana" panose="020B0604030504040204" pitchFamily="34" charset="0"/>
              <a:ea typeface="Verdana" panose="020B0604030504040204" pitchFamily="34" charset="0"/>
            </a:endParaRPr>
          </a:p>
        </p:txBody>
      </p:sp>
      <p:graphicFrame>
        <p:nvGraphicFramePr>
          <p:cNvPr id="2" name="Tabla 1">
            <a:extLst>
              <a:ext uri="{FF2B5EF4-FFF2-40B4-BE49-F238E27FC236}">
                <a16:creationId xmlns:a16="http://schemas.microsoft.com/office/drawing/2014/main" id="{BA169430-0028-4867-8D3D-370338401465}"/>
              </a:ext>
            </a:extLst>
          </p:cNvPr>
          <p:cNvGraphicFramePr>
            <a:graphicFrameLocks noGrp="1"/>
          </p:cNvGraphicFramePr>
          <p:nvPr>
            <p:extLst>
              <p:ext uri="{D42A27DB-BD31-4B8C-83A1-F6EECF244321}">
                <p14:modId xmlns:p14="http://schemas.microsoft.com/office/powerpoint/2010/main" val="2994773564"/>
              </p:ext>
            </p:extLst>
          </p:nvPr>
        </p:nvGraphicFramePr>
        <p:xfrm>
          <a:off x="3030372" y="1703011"/>
          <a:ext cx="6441174" cy="1645920"/>
        </p:xfrm>
        <a:graphic>
          <a:graphicData uri="http://schemas.openxmlformats.org/drawingml/2006/table">
            <a:tbl>
              <a:tblPr>
                <a:tableStyleId>{2D5ABB26-0587-4C30-8999-92F81FD0307C}</a:tableStyleId>
              </a:tblPr>
              <a:tblGrid>
                <a:gridCol w="1030588">
                  <a:extLst>
                    <a:ext uri="{9D8B030D-6E8A-4147-A177-3AD203B41FA5}">
                      <a16:colId xmlns:a16="http://schemas.microsoft.com/office/drawing/2014/main" val="677505939"/>
                    </a:ext>
                  </a:extLst>
                </a:gridCol>
                <a:gridCol w="1159411">
                  <a:extLst>
                    <a:ext uri="{9D8B030D-6E8A-4147-A177-3AD203B41FA5}">
                      <a16:colId xmlns:a16="http://schemas.microsoft.com/office/drawing/2014/main" val="470000079"/>
                    </a:ext>
                  </a:extLst>
                </a:gridCol>
                <a:gridCol w="1095000">
                  <a:extLst>
                    <a:ext uri="{9D8B030D-6E8A-4147-A177-3AD203B41FA5}">
                      <a16:colId xmlns:a16="http://schemas.microsoft.com/office/drawing/2014/main" val="3786275596"/>
                    </a:ext>
                  </a:extLst>
                </a:gridCol>
                <a:gridCol w="1030588">
                  <a:extLst>
                    <a:ext uri="{9D8B030D-6E8A-4147-A177-3AD203B41FA5}">
                      <a16:colId xmlns:a16="http://schemas.microsoft.com/office/drawing/2014/main" val="1068585105"/>
                    </a:ext>
                  </a:extLst>
                </a:gridCol>
                <a:gridCol w="1159411">
                  <a:extLst>
                    <a:ext uri="{9D8B030D-6E8A-4147-A177-3AD203B41FA5}">
                      <a16:colId xmlns:a16="http://schemas.microsoft.com/office/drawing/2014/main" val="4026405230"/>
                    </a:ext>
                  </a:extLst>
                </a:gridCol>
                <a:gridCol w="966176">
                  <a:extLst>
                    <a:ext uri="{9D8B030D-6E8A-4147-A177-3AD203B41FA5}">
                      <a16:colId xmlns:a16="http://schemas.microsoft.com/office/drawing/2014/main" val="2959634527"/>
                    </a:ext>
                  </a:extLst>
                </a:gridCol>
              </a:tblGrid>
              <a:tr h="0">
                <a:tc rowSpan="2">
                  <a:txBody>
                    <a:bodyPr/>
                    <a:lstStyle/>
                    <a:p>
                      <a:r>
                        <a:rPr lang="es-NI">
                          <a:solidFill>
                            <a:srgbClr val="000000"/>
                          </a:solidFill>
                          <a:effectLst/>
                        </a:rPr>
                        <a:t>Artículo</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lang="es-NI">
                          <a:solidFill>
                            <a:srgbClr val="000000"/>
                          </a:solidFill>
                          <a:effectLst/>
                        </a:rPr>
                        <a:t>Unidades</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s-NI">
                          <a:solidFill>
                            <a:srgbClr val="000000"/>
                          </a:solidFill>
                          <a:effectLst/>
                        </a:rPr>
                        <a:t>Precio promedio</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tc gridSpan="2">
                  <a:txBody>
                    <a:bodyPr/>
                    <a:lstStyle/>
                    <a:p>
                      <a:pPr algn="ctr"/>
                      <a:r>
                        <a:rPr lang="es-NI">
                          <a:solidFill>
                            <a:srgbClr val="000000"/>
                          </a:solidFill>
                          <a:effectLst/>
                        </a:rPr>
                        <a:t>Consumo promedio</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extLst>
                  <a:ext uri="{0D108BD9-81ED-4DB2-BD59-A6C34878D82A}">
                    <a16:rowId xmlns:a16="http://schemas.microsoft.com/office/drawing/2014/main" val="846104393"/>
                  </a:ext>
                </a:extLst>
              </a:tr>
              <a:tr h="0">
                <a:tc vMerge="1">
                  <a:txBody>
                    <a:bodyPr/>
                    <a:lstStyle/>
                    <a:p>
                      <a:endParaRPr lang="es-NI"/>
                    </a:p>
                  </a:txBody>
                  <a:tcPr/>
                </a:tc>
                <a:tc vMerge="1">
                  <a:txBody>
                    <a:bodyPr/>
                    <a:lstStyle/>
                    <a:p>
                      <a:endParaRPr lang="es-NI"/>
                    </a:p>
                  </a:txBody>
                  <a:tcPr/>
                </a:tc>
                <a:tc>
                  <a:txBody>
                    <a:bodyPr/>
                    <a:lstStyle/>
                    <a:p>
                      <a:pPr algn="ctr"/>
                      <a:r>
                        <a:rPr lang="es-NI">
                          <a:solidFill>
                            <a:srgbClr val="000000"/>
                          </a:solidFill>
                          <a:effectLst/>
                        </a:rPr>
                        <a:t>1991</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NI">
                          <a:solidFill>
                            <a:srgbClr val="000000"/>
                          </a:solidFill>
                          <a:effectLst/>
                        </a:rPr>
                        <a:t>1992</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NI">
                          <a:solidFill>
                            <a:srgbClr val="000000"/>
                          </a:solidFill>
                          <a:effectLst/>
                        </a:rPr>
                        <a:t>1991</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NI">
                          <a:solidFill>
                            <a:srgbClr val="000000"/>
                          </a:solidFill>
                          <a:effectLst/>
                        </a:rPr>
                        <a:t>1992</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3882000"/>
                  </a:ext>
                </a:extLst>
              </a:tr>
              <a:tr h="581025">
                <a:tc>
                  <a:txBody>
                    <a:bodyPr/>
                    <a:lstStyle/>
                    <a:p>
                      <a:r>
                        <a:rPr lang="es-NI" dirty="0">
                          <a:solidFill>
                            <a:srgbClr val="000000"/>
                          </a:solidFill>
                          <a:effectLst/>
                        </a:rPr>
                        <a:t>Leche</a:t>
                      </a:r>
                      <a:br>
                        <a:rPr lang="es-NI" dirty="0">
                          <a:solidFill>
                            <a:srgbClr val="000000"/>
                          </a:solidFill>
                          <a:effectLst/>
                        </a:rPr>
                      </a:br>
                      <a:r>
                        <a:rPr lang="es-NI" dirty="0">
                          <a:solidFill>
                            <a:srgbClr val="000000"/>
                          </a:solidFill>
                          <a:effectLst/>
                        </a:rPr>
                        <a:t>Pan</a:t>
                      </a:r>
                      <a:br>
                        <a:rPr lang="es-NI" dirty="0">
                          <a:solidFill>
                            <a:srgbClr val="000000"/>
                          </a:solidFill>
                          <a:effectLst/>
                        </a:rPr>
                      </a:br>
                      <a:r>
                        <a:rPr lang="es-NI" dirty="0">
                          <a:solidFill>
                            <a:srgbClr val="000000"/>
                          </a:solidFill>
                          <a:effectLst/>
                        </a:rPr>
                        <a:t>Huevos</a:t>
                      </a:r>
                      <a:endParaRPr lang="es-NI" i="0" dirty="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NI" dirty="0">
                          <a:solidFill>
                            <a:srgbClr val="000000"/>
                          </a:solidFill>
                          <a:effectLst/>
                        </a:rPr>
                        <a:t>Litro</a:t>
                      </a:r>
                      <a:br>
                        <a:rPr lang="es-NI" dirty="0">
                          <a:solidFill>
                            <a:srgbClr val="000000"/>
                          </a:solidFill>
                          <a:effectLst/>
                        </a:rPr>
                      </a:br>
                      <a:r>
                        <a:rPr lang="es-NI" dirty="0">
                          <a:solidFill>
                            <a:srgbClr val="000000"/>
                          </a:solidFill>
                          <a:effectLst/>
                        </a:rPr>
                        <a:t>Barra</a:t>
                      </a:r>
                      <a:br>
                        <a:rPr lang="es-NI" dirty="0">
                          <a:solidFill>
                            <a:srgbClr val="000000"/>
                          </a:solidFill>
                          <a:effectLst/>
                        </a:rPr>
                      </a:br>
                      <a:r>
                        <a:rPr lang="es-NI" dirty="0">
                          <a:solidFill>
                            <a:srgbClr val="000000"/>
                          </a:solidFill>
                          <a:effectLst/>
                        </a:rPr>
                        <a:t>Docena</a:t>
                      </a:r>
                      <a:endParaRPr lang="es-NI" i="0" dirty="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s-NI">
                          <a:solidFill>
                            <a:srgbClr val="000000"/>
                          </a:solidFill>
                          <a:effectLst/>
                        </a:rPr>
                        <a:t>75</a:t>
                      </a:r>
                      <a:br>
                        <a:rPr lang="es-NI">
                          <a:solidFill>
                            <a:srgbClr val="000000"/>
                          </a:solidFill>
                          <a:effectLst/>
                        </a:rPr>
                      </a:br>
                      <a:r>
                        <a:rPr lang="es-NI">
                          <a:solidFill>
                            <a:srgbClr val="000000"/>
                          </a:solidFill>
                          <a:effectLst/>
                        </a:rPr>
                        <a:t>50</a:t>
                      </a:r>
                      <a:br>
                        <a:rPr lang="es-NI">
                          <a:solidFill>
                            <a:srgbClr val="000000"/>
                          </a:solidFill>
                          <a:effectLst/>
                        </a:rPr>
                      </a:br>
                      <a:r>
                        <a:rPr lang="es-NI">
                          <a:solidFill>
                            <a:srgbClr val="000000"/>
                          </a:solidFill>
                          <a:effectLst/>
                        </a:rPr>
                        <a:t>225</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s-NI">
                          <a:solidFill>
                            <a:srgbClr val="000000"/>
                          </a:solidFill>
                          <a:effectLst/>
                        </a:rPr>
                        <a:t>80</a:t>
                      </a:r>
                      <a:br>
                        <a:rPr lang="es-NI">
                          <a:solidFill>
                            <a:srgbClr val="000000"/>
                          </a:solidFill>
                          <a:effectLst/>
                        </a:rPr>
                      </a:br>
                      <a:r>
                        <a:rPr lang="es-NI">
                          <a:solidFill>
                            <a:srgbClr val="000000"/>
                          </a:solidFill>
                          <a:effectLst/>
                        </a:rPr>
                        <a:t>60</a:t>
                      </a:r>
                      <a:br>
                        <a:rPr lang="es-NI">
                          <a:solidFill>
                            <a:srgbClr val="000000"/>
                          </a:solidFill>
                          <a:effectLst/>
                        </a:rPr>
                      </a:br>
                      <a:r>
                        <a:rPr lang="es-NI">
                          <a:solidFill>
                            <a:srgbClr val="000000"/>
                          </a:solidFill>
                          <a:effectLst/>
                        </a:rPr>
                        <a:t>200</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s-NI" dirty="0">
                          <a:solidFill>
                            <a:srgbClr val="000000"/>
                          </a:solidFill>
                          <a:effectLst/>
                        </a:rPr>
                        <a:t>10</a:t>
                      </a:r>
                      <a:br>
                        <a:rPr lang="es-NI" dirty="0">
                          <a:solidFill>
                            <a:srgbClr val="000000"/>
                          </a:solidFill>
                          <a:effectLst/>
                        </a:rPr>
                      </a:br>
                      <a:r>
                        <a:rPr lang="es-NI" dirty="0">
                          <a:solidFill>
                            <a:srgbClr val="000000"/>
                          </a:solidFill>
                          <a:effectLst/>
                        </a:rPr>
                        <a:t>9</a:t>
                      </a:r>
                      <a:br>
                        <a:rPr lang="es-NI" dirty="0">
                          <a:solidFill>
                            <a:srgbClr val="000000"/>
                          </a:solidFill>
                          <a:effectLst/>
                        </a:rPr>
                      </a:br>
                      <a:r>
                        <a:rPr lang="es-NI" dirty="0">
                          <a:solidFill>
                            <a:srgbClr val="000000"/>
                          </a:solidFill>
                          <a:effectLst/>
                        </a:rPr>
                        <a:t>11</a:t>
                      </a:r>
                      <a:endParaRPr lang="es-NI" i="0" dirty="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s-NI" dirty="0">
                          <a:solidFill>
                            <a:srgbClr val="000000"/>
                          </a:solidFill>
                          <a:effectLst/>
                        </a:rPr>
                        <a:t>11</a:t>
                      </a:r>
                      <a:br>
                        <a:rPr lang="es-NI" dirty="0">
                          <a:solidFill>
                            <a:srgbClr val="000000"/>
                          </a:solidFill>
                          <a:effectLst/>
                        </a:rPr>
                      </a:br>
                      <a:r>
                        <a:rPr lang="es-NI" dirty="0">
                          <a:solidFill>
                            <a:srgbClr val="000000"/>
                          </a:solidFill>
                          <a:effectLst/>
                        </a:rPr>
                        <a:t>8</a:t>
                      </a:r>
                      <a:br>
                        <a:rPr lang="es-NI" dirty="0">
                          <a:solidFill>
                            <a:srgbClr val="000000"/>
                          </a:solidFill>
                          <a:effectLst/>
                        </a:rPr>
                      </a:br>
                      <a:r>
                        <a:rPr lang="es-NI" dirty="0">
                          <a:solidFill>
                            <a:srgbClr val="000000"/>
                          </a:solidFill>
                          <a:effectLst/>
                        </a:rPr>
                        <a:t>6</a:t>
                      </a:r>
                      <a:endParaRPr lang="es-NI" i="0" dirty="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3646543"/>
                  </a:ext>
                </a:extLst>
              </a:tr>
            </a:tbl>
          </a:graphicData>
        </a:graphic>
      </p:graphicFrame>
    </p:spTree>
    <p:extLst>
      <p:ext uri="{BB962C8B-B14F-4D97-AF65-F5344CB8AC3E}">
        <p14:creationId xmlns:p14="http://schemas.microsoft.com/office/powerpoint/2010/main" val="4092344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612E493D-EFD5-47C0-9DB4-F1D982EFDD72}"/>
              </a:ext>
            </a:extLst>
          </p:cNvPr>
          <p:cNvSpPr/>
          <p:nvPr/>
        </p:nvSpPr>
        <p:spPr>
          <a:xfrm>
            <a:off x="2445151" y="0"/>
            <a:ext cx="7520072"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Números Índices: Ejemplo</a:t>
            </a:r>
          </a:p>
        </p:txBody>
      </p:sp>
      <p:graphicFrame>
        <p:nvGraphicFramePr>
          <p:cNvPr id="4" name="Tabla 3">
            <a:extLst>
              <a:ext uri="{FF2B5EF4-FFF2-40B4-BE49-F238E27FC236}">
                <a16:creationId xmlns:a16="http://schemas.microsoft.com/office/drawing/2014/main" id="{B7930346-7794-414D-974B-BC4483B1F8E3}"/>
              </a:ext>
            </a:extLst>
          </p:cNvPr>
          <p:cNvGraphicFramePr>
            <a:graphicFrameLocks noGrp="1"/>
          </p:cNvGraphicFramePr>
          <p:nvPr>
            <p:extLst>
              <p:ext uri="{D42A27DB-BD31-4B8C-83A1-F6EECF244321}">
                <p14:modId xmlns:p14="http://schemas.microsoft.com/office/powerpoint/2010/main" val="2286647245"/>
              </p:ext>
            </p:extLst>
          </p:nvPr>
        </p:nvGraphicFramePr>
        <p:xfrm>
          <a:off x="2579996" y="1184397"/>
          <a:ext cx="6441174" cy="1645920"/>
        </p:xfrm>
        <a:graphic>
          <a:graphicData uri="http://schemas.openxmlformats.org/drawingml/2006/table">
            <a:tbl>
              <a:tblPr>
                <a:tableStyleId>{2D5ABB26-0587-4C30-8999-92F81FD0307C}</a:tableStyleId>
              </a:tblPr>
              <a:tblGrid>
                <a:gridCol w="1030588">
                  <a:extLst>
                    <a:ext uri="{9D8B030D-6E8A-4147-A177-3AD203B41FA5}">
                      <a16:colId xmlns:a16="http://schemas.microsoft.com/office/drawing/2014/main" val="677505939"/>
                    </a:ext>
                  </a:extLst>
                </a:gridCol>
                <a:gridCol w="1159411">
                  <a:extLst>
                    <a:ext uri="{9D8B030D-6E8A-4147-A177-3AD203B41FA5}">
                      <a16:colId xmlns:a16="http://schemas.microsoft.com/office/drawing/2014/main" val="470000079"/>
                    </a:ext>
                  </a:extLst>
                </a:gridCol>
                <a:gridCol w="1095000">
                  <a:extLst>
                    <a:ext uri="{9D8B030D-6E8A-4147-A177-3AD203B41FA5}">
                      <a16:colId xmlns:a16="http://schemas.microsoft.com/office/drawing/2014/main" val="3786275596"/>
                    </a:ext>
                  </a:extLst>
                </a:gridCol>
                <a:gridCol w="1030588">
                  <a:extLst>
                    <a:ext uri="{9D8B030D-6E8A-4147-A177-3AD203B41FA5}">
                      <a16:colId xmlns:a16="http://schemas.microsoft.com/office/drawing/2014/main" val="1068585105"/>
                    </a:ext>
                  </a:extLst>
                </a:gridCol>
                <a:gridCol w="1159411">
                  <a:extLst>
                    <a:ext uri="{9D8B030D-6E8A-4147-A177-3AD203B41FA5}">
                      <a16:colId xmlns:a16="http://schemas.microsoft.com/office/drawing/2014/main" val="4026405230"/>
                    </a:ext>
                  </a:extLst>
                </a:gridCol>
                <a:gridCol w="966176">
                  <a:extLst>
                    <a:ext uri="{9D8B030D-6E8A-4147-A177-3AD203B41FA5}">
                      <a16:colId xmlns:a16="http://schemas.microsoft.com/office/drawing/2014/main" val="2959634527"/>
                    </a:ext>
                  </a:extLst>
                </a:gridCol>
              </a:tblGrid>
              <a:tr h="0">
                <a:tc rowSpan="2">
                  <a:txBody>
                    <a:bodyPr/>
                    <a:lstStyle/>
                    <a:p>
                      <a:r>
                        <a:rPr lang="es-NI">
                          <a:solidFill>
                            <a:srgbClr val="000000"/>
                          </a:solidFill>
                          <a:effectLst/>
                        </a:rPr>
                        <a:t>Artículo</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lang="es-NI">
                          <a:solidFill>
                            <a:srgbClr val="000000"/>
                          </a:solidFill>
                          <a:effectLst/>
                        </a:rPr>
                        <a:t>Unidades</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s-NI">
                          <a:solidFill>
                            <a:srgbClr val="000000"/>
                          </a:solidFill>
                          <a:effectLst/>
                        </a:rPr>
                        <a:t>Precio promedio</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tc gridSpan="2">
                  <a:txBody>
                    <a:bodyPr/>
                    <a:lstStyle/>
                    <a:p>
                      <a:pPr algn="ctr"/>
                      <a:r>
                        <a:rPr lang="es-NI">
                          <a:solidFill>
                            <a:srgbClr val="000000"/>
                          </a:solidFill>
                          <a:effectLst/>
                        </a:rPr>
                        <a:t>Consumo promedio</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extLst>
                  <a:ext uri="{0D108BD9-81ED-4DB2-BD59-A6C34878D82A}">
                    <a16:rowId xmlns:a16="http://schemas.microsoft.com/office/drawing/2014/main" val="846104393"/>
                  </a:ext>
                </a:extLst>
              </a:tr>
              <a:tr h="0">
                <a:tc vMerge="1">
                  <a:txBody>
                    <a:bodyPr/>
                    <a:lstStyle/>
                    <a:p>
                      <a:endParaRPr lang="es-NI"/>
                    </a:p>
                  </a:txBody>
                  <a:tcPr/>
                </a:tc>
                <a:tc vMerge="1">
                  <a:txBody>
                    <a:bodyPr/>
                    <a:lstStyle/>
                    <a:p>
                      <a:endParaRPr lang="es-NI"/>
                    </a:p>
                  </a:txBody>
                  <a:tcPr/>
                </a:tc>
                <a:tc>
                  <a:txBody>
                    <a:bodyPr/>
                    <a:lstStyle/>
                    <a:p>
                      <a:pPr algn="ctr"/>
                      <a:r>
                        <a:rPr lang="es-NI">
                          <a:solidFill>
                            <a:srgbClr val="000000"/>
                          </a:solidFill>
                          <a:effectLst/>
                        </a:rPr>
                        <a:t>1991</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NI">
                          <a:solidFill>
                            <a:srgbClr val="000000"/>
                          </a:solidFill>
                          <a:effectLst/>
                        </a:rPr>
                        <a:t>1992</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NI">
                          <a:solidFill>
                            <a:srgbClr val="000000"/>
                          </a:solidFill>
                          <a:effectLst/>
                        </a:rPr>
                        <a:t>1991</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NI">
                          <a:solidFill>
                            <a:srgbClr val="000000"/>
                          </a:solidFill>
                          <a:effectLst/>
                        </a:rPr>
                        <a:t>1992</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3882000"/>
                  </a:ext>
                </a:extLst>
              </a:tr>
              <a:tr h="581025">
                <a:tc>
                  <a:txBody>
                    <a:bodyPr/>
                    <a:lstStyle/>
                    <a:p>
                      <a:r>
                        <a:rPr lang="es-NI" dirty="0">
                          <a:solidFill>
                            <a:srgbClr val="000000"/>
                          </a:solidFill>
                          <a:effectLst/>
                        </a:rPr>
                        <a:t>Leche</a:t>
                      </a:r>
                      <a:br>
                        <a:rPr lang="es-NI" dirty="0">
                          <a:solidFill>
                            <a:srgbClr val="000000"/>
                          </a:solidFill>
                          <a:effectLst/>
                        </a:rPr>
                      </a:br>
                      <a:r>
                        <a:rPr lang="es-NI" dirty="0">
                          <a:solidFill>
                            <a:srgbClr val="000000"/>
                          </a:solidFill>
                          <a:effectLst/>
                        </a:rPr>
                        <a:t>Pan</a:t>
                      </a:r>
                      <a:br>
                        <a:rPr lang="es-NI" dirty="0">
                          <a:solidFill>
                            <a:srgbClr val="000000"/>
                          </a:solidFill>
                          <a:effectLst/>
                        </a:rPr>
                      </a:br>
                      <a:r>
                        <a:rPr lang="es-NI" dirty="0">
                          <a:solidFill>
                            <a:srgbClr val="000000"/>
                          </a:solidFill>
                          <a:effectLst/>
                        </a:rPr>
                        <a:t>Huevos</a:t>
                      </a:r>
                      <a:endParaRPr lang="es-NI" i="0" dirty="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NI" dirty="0">
                          <a:solidFill>
                            <a:srgbClr val="000000"/>
                          </a:solidFill>
                          <a:effectLst/>
                        </a:rPr>
                        <a:t>Litro</a:t>
                      </a:r>
                      <a:br>
                        <a:rPr lang="es-NI" dirty="0">
                          <a:solidFill>
                            <a:srgbClr val="000000"/>
                          </a:solidFill>
                          <a:effectLst/>
                        </a:rPr>
                      </a:br>
                      <a:r>
                        <a:rPr lang="es-NI" dirty="0">
                          <a:solidFill>
                            <a:srgbClr val="000000"/>
                          </a:solidFill>
                          <a:effectLst/>
                        </a:rPr>
                        <a:t>Barra</a:t>
                      </a:r>
                      <a:br>
                        <a:rPr lang="es-NI" dirty="0">
                          <a:solidFill>
                            <a:srgbClr val="000000"/>
                          </a:solidFill>
                          <a:effectLst/>
                        </a:rPr>
                      </a:br>
                      <a:r>
                        <a:rPr lang="es-NI" dirty="0">
                          <a:solidFill>
                            <a:srgbClr val="000000"/>
                          </a:solidFill>
                          <a:effectLst/>
                        </a:rPr>
                        <a:t>Docena</a:t>
                      </a:r>
                      <a:endParaRPr lang="es-NI" i="0" dirty="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s-NI">
                          <a:solidFill>
                            <a:srgbClr val="000000"/>
                          </a:solidFill>
                          <a:effectLst/>
                        </a:rPr>
                        <a:t>75</a:t>
                      </a:r>
                      <a:br>
                        <a:rPr lang="es-NI">
                          <a:solidFill>
                            <a:srgbClr val="000000"/>
                          </a:solidFill>
                          <a:effectLst/>
                        </a:rPr>
                      </a:br>
                      <a:r>
                        <a:rPr lang="es-NI">
                          <a:solidFill>
                            <a:srgbClr val="000000"/>
                          </a:solidFill>
                          <a:effectLst/>
                        </a:rPr>
                        <a:t>50</a:t>
                      </a:r>
                      <a:br>
                        <a:rPr lang="es-NI">
                          <a:solidFill>
                            <a:srgbClr val="000000"/>
                          </a:solidFill>
                          <a:effectLst/>
                        </a:rPr>
                      </a:br>
                      <a:r>
                        <a:rPr lang="es-NI">
                          <a:solidFill>
                            <a:srgbClr val="000000"/>
                          </a:solidFill>
                          <a:effectLst/>
                        </a:rPr>
                        <a:t>225</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s-NI">
                          <a:solidFill>
                            <a:srgbClr val="000000"/>
                          </a:solidFill>
                          <a:effectLst/>
                        </a:rPr>
                        <a:t>80</a:t>
                      </a:r>
                      <a:br>
                        <a:rPr lang="es-NI">
                          <a:solidFill>
                            <a:srgbClr val="000000"/>
                          </a:solidFill>
                          <a:effectLst/>
                        </a:rPr>
                      </a:br>
                      <a:r>
                        <a:rPr lang="es-NI">
                          <a:solidFill>
                            <a:srgbClr val="000000"/>
                          </a:solidFill>
                          <a:effectLst/>
                        </a:rPr>
                        <a:t>60</a:t>
                      </a:r>
                      <a:br>
                        <a:rPr lang="es-NI">
                          <a:solidFill>
                            <a:srgbClr val="000000"/>
                          </a:solidFill>
                          <a:effectLst/>
                        </a:rPr>
                      </a:br>
                      <a:r>
                        <a:rPr lang="es-NI">
                          <a:solidFill>
                            <a:srgbClr val="000000"/>
                          </a:solidFill>
                          <a:effectLst/>
                        </a:rPr>
                        <a:t>200</a:t>
                      </a:r>
                      <a:endParaRPr lang="es-NI" i="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s-NI" dirty="0">
                          <a:solidFill>
                            <a:srgbClr val="000000"/>
                          </a:solidFill>
                          <a:effectLst/>
                        </a:rPr>
                        <a:t>10</a:t>
                      </a:r>
                      <a:br>
                        <a:rPr lang="es-NI" dirty="0">
                          <a:solidFill>
                            <a:srgbClr val="000000"/>
                          </a:solidFill>
                          <a:effectLst/>
                        </a:rPr>
                      </a:br>
                      <a:r>
                        <a:rPr lang="es-NI" dirty="0">
                          <a:solidFill>
                            <a:srgbClr val="000000"/>
                          </a:solidFill>
                          <a:effectLst/>
                        </a:rPr>
                        <a:t>9</a:t>
                      </a:r>
                      <a:br>
                        <a:rPr lang="es-NI" dirty="0">
                          <a:solidFill>
                            <a:srgbClr val="000000"/>
                          </a:solidFill>
                          <a:effectLst/>
                        </a:rPr>
                      </a:br>
                      <a:r>
                        <a:rPr lang="es-NI" dirty="0">
                          <a:solidFill>
                            <a:srgbClr val="000000"/>
                          </a:solidFill>
                          <a:effectLst/>
                        </a:rPr>
                        <a:t>11</a:t>
                      </a:r>
                      <a:endParaRPr lang="es-NI" i="0" dirty="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s-NI" dirty="0">
                          <a:solidFill>
                            <a:srgbClr val="000000"/>
                          </a:solidFill>
                          <a:effectLst/>
                        </a:rPr>
                        <a:t>11</a:t>
                      </a:r>
                      <a:br>
                        <a:rPr lang="es-NI" dirty="0">
                          <a:solidFill>
                            <a:srgbClr val="000000"/>
                          </a:solidFill>
                          <a:effectLst/>
                        </a:rPr>
                      </a:br>
                      <a:r>
                        <a:rPr lang="es-NI" dirty="0">
                          <a:solidFill>
                            <a:srgbClr val="000000"/>
                          </a:solidFill>
                          <a:effectLst/>
                        </a:rPr>
                        <a:t>8</a:t>
                      </a:r>
                      <a:br>
                        <a:rPr lang="es-NI" dirty="0">
                          <a:solidFill>
                            <a:srgbClr val="000000"/>
                          </a:solidFill>
                          <a:effectLst/>
                        </a:rPr>
                      </a:br>
                      <a:r>
                        <a:rPr lang="es-NI" dirty="0">
                          <a:solidFill>
                            <a:srgbClr val="000000"/>
                          </a:solidFill>
                          <a:effectLst/>
                        </a:rPr>
                        <a:t>6</a:t>
                      </a:r>
                      <a:endParaRPr lang="es-NI" i="0" dirty="0">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3646543"/>
                  </a:ext>
                </a:extLst>
              </a:tr>
            </a:tbl>
          </a:graphicData>
        </a:graphic>
      </p:graphicFrame>
      <p:graphicFrame>
        <p:nvGraphicFramePr>
          <p:cNvPr id="3" name="Tabla 2">
            <a:extLst>
              <a:ext uri="{FF2B5EF4-FFF2-40B4-BE49-F238E27FC236}">
                <a16:creationId xmlns:a16="http://schemas.microsoft.com/office/drawing/2014/main" id="{2E2B8227-319F-4062-AC09-3FE23F650D27}"/>
              </a:ext>
            </a:extLst>
          </p:cNvPr>
          <p:cNvGraphicFramePr>
            <a:graphicFrameLocks noGrp="1"/>
          </p:cNvGraphicFramePr>
          <p:nvPr>
            <p:extLst>
              <p:ext uri="{D42A27DB-BD31-4B8C-83A1-F6EECF244321}">
                <p14:modId xmlns:p14="http://schemas.microsoft.com/office/powerpoint/2010/main" val="3879244710"/>
              </p:ext>
            </p:extLst>
          </p:nvPr>
        </p:nvGraphicFramePr>
        <p:xfrm>
          <a:off x="2091775" y="3260414"/>
          <a:ext cx="8226819" cy="1419225"/>
        </p:xfrm>
        <a:graphic>
          <a:graphicData uri="http://schemas.openxmlformats.org/drawingml/2006/table">
            <a:tbl>
              <a:tblPr>
                <a:tableStyleId>{2D5ABB26-0587-4C30-8999-92F81FD0307C}</a:tableStyleId>
              </a:tblPr>
              <a:tblGrid>
                <a:gridCol w="683731">
                  <a:extLst>
                    <a:ext uri="{9D8B030D-6E8A-4147-A177-3AD203B41FA5}">
                      <a16:colId xmlns:a16="http://schemas.microsoft.com/office/drawing/2014/main" val="1830981809"/>
                    </a:ext>
                  </a:extLst>
                </a:gridCol>
                <a:gridCol w="1372974">
                  <a:extLst>
                    <a:ext uri="{9D8B030D-6E8A-4147-A177-3AD203B41FA5}">
                      <a16:colId xmlns:a16="http://schemas.microsoft.com/office/drawing/2014/main" val="1209700168"/>
                    </a:ext>
                  </a:extLst>
                </a:gridCol>
                <a:gridCol w="1174472">
                  <a:extLst>
                    <a:ext uri="{9D8B030D-6E8A-4147-A177-3AD203B41FA5}">
                      <a16:colId xmlns:a16="http://schemas.microsoft.com/office/drawing/2014/main" val="4237538953"/>
                    </a:ext>
                  </a:extLst>
                </a:gridCol>
                <a:gridCol w="1075221">
                  <a:extLst>
                    <a:ext uri="{9D8B030D-6E8A-4147-A177-3AD203B41FA5}">
                      <a16:colId xmlns:a16="http://schemas.microsoft.com/office/drawing/2014/main" val="401768684"/>
                    </a:ext>
                  </a:extLst>
                </a:gridCol>
                <a:gridCol w="1157930">
                  <a:extLst>
                    <a:ext uri="{9D8B030D-6E8A-4147-A177-3AD203B41FA5}">
                      <a16:colId xmlns:a16="http://schemas.microsoft.com/office/drawing/2014/main" val="516287266"/>
                    </a:ext>
                  </a:extLst>
                </a:gridCol>
                <a:gridCol w="1191014">
                  <a:extLst>
                    <a:ext uri="{9D8B030D-6E8A-4147-A177-3AD203B41FA5}">
                      <a16:colId xmlns:a16="http://schemas.microsoft.com/office/drawing/2014/main" val="3118021768"/>
                    </a:ext>
                  </a:extLst>
                </a:gridCol>
                <a:gridCol w="1571477">
                  <a:extLst>
                    <a:ext uri="{9D8B030D-6E8A-4147-A177-3AD203B41FA5}">
                      <a16:colId xmlns:a16="http://schemas.microsoft.com/office/drawing/2014/main" val="3044406659"/>
                    </a:ext>
                  </a:extLst>
                </a:gridCol>
              </a:tblGrid>
              <a:tr h="161925">
                <a:tc>
                  <a:txBody>
                    <a:bodyPr/>
                    <a:lstStyle/>
                    <a:p>
                      <a:pPr algn="l" fontAlgn="b"/>
                      <a:r>
                        <a:rPr lang="es-NI" sz="1800" u="none" strike="noStrike">
                          <a:effectLst/>
                        </a:rPr>
                        <a:t> </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fontAlgn="b"/>
                      <a:r>
                        <a:rPr lang="es-NI" sz="1800" u="none" strike="noStrike">
                          <a:effectLst/>
                        </a:rPr>
                        <a:t>Leche</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tc gridSpan="2">
                  <a:txBody>
                    <a:bodyPr/>
                    <a:lstStyle/>
                    <a:p>
                      <a:pPr algn="ctr" fontAlgn="b"/>
                      <a:r>
                        <a:rPr lang="es-NI" sz="1800" u="none" strike="noStrike">
                          <a:effectLst/>
                        </a:rPr>
                        <a:t>Pan</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tc gridSpan="2">
                  <a:txBody>
                    <a:bodyPr/>
                    <a:lstStyle/>
                    <a:p>
                      <a:pPr algn="ctr" fontAlgn="b"/>
                      <a:r>
                        <a:rPr lang="es-NI" sz="1800" u="none" strike="noStrike">
                          <a:effectLst/>
                        </a:rPr>
                        <a:t>Huevos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extLst>
                  <a:ext uri="{0D108BD9-81ED-4DB2-BD59-A6C34878D82A}">
                    <a16:rowId xmlns:a16="http://schemas.microsoft.com/office/drawing/2014/main" val="2293835936"/>
                  </a:ext>
                </a:extLst>
              </a:tr>
              <a:tr h="161925">
                <a:tc>
                  <a:txBody>
                    <a:bodyPr/>
                    <a:lstStyle/>
                    <a:p>
                      <a:pPr algn="l" fontAlgn="b"/>
                      <a:r>
                        <a:rPr lang="es-NI" sz="1800" u="none" strike="noStrike">
                          <a:effectLst/>
                        </a:rPr>
                        <a:t> </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Precio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Cantidad</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Precio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Cantidad</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Precio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Cantidad</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381478"/>
                  </a:ext>
                </a:extLst>
              </a:tr>
              <a:tr h="209550">
                <a:tc>
                  <a:txBody>
                    <a:bodyPr/>
                    <a:lstStyle/>
                    <a:p>
                      <a:pPr algn="ctr" fontAlgn="b"/>
                      <a:r>
                        <a:rPr lang="es-NI" sz="1800" u="none" strike="noStrike">
                          <a:effectLst/>
                        </a:rPr>
                        <a:t>Año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t>
                      </a:r>
                      <a:r>
                        <a:rPr lang="es-NI" sz="1800" u="none" strike="noStrike" baseline="-25000">
                          <a:effectLst/>
                        </a:rPr>
                        <a:t>1t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q</a:t>
                      </a:r>
                      <a:r>
                        <a:rPr lang="es-NI" sz="1800" u="none" strike="noStrike" baseline="-25000">
                          <a:effectLst/>
                        </a:rPr>
                        <a:t>1t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 p</a:t>
                      </a:r>
                      <a:r>
                        <a:rPr lang="es-NI" sz="1800" u="none" strike="noStrike" baseline="-25000">
                          <a:effectLst/>
                        </a:rPr>
                        <a:t>2t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q</a:t>
                      </a:r>
                      <a:r>
                        <a:rPr lang="es-NI" sz="1800" u="none" strike="noStrike" baseline="-25000">
                          <a:effectLst/>
                        </a:rPr>
                        <a:t>2t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t>
                      </a:r>
                      <a:r>
                        <a:rPr lang="es-NI" sz="1800" u="none" strike="noStrike" baseline="-25000">
                          <a:effectLst/>
                        </a:rPr>
                        <a:t>3t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q</a:t>
                      </a:r>
                      <a:r>
                        <a:rPr lang="es-NI" sz="1800" u="none" strike="noStrike" baseline="-25000">
                          <a:effectLst/>
                        </a:rPr>
                        <a:t>3t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0489719"/>
                  </a:ext>
                </a:extLst>
              </a:tr>
              <a:tr h="180975">
                <a:tc>
                  <a:txBody>
                    <a:bodyPr/>
                    <a:lstStyle/>
                    <a:p>
                      <a:pPr algn="ctr" fontAlgn="b"/>
                      <a:r>
                        <a:rPr lang="es-NI" sz="1800" u="none" strike="noStrike" dirty="0">
                          <a:effectLst/>
                        </a:rPr>
                        <a:t>1991</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75</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rPr>
                        <a:t>10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50</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rPr>
                        <a:t>9</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225</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11</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007730"/>
                  </a:ext>
                </a:extLst>
              </a:tr>
              <a:tr h="180975">
                <a:tc>
                  <a:txBody>
                    <a:bodyPr/>
                    <a:lstStyle/>
                    <a:p>
                      <a:pPr algn="ctr" fontAlgn="b"/>
                      <a:r>
                        <a:rPr lang="es-NI" sz="1800" u="none" strike="noStrike">
                          <a:effectLst/>
                        </a:rPr>
                        <a:t>1992</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80</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rPr>
                        <a:t>11</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60</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rPr>
                        <a:t>8</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200</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6</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5876293"/>
                  </a:ext>
                </a:extLst>
              </a:tr>
            </a:tbl>
          </a:graphicData>
        </a:graphic>
      </p:graphicFrame>
      <p:graphicFrame>
        <p:nvGraphicFramePr>
          <p:cNvPr id="7" name="Tabla 6">
            <a:extLst>
              <a:ext uri="{FF2B5EF4-FFF2-40B4-BE49-F238E27FC236}">
                <a16:creationId xmlns:a16="http://schemas.microsoft.com/office/drawing/2014/main" id="{4143BBC2-DD43-4189-99B0-7BB73598DCCE}"/>
              </a:ext>
            </a:extLst>
          </p:cNvPr>
          <p:cNvGraphicFramePr>
            <a:graphicFrameLocks noGrp="1"/>
          </p:cNvGraphicFramePr>
          <p:nvPr>
            <p:extLst>
              <p:ext uri="{D42A27DB-BD31-4B8C-83A1-F6EECF244321}">
                <p14:modId xmlns:p14="http://schemas.microsoft.com/office/powerpoint/2010/main" val="3758984013"/>
              </p:ext>
            </p:extLst>
          </p:nvPr>
        </p:nvGraphicFramePr>
        <p:xfrm>
          <a:off x="3884211" y="4963990"/>
          <a:ext cx="4641945" cy="1419225"/>
        </p:xfrm>
        <a:graphic>
          <a:graphicData uri="http://schemas.openxmlformats.org/drawingml/2006/table">
            <a:tbl>
              <a:tblPr>
                <a:tableStyleId>{2D5ABB26-0587-4C30-8999-92F81FD0307C}</a:tableStyleId>
              </a:tblPr>
              <a:tblGrid>
                <a:gridCol w="2069953">
                  <a:extLst>
                    <a:ext uri="{9D8B030D-6E8A-4147-A177-3AD203B41FA5}">
                      <a16:colId xmlns:a16="http://schemas.microsoft.com/office/drawing/2014/main" val="406838688"/>
                    </a:ext>
                  </a:extLst>
                </a:gridCol>
                <a:gridCol w="1274411">
                  <a:extLst>
                    <a:ext uri="{9D8B030D-6E8A-4147-A177-3AD203B41FA5}">
                      <a16:colId xmlns:a16="http://schemas.microsoft.com/office/drawing/2014/main" val="3007550900"/>
                    </a:ext>
                  </a:extLst>
                </a:gridCol>
                <a:gridCol w="1297581">
                  <a:extLst>
                    <a:ext uri="{9D8B030D-6E8A-4147-A177-3AD203B41FA5}">
                      <a16:colId xmlns:a16="http://schemas.microsoft.com/office/drawing/2014/main" val="4013459350"/>
                    </a:ext>
                  </a:extLst>
                </a:gridCol>
              </a:tblGrid>
              <a:tr h="161925">
                <a:tc gridSpan="3">
                  <a:txBody>
                    <a:bodyPr/>
                    <a:lstStyle/>
                    <a:p>
                      <a:pPr algn="ctr" fontAlgn="b"/>
                      <a:r>
                        <a:rPr lang="es-NI" sz="1800" u="none" strike="noStrike" dirty="0">
                          <a:effectLst/>
                        </a:rPr>
                        <a:t>Índices Simples</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tc hMerge="1">
                  <a:txBody>
                    <a:bodyPr/>
                    <a:lstStyle/>
                    <a:p>
                      <a:endParaRPr lang="es-NI"/>
                    </a:p>
                  </a:txBody>
                  <a:tcPr/>
                </a:tc>
                <a:extLst>
                  <a:ext uri="{0D108BD9-81ED-4DB2-BD59-A6C34878D82A}">
                    <a16:rowId xmlns:a16="http://schemas.microsoft.com/office/drawing/2014/main" val="3250662056"/>
                  </a:ext>
                </a:extLst>
              </a:tr>
              <a:tr h="161925">
                <a:tc>
                  <a:txBody>
                    <a:bodyPr/>
                    <a:lstStyle/>
                    <a:p>
                      <a:pPr algn="ctr" fontAlgn="b"/>
                      <a:r>
                        <a:rPr lang="es-NI" sz="1800" u="none" strike="noStrike" dirty="0">
                          <a:effectLst/>
                        </a:rPr>
                        <a:t>Leche</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dirty="0">
                          <a:effectLst/>
                        </a:rPr>
                        <a:t>Pan</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dirty="0">
                          <a:effectLst/>
                        </a:rPr>
                        <a:t>Huevos</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645030"/>
                  </a:ext>
                </a:extLst>
              </a:tr>
              <a:tr h="209550">
                <a:tc>
                  <a:txBody>
                    <a:bodyPr/>
                    <a:lstStyle/>
                    <a:p>
                      <a:pPr algn="ctr" fontAlgn="b"/>
                      <a:r>
                        <a:rPr lang="es-NI" sz="1800" u="none" strike="noStrike">
                          <a:effectLst/>
                        </a:rPr>
                        <a:t>Ip</a:t>
                      </a:r>
                      <a:r>
                        <a:rPr lang="es-NI" sz="1800" u="none" strike="noStrike" baseline="30000">
                          <a:effectLst/>
                        </a:rPr>
                        <a:t>(1)</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Ip</a:t>
                      </a:r>
                      <a:r>
                        <a:rPr lang="es-NI" sz="1800" u="none" strike="noStrike" baseline="30000">
                          <a:effectLst/>
                        </a:rPr>
                        <a:t>(2)</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Ip</a:t>
                      </a:r>
                      <a:r>
                        <a:rPr lang="es-NI" sz="1800" u="none" strike="noStrike" baseline="30000">
                          <a:effectLst/>
                        </a:rPr>
                        <a:t>(3)</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5168111"/>
                  </a:ext>
                </a:extLst>
              </a:tr>
              <a:tr h="180975">
                <a:tc>
                  <a:txBody>
                    <a:bodyPr/>
                    <a:lstStyle/>
                    <a:p>
                      <a:pPr algn="r" fontAlgn="b"/>
                      <a:r>
                        <a:rPr lang="es-NI" sz="1800" u="none" strike="noStrike" dirty="0">
                          <a:effectLst/>
                        </a:rPr>
                        <a:t>100.0</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100.0</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100.0</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3191548"/>
                  </a:ext>
                </a:extLst>
              </a:tr>
              <a:tr h="180975">
                <a:tc>
                  <a:txBody>
                    <a:bodyPr/>
                    <a:lstStyle/>
                    <a:p>
                      <a:pPr algn="r" fontAlgn="b"/>
                      <a:r>
                        <a:rPr lang="es-NI" sz="1800" u="none" strike="noStrike" dirty="0">
                          <a:effectLst/>
                        </a:rPr>
                        <a:t>106.7</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120.0</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88.9</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496649"/>
                  </a:ext>
                </a:extLst>
              </a:tr>
            </a:tbl>
          </a:graphicData>
        </a:graphic>
      </p:graphicFrame>
    </p:spTree>
    <p:extLst>
      <p:ext uri="{BB962C8B-B14F-4D97-AF65-F5344CB8AC3E}">
        <p14:creationId xmlns:p14="http://schemas.microsoft.com/office/powerpoint/2010/main" val="2555290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612E493D-EFD5-47C0-9DB4-F1D982EFDD72}"/>
              </a:ext>
            </a:extLst>
          </p:cNvPr>
          <p:cNvSpPr/>
          <p:nvPr/>
        </p:nvSpPr>
        <p:spPr>
          <a:xfrm>
            <a:off x="2445151" y="0"/>
            <a:ext cx="7520072"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Números Índices: Ejemplo</a:t>
            </a:r>
          </a:p>
        </p:txBody>
      </p:sp>
      <p:graphicFrame>
        <p:nvGraphicFramePr>
          <p:cNvPr id="3" name="Tabla 2">
            <a:extLst>
              <a:ext uri="{FF2B5EF4-FFF2-40B4-BE49-F238E27FC236}">
                <a16:creationId xmlns:a16="http://schemas.microsoft.com/office/drawing/2014/main" id="{2E2B8227-319F-4062-AC09-3FE23F650D27}"/>
              </a:ext>
            </a:extLst>
          </p:cNvPr>
          <p:cNvGraphicFramePr>
            <a:graphicFrameLocks noGrp="1"/>
          </p:cNvGraphicFramePr>
          <p:nvPr>
            <p:extLst>
              <p:ext uri="{D42A27DB-BD31-4B8C-83A1-F6EECF244321}">
                <p14:modId xmlns:p14="http://schemas.microsoft.com/office/powerpoint/2010/main" val="1108529914"/>
              </p:ext>
            </p:extLst>
          </p:nvPr>
        </p:nvGraphicFramePr>
        <p:xfrm>
          <a:off x="2091777" y="1231907"/>
          <a:ext cx="8226819" cy="1419225"/>
        </p:xfrm>
        <a:graphic>
          <a:graphicData uri="http://schemas.openxmlformats.org/drawingml/2006/table">
            <a:tbl>
              <a:tblPr>
                <a:tableStyleId>{2D5ABB26-0587-4C30-8999-92F81FD0307C}</a:tableStyleId>
              </a:tblPr>
              <a:tblGrid>
                <a:gridCol w="683731">
                  <a:extLst>
                    <a:ext uri="{9D8B030D-6E8A-4147-A177-3AD203B41FA5}">
                      <a16:colId xmlns:a16="http://schemas.microsoft.com/office/drawing/2014/main" val="1830981809"/>
                    </a:ext>
                  </a:extLst>
                </a:gridCol>
                <a:gridCol w="1372974">
                  <a:extLst>
                    <a:ext uri="{9D8B030D-6E8A-4147-A177-3AD203B41FA5}">
                      <a16:colId xmlns:a16="http://schemas.microsoft.com/office/drawing/2014/main" val="1209700168"/>
                    </a:ext>
                  </a:extLst>
                </a:gridCol>
                <a:gridCol w="1174472">
                  <a:extLst>
                    <a:ext uri="{9D8B030D-6E8A-4147-A177-3AD203B41FA5}">
                      <a16:colId xmlns:a16="http://schemas.microsoft.com/office/drawing/2014/main" val="4237538953"/>
                    </a:ext>
                  </a:extLst>
                </a:gridCol>
                <a:gridCol w="1075221">
                  <a:extLst>
                    <a:ext uri="{9D8B030D-6E8A-4147-A177-3AD203B41FA5}">
                      <a16:colId xmlns:a16="http://schemas.microsoft.com/office/drawing/2014/main" val="401768684"/>
                    </a:ext>
                  </a:extLst>
                </a:gridCol>
                <a:gridCol w="1157930">
                  <a:extLst>
                    <a:ext uri="{9D8B030D-6E8A-4147-A177-3AD203B41FA5}">
                      <a16:colId xmlns:a16="http://schemas.microsoft.com/office/drawing/2014/main" val="516287266"/>
                    </a:ext>
                  </a:extLst>
                </a:gridCol>
                <a:gridCol w="1191014">
                  <a:extLst>
                    <a:ext uri="{9D8B030D-6E8A-4147-A177-3AD203B41FA5}">
                      <a16:colId xmlns:a16="http://schemas.microsoft.com/office/drawing/2014/main" val="3118021768"/>
                    </a:ext>
                  </a:extLst>
                </a:gridCol>
                <a:gridCol w="1571477">
                  <a:extLst>
                    <a:ext uri="{9D8B030D-6E8A-4147-A177-3AD203B41FA5}">
                      <a16:colId xmlns:a16="http://schemas.microsoft.com/office/drawing/2014/main" val="3044406659"/>
                    </a:ext>
                  </a:extLst>
                </a:gridCol>
              </a:tblGrid>
              <a:tr h="161925">
                <a:tc>
                  <a:txBody>
                    <a:bodyPr/>
                    <a:lstStyle/>
                    <a:p>
                      <a:pPr algn="l" fontAlgn="b"/>
                      <a:r>
                        <a:rPr lang="es-NI" sz="1800" u="none" strike="noStrike">
                          <a:effectLst/>
                        </a:rPr>
                        <a:t> </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fontAlgn="b"/>
                      <a:r>
                        <a:rPr lang="es-NI" sz="1800" u="none" strike="noStrike">
                          <a:effectLst/>
                        </a:rPr>
                        <a:t>Leche</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tc gridSpan="2">
                  <a:txBody>
                    <a:bodyPr/>
                    <a:lstStyle/>
                    <a:p>
                      <a:pPr algn="ctr" fontAlgn="b"/>
                      <a:r>
                        <a:rPr lang="es-NI" sz="1800" u="none" strike="noStrike">
                          <a:effectLst/>
                        </a:rPr>
                        <a:t>Pan</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tc gridSpan="2">
                  <a:txBody>
                    <a:bodyPr/>
                    <a:lstStyle/>
                    <a:p>
                      <a:pPr algn="ctr" fontAlgn="b"/>
                      <a:r>
                        <a:rPr lang="es-NI" sz="1800" u="none" strike="noStrike">
                          <a:effectLst/>
                        </a:rPr>
                        <a:t>Huevos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extLst>
                  <a:ext uri="{0D108BD9-81ED-4DB2-BD59-A6C34878D82A}">
                    <a16:rowId xmlns:a16="http://schemas.microsoft.com/office/drawing/2014/main" val="2293835936"/>
                  </a:ext>
                </a:extLst>
              </a:tr>
              <a:tr h="161925">
                <a:tc>
                  <a:txBody>
                    <a:bodyPr/>
                    <a:lstStyle/>
                    <a:p>
                      <a:pPr algn="l" fontAlgn="b"/>
                      <a:r>
                        <a:rPr lang="es-NI" sz="1800" u="none" strike="noStrike">
                          <a:effectLst/>
                        </a:rPr>
                        <a:t> </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Precio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Cantidad</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Precio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Cantidad</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Precio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Cantidad</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381478"/>
                  </a:ext>
                </a:extLst>
              </a:tr>
              <a:tr h="209550">
                <a:tc>
                  <a:txBody>
                    <a:bodyPr/>
                    <a:lstStyle/>
                    <a:p>
                      <a:pPr algn="ctr" fontAlgn="b"/>
                      <a:r>
                        <a:rPr lang="es-NI" sz="1800" u="none" strike="noStrike">
                          <a:effectLst/>
                        </a:rPr>
                        <a:t>Año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t>
                      </a:r>
                      <a:r>
                        <a:rPr lang="es-NI" sz="1800" u="none" strike="noStrike" baseline="-25000">
                          <a:effectLst/>
                        </a:rPr>
                        <a:t>1t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q</a:t>
                      </a:r>
                      <a:r>
                        <a:rPr lang="es-NI" sz="1800" u="none" strike="noStrike" baseline="-25000">
                          <a:effectLst/>
                        </a:rPr>
                        <a:t>1t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 p</a:t>
                      </a:r>
                      <a:r>
                        <a:rPr lang="es-NI" sz="1800" u="none" strike="noStrike" baseline="-25000">
                          <a:effectLst/>
                        </a:rPr>
                        <a:t>2t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q</a:t>
                      </a:r>
                      <a:r>
                        <a:rPr lang="es-NI" sz="1800" u="none" strike="noStrike" baseline="-25000">
                          <a:effectLst/>
                        </a:rPr>
                        <a:t>2t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t>
                      </a:r>
                      <a:r>
                        <a:rPr lang="es-NI" sz="1800" u="none" strike="noStrike" baseline="-25000">
                          <a:effectLst/>
                        </a:rPr>
                        <a:t>3t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q</a:t>
                      </a:r>
                      <a:r>
                        <a:rPr lang="es-NI" sz="1800" u="none" strike="noStrike" baseline="-25000">
                          <a:effectLst/>
                        </a:rPr>
                        <a:t>3t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0489719"/>
                  </a:ext>
                </a:extLst>
              </a:tr>
              <a:tr h="180975">
                <a:tc>
                  <a:txBody>
                    <a:bodyPr/>
                    <a:lstStyle/>
                    <a:p>
                      <a:pPr algn="ctr" fontAlgn="b"/>
                      <a:r>
                        <a:rPr lang="es-NI" sz="1800" u="none" strike="noStrike">
                          <a:effectLst/>
                        </a:rPr>
                        <a:t>1991</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75</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10</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50</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9</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225</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11</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007730"/>
                  </a:ext>
                </a:extLst>
              </a:tr>
              <a:tr h="180975">
                <a:tc>
                  <a:txBody>
                    <a:bodyPr/>
                    <a:lstStyle/>
                    <a:p>
                      <a:pPr algn="ctr" fontAlgn="b"/>
                      <a:r>
                        <a:rPr lang="es-NI" sz="1800" u="none" strike="noStrike">
                          <a:effectLst/>
                        </a:rPr>
                        <a:t>1992</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rPr>
                        <a:t>80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rPr>
                        <a:t>11</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rPr>
                        <a:t>60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rPr>
                        <a:t>8</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rPr>
                        <a:t>200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rPr>
                        <a:t>6</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5876293"/>
                  </a:ext>
                </a:extLst>
              </a:tr>
            </a:tbl>
          </a:graphicData>
        </a:graphic>
      </p:graphicFrame>
      <p:graphicFrame>
        <p:nvGraphicFramePr>
          <p:cNvPr id="6" name="Tabla 5">
            <a:extLst>
              <a:ext uri="{FF2B5EF4-FFF2-40B4-BE49-F238E27FC236}">
                <a16:creationId xmlns:a16="http://schemas.microsoft.com/office/drawing/2014/main" id="{8FA70902-65A5-48DF-A6B3-92E2594D929B}"/>
              </a:ext>
            </a:extLst>
          </p:cNvPr>
          <p:cNvGraphicFramePr>
            <a:graphicFrameLocks noGrp="1"/>
          </p:cNvGraphicFramePr>
          <p:nvPr>
            <p:extLst>
              <p:ext uri="{D42A27DB-BD31-4B8C-83A1-F6EECF244321}">
                <p14:modId xmlns:p14="http://schemas.microsoft.com/office/powerpoint/2010/main" val="2236815470"/>
              </p:ext>
            </p:extLst>
          </p:nvPr>
        </p:nvGraphicFramePr>
        <p:xfrm>
          <a:off x="1171575" y="3322127"/>
          <a:ext cx="10001250" cy="851535"/>
        </p:xfrm>
        <a:graphic>
          <a:graphicData uri="http://schemas.openxmlformats.org/drawingml/2006/table">
            <a:tbl>
              <a:tblPr>
                <a:tableStyleId>{2D5ABB26-0587-4C30-8999-92F81FD0307C}</a:tableStyleId>
              </a:tblPr>
              <a:tblGrid>
                <a:gridCol w="1603649">
                  <a:extLst>
                    <a:ext uri="{9D8B030D-6E8A-4147-A177-3AD203B41FA5}">
                      <a16:colId xmlns:a16="http://schemas.microsoft.com/office/drawing/2014/main" val="4015813822"/>
                    </a:ext>
                  </a:extLst>
                </a:gridCol>
                <a:gridCol w="918218">
                  <a:extLst>
                    <a:ext uri="{9D8B030D-6E8A-4147-A177-3AD203B41FA5}">
                      <a16:colId xmlns:a16="http://schemas.microsoft.com/office/drawing/2014/main" val="916323386"/>
                    </a:ext>
                  </a:extLst>
                </a:gridCol>
                <a:gridCol w="844934">
                  <a:extLst>
                    <a:ext uri="{9D8B030D-6E8A-4147-A177-3AD203B41FA5}">
                      <a16:colId xmlns:a16="http://schemas.microsoft.com/office/drawing/2014/main" val="976482592"/>
                    </a:ext>
                  </a:extLst>
                </a:gridCol>
                <a:gridCol w="913906">
                  <a:extLst>
                    <a:ext uri="{9D8B030D-6E8A-4147-A177-3AD203B41FA5}">
                      <a16:colId xmlns:a16="http://schemas.microsoft.com/office/drawing/2014/main" val="3426546300"/>
                    </a:ext>
                  </a:extLst>
                </a:gridCol>
                <a:gridCol w="931151">
                  <a:extLst>
                    <a:ext uri="{9D8B030D-6E8A-4147-A177-3AD203B41FA5}">
                      <a16:colId xmlns:a16="http://schemas.microsoft.com/office/drawing/2014/main" val="3243108515"/>
                    </a:ext>
                  </a:extLst>
                </a:gridCol>
                <a:gridCol w="1228602">
                  <a:extLst>
                    <a:ext uri="{9D8B030D-6E8A-4147-A177-3AD203B41FA5}">
                      <a16:colId xmlns:a16="http://schemas.microsoft.com/office/drawing/2014/main" val="731485844"/>
                    </a:ext>
                  </a:extLst>
                </a:gridCol>
                <a:gridCol w="1155316">
                  <a:extLst>
                    <a:ext uri="{9D8B030D-6E8A-4147-A177-3AD203B41FA5}">
                      <a16:colId xmlns:a16="http://schemas.microsoft.com/office/drawing/2014/main" val="258314818"/>
                    </a:ext>
                  </a:extLst>
                </a:gridCol>
                <a:gridCol w="711297">
                  <a:extLst>
                    <a:ext uri="{9D8B030D-6E8A-4147-A177-3AD203B41FA5}">
                      <a16:colId xmlns:a16="http://schemas.microsoft.com/office/drawing/2014/main" val="3107341698"/>
                    </a:ext>
                  </a:extLst>
                </a:gridCol>
                <a:gridCol w="724228">
                  <a:extLst>
                    <a:ext uri="{9D8B030D-6E8A-4147-A177-3AD203B41FA5}">
                      <a16:colId xmlns:a16="http://schemas.microsoft.com/office/drawing/2014/main" val="4090076597"/>
                    </a:ext>
                  </a:extLst>
                </a:gridCol>
                <a:gridCol w="969949">
                  <a:extLst>
                    <a:ext uri="{9D8B030D-6E8A-4147-A177-3AD203B41FA5}">
                      <a16:colId xmlns:a16="http://schemas.microsoft.com/office/drawing/2014/main" val="1070652837"/>
                    </a:ext>
                  </a:extLst>
                </a:gridCol>
              </a:tblGrid>
              <a:tr h="238125">
                <a:tc>
                  <a:txBody>
                    <a:bodyPr/>
                    <a:lstStyle/>
                    <a:p>
                      <a:pPr algn="ctr" fontAlgn="b"/>
                      <a:r>
                        <a:rPr lang="es-NI" sz="1800" u="none" strike="noStrike">
                          <a:effectLst/>
                        </a:rPr>
                        <a:t>Ponderaciones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w</a:t>
                      </a:r>
                      <a:r>
                        <a:rPr lang="es-NI" sz="1800" u="none" strike="noStrike" baseline="-25000">
                          <a:effectLst/>
                        </a:rPr>
                        <a:t>i</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a:effectLst/>
                        </a:rPr>
                        <a:t>Leche</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a:effectLst/>
                        </a:rPr>
                        <a:t>Pan</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a:effectLst/>
                        </a:rPr>
                        <a:t>Huevos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a:effectLst/>
                        </a:rPr>
                        <a:t>Suma</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dirty="0">
                          <a:effectLst/>
                        </a:rPr>
                        <a:t>Leche</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a:effectLst/>
                        </a:rPr>
                        <a:t>Pan</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a:effectLst/>
                        </a:rPr>
                        <a:t>Huevos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a:effectLst/>
                        </a:rPr>
                        <a:t>Suma</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8037811"/>
                  </a:ext>
                </a:extLst>
              </a:tr>
              <a:tr h="238125">
                <a:tc>
                  <a:txBody>
                    <a:bodyPr/>
                    <a:lstStyle/>
                    <a:p>
                      <a:pPr algn="ctr" fontAlgn="b"/>
                      <a:r>
                        <a:rPr lang="es-NI" sz="1800" u="none" strike="noStrike">
                          <a:effectLst/>
                        </a:rPr>
                        <a:t>Laspeyres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t>
                      </a:r>
                      <a:r>
                        <a:rPr lang="es-NI" sz="1800" u="none" strike="noStrike" baseline="-25000">
                          <a:effectLst/>
                        </a:rPr>
                        <a:t>i0</a:t>
                      </a:r>
                      <a:r>
                        <a:rPr lang="es-NI" sz="1800" u="none" strike="noStrike">
                          <a:effectLst/>
                        </a:rPr>
                        <a:t> · q</a:t>
                      </a:r>
                      <a:r>
                        <a:rPr lang="es-NI" sz="1800" u="none" strike="noStrike" baseline="-25000">
                          <a:effectLst/>
                        </a:rPr>
                        <a:t>i0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dirty="0">
                          <a:effectLst/>
                        </a:rPr>
                        <a:t>750</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dirty="0">
                          <a:effectLst/>
                        </a:rPr>
                        <a:t>450</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dirty="0">
                          <a:effectLst/>
                        </a:rPr>
                        <a:t>2,475</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dirty="0">
                          <a:effectLst/>
                        </a:rPr>
                        <a:t>3,675</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dirty="0">
                          <a:effectLst/>
                        </a:rPr>
                        <a:t>20.4%</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dirty="0">
                          <a:effectLst/>
                        </a:rPr>
                        <a:t>12.2%</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dirty="0">
                          <a:effectLst/>
                        </a:rPr>
                        <a:t>67.3%</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dirty="0">
                          <a:effectLst/>
                        </a:rPr>
                        <a:t>100%</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2865838"/>
                  </a:ext>
                </a:extLst>
              </a:tr>
              <a:tr h="238125">
                <a:tc>
                  <a:txBody>
                    <a:bodyPr/>
                    <a:lstStyle/>
                    <a:p>
                      <a:pPr algn="ctr" fontAlgn="b"/>
                      <a:r>
                        <a:rPr lang="es-NI" sz="1800" u="none" strike="noStrike">
                          <a:effectLst/>
                        </a:rPr>
                        <a:t>Paasche</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t>
                      </a:r>
                      <a:r>
                        <a:rPr lang="es-NI" sz="1800" u="none" strike="noStrike" baseline="-25000">
                          <a:effectLst/>
                        </a:rPr>
                        <a:t>i0</a:t>
                      </a:r>
                      <a:r>
                        <a:rPr lang="es-NI" sz="1800" u="none" strike="noStrike">
                          <a:effectLst/>
                        </a:rPr>
                        <a:t> · q</a:t>
                      </a:r>
                      <a:r>
                        <a:rPr lang="es-NI" sz="1800" u="none" strike="noStrike" baseline="-25000">
                          <a:effectLst/>
                        </a:rPr>
                        <a:t>it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8">
                  <a:txBody>
                    <a:bodyPr/>
                    <a:lstStyle/>
                    <a:p>
                      <a:pPr algn="ctr" fontAlgn="b"/>
                      <a:r>
                        <a:rPr lang="es-ES" sz="1800" u="none" strike="noStrike" dirty="0">
                          <a:effectLst/>
                        </a:rPr>
                        <a:t>Las ponderaciones varían para cada periodo</a:t>
                      </a:r>
                      <a:endParaRPr lang="es-ES"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tc hMerge="1">
                  <a:txBody>
                    <a:bodyPr/>
                    <a:lstStyle/>
                    <a:p>
                      <a:endParaRPr lang="es-NI"/>
                    </a:p>
                  </a:txBody>
                  <a:tcPr/>
                </a:tc>
                <a:tc hMerge="1">
                  <a:txBody>
                    <a:bodyPr/>
                    <a:lstStyle/>
                    <a:p>
                      <a:endParaRPr lang="es-NI"/>
                    </a:p>
                  </a:txBody>
                  <a:tcPr/>
                </a:tc>
                <a:tc hMerge="1">
                  <a:txBody>
                    <a:bodyPr/>
                    <a:lstStyle/>
                    <a:p>
                      <a:endParaRPr lang="es-NI"/>
                    </a:p>
                  </a:txBody>
                  <a:tcPr/>
                </a:tc>
                <a:tc hMerge="1">
                  <a:txBody>
                    <a:bodyPr/>
                    <a:lstStyle/>
                    <a:p>
                      <a:endParaRPr lang="es-NI"/>
                    </a:p>
                  </a:txBody>
                  <a:tcPr/>
                </a:tc>
                <a:tc hMerge="1">
                  <a:txBody>
                    <a:bodyPr/>
                    <a:lstStyle/>
                    <a:p>
                      <a:endParaRPr lang="es-NI"/>
                    </a:p>
                  </a:txBody>
                  <a:tcPr/>
                </a:tc>
                <a:tc hMerge="1">
                  <a:txBody>
                    <a:bodyPr/>
                    <a:lstStyle/>
                    <a:p>
                      <a:endParaRPr lang="es-NI"/>
                    </a:p>
                  </a:txBody>
                  <a:tcPr/>
                </a:tc>
                <a:extLst>
                  <a:ext uri="{0D108BD9-81ED-4DB2-BD59-A6C34878D82A}">
                    <a16:rowId xmlns:a16="http://schemas.microsoft.com/office/drawing/2014/main" val="1971387553"/>
                  </a:ext>
                </a:extLst>
              </a:tr>
            </a:tbl>
          </a:graphicData>
        </a:graphic>
      </p:graphicFrame>
    </p:spTree>
    <p:extLst>
      <p:ext uri="{BB962C8B-B14F-4D97-AF65-F5344CB8AC3E}">
        <p14:creationId xmlns:p14="http://schemas.microsoft.com/office/powerpoint/2010/main" val="2005098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612E493D-EFD5-47C0-9DB4-F1D982EFDD72}"/>
              </a:ext>
            </a:extLst>
          </p:cNvPr>
          <p:cNvSpPr/>
          <p:nvPr/>
        </p:nvSpPr>
        <p:spPr>
          <a:xfrm>
            <a:off x="2445151" y="0"/>
            <a:ext cx="7520072"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Números Índices: Ejemplo</a:t>
            </a:r>
          </a:p>
        </p:txBody>
      </p:sp>
      <p:graphicFrame>
        <p:nvGraphicFramePr>
          <p:cNvPr id="7" name="Tabla 6">
            <a:extLst>
              <a:ext uri="{FF2B5EF4-FFF2-40B4-BE49-F238E27FC236}">
                <a16:creationId xmlns:a16="http://schemas.microsoft.com/office/drawing/2014/main" id="{E6A477B1-DB2E-4A3B-B405-48A0788B6EF9}"/>
              </a:ext>
            </a:extLst>
          </p:cNvPr>
          <p:cNvGraphicFramePr>
            <a:graphicFrameLocks noGrp="1"/>
          </p:cNvGraphicFramePr>
          <p:nvPr>
            <p:extLst>
              <p:ext uri="{D42A27DB-BD31-4B8C-83A1-F6EECF244321}">
                <p14:modId xmlns:p14="http://schemas.microsoft.com/office/powerpoint/2010/main" val="166367630"/>
              </p:ext>
            </p:extLst>
          </p:nvPr>
        </p:nvGraphicFramePr>
        <p:xfrm>
          <a:off x="431328" y="1033434"/>
          <a:ext cx="4641945" cy="1479830"/>
        </p:xfrm>
        <a:graphic>
          <a:graphicData uri="http://schemas.openxmlformats.org/drawingml/2006/table">
            <a:tbl>
              <a:tblPr>
                <a:tableStyleId>{2D5ABB26-0587-4C30-8999-92F81FD0307C}</a:tableStyleId>
              </a:tblPr>
              <a:tblGrid>
                <a:gridCol w="2069953">
                  <a:extLst>
                    <a:ext uri="{9D8B030D-6E8A-4147-A177-3AD203B41FA5}">
                      <a16:colId xmlns:a16="http://schemas.microsoft.com/office/drawing/2014/main" val="406838688"/>
                    </a:ext>
                  </a:extLst>
                </a:gridCol>
                <a:gridCol w="1274411">
                  <a:extLst>
                    <a:ext uri="{9D8B030D-6E8A-4147-A177-3AD203B41FA5}">
                      <a16:colId xmlns:a16="http://schemas.microsoft.com/office/drawing/2014/main" val="3007550900"/>
                    </a:ext>
                  </a:extLst>
                </a:gridCol>
                <a:gridCol w="1297581">
                  <a:extLst>
                    <a:ext uri="{9D8B030D-6E8A-4147-A177-3AD203B41FA5}">
                      <a16:colId xmlns:a16="http://schemas.microsoft.com/office/drawing/2014/main" val="4013459350"/>
                    </a:ext>
                  </a:extLst>
                </a:gridCol>
              </a:tblGrid>
              <a:tr h="161925">
                <a:tc gridSpan="3">
                  <a:txBody>
                    <a:bodyPr/>
                    <a:lstStyle/>
                    <a:p>
                      <a:pPr algn="ctr" fontAlgn="b"/>
                      <a:r>
                        <a:rPr lang="es-NI" sz="1800" u="none" strike="noStrike" dirty="0">
                          <a:effectLst/>
                        </a:rPr>
                        <a:t>Índices Simples</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tc hMerge="1">
                  <a:txBody>
                    <a:bodyPr/>
                    <a:lstStyle/>
                    <a:p>
                      <a:endParaRPr lang="es-NI"/>
                    </a:p>
                  </a:txBody>
                  <a:tcPr/>
                </a:tc>
                <a:extLst>
                  <a:ext uri="{0D108BD9-81ED-4DB2-BD59-A6C34878D82A}">
                    <a16:rowId xmlns:a16="http://schemas.microsoft.com/office/drawing/2014/main" val="3250662056"/>
                  </a:ext>
                </a:extLst>
              </a:tr>
              <a:tr h="161925">
                <a:tc>
                  <a:txBody>
                    <a:bodyPr/>
                    <a:lstStyle/>
                    <a:p>
                      <a:pPr algn="ctr" fontAlgn="b"/>
                      <a:r>
                        <a:rPr lang="es-NI" sz="1800" u="none" strike="noStrike">
                          <a:effectLst/>
                        </a:rPr>
                        <a:t>Leche</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Pan</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Huevos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645030"/>
                  </a:ext>
                </a:extLst>
              </a:tr>
              <a:tr h="344450">
                <a:tc>
                  <a:txBody>
                    <a:bodyPr/>
                    <a:lstStyle/>
                    <a:p>
                      <a:pPr algn="ctr" fontAlgn="b"/>
                      <a:r>
                        <a:rPr lang="es-NI" sz="1800" u="none" strike="noStrike">
                          <a:effectLst/>
                        </a:rPr>
                        <a:t>Ip</a:t>
                      </a:r>
                      <a:r>
                        <a:rPr lang="es-NI" sz="1800" u="none" strike="noStrike" baseline="30000">
                          <a:effectLst/>
                        </a:rPr>
                        <a:t>(1)</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Ip</a:t>
                      </a:r>
                      <a:r>
                        <a:rPr lang="es-NI" sz="1800" u="none" strike="noStrike" baseline="30000">
                          <a:effectLst/>
                        </a:rPr>
                        <a:t>(2)</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Ip</a:t>
                      </a:r>
                      <a:r>
                        <a:rPr lang="es-NI" sz="1800" u="none" strike="noStrike" baseline="30000">
                          <a:effectLst/>
                        </a:rPr>
                        <a:t>(3)</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5168111"/>
                  </a:ext>
                </a:extLst>
              </a:tr>
              <a:tr h="180975">
                <a:tc>
                  <a:txBody>
                    <a:bodyPr/>
                    <a:lstStyle/>
                    <a:p>
                      <a:pPr algn="r" fontAlgn="b"/>
                      <a:r>
                        <a:rPr lang="es-NI" sz="1800" u="none" strike="noStrike" dirty="0">
                          <a:solidFill>
                            <a:srgbClr val="FF0000"/>
                          </a:solidFill>
                          <a:effectLst/>
                        </a:rPr>
                        <a:t>100.0</a:t>
                      </a:r>
                      <a:endParaRPr lang="es-NI" sz="1800" b="0" i="0" u="none" strike="noStrike" dirty="0">
                        <a:solidFill>
                          <a:srgbClr val="FF00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rgbClr val="00B050"/>
                          </a:solidFill>
                          <a:effectLst/>
                        </a:rPr>
                        <a:t>100.0</a:t>
                      </a:r>
                      <a:endParaRPr lang="es-NI" sz="1800" b="0" i="0" u="none" strike="noStrike" dirty="0">
                        <a:solidFill>
                          <a:srgbClr val="00B05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chemeClr val="accent1">
                              <a:lumMod val="60000"/>
                              <a:lumOff val="40000"/>
                            </a:schemeClr>
                          </a:solidFill>
                          <a:effectLst/>
                        </a:rPr>
                        <a:t>100.0</a:t>
                      </a:r>
                      <a:endParaRPr lang="es-NI" sz="1800" b="0" i="0" u="none" strike="noStrike" dirty="0">
                        <a:solidFill>
                          <a:schemeClr val="accent1">
                            <a:lumMod val="60000"/>
                            <a:lumOff val="40000"/>
                          </a:schemeClr>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3191548"/>
                  </a:ext>
                </a:extLst>
              </a:tr>
              <a:tr h="180975">
                <a:tc>
                  <a:txBody>
                    <a:bodyPr/>
                    <a:lstStyle/>
                    <a:p>
                      <a:pPr algn="r" fontAlgn="b"/>
                      <a:r>
                        <a:rPr lang="es-NI" sz="1800" u="none" strike="noStrike" dirty="0">
                          <a:solidFill>
                            <a:srgbClr val="FF0000"/>
                          </a:solidFill>
                          <a:effectLst/>
                        </a:rPr>
                        <a:t>106.7</a:t>
                      </a:r>
                      <a:endParaRPr lang="es-NI" sz="1800" b="0" i="0" u="none" strike="noStrike" dirty="0">
                        <a:solidFill>
                          <a:srgbClr val="FF00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rgbClr val="00B050"/>
                          </a:solidFill>
                          <a:effectLst/>
                        </a:rPr>
                        <a:t>120.0</a:t>
                      </a:r>
                      <a:endParaRPr lang="es-NI" sz="1800" b="0" i="0" u="none" strike="noStrike" dirty="0">
                        <a:solidFill>
                          <a:srgbClr val="00B05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chemeClr val="accent1">
                              <a:lumMod val="60000"/>
                              <a:lumOff val="40000"/>
                            </a:schemeClr>
                          </a:solidFill>
                          <a:effectLst/>
                        </a:rPr>
                        <a:t>88.9</a:t>
                      </a:r>
                      <a:endParaRPr lang="es-NI" sz="1800" b="0" i="0" u="none" strike="noStrike" dirty="0">
                        <a:solidFill>
                          <a:schemeClr val="accent1">
                            <a:lumMod val="60000"/>
                            <a:lumOff val="40000"/>
                          </a:schemeClr>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496649"/>
                  </a:ext>
                </a:extLst>
              </a:tr>
            </a:tbl>
          </a:graphicData>
        </a:graphic>
      </p:graphicFrame>
      <p:graphicFrame>
        <p:nvGraphicFramePr>
          <p:cNvPr id="8" name="Tabla 7">
            <a:extLst>
              <a:ext uri="{FF2B5EF4-FFF2-40B4-BE49-F238E27FC236}">
                <a16:creationId xmlns:a16="http://schemas.microsoft.com/office/drawing/2014/main" id="{E5151038-D3D9-496E-9D9C-3931ABF76603}"/>
              </a:ext>
            </a:extLst>
          </p:cNvPr>
          <p:cNvGraphicFramePr>
            <a:graphicFrameLocks noGrp="1"/>
          </p:cNvGraphicFramePr>
          <p:nvPr>
            <p:extLst>
              <p:ext uri="{D42A27DB-BD31-4B8C-83A1-F6EECF244321}">
                <p14:modId xmlns:p14="http://schemas.microsoft.com/office/powerpoint/2010/main" val="458460416"/>
              </p:ext>
            </p:extLst>
          </p:nvPr>
        </p:nvGraphicFramePr>
        <p:xfrm>
          <a:off x="290273" y="2994581"/>
          <a:ext cx="5762998" cy="567690"/>
        </p:xfrm>
        <a:graphic>
          <a:graphicData uri="http://schemas.openxmlformats.org/drawingml/2006/table">
            <a:tbl>
              <a:tblPr>
                <a:tableStyleId>{2D5ABB26-0587-4C30-8999-92F81FD0307C}</a:tableStyleId>
              </a:tblPr>
              <a:tblGrid>
                <a:gridCol w="1434964">
                  <a:extLst>
                    <a:ext uri="{9D8B030D-6E8A-4147-A177-3AD203B41FA5}">
                      <a16:colId xmlns:a16="http://schemas.microsoft.com/office/drawing/2014/main" val="4015813822"/>
                    </a:ext>
                  </a:extLst>
                </a:gridCol>
                <a:gridCol w="821632">
                  <a:extLst>
                    <a:ext uri="{9D8B030D-6E8A-4147-A177-3AD203B41FA5}">
                      <a16:colId xmlns:a16="http://schemas.microsoft.com/office/drawing/2014/main" val="916323386"/>
                    </a:ext>
                  </a:extLst>
                </a:gridCol>
                <a:gridCol w="756056">
                  <a:extLst>
                    <a:ext uri="{9D8B030D-6E8A-4147-A177-3AD203B41FA5}">
                      <a16:colId xmlns:a16="http://schemas.microsoft.com/office/drawing/2014/main" val="976482592"/>
                    </a:ext>
                  </a:extLst>
                </a:gridCol>
                <a:gridCol w="817774">
                  <a:extLst>
                    <a:ext uri="{9D8B030D-6E8A-4147-A177-3AD203B41FA5}">
                      <a16:colId xmlns:a16="http://schemas.microsoft.com/office/drawing/2014/main" val="3426546300"/>
                    </a:ext>
                  </a:extLst>
                </a:gridCol>
                <a:gridCol w="833205">
                  <a:extLst>
                    <a:ext uri="{9D8B030D-6E8A-4147-A177-3AD203B41FA5}">
                      <a16:colId xmlns:a16="http://schemas.microsoft.com/office/drawing/2014/main" val="3243108515"/>
                    </a:ext>
                  </a:extLst>
                </a:gridCol>
                <a:gridCol w="1099367">
                  <a:extLst>
                    <a:ext uri="{9D8B030D-6E8A-4147-A177-3AD203B41FA5}">
                      <a16:colId xmlns:a16="http://schemas.microsoft.com/office/drawing/2014/main" val="731485844"/>
                    </a:ext>
                  </a:extLst>
                </a:gridCol>
              </a:tblGrid>
              <a:tr h="238125">
                <a:tc>
                  <a:txBody>
                    <a:bodyPr/>
                    <a:lstStyle/>
                    <a:p>
                      <a:pPr algn="ctr" fontAlgn="b"/>
                      <a:r>
                        <a:rPr lang="es-NI" sz="1800" u="none" strike="noStrike">
                          <a:effectLst/>
                        </a:rPr>
                        <a:t>Ponderaciones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w</a:t>
                      </a:r>
                      <a:r>
                        <a:rPr lang="es-NI" sz="1800" u="none" strike="noStrike" baseline="-25000">
                          <a:effectLst/>
                        </a:rPr>
                        <a:t>i</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a:effectLst/>
                        </a:rPr>
                        <a:t>Leche</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dirty="0">
                          <a:effectLst/>
                        </a:rPr>
                        <a:t>Pan</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a:effectLst/>
                        </a:rPr>
                        <a:t>Huevos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a:effectLst/>
                        </a:rPr>
                        <a:t>Suma</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8037811"/>
                  </a:ext>
                </a:extLst>
              </a:tr>
              <a:tr h="238125">
                <a:tc>
                  <a:txBody>
                    <a:bodyPr/>
                    <a:lstStyle/>
                    <a:p>
                      <a:pPr algn="ctr" fontAlgn="b"/>
                      <a:r>
                        <a:rPr lang="es-NI" sz="1800" u="none" strike="noStrike">
                          <a:effectLst/>
                        </a:rPr>
                        <a:t>Laspeyres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t>
                      </a:r>
                      <a:r>
                        <a:rPr lang="es-NI" sz="1800" u="none" strike="noStrike" baseline="-25000">
                          <a:effectLst/>
                        </a:rPr>
                        <a:t>i0</a:t>
                      </a:r>
                      <a:r>
                        <a:rPr lang="es-NI" sz="1800" u="none" strike="noStrike">
                          <a:effectLst/>
                        </a:rPr>
                        <a:t> · q</a:t>
                      </a:r>
                      <a:r>
                        <a:rPr lang="es-NI" sz="1800" u="none" strike="noStrike" baseline="-25000">
                          <a:effectLst/>
                        </a:rPr>
                        <a:t>i0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dirty="0">
                          <a:solidFill>
                            <a:srgbClr val="FF0000"/>
                          </a:solidFill>
                          <a:effectLst/>
                        </a:rPr>
                        <a:t>750</a:t>
                      </a:r>
                      <a:endParaRPr lang="es-NI" sz="1800" b="0" i="0" u="none" strike="noStrike" dirty="0">
                        <a:solidFill>
                          <a:srgbClr val="FF0000"/>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dirty="0">
                          <a:solidFill>
                            <a:srgbClr val="00B050"/>
                          </a:solidFill>
                          <a:effectLst/>
                        </a:rPr>
                        <a:t>450</a:t>
                      </a:r>
                      <a:endParaRPr lang="es-NI" sz="1800" b="0" i="0" u="none" strike="noStrike" dirty="0">
                        <a:solidFill>
                          <a:srgbClr val="00B050"/>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dirty="0">
                          <a:solidFill>
                            <a:schemeClr val="accent1">
                              <a:lumMod val="60000"/>
                              <a:lumOff val="40000"/>
                            </a:schemeClr>
                          </a:solidFill>
                          <a:effectLst/>
                        </a:rPr>
                        <a:t>2,475</a:t>
                      </a:r>
                      <a:endParaRPr lang="es-NI" sz="1800" b="0" i="0" u="none" strike="noStrike" dirty="0">
                        <a:solidFill>
                          <a:schemeClr val="accent1">
                            <a:lumMod val="60000"/>
                            <a:lumOff val="40000"/>
                          </a:schemeClr>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NI" sz="1800" u="none" strike="noStrike" dirty="0">
                          <a:effectLst/>
                        </a:rPr>
                        <a:t>3,675</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2865838"/>
                  </a:ext>
                </a:extLst>
              </a:tr>
            </a:tbl>
          </a:graphicData>
        </a:graphic>
      </p:graphicFrame>
      <p:graphicFrame>
        <p:nvGraphicFramePr>
          <p:cNvPr id="4" name="Tabla 3">
            <a:extLst>
              <a:ext uri="{FF2B5EF4-FFF2-40B4-BE49-F238E27FC236}">
                <a16:creationId xmlns:a16="http://schemas.microsoft.com/office/drawing/2014/main" id="{376F1546-4643-466C-B665-F18B91CC389A}"/>
              </a:ext>
            </a:extLst>
          </p:cNvPr>
          <p:cNvGraphicFramePr>
            <a:graphicFrameLocks noGrp="1"/>
          </p:cNvGraphicFramePr>
          <p:nvPr>
            <p:extLst>
              <p:ext uri="{D42A27DB-BD31-4B8C-83A1-F6EECF244321}">
                <p14:modId xmlns:p14="http://schemas.microsoft.com/office/powerpoint/2010/main" val="3196134674"/>
              </p:ext>
            </p:extLst>
          </p:nvPr>
        </p:nvGraphicFramePr>
        <p:xfrm>
          <a:off x="7151516" y="1249343"/>
          <a:ext cx="3068546" cy="1419225"/>
        </p:xfrm>
        <a:graphic>
          <a:graphicData uri="http://schemas.openxmlformats.org/drawingml/2006/table">
            <a:tbl>
              <a:tblPr>
                <a:tableStyleId>{2D5ABB26-0587-4C30-8999-92F81FD0307C}</a:tableStyleId>
              </a:tblPr>
              <a:tblGrid>
                <a:gridCol w="1643864">
                  <a:extLst>
                    <a:ext uri="{9D8B030D-6E8A-4147-A177-3AD203B41FA5}">
                      <a16:colId xmlns:a16="http://schemas.microsoft.com/office/drawing/2014/main" val="3910496116"/>
                    </a:ext>
                  </a:extLst>
                </a:gridCol>
                <a:gridCol w="1424682">
                  <a:extLst>
                    <a:ext uri="{9D8B030D-6E8A-4147-A177-3AD203B41FA5}">
                      <a16:colId xmlns:a16="http://schemas.microsoft.com/office/drawing/2014/main" val="46348273"/>
                    </a:ext>
                  </a:extLst>
                </a:gridCol>
              </a:tblGrid>
              <a:tr h="161925">
                <a:tc gridSpan="2">
                  <a:txBody>
                    <a:bodyPr/>
                    <a:lstStyle/>
                    <a:p>
                      <a:pPr algn="ctr" fontAlgn="b"/>
                      <a:r>
                        <a:rPr lang="es-NI" sz="1800" u="none" strike="noStrike" dirty="0">
                          <a:effectLst/>
                        </a:rPr>
                        <a:t>Índices complejos</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extLst>
                  <a:ext uri="{0D108BD9-81ED-4DB2-BD59-A6C34878D82A}">
                    <a16:rowId xmlns:a16="http://schemas.microsoft.com/office/drawing/2014/main" val="1680639900"/>
                  </a:ext>
                </a:extLst>
              </a:tr>
              <a:tr h="161925">
                <a:tc>
                  <a:txBody>
                    <a:bodyPr/>
                    <a:lstStyle/>
                    <a:p>
                      <a:pPr algn="ctr" fontAlgn="b"/>
                      <a:r>
                        <a:rPr lang="es-NI" sz="1800" u="none" strike="noStrike">
                          <a:effectLst/>
                        </a:rPr>
                        <a:t>Laspeyres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Paasche</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599622"/>
                  </a:ext>
                </a:extLst>
              </a:tr>
              <a:tr h="209550">
                <a:tc>
                  <a:txBody>
                    <a:bodyPr/>
                    <a:lstStyle/>
                    <a:p>
                      <a:pPr algn="ctr" fontAlgn="b"/>
                      <a:r>
                        <a:rPr lang="es-NI" sz="1800" u="none" strike="noStrike">
                          <a:effectLst/>
                        </a:rPr>
                        <a:t>L(p)</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P(p)</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2038039"/>
                  </a:ext>
                </a:extLst>
              </a:tr>
              <a:tr h="180975">
                <a:tc>
                  <a:txBody>
                    <a:bodyPr/>
                    <a:lstStyle/>
                    <a:p>
                      <a:pPr algn="r" fontAlgn="b"/>
                      <a:r>
                        <a:rPr lang="es-NI" sz="1800" u="none" strike="noStrike" dirty="0">
                          <a:effectLst/>
                        </a:rPr>
                        <a:t>100</a:t>
                      </a:r>
                      <a:endParaRPr lang="es-NI" sz="1800" b="0" i="0" u="none" strike="noStrike" dirty="0">
                        <a:solidFill>
                          <a:srgbClr val="FF66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endParaRPr lang="es-NI" sz="1800" b="0" i="0" u="none" strike="noStrike" dirty="0">
                        <a:solidFill>
                          <a:srgbClr val="FF66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6626588"/>
                  </a:ext>
                </a:extLst>
              </a:tr>
              <a:tr h="180975">
                <a:tc>
                  <a:txBody>
                    <a:bodyPr/>
                    <a:lstStyle/>
                    <a:p>
                      <a:pPr algn="r" fontAlgn="b"/>
                      <a:r>
                        <a:rPr lang="es-NI" sz="1800" u="none" strike="noStrike" dirty="0">
                          <a:effectLst/>
                        </a:rPr>
                        <a:t>96.3</a:t>
                      </a:r>
                      <a:endParaRPr lang="es-NI" sz="1800" b="0" i="0" u="none" strike="noStrike" dirty="0">
                        <a:solidFill>
                          <a:srgbClr val="FF66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endParaRPr lang="es-NI" sz="1800" b="0" i="0" u="none" strike="noStrike" dirty="0">
                        <a:solidFill>
                          <a:srgbClr val="FF66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0882296"/>
                  </a:ext>
                </a:extLst>
              </a:tr>
            </a:tbl>
          </a:graphicData>
        </a:graphic>
      </p:graphicFrame>
    </p:spTree>
    <p:extLst>
      <p:ext uri="{BB962C8B-B14F-4D97-AF65-F5344CB8AC3E}">
        <p14:creationId xmlns:p14="http://schemas.microsoft.com/office/powerpoint/2010/main" val="3455042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612E493D-EFD5-47C0-9DB4-F1D982EFDD72}"/>
              </a:ext>
            </a:extLst>
          </p:cNvPr>
          <p:cNvSpPr/>
          <p:nvPr/>
        </p:nvSpPr>
        <p:spPr>
          <a:xfrm>
            <a:off x="2445151" y="0"/>
            <a:ext cx="7520072"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Números Índices: Ejemplo</a:t>
            </a:r>
          </a:p>
        </p:txBody>
      </p:sp>
      <p:graphicFrame>
        <p:nvGraphicFramePr>
          <p:cNvPr id="7" name="Tabla 6">
            <a:extLst>
              <a:ext uri="{FF2B5EF4-FFF2-40B4-BE49-F238E27FC236}">
                <a16:creationId xmlns:a16="http://schemas.microsoft.com/office/drawing/2014/main" id="{E6A477B1-DB2E-4A3B-B405-48A0788B6EF9}"/>
              </a:ext>
            </a:extLst>
          </p:cNvPr>
          <p:cNvGraphicFramePr>
            <a:graphicFrameLocks noGrp="1"/>
          </p:cNvGraphicFramePr>
          <p:nvPr/>
        </p:nvGraphicFramePr>
        <p:xfrm>
          <a:off x="431328" y="1033434"/>
          <a:ext cx="4641945" cy="1479830"/>
        </p:xfrm>
        <a:graphic>
          <a:graphicData uri="http://schemas.openxmlformats.org/drawingml/2006/table">
            <a:tbl>
              <a:tblPr>
                <a:tableStyleId>{2D5ABB26-0587-4C30-8999-92F81FD0307C}</a:tableStyleId>
              </a:tblPr>
              <a:tblGrid>
                <a:gridCol w="2069953">
                  <a:extLst>
                    <a:ext uri="{9D8B030D-6E8A-4147-A177-3AD203B41FA5}">
                      <a16:colId xmlns:a16="http://schemas.microsoft.com/office/drawing/2014/main" val="406838688"/>
                    </a:ext>
                  </a:extLst>
                </a:gridCol>
                <a:gridCol w="1274411">
                  <a:extLst>
                    <a:ext uri="{9D8B030D-6E8A-4147-A177-3AD203B41FA5}">
                      <a16:colId xmlns:a16="http://schemas.microsoft.com/office/drawing/2014/main" val="3007550900"/>
                    </a:ext>
                  </a:extLst>
                </a:gridCol>
                <a:gridCol w="1297581">
                  <a:extLst>
                    <a:ext uri="{9D8B030D-6E8A-4147-A177-3AD203B41FA5}">
                      <a16:colId xmlns:a16="http://schemas.microsoft.com/office/drawing/2014/main" val="4013459350"/>
                    </a:ext>
                  </a:extLst>
                </a:gridCol>
              </a:tblGrid>
              <a:tr h="161925">
                <a:tc gridSpan="3">
                  <a:txBody>
                    <a:bodyPr/>
                    <a:lstStyle/>
                    <a:p>
                      <a:pPr algn="ctr" fontAlgn="b"/>
                      <a:r>
                        <a:rPr lang="es-NI" sz="1800" u="none" strike="noStrike" dirty="0">
                          <a:effectLst/>
                        </a:rPr>
                        <a:t>Índices Simples</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tc hMerge="1">
                  <a:txBody>
                    <a:bodyPr/>
                    <a:lstStyle/>
                    <a:p>
                      <a:endParaRPr lang="es-NI"/>
                    </a:p>
                  </a:txBody>
                  <a:tcPr/>
                </a:tc>
                <a:extLst>
                  <a:ext uri="{0D108BD9-81ED-4DB2-BD59-A6C34878D82A}">
                    <a16:rowId xmlns:a16="http://schemas.microsoft.com/office/drawing/2014/main" val="3250662056"/>
                  </a:ext>
                </a:extLst>
              </a:tr>
              <a:tr h="161925">
                <a:tc>
                  <a:txBody>
                    <a:bodyPr/>
                    <a:lstStyle/>
                    <a:p>
                      <a:pPr algn="ctr" fontAlgn="b"/>
                      <a:r>
                        <a:rPr lang="es-NI" sz="1800" u="none" strike="noStrike">
                          <a:effectLst/>
                        </a:rPr>
                        <a:t>Leche</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Pan</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Huevos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645030"/>
                  </a:ext>
                </a:extLst>
              </a:tr>
              <a:tr h="344450">
                <a:tc>
                  <a:txBody>
                    <a:bodyPr/>
                    <a:lstStyle/>
                    <a:p>
                      <a:pPr algn="ctr" fontAlgn="b"/>
                      <a:r>
                        <a:rPr lang="es-NI" sz="1800" u="none" strike="noStrike">
                          <a:effectLst/>
                        </a:rPr>
                        <a:t>Ip</a:t>
                      </a:r>
                      <a:r>
                        <a:rPr lang="es-NI" sz="1800" u="none" strike="noStrike" baseline="30000">
                          <a:effectLst/>
                        </a:rPr>
                        <a:t>(1)</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Ip</a:t>
                      </a:r>
                      <a:r>
                        <a:rPr lang="es-NI" sz="1800" u="none" strike="noStrike" baseline="30000">
                          <a:effectLst/>
                        </a:rPr>
                        <a:t>(2)</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Ip</a:t>
                      </a:r>
                      <a:r>
                        <a:rPr lang="es-NI" sz="1800" u="none" strike="noStrike" baseline="30000">
                          <a:effectLst/>
                        </a:rPr>
                        <a:t>(3)</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5168111"/>
                  </a:ext>
                </a:extLst>
              </a:tr>
              <a:tr h="180975">
                <a:tc>
                  <a:txBody>
                    <a:bodyPr/>
                    <a:lstStyle/>
                    <a:p>
                      <a:pPr algn="r" fontAlgn="b"/>
                      <a:r>
                        <a:rPr lang="es-NI" sz="1800" u="none" strike="noStrike" dirty="0">
                          <a:solidFill>
                            <a:srgbClr val="FF0000"/>
                          </a:solidFill>
                          <a:effectLst/>
                        </a:rPr>
                        <a:t>100.0</a:t>
                      </a:r>
                      <a:endParaRPr lang="es-NI" sz="1800" b="0" i="0" u="none" strike="noStrike" dirty="0">
                        <a:solidFill>
                          <a:srgbClr val="FF00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rgbClr val="00B050"/>
                          </a:solidFill>
                          <a:effectLst/>
                        </a:rPr>
                        <a:t>100.0</a:t>
                      </a:r>
                      <a:endParaRPr lang="es-NI" sz="1800" b="0" i="0" u="none" strike="noStrike" dirty="0">
                        <a:solidFill>
                          <a:srgbClr val="00B05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chemeClr val="accent1">
                              <a:lumMod val="60000"/>
                              <a:lumOff val="40000"/>
                            </a:schemeClr>
                          </a:solidFill>
                          <a:effectLst/>
                        </a:rPr>
                        <a:t>100.0</a:t>
                      </a:r>
                      <a:endParaRPr lang="es-NI" sz="1800" b="0" i="0" u="none" strike="noStrike" dirty="0">
                        <a:solidFill>
                          <a:schemeClr val="accent1">
                            <a:lumMod val="60000"/>
                            <a:lumOff val="40000"/>
                          </a:schemeClr>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3191548"/>
                  </a:ext>
                </a:extLst>
              </a:tr>
              <a:tr h="180975">
                <a:tc>
                  <a:txBody>
                    <a:bodyPr/>
                    <a:lstStyle/>
                    <a:p>
                      <a:pPr algn="r" fontAlgn="b"/>
                      <a:r>
                        <a:rPr lang="es-NI" sz="1800" u="none" strike="noStrike" dirty="0">
                          <a:solidFill>
                            <a:srgbClr val="FF0000"/>
                          </a:solidFill>
                          <a:effectLst/>
                        </a:rPr>
                        <a:t>106.7</a:t>
                      </a:r>
                      <a:endParaRPr lang="es-NI" sz="1800" b="0" i="0" u="none" strike="noStrike" dirty="0">
                        <a:solidFill>
                          <a:srgbClr val="FF00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rgbClr val="00B050"/>
                          </a:solidFill>
                          <a:effectLst/>
                        </a:rPr>
                        <a:t>120.0</a:t>
                      </a:r>
                      <a:endParaRPr lang="es-NI" sz="1800" b="0" i="0" u="none" strike="noStrike" dirty="0">
                        <a:solidFill>
                          <a:srgbClr val="00B05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chemeClr val="accent1">
                              <a:lumMod val="60000"/>
                              <a:lumOff val="40000"/>
                            </a:schemeClr>
                          </a:solidFill>
                          <a:effectLst/>
                        </a:rPr>
                        <a:t>88.9</a:t>
                      </a:r>
                      <a:endParaRPr lang="es-NI" sz="1800" b="0" i="0" u="none" strike="noStrike" dirty="0">
                        <a:solidFill>
                          <a:schemeClr val="accent1">
                            <a:lumMod val="60000"/>
                            <a:lumOff val="40000"/>
                          </a:schemeClr>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496649"/>
                  </a:ext>
                </a:extLst>
              </a:tr>
            </a:tbl>
          </a:graphicData>
        </a:graphic>
      </p:graphicFrame>
      <p:graphicFrame>
        <p:nvGraphicFramePr>
          <p:cNvPr id="4" name="Tabla 3">
            <a:extLst>
              <a:ext uri="{FF2B5EF4-FFF2-40B4-BE49-F238E27FC236}">
                <a16:creationId xmlns:a16="http://schemas.microsoft.com/office/drawing/2014/main" id="{376F1546-4643-466C-B665-F18B91CC389A}"/>
              </a:ext>
            </a:extLst>
          </p:cNvPr>
          <p:cNvGraphicFramePr>
            <a:graphicFrameLocks noGrp="1"/>
          </p:cNvGraphicFramePr>
          <p:nvPr>
            <p:extLst>
              <p:ext uri="{D42A27DB-BD31-4B8C-83A1-F6EECF244321}">
                <p14:modId xmlns:p14="http://schemas.microsoft.com/office/powerpoint/2010/main" val="3164461780"/>
              </p:ext>
            </p:extLst>
          </p:nvPr>
        </p:nvGraphicFramePr>
        <p:xfrm>
          <a:off x="7151516" y="1249343"/>
          <a:ext cx="3068546" cy="1419225"/>
        </p:xfrm>
        <a:graphic>
          <a:graphicData uri="http://schemas.openxmlformats.org/drawingml/2006/table">
            <a:tbl>
              <a:tblPr>
                <a:tableStyleId>{2D5ABB26-0587-4C30-8999-92F81FD0307C}</a:tableStyleId>
              </a:tblPr>
              <a:tblGrid>
                <a:gridCol w="1643864">
                  <a:extLst>
                    <a:ext uri="{9D8B030D-6E8A-4147-A177-3AD203B41FA5}">
                      <a16:colId xmlns:a16="http://schemas.microsoft.com/office/drawing/2014/main" val="3910496116"/>
                    </a:ext>
                  </a:extLst>
                </a:gridCol>
                <a:gridCol w="1424682">
                  <a:extLst>
                    <a:ext uri="{9D8B030D-6E8A-4147-A177-3AD203B41FA5}">
                      <a16:colId xmlns:a16="http://schemas.microsoft.com/office/drawing/2014/main" val="46348273"/>
                    </a:ext>
                  </a:extLst>
                </a:gridCol>
              </a:tblGrid>
              <a:tr h="161925">
                <a:tc gridSpan="2">
                  <a:txBody>
                    <a:bodyPr/>
                    <a:lstStyle/>
                    <a:p>
                      <a:pPr algn="ctr" fontAlgn="b"/>
                      <a:r>
                        <a:rPr lang="es-NI" sz="1800" u="none" strike="noStrike" dirty="0">
                          <a:effectLst/>
                        </a:rPr>
                        <a:t>Índices complejos</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extLst>
                  <a:ext uri="{0D108BD9-81ED-4DB2-BD59-A6C34878D82A}">
                    <a16:rowId xmlns:a16="http://schemas.microsoft.com/office/drawing/2014/main" val="1680639900"/>
                  </a:ext>
                </a:extLst>
              </a:tr>
              <a:tr h="161925">
                <a:tc>
                  <a:txBody>
                    <a:bodyPr/>
                    <a:lstStyle/>
                    <a:p>
                      <a:pPr algn="ctr" fontAlgn="b"/>
                      <a:r>
                        <a:rPr lang="es-NI" sz="1800" u="none" strike="noStrike">
                          <a:effectLst/>
                        </a:rPr>
                        <a:t>Laspeyres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Paasche</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599622"/>
                  </a:ext>
                </a:extLst>
              </a:tr>
              <a:tr h="209550">
                <a:tc>
                  <a:txBody>
                    <a:bodyPr/>
                    <a:lstStyle/>
                    <a:p>
                      <a:pPr algn="ctr" fontAlgn="b"/>
                      <a:r>
                        <a:rPr lang="es-NI" sz="1800" u="none" strike="noStrike">
                          <a:effectLst/>
                        </a:rPr>
                        <a:t>L(p)</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P(p)</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2038039"/>
                  </a:ext>
                </a:extLst>
              </a:tr>
              <a:tr h="180975">
                <a:tc>
                  <a:txBody>
                    <a:bodyPr/>
                    <a:lstStyle/>
                    <a:p>
                      <a:pPr algn="r" fontAlgn="b"/>
                      <a:r>
                        <a:rPr lang="es-NI" sz="1800" u="none" strike="noStrike" dirty="0">
                          <a:effectLst/>
                        </a:rPr>
                        <a:t>100</a:t>
                      </a:r>
                      <a:endParaRPr lang="es-NI" sz="1800" b="0" i="0" u="none" strike="noStrike" dirty="0">
                        <a:solidFill>
                          <a:srgbClr val="FF66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b="0" i="0" u="none" strike="noStrike" dirty="0">
                          <a:solidFill>
                            <a:srgbClr val="FF6600"/>
                          </a:solidFill>
                          <a:effectLst/>
                          <a:latin typeface="Verdana" panose="020B0604030504040204" pitchFamily="34" charset="0"/>
                          <a:ea typeface="Verdana" panose="020B0604030504040204" pitchFamily="34" charset="0"/>
                        </a:rPr>
                        <a:t>100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6626588"/>
                  </a:ext>
                </a:extLst>
              </a:tr>
              <a:tr h="180975">
                <a:tc>
                  <a:txBody>
                    <a:bodyPr/>
                    <a:lstStyle/>
                    <a:p>
                      <a:pPr algn="r" fontAlgn="b"/>
                      <a:r>
                        <a:rPr lang="es-NI" sz="1800" u="none" strike="noStrike" dirty="0">
                          <a:effectLst/>
                        </a:rPr>
                        <a:t>96.3</a:t>
                      </a:r>
                      <a:endParaRPr lang="es-NI" sz="1800" b="0" i="0" u="none" strike="noStrike" dirty="0">
                        <a:solidFill>
                          <a:srgbClr val="FF66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endParaRPr lang="es-NI" sz="1800" b="0" i="0" u="none" strike="noStrike" dirty="0">
                        <a:solidFill>
                          <a:srgbClr val="FF66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0882296"/>
                  </a:ext>
                </a:extLst>
              </a:tr>
            </a:tbl>
          </a:graphicData>
        </a:graphic>
      </p:graphicFrame>
      <p:graphicFrame>
        <p:nvGraphicFramePr>
          <p:cNvPr id="6" name="Tabla 5">
            <a:extLst>
              <a:ext uri="{FF2B5EF4-FFF2-40B4-BE49-F238E27FC236}">
                <a16:creationId xmlns:a16="http://schemas.microsoft.com/office/drawing/2014/main" id="{03DFAF4D-6105-47E8-AF1B-4FAA0FDDBC7A}"/>
              </a:ext>
            </a:extLst>
          </p:cNvPr>
          <p:cNvGraphicFramePr>
            <a:graphicFrameLocks noGrp="1"/>
          </p:cNvGraphicFramePr>
          <p:nvPr>
            <p:extLst>
              <p:ext uri="{D42A27DB-BD31-4B8C-83A1-F6EECF244321}">
                <p14:modId xmlns:p14="http://schemas.microsoft.com/office/powerpoint/2010/main" val="129852482"/>
              </p:ext>
            </p:extLst>
          </p:nvPr>
        </p:nvGraphicFramePr>
        <p:xfrm>
          <a:off x="576874" y="3209357"/>
          <a:ext cx="8226819" cy="1135380"/>
        </p:xfrm>
        <a:graphic>
          <a:graphicData uri="http://schemas.openxmlformats.org/drawingml/2006/table">
            <a:tbl>
              <a:tblPr>
                <a:tableStyleId>{2D5ABB26-0587-4C30-8999-92F81FD0307C}</a:tableStyleId>
              </a:tblPr>
              <a:tblGrid>
                <a:gridCol w="683731">
                  <a:extLst>
                    <a:ext uri="{9D8B030D-6E8A-4147-A177-3AD203B41FA5}">
                      <a16:colId xmlns:a16="http://schemas.microsoft.com/office/drawing/2014/main" val="1830981809"/>
                    </a:ext>
                  </a:extLst>
                </a:gridCol>
                <a:gridCol w="1372974">
                  <a:extLst>
                    <a:ext uri="{9D8B030D-6E8A-4147-A177-3AD203B41FA5}">
                      <a16:colId xmlns:a16="http://schemas.microsoft.com/office/drawing/2014/main" val="1209700168"/>
                    </a:ext>
                  </a:extLst>
                </a:gridCol>
                <a:gridCol w="1174472">
                  <a:extLst>
                    <a:ext uri="{9D8B030D-6E8A-4147-A177-3AD203B41FA5}">
                      <a16:colId xmlns:a16="http://schemas.microsoft.com/office/drawing/2014/main" val="4237538953"/>
                    </a:ext>
                  </a:extLst>
                </a:gridCol>
                <a:gridCol w="1075221">
                  <a:extLst>
                    <a:ext uri="{9D8B030D-6E8A-4147-A177-3AD203B41FA5}">
                      <a16:colId xmlns:a16="http://schemas.microsoft.com/office/drawing/2014/main" val="401768684"/>
                    </a:ext>
                  </a:extLst>
                </a:gridCol>
                <a:gridCol w="1157930">
                  <a:extLst>
                    <a:ext uri="{9D8B030D-6E8A-4147-A177-3AD203B41FA5}">
                      <a16:colId xmlns:a16="http://schemas.microsoft.com/office/drawing/2014/main" val="516287266"/>
                    </a:ext>
                  </a:extLst>
                </a:gridCol>
                <a:gridCol w="1191014">
                  <a:extLst>
                    <a:ext uri="{9D8B030D-6E8A-4147-A177-3AD203B41FA5}">
                      <a16:colId xmlns:a16="http://schemas.microsoft.com/office/drawing/2014/main" val="3118021768"/>
                    </a:ext>
                  </a:extLst>
                </a:gridCol>
                <a:gridCol w="1571477">
                  <a:extLst>
                    <a:ext uri="{9D8B030D-6E8A-4147-A177-3AD203B41FA5}">
                      <a16:colId xmlns:a16="http://schemas.microsoft.com/office/drawing/2014/main" val="3044406659"/>
                    </a:ext>
                  </a:extLst>
                </a:gridCol>
              </a:tblGrid>
              <a:tr h="161925">
                <a:tc>
                  <a:txBody>
                    <a:bodyPr/>
                    <a:lstStyle/>
                    <a:p>
                      <a:pPr algn="l" fontAlgn="b"/>
                      <a:r>
                        <a:rPr lang="es-NI" sz="1800" u="none" strike="noStrike">
                          <a:effectLst/>
                        </a:rPr>
                        <a:t> </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fontAlgn="b"/>
                      <a:r>
                        <a:rPr lang="es-NI" sz="1800" u="none" strike="noStrike" dirty="0">
                          <a:effectLst/>
                        </a:rPr>
                        <a:t>Leche</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tc gridSpan="2">
                  <a:txBody>
                    <a:bodyPr/>
                    <a:lstStyle/>
                    <a:p>
                      <a:pPr algn="ctr" fontAlgn="b"/>
                      <a:r>
                        <a:rPr lang="es-NI" sz="1800" u="none" strike="noStrike">
                          <a:effectLst/>
                        </a:rPr>
                        <a:t>Pan</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tc gridSpan="2">
                  <a:txBody>
                    <a:bodyPr/>
                    <a:lstStyle/>
                    <a:p>
                      <a:pPr algn="ctr" fontAlgn="b"/>
                      <a:r>
                        <a:rPr lang="es-NI" sz="1800" u="none" strike="noStrike">
                          <a:effectLst/>
                        </a:rPr>
                        <a:t>Huevos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extLst>
                  <a:ext uri="{0D108BD9-81ED-4DB2-BD59-A6C34878D82A}">
                    <a16:rowId xmlns:a16="http://schemas.microsoft.com/office/drawing/2014/main" val="2293835936"/>
                  </a:ext>
                </a:extLst>
              </a:tr>
              <a:tr h="161925">
                <a:tc>
                  <a:txBody>
                    <a:bodyPr/>
                    <a:lstStyle/>
                    <a:p>
                      <a:pPr algn="l" fontAlgn="b"/>
                      <a:r>
                        <a:rPr lang="es-NI" sz="1800" u="none" strike="noStrike">
                          <a:effectLst/>
                        </a:rPr>
                        <a:t> </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Precio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Cantidad</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Precio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Cantidad</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Precio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Cantidad</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381478"/>
                  </a:ext>
                </a:extLst>
              </a:tr>
              <a:tr h="209550">
                <a:tc>
                  <a:txBody>
                    <a:bodyPr/>
                    <a:lstStyle/>
                    <a:p>
                      <a:pPr algn="ctr" fontAlgn="b"/>
                      <a:r>
                        <a:rPr lang="es-NI" sz="1800" u="none" strike="noStrike">
                          <a:effectLst/>
                        </a:rPr>
                        <a:t>Año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t>
                      </a:r>
                      <a:r>
                        <a:rPr lang="es-NI" sz="1800" u="none" strike="noStrike" baseline="-25000">
                          <a:effectLst/>
                        </a:rPr>
                        <a:t>1t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q</a:t>
                      </a:r>
                      <a:r>
                        <a:rPr lang="es-NI" sz="1800" u="none" strike="noStrike" baseline="-25000">
                          <a:effectLst/>
                        </a:rPr>
                        <a:t>1t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 p</a:t>
                      </a:r>
                      <a:r>
                        <a:rPr lang="es-NI" sz="1800" u="none" strike="noStrike" baseline="-25000">
                          <a:effectLst/>
                        </a:rPr>
                        <a:t>2t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q</a:t>
                      </a:r>
                      <a:r>
                        <a:rPr lang="es-NI" sz="1800" u="none" strike="noStrike" baseline="-25000">
                          <a:effectLst/>
                        </a:rPr>
                        <a:t>2t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t>
                      </a:r>
                      <a:r>
                        <a:rPr lang="es-NI" sz="1800" u="none" strike="noStrike" baseline="-25000">
                          <a:effectLst/>
                        </a:rPr>
                        <a:t>3t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q</a:t>
                      </a:r>
                      <a:r>
                        <a:rPr lang="es-NI" sz="1800" u="none" strike="noStrike" baseline="-25000">
                          <a:effectLst/>
                        </a:rPr>
                        <a:t>3t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0489719"/>
                  </a:ext>
                </a:extLst>
              </a:tr>
              <a:tr h="275295">
                <a:tc>
                  <a:txBody>
                    <a:bodyPr/>
                    <a:lstStyle/>
                    <a:p>
                      <a:pPr algn="ctr" fontAlgn="b"/>
                      <a:r>
                        <a:rPr lang="es-NI" sz="1800" u="none" strike="noStrike">
                          <a:effectLst/>
                        </a:rPr>
                        <a:t>1991</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rgbClr val="FF0000"/>
                          </a:solidFill>
                          <a:effectLst/>
                        </a:rPr>
                        <a:t>75</a:t>
                      </a:r>
                      <a:endParaRPr lang="es-NI" sz="1800" b="0" i="0" u="none" strike="noStrike" dirty="0">
                        <a:solidFill>
                          <a:srgbClr val="FF00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rgbClr val="FF0000"/>
                          </a:solidFill>
                          <a:effectLst/>
                        </a:rPr>
                        <a:t>10</a:t>
                      </a:r>
                      <a:endParaRPr lang="es-NI" sz="1800" b="0" i="0" u="none" strike="noStrike" dirty="0">
                        <a:solidFill>
                          <a:srgbClr val="FF00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rgbClr val="00B050"/>
                          </a:solidFill>
                          <a:effectLst/>
                        </a:rPr>
                        <a:t>50</a:t>
                      </a:r>
                      <a:endParaRPr lang="es-NI" sz="1800" b="0" i="0" u="none" strike="noStrike" dirty="0">
                        <a:solidFill>
                          <a:srgbClr val="00B05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rgbClr val="00B050"/>
                          </a:solidFill>
                          <a:effectLst/>
                        </a:rPr>
                        <a:t>9</a:t>
                      </a:r>
                      <a:endParaRPr lang="es-NI" sz="1800" b="0" i="0" u="none" strike="noStrike" dirty="0">
                        <a:solidFill>
                          <a:srgbClr val="00B05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chemeClr val="accent1">
                              <a:lumMod val="60000"/>
                              <a:lumOff val="40000"/>
                            </a:schemeClr>
                          </a:solidFill>
                          <a:effectLst/>
                        </a:rPr>
                        <a:t>225</a:t>
                      </a:r>
                      <a:endParaRPr lang="es-NI" sz="1800" b="0" i="0" u="none" strike="noStrike" dirty="0">
                        <a:solidFill>
                          <a:schemeClr val="accent1">
                            <a:lumMod val="60000"/>
                            <a:lumOff val="40000"/>
                          </a:schemeClr>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chemeClr val="accent1">
                              <a:lumMod val="60000"/>
                              <a:lumOff val="40000"/>
                            </a:schemeClr>
                          </a:solidFill>
                          <a:effectLst/>
                        </a:rPr>
                        <a:t>11</a:t>
                      </a:r>
                      <a:endParaRPr lang="es-NI" sz="1800" b="0" i="0" u="none" strike="noStrike" dirty="0">
                        <a:solidFill>
                          <a:schemeClr val="accent1">
                            <a:lumMod val="60000"/>
                            <a:lumOff val="40000"/>
                          </a:schemeClr>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007730"/>
                  </a:ext>
                </a:extLst>
              </a:tr>
            </a:tbl>
          </a:graphicData>
        </a:graphic>
      </p:graphicFrame>
    </p:spTree>
    <p:extLst>
      <p:ext uri="{BB962C8B-B14F-4D97-AF65-F5344CB8AC3E}">
        <p14:creationId xmlns:p14="http://schemas.microsoft.com/office/powerpoint/2010/main" val="3221722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612E493D-EFD5-47C0-9DB4-F1D982EFDD72}"/>
              </a:ext>
            </a:extLst>
          </p:cNvPr>
          <p:cNvSpPr/>
          <p:nvPr/>
        </p:nvSpPr>
        <p:spPr>
          <a:xfrm>
            <a:off x="2445151" y="0"/>
            <a:ext cx="7520072"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Números Índices: Ejemplo</a:t>
            </a:r>
          </a:p>
        </p:txBody>
      </p:sp>
      <p:graphicFrame>
        <p:nvGraphicFramePr>
          <p:cNvPr id="7" name="Tabla 6">
            <a:extLst>
              <a:ext uri="{FF2B5EF4-FFF2-40B4-BE49-F238E27FC236}">
                <a16:creationId xmlns:a16="http://schemas.microsoft.com/office/drawing/2014/main" id="{E6A477B1-DB2E-4A3B-B405-48A0788B6EF9}"/>
              </a:ext>
            </a:extLst>
          </p:cNvPr>
          <p:cNvGraphicFramePr>
            <a:graphicFrameLocks noGrp="1"/>
          </p:cNvGraphicFramePr>
          <p:nvPr/>
        </p:nvGraphicFramePr>
        <p:xfrm>
          <a:off x="431328" y="1033434"/>
          <a:ext cx="4641945" cy="1479830"/>
        </p:xfrm>
        <a:graphic>
          <a:graphicData uri="http://schemas.openxmlformats.org/drawingml/2006/table">
            <a:tbl>
              <a:tblPr>
                <a:tableStyleId>{2D5ABB26-0587-4C30-8999-92F81FD0307C}</a:tableStyleId>
              </a:tblPr>
              <a:tblGrid>
                <a:gridCol w="2069953">
                  <a:extLst>
                    <a:ext uri="{9D8B030D-6E8A-4147-A177-3AD203B41FA5}">
                      <a16:colId xmlns:a16="http://schemas.microsoft.com/office/drawing/2014/main" val="406838688"/>
                    </a:ext>
                  </a:extLst>
                </a:gridCol>
                <a:gridCol w="1274411">
                  <a:extLst>
                    <a:ext uri="{9D8B030D-6E8A-4147-A177-3AD203B41FA5}">
                      <a16:colId xmlns:a16="http://schemas.microsoft.com/office/drawing/2014/main" val="3007550900"/>
                    </a:ext>
                  </a:extLst>
                </a:gridCol>
                <a:gridCol w="1297581">
                  <a:extLst>
                    <a:ext uri="{9D8B030D-6E8A-4147-A177-3AD203B41FA5}">
                      <a16:colId xmlns:a16="http://schemas.microsoft.com/office/drawing/2014/main" val="4013459350"/>
                    </a:ext>
                  </a:extLst>
                </a:gridCol>
              </a:tblGrid>
              <a:tr h="161925">
                <a:tc gridSpan="3">
                  <a:txBody>
                    <a:bodyPr/>
                    <a:lstStyle/>
                    <a:p>
                      <a:pPr algn="ctr" fontAlgn="b"/>
                      <a:r>
                        <a:rPr lang="es-NI" sz="1800" u="none" strike="noStrike" dirty="0">
                          <a:effectLst/>
                        </a:rPr>
                        <a:t>Índices Simples</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tc hMerge="1">
                  <a:txBody>
                    <a:bodyPr/>
                    <a:lstStyle/>
                    <a:p>
                      <a:endParaRPr lang="es-NI"/>
                    </a:p>
                  </a:txBody>
                  <a:tcPr/>
                </a:tc>
                <a:extLst>
                  <a:ext uri="{0D108BD9-81ED-4DB2-BD59-A6C34878D82A}">
                    <a16:rowId xmlns:a16="http://schemas.microsoft.com/office/drawing/2014/main" val="3250662056"/>
                  </a:ext>
                </a:extLst>
              </a:tr>
              <a:tr h="161925">
                <a:tc>
                  <a:txBody>
                    <a:bodyPr/>
                    <a:lstStyle/>
                    <a:p>
                      <a:pPr algn="ctr" fontAlgn="b"/>
                      <a:r>
                        <a:rPr lang="es-NI" sz="1800" u="none" strike="noStrike">
                          <a:effectLst/>
                        </a:rPr>
                        <a:t>Leche</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Pan</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Huevos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645030"/>
                  </a:ext>
                </a:extLst>
              </a:tr>
              <a:tr h="344450">
                <a:tc>
                  <a:txBody>
                    <a:bodyPr/>
                    <a:lstStyle/>
                    <a:p>
                      <a:pPr algn="ctr" fontAlgn="b"/>
                      <a:r>
                        <a:rPr lang="es-NI" sz="1800" u="none" strike="noStrike">
                          <a:effectLst/>
                        </a:rPr>
                        <a:t>Ip</a:t>
                      </a:r>
                      <a:r>
                        <a:rPr lang="es-NI" sz="1800" u="none" strike="noStrike" baseline="30000">
                          <a:effectLst/>
                        </a:rPr>
                        <a:t>(1)</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Ip</a:t>
                      </a:r>
                      <a:r>
                        <a:rPr lang="es-NI" sz="1800" u="none" strike="noStrike" baseline="30000">
                          <a:effectLst/>
                        </a:rPr>
                        <a:t>(2)</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Ip</a:t>
                      </a:r>
                      <a:r>
                        <a:rPr lang="es-NI" sz="1800" u="none" strike="noStrike" baseline="30000">
                          <a:effectLst/>
                        </a:rPr>
                        <a:t>(3)</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5168111"/>
                  </a:ext>
                </a:extLst>
              </a:tr>
              <a:tr h="180975">
                <a:tc>
                  <a:txBody>
                    <a:bodyPr/>
                    <a:lstStyle/>
                    <a:p>
                      <a:pPr algn="r" fontAlgn="b"/>
                      <a:r>
                        <a:rPr lang="es-NI" sz="1800" u="none" strike="noStrike" dirty="0">
                          <a:solidFill>
                            <a:srgbClr val="FF0000"/>
                          </a:solidFill>
                          <a:effectLst/>
                        </a:rPr>
                        <a:t>100.0</a:t>
                      </a:r>
                      <a:endParaRPr lang="es-NI" sz="1800" b="0" i="0" u="none" strike="noStrike" dirty="0">
                        <a:solidFill>
                          <a:srgbClr val="FF00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rgbClr val="00B050"/>
                          </a:solidFill>
                          <a:effectLst/>
                        </a:rPr>
                        <a:t>100.0</a:t>
                      </a:r>
                      <a:endParaRPr lang="es-NI" sz="1800" b="0" i="0" u="none" strike="noStrike" dirty="0">
                        <a:solidFill>
                          <a:srgbClr val="00B05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chemeClr val="accent1">
                              <a:lumMod val="60000"/>
                              <a:lumOff val="40000"/>
                            </a:schemeClr>
                          </a:solidFill>
                          <a:effectLst/>
                        </a:rPr>
                        <a:t>100.0</a:t>
                      </a:r>
                      <a:endParaRPr lang="es-NI" sz="1800" b="0" i="0" u="none" strike="noStrike" dirty="0">
                        <a:solidFill>
                          <a:schemeClr val="accent1">
                            <a:lumMod val="60000"/>
                            <a:lumOff val="40000"/>
                          </a:schemeClr>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3191548"/>
                  </a:ext>
                </a:extLst>
              </a:tr>
              <a:tr h="180975">
                <a:tc>
                  <a:txBody>
                    <a:bodyPr/>
                    <a:lstStyle/>
                    <a:p>
                      <a:pPr algn="r" fontAlgn="b"/>
                      <a:r>
                        <a:rPr lang="es-NI" sz="1800" u="none" strike="noStrike" dirty="0">
                          <a:solidFill>
                            <a:srgbClr val="FF0000"/>
                          </a:solidFill>
                          <a:effectLst/>
                        </a:rPr>
                        <a:t>106.7</a:t>
                      </a:r>
                      <a:endParaRPr lang="es-NI" sz="1800" b="0" i="0" u="none" strike="noStrike" dirty="0">
                        <a:solidFill>
                          <a:srgbClr val="FF00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rgbClr val="00B050"/>
                          </a:solidFill>
                          <a:effectLst/>
                        </a:rPr>
                        <a:t>120.0</a:t>
                      </a:r>
                      <a:endParaRPr lang="es-NI" sz="1800" b="0" i="0" u="none" strike="noStrike" dirty="0">
                        <a:solidFill>
                          <a:srgbClr val="00B05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chemeClr val="accent1">
                              <a:lumMod val="60000"/>
                              <a:lumOff val="40000"/>
                            </a:schemeClr>
                          </a:solidFill>
                          <a:effectLst/>
                        </a:rPr>
                        <a:t>88.9</a:t>
                      </a:r>
                      <a:endParaRPr lang="es-NI" sz="1800" b="0" i="0" u="none" strike="noStrike" dirty="0">
                        <a:solidFill>
                          <a:schemeClr val="accent1">
                            <a:lumMod val="60000"/>
                            <a:lumOff val="40000"/>
                          </a:schemeClr>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496649"/>
                  </a:ext>
                </a:extLst>
              </a:tr>
            </a:tbl>
          </a:graphicData>
        </a:graphic>
      </p:graphicFrame>
      <p:graphicFrame>
        <p:nvGraphicFramePr>
          <p:cNvPr id="4" name="Tabla 3">
            <a:extLst>
              <a:ext uri="{FF2B5EF4-FFF2-40B4-BE49-F238E27FC236}">
                <a16:creationId xmlns:a16="http://schemas.microsoft.com/office/drawing/2014/main" id="{376F1546-4643-466C-B665-F18B91CC389A}"/>
              </a:ext>
            </a:extLst>
          </p:cNvPr>
          <p:cNvGraphicFramePr>
            <a:graphicFrameLocks noGrp="1"/>
          </p:cNvGraphicFramePr>
          <p:nvPr>
            <p:extLst>
              <p:ext uri="{D42A27DB-BD31-4B8C-83A1-F6EECF244321}">
                <p14:modId xmlns:p14="http://schemas.microsoft.com/office/powerpoint/2010/main" val="3094800370"/>
              </p:ext>
            </p:extLst>
          </p:nvPr>
        </p:nvGraphicFramePr>
        <p:xfrm>
          <a:off x="7151516" y="1249343"/>
          <a:ext cx="3068546" cy="1419225"/>
        </p:xfrm>
        <a:graphic>
          <a:graphicData uri="http://schemas.openxmlformats.org/drawingml/2006/table">
            <a:tbl>
              <a:tblPr>
                <a:tableStyleId>{2D5ABB26-0587-4C30-8999-92F81FD0307C}</a:tableStyleId>
              </a:tblPr>
              <a:tblGrid>
                <a:gridCol w="1643864">
                  <a:extLst>
                    <a:ext uri="{9D8B030D-6E8A-4147-A177-3AD203B41FA5}">
                      <a16:colId xmlns:a16="http://schemas.microsoft.com/office/drawing/2014/main" val="3910496116"/>
                    </a:ext>
                  </a:extLst>
                </a:gridCol>
                <a:gridCol w="1424682">
                  <a:extLst>
                    <a:ext uri="{9D8B030D-6E8A-4147-A177-3AD203B41FA5}">
                      <a16:colId xmlns:a16="http://schemas.microsoft.com/office/drawing/2014/main" val="46348273"/>
                    </a:ext>
                  </a:extLst>
                </a:gridCol>
              </a:tblGrid>
              <a:tr h="161925">
                <a:tc gridSpan="2">
                  <a:txBody>
                    <a:bodyPr/>
                    <a:lstStyle/>
                    <a:p>
                      <a:pPr algn="ctr" fontAlgn="b"/>
                      <a:r>
                        <a:rPr lang="es-NI" sz="1800" u="none" strike="noStrike" dirty="0">
                          <a:effectLst/>
                        </a:rPr>
                        <a:t>Índices complejos</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extLst>
                  <a:ext uri="{0D108BD9-81ED-4DB2-BD59-A6C34878D82A}">
                    <a16:rowId xmlns:a16="http://schemas.microsoft.com/office/drawing/2014/main" val="1680639900"/>
                  </a:ext>
                </a:extLst>
              </a:tr>
              <a:tr h="161925">
                <a:tc>
                  <a:txBody>
                    <a:bodyPr/>
                    <a:lstStyle/>
                    <a:p>
                      <a:pPr algn="ctr" fontAlgn="b"/>
                      <a:r>
                        <a:rPr lang="es-NI" sz="1800" u="none" strike="noStrike">
                          <a:effectLst/>
                        </a:rPr>
                        <a:t>Laspeyres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Paasche</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599622"/>
                  </a:ext>
                </a:extLst>
              </a:tr>
              <a:tr h="209550">
                <a:tc>
                  <a:txBody>
                    <a:bodyPr/>
                    <a:lstStyle/>
                    <a:p>
                      <a:pPr algn="ctr" fontAlgn="b"/>
                      <a:r>
                        <a:rPr lang="es-NI" sz="1800" u="none" strike="noStrike">
                          <a:effectLst/>
                        </a:rPr>
                        <a:t>L(p)</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P(p)</a:t>
                      </a:r>
                      <a:r>
                        <a:rPr lang="es-NI" sz="1800" u="none" strike="noStrike" baseline="-25000">
                          <a:effectLst/>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2038039"/>
                  </a:ext>
                </a:extLst>
              </a:tr>
              <a:tr h="180975">
                <a:tc>
                  <a:txBody>
                    <a:bodyPr/>
                    <a:lstStyle/>
                    <a:p>
                      <a:pPr algn="r" fontAlgn="b"/>
                      <a:r>
                        <a:rPr lang="es-NI" sz="1800" u="none" strike="noStrike" dirty="0">
                          <a:effectLst/>
                        </a:rPr>
                        <a:t>100</a:t>
                      </a:r>
                      <a:endParaRPr lang="es-NI" sz="1800" b="0" i="0" u="none" strike="noStrike" dirty="0">
                        <a:solidFill>
                          <a:srgbClr val="FF66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b="0" i="0" u="none" strike="noStrike" dirty="0">
                          <a:solidFill>
                            <a:srgbClr val="FF6600"/>
                          </a:solidFill>
                          <a:effectLst/>
                          <a:latin typeface="Verdana" panose="020B0604030504040204" pitchFamily="34" charset="0"/>
                          <a:ea typeface="Verdana" panose="020B0604030504040204" pitchFamily="34" charset="0"/>
                        </a:rPr>
                        <a:t>100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6626588"/>
                  </a:ext>
                </a:extLst>
              </a:tr>
              <a:tr h="180975">
                <a:tc>
                  <a:txBody>
                    <a:bodyPr/>
                    <a:lstStyle/>
                    <a:p>
                      <a:pPr algn="r" fontAlgn="b"/>
                      <a:r>
                        <a:rPr lang="es-NI" sz="1800" u="none" strike="noStrike" dirty="0">
                          <a:effectLst/>
                        </a:rPr>
                        <a:t>96.3</a:t>
                      </a:r>
                      <a:endParaRPr lang="es-NI" sz="1800" b="0" i="0" u="none" strike="noStrike" dirty="0">
                        <a:solidFill>
                          <a:srgbClr val="FF66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b="0" i="0" u="none" strike="noStrike" dirty="0">
                          <a:solidFill>
                            <a:srgbClr val="FF6600"/>
                          </a:solidFill>
                          <a:effectLst/>
                          <a:latin typeface="Verdana" panose="020B0604030504040204" pitchFamily="34" charset="0"/>
                          <a:ea typeface="Verdana" panose="020B0604030504040204" pitchFamily="34" charset="0"/>
                        </a:rPr>
                        <a:t>99.4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0882296"/>
                  </a:ext>
                </a:extLst>
              </a:tr>
            </a:tbl>
          </a:graphicData>
        </a:graphic>
      </p:graphicFrame>
      <p:graphicFrame>
        <p:nvGraphicFramePr>
          <p:cNvPr id="6" name="Tabla 5">
            <a:extLst>
              <a:ext uri="{FF2B5EF4-FFF2-40B4-BE49-F238E27FC236}">
                <a16:creationId xmlns:a16="http://schemas.microsoft.com/office/drawing/2014/main" id="{03DFAF4D-6105-47E8-AF1B-4FAA0FDDBC7A}"/>
              </a:ext>
            </a:extLst>
          </p:cNvPr>
          <p:cNvGraphicFramePr>
            <a:graphicFrameLocks noGrp="1"/>
          </p:cNvGraphicFramePr>
          <p:nvPr>
            <p:extLst>
              <p:ext uri="{D42A27DB-BD31-4B8C-83A1-F6EECF244321}">
                <p14:modId xmlns:p14="http://schemas.microsoft.com/office/powerpoint/2010/main" val="4042453521"/>
              </p:ext>
            </p:extLst>
          </p:nvPr>
        </p:nvGraphicFramePr>
        <p:xfrm>
          <a:off x="303919" y="2994581"/>
          <a:ext cx="8226819" cy="1419225"/>
        </p:xfrm>
        <a:graphic>
          <a:graphicData uri="http://schemas.openxmlformats.org/drawingml/2006/table">
            <a:tbl>
              <a:tblPr>
                <a:tableStyleId>{2D5ABB26-0587-4C30-8999-92F81FD0307C}</a:tableStyleId>
              </a:tblPr>
              <a:tblGrid>
                <a:gridCol w="683731">
                  <a:extLst>
                    <a:ext uri="{9D8B030D-6E8A-4147-A177-3AD203B41FA5}">
                      <a16:colId xmlns:a16="http://schemas.microsoft.com/office/drawing/2014/main" val="1830981809"/>
                    </a:ext>
                  </a:extLst>
                </a:gridCol>
                <a:gridCol w="1372974">
                  <a:extLst>
                    <a:ext uri="{9D8B030D-6E8A-4147-A177-3AD203B41FA5}">
                      <a16:colId xmlns:a16="http://schemas.microsoft.com/office/drawing/2014/main" val="1209700168"/>
                    </a:ext>
                  </a:extLst>
                </a:gridCol>
                <a:gridCol w="1174472">
                  <a:extLst>
                    <a:ext uri="{9D8B030D-6E8A-4147-A177-3AD203B41FA5}">
                      <a16:colId xmlns:a16="http://schemas.microsoft.com/office/drawing/2014/main" val="4237538953"/>
                    </a:ext>
                  </a:extLst>
                </a:gridCol>
                <a:gridCol w="1075221">
                  <a:extLst>
                    <a:ext uri="{9D8B030D-6E8A-4147-A177-3AD203B41FA5}">
                      <a16:colId xmlns:a16="http://schemas.microsoft.com/office/drawing/2014/main" val="401768684"/>
                    </a:ext>
                  </a:extLst>
                </a:gridCol>
                <a:gridCol w="1157930">
                  <a:extLst>
                    <a:ext uri="{9D8B030D-6E8A-4147-A177-3AD203B41FA5}">
                      <a16:colId xmlns:a16="http://schemas.microsoft.com/office/drawing/2014/main" val="516287266"/>
                    </a:ext>
                  </a:extLst>
                </a:gridCol>
                <a:gridCol w="1191014">
                  <a:extLst>
                    <a:ext uri="{9D8B030D-6E8A-4147-A177-3AD203B41FA5}">
                      <a16:colId xmlns:a16="http://schemas.microsoft.com/office/drawing/2014/main" val="3118021768"/>
                    </a:ext>
                  </a:extLst>
                </a:gridCol>
                <a:gridCol w="1571477">
                  <a:extLst>
                    <a:ext uri="{9D8B030D-6E8A-4147-A177-3AD203B41FA5}">
                      <a16:colId xmlns:a16="http://schemas.microsoft.com/office/drawing/2014/main" val="3044406659"/>
                    </a:ext>
                  </a:extLst>
                </a:gridCol>
              </a:tblGrid>
              <a:tr h="161925">
                <a:tc>
                  <a:txBody>
                    <a:bodyPr/>
                    <a:lstStyle/>
                    <a:p>
                      <a:pPr algn="l" fontAlgn="b"/>
                      <a:r>
                        <a:rPr lang="es-NI" sz="1800" u="none" strike="noStrike">
                          <a:effectLst/>
                        </a:rPr>
                        <a:t> </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fontAlgn="b"/>
                      <a:r>
                        <a:rPr lang="es-NI" sz="1800" u="none" strike="noStrike">
                          <a:effectLst/>
                        </a:rPr>
                        <a:t>Leche</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tc gridSpan="2">
                  <a:txBody>
                    <a:bodyPr/>
                    <a:lstStyle/>
                    <a:p>
                      <a:pPr algn="ctr" fontAlgn="b"/>
                      <a:r>
                        <a:rPr lang="es-NI" sz="1800" u="none" strike="noStrike">
                          <a:effectLst/>
                        </a:rPr>
                        <a:t>Pan</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tc gridSpan="2">
                  <a:txBody>
                    <a:bodyPr/>
                    <a:lstStyle/>
                    <a:p>
                      <a:pPr algn="ctr" fontAlgn="b"/>
                      <a:r>
                        <a:rPr lang="es-NI" sz="1800" u="none" strike="noStrike">
                          <a:effectLst/>
                        </a:rPr>
                        <a:t>Huevos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extLst>
                  <a:ext uri="{0D108BD9-81ED-4DB2-BD59-A6C34878D82A}">
                    <a16:rowId xmlns:a16="http://schemas.microsoft.com/office/drawing/2014/main" val="2293835936"/>
                  </a:ext>
                </a:extLst>
              </a:tr>
              <a:tr h="161925">
                <a:tc>
                  <a:txBody>
                    <a:bodyPr/>
                    <a:lstStyle/>
                    <a:p>
                      <a:pPr algn="l" fontAlgn="b"/>
                      <a:r>
                        <a:rPr lang="es-NI" sz="1800" u="none" strike="noStrike">
                          <a:effectLst/>
                        </a:rPr>
                        <a:t> </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Precio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Cantidad</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Precio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Cantidad</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Precio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Cantidad</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381478"/>
                  </a:ext>
                </a:extLst>
              </a:tr>
              <a:tr h="209550">
                <a:tc>
                  <a:txBody>
                    <a:bodyPr/>
                    <a:lstStyle/>
                    <a:p>
                      <a:pPr algn="ctr" fontAlgn="b"/>
                      <a:r>
                        <a:rPr lang="es-NI" sz="1800" u="none" strike="noStrike">
                          <a:effectLst/>
                        </a:rPr>
                        <a:t>Año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t>
                      </a:r>
                      <a:r>
                        <a:rPr lang="es-NI" sz="1800" u="none" strike="noStrike" baseline="-25000">
                          <a:effectLst/>
                        </a:rPr>
                        <a:t>1t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q</a:t>
                      </a:r>
                      <a:r>
                        <a:rPr lang="es-NI" sz="1800" u="none" strike="noStrike" baseline="-25000">
                          <a:effectLst/>
                        </a:rPr>
                        <a:t>1t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 p</a:t>
                      </a:r>
                      <a:r>
                        <a:rPr lang="es-NI" sz="1800" u="none" strike="noStrike" baseline="-25000">
                          <a:effectLst/>
                        </a:rPr>
                        <a:t>2t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q</a:t>
                      </a:r>
                      <a:r>
                        <a:rPr lang="es-NI" sz="1800" u="none" strike="noStrike" baseline="-25000">
                          <a:effectLst/>
                        </a:rPr>
                        <a:t>2t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p</a:t>
                      </a:r>
                      <a:r>
                        <a:rPr lang="es-NI" sz="1800" u="none" strike="noStrike" baseline="-25000">
                          <a:effectLst/>
                        </a:rPr>
                        <a:t>3t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rPr>
                        <a:t>q</a:t>
                      </a:r>
                      <a:r>
                        <a:rPr lang="es-NI" sz="1800" u="none" strike="noStrike" baseline="-25000">
                          <a:effectLst/>
                        </a:rPr>
                        <a:t>3t</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0489719"/>
                  </a:ext>
                </a:extLst>
              </a:tr>
              <a:tr h="275295">
                <a:tc>
                  <a:txBody>
                    <a:bodyPr/>
                    <a:lstStyle/>
                    <a:p>
                      <a:pPr algn="ctr" fontAlgn="b"/>
                      <a:r>
                        <a:rPr lang="es-NI" sz="1800" u="none" strike="noStrike">
                          <a:effectLst/>
                        </a:rPr>
                        <a:t>1991</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rgbClr val="FF0000"/>
                          </a:solidFill>
                          <a:effectLst/>
                        </a:rPr>
                        <a:t>75</a:t>
                      </a:r>
                      <a:endParaRPr lang="es-NI" sz="1800" b="0" i="0" u="none" strike="noStrike" dirty="0">
                        <a:solidFill>
                          <a:srgbClr val="FF00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chemeClr val="tx1"/>
                          </a:solidFill>
                          <a:effectLst/>
                        </a:rPr>
                        <a:t>10</a:t>
                      </a:r>
                      <a:endParaRPr lang="es-NI" sz="1800" b="0" i="0" u="none" strike="noStrike" dirty="0">
                        <a:solidFill>
                          <a:schemeClr val="tx1"/>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rgbClr val="00B050"/>
                          </a:solidFill>
                          <a:effectLst/>
                        </a:rPr>
                        <a:t>50</a:t>
                      </a:r>
                      <a:endParaRPr lang="es-NI" sz="1800" b="0" i="0" u="none" strike="noStrike" dirty="0">
                        <a:solidFill>
                          <a:srgbClr val="00B05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chemeClr val="tx1"/>
                          </a:solidFill>
                          <a:effectLst/>
                        </a:rPr>
                        <a:t>9</a:t>
                      </a:r>
                      <a:endParaRPr lang="es-NI" sz="1800" b="0" i="0" u="none" strike="noStrike" dirty="0">
                        <a:solidFill>
                          <a:schemeClr val="tx1"/>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chemeClr val="accent1">
                              <a:lumMod val="60000"/>
                              <a:lumOff val="40000"/>
                            </a:schemeClr>
                          </a:solidFill>
                          <a:effectLst/>
                        </a:rPr>
                        <a:t>225</a:t>
                      </a:r>
                      <a:endParaRPr lang="es-NI" sz="1800" b="0" i="0" u="none" strike="noStrike" dirty="0">
                        <a:solidFill>
                          <a:schemeClr val="accent1">
                            <a:lumMod val="60000"/>
                            <a:lumOff val="40000"/>
                          </a:schemeClr>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chemeClr val="tx1"/>
                          </a:solidFill>
                          <a:effectLst/>
                        </a:rPr>
                        <a:t>11</a:t>
                      </a:r>
                      <a:endParaRPr lang="es-NI" sz="1800" b="0" i="0" u="none" strike="noStrike" dirty="0">
                        <a:solidFill>
                          <a:schemeClr val="tx1"/>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007730"/>
                  </a:ext>
                </a:extLst>
              </a:tr>
              <a:tr h="180975">
                <a:tc>
                  <a:txBody>
                    <a:bodyPr/>
                    <a:lstStyle/>
                    <a:p>
                      <a:pPr algn="ctr" fontAlgn="b"/>
                      <a:r>
                        <a:rPr lang="es-NI" sz="1800" u="none" strike="noStrike" dirty="0">
                          <a:effectLst/>
                        </a:rPr>
                        <a:t>1992</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chemeClr val="tx1"/>
                          </a:solidFill>
                          <a:effectLst/>
                        </a:rPr>
                        <a:t>80</a:t>
                      </a:r>
                      <a:endParaRPr lang="es-NI" sz="1800" b="0" i="0" u="none" strike="noStrike" dirty="0">
                        <a:solidFill>
                          <a:schemeClr val="tx1"/>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rgbClr val="FF0000"/>
                          </a:solidFill>
                          <a:effectLst/>
                        </a:rPr>
                        <a:t>11</a:t>
                      </a:r>
                      <a:endParaRPr lang="es-NI" sz="1800" b="0" i="0" u="none" strike="noStrike" dirty="0">
                        <a:solidFill>
                          <a:srgbClr val="FF00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chemeClr val="tx1"/>
                          </a:solidFill>
                          <a:effectLst/>
                        </a:rPr>
                        <a:t>60</a:t>
                      </a:r>
                      <a:endParaRPr lang="es-NI" sz="1800" b="0" i="0" u="none" strike="noStrike" dirty="0">
                        <a:solidFill>
                          <a:schemeClr val="tx1"/>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rgbClr val="00B050"/>
                          </a:solidFill>
                          <a:effectLst/>
                        </a:rPr>
                        <a:t>8</a:t>
                      </a:r>
                      <a:endParaRPr lang="es-NI" sz="1800" b="0" i="0" u="none" strike="noStrike" dirty="0">
                        <a:solidFill>
                          <a:srgbClr val="00B05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chemeClr val="tx1"/>
                          </a:solidFill>
                          <a:effectLst/>
                        </a:rPr>
                        <a:t>200</a:t>
                      </a:r>
                      <a:endParaRPr lang="es-NI" sz="1800" b="0" i="0" u="none" strike="noStrike" dirty="0">
                        <a:solidFill>
                          <a:schemeClr val="tx1"/>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solidFill>
                            <a:schemeClr val="accent1">
                              <a:lumMod val="60000"/>
                              <a:lumOff val="40000"/>
                            </a:schemeClr>
                          </a:solidFill>
                          <a:effectLst/>
                        </a:rPr>
                        <a:t>6</a:t>
                      </a:r>
                      <a:endParaRPr lang="es-NI" sz="1800" b="0" i="0" u="none" strike="noStrike" dirty="0">
                        <a:solidFill>
                          <a:schemeClr val="accent1">
                            <a:lumMod val="60000"/>
                            <a:lumOff val="40000"/>
                          </a:schemeClr>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5876293"/>
                  </a:ext>
                </a:extLst>
              </a:tr>
            </a:tbl>
          </a:graphicData>
        </a:graphic>
      </p:graphicFrame>
    </p:spTree>
    <p:extLst>
      <p:ext uri="{BB962C8B-B14F-4D97-AF65-F5344CB8AC3E}">
        <p14:creationId xmlns:p14="http://schemas.microsoft.com/office/powerpoint/2010/main" val="2284224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612E493D-EFD5-47C0-9DB4-F1D982EFDD72}"/>
              </a:ext>
            </a:extLst>
          </p:cNvPr>
          <p:cNvSpPr/>
          <p:nvPr/>
        </p:nvSpPr>
        <p:spPr>
          <a:xfrm>
            <a:off x="2445151" y="0"/>
            <a:ext cx="7520072"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Números Índices: Ejemplo</a:t>
            </a:r>
          </a:p>
        </p:txBody>
      </p:sp>
      <p:graphicFrame>
        <p:nvGraphicFramePr>
          <p:cNvPr id="2" name="Tabla 1">
            <a:extLst>
              <a:ext uri="{FF2B5EF4-FFF2-40B4-BE49-F238E27FC236}">
                <a16:creationId xmlns:a16="http://schemas.microsoft.com/office/drawing/2014/main" id="{D5216E81-6505-47D7-A499-03654DFAEFAC}"/>
              </a:ext>
            </a:extLst>
          </p:cNvPr>
          <p:cNvGraphicFramePr>
            <a:graphicFrameLocks noGrp="1"/>
          </p:cNvGraphicFramePr>
          <p:nvPr>
            <p:extLst>
              <p:ext uri="{D42A27DB-BD31-4B8C-83A1-F6EECF244321}">
                <p14:modId xmlns:p14="http://schemas.microsoft.com/office/powerpoint/2010/main" val="1897181925"/>
              </p:ext>
            </p:extLst>
          </p:nvPr>
        </p:nvGraphicFramePr>
        <p:xfrm>
          <a:off x="1355978" y="1744980"/>
          <a:ext cx="9480043" cy="1684020"/>
        </p:xfrm>
        <a:graphic>
          <a:graphicData uri="http://schemas.openxmlformats.org/drawingml/2006/table">
            <a:tbl>
              <a:tblPr>
                <a:tableStyleId>{2D5ABB26-0587-4C30-8999-92F81FD0307C}</a:tableStyleId>
              </a:tblPr>
              <a:tblGrid>
                <a:gridCol w="667912">
                  <a:extLst>
                    <a:ext uri="{9D8B030D-6E8A-4147-A177-3AD203B41FA5}">
                      <a16:colId xmlns:a16="http://schemas.microsoft.com/office/drawing/2014/main" val="1737039756"/>
                    </a:ext>
                  </a:extLst>
                </a:gridCol>
                <a:gridCol w="1341210">
                  <a:extLst>
                    <a:ext uri="{9D8B030D-6E8A-4147-A177-3AD203B41FA5}">
                      <a16:colId xmlns:a16="http://schemas.microsoft.com/office/drawing/2014/main" val="2752542613"/>
                    </a:ext>
                  </a:extLst>
                </a:gridCol>
                <a:gridCol w="1147301">
                  <a:extLst>
                    <a:ext uri="{9D8B030D-6E8A-4147-A177-3AD203B41FA5}">
                      <a16:colId xmlns:a16="http://schemas.microsoft.com/office/drawing/2014/main" val="984904602"/>
                    </a:ext>
                  </a:extLst>
                </a:gridCol>
                <a:gridCol w="1055733">
                  <a:extLst>
                    <a:ext uri="{9D8B030D-6E8A-4147-A177-3AD203B41FA5}">
                      <a16:colId xmlns:a16="http://schemas.microsoft.com/office/drawing/2014/main" val="4085719538"/>
                    </a:ext>
                  </a:extLst>
                </a:gridCol>
                <a:gridCol w="1131141">
                  <a:extLst>
                    <a:ext uri="{9D8B030D-6E8A-4147-A177-3AD203B41FA5}">
                      <a16:colId xmlns:a16="http://schemas.microsoft.com/office/drawing/2014/main" val="2755279345"/>
                    </a:ext>
                  </a:extLst>
                </a:gridCol>
                <a:gridCol w="1163460">
                  <a:extLst>
                    <a:ext uri="{9D8B030D-6E8A-4147-A177-3AD203B41FA5}">
                      <a16:colId xmlns:a16="http://schemas.microsoft.com/office/drawing/2014/main" val="741759703"/>
                    </a:ext>
                  </a:extLst>
                </a:gridCol>
                <a:gridCol w="1535121">
                  <a:extLst>
                    <a:ext uri="{9D8B030D-6E8A-4147-A177-3AD203B41FA5}">
                      <a16:colId xmlns:a16="http://schemas.microsoft.com/office/drawing/2014/main" val="3588055830"/>
                    </a:ext>
                  </a:extLst>
                </a:gridCol>
                <a:gridCol w="1438165">
                  <a:extLst>
                    <a:ext uri="{9D8B030D-6E8A-4147-A177-3AD203B41FA5}">
                      <a16:colId xmlns:a16="http://schemas.microsoft.com/office/drawing/2014/main" val="402522103"/>
                    </a:ext>
                  </a:extLst>
                </a:gridCol>
              </a:tblGrid>
              <a:tr h="180975">
                <a:tc>
                  <a:txBody>
                    <a:bodyPr/>
                    <a:lstStyle/>
                    <a:p>
                      <a:pPr algn="l" fontAlgn="b"/>
                      <a:r>
                        <a:rPr lang="es-NI" sz="1800" u="none" strike="noStrike">
                          <a:effectLst/>
                          <a:latin typeface="Verdana" panose="020B0604030504040204" pitchFamily="34" charset="0"/>
                          <a:ea typeface="Verdana" panose="020B0604030504040204" pitchFamily="34" charset="0"/>
                        </a:rPr>
                        <a:t> </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latin typeface="Verdana" panose="020B0604030504040204" pitchFamily="34" charset="0"/>
                          <a:ea typeface="Verdana" panose="020B0604030504040204" pitchFamily="34" charset="0"/>
                        </a:rPr>
                        <a:t>Mantequilla </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latin typeface="Verdana" panose="020B0604030504040204" pitchFamily="34" charset="0"/>
                          <a:ea typeface="Verdana" panose="020B0604030504040204" pitchFamily="34" charset="0"/>
                        </a:rPr>
                        <a:t>Laspeyres</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latin typeface="Verdana" panose="020B0604030504040204" pitchFamily="34" charset="0"/>
                          <a:ea typeface="Verdana" panose="020B0604030504040204" pitchFamily="34" charset="0"/>
                        </a:rPr>
                        <a:t>Paasche</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fontAlgn="b"/>
                      <a:r>
                        <a:rPr lang="es-NI" sz="1800" u="none" strike="noStrike">
                          <a:effectLst/>
                          <a:latin typeface="Verdana" panose="020B0604030504040204" pitchFamily="34" charset="0"/>
                          <a:ea typeface="Verdana" panose="020B0604030504040204" pitchFamily="34" charset="0"/>
                        </a:rPr>
                        <a:t>Mantequilla </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NI"/>
                    </a:p>
                  </a:txBody>
                  <a:tcPr/>
                </a:tc>
                <a:tc hMerge="1">
                  <a:txBody>
                    <a:bodyPr/>
                    <a:lstStyle/>
                    <a:p>
                      <a:endParaRPr lang="es-NI"/>
                    </a:p>
                  </a:txBody>
                  <a:tcPr/>
                </a:tc>
                <a:tc hMerge="1">
                  <a:txBody>
                    <a:bodyPr/>
                    <a:lstStyle/>
                    <a:p>
                      <a:endParaRPr lang="es-NI"/>
                    </a:p>
                  </a:txBody>
                  <a:tcPr/>
                </a:tc>
                <a:extLst>
                  <a:ext uri="{0D108BD9-81ED-4DB2-BD59-A6C34878D82A}">
                    <a16:rowId xmlns:a16="http://schemas.microsoft.com/office/drawing/2014/main" val="2962592096"/>
                  </a:ext>
                </a:extLst>
              </a:tr>
              <a:tr h="238125">
                <a:tc>
                  <a:txBody>
                    <a:bodyPr/>
                    <a:lstStyle/>
                    <a:p>
                      <a:pPr algn="ctr" fontAlgn="b"/>
                      <a:r>
                        <a:rPr lang="es-NI" sz="1800" u="none" strike="noStrike">
                          <a:effectLst/>
                          <a:latin typeface="Verdana" panose="020B0604030504040204" pitchFamily="34" charset="0"/>
                          <a:ea typeface="Verdana" panose="020B0604030504040204" pitchFamily="34" charset="0"/>
                        </a:rPr>
                        <a:t>Año</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latin typeface="Verdana" panose="020B0604030504040204" pitchFamily="34" charset="0"/>
                          <a:ea typeface="Verdana" panose="020B0604030504040204" pitchFamily="34" charset="0"/>
                        </a:rPr>
                        <a:t>Pts. c.</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latin typeface="Verdana" panose="020B0604030504040204" pitchFamily="34" charset="0"/>
                          <a:ea typeface="Verdana" panose="020B0604030504040204" pitchFamily="34" charset="0"/>
                        </a:rPr>
                        <a:t>L(p)</a:t>
                      </a:r>
                      <a:r>
                        <a:rPr lang="es-NI" sz="1800" u="none" strike="noStrike" baseline="-25000">
                          <a:effectLst/>
                          <a:latin typeface="Verdana" panose="020B0604030504040204" pitchFamily="34" charset="0"/>
                          <a:ea typeface="Verdana" panose="020B0604030504040204" pitchFamily="34" charset="0"/>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latin typeface="Verdana" panose="020B0604030504040204" pitchFamily="34" charset="0"/>
                          <a:ea typeface="Verdana" panose="020B0604030504040204" pitchFamily="34" charset="0"/>
                        </a:rPr>
                        <a:t>P(p)</a:t>
                      </a:r>
                      <a:r>
                        <a:rPr lang="es-NI" sz="1800" u="none" strike="noStrike" baseline="-25000">
                          <a:effectLst/>
                          <a:latin typeface="Verdana" panose="020B0604030504040204" pitchFamily="34" charset="0"/>
                          <a:ea typeface="Verdana" panose="020B0604030504040204" pitchFamily="34" charset="0"/>
                        </a:rPr>
                        <a:t>t/0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latin typeface="Verdana" panose="020B0604030504040204" pitchFamily="34" charset="0"/>
                          <a:ea typeface="Verdana" panose="020B0604030504040204" pitchFamily="34" charset="0"/>
                        </a:rPr>
                        <a:t>Pts. k. (L)</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latin typeface="Verdana" panose="020B0604030504040204" pitchFamily="34" charset="0"/>
                          <a:ea typeface="Verdana" panose="020B0604030504040204" pitchFamily="34" charset="0"/>
                        </a:rPr>
                        <a:t>Pts. k. (P)</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latin typeface="Verdana" panose="020B0604030504040204" pitchFamily="34" charset="0"/>
                          <a:ea typeface="Verdana" panose="020B0604030504040204" pitchFamily="34" charset="0"/>
                        </a:rPr>
                        <a:t>Variación (L)</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s-NI" sz="1800" u="none" strike="noStrike">
                          <a:effectLst/>
                          <a:latin typeface="Verdana" panose="020B0604030504040204" pitchFamily="34" charset="0"/>
                          <a:ea typeface="Verdana" panose="020B0604030504040204" pitchFamily="34" charset="0"/>
                        </a:rPr>
                        <a:t>Variación (P)</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2743818"/>
                  </a:ext>
                </a:extLst>
              </a:tr>
              <a:tr h="180975">
                <a:tc>
                  <a:txBody>
                    <a:bodyPr/>
                    <a:lstStyle/>
                    <a:p>
                      <a:pPr algn="ctr" fontAlgn="b"/>
                      <a:r>
                        <a:rPr lang="es-NI" sz="1800" u="none" strike="noStrike">
                          <a:effectLst/>
                          <a:latin typeface="Verdana" panose="020B0604030504040204" pitchFamily="34" charset="0"/>
                          <a:ea typeface="Verdana" panose="020B0604030504040204" pitchFamily="34" charset="0"/>
                        </a:rPr>
                        <a:t>1991</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latin typeface="Verdana" panose="020B0604030504040204" pitchFamily="34" charset="0"/>
                          <a:ea typeface="Verdana" panose="020B0604030504040204" pitchFamily="34" charset="0"/>
                        </a:rPr>
                        <a:t>1,500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latin typeface="Verdana" panose="020B0604030504040204" pitchFamily="34" charset="0"/>
                          <a:ea typeface="Verdana" panose="020B0604030504040204" pitchFamily="34" charset="0"/>
                        </a:rPr>
                        <a:t>100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latin typeface="Verdana" panose="020B0604030504040204" pitchFamily="34" charset="0"/>
                          <a:ea typeface="Verdana" panose="020B0604030504040204" pitchFamily="34" charset="0"/>
                        </a:rPr>
                        <a:t>100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latin typeface="Verdana" panose="020B0604030504040204" pitchFamily="34" charset="0"/>
                          <a:ea typeface="Verdana" panose="020B0604030504040204" pitchFamily="34" charset="0"/>
                        </a:rPr>
                        <a:t>1500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latin typeface="Verdana" panose="020B0604030504040204" pitchFamily="34" charset="0"/>
                          <a:ea typeface="Verdana" panose="020B0604030504040204" pitchFamily="34" charset="0"/>
                        </a:rPr>
                        <a:t>1500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latin typeface="Verdana" panose="020B0604030504040204" pitchFamily="34" charset="0"/>
                          <a:ea typeface="Verdana" panose="020B0604030504040204" pitchFamily="34" charset="0"/>
                        </a:rPr>
                        <a:t> </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latin typeface="Verdana" panose="020B0604030504040204" pitchFamily="34" charset="0"/>
                          <a:ea typeface="Verdana" panose="020B0604030504040204" pitchFamily="34" charset="0"/>
                        </a:rPr>
                        <a:t> </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5930914"/>
                  </a:ext>
                </a:extLst>
              </a:tr>
              <a:tr h="180975">
                <a:tc>
                  <a:txBody>
                    <a:bodyPr/>
                    <a:lstStyle/>
                    <a:p>
                      <a:pPr algn="ctr" fontAlgn="b"/>
                      <a:r>
                        <a:rPr lang="es-NI" sz="1800" u="none" strike="noStrike">
                          <a:effectLst/>
                          <a:latin typeface="Verdana" panose="020B0604030504040204" pitchFamily="34" charset="0"/>
                          <a:ea typeface="Verdana" panose="020B0604030504040204" pitchFamily="34" charset="0"/>
                        </a:rPr>
                        <a:t>1992</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latin typeface="Verdana" panose="020B0604030504040204" pitchFamily="34" charset="0"/>
                          <a:ea typeface="Verdana" panose="020B0604030504040204" pitchFamily="34" charset="0"/>
                        </a:rPr>
                        <a:t>1,950</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latin typeface="Verdana" panose="020B0604030504040204" pitchFamily="34" charset="0"/>
                          <a:ea typeface="Verdana" panose="020B0604030504040204" pitchFamily="34" charset="0"/>
                        </a:rPr>
                        <a:t>96.3</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latin typeface="Verdana" panose="020B0604030504040204" pitchFamily="34" charset="0"/>
                          <a:ea typeface="Verdana" panose="020B0604030504040204" pitchFamily="34" charset="0"/>
                        </a:rPr>
                        <a:t>99.4</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latin typeface="Verdana" panose="020B0604030504040204" pitchFamily="34" charset="0"/>
                          <a:ea typeface="Verdana" panose="020B0604030504040204" pitchFamily="34" charset="0"/>
                        </a:rPr>
                        <a:t>2,024.9</a:t>
                      </a:r>
                      <a:endParaRPr lang="es-NI" sz="1800" b="0" i="0" u="none" strike="noStrike" dirty="0">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latin typeface="Verdana" panose="020B0604030504040204" pitchFamily="34" charset="0"/>
                          <a:ea typeface="Verdana" panose="020B0604030504040204" pitchFamily="34" charset="0"/>
                        </a:rPr>
                        <a:t>1961.7</a:t>
                      </a:r>
                      <a:endParaRPr lang="es-NI" sz="1800" b="0" i="0" u="none" strike="noStrike">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a:effectLst/>
                          <a:latin typeface="Verdana" panose="020B0604030504040204" pitchFamily="34" charset="0"/>
                          <a:ea typeface="Verdana" panose="020B0604030504040204" pitchFamily="34" charset="0"/>
                        </a:rPr>
                        <a:t>35.0</a:t>
                      </a:r>
                      <a:endParaRPr lang="es-NI" sz="1800" b="0" i="0" u="none" strike="noStrike">
                        <a:solidFill>
                          <a:srgbClr val="FF66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s-NI" sz="1800" u="none" strike="noStrike" dirty="0">
                          <a:effectLst/>
                          <a:latin typeface="Verdana" panose="020B0604030504040204" pitchFamily="34" charset="0"/>
                          <a:ea typeface="Verdana" panose="020B0604030504040204" pitchFamily="34" charset="0"/>
                        </a:rPr>
                        <a:t>30.8</a:t>
                      </a:r>
                      <a:endParaRPr lang="es-NI" sz="1800" b="0" i="0" u="none" strike="noStrike" dirty="0">
                        <a:solidFill>
                          <a:srgbClr val="FF6600"/>
                        </a:solidFill>
                        <a:effectLst/>
                        <a:latin typeface="Verdana" panose="020B0604030504040204" pitchFamily="34" charset="0"/>
                        <a:ea typeface="Verdana" panose="020B060403050404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0535298"/>
                  </a:ext>
                </a:extLst>
              </a:tr>
            </a:tbl>
          </a:graphicData>
        </a:graphic>
      </p:graphicFrame>
      <p:sp>
        <p:nvSpPr>
          <p:cNvPr id="3" name="CuadroTexto 2">
            <a:extLst>
              <a:ext uri="{FF2B5EF4-FFF2-40B4-BE49-F238E27FC236}">
                <a16:creationId xmlns:a16="http://schemas.microsoft.com/office/drawing/2014/main" id="{635009A4-95DC-4109-A6BE-B9286241ECF3}"/>
              </a:ext>
            </a:extLst>
          </p:cNvPr>
          <p:cNvSpPr txBox="1"/>
          <p:nvPr/>
        </p:nvSpPr>
        <p:spPr>
          <a:xfrm>
            <a:off x="1355978" y="3881318"/>
            <a:ext cx="5051511" cy="1200329"/>
          </a:xfrm>
          <a:prstGeom prst="rect">
            <a:avLst/>
          </a:prstGeom>
          <a:noFill/>
        </p:spPr>
        <p:txBody>
          <a:bodyPr wrap="none" rtlCol="0">
            <a:spAutoFit/>
          </a:bodyPr>
          <a:lstStyle/>
          <a:p>
            <a:r>
              <a:rPr lang="es-NI" dirty="0" err="1"/>
              <a:t>Pts</a:t>
            </a:r>
            <a:r>
              <a:rPr lang="es-NI" dirty="0"/>
              <a:t> k (L)= </a:t>
            </a:r>
            <a:r>
              <a:rPr lang="es-NI" dirty="0" err="1"/>
              <a:t>Pts</a:t>
            </a:r>
            <a:r>
              <a:rPr lang="es-NI" dirty="0"/>
              <a:t> c / L(p) *100</a:t>
            </a:r>
          </a:p>
          <a:p>
            <a:r>
              <a:rPr lang="es-NI" dirty="0" err="1"/>
              <a:t>Pts</a:t>
            </a:r>
            <a:r>
              <a:rPr lang="es-NI" dirty="0"/>
              <a:t> k (P)= </a:t>
            </a:r>
            <a:r>
              <a:rPr lang="es-NI" dirty="0" err="1"/>
              <a:t>Pts</a:t>
            </a:r>
            <a:r>
              <a:rPr lang="es-NI" dirty="0"/>
              <a:t> c / P(p) *100</a:t>
            </a:r>
          </a:p>
          <a:p>
            <a:endParaRPr lang="es-NI" dirty="0"/>
          </a:p>
          <a:p>
            <a:r>
              <a:rPr lang="es-NI" dirty="0"/>
              <a:t>Variación(L) = (</a:t>
            </a:r>
            <a:r>
              <a:rPr lang="es-NI" dirty="0" err="1"/>
              <a:t>ptsk</a:t>
            </a:r>
            <a:r>
              <a:rPr lang="es-NI" dirty="0"/>
              <a:t> (L)</a:t>
            </a:r>
            <a:r>
              <a:rPr lang="es-NI" baseline="-25000" dirty="0"/>
              <a:t>1</a:t>
            </a:r>
            <a:r>
              <a:rPr lang="es-NI" dirty="0"/>
              <a:t> - </a:t>
            </a:r>
            <a:r>
              <a:rPr lang="es-NI" dirty="0" err="1"/>
              <a:t>ptsk</a:t>
            </a:r>
            <a:r>
              <a:rPr lang="es-NI" dirty="0"/>
              <a:t> (L)</a:t>
            </a:r>
            <a:r>
              <a:rPr lang="es-NI" baseline="-25000" dirty="0"/>
              <a:t>0</a:t>
            </a:r>
            <a:r>
              <a:rPr lang="es-NI" dirty="0"/>
              <a:t> ) / </a:t>
            </a:r>
            <a:r>
              <a:rPr lang="es-NI" dirty="0" err="1"/>
              <a:t>ptsk</a:t>
            </a:r>
            <a:r>
              <a:rPr lang="es-NI" dirty="0"/>
              <a:t> (L)</a:t>
            </a:r>
            <a:r>
              <a:rPr lang="es-NI" baseline="-25000" dirty="0"/>
              <a:t>0</a:t>
            </a:r>
            <a:r>
              <a:rPr lang="es-NI" dirty="0"/>
              <a:t> * 100</a:t>
            </a:r>
          </a:p>
        </p:txBody>
      </p:sp>
      <p:sp>
        <p:nvSpPr>
          <p:cNvPr id="6" name="CuadroTexto 5">
            <a:extLst>
              <a:ext uri="{FF2B5EF4-FFF2-40B4-BE49-F238E27FC236}">
                <a16:creationId xmlns:a16="http://schemas.microsoft.com/office/drawing/2014/main" id="{33B4FA20-1FCF-4DAF-9279-5FF3DF036FBA}"/>
              </a:ext>
            </a:extLst>
          </p:cNvPr>
          <p:cNvSpPr txBox="1"/>
          <p:nvPr/>
        </p:nvSpPr>
        <p:spPr>
          <a:xfrm>
            <a:off x="945108" y="5881763"/>
            <a:ext cx="6093724" cy="369332"/>
          </a:xfrm>
          <a:prstGeom prst="rect">
            <a:avLst/>
          </a:prstGeom>
          <a:noFill/>
        </p:spPr>
        <p:txBody>
          <a:bodyPr wrap="square">
            <a:spAutoFit/>
          </a:bodyPr>
          <a:lstStyle/>
          <a:p>
            <a:r>
              <a:rPr lang="es-NI" dirty="0"/>
              <a:t>http://www5.uva.es/estadmed/datos/indices/indices.htm</a:t>
            </a:r>
          </a:p>
        </p:txBody>
      </p:sp>
    </p:spTree>
    <p:extLst>
      <p:ext uri="{BB962C8B-B14F-4D97-AF65-F5344CB8AC3E}">
        <p14:creationId xmlns:p14="http://schemas.microsoft.com/office/powerpoint/2010/main" val="64771547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TotalTime>
  <Words>1210</Words>
  <Application>Microsoft Office PowerPoint</Application>
  <PresentationFormat>Panorámica</PresentationFormat>
  <Paragraphs>350</Paragraphs>
  <Slides>10</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10</vt:i4>
      </vt:variant>
    </vt:vector>
  </HeadingPairs>
  <TitlesOfParts>
    <vt:vector size="17" baseType="lpstr">
      <vt:lpstr>Arial</vt:lpstr>
      <vt:lpstr>Arial, Helvetica, sans-serif</vt:lpstr>
      <vt:lpstr>Calibri</vt:lpstr>
      <vt:lpstr>Calibri Light</vt:lpstr>
      <vt:lpstr>Verdana</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AntonioAguirre</dc:creator>
  <cp:lastModifiedBy>Guillermo AntonioAguirre</cp:lastModifiedBy>
  <cp:revision>3</cp:revision>
  <dcterms:created xsi:type="dcterms:W3CDTF">2022-01-08T15:10:16Z</dcterms:created>
  <dcterms:modified xsi:type="dcterms:W3CDTF">2022-01-08T18:34:03Z</dcterms:modified>
</cp:coreProperties>
</file>