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57" r:id="rId12"/>
  </p:sldIdLst>
  <p:sldSz cx="12192000" cy="6858000"/>
  <p:notesSz cx="6858000" cy="9144000"/>
  <p:defaultText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70" d="100"/>
          <a:sy n="70" d="100"/>
        </p:scale>
        <p:origin x="660"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9A7A86-D08D-2792-1303-37304E6BA00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NI"/>
          </a:p>
        </p:txBody>
      </p:sp>
      <p:sp>
        <p:nvSpPr>
          <p:cNvPr id="3" name="Subtítulo 2">
            <a:extLst>
              <a:ext uri="{FF2B5EF4-FFF2-40B4-BE49-F238E27FC236}">
                <a16:creationId xmlns:a16="http://schemas.microsoft.com/office/drawing/2014/main" id="{A9DF8E0D-1581-7ABE-CBFE-01A5497AC8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NI"/>
          </a:p>
        </p:txBody>
      </p:sp>
      <p:sp>
        <p:nvSpPr>
          <p:cNvPr id="4" name="Marcador de fecha 3">
            <a:extLst>
              <a:ext uri="{FF2B5EF4-FFF2-40B4-BE49-F238E27FC236}">
                <a16:creationId xmlns:a16="http://schemas.microsoft.com/office/drawing/2014/main" id="{8DFCCF8D-F889-E13D-04D3-E3536B061F7C}"/>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36B287A4-7C73-CE75-9D82-BAC5B8FC5069}"/>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314C9CA8-8537-BDC4-E72F-919E4AA74014}"/>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79623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8156A-DF6B-A82A-E4D5-DF49C1C57602}"/>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1DD3B59-1FFD-6AC7-9689-79BFEF00687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AE839877-A85C-E17A-4597-1F1C9F250088}"/>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3E4B5A20-5929-A50D-449F-FBDA72C5464E}"/>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8B4C6268-49D8-C3CB-9F49-4D3D8D90D358}"/>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1842068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081612-5CDF-2CC8-8AEA-085A0A041A9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DF3E92D2-5281-7DC8-14A0-0D16CE3AF8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4D459D7-82F2-D86D-EF93-32C6E7BB5239}"/>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75FEB4F7-B190-7F6D-748A-D3DFCDE2B757}"/>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2BAA9CA4-68F3-C8F0-48B5-F52E21DF2A32}"/>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1788849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B1168B-1153-A66C-2326-8AADBBE5895A}"/>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B85BCD56-64D7-E07F-F8A4-B5699F67E75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contenido 3">
            <a:extLst>
              <a:ext uri="{FF2B5EF4-FFF2-40B4-BE49-F238E27FC236}">
                <a16:creationId xmlns:a16="http://schemas.microsoft.com/office/drawing/2014/main" id="{6A0F7B27-2177-3758-106A-96FE38DD7FC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fecha 4">
            <a:extLst>
              <a:ext uri="{FF2B5EF4-FFF2-40B4-BE49-F238E27FC236}">
                <a16:creationId xmlns:a16="http://schemas.microsoft.com/office/drawing/2014/main" id="{6950AEFC-9742-352E-4F55-5BE6F9101CEB}"/>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6" name="Marcador de pie de página 5">
            <a:extLst>
              <a:ext uri="{FF2B5EF4-FFF2-40B4-BE49-F238E27FC236}">
                <a16:creationId xmlns:a16="http://schemas.microsoft.com/office/drawing/2014/main" id="{74A34D84-AD2A-5E08-92AC-8E30353CD69B}"/>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2F6D44E2-7F9F-B094-2BCA-0D55335DF56B}"/>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3239580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FBCA97-8B6C-3807-4ED0-9781E3B58BA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6709A69B-0D00-4320-1F64-4B848E61D9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587B9C7-EDB4-726F-1549-4B741A2FADF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5" name="Marcador de texto 4">
            <a:extLst>
              <a:ext uri="{FF2B5EF4-FFF2-40B4-BE49-F238E27FC236}">
                <a16:creationId xmlns:a16="http://schemas.microsoft.com/office/drawing/2014/main" id="{71F06BD7-E7DD-7464-EABF-09F7D2B5C6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1C4AF11-8124-A2CB-75C5-8FE2123D565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7" name="Marcador de fecha 6">
            <a:extLst>
              <a:ext uri="{FF2B5EF4-FFF2-40B4-BE49-F238E27FC236}">
                <a16:creationId xmlns:a16="http://schemas.microsoft.com/office/drawing/2014/main" id="{AA2BC87B-F03F-878F-070C-DDF153A2931F}"/>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8" name="Marcador de pie de página 7">
            <a:extLst>
              <a:ext uri="{FF2B5EF4-FFF2-40B4-BE49-F238E27FC236}">
                <a16:creationId xmlns:a16="http://schemas.microsoft.com/office/drawing/2014/main" id="{A17BA0FA-75C7-1AC2-E9C3-985F42DA2E2F}"/>
              </a:ext>
            </a:extLst>
          </p:cNvPr>
          <p:cNvSpPr>
            <a:spLocks noGrp="1"/>
          </p:cNvSpPr>
          <p:nvPr>
            <p:ph type="ftr" sz="quarter" idx="11"/>
          </p:nvPr>
        </p:nvSpPr>
        <p:spPr/>
        <p:txBody>
          <a:bodyPr/>
          <a:lstStyle/>
          <a:p>
            <a:endParaRPr lang="es-NI"/>
          </a:p>
        </p:txBody>
      </p:sp>
      <p:sp>
        <p:nvSpPr>
          <p:cNvPr id="9" name="Marcador de número de diapositiva 8">
            <a:extLst>
              <a:ext uri="{FF2B5EF4-FFF2-40B4-BE49-F238E27FC236}">
                <a16:creationId xmlns:a16="http://schemas.microsoft.com/office/drawing/2014/main" id="{5BB92597-78E2-65A2-C803-18B6785397E8}"/>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1351845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314CB0-9FE4-E676-1C09-EB15989E5FFF}"/>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fecha 2">
            <a:extLst>
              <a:ext uri="{FF2B5EF4-FFF2-40B4-BE49-F238E27FC236}">
                <a16:creationId xmlns:a16="http://schemas.microsoft.com/office/drawing/2014/main" id="{CBD3C242-202C-8C32-64DC-4650E6D6424D}"/>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4" name="Marcador de pie de página 3">
            <a:extLst>
              <a:ext uri="{FF2B5EF4-FFF2-40B4-BE49-F238E27FC236}">
                <a16:creationId xmlns:a16="http://schemas.microsoft.com/office/drawing/2014/main" id="{A589679A-E45C-743B-C51A-6409313B73DF}"/>
              </a:ext>
            </a:extLst>
          </p:cNvPr>
          <p:cNvSpPr>
            <a:spLocks noGrp="1"/>
          </p:cNvSpPr>
          <p:nvPr>
            <p:ph type="ftr" sz="quarter" idx="11"/>
          </p:nvPr>
        </p:nvSpPr>
        <p:spPr/>
        <p:txBody>
          <a:bodyPr/>
          <a:lstStyle/>
          <a:p>
            <a:endParaRPr lang="es-NI"/>
          </a:p>
        </p:txBody>
      </p:sp>
      <p:sp>
        <p:nvSpPr>
          <p:cNvPr id="5" name="Marcador de número de diapositiva 4">
            <a:extLst>
              <a:ext uri="{FF2B5EF4-FFF2-40B4-BE49-F238E27FC236}">
                <a16:creationId xmlns:a16="http://schemas.microsoft.com/office/drawing/2014/main" id="{CAEA6D1D-FC6F-305F-5B59-B7B4BD2B3FDE}"/>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2465690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CD27EBA-D824-C63E-92AB-FCD492655F1A}"/>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3" name="Marcador de pie de página 2">
            <a:extLst>
              <a:ext uri="{FF2B5EF4-FFF2-40B4-BE49-F238E27FC236}">
                <a16:creationId xmlns:a16="http://schemas.microsoft.com/office/drawing/2014/main" id="{FFC7A4EA-31A6-2127-AE64-148590F8604E}"/>
              </a:ext>
            </a:extLst>
          </p:cNvPr>
          <p:cNvSpPr>
            <a:spLocks noGrp="1"/>
          </p:cNvSpPr>
          <p:nvPr>
            <p:ph type="ftr" sz="quarter" idx="11"/>
          </p:nvPr>
        </p:nvSpPr>
        <p:spPr/>
        <p:txBody>
          <a:bodyPr/>
          <a:lstStyle/>
          <a:p>
            <a:endParaRPr lang="es-NI"/>
          </a:p>
        </p:txBody>
      </p:sp>
      <p:sp>
        <p:nvSpPr>
          <p:cNvPr id="4" name="Marcador de número de diapositiva 3">
            <a:extLst>
              <a:ext uri="{FF2B5EF4-FFF2-40B4-BE49-F238E27FC236}">
                <a16:creationId xmlns:a16="http://schemas.microsoft.com/office/drawing/2014/main" id="{FDE58347-239F-FCA0-D7AD-2B28F1DB7610}"/>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2423833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5B9A61-65D5-CF6C-BD6E-77BBFBE1D50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contenido 2">
            <a:extLst>
              <a:ext uri="{FF2B5EF4-FFF2-40B4-BE49-F238E27FC236}">
                <a16:creationId xmlns:a16="http://schemas.microsoft.com/office/drawing/2014/main" id="{8EDF4F66-1611-6359-D2CF-9855831C3A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texto 3">
            <a:extLst>
              <a:ext uri="{FF2B5EF4-FFF2-40B4-BE49-F238E27FC236}">
                <a16:creationId xmlns:a16="http://schemas.microsoft.com/office/drawing/2014/main" id="{A46884C1-DC02-3813-2DE7-6D3F879639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0889C8F-3537-0587-0D65-EF7EB1C860A0}"/>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6" name="Marcador de pie de página 5">
            <a:extLst>
              <a:ext uri="{FF2B5EF4-FFF2-40B4-BE49-F238E27FC236}">
                <a16:creationId xmlns:a16="http://schemas.microsoft.com/office/drawing/2014/main" id="{CD911A5E-B0B4-857B-8139-B437F10D9E87}"/>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71CBBEC6-11C9-078F-8E60-92136FF7613B}"/>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1997160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0D9971-E3E1-3C39-B4C4-89E8D815A4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NI"/>
          </a:p>
        </p:txBody>
      </p:sp>
      <p:sp>
        <p:nvSpPr>
          <p:cNvPr id="3" name="Marcador de posición de imagen 2">
            <a:extLst>
              <a:ext uri="{FF2B5EF4-FFF2-40B4-BE49-F238E27FC236}">
                <a16:creationId xmlns:a16="http://schemas.microsoft.com/office/drawing/2014/main" id="{5D3AE360-AFA3-2E3E-6CEE-C61DD3B764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NI"/>
          </a:p>
        </p:txBody>
      </p:sp>
      <p:sp>
        <p:nvSpPr>
          <p:cNvPr id="4" name="Marcador de texto 3">
            <a:extLst>
              <a:ext uri="{FF2B5EF4-FFF2-40B4-BE49-F238E27FC236}">
                <a16:creationId xmlns:a16="http://schemas.microsoft.com/office/drawing/2014/main" id="{1D4F3D76-3758-778E-C4B8-3D454EF6D9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C1EF8D4-763D-E31F-65A1-6928E5AFB5D3}"/>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6" name="Marcador de pie de página 5">
            <a:extLst>
              <a:ext uri="{FF2B5EF4-FFF2-40B4-BE49-F238E27FC236}">
                <a16:creationId xmlns:a16="http://schemas.microsoft.com/office/drawing/2014/main" id="{21E0ADDC-97B8-18BE-9121-35DF82981513}"/>
              </a:ext>
            </a:extLst>
          </p:cNvPr>
          <p:cNvSpPr>
            <a:spLocks noGrp="1"/>
          </p:cNvSpPr>
          <p:nvPr>
            <p:ph type="ftr" sz="quarter" idx="11"/>
          </p:nvPr>
        </p:nvSpPr>
        <p:spPr/>
        <p:txBody>
          <a:bodyPr/>
          <a:lstStyle/>
          <a:p>
            <a:endParaRPr lang="es-NI"/>
          </a:p>
        </p:txBody>
      </p:sp>
      <p:sp>
        <p:nvSpPr>
          <p:cNvPr id="7" name="Marcador de número de diapositiva 6">
            <a:extLst>
              <a:ext uri="{FF2B5EF4-FFF2-40B4-BE49-F238E27FC236}">
                <a16:creationId xmlns:a16="http://schemas.microsoft.com/office/drawing/2014/main" id="{C7FD0240-F8C0-624B-E0E4-976C53E6316C}"/>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1542344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6190F4-57CB-FBD5-BE02-7880D3C0DA56}"/>
              </a:ext>
            </a:extLst>
          </p:cNvPr>
          <p:cNvSpPr>
            <a:spLocks noGrp="1"/>
          </p:cNvSpPr>
          <p:nvPr>
            <p:ph type="title"/>
          </p:nvPr>
        </p:nvSpPr>
        <p:spPr/>
        <p:txBody>
          <a:bodyPr/>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7E3ADC9B-3929-DE46-1816-2665523886D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2A881D96-52C8-7F76-6D12-7D4F1DB35482}"/>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5E8AE7B2-7DD8-263F-3770-2A6860AA559A}"/>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0699E872-CAE6-7E58-B9ED-90CEA9A84E19}"/>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2835642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2E824D5-E4BD-A136-84AF-7602A1AB77F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NI"/>
          </a:p>
        </p:txBody>
      </p:sp>
      <p:sp>
        <p:nvSpPr>
          <p:cNvPr id="3" name="Marcador de texto vertical 2">
            <a:extLst>
              <a:ext uri="{FF2B5EF4-FFF2-40B4-BE49-F238E27FC236}">
                <a16:creationId xmlns:a16="http://schemas.microsoft.com/office/drawing/2014/main" id="{DC094951-9D8F-65BC-8C70-C4EBC070D90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266C698D-D946-4419-7F57-869FAA347E15}"/>
              </a:ext>
            </a:extLst>
          </p:cNvPr>
          <p:cNvSpPr>
            <a:spLocks noGrp="1"/>
          </p:cNvSpPr>
          <p:nvPr>
            <p:ph type="dt" sz="half" idx="10"/>
          </p:nvPr>
        </p:nvSpPr>
        <p:spPr/>
        <p:txBody>
          <a:body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88BFBB11-85DF-5DBB-747E-BC406CF0A3CD}"/>
              </a:ext>
            </a:extLst>
          </p:cNvPr>
          <p:cNvSpPr>
            <a:spLocks noGrp="1"/>
          </p:cNvSpPr>
          <p:nvPr>
            <p:ph type="ftr" sz="quarter" idx="11"/>
          </p:nvPr>
        </p:nvSpPr>
        <p:spPr/>
        <p:txBody>
          <a:bodyPr/>
          <a:lstStyle/>
          <a:p>
            <a:endParaRPr lang="es-NI"/>
          </a:p>
        </p:txBody>
      </p:sp>
      <p:sp>
        <p:nvSpPr>
          <p:cNvPr id="6" name="Marcador de número de diapositiva 5">
            <a:extLst>
              <a:ext uri="{FF2B5EF4-FFF2-40B4-BE49-F238E27FC236}">
                <a16:creationId xmlns:a16="http://schemas.microsoft.com/office/drawing/2014/main" id="{9E7A0E66-0586-260B-D319-2BA031B1A7BF}"/>
              </a:ext>
            </a:extLst>
          </p:cNvPr>
          <p:cNvSpPr>
            <a:spLocks noGrp="1"/>
          </p:cNvSpPr>
          <p:nvPr>
            <p:ph type="sldNum" sz="quarter" idx="12"/>
          </p:nvPr>
        </p:nvSpPr>
        <p:spPr/>
        <p:txBody>
          <a:bodyPr/>
          <a:lstStyle/>
          <a:p>
            <a:fld id="{A0F3D6A7-5C14-40EC-B9B3-956C56353E4E}" type="slidenum">
              <a:rPr lang="es-NI" smtClean="0"/>
              <a:t>‹Nº›</a:t>
            </a:fld>
            <a:endParaRPr lang="es-NI"/>
          </a:p>
        </p:txBody>
      </p:sp>
    </p:spTree>
    <p:extLst>
      <p:ext uri="{BB962C8B-B14F-4D97-AF65-F5344CB8AC3E}">
        <p14:creationId xmlns:p14="http://schemas.microsoft.com/office/powerpoint/2010/main" val="204145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92613CC-231B-43ED-091F-F1346A9210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NI"/>
          </a:p>
        </p:txBody>
      </p:sp>
      <p:sp>
        <p:nvSpPr>
          <p:cNvPr id="3" name="Marcador de texto 2">
            <a:extLst>
              <a:ext uri="{FF2B5EF4-FFF2-40B4-BE49-F238E27FC236}">
                <a16:creationId xmlns:a16="http://schemas.microsoft.com/office/drawing/2014/main" id="{AE959181-6DA0-1892-5F6D-D1658A8F9F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NI"/>
          </a:p>
        </p:txBody>
      </p:sp>
      <p:sp>
        <p:nvSpPr>
          <p:cNvPr id="4" name="Marcador de fecha 3">
            <a:extLst>
              <a:ext uri="{FF2B5EF4-FFF2-40B4-BE49-F238E27FC236}">
                <a16:creationId xmlns:a16="http://schemas.microsoft.com/office/drawing/2014/main" id="{D08F2199-E678-D437-10C4-43B3CEE346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86827D-E58B-486F-8260-9115F7038FAE}" type="datetimeFigureOut">
              <a:rPr lang="es-NI" smtClean="0"/>
              <a:t>11/3/2023</a:t>
            </a:fld>
            <a:endParaRPr lang="es-NI"/>
          </a:p>
        </p:txBody>
      </p:sp>
      <p:sp>
        <p:nvSpPr>
          <p:cNvPr id="5" name="Marcador de pie de página 4">
            <a:extLst>
              <a:ext uri="{FF2B5EF4-FFF2-40B4-BE49-F238E27FC236}">
                <a16:creationId xmlns:a16="http://schemas.microsoft.com/office/drawing/2014/main" id="{A6D2A786-A237-9673-2BFE-F295C01BA9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NI"/>
          </a:p>
        </p:txBody>
      </p:sp>
      <p:sp>
        <p:nvSpPr>
          <p:cNvPr id="6" name="Marcador de número de diapositiva 5">
            <a:extLst>
              <a:ext uri="{FF2B5EF4-FFF2-40B4-BE49-F238E27FC236}">
                <a16:creationId xmlns:a16="http://schemas.microsoft.com/office/drawing/2014/main" id="{873DDA61-D42E-BE74-D5A1-33F9D4ADE0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3D6A7-5C14-40EC-B9B3-956C56353E4E}" type="slidenum">
              <a:rPr lang="es-NI" smtClean="0"/>
              <a:t>‹Nº›</a:t>
            </a:fld>
            <a:endParaRPr lang="es-NI"/>
          </a:p>
        </p:txBody>
      </p:sp>
    </p:spTree>
    <p:extLst>
      <p:ext uri="{BB962C8B-B14F-4D97-AF65-F5344CB8AC3E}">
        <p14:creationId xmlns:p14="http://schemas.microsoft.com/office/powerpoint/2010/main" val="698921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N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7608E7-B6F7-E766-9535-F09D63E79B16}"/>
              </a:ext>
            </a:extLst>
          </p:cNvPr>
          <p:cNvSpPr txBox="1"/>
          <p:nvPr/>
        </p:nvSpPr>
        <p:spPr>
          <a:xfrm>
            <a:off x="332096" y="736979"/>
            <a:ext cx="11527808" cy="5632311"/>
          </a:xfrm>
          <a:prstGeom prst="rect">
            <a:avLst/>
          </a:prstGeom>
          <a:noFill/>
        </p:spPr>
        <p:txBody>
          <a:bodyPr wrap="square" rtlCol="0">
            <a:spAutoFit/>
          </a:bodyPr>
          <a:lstStyle/>
          <a:p>
            <a:r>
              <a:rPr lang="es-ES" dirty="0"/>
              <a:t>En Python, los arreglos se conocen como listas, que son una estructura de datos que permite almacenar una colección de elementos ordenados. Las listas pueden contener elementos de diferentes tipos de datos, como enteros, flotantes, cadenas, booleanos, entre otros.</a:t>
            </a:r>
          </a:p>
          <a:p>
            <a:endParaRPr lang="es-ES" dirty="0"/>
          </a:p>
          <a:p>
            <a:r>
              <a:rPr lang="es-ES" dirty="0"/>
              <a:t>Las listas en Python son muy versátiles y flexibles, y se pueden modificar en tiempo de ejecución. Es decir, se pueden agregar, eliminar y modificar elementos en la lista. Además, las listas en Python son dinámicas, lo que significa que no se requiere definir previamente el tamaño de la lista.</a:t>
            </a:r>
          </a:p>
          <a:p>
            <a:endParaRPr lang="es-ES" dirty="0"/>
          </a:p>
          <a:p>
            <a:r>
              <a:rPr lang="es-ES" dirty="0"/>
              <a:t>Por ejemplo, se puede crear una lista de números enteros de la siguiente manera:</a:t>
            </a:r>
          </a:p>
          <a:p>
            <a:endParaRPr lang="es-ES" dirty="0"/>
          </a:p>
          <a:p>
            <a:r>
              <a:rPr lang="pt-BR" dirty="0" err="1"/>
              <a:t>numeros</a:t>
            </a:r>
            <a:r>
              <a:rPr lang="pt-BR" dirty="0"/>
              <a:t> = [1, 2, 3, 4, 5]</a:t>
            </a:r>
          </a:p>
          <a:p>
            <a:endParaRPr lang="es-NI" dirty="0"/>
          </a:p>
          <a:p>
            <a:r>
              <a:rPr lang="es-ES" dirty="0"/>
              <a:t>También se puede crear una lista que contenga diferentes tipos de datos:</a:t>
            </a:r>
          </a:p>
          <a:p>
            <a:endParaRPr lang="es-ES" dirty="0"/>
          </a:p>
          <a:p>
            <a:r>
              <a:rPr lang="es-NI" dirty="0"/>
              <a:t>lista = ['hola', 5, True, 3.14]</a:t>
            </a:r>
          </a:p>
          <a:p>
            <a:endParaRPr lang="es-NI" dirty="0"/>
          </a:p>
          <a:p>
            <a:r>
              <a:rPr lang="es-ES" dirty="0"/>
              <a:t>Es importante tener en cuenta que en Python, las listas se indexan a partir de cero, es decir, el primer elemento de la lista tiene un índice de 0, el segundo elemento tiene un índice de 1 y así sucesivamente.</a:t>
            </a:r>
          </a:p>
          <a:p>
            <a:endParaRPr lang="es-ES" dirty="0"/>
          </a:p>
          <a:p>
            <a:r>
              <a:rPr lang="es-ES" dirty="0"/>
              <a:t>Las listas en Python son muy útiles y se utilizan en una amplia variedad de aplicaciones y proyectos.</a:t>
            </a:r>
            <a:endParaRPr lang="es-NI" dirty="0"/>
          </a:p>
        </p:txBody>
      </p:sp>
      <p:sp>
        <p:nvSpPr>
          <p:cNvPr id="5" name="CuadroTexto 4">
            <a:extLst>
              <a:ext uri="{FF2B5EF4-FFF2-40B4-BE49-F238E27FC236}">
                <a16:creationId xmlns:a16="http://schemas.microsoft.com/office/drawing/2014/main" id="{5B09EFCE-C21D-B5DC-69D0-0B9FBA272F1B}"/>
              </a:ext>
            </a:extLst>
          </p:cNvPr>
          <p:cNvSpPr txBox="1"/>
          <p:nvPr/>
        </p:nvSpPr>
        <p:spPr>
          <a:xfrm>
            <a:off x="5540991" y="213759"/>
            <a:ext cx="1110018" cy="523220"/>
          </a:xfrm>
          <a:prstGeom prst="rect">
            <a:avLst/>
          </a:prstGeom>
          <a:noFill/>
        </p:spPr>
        <p:txBody>
          <a:bodyPr wrap="square" rtlCol="0">
            <a:spAutoFit/>
          </a:bodyPr>
          <a:lstStyle/>
          <a:p>
            <a:r>
              <a:rPr lang="es-NI" sz="2800" b="1" dirty="0"/>
              <a:t>Listas</a:t>
            </a:r>
          </a:p>
        </p:txBody>
      </p:sp>
    </p:spTree>
    <p:extLst>
      <p:ext uri="{BB962C8B-B14F-4D97-AF65-F5344CB8AC3E}">
        <p14:creationId xmlns:p14="http://schemas.microsoft.com/office/powerpoint/2010/main" val="1599330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7608E7-B6F7-E766-9535-F09D63E79B16}"/>
              </a:ext>
            </a:extLst>
          </p:cNvPr>
          <p:cNvSpPr txBox="1"/>
          <p:nvPr/>
        </p:nvSpPr>
        <p:spPr>
          <a:xfrm>
            <a:off x="332096" y="736979"/>
            <a:ext cx="11527808" cy="5078313"/>
          </a:xfrm>
          <a:prstGeom prst="rect">
            <a:avLst/>
          </a:prstGeom>
          <a:noFill/>
        </p:spPr>
        <p:txBody>
          <a:bodyPr wrap="square" rtlCol="0">
            <a:spAutoFit/>
          </a:bodyPr>
          <a:lstStyle/>
          <a:p>
            <a:pPr algn="just"/>
            <a:r>
              <a:rPr lang="es-ES" dirty="0"/>
              <a:t>En Python, una tupla es otra estructura de datos que permite almacenar una colección de elementos ordenados, similar a una lista</a:t>
            </a:r>
          </a:p>
          <a:p>
            <a:pPr algn="just"/>
            <a:endParaRPr lang="es-ES" dirty="0"/>
          </a:p>
          <a:p>
            <a:pPr algn="just"/>
            <a:r>
              <a:rPr lang="es-ES" dirty="0"/>
              <a:t>Las tuplas se crean utilizando paréntesis () en lugar de corchetes [] como en las listas. Por ejemplo, se puede crear una tupla de números enteros de la siguiente manera:</a:t>
            </a:r>
          </a:p>
          <a:p>
            <a:pPr algn="just"/>
            <a:endParaRPr lang="es-ES" dirty="0"/>
          </a:p>
          <a:p>
            <a:pPr algn="just"/>
            <a:r>
              <a:rPr lang="es-ES" dirty="0" err="1"/>
              <a:t>tupla_numeros</a:t>
            </a:r>
            <a:r>
              <a:rPr lang="es-ES" dirty="0"/>
              <a:t> = (1, 2, 3, 4, 5)</a:t>
            </a:r>
          </a:p>
          <a:p>
            <a:pPr algn="just"/>
            <a:endParaRPr lang="es-ES" dirty="0"/>
          </a:p>
          <a:p>
            <a:pPr algn="just"/>
            <a:r>
              <a:rPr lang="es-ES" dirty="0"/>
              <a:t>También se puede crear una tupla que contenga diferentes tipos de datos:</a:t>
            </a:r>
          </a:p>
          <a:p>
            <a:pPr algn="just"/>
            <a:endParaRPr lang="es-ES" dirty="0"/>
          </a:p>
          <a:p>
            <a:pPr algn="just"/>
            <a:r>
              <a:rPr lang="es-ES" dirty="0" err="1"/>
              <a:t>tupla_datos</a:t>
            </a:r>
            <a:r>
              <a:rPr lang="es-ES" dirty="0"/>
              <a:t> = ('hola', 5, True, 3.14)</a:t>
            </a:r>
          </a:p>
          <a:p>
            <a:pPr algn="just"/>
            <a:endParaRPr lang="es-ES" dirty="0"/>
          </a:p>
          <a:p>
            <a:pPr algn="just"/>
            <a:r>
              <a:rPr lang="es-ES" dirty="0"/>
              <a:t>Al igual que con las listas, se pueden acceder a los elementos de una tupla mediante índices. Sin embargo, como las tuplas son inmutables, no se pueden agregar o eliminar elementos una vez creadas. Tampoco se pueden cambiar los valores de los elementos individuales.</a:t>
            </a:r>
          </a:p>
          <a:p>
            <a:pPr algn="just"/>
            <a:endParaRPr lang="es-ES" dirty="0"/>
          </a:p>
          <a:p>
            <a:pPr algn="just"/>
            <a:r>
              <a:rPr lang="es-ES" dirty="0"/>
              <a:t>Las tuplas se utilizan comúnmente para representar datos que no deberían cambiar, como coordenadas geográficas, valores constantes en una aplicación, fechas, entre otros. </a:t>
            </a:r>
          </a:p>
        </p:txBody>
      </p:sp>
      <p:sp>
        <p:nvSpPr>
          <p:cNvPr id="5" name="CuadroTexto 4">
            <a:extLst>
              <a:ext uri="{FF2B5EF4-FFF2-40B4-BE49-F238E27FC236}">
                <a16:creationId xmlns:a16="http://schemas.microsoft.com/office/drawing/2014/main" id="{5B09EFCE-C21D-B5DC-69D0-0B9FBA272F1B}"/>
              </a:ext>
            </a:extLst>
          </p:cNvPr>
          <p:cNvSpPr txBox="1"/>
          <p:nvPr/>
        </p:nvSpPr>
        <p:spPr>
          <a:xfrm>
            <a:off x="5540991" y="213759"/>
            <a:ext cx="1514902" cy="523220"/>
          </a:xfrm>
          <a:prstGeom prst="rect">
            <a:avLst/>
          </a:prstGeom>
          <a:noFill/>
        </p:spPr>
        <p:txBody>
          <a:bodyPr wrap="square" rtlCol="0">
            <a:spAutoFit/>
          </a:bodyPr>
          <a:lstStyle/>
          <a:p>
            <a:r>
              <a:rPr lang="es-NI" sz="2800" b="1" dirty="0"/>
              <a:t>Tuplas</a:t>
            </a:r>
          </a:p>
        </p:txBody>
      </p:sp>
    </p:spTree>
    <p:extLst>
      <p:ext uri="{BB962C8B-B14F-4D97-AF65-F5344CB8AC3E}">
        <p14:creationId xmlns:p14="http://schemas.microsoft.com/office/powerpoint/2010/main" val="3077275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7608E7-B6F7-E766-9535-F09D63E79B16}"/>
              </a:ext>
            </a:extLst>
          </p:cNvPr>
          <p:cNvSpPr txBox="1"/>
          <p:nvPr/>
        </p:nvSpPr>
        <p:spPr>
          <a:xfrm>
            <a:off x="332096" y="3429000"/>
            <a:ext cx="11527808" cy="923330"/>
          </a:xfrm>
          <a:prstGeom prst="rect">
            <a:avLst/>
          </a:prstGeom>
          <a:noFill/>
        </p:spPr>
        <p:txBody>
          <a:bodyPr wrap="square" rtlCol="0">
            <a:spAutoFit/>
          </a:bodyPr>
          <a:lstStyle/>
          <a:p>
            <a:pPr algn="just"/>
            <a:r>
              <a:rPr lang="es-ES" b="1" dirty="0"/>
              <a:t>Mutabilidad</a:t>
            </a:r>
            <a:r>
              <a:rPr lang="es-ES" dirty="0"/>
              <a:t>: las listas son mutables, lo que significa que se pueden agregar, eliminar y modificar elementos individuales en cualquier momento después de su creación. En cambio, las tuplas son inmutables, lo que significa que una vez creadas, no se pueden modificar los elementos individuales.</a:t>
            </a:r>
          </a:p>
        </p:txBody>
      </p:sp>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5349922" cy="523220"/>
          </a:xfrm>
          <a:prstGeom prst="rect">
            <a:avLst/>
          </a:prstGeom>
          <a:noFill/>
        </p:spPr>
        <p:txBody>
          <a:bodyPr wrap="square" rtlCol="0">
            <a:spAutoFit/>
          </a:bodyPr>
          <a:lstStyle/>
          <a:p>
            <a:r>
              <a:rPr lang="es-NI" sz="2800" b="1" dirty="0"/>
              <a:t>Diferencias entre Listas y tuplas</a:t>
            </a:r>
          </a:p>
        </p:txBody>
      </p:sp>
      <p:sp>
        <p:nvSpPr>
          <p:cNvPr id="2" name="CuadroTexto 1">
            <a:extLst>
              <a:ext uri="{FF2B5EF4-FFF2-40B4-BE49-F238E27FC236}">
                <a16:creationId xmlns:a16="http://schemas.microsoft.com/office/drawing/2014/main" id="{D829C7ED-AA21-DFCE-0027-4A4E23F89803}"/>
              </a:ext>
            </a:extLst>
          </p:cNvPr>
          <p:cNvSpPr txBox="1"/>
          <p:nvPr/>
        </p:nvSpPr>
        <p:spPr>
          <a:xfrm>
            <a:off x="532263" y="4684594"/>
            <a:ext cx="5199797" cy="1200329"/>
          </a:xfrm>
          <a:prstGeom prst="rect">
            <a:avLst/>
          </a:prstGeom>
          <a:noFill/>
        </p:spPr>
        <p:txBody>
          <a:bodyPr wrap="square" rtlCol="0">
            <a:spAutoFit/>
          </a:bodyPr>
          <a:lstStyle/>
          <a:p>
            <a:pPr algn="ctr"/>
            <a:r>
              <a:rPr lang="es-NI" b="1" dirty="0"/>
              <a:t>Listas</a:t>
            </a:r>
          </a:p>
          <a:p>
            <a:r>
              <a:rPr lang="es-NI" dirty="0"/>
              <a:t>lista = [1, 2, 3, 4]</a:t>
            </a:r>
          </a:p>
          <a:p>
            <a:r>
              <a:rPr lang="es-NI" dirty="0"/>
              <a:t>lista[0] = 5</a:t>
            </a:r>
          </a:p>
          <a:p>
            <a:r>
              <a:rPr lang="es-NI" dirty="0" err="1"/>
              <a:t>print</a:t>
            </a:r>
            <a:r>
              <a:rPr lang="es-NI" dirty="0"/>
              <a:t>(lista) # [5, 2, 3, 4]</a:t>
            </a:r>
          </a:p>
        </p:txBody>
      </p:sp>
      <p:sp>
        <p:nvSpPr>
          <p:cNvPr id="3" name="CuadroTexto 2">
            <a:extLst>
              <a:ext uri="{FF2B5EF4-FFF2-40B4-BE49-F238E27FC236}">
                <a16:creationId xmlns:a16="http://schemas.microsoft.com/office/drawing/2014/main" id="{0E23D4CE-5305-CA9B-E0A7-3D5B22B897BC}"/>
              </a:ext>
            </a:extLst>
          </p:cNvPr>
          <p:cNvSpPr txBox="1"/>
          <p:nvPr/>
        </p:nvSpPr>
        <p:spPr>
          <a:xfrm>
            <a:off x="6459940" y="4684594"/>
            <a:ext cx="5199797" cy="1200329"/>
          </a:xfrm>
          <a:prstGeom prst="rect">
            <a:avLst/>
          </a:prstGeom>
          <a:noFill/>
        </p:spPr>
        <p:txBody>
          <a:bodyPr wrap="square" rtlCol="0">
            <a:spAutoFit/>
          </a:bodyPr>
          <a:lstStyle/>
          <a:p>
            <a:pPr algn="ctr"/>
            <a:r>
              <a:rPr lang="es-NI" b="1" dirty="0"/>
              <a:t>Tuplas</a:t>
            </a:r>
          </a:p>
          <a:p>
            <a:r>
              <a:rPr lang="es-ES" dirty="0"/>
              <a:t>tupla = (1, 2, 3, 4)</a:t>
            </a:r>
          </a:p>
          <a:p>
            <a:r>
              <a:rPr lang="es-ES" dirty="0"/>
              <a:t>tupla[0] = 5 # esto generaría un error, ya que las tuplas son inmutables</a:t>
            </a:r>
          </a:p>
        </p:txBody>
      </p:sp>
      <p:sp>
        <p:nvSpPr>
          <p:cNvPr id="7" name="CuadroTexto 6">
            <a:extLst>
              <a:ext uri="{FF2B5EF4-FFF2-40B4-BE49-F238E27FC236}">
                <a16:creationId xmlns:a16="http://schemas.microsoft.com/office/drawing/2014/main" id="{871396D1-F455-F549-C2AE-CA08C31FA4AB}"/>
              </a:ext>
            </a:extLst>
          </p:cNvPr>
          <p:cNvSpPr txBox="1"/>
          <p:nvPr/>
        </p:nvSpPr>
        <p:spPr>
          <a:xfrm>
            <a:off x="300252" y="973077"/>
            <a:ext cx="11527808" cy="369332"/>
          </a:xfrm>
          <a:prstGeom prst="rect">
            <a:avLst/>
          </a:prstGeom>
          <a:noFill/>
        </p:spPr>
        <p:txBody>
          <a:bodyPr wrap="square" rtlCol="0">
            <a:spAutoFit/>
          </a:bodyPr>
          <a:lstStyle/>
          <a:p>
            <a:pPr algn="just"/>
            <a:r>
              <a:rPr lang="es-ES" b="1" dirty="0"/>
              <a:t>Sintaxis</a:t>
            </a:r>
            <a:r>
              <a:rPr lang="es-ES" dirty="0"/>
              <a:t>: las listas se crean utilizando corchetes [] mientras que las tuplas se crean utilizando paréntesis ().</a:t>
            </a:r>
          </a:p>
        </p:txBody>
      </p:sp>
      <p:sp>
        <p:nvSpPr>
          <p:cNvPr id="8" name="CuadroTexto 7">
            <a:extLst>
              <a:ext uri="{FF2B5EF4-FFF2-40B4-BE49-F238E27FC236}">
                <a16:creationId xmlns:a16="http://schemas.microsoft.com/office/drawing/2014/main" id="{6D5E86B1-6D70-2300-A274-641570A9CF68}"/>
              </a:ext>
            </a:extLst>
          </p:cNvPr>
          <p:cNvSpPr txBox="1"/>
          <p:nvPr/>
        </p:nvSpPr>
        <p:spPr>
          <a:xfrm>
            <a:off x="532263" y="1813931"/>
            <a:ext cx="5199797" cy="646331"/>
          </a:xfrm>
          <a:prstGeom prst="rect">
            <a:avLst/>
          </a:prstGeom>
          <a:noFill/>
        </p:spPr>
        <p:txBody>
          <a:bodyPr wrap="square" rtlCol="0">
            <a:spAutoFit/>
          </a:bodyPr>
          <a:lstStyle/>
          <a:p>
            <a:pPr algn="ctr"/>
            <a:r>
              <a:rPr lang="es-NI" b="1" dirty="0"/>
              <a:t>Listas</a:t>
            </a:r>
          </a:p>
          <a:p>
            <a:r>
              <a:rPr lang="es-NI" dirty="0"/>
              <a:t>lista = [1, 2, 3, 4]</a:t>
            </a:r>
          </a:p>
        </p:txBody>
      </p:sp>
      <p:sp>
        <p:nvSpPr>
          <p:cNvPr id="9" name="CuadroTexto 8">
            <a:extLst>
              <a:ext uri="{FF2B5EF4-FFF2-40B4-BE49-F238E27FC236}">
                <a16:creationId xmlns:a16="http://schemas.microsoft.com/office/drawing/2014/main" id="{887352CC-5F51-F2A4-9BAF-0D719F9F7F0A}"/>
              </a:ext>
            </a:extLst>
          </p:cNvPr>
          <p:cNvSpPr txBox="1"/>
          <p:nvPr/>
        </p:nvSpPr>
        <p:spPr>
          <a:xfrm>
            <a:off x="6459940" y="1813931"/>
            <a:ext cx="5199797" cy="646331"/>
          </a:xfrm>
          <a:prstGeom prst="rect">
            <a:avLst/>
          </a:prstGeom>
          <a:noFill/>
        </p:spPr>
        <p:txBody>
          <a:bodyPr wrap="square" rtlCol="0">
            <a:spAutoFit/>
          </a:bodyPr>
          <a:lstStyle/>
          <a:p>
            <a:pPr algn="ctr"/>
            <a:r>
              <a:rPr lang="es-NI" b="1" dirty="0"/>
              <a:t>Tuplas</a:t>
            </a:r>
          </a:p>
          <a:p>
            <a:r>
              <a:rPr lang="es-ES" dirty="0"/>
              <a:t>tupla = (1, 2, 3, 4)</a:t>
            </a:r>
          </a:p>
        </p:txBody>
      </p:sp>
    </p:spTree>
    <p:extLst>
      <p:ext uri="{BB962C8B-B14F-4D97-AF65-F5344CB8AC3E}">
        <p14:creationId xmlns:p14="http://schemas.microsoft.com/office/powerpoint/2010/main" val="2276587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5A7608E7-B6F7-E766-9535-F09D63E79B16}"/>
              </a:ext>
            </a:extLst>
          </p:cNvPr>
          <p:cNvSpPr txBox="1"/>
          <p:nvPr/>
        </p:nvSpPr>
        <p:spPr>
          <a:xfrm>
            <a:off x="332096" y="2391453"/>
            <a:ext cx="11527808" cy="646331"/>
          </a:xfrm>
          <a:prstGeom prst="rect">
            <a:avLst/>
          </a:prstGeom>
          <a:noFill/>
        </p:spPr>
        <p:txBody>
          <a:bodyPr wrap="square" rtlCol="0">
            <a:spAutoFit/>
          </a:bodyPr>
          <a:lstStyle/>
          <a:p>
            <a:pPr algn="just"/>
            <a:r>
              <a:rPr lang="es-ES" b="1" dirty="0"/>
              <a:t>Uso</a:t>
            </a:r>
            <a:r>
              <a:rPr lang="es-ES" dirty="0"/>
              <a:t>: las listas son más adecuadas para almacenar elementos que se necesitan modificar después de su creación, mientras que las tuplas son más adecuadas para almacenar elementos que no necesitan ser modificados..</a:t>
            </a:r>
          </a:p>
        </p:txBody>
      </p:sp>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5349922" cy="523220"/>
          </a:xfrm>
          <a:prstGeom prst="rect">
            <a:avLst/>
          </a:prstGeom>
          <a:noFill/>
        </p:spPr>
        <p:txBody>
          <a:bodyPr wrap="square" rtlCol="0">
            <a:spAutoFit/>
          </a:bodyPr>
          <a:lstStyle/>
          <a:p>
            <a:r>
              <a:rPr lang="es-NI" sz="2800" b="1" dirty="0"/>
              <a:t>Diferencias entre Listas y tuplas</a:t>
            </a:r>
          </a:p>
        </p:txBody>
      </p:sp>
      <p:sp>
        <p:nvSpPr>
          <p:cNvPr id="2" name="CuadroTexto 1">
            <a:extLst>
              <a:ext uri="{FF2B5EF4-FFF2-40B4-BE49-F238E27FC236}">
                <a16:creationId xmlns:a16="http://schemas.microsoft.com/office/drawing/2014/main" id="{D829C7ED-AA21-DFCE-0027-4A4E23F89803}"/>
              </a:ext>
            </a:extLst>
          </p:cNvPr>
          <p:cNvSpPr txBox="1"/>
          <p:nvPr/>
        </p:nvSpPr>
        <p:spPr>
          <a:xfrm>
            <a:off x="532263" y="3057643"/>
            <a:ext cx="5199797" cy="3693319"/>
          </a:xfrm>
          <a:prstGeom prst="rect">
            <a:avLst/>
          </a:prstGeom>
          <a:noFill/>
        </p:spPr>
        <p:txBody>
          <a:bodyPr wrap="square" rtlCol="0">
            <a:spAutoFit/>
          </a:bodyPr>
          <a:lstStyle/>
          <a:p>
            <a:pPr algn="ctr"/>
            <a:r>
              <a:rPr lang="es-NI" b="1" dirty="0"/>
              <a:t>Listas</a:t>
            </a:r>
          </a:p>
          <a:p>
            <a:r>
              <a:rPr lang="es-ES" dirty="0"/>
              <a:t># se almacenan los nombres de los estudiantes en una lista</a:t>
            </a:r>
          </a:p>
          <a:p>
            <a:r>
              <a:rPr lang="es-ES" dirty="0"/>
              <a:t>estudiantes = ['Juan', 'Ana', 'Pedro', 'Luisa']</a:t>
            </a:r>
          </a:p>
          <a:p>
            <a:endParaRPr lang="es-ES" dirty="0"/>
          </a:p>
          <a:p>
            <a:r>
              <a:rPr lang="es-ES" dirty="0"/>
              <a:t># se agrega un nuevo estudiante a la lista</a:t>
            </a:r>
          </a:p>
          <a:p>
            <a:r>
              <a:rPr lang="es-ES" dirty="0" err="1"/>
              <a:t>estudiantes.append</a:t>
            </a:r>
            <a:r>
              <a:rPr lang="es-ES" dirty="0"/>
              <a:t>('Marta')</a:t>
            </a:r>
          </a:p>
          <a:p>
            <a:endParaRPr lang="es-ES" dirty="0"/>
          </a:p>
          <a:p>
            <a:r>
              <a:rPr lang="es-ES" dirty="0"/>
              <a:t># se elimina un estudiante de la lista</a:t>
            </a:r>
          </a:p>
          <a:p>
            <a:r>
              <a:rPr lang="es-ES" dirty="0" err="1"/>
              <a:t>estudiantes.remove</a:t>
            </a:r>
            <a:r>
              <a:rPr lang="es-ES" dirty="0"/>
              <a:t>('Ana')</a:t>
            </a:r>
          </a:p>
          <a:p>
            <a:endParaRPr lang="es-ES" dirty="0"/>
          </a:p>
          <a:p>
            <a:r>
              <a:rPr lang="es-ES" dirty="0"/>
              <a:t># se modifica el nombre de un estudiante en la lista</a:t>
            </a:r>
          </a:p>
          <a:p>
            <a:r>
              <a:rPr lang="es-ES" dirty="0"/>
              <a:t>estudiantes[0] = 'Juan Carlos'</a:t>
            </a:r>
          </a:p>
        </p:txBody>
      </p:sp>
      <p:sp>
        <p:nvSpPr>
          <p:cNvPr id="3" name="CuadroTexto 2">
            <a:extLst>
              <a:ext uri="{FF2B5EF4-FFF2-40B4-BE49-F238E27FC236}">
                <a16:creationId xmlns:a16="http://schemas.microsoft.com/office/drawing/2014/main" id="{0E23D4CE-5305-CA9B-E0A7-3D5B22B897BC}"/>
              </a:ext>
            </a:extLst>
          </p:cNvPr>
          <p:cNvSpPr txBox="1"/>
          <p:nvPr/>
        </p:nvSpPr>
        <p:spPr>
          <a:xfrm>
            <a:off x="6459939" y="3057643"/>
            <a:ext cx="5199797" cy="3139321"/>
          </a:xfrm>
          <a:prstGeom prst="rect">
            <a:avLst/>
          </a:prstGeom>
          <a:noFill/>
        </p:spPr>
        <p:txBody>
          <a:bodyPr wrap="square" rtlCol="0">
            <a:spAutoFit/>
          </a:bodyPr>
          <a:lstStyle/>
          <a:p>
            <a:pPr algn="ctr"/>
            <a:r>
              <a:rPr lang="es-NI" b="1" dirty="0"/>
              <a:t>Tuplas</a:t>
            </a:r>
          </a:p>
          <a:p>
            <a:r>
              <a:rPr lang="es-ES" dirty="0"/>
              <a:t># se almacenan los días de la semana en una tupla</a:t>
            </a:r>
          </a:p>
          <a:p>
            <a:r>
              <a:rPr lang="es-ES" dirty="0" err="1"/>
              <a:t>dias_semana</a:t>
            </a:r>
            <a:r>
              <a:rPr lang="es-ES" dirty="0"/>
              <a:t> = ('Lunes', 'Martes', 'Miércoles', 'Jueves', 'Viernes', 'Sábado', 'Domingo')</a:t>
            </a:r>
          </a:p>
          <a:p>
            <a:endParaRPr lang="es-ES" dirty="0"/>
          </a:p>
          <a:p>
            <a:r>
              <a:rPr lang="es-ES" dirty="0"/>
              <a:t># se accede al tercer día de la semana</a:t>
            </a:r>
          </a:p>
          <a:p>
            <a:r>
              <a:rPr lang="es-ES" dirty="0" err="1"/>
              <a:t>tercer_dia</a:t>
            </a:r>
            <a:r>
              <a:rPr lang="es-ES" dirty="0"/>
              <a:t> = </a:t>
            </a:r>
            <a:r>
              <a:rPr lang="es-ES" dirty="0" err="1"/>
              <a:t>dias_semana</a:t>
            </a:r>
            <a:r>
              <a:rPr lang="es-ES" dirty="0"/>
              <a:t>[2]</a:t>
            </a:r>
          </a:p>
          <a:p>
            <a:endParaRPr lang="es-ES" dirty="0"/>
          </a:p>
          <a:p>
            <a:r>
              <a:rPr lang="es-ES" dirty="0"/>
              <a:t># no se puede agregar un nuevo día a la tupla</a:t>
            </a:r>
          </a:p>
          <a:p>
            <a:r>
              <a:rPr lang="es-ES" dirty="0"/>
              <a:t># tampoco se puede eliminar un día o modificar el nombre de un día</a:t>
            </a:r>
          </a:p>
        </p:txBody>
      </p:sp>
      <p:sp>
        <p:nvSpPr>
          <p:cNvPr id="7" name="CuadroTexto 6">
            <a:extLst>
              <a:ext uri="{FF2B5EF4-FFF2-40B4-BE49-F238E27FC236}">
                <a16:creationId xmlns:a16="http://schemas.microsoft.com/office/drawing/2014/main" id="{871396D1-F455-F549-C2AE-CA08C31FA4AB}"/>
              </a:ext>
            </a:extLst>
          </p:cNvPr>
          <p:cNvSpPr txBox="1"/>
          <p:nvPr/>
        </p:nvSpPr>
        <p:spPr>
          <a:xfrm>
            <a:off x="300252" y="973077"/>
            <a:ext cx="11527808" cy="369332"/>
          </a:xfrm>
          <a:prstGeom prst="rect">
            <a:avLst/>
          </a:prstGeom>
          <a:noFill/>
        </p:spPr>
        <p:txBody>
          <a:bodyPr wrap="square" rtlCol="0">
            <a:spAutoFit/>
          </a:bodyPr>
          <a:lstStyle/>
          <a:p>
            <a:pPr algn="just"/>
            <a:r>
              <a:rPr lang="es-ES" b="1" dirty="0"/>
              <a:t>Eficiencia</a:t>
            </a:r>
            <a:r>
              <a:rPr lang="es-ES" dirty="0"/>
              <a:t>: las tuplas son más eficientes en términos de espacio y tiempo de ejecución que las listas.</a:t>
            </a:r>
          </a:p>
        </p:txBody>
      </p:sp>
      <p:sp>
        <p:nvSpPr>
          <p:cNvPr id="8" name="CuadroTexto 7">
            <a:extLst>
              <a:ext uri="{FF2B5EF4-FFF2-40B4-BE49-F238E27FC236}">
                <a16:creationId xmlns:a16="http://schemas.microsoft.com/office/drawing/2014/main" id="{6D5E86B1-6D70-2300-A274-641570A9CF68}"/>
              </a:ext>
            </a:extLst>
          </p:cNvPr>
          <p:cNvSpPr txBox="1"/>
          <p:nvPr/>
        </p:nvSpPr>
        <p:spPr>
          <a:xfrm>
            <a:off x="532263" y="1490765"/>
            <a:ext cx="5199797" cy="646331"/>
          </a:xfrm>
          <a:prstGeom prst="rect">
            <a:avLst/>
          </a:prstGeom>
          <a:noFill/>
        </p:spPr>
        <p:txBody>
          <a:bodyPr wrap="square" rtlCol="0">
            <a:spAutoFit/>
          </a:bodyPr>
          <a:lstStyle/>
          <a:p>
            <a:pPr algn="ctr"/>
            <a:r>
              <a:rPr lang="es-NI" b="1" dirty="0"/>
              <a:t>Listas</a:t>
            </a:r>
          </a:p>
          <a:p>
            <a:r>
              <a:rPr lang="es-NI" dirty="0"/>
              <a:t>lista = [1, 2, 3, 4]</a:t>
            </a:r>
          </a:p>
        </p:txBody>
      </p:sp>
      <p:sp>
        <p:nvSpPr>
          <p:cNvPr id="9" name="CuadroTexto 8">
            <a:extLst>
              <a:ext uri="{FF2B5EF4-FFF2-40B4-BE49-F238E27FC236}">
                <a16:creationId xmlns:a16="http://schemas.microsoft.com/office/drawing/2014/main" id="{887352CC-5F51-F2A4-9BAF-0D719F9F7F0A}"/>
              </a:ext>
            </a:extLst>
          </p:cNvPr>
          <p:cNvSpPr txBox="1"/>
          <p:nvPr/>
        </p:nvSpPr>
        <p:spPr>
          <a:xfrm>
            <a:off x="6459939" y="1578507"/>
            <a:ext cx="5199797" cy="646331"/>
          </a:xfrm>
          <a:prstGeom prst="rect">
            <a:avLst/>
          </a:prstGeom>
          <a:noFill/>
        </p:spPr>
        <p:txBody>
          <a:bodyPr wrap="square" rtlCol="0">
            <a:spAutoFit/>
          </a:bodyPr>
          <a:lstStyle/>
          <a:p>
            <a:pPr algn="ctr"/>
            <a:r>
              <a:rPr lang="es-NI" b="1" dirty="0"/>
              <a:t>Tuplas</a:t>
            </a:r>
          </a:p>
          <a:p>
            <a:r>
              <a:rPr lang="es-ES" dirty="0"/>
              <a:t>tupla = (1, 2, 3, 4)</a:t>
            </a:r>
          </a:p>
        </p:txBody>
      </p:sp>
    </p:spTree>
    <p:extLst>
      <p:ext uri="{BB962C8B-B14F-4D97-AF65-F5344CB8AC3E}">
        <p14:creationId xmlns:p14="http://schemas.microsoft.com/office/powerpoint/2010/main" val="2737634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5349922" cy="523220"/>
          </a:xfrm>
          <a:prstGeom prst="rect">
            <a:avLst/>
          </a:prstGeom>
          <a:noFill/>
        </p:spPr>
        <p:txBody>
          <a:bodyPr wrap="square" rtlCol="0">
            <a:spAutoFit/>
          </a:bodyPr>
          <a:lstStyle/>
          <a:p>
            <a:r>
              <a:rPr lang="es-NI" sz="2800" b="1" dirty="0"/>
              <a:t>Diferencias entre Listas y tuplas</a:t>
            </a:r>
          </a:p>
        </p:txBody>
      </p:sp>
      <p:sp>
        <p:nvSpPr>
          <p:cNvPr id="2" name="CuadroTexto 1">
            <a:extLst>
              <a:ext uri="{FF2B5EF4-FFF2-40B4-BE49-F238E27FC236}">
                <a16:creationId xmlns:a16="http://schemas.microsoft.com/office/drawing/2014/main" id="{D829C7ED-AA21-DFCE-0027-4A4E23F89803}"/>
              </a:ext>
            </a:extLst>
          </p:cNvPr>
          <p:cNvSpPr txBox="1"/>
          <p:nvPr/>
        </p:nvSpPr>
        <p:spPr>
          <a:xfrm>
            <a:off x="736980" y="1242490"/>
            <a:ext cx="11341289" cy="923330"/>
          </a:xfrm>
          <a:prstGeom prst="rect">
            <a:avLst/>
          </a:prstGeom>
          <a:noFill/>
        </p:spPr>
        <p:txBody>
          <a:bodyPr wrap="square" rtlCol="0">
            <a:spAutoFit/>
          </a:bodyPr>
          <a:lstStyle/>
          <a:p>
            <a:r>
              <a:rPr lang="es-ES" dirty="0"/>
              <a:t>En resumen, las listas son más flexibles y se utilizan cuando se necesitan elementos que se puedan modificar después de su creación. Las tuplas son más eficientes en términos de espacio y tiempo de ejecución y se utilizan cuando se necesitan elementos que no necesitan ser modificados.</a:t>
            </a:r>
          </a:p>
        </p:txBody>
      </p:sp>
    </p:spTree>
    <p:extLst>
      <p:ext uri="{BB962C8B-B14F-4D97-AF65-F5344CB8AC3E}">
        <p14:creationId xmlns:p14="http://schemas.microsoft.com/office/powerpoint/2010/main" val="3365876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4999630" cy="523220"/>
          </a:xfrm>
          <a:prstGeom prst="rect">
            <a:avLst/>
          </a:prstGeom>
          <a:noFill/>
        </p:spPr>
        <p:txBody>
          <a:bodyPr wrap="square" rtlCol="0">
            <a:spAutoFit/>
          </a:bodyPr>
          <a:lstStyle/>
          <a:p>
            <a:r>
              <a:rPr lang="es-NI" sz="2800" b="1" dirty="0"/>
              <a:t>Funciones de arreglos en </a:t>
            </a:r>
            <a:r>
              <a:rPr lang="es-NI" sz="2800" b="1" dirty="0" err="1"/>
              <a:t>python</a:t>
            </a:r>
            <a:endParaRPr lang="es-NI" sz="2800" b="1" dirty="0"/>
          </a:p>
        </p:txBody>
      </p:sp>
      <p:sp>
        <p:nvSpPr>
          <p:cNvPr id="2" name="CuadroTexto 1">
            <a:extLst>
              <a:ext uri="{FF2B5EF4-FFF2-40B4-BE49-F238E27FC236}">
                <a16:creationId xmlns:a16="http://schemas.microsoft.com/office/drawing/2014/main" id="{D829C7ED-AA21-DFCE-0027-4A4E23F89803}"/>
              </a:ext>
            </a:extLst>
          </p:cNvPr>
          <p:cNvSpPr txBox="1"/>
          <p:nvPr/>
        </p:nvSpPr>
        <p:spPr>
          <a:xfrm>
            <a:off x="425355" y="1256138"/>
            <a:ext cx="11341289" cy="2308324"/>
          </a:xfrm>
          <a:prstGeom prst="rect">
            <a:avLst/>
          </a:prstGeom>
          <a:noFill/>
        </p:spPr>
        <p:txBody>
          <a:bodyPr wrap="square" rtlCol="0">
            <a:spAutoFit/>
          </a:bodyPr>
          <a:lstStyle/>
          <a:p>
            <a:pPr algn="ctr"/>
            <a:r>
              <a:rPr lang="es-ES" b="1" dirty="0" err="1"/>
              <a:t>append</a:t>
            </a:r>
            <a:r>
              <a:rPr lang="es-ES" b="1" dirty="0"/>
              <a:t>(): </a:t>
            </a:r>
            <a:r>
              <a:rPr lang="es-ES" dirty="0"/>
              <a:t>Agrega un elemento al final de la lista.</a:t>
            </a:r>
          </a:p>
          <a:p>
            <a:pPr algn="ctr"/>
            <a:endParaRPr lang="es-ES" dirty="0"/>
          </a:p>
          <a:p>
            <a:r>
              <a:rPr lang="es-ES" dirty="0"/>
              <a:t>frutas = ["manzana", "banana", "cereza"]</a:t>
            </a:r>
          </a:p>
          <a:p>
            <a:r>
              <a:rPr lang="es-ES" dirty="0" err="1"/>
              <a:t>frutas.append</a:t>
            </a:r>
            <a:r>
              <a:rPr lang="es-ES" dirty="0"/>
              <a:t>("naranja")</a:t>
            </a:r>
          </a:p>
          <a:p>
            <a:r>
              <a:rPr lang="es-ES" dirty="0" err="1"/>
              <a:t>print</a:t>
            </a:r>
            <a:r>
              <a:rPr lang="es-ES" dirty="0"/>
              <a:t>(frutas) # output: ["manzana", "banana", "cereza", "naranja"]</a:t>
            </a:r>
          </a:p>
          <a:p>
            <a:endParaRPr lang="es-ES" dirty="0"/>
          </a:p>
          <a:p>
            <a:endParaRPr lang="es-ES" dirty="0"/>
          </a:p>
          <a:p>
            <a:endParaRPr lang="es-ES" dirty="0"/>
          </a:p>
        </p:txBody>
      </p:sp>
      <p:sp>
        <p:nvSpPr>
          <p:cNvPr id="3" name="CuadroTexto 2">
            <a:extLst>
              <a:ext uri="{FF2B5EF4-FFF2-40B4-BE49-F238E27FC236}">
                <a16:creationId xmlns:a16="http://schemas.microsoft.com/office/drawing/2014/main" id="{16116F56-4BA8-826D-19A6-324017B8C68C}"/>
              </a:ext>
            </a:extLst>
          </p:cNvPr>
          <p:cNvSpPr txBox="1"/>
          <p:nvPr/>
        </p:nvSpPr>
        <p:spPr>
          <a:xfrm>
            <a:off x="425354" y="3173096"/>
            <a:ext cx="11341289" cy="2308324"/>
          </a:xfrm>
          <a:prstGeom prst="rect">
            <a:avLst/>
          </a:prstGeom>
          <a:noFill/>
        </p:spPr>
        <p:txBody>
          <a:bodyPr wrap="square" rtlCol="0">
            <a:spAutoFit/>
          </a:bodyPr>
          <a:lstStyle/>
          <a:p>
            <a:pPr algn="ctr"/>
            <a:r>
              <a:rPr lang="es-ES" b="1" dirty="0" err="1"/>
              <a:t>insert</a:t>
            </a:r>
            <a:r>
              <a:rPr lang="es-ES" b="1" dirty="0"/>
              <a:t>(): </a:t>
            </a:r>
            <a:r>
              <a:rPr lang="es-ES" dirty="0"/>
              <a:t>Agrega un elemento en una posición específica de la lista..</a:t>
            </a:r>
          </a:p>
          <a:p>
            <a:pPr algn="ctr"/>
            <a:endParaRPr lang="es-ES" dirty="0"/>
          </a:p>
          <a:p>
            <a:r>
              <a:rPr lang="pt-BR" dirty="0"/>
              <a:t>frutas = ["</a:t>
            </a:r>
            <a:r>
              <a:rPr lang="pt-BR" dirty="0" err="1"/>
              <a:t>manzana</a:t>
            </a:r>
            <a:r>
              <a:rPr lang="pt-BR" dirty="0"/>
              <a:t>", "banana", "</a:t>
            </a:r>
            <a:r>
              <a:rPr lang="pt-BR" dirty="0" err="1"/>
              <a:t>cereza</a:t>
            </a:r>
            <a:r>
              <a:rPr lang="pt-BR" dirty="0"/>
              <a:t>"]</a:t>
            </a:r>
          </a:p>
          <a:p>
            <a:r>
              <a:rPr lang="pt-BR" dirty="0" err="1"/>
              <a:t>frutas.insert</a:t>
            </a:r>
            <a:r>
              <a:rPr lang="pt-BR" dirty="0"/>
              <a:t>(1, "</a:t>
            </a:r>
            <a:r>
              <a:rPr lang="pt-BR" dirty="0" err="1"/>
              <a:t>naranja</a:t>
            </a:r>
            <a:r>
              <a:rPr lang="pt-BR" dirty="0"/>
              <a:t>")</a:t>
            </a:r>
          </a:p>
          <a:p>
            <a:r>
              <a:rPr lang="pt-BR" dirty="0"/>
              <a:t>print(frutas) # output: ["</a:t>
            </a:r>
            <a:r>
              <a:rPr lang="pt-BR" dirty="0" err="1"/>
              <a:t>manzana</a:t>
            </a:r>
            <a:r>
              <a:rPr lang="pt-BR" dirty="0"/>
              <a:t>", "</a:t>
            </a:r>
            <a:r>
              <a:rPr lang="pt-BR" dirty="0" err="1"/>
              <a:t>naranja</a:t>
            </a:r>
            <a:r>
              <a:rPr lang="pt-BR" dirty="0"/>
              <a:t>", "banana", "</a:t>
            </a:r>
            <a:r>
              <a:rPr lang="pt-BR" dirty="0" err="1"/>
              <a:t>cereza</a:t>
            </a:r>
            <a:r>
              <a:rPr lang="pt-BR" dirty="0"/>
              <a:t>"]</a:t>
            </a:r>
          </a:p>
          <a:p>
            <a:endParaRPr lang="es-ES" dirty="0"/>
          </a:p>
          <a:p>
            <a:endParaRPr lang="es-ES" dirty="0"/>
          </a:p>
          <a:p>
            <a:endParaRPr lang="es-ES" dirty="0"/>
          </a:p>
        </p:txBody>
      </p:sp>
    </p:spTree>
    <p:extLst>
      <p:ext uri="{BB962C8B-B14F-4D97-AF65-F5344CB8AC3E}">
        <p14:creationId xmlns:p14="http://schemas.microsoft.com/office/powerpoint/2010/main" val="1206922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4999630" cy="523220"/>
          </a:xfrm>
          <a:prstGeom prst="rect">
            <a:avLst/>
          </a:prstGeom>
          <a:noFill/>
        </p:spPr>
        <p:txBody>
          <a:bodyPr wrap="square" rtlCol="0">
            <a:spAutoFit/>
          </a:bodyPr>
          <a:lstStyle/>
          <a:p>
            <a:r>
              <a:rPr lang="es-NI" sz="2800" b="1" dirty="0"/>
              <a:t>Funciones de arreglos en </a:t>
            </a:r>
            <a:r>
              <a:rPr lang="es-NI" sz="2800" b="1" dirty="0" err="1"/>
              <a:t>python</a:t>
            </a:r>
            <a:endParaRPr lang="es-NI" sz="2800" b="1" dirty="0"/>
          </a:p>
        </p:txBody>
      </p:sp>
      <p:sp>
        <p:nvSpPr>
          <p:cNvPr id="2" name="CuadroTexto 1">
            <a:extLst>
              <a:ext uri="{FF2B5EF4-FFF2-40B4-BE49-F238E27FC236}">
                <a16:creationId xmlns:a16="http://schemas.microsoft.com/office/drawing/2014/main" id="{D829C7ED-AA21-DFCE-0027-4A4E23F89803}"/>
              </a:ext>
            </a:extLst>
          </p:cNvPr>
          <p:cNvSpPr txBox="1"/>
          <p:nvPr/>
        </p:nvSpPr>
        <p:spPr>
          <a:xfrm>
            <a:off x="425354" y="3429000"/>
            <a:ext cx="11341289" cy="2585323"/>
          </a:xfrm>
          <a:prstGeom prst="rect">
            <a:avLst/>
          </a:prstGeom>
          <a:noFill/>
        </p:spPr>
        <p:txBody>
          <a:bodyPr wrap="square" rtlCol="0">
            <a:spAutoFit/>
          </a:bodyPr>
          <a:lstStyle/>
          <a:p>
            <a:pPr algn="ctr"/>
            <a:r>
              <a:rPr lang="es-ES" b="1" dirty="0"/>
              <a:t>pop(): </a:t>
            </a:r>
            <a:r>
              <a:rPr lang="es-ES" dirty="0"/>
              <a:t>Elimina el elemento en la posición dada y lo devuelve. Si no se especifica una posición, se elimina el último elemento de la lista.</a:t>
            </a:r>
          </a:p>
          <a:p>
            <a:pPr algn="ctr"/>
            <a:endParaRPr lang="es-ES" dirty="0"/>
          </a:p>
          <a:p>
            <a:r>
              <a:rPr lang="pt-BR" dirty="0"/>
              <a:t>frutas = ["</a:t>
            </a:r>
            <a:r>
              <a:rPr lang="pt-BR" dirty="0" err="1"/>
              <a:t>manzana</a:t>
            </a:r>
            <a:r>
              <a:rPr lang="pt-BR" dirty="0"/>
              <a:t>", "banana", "</a:t>
            </a:r>
            <a:r>
              <a:rPr lang="pt-BR" dirty="0" err="1"/>
              <a:t>cereza</a:t>
            </a:r>
            <a:r>
              <a:rPr lang="pt-BR" dirty="0"/>
              <a:t>"]</a:t>
            </a:r>
          </a:p>
          <a:p>
            <a:r>
              <a:rPr lang="pt-BR" dirty="0" err="1"/>
              <a:t>frutas.pop</a:t>
            </a:r>
            <a:r>
              <a:rPr lang="pt-BR" dirty="0"/>
              <a:t>(1)</a:t>
            </a:r>
          </a:p>
          <a:p>
            <a:r>
              <a:rPr lang="pt-BR" dirty="0"/>
              <a:t>print(frutas) # output: ["</a:t>
            </a:r>
            <a:r>
              <a:rPr lang="pt-BR" dirty="0" err="1"/>
              <a:t>manzana</a:t>
            </a:r>
            <a:r>
              <a:rPr lang="pt-BR" dirty="0"/>
              <a:t>", "</a:t>
            </a:r>
            <a:r>
              <a:rPr lang="pt-BR" dirty="0" err="1"/>
              <a:t>cereza</a:t>
            </a:r>
            <a:r>
              <a:rPr lang="pt-BR" dirty="0"/>
              <a:t>"]</a:t>
            </a:r>
          </a:p>
          <a:p>
            <a:endParaRPr lang="es-ES" dirty="0"/>
          </a:p>
          <a:p>
            <a:endParaRPr lang="es-ES" dirty="0"/>
          </a:p>
          <a:p>
            <a:endParaRPr lang="es-ES" dirty="0"/>
          </a:p>
        </p:txBody>
      </p:sp>
      <p:sp>
        <p:nvSpPr>
          <p:cNvPr id="3" name="CuadroTexto 2">
            <a:extLst>
              <a:ext uri="{FF2B5EF4-FFF2-40B4-BE49-F238E27FC236}">
                <a16:creationId xmlns:a16="http://schemas.microsoft.com/office/drawing/2014/main" id="{16116F56-4BA8-826D-19A6-324017B8C68C}"/>
              </a:ext>
            </a:extLst>
          </p:cNvPr>
          <p:cNvSpPr txBox="1"/>
          <p:nvPr/>
        </p:nvSpPr>
        <p:spPr>
          <a:xfrm>
            <a:off x="425355" y="843677"/>
            <a:ext cx="11341289" cy="2308324"/>
          </a:xfrm>
          <a:prstGeom prst="rect">
            <a:avLst/>
          </a:prstGeom>
          <a:noFill/>
        </p:spPr>
        <p:txBody>
          <a:bodyPr wrap="square" rtlCol="0">
            <a:spAutoFit/>
          </a:bodyPr>
          <a:lstStyle/>
          <a:p>
            <a:pPr algn="ctr"/>
            <a:r>
              <a:rPr lang="es-ES" b="1" dirty="0" err="1"/>
              <a:t>remove</a:t>
            </a:r>
            <a:r>
              <a:rPr lang="es-ES" b="1" dirty="0"/>
              <a:t>(): </a:t>
            </a:r>
            <a:r>
              <a:rPr lang="es-ES" dirty="0"/>
              <a:t>Elimina el primer elemento de la lista que coincida con el valor dado.</a:t>
            </a:r>
          </a:p>
          <a:p>
            <a:endParaRPr lang="pt-BR" dirty="0"/>
          </a:p>
          <a:p>
            <a:r>
              <a:rPr lang="pt-BR" dirty="0"/>
              <a:t>frutas = ["</a:t>
            </a:r>
            <a:r>
              <a:rPr lang="pt-BR" dirty="0" err="1"/>
              <a:t>manzana</a:t>
            </a:r>
            <a:r>
              <a:rPr lang="pt-BR" dirty="0"/>
              <a:t>", "banana", "</a:t>
            </a:r>
            <a:r>
              <a:rPr lang="pt-BR" dirty="0" err="1"/>
              <a:t>cereza</a:t>
            </a:r>
            <a:r>
              <a:rPr lang="pt-BR" dirty="0"/>
              <a:t>"]</a:t>
            </a:r>
          </a:p>
          <a:p>
            <a:r>
              <a:rPr lang="pt-BR" dirty="0" err="1"/>
              <a:t>frutas.remove</a:t>
            </a:r>
            <a:r>
              <a:rPr lang="pt-BR" dirty="0"/>
              <a:t>("banana")</a:t>
            </a:r>
          </a:p>
          <a:p>
            <a:r>
              <a:rPr lang="pt-BR" dirty="0"/>
              <a:t>print(frutas) # output: ["</a:t>
            </a:r>
            <a:r>
              <a:rPr lang="pt-BR" dirty="0" err="1"/>
              <a:t>manzana</a:t>
            </a:r>
            <a:r>
              <a:rPr lang="pt-BR" dirty="0"/>
              <a:t>", "</a:t>
            </a:r>
            <a:r>
              <a:rPr lang="pt-BR" dirty="0" err="1"/>
              <a:t>cereza</a:t>
            </a:r>
            <a:r>
              <a:rPr lang="pt-BR" dirty="0"/>
              <a:t>"]</a:t>
            </a:r>
          </a:p>
          <a:p>
            <a:endParaRPr lang="es-ES" dirty="0"/>
          </a:p>
          <a:p>
            <a:endParaRPr lang="es-ES" dirty="0"/>
          </a:p>
          <a:p>
            <a:endParaRPr lang="es-ES" dirty="0"/>
          </a:p>
        </p:txBody>
      </p:sp>
    </p:spTree>
    <p:extLst>
      <p:ext uri="{BB962C8B-B14F-4D97-AF65-F5344CB8AC3E}">
        <p14:creationId xmlns:p14="http://schemas.microsoft.com/office/powerpoint/2010/main" val="4180230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4999630" cy="523220"/>
          </a:xfrm>
          <a:prstGeom prst="rect">
            <a:avLst/>
          </a:prstGeom>
          <a:noFill/>
        </p:spPr>
        <p:txBody>
          <a:bodyPr wrap="square" rtlCol="0">
            <a:spAutoFit/>
          </a:bodyPr>
          <a:lstStyle/>
          <a:p>
            <a:r>
              <a:rPr lang="es-NI" sz="2800" b="1" dirty="0"/>
              <a:t>Funciones de arreglos en </a:t>
            </a:r>
            <a:r>
              <a:rPr lang="es-NI" sz="2800" b="1" dirty="0" err="1"/>
              <a:t>python</a:t>
            </a:r>
            <a:endParaRPr lang="es-NI" sz="2800" b="1" dirty="0"/>
          </a:p>
        </p:txBody>
      </p:sp>
      <p:sp>
        <p:nvSpPr>
          <p:cNvPr id="2" name="CuadroTexto 1">
            <a:extLst>
              <a:ext uri="{FF2B5EF4-FFF2-40B4-BE49-F238E27FC236}">
                <a16:creationId xmlns:a16="http://schemas.microsoft.com/office/drawing/2014/main" id="{D829C7ED-AA21-DFCE-0027-4A4E23F89803}"/>
              </a:ext>
            </a:extLst>
          </p:cNvPr>
          <p:cNvSpPr txBox="1"/>
          <p:nvPr/>
        </p:nvSpPr>
        <p:spPr>
          <a:xfrm>
            <a:off x="425355" y="1256138"/>
            <a:ext cx="11341289" cy="2308324"/>
          </a:xfrm>
          <a:prstGeom prst="rect">
            <a:avLst/>
          </a:prstGeom>
          <a:noFill/>
        </p:spPr>
        <p:txBody>
          <a:bodyPr wrap="square" rtlCol="0">
            <a:spAutoFit/>
          </a:bodyPr>
          <a:lstStyle/>
          <a:p>
            <a:pPr algn="ctr"/>
            <a:r>
              <a:rPr lang="es-ES" b="1" dirty="0" err="1"/>
              <a:t>index</a:t>
            </a:r>
            <a:r>
              <a:rPr lang="es-ES" b="1" dirty="0"/>
              <a:t>(): </a:t>
            </a:r>
            <a:r>
              <a:rPr lang="es-ES" dirty="0"/>
              <a:t>Devuelve la posición del primer elemento que coincide con el valor dado</a:t>
            </a:r>
            <a:r>
              <a:rPr lang="es-ES" b="1" dirty="0"/>
              <a:t>.</a:t>
            </a:r>
            <a:endParaRPr lang="es-ES" dirty="0"/>
          </a:p>
          <a:p>
            <a:endParaRPr lang="pt-BR" dirty="0"/>
          </a:p>
          <a:p>
            <a:r>
              <a:rPr lang="es-ES" dirty="0"/>
              <a:t>frutas = ["manzana", "banana", "cereza"]</a:t>
            </a:r>
          </a:p>
          <a:p>
            <a:r>
              <a:rPr lang="es-ES" dirty="0" err="1"/>
              <a:t>posicion</a:t>
            </a:r>
            <a:r>
              <a:rPr lang="es-ES" dirty="0"/>
              <a:t> = </a:t>
            </a:r>
            <a:r>
              <a:rPr lang="es-ES" dirty="0" err="1"/>
              <a:t>frutas.index</a:t>
            </a:r>
            <a:r>
              <a:rPr lang="es-ES" dirty="0"/>
              <a:t>("banana")</a:t>
            </a:r>
          </a:p>
          <a:p>
            <a:r>
              <a:rPr lang="es-ES" dirty="0" err="1"/>
              <a:t>print</a:t>
            </a:r>
            <a:r>
              <a:rPr lang="es-ES" dirty="0"/>
              <a:t>(</a:t>
            </a:r>
            <a:r>
              <a:rPr lang="es-ES" dirty="0" err="1"/>
              <a:t>posicion</a:t>
            </a:r>
            <a:r>
              <a:rPr lang="es-ES" dirty="0"/>
              <a:t>) # output: 1</a:t>
            </a:r>
          </a:p>
          <a:p>
            <a:endParaRPr lang="es-ES" dirty="0"/>
          </a:p>
          <a:p>
            <a:endParaRPr lang="es-ES" dirty="0"/>
          </a:p>
          <a:p>
            <a:endParaRPr lang="es-ES" dirty="0"/>
          </a:p>
        </p:txBody>
      </p:sp>
      <p:sp>
        <p:nvSpPr>
          <p:cNvPr id="3" name="CuadroTexto 2">
            <a:extLst>
              <a:ext uri="{FF2B5EF4-FFF2-40B4-BE49-F238E27FC236}">
                <a16:creationId xmlns:a16="http://schemas.microsoft.com/office/drawing/2014/main" id="{16116F56-4BA8-826D-19A6-324017B8C68C}"/>
              </a:ext>
            </a:extLst>
          </p:cNvPr>
          <p:cNvSpPr txBox="1"/>
          <p:nvPr/>
        </p:nvSpPr>
        <p:spPr>
          <a:xfrm>
            <a:off x="425354" y="3429000"/>
            <a:ext cx="11341289" cy="2308324"/>
          </a:xfrm>
          <a:prstGeom prst="rect">
            <a:avLst/>
          </a:prstGeom>
          <a:noFill/>
        </p:spPr>
        <p:txBody>
          <a:bodyPr wrap="square" rtlCol="0">
            <a:spAutoFit/>
          </a:bodyPr>
          <a:lstStyle/>
          <a:p>
            <a:pPr algn="ctr"/>
            <a:r>
              <a:rPr lang="es-ES" b="1" dirty="0" err="1"/>
              <a:t>count</a:t>
            </a:r>
            <a:r>
              <a:rPr lang="es-ES" b="1" dirty="0"/>
              <a:t>(): </a:t>
            </a:r>
            <a:r>
              <a:rPr lang="es-ES" dirty="0"/>
              <a:t>Devuelve el número de veces que aparece el elemento dado en la lista</a:t>
            </a:r>
            <a:r>
              <a:rPr lang="es-ES" b="1" dirty="0"/>
              <a:t>.</a:t>
            </a:r>
            <a:endParaRPr lang="es-ES" dirty="0"/>
          </a:p>
          <a:p>
            <a:endParaRPr lang="pt-BR" dirty="0"/>
          </a:p>
          <a:p>
            <a:r>
              <a:rPr lang="pt-BR" dirty="0"/>
              <a:t>frutas = ["</a:t>
            </a:r>
            <a:r>
              <a:rPr lang="pt-BR" dirty="0" err="1"/>
              <a:t>manzana</a:t>
            </a:r>
            <a:r>
              <a:rPr lang="pt-BR" dirty="0"/>
              <a:t>", "banana", "</a:t>
            </a:r>
            <a:r>
              <a:rPr lang="pt-BR" dirty="0" err="1"/>
              <a:t>cereza</a:t>
            </a:r>
            <a:r>
              <a:rPr lang="pt-BR" dirty="0"/>
              <a:t>", "banana"]</a:t>
            </a:r>
          </a:p>
          <a:p>
            <a:r>
              <a:rPr lang="pt-BR" dirty="0" err="1"/>
              <a:t>conteo</a:t>
            </a:r>
            <a:r>
              <a:rPr lang="pt-BR" dirty="0"/>
              <a:t> = </a:t>
            </a:r>
            <a:r>
              <a:rPr lang="pt-BR" dirty="0" err="1"/>
              <a:t>frutas.count</a:t>
            </a:r>
            <a:r>
              <a:rPr lang="pt-BR" dirty="0"/>
              <a:t>("banana")</a:t>
            </a:r>
          </a:p>
          <a:p>
            <a:r>
              <a:rPr lang="pt-BR" dirty="0"/>
              <a:t>print(</a:t>
            </a:r>
            <a:r>
              <a:rPr lang="pt-BR" dirty="0" err="1"/>
              <a:t>conteo</a:t>
            </a:r>
            <a:r>
              <a:rPr lang="pt-BR" dirty="0"/>
              <a:t>) # output: 2</a:t>
            </a:r>
          </a:p>
          <a:p>
            <a:endParaRPr lang="es-ES" dirty="0"/>
          </a:p>
          <a:p>
            <a:endParaRPr lang="es-ES" dirty="0"/>
          </a:p>
          <a:p>
            <a:endParaRPr lang="es-ES" dirty="0"/>
          </a:p>
        </p:txBody>
      </p:sp>
    </p:spTree>
    <p:extLst>
      <p:ext uri="{BB962C8B-B14F-4D97-AF65-F5344CB8AC3E}">
        <p14:creationId xmlns:p14="http://schemas.microsoft.com/office/powerpoint/2010/main" val="1271059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4999630" cy="523220"/>
          </a:xfrm>
          <a:prstGeom prst="rect">
            <a:avLst/>
          </a:prstGeom>
          <a:noFill/>
        </p:spPr>
        <p:txBody>
          <a:bodyPr wrap="square" rtlCol="0">
            <a:spAutoFit/>
          </a:bodyPr>
          <a:lstStyle/>
          <a:p>
            <a:r>
              <a:rPr lang="es-NI" sz="2800" b="1" dirty="0"/>
              <a:t>Funciones de arreglos en </a:t>
            </a:r>
            <a:r>
              <a:rPr lang="es-NI" sz="2800" b="1" dirty="0" err="1"/>
              <a:t>python</a:t>
            </a:r>
            <a:endParaRPr lang="es-NI" sz="2800" b="1" dirty="0"/>
          </a:p>
        </p:txBody>
      </p:sp>
      <p:sp>
        <p:nvSpPr>
          <p:cNvPr id="2" name="CuadroTexto 1">
            <a:extLst>
              <a:ext uri="{FF2B5EF4-FFF2-40B4-BE49-F238E27FC236}">
                <a16:creationId xmlns:a16="http://schemas.microsoft.com/office/drawing/2014/main" id="{D829C7ED-AA21-DFCE-0027-4A4E23F89803}"/>
              </a:ext>
            </a:extLst>
          </p:cNvPr>
          <p:cNvSpPr txBox="1"/>
          <p:nvPr/>
        </p:nvSpPr>
        <p:spPr>
          <a:xfrm>
            <a:off x="425355" y="1256138"/>
            <a:ext cx="11341289" cy="2308324"/>
          </a:xfrm>
          <a:prstGeom prst="rect">
            <a:avLst/>
          </a:prstGeom>
          <a:noFill/>
        </p:spPr>
        <p:txBody>
          <a:bodyPr wrap="square" rtlCol="0">
            <a:spAutoFit/>
          </a:bodyPr>
          <a:lstStyle/>
          <a:p>
            <a:pPr algn="ctr"/>
            <a:r>
              <a:rPr lang="es-ES" b="1" dirty="0" err="1"/>
              <a:t>sort</a:t>
            </a:r>
            <a:r>
              <a:rPr lang="es-ES" b="1" dirty="0"/>
              <a:t>(): </a:t>
            </a:r>
            <a:r>
              <a:rPr lang="es-ES" dirty="0"/>
              <a:t>Ordena los elementos de la lista en orden ascendente</a:t>
            </a:r>
            <a:r>
              <a:rPr lang="es-ES" b="1" dirty="0"/>
              <a:t>.</a:t>
            </a:r>
            <a:endParaRPr lang="es-ES" dirty="0"/>
          </a:p>
          <a:p>
            <a:endParaRPr lang="pt-BR" dirty="0"/>
          </a:p>
          <a:p>
            <a:r>
              <a:rPr lang="pt-BR" dirty="0" err="1"/>
              <a:t>numeros</a:t>
            </a:r>
            <a:r>
              <a:rPr lang="pt-BR" dirty="0"/>
              <a:t> = [3, 1, 4, 1, 5, 9, 2, 6, 5]</a:t>
            </a:r>
          </a:p>
          <a:p>
            <a:r>
              <a:rPr lang="pt-BR" dirty="0" err="1"/>
              <a:t>numeros.sort</a:t>
            </a:r>
            <a:r>
              <a:rPr lang="pt-BR" dirty="0"/>
              <a:t>()</a:t>
            </a:r>
          </a:p>
          <a:p>
            <a:r>
              <a:rPr lang="pt-BR" dirty="0"/>
              <a:t>print(</a:t>
            </a:r>
            <a:r>
              <a:rPr lang="pt-BR" dirty="0" err="1"/>
              <a:t>numeros</a:t>
            </a:r>
            <a:r>
              <a:rPr lang="pt-BR" dirty="0"/>
              <a:t>) # output: [1, 1, 2, 3, 4, 5, 5, 6, 9]</a:t>
            </a:r>
          </a:p>
          <a:p>
            <a:endParaRPr lang="es-ES" dirty="0"/>
          </a:p>
          <a:p>
            <a:endParaRPr lang="es-ES" dirty="0"/>
          </a:p>
          <a:p>
            <a:endParaRPr lang="es-ES" dirty="0"/>
          </a:p>
        </p:txBody>
      </p:sp>
      <p:sp>
        <p:nvSpPr>
          <p:cNvPr id="3" name="CuadroTexto 2">
            <a:extLst>
              <a:ext uri="{FF2B5EF4-FFF2-40B4-BE49-F238E27FC236}">
                <a16:creationId xmlns:a16="http://schemas.microsoft.com/office/drawing/2014/main" id="{16116F56-4BA8-826D-19A6-324017B8C68C}"/>
              </a:ext>
            </a:extLst>
          </p:cNvPr>
          <p:cNvSpPr txBox="1"/>
          <p:nvPr/>
        </p:nvSpPr>
        <p:spPr>
          <a:xfrm>
            <a:off x="425354" y="3429000"/>
            <a:ext cx="11341289" cy="2308324"/>
          </a:xfrm>
          <a:prstGeom prst="rect">
            <a:avLst/>
          </a:prstGeom>
          <a:noFill/>
        </p:spPr>
        <p:txBody>
          <a:bodyPr wrap="square" rtlCol="0">
            <a:spAutoFit/>
          </a:bodyPr>
          <a:lstStyle/>
          <a:p>
            <a:pPr algn="ctr"/>
            <a:r>
              <a:rPr lang="es-ES" b="1" dirty="0"/>
              <a:t>reverse(): </a:t>
            </a:r>
            <a:r>
              <a:rPr lang="es-ES" dirty="0"/>
              <a:t>Invierte el orden de los elementos de la lista</a:t>
            </a:r>
            <a:r>
              <a:rPr lang="es-ES" b="1" dirty="0"/>
              <a:t>.</a:t>
            </a:r>
          </a:p>
          <a:p>
            <a:pPr algn="ctr"/>
            <a:endParaRPr lang="es-ES" b="1" dirty="0"/>
          </a:p>
          <a:p>
            <a:r>
              <a:rPr lang="pt-BR" dirty="0"/>
              <a:t>frutas = ["</a:t>
            </a:r>
            <a:r>
              <a:rPr lang="pt-BR" dirty="0" err="1"/>
              <a:t>manzana</a:t>
            </a:r>
            <a:r>
              <a:rPr lang="pt-BR" dirty="0"/>
              <a:t>", "banana", "</a:t>
            </a:r>
            <a:r>
              <a:rPr lang="pt-BR" dirty="0" err="1"/>
              <a:t>cereza</a:t>
            </a:r>
            <a:r>
              <a:rPr lang="pt-BR" dirty="0"/>
              <a:t>"]</a:t>
            </a:r>
          </a:p>
          <a:p>
            <a:r>
              <a:rPr lang="pt-BR" dirty="0" err="1"/>
              <a:t>frutas.reverse</a:t>
            </a:r>
            <a:r>
              <a:rPr lang="pt-BR" dirty="0"/>
              <a:t>()</a:t>
            </a:r>
          </a:p>
          <a:p>
            <a:r>
              <a:rPr lang="pt-BR" dirty="0"/>
              <a:t>print(frutas) # output: ["</a:t>
            </a:r>
            <a:r>
              <a:rPr lang="pt-BR" dirty="0" err="1"/>
              <a:t>cereza</a:t>
            </a:r>
            <a:r>
              <a:rPr lang="pt-BR" dirty="0"/>
              <a:t>", "banana", "</a:t>
            </a:r>
            <a:r>
              <a:rPr lang="pt-BR" dirty="0" err="1"/>
              <a:t>manzana</a:t>
            </a:r>
            <a:r>
              <a:rPr lang="pt-BR" dirty="0"/>
              <a:t>"]</a:t>
            </a:r>
          </a:p>
          <a:p>
            <a:endParaRPr lang="es-ES" dirty="0"/>
          </a:p>
          <a:p>
            <a:endParaRPr lang="es-ES" dirty="0"/>
          </a:p>
          <a:p>
            <a:endParaRPr lang="es-ES" dirty="0"/>
          </a:p>
        </p:txBody>
      </p:sp>
    </p:spTree>
    <p:extLst>
      <p:ext uri="{BB962C8B-B14F-4D97-AF65-F5344CB8AC3E}">
        <p14:creationId xmlns:p14="http://schemas.microsoft.com/office/powerpoint/2010/main" val="1640056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B09EFCE-C21D-B5DC-69D0-0B9FBA272F1B}"/>
              </a:ext>
            </a:extLst>
          </p:cNvPr>
          <p:cNvSpPr txBox="1"/>
          <p:nvPr/>
        </p:nvSpPr>
        <p:spPr>
          <a:xfrm>
            <a:off x="3421039" y="213759"/>
            <a:ext cx="4999630" cy="523220"/>
          </a:xfrm>
          <a:prstGeom prst="rect">
            <a:avLst/>
          </a:prstGeom>
          <a:noFill/>
        </p:spPr>
        <p:txBody>
          <a:bodyPr wrap="square" rtlCol="0">
            <a:spAutoFit/>
          </a:bodyPr>
          <a:lstStyle/>
          <a:p>
            <a:r>
              <a:rPr lang="es-NI" sz="2800" b="1" dirty="0"/>
              <a:t>Funciones de arreglos en </a:t>
            </a:r>
            <a:r>
              <a:rPr lang="es-NI" sz="2800" b="1" dirty="0" err="1"/>
              <a:t>python</a:t>
            </a:r>
            <a:endParaRPr lang="es-NI" sz="2800" b="1" dirty="0"/>
          </a:p>
        </p:txBody>
      </p:sp>
      <p:sp>
        <p:nvSpPr>
          <p:cNvPr id="2" name="CuadroTexto 1">
            <a:extLst>
              <a:ext uri="{FF2B5EF4-FFF2-40B4-BE49-F238E27FC236}">
                <a16:creationId xmlns:a16="http://schemas.microsoft.com/office/drawing/2014/main" id="{D829C7ED-AA21-DFCE-0027-4A4E23F89803}"/>
              </a:ext>
            </a:extLst>
          </p:cNvPr>
          <p:cNvSpPr txBox="1"/>
          <p:nvPr/>
        </p:nvSpPr>
        <p:spPr>
          <a:xfrm>
            <a:off x="425355" y="1256138"/>
            <a:ext cx="11341289" cy="2308324"/>
          </a:xfrm>
          <a:prstGeom prst="rect">
            <a:avLst/>
          </a:prstGeom>
          <a:noFill/>
        </p:spPr>
        <p:txBody>
          <a:bodyPr wrap="square" rtlCol="0">
            <a:spAutoFit/>
          </a:bodyPr>
          <a:lstStyle/>
          <a:p>
            <a:pPr algn="ctr"/>
            <a:r>
              <a:rPr lang="es-ES" b="1" dirty="0" err="1"/>
              <a:t>copy</a:t>
            </a:r>
            <a:r>
              <a:rPr lang="es-ES" b="1" dirty="0"/>
              <a:t>(): </a:t>
            </a:r>
            <a:r>
              <a:rPr lang="es-ES" dirty="0"/>
              <a:t>Devuelve una copia de la lista.</a:t>
            </a:r>
            <a:endParaRPr lang="pt-BR" dirty="0"/>
          </a:p>
          <a:p>
            <a:endParaRPr lang="pt-BR" dirty="0"/>
          </a:p>
          <a:p>
            <a:r>
              <a:rPr lang="pt-BR" dirty="0"/>
              <a:t>frutas = ["</a:t>
            </a:r>
            <a:r>
              <a:rPr lang="pt-BR" dirty="0" err="1"/>
              <a:t>manzana</a:t>
            </a:r>
            <a:r>
              <a:rPr lang="pt-BR" dirty="0"/>
              <a:t>", "banana", "</a:t>
            </a:r>
            <a:r>
              <a:rPr lang="pt-BR" dirty="0" err="1"/>
              <a:t>cereza</a:t>
            </a:r>
            <a:r>
              <a:rPr lang="pt-BR" dirty="0"/>
              <a:t>"]</a:t>
            </a:r>
          </a:p>
          <a:p>
            <a:r>
              <a:rPr lang="pt-BR" dirty="0"/>
              <a:t>copia = </a:t>
            </a:r>
            <a:r>
              <a:rPr lang="pt-BR" dirty="0" err="1"/>
              <a:t>frutas.copy</a:t>
            </a:r>
            <a:r>
              <a:rPr lang="pt-BR" dirty="0"/>
              <a:t>()</a:t>
            </a:r>
          </a:p>
          <a:p>
            <a:r>
              <a:rPr lang="pt-BR" dirty="0"/>
              <a:t>print(copia) # output: ["</a:t>
            </a:r>
            <a:r>
              <a:rPr lang="pt-BR" dirty="0" err="1"/>
              <a:t>manzana</a:t>
            </a:r>
            <a:r>
              <a:rPr lang="pt-BR" dirty="0"/>
              <a:t>", "banana", "</a:t>
            </a:r>
            <a:r>
              <a:rPr lang="pt-BR" dirty="0" err="1"/>
              <a:t>cereza</a:t>
            </a:r>
            <a:r>
              <a:rPr lang="pt-BR" dirty="0"/>
              <a:t>"]</a:t>
            </a:r>
          </a:p>
          <a:p>
            <a:endParaRPr lang="es-ES" dirty="0"/>
          </a:p>
          <a:p>
            <a:endParaRPr lang="es-ES" dirty="0"/>
          </a:p>
          <a:p>
            <a:endParaRPr lang="es-ES" dirty="0"/>
          </a:p>
        </p:txBody>
      </p:sp>
      <p:sp>
        <p:nvSpPr>
          <p:cNvPr id="3" name="CuadroTexto 2">
            <a:extLst>
              <a:ext uri="{FF2B5EF4-FFF2-40B4-BE49-F238E27FC236}">
                <a16:creationId xmlns:a16="http://schemas.microsoft.com/office/drawing/2014/main" id="{16116F56-4BA8-826D-19A6-324017B8C68C}"/>
              </a:ext>
            </a:extLst>
          </p:cNvPr>
          <p:cNvSpPr txBox="1"/>
          <p:nvPr/>
        </p:nvSpPr>
        <p:spPr>
          <a:xfrm>
            <a:off x="8065827" y="4309200"/>
            <a:ext cx="3018428" cy="2585323"/>
          </a:xfrm>
          <a:prstGeom prst="rect">
            <a:avLst/>
          </a:prstGeom>
          <a:noFill/>
        </p:spPr>
        <p:txBody>
          <a:bodyPr wrap="square" rtlCol="0">
            <a:spAutoFit/>
          </a:bodyPr>
          <a:lstStyle/>
          <a:p>
            <a:pPr algn="just"/>
            <a:r>
              <a:rPr lang="es-ES" dirty="0"/>
              <a:t>Estas son solo algunas de las funciones más comunes de las listas en Python. Existen muchas otras funciones disponibles, y cada una tiene sus propios parámetros y efectos secundarios.</a:t>
            </a:r>
          </a:p>
          <a:p>
            <a:pPr algn="just"/>
            <a:endParaRPr lang="es-ES" dirty="0"/>
          </a:p>
          <a:p>
            <a:pPr algn="just"/>
            <a:endParaRPr lang="es-ES" dirty="0"/>
          </a:p>
        </p:txBody>
      </p:sp>
      <p:sp>
        <p:nvSpPr>
          <p:cNvPr id="6" name="CuadroTexto 5">
            <a:extLst>
              <a:ext uri="{FF2B5EF4-FFF2-40B4-BE49-F238E27FC236}">
                <a16:creationId xmlns:a16="http://schemas.microsoft.com/office/drawing/2014/main" id="{5CE60807-7E16-C814-F483-744E5F7C2E51}"/>
              </a:ext>
            </a:extLst>
          </p:cNvPr>
          <p:cNvSpPr txBox="1"/>
          <p:nvPr/>
        </p:nvSpPr>
        <p:spPr>
          <a:xfrm>
            <a:off x="425354" y="3429000"/>
            <a:ext cx="11341289" cy="2308324"/>
          </a:xfrm>
          <a:prstGeom prst="rect">
            <a:avLst/>
          </a:prstGeom>
          <a:noFill/>
        </p:spPr>
        <p:txBody>
          <a:bodyPr wrap="square" rtlCol="0">
            <a:spAutoFit/>
          </a:bodyPr>
          <a:lstStyle/>
          <a:p>
            <a:pPr algn="ctr"/>
            <a:r>
              <a:rPr lang="es-ES" b="1" dirty="0" err="1"/>
              <a:t>clear</a:t>
            </a:r>
            <a:r>
              <a:rPr lang="es-ES" b="1" dirty="0"/>
              <a:t>(): </a:t>
            </a:r>
            <a:r>
              <a:rPr lang="es-ES" dirty="0"/>
              <a:t>Elimina todos los elementos de la lista.</a:t>
            </a:r>
          </a:p>
          <a:p>
            <a:pPr algn="ctr"/>
            <a:endParaRPr lang="es-ES" dirty="0"/>
          </a:p>
          <a:p>
            <a:r>
              <a:rPr lang="pt-BR" dirty="0"/>
              <a:t>frutas = ["</a:t>
            </a:r>
            <a:r>
              <a:rPr lang="pt-BR" dirty="0" err="1"/>
              <a:t>manzana</a:t>
            </a:r>
            <a:r>
              <a:rPr lang="pt-BR" dirty="0"/>
              <a:t>", "banana", "</a:t>
            </a:r>
            <a:r>
              <a:rPr lang="pt-BR" dirty="0" err="1"/>
              <a:t>cereza</a:t>
            </a:r>
            <a:r>
              <a:rPr lang="pt-BR" dirty="0"/>
              <a:t>"]</a:t>
            </a:r>
          </a:p>
          <a:p>
            <a:r>
              <a:rPr lang="pt-BR" dirty="0" err="1"/>
              <a:t>frutas.clear</a:t>
            </a:r>
            <a:r>
              <a:rPr lang="pt-BR" dirty="0"/>
              <a:t>()</a:t>
            </a:r>
          </a:p>
          <a:p>
            <a:r>
              <a:rPr lang="pt-BR" dirty="0"/>
              <a:t>print(frutas) # output: []</a:t>
            </a:r>
          </a:p>
          <a:p>
            <a:endParaRPr lang="es-ES" dirty="0"/>
          </a:p>
          <a:p>
            <a:endParaRPr lang="es-ES" dirty="0"/>
          </a:p>
          <a:p>
            <a:endParaRPr lang="es-ES" dirty="0"/>
          </a:p>
        </p:txBody>
      </p:sp>
    </p:spTree>
    <p:extLst>
      <p:ext uri="{BB962C8B-B14F-4D97-AF65-F5344CB8AC3E}">
        <p14:creationId xmlns:p14="http://schemas.microsoft.com/office/powerpoint/2010/main" val="897160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42580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1375</Words>
  <Application>Microsoft Office PowerPoint</Application>
  <PresentationFormat>Panorámica</PresentationFormat>
  <Paragraphs>140</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AntonioAguirre</dc:creator>
  <cp:lastModifiedBy>Guillermo AntonioAguirre</cp:lastModifiedBy>
  <cp:revision>1</cp:revision>
  <dcterms:created xsi:type="dcterms:W3CDTF">2023-03-11T17:08:59Z</dcterms:created>
  <dcterms:modified xsi:type="dcterms:W3CDTF">2023-03-11T18:59:37Z</dcterms:modified>
</cp:coreProperties>
</file>