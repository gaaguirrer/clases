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61" d="100"/>
          <a:sy n="61" d="100"/>
        </p:scale>
        <p:origin x="1020" y="78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279DA-5FDF-47DE-B7A6-74883B75CD76}" type="datetimeFigureOut">
              <a:rPr lang="es-NI" smtClean="0"/>
              <a:t>4/12/2020</a:t>
            </a:fld>
            <a:endParaRPr lang="es-N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2B87-72FA-4FC2-AC1C-17C59679A56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047588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279DA-5FDF-47DE-B7A6-74883B75CD76}" type="datetimeFigureOut">
              <a:rPr lang="es-NI" smtClean="0"/>
              <a:t>4/12/2020</a:t>
            </a:fld>
            <a:endParaRPr lang="es-N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2B87-72FA-4FC2-AC1C-17C59679A56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528170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279DA-5FDF-47DE-B7A6-74883B75CD76}" type="datetimeFigureOut">
              <a:rPr lang="es-NI" smtClean="0"/>
              <a:t>4/12/2020</a:t>
            </a:fld>
            <a:endParaRPr lang="es-N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2B87-72FA-4FC2-AC1C-17C59679A56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116411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279DA-5FDF-47DE-B7A6-74883B75CD76}" type="datetimeFigureOut">
              <a:rPr lang="es-NI" smtClean="0"/>
              <a:t>4/12/2020</a:t>
            </a:fld>
            <a:endParaRPr lang="es-N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2B87-72FA-4FC2-AC1C-17C59679A56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094399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279DA-5FDF-47DE-B7A6-74883B75CD76}" type="datetimeFigureOut">
              <a:rPr lang="es-NI" smtClean="0"/>
              <a:t>4/12/2020</a:t>
            </a:fld>
            <a:endParaRPr lang="es-N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2B87-72FA-4FC2-AC1C-17C59679A56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981284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279DA-5FDF-47DE-B7A6-74883B75CD76}" type="datetimeFigureOut">
              <a:rPr lang="es-NI" smtClean="0"/>
              <a:t>4/12/2020</a:t>
            </a:fld>
            <a:endParaRPr lang="es-N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2B87-72FA-4FC2-AC1C-17C59679A56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006287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279DA-5FDF-47DE-B7A6-74883B75CD76}" type="datetimeFigureOut">
              <a:rPr lang="es-NI" smtClean="0"/>
              <a:t>4/12/2020</a:t>
            </a:fld>
            <a:endParaRPr lang="es-NI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2B87-72FA-4FC2-AC1C-17C59679A56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677340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279DA-5FDF-47DE-B7A6-74883B75CD76}" type="datetimeFigureOut">
              <a:rPr lang="es-NI" smtClean="0"/>
              <a:t>4/12/2020</a:t>
            </a:fld>
            <a:endParaRPr lang="es-N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2B87-72FA-4FC2-AC1C-17C59679A56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115874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279DA-5FDF-47DE-B7A6-74883B75CD76}" type="datetimeFigureOut">
              <a:rPr lang="es-NI" smtClean="0"/>
              <a:t>4/12/2020</a:t>
            </a:fld>
            <a:endParaRPr lang="es-N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2B87-72FA-4FC2-AC1C-17C59679A56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506319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279DA-5FDF-47DE-B7A6-74883B75CD76}" type="datetimeFigureOut">
              <a:rPr lang="es-NI" smtClean="0"/>
              <a:t>4/12/2020</a:t>
            </a:fld>
            <a:endParaRPr lang="es-N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2B87-72FA-4FC2-AC1C-17C59679A56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843536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279DA-5FDF-47DE-B7A6-74883B75CD76}" type="datetimeFigureOut">
              <a:rPr lang="es-NI" smtClean="0"/>
              <a:t>4/12/2020</a:t>
            </a:fld>
            <a:endParaRPr lang="es-N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2B87-72FA-4FC2-AC1C-17C59679A56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1869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C279DA-5FDF-47DE-B7A6-74883B75CD76}" type="datetimeFigureOut">
              <a:rPr lang="es-NI" smtClean="0"/>
              <a:t>4/12/2020</a:t>
            </a:fld>
            <a:endParaRPr lang="es-N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742B87-72FA-4FC2-AC1C-17C59679A56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590065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Imagen que contiene dibujo&#10;&#10;Descripción generada automáticamente">
            <a:extLst>
              <a:ext uri="{FF2B5EF4-FFF2-40B4-BE49-F238E27FC236}">
                <a16:creationId xmlns:a16="http://schemas.microsoft.com/office/drawing/2014/main" id="{45F57773-4C73-4654-80C7-04684D5BEE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8827"/>
            <a:ext cx="12192000" cy="1767250"/>
          </a:xfrm>
          <a:prstGeom prst="rect">
            <a:avLst/>
          </a:prstGeom>
        </p:spPr>
      </p:pic>
      <p:pic>
        <p:nvPicPr>
          <p:cNvPr id="13" name="Imagen 12" descr="Imagen que contiene tabla, alimentos&#10;&#10;Descripción generada automáticamente">
            <a:extLst>
              <a:ext uri="{FF2B5EF4-FFF2-40B4-BE49-F238E27FC236}">
                <a16:creationId xmlns:a16="http://schemas.microsoft.com/office/drawing/2014/main" id="{1A8CC628-B5DB-4B20-A508-767CFBD9D7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16084"/>
            <a:ext cx="12192000" cy="1641916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3B89A212-C425-4E46-BE12-FDE116E04741}"/>
              </a:ext>
            </a:extLst>
          </p:cNvPr>
          <p:cNvSpPr/>
          <p:nvPr/>
        </p:nvSpPr>
        <p:spPr>
          <a:xfrm>
            <a:off x="346840" y="2238587"/>
            <a:ext cx="11496135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Unidad II: Distribución de probabilidades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ED3C0CB-5528-4F55-91C5-26CBD934CC8C}"/>
              </a:ext>
            </a:extLst>
          </p:cNvPr>
          <p:cNvSpPr/>
          <p:nvPr/>
        </p:nvSpPr>
        <p:spPr>
          <a:xfrm>
            <a:off x="1158590" y="1031580"/>
            <a:ext cx="9874819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60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Estadística Inferencial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15E12B9-EB97-492D-BFD2-9A07777B3F3E}"/>
              </a:ext>
            </a:extLst>
          </p:cNvPr>
          <p:cNvSpPr/>
          <p:nvPr/>
        </p:nvSpPr>
        <p:spPr>
          <a:xfrm>
            <a:off x="1333033" y="3973690"/>
            <a:ext cx="9523762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228600">
                    <a:schemeClr val="bg2">
                      <a:lumMod val="2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</a:rPr>
              <a:t>Distribución Normal Estándar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6E04DFA-AA68-4F8E-BDB0-08BF30862AF4}"/>
              </a:ext>
            </a:extLst>
          </p:cNvPr>
          <p:cNvSpPr/>
          <p:nvPr/>
        </p:nvSpPr>
        <p:spPr>
          <a:xfrm>
            <a:off x="9780552" y="5574904"/>
            <a:ext cx="229261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Ing. Aguirre</a:t>
            </a:r>
          </a:p>
        </p:txBody>
      </p:sp>
    </p:spTree>
    <p:extLst>
      <p:ext uri="{BB962C8B-B14F-4D97-AF65-F5344CB8AC3E}">
        <p14:creationId xmlns:p14="http://schemas.microsoft.com/office/powerpoint/2010/main" val="204687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63D93-6A00-4BAA-BC3A-9EE39FF99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903" y="365126"/>
            <a:ext cx="10760243" cy="934286"/>
          </a:xfrm>
        </p:spPr>
        <p:txBody>
          <a:bodyPr/>
          <a:lstStyle/>
          <a:p>
            <a:pPr algn="ctr"/>
            <a:r>
              <a:rPr lang="es-NI" b="1" dirty="0">
                <a:gradFill flip="none" rotWithShape="1">
                  <a:gsLst>
                    <a:gs pos="0">
                      <a:schemeClr val="accent1">
                        <a:lumMod val="89000"/>
                      </a:schemeClr>
                    </a:gs>
                    <a:gs pos="23000">
                      <a:schemeClr val="accent1">
                        <a:lumMod val="89000"/>
                      </a:schemeClr>
                    </a:gs>
                    <a:gs pos="69000">
                      <a:schemeClr val="accent1">
                        <a:lumMod val="75000"/>
                      </a:schemeClr>
                    </a:gs>
                    <a:gs pos="97000">
                      <a:schemeClr val="accent1">
                        <a:lumMod val="70000"/>
                      </a:schemeClr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</a:rPr>
              <a:t>Distribución Normal Estándar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B6E74D-04B0-44F9-AE63-72D3E0495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0914" y="1475874"/>
            <a:ext cx="10760243" cy="5105231"/>
          </a:xfrm>
        </p:spPr>
        <p:txBody>
          <a:bodyPr/>
          <a:lstStyle/>
          <a:p>
            <a:pPr marL="0" indent="0" algn="just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La distribución normal es una distribución con forma de campana donde las desviaciones estándar sucesivas con respecto a la media establecen valores de referencia para estimar el porcentaje de observaciones de los datos. Estos valores de referencia son la base de muchas pruebas de </a:t>
            </a:r>
            <a:r>
              <a:rPr lang="es-ES" dirty="0" err="1">
                <a:solidFill>
                  <a:schemeClr val="bg1">
                    <a:lumMod val="50000"/>
                  </a:schemeClr>
                </a:solidFill>
              </a:rPr>
              <a:t>hipótesis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, como las pruebas Z y t.</a:t>
            </a:r>
            <a:endParaRPr lang="es-NI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Diagrama de flujo: proceso 3">
            <a:extLst>
              <a:ext uri="{FF2B5EF4-FFF2-40B4-BE49-F238E27FC236}">
                <a16:creationId xmlns:a16="http://schemas.microsoft.com/office/drawing/2014/main" id="{86E52CBF-9876-4B45-B0A0-DF769645CE52}"/>
              </a:ext>
            </a:extLst>
          </p:cNvPr>
          <p:cNvSpPr/>
          <p:nvPr/>
        </p:nvSpPr>
        <p:spPr>
          <a:xfrm>
            <a:off x="304800" y="276895"/>
            <a:ext cx="401053" cy="1110748"/>
          </a:xfrm>
          <a:prstGeom prst="flowChartProces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700CA9A0-5A34-4F37-9ABC-783A5E948C5E}"/>
              </a:ext>
            </a:extLst>
          </p:cNvPr>
          <p:cNvSpPr/>
          <p:nvPr/>
        </p:nvSpPr>
        <p:spPr>
          <a:xfrm>
            <a:off x="304800" y="1475874"/>
            <a:ext cx="401053" cy="5105231"/>
          </a:xfrm>
          <a:prstGeom prst="flowChartProcess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9EA010D-0353-462B-B60A-C25FFCFA8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0447" y="3876856"/>
            <a:ext cx="4321066" cy="2880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8137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63D93-6A00-4BAA-BC3A-9EE39FF99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903" y="365126"/>
            <a:ext cx="10760243" cy="934286"/>
          </a:xfrm>
        </p:spPr>
        <p:txBody>
          <a:bodyPr/>
          <a:lstStyle/>
          <a:p>
            <a:pPr algn="ctr"/>
            <a:r>
              <a:rPr lang="es-NI" b="1" dirty="0">
                <a:gradFill flip="none" rotWithShape="1">
                  <a:gsLst>
                    <a:gs pos="0">
                      <a:schemeClr val="accent1">
                        <a:lumMod val="89000"/>
                      </a:schemeClr>
                    </a:gs>
                    <a:gs pos="23000">
                      <a:schemeClr val="accent1">
                        <a:lumMod val="89000"/>
                      </a:schemeClr>
                    </a:gs>
                    <a:gs pos="69000">
                      <a:schemeClr val="accent1">
                        <a:lumMod val="75000"/>
                      </a:schemeClr>
                    </a:gs>
                    <a:gs pos="97000">
                      <a:schemeClr val="accent1">
                        <a:lumMod val="70000"/>
                      </a:schemeClr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</a:rPr>
              <a:t>Distribución Normal Estándar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B6E74D-04B0-44F9-AE63-72D3E0495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0914" y="1475874"/>
            <a:ext cx="10760243" cy="5105231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La distribución normal es un modelo teórico capaz de aproximar satisfactoriamente el valor de una variable aleatoria a una situación ideal. </a:t>
            </a:r>
          </a:p>
          <a:p>
            <a:pPr marL="0" indent="0" algn="just">
              <a:buNone/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 algn="just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En otras palabras, la distribución normal adapta una variable aleatoria a una función que depende de la media y la desviación típica. Es decir, la función y la variable aleatoria tendrán la misma representación pero con ligeras diferencias.</a:t>
            </a:r>
          </a:p>
          <a:p>
            <a:pPr marL="0" indent="0" algn="just">
              <a:buNone/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 algn="just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Una variable aleatoria continua puede tomar cualquier número real. Por ejemplo, las rentabilidades de las acciones, los resultados de un examen, el coeficiente de inteligencia IQ y los errores estándar son variables aleatorias continuas.</a:t>
            </a:r>
          </a:p>
          <a:p>
            <a:pPr marL="0" indent="0" algn="just">
              <a:buNone/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 algn="just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Una variable aleatoria discreta toma valores naturales. Por ejemplo, el número de estudiantes en una universidad.</a:t>
            </a:r>
          </a:p>
          <a:p>
            <a:pPr marL="0" indent="0" algn="just">
              <a:buNone/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 algn="just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La distribución normal es la base de otras distribuciones como la distribución t de </a:t>
            </a:r>
            <a:r>
              <a:rPr lang="es-ES" dirty="0" err="1">
                <a:solidFill>
                  <a:schemeClr val="bg1">
                    <a:lumMod val="50000"/>
                  </a:schemeClr>
                </a:solidFill>
              </a:rPr>
              <a:t>Student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, distribución ji-cuadrada, distribución F de Fisher y otras distribuciones. </a:t>
            </a:r>
            <a:endParaRPr lang="es-NI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Diagrama de flujo: proceso 3">
            <a:extLst>
              <a:ext uri="{FF2B5EF4-FFF2-40B4-BE49-F238E27FC236}">
                <a16:creationId xmlns:a16="http://schemas.microsoft.com/office/drawing/2014/main" id="{86E52CBF-9876-4B45-B0A0-DF769645CE52}"/>
              </a:ext>
            </a:extLst>
          </p:cNvPr>
          <p:cNvSpPr/>
          <p:nvPr/>
        </p:nvSpPr>
        <p:spPr>
          <a:xfrm>
            <a:off x="304800" y="276895"/>
            <a:ext cx="401053" cy="1110748"/>
          </a:xfrm>
          <a:prstGeom prst="flowChartProces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700CA9A0-5A34-4F37-9ABC-783A5E948C5E}"/>
              </a:ext>
            </a:extLst>
          </p:cNvPr>
          <p:cNvSpPr/>
          <p:nvPr/>
        </p:nvSpPr>
        <p:spPr>
          <a:xfrm>
            <a:off x="304800" y="1475874"/>
            <a:ext cx="401053" cy="5105231"/>
          </a:xfrm>
          <a:prstGeom prst="flowChartProcess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354178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63D93-6A00-4BAA-BC3A-9EE39FF99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903" y="365126"/>
            <a:ext cx="10760243" cy="934286"/>
          </a:xfrm>
        </p:spPr>
        <p:txBody>
          <a:bodyPr/>
          <a:lstStyle/>
          <a:p>
            <a:pPr algn="ctr"/>
            <a:r>
              <a:rPr lang="es-NI" b="1" dirty="0">
                <a:gradFill flip="none" rotWithShape="1">
                  <a:gsLst>
                    <a:gs pos="0">
                      <a:schemeClr val="accent1">
                        <a:lumMod val="89000"/>
                      </a:schemeClr>
                    </a:gs>
                    <a:gs pos="23000">
                      <a:schemeClr val="accent1">
                        <a:lumMod val="89000"/>
                      </a:schemeClr>
                    </a:gs>
                    <a:gs pos="69000">
                      <a:schemeClr val="accent1">
                        <a:lumMod val="75000"/>
                      </a:schemeClr>
                    </a:gs>
                    <a:gs pos="97000">
                      <a:schemeClr val="accent1">
                        <a:lumMod val="70000"/>
                      </a:schemeClr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</a:rPr>
              <a:t>Distribución Normal Estándar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B6E74D-04B0-44F9-AE63-72D3E0495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0914" y="1475874"/>
            <a:ext cx="10760243" cy="5105231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La distribución normal es un modelo teórico capaz de aproximar satisfactoriamente el valor de una variable aleatoria a una situación ideal. </a:t>
            </a:r>
          </a:p>
          <a:p>
            <a:pPr marL="0" indent="0" algn="just">
              <a:buNone/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 algn="just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En otras palabras, la distribución normal adapta una variable aleatoria a una función que depende de la media y la desviación típica. Es decir, la función y la variable aleatoria tendrán la misma representación pero con ligeras diferencias.</a:t>
            </a:r>
          </a:p>
          <a:p>
            <a:pPr marL="0" indent="0" algn="just">
              <a:buNone/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 algn="just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Una variable aleatoria continua puede tomar cualquier número real. Por ejemplo, las rentabilidades de las acciones, los resultados de un examen, el coeficiente de inteligencia IQ y los errores estándar son variables aleatorias continuas.</a:t>
            </a:r>
          </a:p>
          <a:p>
            <a:pPr marL="0" indent="0" algn="just">
              <a:buNone/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 algn="just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Una variable aleatoria discreta toma valores naturales. Por ejemplo, el número de estudiantes en una universidad.</a:t>
            </a:r>
          </a:p>
          <a:p>
            <a:pPr marL="0" indent="0" algn="just">
              <a:buNone/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 algn="just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La distribución normal es la base de otras distribuciones como la distribución t de </a:t>
            </a:r>
            <a:r>
              <a:rPr lang="es-ES" dirty="0" err="1">
                <a:solidFill>
                  <a:schemeClr val="bg1">
                    <a:lumMod val="50000"/>
                  </a:schemeClr>
                </a:solidFill>
              </a:rPr>
              <a:t>Student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, distribución ji-cuadrada, distribución F de Fisher y otras distribuciones. </a:t>
            </a:r>
            <a:endParaRPr lang="es-NI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Diagrama de flujo: proceso 3">
            <a:extLst>
              <a:ext uri="{FF2B5EF4-FFF2-40B4-BE49-F238E27FC236}">
                <a16:creationId xmlns:a16="http://schemas.microsoft.com/office/drawing/2014/main" id="{86E52CBF-9876-4B45-B0A0-DF769645CE52}"/>
              </a:ext>
            </a:extLst>
          </p:cNvPr>
          <p:cNvSpPr/>
          <p:nvPr/>
        </p:nvSpPr>
        <p:spPr>
          <a:xfrm>
            <a:off x="304800" y="276895"/>
            <a:ext cx="401053" cy="1110748"/>
          </a:xfrm>
          <a:prstGeom prst="flowChartProces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700CA9A0-5A34-4F37-9ABC-783A5E948C5E}"/>
              </a:ext>
            </a:extLst>
          </p:cNvPr>
          <p:cNvSpPr/>
          <p:nvPr/>
        </p:nvSpPr>
        <p:spPr>
          <a:xfrm>
            <a:off x="304800" y="1475874"/>
            <a:ext cx="401053" cy="5105231"/>
          </a:xfrm>
          <a:prstGeom prst="flowChartProcess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560639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63D93-6A00-4BAA-BC3A-9EE39FF99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903" y="365126"/>
            <a:ext cx="10760243" cy="934286"/>
          </a:xfrm>
        </p:spPr>
        <p:txBody>
          <a:bodyPr/>
          <a:lstStyle/>
          <a:p>
            <a:pPr algn="ctr"/>
            <a:r>
              <a:rPr lang="es-NI" b="1" dirty="0">
                <a:gradFill flip="none" rotWithShape="1">
                  <a:gsLst>
                    <a:gs pos="0">
                      <a:schemeClr val="accent1">
                        <a:lumMod val="89000"/>
                      </a:schemeClr>
                    </a:gs>
                    <a:gs pos="23000">
                      <a:schemeClr val="accent1">
                        <a:lumMod val="89000"/>
                      </a:schemeClr>
                    </a:gs>
                    <a:gs pos="69000">
                      <a:schemeClr val="accent1">
                        <a:lumMod val="75000"/>
                      </a:schemeClr>
                    </a:gs>
                    <a:gs pos="97000">
                      <a:schemeClr val="accent1">
                        <a:lumMod val="70000"/>
                      </a:schemeClr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</a:rPr>
              <a:t>Distribución Normal Estándar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B6E74D-04B0-44F9-AE63-72D3E0495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0914" y="1475874"/>
            <a:ext cx="10760243" cy="51052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b="1" dirty="0">
                <a:solidFill>
                  <a:schemeClr val="bg1">
                    <a:lumMod val="50000"/>
                  </a:schemeClr>
                </a:solidFill>
              </a:rPr>
              <a:t>Ejemplo 1: </a:t>
            </a:r>
          </a:p>
          <a:p>
            <a:pPr marL="0" indent="0" algn="just">
              <a:buNone/>
            </a:pPr>
            <a:r>
              <a:rPr lang="es-NI" dirty="0">
                <a:solidFill>
                  <a:schemeClr val="bg1">
                    <a:lumMod val="50000"/>
                  </a:schemeClr>
                </a:solidFill>
              </a:rPr>
              <a:t>El peso de cierto modelo de baterías sigue una distribución normal de 6 gramos, y una desviación estándar de 2 gramos, determine el porcentaje de baterías cuyo peso es mayor a 8g</a:t>
            </a:r>
          </a:p>
          <a:p>
            <a:pPr marL="0" indent="0" algn="just">
              <a:buNone/>
            </a:pPr>
            <a:endParaRPr lang="es-NI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 algn="just">
              <a:buNone/>
            </a:pPr>
            <a:r>
              <a:rPr lang="es-NI" b="1" dirty="0">
                <a:solidFill>
                  <a:schemeClr val="bg1">
                    <a:lumMod val="50000"/>
                  </a:schemeClr>
                </a:solidFill>
              </a:rPr>
              <a:t>Solución:</a:t>
            </a:r>
          </a:p>
          <a:p>
            <a:pPr marL="0" indent="0" algn="just">
              <a:buNone/>
            </a:pPr>
            <a:r>
              <a:rPr lang="es-NI" dirty="0">
                <a:solidFill>
                  <a:schemeClr val="bg1">
                    <a:lumMod val="50000"/>
                  </a:schemeClr>
                </a:solidFill>
              </a:rPr>
              <a:t>Para empezar debemos estandarizar nuestra distribución, para ellos usaremos:</a:t>
            </a:r>
          </a:p>
        </p:txBody>
      </p:sp>
      <p:sp>
        <p:nvSpPr>
          <p:cNvPr id="4" name="Diagrama de flujo: proceso 3">
            <a:extLst>
              <a:ext uri="{FF2B5EF4-FFF2-40B4-BE49-F238E27FC236}">
                <a16:creationId xmlns:a16="http://schemas.microsoft.com/office/drawing/2014/main" id="{86E52CBF-9876-4B45-B0A0-DF769645CE52}"/>
              </a:ext>
            </a:extLst>
          </p:cNvPr>
          <p:cNvSpPr/>
          <p:nvPr/>
        </p:nvSpPr>
        <p:spPr>
          <a:xfrm>
            <a:off x="304800" y="276895"/>
            <a:ext cx="401053" cy="1110748"/>
          </a:xfrm>
          <a:prstGeom prst="flowChartProces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700CA9A0-5A34-4F37-9ABC-783A5E948C5E}"/>
              </a:ext>
            </a:extLst>
          </p:cNvPr>
          <p:cNvSpPr/>
          <p:nvPr/>
        </p:nvSpPr>
        <p:spPr>
          <a:xfrm>
            <a:off x="304800" y="1475874"/>
            <a:ext cx="401053" cy="5105231"/>
          </a:xfrm>
          <a:prstGeom prst="flowChartProcess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646CEE7B-C3B6-4AF1-A55F-BEEB537DE932}"/>
                  </a:ext>
                </a:extLst>
              </p:cNvPr>
              <p:cNvSpPr txBox="1"/>
              <p:nvPr/>
            </p:nvSpPr>
            <p:spPr>
              <a:xfrm>
                <a:off x="4956698" y="5438546"/>
                <a:ext cx="2278604" cy="10543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NI" sz="400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4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NI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NI" sz="40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NI" sz="4000" i="1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s-NI" sz="4000" i="1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es-NI" sz="4000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646CEE7B-C3B6-4AF1-A55F-BEEB537DE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698" y="5438546"/>
                <a:ext cx="2278604" cy="10543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7834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63D93-6A00-4BAA-BC3A-9EE39FF99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903" y="365126"/>
            <a:ext cx="10760243" cy="934286"/>
          </a:xfrm>
        </p:spPr>
        <p:txBody>
          <a:bodyPr/>
          <a:lstStyle/>
          <a:p>
            <a:pPr algn="ctr"/>
            <a:r>
              <a:rPr lang="es-NI" b="1" dirty="0">
                <a:gradFill flip="none" rotWithShape="1">
                  <a:gsLst>
                    <a:gs pos="0">
                      <a:schemeClr val="accent1">
                        <a:lumMod val="89000"/>
                      </a:schemeClr>
                    </a:gs>
                    <a:gs pos="23000">
                      <a:schemeClr val="accent1">
                        <a:lumMod val="89000"/>
                      </a:schemeClr>
                    </a:gs>
                    <a:gs pos="69000">
                      <a:schemeClr val="accent1">
                        <a:lumMod val="75000"/>
                      </a:schemeClr>
                    </a:gs>
                    <a:gs pos="97000">
                      <a:schemeClr val="accent1">
                        <a:lumMod val="70000"/>
                      </a:schemeClr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</a:rPr>
              <a:t>Distribución Normal Estándar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B6E74D-04B0-44F9-AE63-72D3E0495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0914" y="1475874"/>
            <a:ext cx="10760243" cy="51052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s-NI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 algn="just">
              <a:buNone/>
            </a:pPr>
            <a:endParaRPr lang="es-NI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 algn="just">
              <a:buNone/>
            </a:pPr>
            <a:endParaRPr lang="es-NI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 algn="just">
              <a:buNone/>
            </a:pPr>
            <a:endParaRPr lang="es-NI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 algn="just">
              <a:buNone/>
            </a:pPr>
            <a:r>
              <a:rPr lang="es-NI" dirty="0">
                <a:solidFill>
                  <a:schemeClr val="bg1">
                    <a:lumMod val="50000"/>
                  </a:schemeClr>
                </a:solidFill>
              </a:rPr>
              <a:t>Una vez encontrado el valor de z lo ubicamos en la tabla y encontramos la respuesta = 0.3413</a:t>
            </a:r>
          </a:p>
        </p:txBody>
      </p:sp>
      <p:sp>
        <p:nvSpPr>
          <p:cNvPr id="4" name="Diagrama de flujo: proceso 3">
            <a:extLst>
              <a:ext uri="{FF2B5EF4-FFF2-40B4-BE49-F238E27FC236}">
                <a16:creationId xmlns:a16="http://schemas.microsoft.com/office/drawing/2014/main" id="{86E52CBF-9876-4B45-B0A0-DF769645CE52}"/>
              </a:ext>
            </a:extLst>
          </p:cNvPr>
          <p:cNvSpPr/>
          <p:nvPr/>
        </p:nvSpPr>
        <p:spPr>
          <a:xfrm>
            <a:off x="304800" y="276895"/>
            <a:ext cx="401053" cy="1110748"/>
          </a:xfrm>
          <a:prstGeom prst="flowChartProces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700CA9A0-5A34-4F37-9ABC-783A5E948C5E}"/>
              </a:ext>
            </a:extLst>
          </p:cNvPr>
          <p:cNvSpPr/>
          <p:nvPr/>
        </p:nvSpPr>
        <p:spPr>
          <a:xfrm>
            <a:off x="304800" y="1475874"/>
            <a:ext cx="401053" cy="5105231"/>
          </a:xfrm>
          <a:prstGeom prst="flowChartProcess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646CEE7B-C3B6-4AF1-A55F-BEEB537DE932}"/>
                  </a:ext>
                </a:extLst>
              </p:cNvPr>
              <p:cNvSpPr txBox="1"/>
              <p:nvPr/>
            </p:nvSpPr>
            <p:spPr>
              <a:xfrm>
                <a:off x="1106902" y="1639056"/>
                <a:ext cx="3796173" cy="11524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NI" sz="400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NI" sz="4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NI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NI" sz="4000" b="0" i="0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s-NI" sz="40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NI" sz="4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s-NI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NI" sz="4000" b="0" i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NI" sz="4000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646CEE7B-C3B6-4AF1-A55F-BEEB537DE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902" y="1639056"/>
                <a:ext cx="3796173" cy="11524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8020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63D93-6A00-4BAA-BC3A-9EE39FF99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903" y="365126"/>
            <a:ext cx="10760243" cy="934286"/>
          </a:xfrm>
        </p:spPr>
        <p:txBody>
          <a:bodyPr/>
          <a:lstStyle/>
          <a:p>
            <a:pPr algn="ctr"/>
            <a:r>
              <a:rPr lang="es-NI" b="1" dirty="0">
                <a:gradFill flip="none" rotWithShape="1">
                  <a:gsLst>
                    <a:gs pos="0">
                      <a:schemeClr val="accent1">
                        <a:lumMod val="89000"/>
                      </a:schemeClr>
                    </a:gs>
                    <a:gs pos="23000">
                      <a:schemeClr val="accent1">
                        <a:lumMod val="89000"/>
                      </a:schemeClr>
                    </a:gs>
                    <a:gs pos="69000">
                      <a:schemeClr val="accent1">
                        <a:lumMod val="75000"/>
                      </a:schemeClr>
                    </a:gs>
                    <a:gs pos="97000">
                      <a:schemeClr val="accent1">
                        <a:lumMod val="70000"/>
                      </a:schemeClr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</a:rPr>
              <a:t>Distribución Normal Estándar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B6E74D-04B0-44F9-AE63-72D3E0495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0914" y="1475874"/>
            <a:ext cx="10760243" cy="51052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b="1" dirty="0">
                <a:solidFill>
                  <a:schemeClr val="bg1">
                    <a:lumMod val="50000"/>
                  </a:schemeClr>
                </a:solidFill>
              </a:rPr>
              <a:t>Ejercicio 1: </a:t>
            </a:r>
          </a:p>
          <a:p>
            <a:pPr marL="0" indent="0" algn="just">
              <a:buNone/>
            </a:pPr>
            <a:r>
              <a:rPr lang="es-NI" dirty="0">
                <a:solidFill>
                  <a:schemeClr val="bg1">
                    <a:lumMod val="50000"/>
                  </a:schemeClr>
                </a:solidFill>
              </a:rPr>
              <a:t>El precio de las acciones de cierta industria se distribuye en forma normal con una media de US$20 y desviación estándar de US$ 3. ¿Cuál es la probabilidad de que el precio de estas acciones se encuentre entre US$ 18 y US$ 20?</a:t>
            </a:r>
          </a:p>
        </p:txBody>
      </p:sp>
      <p:sp>
        <p:nvSpPr>
          <p:cNvPr id="4" name="Diagrama de flujo: proceso 3">
            <a:extLst>
              <a:ext uri="{FF2B5EF4-FFF2-40B4-BE49-F238E27FC236}">
                <a16:creationId xmlns:a16="http://schemas.microsoft.com/office/drawing/2014/main" id="{86E52CBF-9876-4B45-B0A0-DF769645CE52}"/>
              </a:ext>
            </a:extLst>
          </p:cNvPr>
          <p:cNvSpPr/>
          <p:nvPr/>
        </p:nvSpPr>
        <p:spPr>
          <a:xfrm>
            <a:off x="304800" y="276895"/>
            <a:ext cx="401053" cy="1110748"/>
          </a:xfrm>
          <a:prstGeom prst="flowChartProces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700CA9A0-5A34-4F37-9ABC-783A5E948C5E}"/>
              </a:ext>
            </a:extLst>
          </p:cNvPr>
          <p:cNvSpPr/>
          <p:nvPr/>
        </p:nvSpPr>
        <p:spPr>
          <a:xfrm>
            <a:off x="304800" y="1475874"/>
            <a:ext cx="401053" cy="5105231"/>
          </a:xfrm>
          <a:prstGeom prst="flowChartProcess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9840385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ema de Office">
  <a:themeElements>
    <a:clrScheme name="Upoli">
      <a:dk1>
        <a:srgbClr val="FF0000"/>
      </a:dk1>
      <a:lt1>
        <a:sysClr val="window" lastClr="FFFFFF"/>
      </a:lt1>
      <a:dk2>
        <a:srgbClr val="600000"/>
      </a:dk2>
      <a:lt2>
        <a:srgbClr val="E7E6E6"/>
      </a:lt2>
      <a:accent1>
        <a:srgbClr val="FF6566"/>
      </a:accent1>
      <a:accent2>
        <a:srgbClr val="C00000"/>
      </a:accent2>
      <a:accent3>
        <a:srgbClr val="A5A5A5"/>
      </a:accent3>
      <a:accent4>
        <a:srgbClr val="D8D8D8"/>
      </a:accent4>
      <a:accent5>
        <a:srgbClr val="BFBFBF"/>
      </a:accent5>
      <a:accent6>
        <a:srgbClr val="E50F0F"/>
      </a:accent6>
      <a:hlink>
        <a:srgbClr val="FF6566"/>
      </a:hlink>
      <a:folHlink>
        <a:srgbClr val="E0836A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xtura grung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3407FE4D-BC1C-4BDF-A6DB-C7D55ACA0B41}" vid="{6D25B3C5-4131-4331-9CAE-19351A04C64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Upoli V1</Template>
  <TotalTime>33</TotalTime>
  <Words>514</Words>
  <Application>Microsoft Office PowerPoint</Application>
  <PresentationFormat>Panorámica</PresentationFormat>
  <Paragraphs>43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Cambria Math</vt:lpstr>
      <vt:lpstr>Consolas</vt:lpstr>
      <vt:lpstr>Verdana</vt:lpstr>
      <vt:lpstr>Tema de Office</vt:lpstr>
      <vt:lpstr>Presentación de PowerPoint</vt:lpstr>
      <vt:lpstr>Distribución Normal Estándar</vt:lpstr>
      <vt:lpstr>Distribución Normal Estándar</vt:lpstr>
      <vt:lpstr>Distribución Normal Estándar</vt:lpstr>
      <vt:lpstr>Distribución Normal Estándar</vt:lpstr>
      <vt:lpstr>Distribución Normal Estándar</vt:lpstr>
      <vt:lpstr>Distribución Normal Estándar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Aguirre</dc:creator>
  <cp:lastModifiedBy>Guillermo Aguirre</cp:lastModifiedBy>
  <cp:revision>5</cp:revision>
  <dcterms:created xsi:type="dcterms:W3CDTF">2020-11-25T14:30:27Z</dcterms:created>
  <dcterms:modified xsi:type="dcterms:W3CDTF">2020-12-05T03:22:15Z</dcterms:modified>
</cp:coreProperties>
</file>