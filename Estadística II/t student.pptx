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7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8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2817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164115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94399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98128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0628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67734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115874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506319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43536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86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279DA-5FDF-47DE-B7A6-74883B75CD76}" type="datetimeFigureOut">
              <a:rPr lang="es-NI" smtClean="0"/>
              <a:t>11/12/2020</a:t>
            </a:fld>
            <a:endParaRPr lang="es-N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742B87-72FA-4FC2-AC1C-17C59679A56A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59006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cms.dm.uba.ar/academico/materias/1ercuat2015/probabilidades_y_estadistica_C/tabla_tstudent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Imagen que contiene dibujo&#10;&#10;Descripción generada automáticamente">
            <a:extLst>
              <a:ext uri="{FF2B5EF4-FFF2-40B4-BE49-F238E27FC236}">
                <a16:creationId xmlns:a16="http://schemas.microsoft.com/office/drawing/2014/main" id="{45F57773-4C73-4654-80C7-04684D5BEE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767250"/>
          </a:xfrm>
          <a:prstGeom prst="rect">
            <a:avLst/>
          </a:prstGeom>
        </p:spPr>
      </p:pic>
      <p:pic>
        <p:nvPicPr>
          <p:cNvPr id="13" name="Imagen 12" descr="Imagen que contiene tabla, alimentos&#10;&#10;Descripción generada automáticamente">
            <a:extLst>
              <a:ext uri="{FF2B5EF4-FFF2-40B4-BE49-F238E27FC236}">
                <a16:creationId xmlns:a16="http://schemas.microsoft.com/office/drawing/2014/main" id="{1A8CC628-B5DB-4B20-A508-767CFBD9D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16084"/>
            <a:ext cx="12192000" cy="1641916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3B89A212-C425-4E46-BE12-FDE116E04741}"/>
              </a:ext>
            </a:extLst>
          </p:cNvPr>
          <p:cNvSpPr/>
          <p:nvPr/>
        </p:nvSpPr>
        <p:spPr>
          <a:xfrm>
            <a:off x="874061" y="2548611"/>
            <a:ext cx="1044388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Unidad III: Inferencia Estadística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ED3C0CB-5528-4F55-91C5-26CBD934CC8C}"/>
              </a:ext>
            </a:extLst>
          </p:cNvPr>
          <p:cNvSpPr/>
          <p:nvPr/>
        </p:nvSpPr>
        <p:spPr>
          <a:xfrm>
            <a:off x="1158590" y="1110407"/>
            <a:ext cx="9874819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6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Estadística Inferencial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15E12B9-EB97-492D-BFD2-9A07777B3F3E}"/>
              </a:ext>
            </a:extLst>
          </p:cNvPr>
          <p:cNvSpPr/>
          <p:nvPr/>
        </p:nvSpPr>
        <p:spPr>
          <a:xfrm>
            <a:off x="2289516" y="3739024"/>
            <a:ext cx="7612982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bg2">
                      <a:lumMod val="2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Distribución t - </a:t>
            </a:r>
            <a:r>
              <a:rPr lang="es-ES" sz="4400" b="1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228600">
                    <a:schemeClr val="bg2">
                      <a:lumMod val="25000"/>
                      <a:alpha val="40000"/>
                    </a:schemeClr>
                  </a:glow>
                  <a:outerShdw dist="38100" dir="2700000" algn="bl" rotWithShape="0">
                    <a:schemeClr val="accent5"/>
                  </a:outerShdw>
                </a:effectLst>
              </a:rPr>
              <a:t>Student</a:t>
            </a:r>
            <a:endParaRPr lang="es-ES" sz="4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glow rad="228600">
                  <a:schemeClr val="bg2">
                    <a:lumMod val="25000"/>
                    <a:alpha val="40000"/>
                  </a:schemeClr>
                </a:glow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E6E04DFA-AA68-4F8E-BDB0-08BF30862AF4}"/>
              </a:ext>
            </a:extLst>
          </p:cNvPr>
          <p:cNvSpPr/>
          <p:nvPr/>
        </p:nvSpPr>
        <p:spPr>
          <a:xfrm>
            <a:off x="9780552" y="5574904"/>
            <a:ext cx="229261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Ing. Aguirre</a:t>
            </a:r>
          </a:p>
        </p:txBody>
      </p:sp>
    </p:spTree>
    <p:extLst>
      <p:ext uri="{BB962C8B-B14F-4D97-AF65-F5344CB8AC3E}">
        <p14:creationId xmlns:p14="http://schemas.microsoft.com/office/powerpoint/2010/main" val="2046873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0914" y="1475874"/>
                <a:ext cx="10760243" cy="510523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</a:rPr>
                  <a:t>Ejemplo 1: </a:t>
                </a:r>
                <a:r>
                  <a:rPr lang="es-ES" sz="2400" dirty="0">
                    <a:solidFill>
                      <a:schemeClr val="bg1">
                        <a:lumMod val="50000"/>
                      </a:schemeClr>
                    </a:solidFill>
                  </a:rPr>
                  <a:t>Sea una empresa que fabrica tornillos para una </a:t>
                </a:r>
                <a:r>
                  <a:rPr lang="es-ES" sz="2400" dirty="0" err="1">
                    <a:solidFill>
                      <a:schemeClr val="bg1">
                        <a:lumMod val="50000"/>
                      </a:schemeClr>
                    </a:solidFill>
                  </a:rPr>
                  <a:t>multinacionacional</a:t>
                </a:r>
                <a:r>
                  <a:rPr lang="es-ES" sz="2400" dirty="0">
                    <a:solidFill>
                      <a:schemeClr val="bg1">
                        <a:lumMod val="50000"/>
                      </a:schemeClr>
                    </a:solidFill>
                  </a:rPr>
                  <a:t> extranjera, dicha compañía afirma que sus productos tienen un promedio de 25 horas de elaboración. Para mantener este promedio se prueban 16 tornillos cada mes, entones si el valor t calculado está entre t -0.01 y t 0.01 la empresa queda satisfecha con su afirmación ¿Qué conclusiones debería sacar la empresa a partir de una muestra que tiene una media de 27.5 horas y una desviación estándar de 5 horas?</a:t>
                </a:r>
              </a:p>
              <a:p>
                <a:pPr marL="0" indent="0" algn="just">
                  <a:buNone/>
                </a:pPr>
                <a:endParaRPr lang="es-ES" sz="24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ES" sz="2400" b="1" dirty="0">
                    <a:solidFill>
                      <a:schemeClr val="bg1">
                        <a:lumMod val="50000"/>
                      </a:schemeClr>
                    </a:solidFill>
                  </a:rPr>
                  <a:t>Solución:</a:t>
                </a:r>
              </a:p>
              <a:p>
                <a:pPr marL="0" indent="0" algn="just">
                  <a:buNone/>
                </a:pPr>
                <a:br>
                  <a:rPr lang="es-ES" sz="2400" b="1" i="1" dirty="0">
                    <a:solidFill>
                      <a:schemeClr val="bg1">
                        <a:lumMod val="50000"/>
                      </a:schemeClr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s-NI" sz="24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NI" sz="24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; x = 27.5 ; n = 16 ; </a:t>
                </a:r>
                <a14:m>
                  <m:oMath xmlns:m="http://schemas.openxmlformats.org/officeDocument/2006/math">
                    <m:r>
                      <a:rPr lang="es-NI" sz="2400" i="1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s-NI" sz="2400" i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; </a:t>
                </a:r>
                <a14:m>
                  <m:oMath xmlns:m="http://schemas.openxmlformats.org/officeDocument/2006/math">
                    <m:r>
                      <a:rPr lang="es-NI" sz="24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NI" sz="24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24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NI" sz="2400" i="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</m:d>
                  </m:oMath>
                </a14:m>
                <a:endParaRPr lang="es-NI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0914" y="1475874"/>
                <a:ext cx="10760243" cy="5105231"/>
              </a:xfrm>
              <a:blipFill>
                <a:blip r:embed="rId2"/>
                <a:stretch>
                  <a:fillRect l="-850" t="-1671" r="-90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18137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0914" y="1475874"/>
                <a:ext cx="10760243" cy="510523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</a:rPr>
                  <a:t>Paso 1: Identificar la Hipótesis nula y la Hipótesis alternativa</a:t>
                </a:r>
              </a:p>
              <a:p>
                <a:pPr marL="0" indent="0" algn="ctr">
                  <a:buNone/>
                </a:pP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H</a:t>
                </a:r>
                <a:r>
                  <a:rPr lang="es-NI" sz="2400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0</a:t>
                </a: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s-NI" sz="24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NI" sz="24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= 25				H</a:t>
                </a:r>
                <a:r>
                  <a:rPr lang="es-NI" sz="2400" baseline="-25000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: </a:t>
                </a:r>
                <a14:m>
                  <m:oMath xmlns:m="http://schemas.openxmlformats.org/officeDocument/2006/math">
                    <m:r>
                      <a:rPr lang="es-NI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s-NI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s-NI" b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25</a:t>
                </a:r>
              </a:p>
              <a:p>
                <a:pPr marL="0" indent="0" algn="just">
                  <a:buNone/>
                </a:pPr>
                <a:endParaRPr lang="es-NI" sz="24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</a:rPr>
                  <a:t>Paso 2: Identificar el valor crítico para la distribución haciendo uso de la tabla </a:t>
                </a: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  <a:hlinkClick r:id="rId2"/>
                  </a:rPr>
                  <a:t>t – </a:t>
                </a:r>
                <a:r>
                  <a:rPr lang="es-NI" sz="2400" b="1" dirty="0" err="1">
                    <a:solidFill>
                      <a:schemeClr val="bg1">
                        <a:lumMod val="50000"/>
                      </a:schemeClr>
                    </a:solidFill>
                    <a:hlinkClick r:id="rId2"/>
                  </a:rPr>
                  <a:t>student</a:t>
                </a:r>
                <a:endParaRPr lang="es-NI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Para ello se deben calcular los grados de libertad </a:t>
                </a:r>
              </a:p>
              <a:p>
                <a:pPr marL="0" indent="0" algn="just">
                  <a:buNone/>
                </a:pPr>
                <a:r>
                  <a:rPr lang="es-NI" sz="2400" dirty="0" err="1">
                    <a:solidFill>
                      <a:schemeClr val="bg1">
                        <a:lumMod val="50000"/>
                      </a:schemeClr>
                    </a:solidFill>
                  </a:rPr>
                  <a:t>Gl</a:t>
                </a: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= n – 1 = 16 – 1 = 15</a:t>
                </a:r>
              </a:p>
              <a:p>
                <a:pPr marL="0" indent="0" algn="just">
                  <a:buNone/>
                </a:pP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Usando la </a:t>
                </a: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  <a:hlinkClick r:id="rId2"/>
                  </a:rPr>
                  <a:t>tabla t – </a:t>
                </a:r>
                <a:r>
                  <a:rPr lang="es-NI" sz="2400" dirty="0" err="1">
                    <a:solidFill>
                      <a:schemeClr val="bg1">
                        <a:lumMod val="50000"/>
                      </a:schemeClr>
                    </a:solidFill>
                    <a:hlinkClick r:id="rId2"/>
                  </a:rPr>
                  <a:t>student</a:t>
                </a: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  <a:hlinkClick r:id="rId2"/>
                  </a:rPr>
                  <a:t> </a:t>
                </a: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buscamos los grados de libertad en la columna de la derecha y la significancia </a:t>
                </a:r>
                <a14:m>
                  <m:oMath xmlns:m="http://schemas.openxmlformats.org/officeDocument/2006/math">
                    <m:r>
                      <a:rPr lang="es-NI" sz="24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NI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24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NI" sz="240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0.01</m:t>
                        </m:r>
                      </m:e>
                    </m:d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 en los encabezados, la celda donde se encuentra es el </a:t>
                </a: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</a:rPr>
                  <a:t>valor crítico</a:t>
                </a:r>
              </a:p>
              <a:p>
                <a:pPr marL="0" indent="0" algn="just">
                  <a:buNone/>
                </a:pPr>
                <a:endParaRPr lang="es-NI" sz="24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0914" y="1475874"/>
                <a:ext cx="10760243" cy="5105231"/>
              </a:xfrm>
              <a:blipFill>
                <a:blip r:embed="rId3"/>
                <a:stretch>
                  <a:fillRect l="-850" t="-1671" r="-90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21101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1C112EA-69CA-45C2-B9E3-68CEFE1D1189}"/>
              </a:ext>
            </a:extLst>
          </p:cNvPr>
          <p:cNvGrpSpPr/>
          <p:nvPr/>
        </p:nvGrpSpPr>
        <p:grpSpPr>
          <a:xfrm>
            <a:off x="1106903" y="1299412"/>
            <a:ext cx="5498313" cy="5341148"/>
            <a:chOff x="3097539" y="1355655"/>
            <a:chExt cx="5498313" cy="5341148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4F5757C2-CBAB-4C75-8DD8-023E9FE510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9516" t="16112" r="29476" b="7721"/>
            <a:stretch/>
          </p:blipFill>
          <p:spPr>
            <a:xfrm>
              <a:off x="3596148" y="1475874"/>
              <a:ext cx="4999704" cy="5220929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52DFD719-6373-4660-BCC8-F3AD187A50A3}"/>
                </a:ext>
              </a:extLst>
            </p:cNvPr>
            <p:cNvSpPr/>
            <p:nvPr/>
          </p:nvSpPr>
          <p:spPr>
            <a:xfrm>
              <a:off x="4107736" y="3934495"/>
              <a:ext cx="4418077" cy="167425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B0168301-2852-4C90-8315-308229C0A9A7}"/>
                </a:ext>
              </a:extLst>
            </p:cNvPr>
            <p:cNvSpPr/>
            <p:nvPr/>
          </p:nvSpPr>
          <p:spPr>
            <a:xfrm>
              <a:off x="7347397" y="1654935"/>
              <a:ext cx="482958" cy="5041868"/>
            </a:xfrm>
            <a:prstGeom prst="rect">
              <a:avLst/>
            </a:prstGeom>
            <a:noFill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NI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05443D32-3ADA-44F6-ABF5-35C66522B4D9}"/>
                    </a:ext>
                  </a:extLst>
                </p:cNvPr>
                <p:cNvSpPr/>
                <p:nvPr/>
              </p:nvSpPr>
              <p:spPr>
                <a:xfrm>
                  <a:off x="7118797" y="1355655"/>
                  <a:ext cx="940158" cy="170701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105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s-NI" sz="1050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s-NI" sz="105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NI" sz="1050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0.01</m:t>
                            </m:r>
                          </m:e>
                        </m:d>
                      </m:oMath>
                    </m:oMathPara>
                  </a14:m>
                  <a:endParaRPr lang="es-NI" sz="1050" dirty="0"/>
                </a:p>
              </p:txBody>
            </p:sp>
          </mc:Choice>
          <mc:Fallback xmlns="">
            <p:sp>
              <p:nvSpPr>
                <p:cNvPr id="11" name="Rectángulo 10">
                  <a:extLst>
                    <a:ext uri="{FF2B5EF4-FFF2-40B4-BE49-F238E27FC236}">
                      <a16:creationId xmlns:a16="http://schemas.microsoft.com/office/drawing/2014/main" id="{05443D32-3ADA-44F6-ABF5-35C66522B4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8797" y="1355655"/>
                  <a:ext cx="940158" cy="170701"/>
                </a:xfrm>
                <a:prstGeom prst="rect">
                  <a:avLst/>
                </a:prstGeom>
                <a:blipFill>
                  <a:blip r:embed="rId3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01815803-9169-452B-94A1-1B85E7EA7159}"/>
                    </a:ext>
                  </a:extLst>
                </p:cNvPr>
                <p:cNvSpPr/>
                <p:nvPr/>
              </p:nvSpPr>
              <p:spPr>
                <a:xfrm>
                  <a:off x="3097539" y="3943138"/>
                  <a:ext cx="940158" cy="170701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NI" sz="105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𝐺𝑙</m:t>
                        </m:r>
                        <m:r>
                          <a:rPr lang="es-NI" sz="1050" b="0" i="1" dirty="0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=15</m:t>
                        </m:r>
                      </m:oMath>
                    </m:oMathPara>
                  </a14:m>
                  <a:endParaRPr lang="es-NI" sz="1050" dirty="0"/>
                </a:p>
              </p:txBody>
            </p:sp>
          </mc:Choice>
          <mc:Fallback xmlns="">
            <p:sp>
              <p:nvSpPr>
                <p:cNvPr id="12" name="Rectángulo 11">
                  <a:extLst>
                    <a:ext uri="{FF2B5EF4-FFF2-40B4-BE49-F238E27FC236}">
                      <a16:creationId xmlns:a16="http://schemas.microsoft.com/office/drawing/2014/main" id="{01815803-9169-452B-94A1-1B85E7EA715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97539" y="3943138"/>
                  <a:ext cx="940158" cy="170701"/>
                </a:xfrm>
                <a:prstGeom prst="rect">
                  <a:avLst/>
                </a:prstGeom>
                <a:blipFill>
                  <a:blip r:embed="rId4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es-NI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5C5734A-7C6B-454D-9767-ED510F0E9495}"/>
              </a:ext>
            </a:extLst>
          </p:cNvPr>
          <p:cNvSpPr/>
          <p:nvPr/>
        </p:nvSpPr>
        <p:spPr>
          <a:xfrm>
            <a:off x="6867442" y="1843256"/>
            <a:ext cx="4999704" cy="455273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NI" sz="2800" dirty="0">
                <a:solidFill>
                  <a:schemeClr val="bg1">
                    <a:lumMod val="50000"/>
                  </a:schemeClr>
                </a:solidFill>
              </a:rPr>
              <a:t>Como vemos el valor donde se cruza los </a:t>
            </a:r>
            <a:r>
              <a:rPr lang="es-NI" sz="2800" u="sng" dirty="0">
                <a:solidFill>
                  <a:schemeClr val="bg1">
                    <a:lumMod val="50000"/>
                  </a:schemeClr>
                </a:solidFill>
              </a:rPr>
              <a:t>grados de libertad</a:t>
            </a:r>
            <a:r>
              <a:rPr lang="es-NI" sz="2800" dirty="0">
                <a:solidFill>
                  <a:schemeClr val="bg1">
                    <a:lumMod val="50000"/>
                  </a:schemeClr>
                </a:solidFill>
              </a:rPr>
              <a:t> con la </a:t>
            </a:r>
            <a:r>
              <a:rPr lang="es-NI" sz="2800" u="sng" dirty="0">
                <a:solidFill>
                  <a:schemeClr val="bg1">
                    <a:lumMod val="50000"/>
                  </a:schemeClr>
                </a:solidFill>
              </a:rPr>
              <a:t>significancia</a:t>
            </a:r>
            <a:r>
              <a:rPr lang="es-NI" sz="2800" dirty="0">
                <a:solidFill>
                  <a:schemeClr val="bg1">
                    <a:lumMod val="50000"/>
                  </a:schemeClr>
                </a:solidFill>
              </a:rPr>
              <a:t> equivale a </a:t>
            </a:r>
            <a:r>
              <a:rPr lang="es-NI" sz="2800" dirty="0">
                <a:solidFill>
                  <a:schemeClr val="tx1"/>
                </a:solidFill>
              </a:rPr>
              <a:t>2.6025</a:t>
            </a:r>
            <a:r>
              <a:rPr lang="es-NI" sz="2800" dirty="0">
                <a:solidFill>
                  <a:schemeClr val="bg1">
                    <a:lumMod val="50000"/>
                  </a:schemeClr>
                </a:solidFill>
              </a:rPr>
              <a:t>, por tanto ese es el valor que corresponde al </a:t>
            </a:r>
            <a:r>
              <a:rPr lang="es-NI" sz="2800" b="1" dirty="0">
                <a:solidFill>
                  <a:schemeClr val="bg1">
                    <a:lumMod val="50000"/>
                  </a:schemeClr>
                </a:solidFill>
              </a:rPr>
              <a:t>valor crítico</a:t>
            </a:r>
          </a:p>
        </p:txBody>
      </p:sp>
    </p:spTree>
    <p:extLst>
      <p:ext uri="{BB962C8B-B14F-4D97-AF65-F5344CB8AC3E}">
        <p14:creationId xmlns:p14="http://schemas.microsoft.com/office/powerpoint/2010/main" val="3618707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1026" name="Picture 2" descr="Distribución Normal | Descarga Gratis Planilla En Formato Excel">
            <a:extLst>
              <a:ext uri="{FF2B5EF4-FFF2-40B4-BE49-F238E27FC236}">
                <a16:creationId xmlns:a16="http://schemas.microsoft.com/office/drawing/2014/main" id="{337405D1-80D2-40DB-9D1E-E5DEBD309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4" y="1475874"/>
            <a:ext cx="8718551" cy="4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79368D5-DB87-4E32-9DE2-BFFF475EA53B}"/>
              </a:ext>
            </a:extLst>
          </p:cNvPr>
          <p:cNvCxnSpPr>
            <a:cxnSpLocks/>
          </p:cNvCxnSpPr>
          <p:nvPr/>
        </p:nvCxnSpPr>
        <p:spPr>
          <a:xfrm>
            <a:off x="4963886" y="3106057"/>
            <a:ext cx="0" cy="2960914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A7A5FF8-3AD6-4382-BDF8-624CF2D6CF2F}"/>
              </a:ext>
            </a:extLst>
          </p:cNvPr>
          <p:cNvCxnSpPr>
            <a:cxnSpLocks/>
          </p:cNvCxnSpPr>
          <p:nvPr/>
        </p:nvCxnSpPr>
        <p:spPr>
          <a:xfrm>
            <a:off x="7235371" y="3106057"/>
            <a:ext cx="0" cy="2960914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9CED50-D3AD-4233-8F02-F1FAF8281477}"/>
              </a:ext>
            </a:extLst>
          </p:cNvPr>
          <p:cNvSpPr/>
          <p:nvPr/>
        </p:nvSpPr>
        <p:spPr>
          <a:xfrm>
            <a:off x="4368210" y="6232421"/>
            <a:ext cx="1191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dirty="0"/>
              <a:t>- 2.6025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53F279D-01ED-4E7C-A704-80EDF44D5952}"/>
              </a:ext>
            </a:extLst>
          </p:cNvPr>
          <p:cNvSpPr/>
          <p:nvPr/>
        </p:nvSpPr>
        <p:spPr>
          <a:xfrm>
            <a:off x="6732669" y="6232421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dirty="0"/>
              <a:t>2.6025</a:t>
            </a:r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1BA1AA02-067C-469F-8864-8C890448F4FC}"/>
              </a:ext>
            </a:extLst>
          </p:cNvPr>
          <p:cNvSpPr/>
          <p:nvPr/>
        </p:nvSpPr>
        <p:spPr>
          <a:xfrm>
            <a:off x="4978400" y="1596571"/>
            <a:ext cx="2249750" cy="4484915"/>
          </a:xfrm>
          <a:custGeom>
            <a:avLst/>
            <a:gdLst>
              <a:gd name="connsiteX0" fmla="*/ 0 w 2249750"/>
              <a:gd name="connsiteY0" fmla="*/ 1567543 h 4484915"/>
              <a:gd name="connsiteX1" fmla="*/ 43543 w 2249750"/>
              <a:gd name="connsiteY1" fmla="*/ 1640115 h 4484915"/>
              <a:gd name="connsiteX2" fmla="*/ 43543 w 2249750"/>
              <a:gd name="connsiteY2" fmla="*/ 1886858 h 4484915"/>
              <a:gd name="connsiteX3" fmla="*/ 14514 w 2249750"/>
              <a:gd name="connsiteY3" fmla="*/ 2002972 h 4484915"/>
              <a:gd name="connsiteX4" fmla="*/ 29029 w 2249750"/>
              <a:gd name="connsiteY4" fmla="*/ 3788229 h 4484915"/>
              <a:gd name="connsiteX5" fmla="*/ 43543 w 2249750"/>
              <a:gd name="connsiteY5" fmla="*/ 4064000 h 4484915"/>
              <a:gd name="connsiteX6" fmla="*/ 58057 w 2249750"/>
              <a:gd name="connsiteY6" fmla="*/ 4412343 h 4484915"/>
              <a:gd name="connsiteX7" fmla="*/ 798286 w 2249750"/>
              <a:gd name="connsiteY7" fmla="*/ 4397829 h 4484915"/>
              <a:gd name="connsiteX8" fmla="*/ 841829 w 2249750"/>
              <a:gd name="connsiteY8" fmla="*/ 4383315 h 4484915"/>
              <a:gd name="connsiteX9" fmla="*/ 1001486 w 2249750"/>
              <a:gd name="connsiteY9" fmla="*/ 4397829 h 4484915"/>
              <a:gd name="connsiteX10" fmla="*/ 1103086 w 2249750"/>
              <a:gd name="connsiteY10" fmla="*/ 4412343 h 4484915"/>
              <a:gd name="connsiteX11" fmla="*/ 1291771 w 2249750"/>
              <a:gd name="connsiteY11" fmla="*/ 4455886 h 4484915"/>
              <a:gd name="connsiteX12" fmla="*/ 1349829 w 2249750"/>
              <a:gd name="connsiteY12" fmla="*/ 4484915 h 4484915"/>
              <a:gd name="connsiteX13" fmla="*/ 1553029 w 2249750"/>
              <a:gd name="connsiteY13" fmla="*/ 4470400 h 4484915"/>
              <a:gd name="connsiteX14" fmla="*/ 1712686 w 2249750"/>
              <a:gd name="connsiteY14" fmla="*/ 4426858 h 4484915"/>
              <a:gd name="connsiteX15" fmla="*/ 1799771 w 2249750"/>
              <a:gd name="connsiteY15" fmla="*/ 4412343 h 4484915"/>
              <a:gd name="connsiteX16" fmla="*/ 2046514 w 2249750"/>
              <a:gd name="connsiteY16" fmla="*/ 4426858 h 4484915"/>
              <a:gd name="connsiteX17" fmla="*/ 2119086 w 2249750"/>
              <a:gd name="connsiteY17" fmla="*/ 4441372 h 4484915"/>
              <a:gd name="connsiteX18" fmla="*/ 2220686 w 2249750"/>
              <a:gd name="connsiteY18" fmla="*/ 4426858 h 4484915"/>
              <a:gd name="connsiteX19" fmla="*/ 2191657 w 2249750"/>
              <a:gd name="connsiteY19" fmla="*/ 3164115 h 4484915"/>
              <a:gd name="connsiteX20" fmla="*/ 2177143 w 2249750"/>
              <a:gd name="connsiteY20" fmla="*/ 3120572 h 4484915"/>
              <a:gd name="connsiteX21" fmla="*/ 2177143 w 2249750"/>
              <a:gd name="connsiteY21" fmla="*/ 2540000 h 4484915"/>
              <a:gd name="connsiteX22" fmla="*/ 2206171 w 2249750"/>
              <a:gd name="connsiteY22" fmla="*/ 2409372 h 4484915"/>
              <a:gd name="connsiteX23" fmla="*/ 2235200 w 2249750"/>
              <a:gd name="connsiteY23" fmla="*/ 2365829 h 4484915"/>
              <a:gd name="connsiteX24" fmla="*/ 2220686 w 2249750"/>
              <a:gd name="connsiteY24" fmla="*/ 2075543 h 4484915"/>
              <a:gd name="connsiteX25" fmla="*/ 2191657 w 2249750"/>
              <a:gd name="connsiteY25" fmla="*/ 1973943 h 4484915"/>
              <a:gd name="connsiteX26" fmla="*/ 2177143 w 2249750"/>
              <a:gd name="connsiteY26" fmla="*/ 1509486 h 4484915"/>
              <a:gd name="connsiteX27" fmla="*/ 2119086 w 2249750"/>
              <a:gd name="connsiteY27" fmla="*/ 1422400 h 4484915"/>
              <a:gd name="connsiteX28" fmla="*/ 2090057 w 2249750"/>
              <a:gd name="connsiteY28" fmla="*/ 1364343 h 4484915"/>
              <a:gd name="connsiteX29" fmla="*/ 2046514 w 2249750"/>
              <a:gd name="connsiteY29" fmla="*/ 1219200 h 4484915"/>
              <a:gd name="connsiteX30" fmla="*/ 2032000 w 2249750"/>
              <a:gd name="connsiteY30" fmla="*/ 1175658 h 4484915"/>
              <a:gd name="connsiteX31" fmla="*/ 2017486 w 2249750"/>
              <a:gd name="connsiteY31" fmla="*/ 1117600 h 4484915"/>
              <a:gd name="connsiteX32" fmla="*/ 1988457 w 2249750"/>
              <a:gd name="connsiteY32" fmla="*/ 1030515 h 4484915"/>
              <a:gd name="connsiteX33" fmla="*/ 1944914 w 2249750"/>
              <a:gd name="connsiteY33" fmla="*/ 914400 h 4484915"/>
              <a:gd name="connsiteX34" fmla="*/ 1901371 w 2249750"/>
              <a:gd name="connsiteY34" fmla="*/ 812800 h 4484915"/>
              <a:gd name="connsiteX35" fmla="*/ 1843314 w 2249750"/>
              <a:gd name="connsiteY35" fmla="*/ 783772 h 4484915"/>
              <a:gd name="connsiteX36" fmla="*/ 1814286 w 2249750"/>
              <a:gd name="connsiteY36" fmla="*/ 725715 h 4484915"/>
              <a:gd name="connsiteX37" fmla="*/ 1770743 w 2249750"/>
              <a:gd name="connsiteY37" fmla="*/ 711200 h 4484915"/>
              <a:gd name="connsiteX38" fmla="*/ 1727200 w 2249750"/>
              <a:gd name="connsiteY38" fmla="*/ 667658 h 4484915"/>
              <a:gd name="connsiteX39" fmla="*/ 1683657 w 2249750"/>
              <a:gd name="connsiteY39" fmla="*/ 638629 h 4484915"/>
              <a:gd name="connsiteX40" fmla="*/ 1640114 w 2249750"/>
              <a:gd name="connsiteY40" fmla="*/ 551543 h 4484915"/>
              <a:gd name="connsiteX41" fmla="*/ 1625600 w 2249750"/>
              <a:gd name="connsiteY41" fmla="*/ 508000 h 4484915"/>
              <a:gd name="connsiteX42" fmla="*/ 1596571 w 2249750"/>
              <a:gd name="connsiteY42" fmla="*/ 449943 h 4484915"/>
              <a:gd name="connsiteX43" fmla="*/ 1553029 w 2249750"/>
              <a:gd name="connsiteY43" fmla="*/ 362858 h 4484915"/>
              <a:gd name="connsiteX44" fmla="*/ 1509486 w 2249750"/>
              <a:gd name="connsiteY44" fmla="*/ 203200 h 4484915"/>
              <a:gd name="connsiteX45" fmla="*/ 1480457 w 2249750"/>
              <a:gd name="connsiteY45" fmla="*/ 159658 h 4484915"/>
              <a:gd name="connsiteX46" fmla="*/ 1393371 w 2249750"/>
              <a:gd name="connsiteY46" fmla="*/ 101600 h 4484915"/>
              <a:gd name="connsiteX47" fmla="*/ 1349829 w 2249750"/>
              <a:gd name="connsiteY47" fmla="*/ 58058 h 4484915"/>
              <a:gd name="connsiteX48" fmla="*/ 1262743 w 2249750"/>
              <a:gd name="connsiteY48" fmla="*/ 0 h 4484915"/>
              <a:gd name="connsiteX49" fmla="*/ 1030514 w 2249750"/>
              <a:gd name="connsiteY49" fmla="*/ 14515 h 4484915"/>
              <a:gd name="connsiteX50" fmla="*/ 986971 w 2249750"/>
              <a:gd name="connsiteY50" fmla="*/ 29029 h 4484915"/>
              <a:gd name="connsiteX51" fmla="*/ 885371 w 2249750"/>
              <a:gd name="connsiteY51" fmla="*/ 87086 h 4484915"/>
              <a:gd name="connsiteX52" fmla="*/ 856343 w 2249750"/>
              <a:gd name="connsiteY52" fmla="*/ 130629 h 4484915"/>
              <a:gd name="connsiteX53" fmla="*/ 769257 w 2249750"/>
              <a:gd name="connsiteY53" fmla="*/ 203200 h 4484915"/>
              <a:gd name="connsiteX54" fmla="*/ 711200 w 2249750"/>
              <a:gd name="connsiteY54" fmla="*/ 261258 h 4484915"/>
              <a:gd name="connsiteX55" fmla="*/ 696686 w 2249750"/>
              <a:gd name="connsiteY55" fmla="*/ 304800 h 4484915"/>
              <a:gd name="connsiteX56" fmla="*/ 653143 w 2249750"/>
              <a:gd name="connsiteY56" fmla="*/ 348343 h 4484915"/>
              <a:gd name="connsiteX57" fmla="*/ 551543 w 2249750"/>
              <a:gd name="connsiteY57" fmla="*/ 478972 h 4484915"/>
              <a:gd name="connsiteX58" fmla="*/ 508000 w 2249750"/>
              <a:gd name="connsiteY58" fmla="*/ 566058 h 4484915"/>
              <a:gd name="connsiteX59" fmla="*/ 449943 w 2249750"/>
              <a:gd name="connsiteY59" fmla="*/ 667658 h 4484915"/>
              <a:gd name="connsiteX60" fmla="*/ 377371 w 2249750"/>
              <a:gd name="connsiteY60" fmla="*/ 798286 h 4484915"/>
              <a:gd name="connsiteX61" fmla="*/ 348343 w 2249750"/>
              <a:gd name="connsiteY61" fmla="*/ 856343 h 4484915"/>
              <a:gd name="connsiteX62" fmla="*/ 290286 w 2249750"/>
              <a:gd name="connsiteY62" fmla="*/ 943429 h 4484915"/>
              <a:gd name="connsiteX63" fmla="*/ 203200 w 2249750"/>
              <a:gd name="connsiteY63" fmla="*/ 1074058 h 4484915"/>
              <a:gd name="connsiteX64" fmla="*/ 145143 w 2249750"/>
              <a:gd name="connsiteY64" fmla="*/ 1161143 h 4484915"/>
              <a:gd name="connsiteX65" fmla="*/ 116114 w 2249750"/>
              <a:gd name="connsiteY65" fmla="*/ 1219200 h 4484915"/>
              <a:gd name="connsiteX66" fmla="*/ 101600 w 2249750"/>
              <a:gd name="connsiteY66" fmla="*/ 1291772 h 4484915"/>
              <a:gd name="connsiteX67" fmla="*/ 87086 w 2249750"/>
              <a:gd name="connsiteY67" fmla="*/ 1393372 h 4484915"/>
              <a:gd name="connsiteX68" fmla="*/ 43543 w 2249750"/>
              <a:gd name="connsiteY68" fmla="*/ 1436915 h 4484915"/>
              <a:gd name="connsiteX69" fmla="*/ 14514 w 2249750"/>
              <a:gd name="connsiteY69" fmla="*/ 1494972 h 4484915"/>
              <a:gd name="connsiteX70" fmla="*/ 58057 w 2249750"/>
              <a:gd name="connsiteY70" fmla="*/ 1654629 h 4484915"/>
              <a:gd name="connsiteX71" fmla="*/ 87086 w 2249750"/>
              <a:gd name="connsiteY71" fmla="*/ 1654629 h 448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249750" h="4484915">
                <a:moveTo>
                  <a:pt x="0" y="1567543"/>
                </a:moveTo>
                <a:cubicBezTo>
                  <a:pt x="14514" y="1591734"/>
                  <a:pt x="30927" y="1614882"/>
                  <a:pt x="43543" y="1640115"/>
                </a:cubicBezTo>
                <a:cubicBezTo>
                  <a:pt x="80875" y="1714780"/>
                  <a:pt x="53179" y="1816197"/>
                  <a:pt x="43543" y="1886858"/>
                </a:cubicBezTo>
                <a:cubicBezTo>
                  <a:pt x="38153" y="1926388"/>
                  <a:pt x="14514" y="2002972"/>
                  <a:pt x="14514" y="2002972"/>
                </a:cubicBezTo>
                <a:cubicBezTo>
                  <a:pt x="19352" y="2598058"/>
                  <a:pt x="20648" y="3193183"/>
                  <a:pt x="29029" y="3788229"/>
                </a:cubicBezTo>
                <a:cubicBezTo>
                  <a:pt x="30325" y="3880271"/>
                  <a:pt x="39266" y="3972049"/>
                  <a:pt x="43543" y="4064000"/>
                </a:cubicBezTo>
                <a:cubicBezTo>
                  <a:pt x="48942" y="4180090"/>
                  <a:pt x="53219" y="4296229"/>
                  <a:pt x="58057" y="4412343"/>
                </a:cubicBezTo>
                <a:lnTo>
                  <a:pt x="798286" y="4397829"/>
                </a:lnTo>
                <a:cubicBezTo>
                  <a:pt x="813575" y="4397263"/>
                  <a:pt x="826530" y="4383315"/>
                  <a:pt x="841829" y="4383315"/>
                </a:cubicBezTo>
                <a:cubicBezTo>
                  <a:pt x="895267" y="4383315"/>
                  <a:pt x="948374" y="4391928"/>
                  <a:pt x="1001486" y="4397829"/>
                </a:cubicBezTo>
                <a:cubicBezTo>
                  <a:pt x="1035487" y="4401607"/>
                  <a:pt x="1069396" y="4406398"/>
                  <a:pt x="1103086" y="4412343"/>
                </a:cubicBezTo>
                <a:cubicBezTo>
                  <a:pt x="1138207" y="4418541"/>
                  <a:pt x="1240189" y="4433779"/>
                  <a:pt x="1291771" y="4455886"/>
                </a:cubicBezTo>
                <a:cubicBezTo>
                  <a:pt x="1311658" y="4464409"/>
                  <a:pt x="1330476" y="4475239"/>
                  <a:pt x="1349829" y="4484915"/>
                </a:cubicBezTo>
                <a:cubicBezTo>
                  <a:pt x="1417562" y="4480077"/>
                  <a:pt x="1485496" y="4477509"/>
                  <a:pt x="1553029" y="4470400"/>
                </a:cubicBezTo>
                <a:cubicBezTo>
                  <a:pt x="1739102" y="4450813"/>
                  <a:pt x="1498630" y="4462536"/>
                  <a:pt x="1712686" y="4426858"/>
                </a:cubicBezTo>
                <a:lnTo>
                  <a:pt x="1799771" y="4412343"/>
                </a:lnTo>
                <a:cubicBezTo>
                  <a:pt x="1882019" y="4417181"/>
                  <a:pt x="1964463" y="4419399"/>
                  <a:pt x="2046514" y="4426858"/>
                </a:cubicBezTo>
                <a:cubicBezTo>
                  <a:pt x="2071082" y="4429092"/>
                  <a:pt x="2094416" y="4441372"/>
                  <a:pt x="2119086" y="4441372"/>
                </a:cubicBezTo>
                <a:cubicBezTo>
                  <a:pt x="2153296" y="4441372"/>
                  <a:pt x="2186819" y="4431696"/>
                  <a:pt x="2220686" y="4426858"/>
                </a:cubicBezTo>
                <a:cubicBezTo>
                  <a:pt x="2220101" y="4378336"/>
                  <a:pt x="2302866" y="3553353"/>
                  <a:pt x="2191657" y="3164115"/>
                </a:cubicBezTo>
                <a:cubicBezTo>
                  <a:pt x="2187454" y="3149404"/>
                  <a:pt x="2181981" y="3135086"/>
                  <a:pt x="2177143" y="3120572"/>
                </a:cubicBezTo>
                <a:cubicBezTo>
                  <a:pt x="2141833" y="2873400"/>
                  <a:pt x="2153220" y="2994553"/>
                  <a:pt x="2177143" y="2540000"/>
                </a:cubicBezTo>
                <a:cubicBezTo>
                  <a:pt x="2177556" y="2532148"/>
                  <a:pt x="2200239" y="2423213"/>
                  <a:pt x="2206171" y="2409372"/>
                </a:cubicBezTo>
                <a:cubicBezTo>
                  <a:pt x="2213043" y="2393338"/>
                  <a:pt x="2225524" y="2380343"/>
                  <a:pt x="2235200" y="2365829"/>
                </a:cubicBezTo>
                <a:cubicBezTo>
                  <a:pt x="2230362" y="2269067"/>
                  <a:pt x="2228732" y="2172091"/>
                  <a:pt x="2220686" y="2075543"/>
                </a:cubicBezTo>
                <a:cubicBezTo>
                  <a:pt x="2218661" y="2051248"/>
                  <a:pt x="2200053" y="1999132"/>
                  <a:pt x="2191657" y="1973943"/>
                </a:cubicBezTo>
                <a:cubicBezTo>
                  <a:pt x="2186819" y="1819124"/>
                  <a:pt x="2197350" y="1663057"/>
                  <a:pt x="2177143" y="1509486"/>
                </a:cubicBezTo>
                <a:cubicBezTo>
                  <a:pt x="2172592" y="1474896"/>
                  <a:pt x="2134689" y="1453605"/>
                  <a:pt x="2119086" y="1422400"/>
                </a:cubicBezTo>
                <a:cubicBezTo>
                  <a:pt x="2109410" y="1403048"/>
                  <a:pt x="2098093" y="1384432"/>
                  <a:pt x="2090057" y="1364343"/>
                </a:cubicBezTo>
                <a:cubicBezTo>
                  <a:pt x="2055569" y="1278124"/>
                  <a:pt x="2067897" y="1294041"/>
                  <a:pt x="2046514" y="1219200"/>
                </a:cubicBezTo>
                <a:cubicBezTo>
                  <a:pt x="2042311" y="1204490"/>
                  <a:pt x="2036203" y="1190368"/>
                  <a:pt x="2032000" y="1175658"/>
                </a:cubicBezTo>
                <a:cubicBezTo>
                  <a:pt x="2026520" y="1156477"/>
                  <a:pt x="2023218" y="1136707"/>
                  <a:pt x="2017486" y="1117600"/>
                </a:cubicBezTo>
                <a:cubicBezTo>
                  <a:pt x="2008694" y="1088292"/>
                  <a:pt x="1994458" y="1060519"/>
                  <a:pt x="1988457" y="1030515"/>
                </a:cubicBezTo>
                <a:cubicBezTo>
                  <a:pt x="1970522" y="940838"/>
                  <a:pt x="1987627" y="978469"/>
                  <a:pt x="1944914" y="914400"/>
                </a:cubicBezTo>
                <a:cubicBezTo>
                  <a:pt x="1936240" y="888377"/>
                  <a:pt x="1919306" y="830735"/>
                  <a:pt x="1901371" y="812800"/>
                </a:cubicBezTo>
                <a:cubicBezTo>
                  <a:pt x="1886072" y="797501"/>
                  <a:pt x="1862666" y="793448"/>
                  <a:pt x="1843314" y="783772"/>
                </a:cubicBezTo>
                <a:cubicBezTo>
                  <a:pt x="1833638" y="764420"/>
                  <a:pt x="1829585" y="741014"/>
                  <a:pt x="1814286" y="725715"/>
                </a:cubicBezTo>
                <a:cubicBezTo>
                  <a:pt x="1803468" y="714897"/>
                  <a:pt x="1783473" y="719687"/>
                  <a:pt x="1770743" y="711200"/>
                </a:cubicBezTo>
                <a:cubicBezTo>
                  <a:pt x="1753664" y="699814"/>
                  <a:pt x="1742969" y="680798"/>
                  <a:pt x="1727200" y="667658"/>
                </a:cubicBezTo>
                <a:cubicBezTo>
                  <a:pt x="1713799" y="656491"/>
                  <a:pt x="1698171" y="648305"/>
                  <a:pt x="1683657" y="638629"/>
                </a:cubicBezTo>
                <a:cubicBezTo>
                  <a:pt x="1647176" y="529183"/>
                  <a:pt x="1696387" y="664089"/>
                  <a:pt x="1640114" y="551543"/>
                </a:cubicBezTo>
                <a:cubicBezTo>
                  <a:pt x="1633272" y="537859"/>
                  <a:pt x="1631627" y="522062"/>
                  <a:pt x="1625600" y="508000"/>
                </a:cubicBezTo>
                <a:cubicBezTo>
                  <a:pt x="1617077" y="488113"/>
                  <a:pt x="1607306" y="468729"/>
                  <a:pt x="1596571" y="449943"/>
                </a:cubicBezTo>
                <a:cubicBezTo>
                  <a:pt x="1565039" y="394762"/>
                  <a:pt x="1567813" y="421992"/>
                  <a:pt x="1553029" y="362858"/>
                </a:cubicBezTo>
                <a:cubicBezTo>
                  <a:pt x="1542125" y="319242"/>
                  <a:pt x="1534393" y="240559"/>
                  <a:pt x="1509486" y="203200"/>
                </a:cubicBezTo>
                <a:cubicBezTo>
                  <a:pt x="1499810" y="188686"/>
                  <a:pt x="1493585" y="171145"/>
                  <a:pt x="1480457" y="159658"/>
                </a:cubicBezTo>
                <a:cubicBezTo>
                  <a:pt x="1454201" y="136684"/>
                  <a:pt x="1418041" y="126270"/>
                  <a:pt x="1393371" y="101600"/>
                </a:cubicBezTo>
                <a:cubicBezTo>
                  <a:pt x="1378857" y="87086"/>
                  <a:pt x="1366031" y="70660"/>
                  <a:pt x="1349829" y="58058"/>
                </a:cubicBezTo>
                <a:cubicBezTo>
                  <a:pt x="1322290" y="36639"/>
                  <a:pt x="1262743" y="0"/>
                  <a:pt x="1262743" y="0"/>
                </a:cubicBezTo>
                <a:cubicBezTo>
                  <a:pt x="1185333" y="4838"/>
                  <a:pt x="1107649" y="6395"/>
                  <a:pt x="1030514" y="14515"/>
                </a:cubicBezTo>
                <a:cubicBezTo>
                  <a:pt x="1015299" y="16117"/>
                  <a:pt x="1001033" y="23002"/>
                  <a:pt x="986971" y="29029"/>
                </a:cubicBezTo>
                <a:cubicBezTo>
                  <a:pt x="935413" y="51125"/>
                  <a:pt x="929098" y="57935"/>
                  <a:pt x="885371" y="87086"/>
                </a:cubicBezTo>
                <a:cubicBezTo>
                  <a:pt x="875695" y="101600"/>
                  <a:pt x="867510" y="117228"/>
                  <a:pt x="856343" y="130629"/>
                </a:cubicBezTo>
                <a:cubicBezTo>
                  <a:pt x="821420" y="172538"/>
                  <a:pt x="812072" y="174658"/>
                  <a:pt x="769257" y="203200"/>
                </a:cubicBezTo>
                <a:cubicBezTo>
                  <a:pt x="730554" y="319312"/>
                  <a:pt x="788609" y="183849"/>
                  <a:pt x="711200" y="261258"/>
                </a:cubicBezTo>
                <a:cubicBezTo>
                  <a:pt x="700382" y="272076"/>
                  <a:pt x="705172" y="292070"/>
                  <a:pt x="696686" y="304800"/>
                </a:cubicBezTo>
                <a:cubicBezTo>
                  <a:pt x="685300" y="321879"/>
                  <a:pt x="665745" y="332140"/>
                  <a:pt x="653143" y="348343"/>
                </a:cubicBezTo>
                <a:cubicBezTo>
                  <a:pt x="531618" y="504590"/>
                  <a:pt x="650398" y="380117"/>
                  <a:pt x="551543" y="478972"/>
                </a:cubicBezTo>
                <a:cubicBezTo>
                  <a:pt x="515063" y="588415"/>
                  <a:pt x="564272" y="453516"/>
                  <a:pt x="508000" y="566058"/>
                </a:cubicBezTo>
                <a:cubicBezTo>
                  <a:pt x="452588" y="676881"/>
                  <a:pt x="555237" y="527264"/>
                  <a:pt x="449943" y="667658"/>
                </a:cubicBezTo>
                <a:cubicBezTo>
                  <a:pt x="409804" y="788075"/>
                  <a:pt x="477192" y="598640"/>
                  <a:pt x="377371" y="798286"/>
                </a:cubicBezTo>
                <a:cubicBezTo>
                  <a:pt x="367695" y="817638"/>
                  <a:pt x="359475" y="837790"/>
                  <a:pt x="348343" y="856343"/>
                </a:cubicBezTo>
                <a:cubicBezTo>
                  <a:pt x="330393" y="886259"/>
                  <a:pt x="309638" y="914400"/>
                  <a:pt x="290286" y="943429"/>
                </a:cubicBezTo>
                <a:lnTo>
                  <a:pt x="203200" y="1074058"/>
                </a:lnTo>
                <a:lnTo>
                  <a:pt x="145143" y="1161143"/>
                </a:lnTo>
                <a:lnTo>
                  <a:pt x="116114" y="1219200"/>
                </a:lnTo>
                <a:cubicBezTo>
                  <a:pt x="111276" y="1243391"/>
                  <a:pt x="105656" y="1267438"/>
                  <a:pt x="101600" y="1291772"/>
                </a:cubicBezTo>
                <a:cubicBezTo>
                  <a:pt x="95976" y="1325517"/>
                  <a:pt x="99791" y="1361608"/>
                  <a:pt x="87086" y="1393372"/>
                </a:cubicBezTo>
                <a:cubicBezTo>
                  <a:pt x="79463" y="1412430"/>
                  <a:pt x="55474" y="1420212"/>
                  <a:pt x="43543" y="1436915"/>
                </a:cubicBezTo>
                <a:cubicBezTo>
                  <a:pt x="30967" y="1454521"/>
                  <a:pt x="24190" y="1475620"/>
                  <a:pt x="14514" y="1494972"/>
                </a:cubicBezTo>
                <a:cubicBezTo>
                  <a:pt x="19472" y="1534635"/>
                  <a:pt x="12634" y="1620562"/>
                  <a:pt x="58057" y="1654629"/>
                </a:cubicBezTo>
                <a:cubicBezTo>
                  <a:pt x="65798" y="1660435"/>
                  <a:pt x="77410" y="1654629"/>
                  <a:pt x="87086" y="1654629"/>
                </a:cubicBezTo>
              </a:path>
            </a:pathLst>
          </a:cu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Región de aceptación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BB3E65-050D-41CC-B726-D5B67086F8E1}"/>
              </a:ext>
            </a:extLst>
          </p:cNvPr>
          <p:cNvSpPr/>
          <p:nvPr/>
        </p:nvSpPr>
        <p:spPr>
          <a:xfrm>
            <a:off x="7579307" y="3063525"/>
            <a:ext cx="39068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NI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Región de rechazo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FEB0C46-2A01-4A87-A6D2-CF3DA80D7DB0}"/>
              </a:ext>
            </a:extLst>
          </p:cNvPr>
          <p:cNvSpPr/>
          <p:nvPr/>
        </p:nvSpPr>
        <p:spPr>
          <a:xfrm>
            <a:off x="621435" y="3315808"/>
            <a:ext cx="39068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NI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Región de rechazo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0FCF8F3-154C-42A9-BF88-99C974C345D4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2574855" y="3839028"/>
            <a:ext cx="1775088" cy="154309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DA17BE0-59FF-4E21-B421-4F96C8D6E727}"/>
              </a:ext>
            </a:extLst>
          </p:cNvPr>
          <p:cNvCxnSpPr>
            <a:cxnSpLocks/>
            <a:stCxn id="1026" idx="3"/>
          </p:cNvCxnSpPr>
          <p:nvPr/>
        </p:nvCxnSpPr>
        <p:spPr>
          <a:xfrm flipH="1">
            <a:off x="8244114" y="3973116"/>
            <a:ext cx="2211161" cy="154179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9940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10914" y="1475874"/>
                <a:ext cx="10760243" cy="5105231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</a:rPr>
                  <a:t>Paso 3: Calculamos el estadístico de prueba</a:t>
                </a:r>
              </a:p>
              <a:p>
                <a:pPr marL="0" indent="0" algn="just">
                  <a:buNone/>
                </a:pPr>
                <a:endParaRPr lang="es-NI" sz="24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14:m>
                  <m:oMath xmlns:m="http://schemas.openxmlformats.org/officeDocument/2006/math">
                    <m:r>
                      <a:rPr lang="es-NI" sz="240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NI" sz="2400" i="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24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s-NI" sz="2400" i="0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s-NI" sz="24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  <m:r>
                      <a:rPr lang="es-NI" sz="2400" b="0" i="1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	 </a:t>
                </a:r>
                <a14:m>
                  <m:oMath xmlns:m="http://schemas.openxmlformats.org/officeDocument/2006/math">
                    <m:r>
                      <a:rPr lang="es-NI" sz="24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NI" sz="2400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NI" sz="24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NI" sz="240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NI" sz="2400" b="0" i="0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27.5</m:t>
                            </m:r>
                            <m:r>
                              <a:rPr lang="es-NI" sz="2400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NI" sz="2400" b="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s-NI" sz="2400" b="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s-NI" sz="2400" i="1" dirty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s-NI" sz="2400" i="1" dirty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NI" sz="2400" b="0" i="1" dirty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rad>
                      </m:e>
                    </m:d>
                    <m:r>
                      <a:rPr lang="es-NI" sz="2400" i="1" dirty="0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= 2</a:t>
                </a:r>
              </a:p>
              <a:p>
                <a:pPr marL="0" indent="0" algn="just">
                  <a:buNone/>
                </a:pPr>
                <a:endParaRPr lang="es-NI" sz="2400" dirty="0">
                  <a:solidFill>
                    <a:schemeClr val="bg1">
                      <a:lumMod val="50000"/>
                    </a:schemeClr>
                  </a:solidFill>
                </a:endParaRPr>
              </a:p>
              <a:p>
                <a:pPr marL="0" indent="0" algn="just">
                  <a:buNone/>
                </a:pPr>
                <a:r>
                  <a:rPr lang="es-NI" sz="2400" b="1" dirty="0">
                    <a:solidFill>
                      <a:schemeClr val="bg1">
                        <a:lumMod val="50000"/>
                      </a:schemeClr>
                    </a:solidFill>
                  </a:rPr>
                  <a:t>Paso 4: Verificar si se debe aceptar o rechazar la hipótesis nula</a:t>
                </a:r>
              </a:p>
              <a:p>
                <a:pPr marL="0" indent="0" algn="just">
                  <a:buNone/>
                </a:pPr>
                <a:r>
                  <a:rPr lang="es-NI" sz="2400" dirty="0">
                    <a:solidFill>
                      <a:schemeClr val="bg1">
                        <a:lumMod val="50000"/>
                      </a:schemeClr>
                    </a:solidFill>
                  </a:rPr>
                  <a:t>Para este paso debemos ubicar el valor de t en la gráfica del paso 2, y revisar si está en la zona de aceptación o en la de rechazo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5B6E74D-04B0-44F9-AE63-72D3E0495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10914" y="1475874"/>
                <a:ext cx="10760243" cy="5105231"/>
              </a:xfrm>
              <a:blipFill>
                <a:blip r:embed="rId2"/>
                <a:stretch>
                  <a:fillRect l="-850" t="-1671" r="-907"/>
                </a:stretch>
              </a:blipFill>
            </p:spPr>
            <p:txBody>
              <a:bodyPr/>
              <a:lstStyle/>
              <a:p>
                <a:r>
                  <a:rPr lang="es-NI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013288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pic>
        <p:nvPicPr>
          <p:cNvPr id="1026" name="Picture 2" descr="Distribución Normal | Descarga Gratis Planilla En Formato Excel">
            <a:extLst>
              <a:ext uri="{FF2B5EF4-FFF2-40B4-BE49-F238E27FC236}">
                <a16:creationId xmlns:a16="http://schemas.microsoft.com/office/drawing/2014/main" id="{337405D1-80D2-40DB-9D1E-E5DEBD309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724" y="1475874"/>
            <a:ext cx="8718551" cy="4994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79368D5-DB87-4E32-9DE2-BFFF475EA53B}"/>
              </a:ext>
            </a:extLst>
          </p:cNvPr>
          <p:cNvCxnSpPr>
            <a:cxnSpLocks/>
          </p:cNvCxnSpPr>
          <p:nvPr/>
        </p:nvCxnSpPr>
        <p:spPr>
          <a:xfrm>
            <a:off x="4963886" y="3106057"/>
            <a:ext cx="0" cy="2960914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DA7A5FF8-3AD6-4382-BDF8-624CF2D6CF2F}"/>
              </a:ext>
            </a:extLst>
          </p:cNvPr>
          <p:cNvCxnSpPr>
            <a:cxnSpLocks/>
          </p:cNvCxnSpPr>
          <p:nvPr/>
        </p:nvCxnSpPr>
        <p:spPr>
          <a:xfrm>
            <a:off x="7235371" y="3106057"/>
            <a:ext cx="0" cy="2960914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D9CED50-D3AD-4233-8F02-F1FAF8281477}"/>
              </a:ext>
            </a:extLst>
          </p:cNvPr>
          <p:cNvSpPr/>
          <p:nvPr/>
        </p:nvSpPr>
        <p:spPr>
          <a:xfrm>
            <a:off x="4368210" y="6232421"/>
            <a:ext cx="1191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dirty="0"/>
              <a:t>- 2.6025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253F279D-01ED-4E7C-A704-80EDF44D5952}"/>
              </a:ext>
            </a:extLst>
          </p:cNvPr>
          <p:cNvSpPr/>
          <p:nvPr/>
        </p:nvSpPr>
        <p:spPr>
          <a:xfrm>
            <a:off x="7185645" y="6026649"/>
            <a:ext cx="10054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dirty="0"/>
              <a:t>2.6025</a:t>
            </a:r>
          </a:p>
        </p:txBody>
      </p:sp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1BA1AA02-067C-469F-8864-8C890448F4FC}"/>
              </a:ext>
            </a:extLst>
          </p:cNvPr>
          <p:cNvSpPr/>
          <p:nvPr/>
        </p:nvSpPr>
        <p:spPr>
          <a:xfrm>
            <a:off x="4978400" y="1596571"/>
            <a:ext cx="2249750" cy="4484915"/>
          </a:xfrm>
          <a:custGeom>
            <a:avLst/>
            <a:gdLst>
              <a:gd name="connsiteX0" fmla="*/ 0 w 2249750"/>
              <a:gd name="connsiteY0" fmla="*/ 1567543 h 4484915"/>
              <a:gd name="connsiteX1" fmla="*/ 43543 w 2249750"/>
              <a:gd name="connsiteY1" fmla="*/ 1640115 h 4484915"/>
              <a:gd name="connsiteX2" fmla="*/ 43543 w 2249750"/>
              <a:gd name="connsiteY2" fmla="*/ 1886858 h 4484915"/>
              <a:gd name="connsiteX3" fmla="*/ 14514 w 2249750"/>
              <a:gd name="connsiteY3" fmla="*/ 2002972 h 4484915"/>
              <a:gd name="connsiteX4" fmla="*/ 29029 w 2249750"/>
              <a:gd name="connsiteY4" fmla="*/ 3788229 h 4484915"/>
              <a:gd name="connsiteX5" fmla="*/ 43543 w 2249750"/>
              <a:gd name="connsiteY5" fmla="*/ 4064000 h 4484915"/>
              <a:gd name="connsiteX6" fmla="*/ 58057 w 2249750"/>
              <a:gd name="connsiteY6" fmla="*/ 4412343 h 4484915"/>
              <a:gd name="connsiteX7" fmla="*/ 798286 w 2249750"/>
              <a:gd name="connsiteY7" fmla="*/ 4397829 h 4484915"/>
              <a:gd name="connsiteX8" fmla="*/ 841829 w 2249750"/>
              <a:gd name="connsiteY8" fmla="*/ 4383315 h 4484915"/>
              <a:gd name="connsiteX9" fmla="*/ 1001486 w 2249750"/>
              <a:gd name="connsiteY9" fmla="*/ 4397829 h 4484915"/>
              <a:gd name="connsiteX10" fmla="*/ 1103086 w 2249750"/>
              <a:gd name="connsiteY10" fmla="*/ 4412343 h 4484915"/>
              <a:gd name="connsiteX11" fmla="*/ 1291771 w 2249750"/>
              <a:gd name="connsiteY11" fmla="*/ 4455886 h 4484915"/>
              <a:gd name="connsiteX12" fmla="*/ 1349829 w 2249750"/>
              <a:gd name="connsiteY12" fmla="*/ 4484915 h 4484915"/>
              <a:gd name="connsiteX13" fmla="*/ 1553029 w 2249750"/>
              <a:gd name="connsiteY13" fmla="*/ 4470400 h 4484915"/>
              <a:gd name="connsiteX14" fmla="*/ 1712686 w 2249750"/>
              <a:gd name="connsiteY14" fmla="*/ 4426858 h 4484915"/>
              <a:gd name="connsiteX15" fmla="*/ 1799771 w 2249750"/>
              <a:gd name="connsiteY15" fmla="*/ 4412343 h 4484915"/>
              <a:gd name="connsiteX16" fmla="*/ 2046514 w 2249750"/>
              <a:gd name="connsiteY16" fmla="*/ 4426858 h 4484915"/>
              <a:gd name="connsiteX17" fmla="*/ 2119086 w 2249750"/>
              <a:gd name="connsiteY17" fmla="*/ 4441372 h 4484915"/>
              <a:gd name="connsiteX18" fmla="*/ 2220686 w 2249750"/>
              <a:gd name="connsiteY18" fmla="*/ 4426858 h 4484915"/>
              <a:gd name="connsiteX19" fmla="*/ 2191657 w 2249750"/>
              <a:gd name="connsiteY19" fmla="*/ 3164115 h 4484915"/>
              <a:gd name="connsiteX20" fmla="*/ 2177143 w 2249750"/>
              <a:gd name="connsiteY20" fmla="*/ 3120572 h 4484915"/>
              <a:gd name="connsiteX21" fmla="*/ 2177143 w 2249750"/>
              <a:gd name="connsiteY21" fmla="*/ 2540000 h 4484915"/>
              <a:gd name="connsiteX22" fmla="*/ 2206171 w 2249750"/>
              <a:gd name="connsiteY22" fmla="*/ 2409372 h 4484915"/>
              <a:gd name="connsiteX23" fmla="*/ 2235200 w 2249750"/>
              <a:gd name="connsiteY23" fmla="*/ 2365829 h 4484915"/>
              <a:gd name="connsiteX24" fmla="*/ 2220686 w 2249750"/>
              <a:gd name="connsiteY24" fmla="*/ 2075543 h 4484915"/>
              <a:gd name="connsiteX25" fmla="*/ 2191657 w 2249750"/>
              <a:gd name="connsiteY25" fmla="*/ 1973943 h 4484915"/>
              <a:gd name="connsiteX26" fmla="*/ 2177143 w 2249750"/>
              <a:gd name="connsiteY26" fmla="*/ 1509486 h 4484915"/>
              <a:gd name="connsiteX27" fmla="*/ 2119086 w 2249750"/>
              <a:gd name="connsiteY27" fmla="*/ 1422400 h 4484915"/>
              <a:gd name="connsiteX28" fmla="*/ 2090057 w 2249750"/>
              <a:gd name="connsiteY28" fmla="*/ 1364343 h 4484915"/>
              <a:gd name="connsiteX29" fmla="*/ 2046514 w 2249750"/>
              <a:gd name="connsiteY29" fmla="*/ 1219200 h 4484915"/>
              <a:gd name="connsiteX30" fmla="*/ 2032000 w 2249750"/>
              <a:gd name="connsiteY30" fmla="*/ 1175658 h 4484915"/>
              <a:gd name="connsiteX31" fmla="*/ 2017486 w 2249750"/>
              <a:gd name="connsiteY31" fmla="*/ 1117600 h 4484915"/>
              <a:gd name="connsiteX32" fmla="*/ 1988457 w 2249750"/>
              <a:gd name="connsiteY32" fmla="*/ 1030515 h 4484915"/>
              <a:gd name="connsiteX33" fmla="*/ 1944914 w 2249750"/>
              <a:gd name="connsiteY33" fmla="*/ 914400 h 4484915"/>
              <a:gd name="connsiteX34" fmla="*/ 1901371 w 2249750"/>
              <a:gd name="connsiteY34" fmla="*/ 812800 h 4484915"/>
              <a:gd name="connsiteX35" fmla="*/ 1843314 w 2249750"/>
              <a:gd name="connsiteY35" fmla="*/ 783772 h 4484915"/>
              <a:gd name="connsiteX36" fmla="*/ 1814286 w 2249750"/>
              <a:gd name="connsiteY36" fmla="*/ 725715 h 4484915"/>
              <a:gd name="connsiteX37" fmla="*/ 1770743 w 2249750"/>
              <a:gd name="connsiteY37" fmla="*/ 711200 h 4484915"/>
              <a:gd name="connsiteX38" fmla="*/ 1727200 w 2249750"/>
              <a:gd name="connsiteY38" fmla="*/ 667658 h 4484915"/>
              <a:gd name="connsiteX39" fmla="*/ 1683657 w 2249750"/>
              <a:gd name="connsiteY39" fmla="*/ 638629 h 4484915"/>
              <a:gd name="connsiteX40" fmla="*/ 1640114 w 2249750"/>
              <a:gd name="connsiteY40" fmla="*/ 551543 h 4484915"/>
              <a:gd name="connsiteX41" fmla="*/ 1625600 w 2249750"/>
              <a:gd name="connsiteY41" fmla="*/ 508000 h 4484915"/>
              <a:gd name="connsiteX42" fmla="*/ 1596571 w 2249750"/>
              <a:gd name="connsiteY42" fmla="*/ 449943 h 4484915"/>
              <a:gd name="connsiteX43" fmla="*/ 1553029 w 2249750"/>
              <a:gd name="connsiteY43" fmla="*/ 362858 h 4484915"/>
              <a:gd name="connsiteX44" fmla="*/ 1509486 w 2249750"/>
              <a:gd name="connsiteY44" fmla="*/ 203200 h 4484915"/>
              <a:gd name="connsiteX45" fmla="*/ 1480457 w 2249750"/>
              <a:gd name="connsiteY45" fmla="*/ 159658 h 4484915"/>
              <a:gd name="connsiteX46" fmla="*/ 1393371 w 2249750"/>
              <a:gd name="connsiteY46" fmla="*/ 101600 h 4484915"/>
              <a:gd name="connsiteX47" fmla="*/ 1349829 w 2249750"/>
              <a:gd name="connsiteY47" fmla="*/ 58058 h 4484915"/>
              <a:gd name="connsiteX48" fmla="*/ 1262743 w 2249750"/>
              <a:gd name="connsiteY48" fmla="*/ 0 h 4484915"/>
              <a:gd name="connsiteX49" fmla="*/ 1030514 w 2249750"/>
              <a:gd name="connsiteY49" fmla="*/ 14515 h 4484915"/>
              <a:gd name="connsiteX50" fmla="*/ 986971 w 2249750"/>
              <a:gd name="connsiteY50" fmla="*/ 29029 h 4484915"/>
              <a:gd name="connsiteX51" fmla="*/ 885371 w 2249750"/>
              <a:gd name="connsiteY51" fmla="*/ 87086 h 4484915"/>
              <a:gd name="connsiteX52" fmla="*/ 856343 w 2249750"/>
              <a:gd name="connsiteY52" fmla="*/ 130629 h 4484915"/>
              <a:gd name="connsiteX53" fmla="*/ 769257 w 2249750"/>
              <a:gd name="connsiteY53" fmla="*/ 203200 h 4484915"/>
              <a:gd name="connsiteX54" fmla="*/ 711200 w 2249750"/>
              <a:gd name="connsiteY54" fmla="*/ 261258 h 4484915"/>
              <a:gd name="connsiteX55" fmla="*/ 696686 w 2249750"/>
              <a:gd name="connsiteY55" fmla="*/ 304800 h 4484915"/>
              <a:gd name="connsiteX56" fmla="*/ 653143 w 2249750"/>
              <a:gd name="connsiteY56" fmla="*/ 348343 h 4484915"/>
              <a:gd name="connsiteX57" fmla="*/ 551543 w 2249750"/>
              <a:gd name="connsiteY57" fmla="*/ 478972 h 4484915"/>
              <a:gd name="connsiteX58" fmla="*/ 508000 w 2249750"/>
              <a:gd name="connsiteY58" fmla="*/ 566058 h 4484915"/>
              <a:gd name="connsiteX59" fmla="*/ 449943 w 2249750"/>
              <a:gd name="connsiteY59" fmla="*/ 667658 h 4484915"/>
              <a:gd name="connsiteX60" fmla="*/ 377371 w 2249750"/>
              <a:gd name="connsiteY60" fmla="*/ 798286 h 4484915"/>
              <a:gd name="connsiteX61" fmla="*/ 348343 w 2249750"/>
              <a:gd name="connsiteY61" fmla="*/ 856343 h 4484915"/>
              <a:gd name="connsiteX62" fmla="*/ 290286 w 2249750"/>
              <a:gd name="connsiteY62" fmla="*/ 943429 h 4484915"/>
              <a:gd name="connsiteX63" fmla="*/ 203200 w 2249750"/>
              <a:gd name="connsiteY63" fmla="*/ 1074058 h 4484915"/>
              <a:gd name="connsiteX64" fmla="*/ 145143 w 2249750"/>
              <a:gd name="connsiteY64" fmla="*/ 1161143 h 4484915"/>
              <a:gd name="connsiteX65" fmla="*/ 116114 w 2249750"/>
              <a:gd name="connsiteY65" fmla="*/ 1219200 h 4484915"/>
              <a:gd name="connsiteX66" fmla="*/ 101600 w 2249750"/>
              <a:gd name="connsiteY66" fmla="*/ 1291772 h 4484915"/>
              <a:gd name="connsiteX67" fmla="*/ 87086 w 2249750"/>
              <a:gd name="connsiteY67" fmla="*/ 1393372 h 4484915"/>
              <a:gd name="connsiteX68" fmla="*/ 43543 w 2249750"/>
              <a:gd name="connsiteY68" fmla="*/ 1436915 h 4484915"/>
              <a:gd name="connsiteX69" fmla="*/ 14514 w 2249750"/>
              <a:gd name="connsiteY69" fmla="*/ 1494972 h 4484915"/>
              <a:gd name="connsiteX70" fmla="*/ 58057 w 2249750"/>
              <a:gd name="connsiteY70" fmla="*/ 1654629 h 4484915"/>
              <a:gd name="connsiteX71" fmla="*/ 87086 w 2249750"/>
              <a:gd name="connsiteY71" fmla="*/ 1654629 h 4484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</a:cxnLst>
            <a:rect l="l" t="t" r="r" b="b"/>
            <a:pathLst>
              <a:path w="2249750" h="4484915">
                <a:moveTo>
                  <a:pt x="0" y="1567543"/>
                </a:moveTo>
                <a:cubicBezTo>
                  <a:pt x="14514" y="1591734"/>
                  <a:pt x="30927" y="1614882"/>
                  <a:pt x="43543" y="1640115"/>
                </a:cubicBezTo>
                <a:cubicBezTo>
                  <a:pt x="80875" y="1714780"/>
                  <a:pt x="53179" y="1816197"/>
                  <a:pt x="43543" y="1886858"/>
                </a:cubicBezTo>
                <a:cubicBezTo>
                  <a:pt x="38153" y="1926388"/>
                  <a:pt x="14514" y="2002972"/>
                  <a:pt x="14514" y="2002972"/>
                </a:cubicBezTo>
                <a:cubicBezTo>
                  <a:pt x="19352" y="2598058"/>
                  <a:pt x="20648" y="3193183"/>
                  <a:pt x="29029" y="3788229"/>
                </a:cubicBezTo>
                <a:cubicBezTo>
                  <a:pt x="30325" y="3880271"/>
                  <a:pt x="39266" y="3972049"/>
                  <a:pt x="43543" y="4064000"/>
                </a:cubicBezTo>
                <a:cubicBezTo>
                  <a:pt x="48942" y="4180090"/>
                  <a:pt x="53219" y="4296229"/>
                  <a:pt x="58057" y="4412343"/>
                </a:cubicBezTo>
                <a:lnTo>
                  <a:pt x="798286" y="4397829"/>
                </a:lnTo>
                <a:cubicBezTo>
                  <a:pt x="813575" y="4397263"/>
                  <a:pt x="826530" y="4383315"/>
                  <a:pt x="841829" y="4383315"/>
                </a:cubicBezTo>
                <a:cubicBezTo>
                  <a:pt x="895267" y="4383315"/>
                  <a:pt x="948374" y="4391928"/>
                  <a:pt x="1001486" y="4397829"/>
                </a:cubicBezTo>
                <a:cubicBezTo>
                  <a:pt x="1035487" y="4401607"/>
                  <a:pt x="1069396" y="4406398"/>
                  <a:pt x="1103086" y="4412343"/>
                </a:cubicBezTo>
                <a:cubicBezTo>
                  <a:pt x="1138207" y="4418541"/>
                  <a:pt x="1240189" y="4433779"/>
                  <a:pt x="1291771" y="4455886"/>
                </a:cubicBezTo>
                <a:cubicBezTo>
                  <a:pt x="1311658" y="4464409"/>
                  <a:pt x="1330476" y="4475239"/>
                  <a:pt x="1349829" y="4484915"/>
                </a:cubicBezTo>
                <a:cubicBezTo>
                  <a:pt x="1417562" y="4480077"/>
                  <a:pt x="1485496" y="4477509"/>
                  <a:pt x="1553029" y="4470400"/>
                </a:cubicBezTo>
                <a:cubicBezTo>
                  <a:pt x="1739102" y="4450813"/>
                  <a:pt x="1498630" y="4462536"/>
                  <a:pt x="1712686" y="4426858"/>
                </a:cubicBezTo>
                <a:lnTo>
                  <a:pt x="1799771" y="4412343"/>
                </a:lnTo>
                <a:cubicBezTo>
                  <a:pt x="1882019" y="4417181"/>
                  <a:pt x="1964463" y="4419399"/>
                  <a:pt x="2046514" y="4426858"/>
                </a:cubicBezTo>
                <a:cubicBezTo>
                  <a:pt x="2071082" y="4429092"/>
                  <a:pt x="2094416" y="4441372"/>
                  <a:pt x="2119086" y="4441372"/>
                </a:cubicBezTo>
                <a:cubicBezTo>
                  <a:pt x="2153296" y="4441372"/>
                  <a:pt x="2186819" y="4431696"/>
                  <a:pt x="2220686" y="4426858"/>
                </a:cubicBezTo>
                <a:cubicBezTo>
                  <a:pt x="2220101" y="4378336"/>
                  <a:pt x="2302866" y="3553353"/>
                  <a:pt x="2191657" y="3164115"/>
                </a:cubicBezTo>
                <a:cubicBezTo>
                  <a:pt x="2187454" y="3149404"/>
                  <a:pt x="2181981" y="3135086"/>
                  <a:pt x="2177143" y="3120572"/>
                </a:cubicBezTo>
                <a:cubicBezTo>
                  <a:pt x="2141833" y="2873400"/>
                  <a:pt x="2153220" y="2994553"/>
                  <a:pt x="2177143" y="2540000"/>
                </a:cubicBezTo>
                <a:cubicBezTo>
                  <a:pt x="2177556" y="2532148"/>
                  <a:pt x="2200239" y="2423213"/>
                  <a:pt x="2206171" y="2409372"/>
                </a:cubicBezTo>
                <a:cubicBezTo>
                  <a:pt x="2213043" y="2393338"/>
                  <a:pt x="2225524" y="2380343"/>
                  <a:pt x="2235200" y="2365829"/>
                </a:cubicBezTo>
                <a:cubicBezTo>
                  <a:pt x="2230362" y="2269067"/>
                  <a:pt x="2228732" y="2172091"/>
                  <a:pt x="2220686" y="2075543"/>
                </a:cubicBezTo>
                <a:cubicBezTo>
                  <a:pt x="2218661" y="2051248"/>
                  <a:pt x="2200053" y="1999132"/>
                  <a:pt x="2191657" y="1973943"/>
                </a:cubicBezTo>
                <a:cubicBezTo>
                  <a:pt x="2186819" y="1819124"/>
                  <a:pt x="2197350" y="1663057"/>
                  <a:pt x="2177143" y="1509486"/>
                </a:cubicBezTo>
                <a:cubicBezTo>
                  <a:pt x="2172592" y="1474896"/>
                  <a:pt x="2134689" y="1453605"/>
                  <a:pt x="2119086" y="1422400"/>
                </a:cubicBezTo>
                <a:cubicBezTo>
                  <a:pt x="2109410" y="1403048"/>
                  <a:pt x="2098093" y="1384432"/>
                  <a:pt x="2090057" y="1364343"/>
                </a:cubicBezTo>
                <a:cubicBezTo>
                  <a:pt x="2055569" y="1278124"/>
                  <a:pt x="2067897" y="1294041"/>
                  <a:pt x="2046514" y="1219200"/>
                </a:cubicBezTo>
                <a:cubicBezTo>
                  <a:pt x="2042311" y="1204490"/>
                  <a:pt x="2036203" y="1190368"/>
                  <a:pt x="2032000" y="1175658"/>
                </a:cubicBezTo>
                <a:cubicBezTo>
                  <a:pt x="2026520" y="1156477"/>
                  <a:pt x="2023218" y="1136707"/>
                  <a:pt x="2017486" y="1117600"/>
                </a:cubicBezTo>
                <a:cubicBezTo>
                  <a:pt x="2008694" y="1088292"/>
                  <a:pt x="1994458" y="1060519"/>
                  <a:pt x="1988457" y="1030515"/>
                </a:cubicBezTo>
                <a:cubicBezTo>
                  <a:pt x="1970522" y="940838"/>
                  <a:pt x="1987627" y="978469"/>
                  <a:pt x="1944914" y="914400"/>
                </a:cubicBezTo>
                <a:cubicBezTo>
                  <a:pt x="1936240" y="888377"/>
                  <a:pt x="1919306" y="830735"/>
                  <a:pt x="1901371" y="812800"/>
                </a:cubicBezTo>
                <a:cubicBezTo>
                  <a:pt x="1886072" y="797501"/>
                  <a:pt x="1862666" y="793448"/>
                  <a:pt x="1843314" y="783772"/>
                </a:cubicBezTo>
                <a:cubicBezTo>
                  <a:pt x="1833638" y="764420"/>
                  <a:pt x="1829585" y="741014"/>
                  <a:pt x="1814286" y="725715"/>
                </a:cubicBezTo>
                <a:cubicBezTo>
                  <a:pt x="1803468" y="714897"/>
                  <a:pt x="1783473" y="719687"/>
                  <a:pt x="1770743" y="711200"/>
                </a:cubicBezTo>
                <a:cubicBezTo>
                  <a:pt x="1753664" y="699814"/>
                  <a:pt x="1742969" y="680798"/>
                  <a:pt x="1727200" y="667658"/>
                </a:cubicBezTo>
                <a:cubicBezTo>
                  <a:pt x="1713799" y="656491"/>
                  <a:pt x="1698171" y="648305"/>
                  <a:pt x="1683657" y="638629"/>
                </a:cubicBezTo>
                <a:cubicBezTo>
                  <a:pt x="1647176" y="529183"/>
                  <a:pt x="1696387" y="664089"/>
                  <a:pt x="1640114" y="551543"/>
                </a:cubicBezTo>
                <a:cubicBezTo>
                  <a:pt x="1633272" y="537859"/>
                  <a:pt x="1631627" y="522062"/>
                  <a:pt x="1625600" y="508000"/>
                </a:cubicBezTo>
                <a:cubicBezTo>
                  <a:pt x="1617077" y="488113"/>
                  <a:pt x="1607306" y="468729"/>
                  <a:pt x="1596571" y="449943"/>
                </a:cubicBezTo>
                <a:cubicBezTo>
                  <a:pt x="1565039" y="394762"/>
                  <a:pt x="1567813" y="421992"/>
                  <a:pt x="1553029" y="362858"/>
                </a:cubicBezTo>
                <a:cubicBezTo>
                  <a:pt x="1542125" y="319242"/>
                  <a:pt x="1534393" y="240559"/>
                  <a:pt x="1509486" y="203200"/>
                </a:cubicBezTo>
                <a:cubicBezTo>
                  <a:pt x="1499810" y="188686"/>
                  <a:pt x="1493585" y="171145"/>
                  <a:pt x="1480457" y="159658"/>
                </a:cubicBezTo>
                <a:cubicBezTo>
                  <a:pt x="1454201" y="136684"/>
                  <a:pt x="1418041" y="126270"/>
                  <a:pt x="1393371" y="101600"/>
                </a:cubicBezTo>
                <a:cubicBezTo>
                  <a:pt x="1378857" y="87086"/>
                  <a:pt x="1366031" y="70660"/>
                  <a:pt x="1349829" y="58058"/>
                </a:cubicBezTo>
                <a:cubicBezTo>
                  <a:pt x="1322290" y="36639"/>
                  <a:pt x="1262743" y="0"/>
                  <a:pt x="1262743" y="0"/>
                </a:cubicBezTo>
                <a:cubicBezTo>
                  <a:pt x="1185333" y="4838"/>
                  <a:pt x="1107649" y="6395"/>
                  <a:pt x="1030514" y="14515"/>
                </a:cubicBezTo>
                <a:cubicBezTo>
                  <a:pt x="1015299" y="16117"/>
                  <a:pt x="1001033" y="23002"/>
                  <a:pt x="986971" y="29029"/>
                </a:cubicBezTo>
                <a:cubicBezTo>
                  <a:pt x="935413" y="51125"/>
                  <a:pt x="929098" y="57935"/>
                  <a:pt x="885371" y="87086"/>
                </a:cubicBezTo>
                <a:cubicBezTo>
                  <a:pt x="875695" y="101600"/>
                  <a:pt x="867510" y="117228"/>
                  <a:pt x="856343" y="130629"/>
                </a:cubicBezTo>
                <a:cubicBezTo>
                  <a:pt x="821420" y="172538"/>
                  <a:pt x="812072" y="174658"/>
                  <a:pt x="769257" y="203200"/>
                </a:cubicBezTo>
                <a:cubicBezTo>
                  <a:pt x="730554" y="319312"/>
                  <a:pt x="788609" y="183849"/>
                  <a:pt x="711200" y="261258"/>
                </a:cubicBezTo>
                <a:cubicBezTo>
                  <a:pt x="700382" y="272076"/>
                  <a:pt x="705172" y="292070"/>
                  <a:pt x="696686" y="304800"/>
                </a:cubicBezTo>
                <a:cubicBezTo>
                  <a:pt x="685300" y="321879"/>
                  <a:pt x="665745" y="332140"/>
                  <a:pt x="653143" y="348343"/>
                </a:cubicBezTo>
                <a:cubicBezTo>
                  <a:pt x="531618" y="504590"/>
                  <a:pt x="650398" y="380117"/>
                  <a:pt x="551543" y="478972"/>
                </a:cubicBezTo>
                <a:cubicBezTo>
                  <a:pt x="515063" y="588415"/>
                  <a:pt x="564272" y="453516"/>
                  <a:pt x="508000" y="566058"/>
                </a:cubicBezTo>
                <a:cubicBezTo>
                  <a:pt x="452588" y="676881"/>
                  <a:pt x="555237" y="527264"/>
                  <a:pt x="449943" y="667658"/>
                </a:cubicBezTo>
                <a:cubicBezTo>
                  <a:pt x="409804" y="788075"/>
                  <a:pt x="477192" y="598640"/>
                  <a:pt x="377371" y="798286"/>
                </a:cubicBezTo>
                <a:cubicBezTo>
                  <a:pt x="367695" y="817638"/>
                  <a:pt x="359475" y="837790"/>
                  <a:pt x="348343" y="856343"/>
                </a:cubicBezTo>
                <a:cubicBezTo>
                  <a:pt x="330393" y="886259"/>
                  <a:pt x="309638" y="914400"/>
                  <a:pt x="290286" y="943429"/>
                </a:cubicBezTo>
                <a:lnTo>
                  <a:pt x="203200" y="1074058"/>
                </a:lnTo>
                <a:lnTo>
                  <a:pt x="145143" y="1161143"/>
                </a:lnTo>
                <a:lnTo>
                  <a:pt x="116114" y="1219200"/>
                </a:lnTo>
                <a:cubicBezTo>
                  <a:pt x="111276" y="1243391"/>
                  <a:pt x="105656" y="1267438"/>
                  <a:pt x="101600" y="1291772"/>
                </a:cubicBezTo>
                <a:cubicBezTo>
                  <a:pt x="95976" y="1325517"/>
                  <a:pt x="99791" y="1361608"/>
                  <a:pt x="87086" y="1393372"/>
                </a:cubicBezTo>
                <a:cubicBezTo>
                  <a:pt x="79463" y="1412430"/>
                  <a:pt x="55474" y="1420212"/>
                  <a:pt x="43543" y="1436915"/>
                </a:cubicBezTo>
                <a:cubicBezTo>
                  <a:pt x="30967" y="1454521"/>
                  <a:pt x="24190" y="1475620"/>
                  <a:pt x="14514" y="1494972"/>
                </a:cubicBezTo>
                <a:cubicBezTo>
                  <a:pt x="19472" y="1534635"/>
                  <a:pt x="12634" y="1620562"/>
                  <a:pt x="58057" y="1654629"/>
                </a:cubicBezTo>
                <a:cubicBezTo>
                  <a:pt x="65798" y="1660435"/>
                  <a:pt x="77410" y="1654629"/>
                  <a:pt x="87086" y="1654629"/>
                </a:cubicBezTo>
              </a:path>
            </a:pathLst>
          </a:custGeom>
          <a:blipFill>
            <a:blip r:embed="rId3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NI" dirty="0">
                <a:solidFill>
                  <a:srgbClr val="FFFF00"/>
                </a:solidFill>
                <a:effectLst>
                  <a:glow rad="1397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Región de aceptación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5BB3E65-050D-41CC-B726-D5B67086F8E1}"/>
              </a:ext>
            </a:extLst>
          </p:cNvPr>
          <p:cNvSpPr/>
          <p:nvPr/>
        </p:nvSpPr>
        <p:spPr>
          <a:xfrm>
            <a:off x="7579307" y="3063525"/>
            <a:ext cx="39068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NI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Región de rechazo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FEB0C46-2A01-4A87-A6D2-CF3DA80D7DB0}"/>
              </a:ext>
            </a:extLst>
          </p:cNvPr>
          <p:cNvSpPr/>
          <p:nvPr/>
        </p:nvSpPr>
        <p:spPr>
          <a:xfrm>
            <a:off x="621435" y="3315808"/>
            <a:ext cx="390683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NI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Región de rechazo</a:t>
            </a:r>
          </a:p>
        </p:txBody>
      </p:sp>
      <p:cxnSp>
        <p:nvCxnSpPr>
          <p:cNvPr id="21" name="Conector recto de flecha 20">
            <a:extLst>
              <a:ext uri="{FF2B5EF4-FFF2-40B4-BE49-F238E27FC236}">
                <a16:creationId xmlns:a16="http://schemas.microsoft.com/office/drawing/2014/main" id="{A0FCF8F3-154C-42A9-BF88-99C974C345D4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2574855" y="3839028"/>
            <a:ext cx="1775088" cy="1543098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0DA17BE0-59FF-4E21-B421-4F96C8D6E727}"/>
              </a:ext>
            </a:extLst>
          </p:cNvPr>
          <p:cNvCxnSpPr>
            <a:cxnSpLocks/>
            <a:stCxn id="1026" idx="3"/>
          </p:cNvCxnSpPr>
          <p:nvPr/>
        </p:nvCxnSpPr>
        <p:spPr>
          <a:xfrm flipH="1">
            <a:off x="8244114" y="3973116"/>
            <a:ext cx="2211161" cy="1541794"/>
          </a:xfrm>
          <a:prstGeom prst="straightConnector1">
            <a:avLst/>
          </a:prstGeom>
          <a:ln w="635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B360A2A-ABAD-4DE6-B424-6B5D32AAF73B}"/>
              </a:ext>
            </a:extLst>
          </p:cNvPr>
          <p:cNvCxnSpPr>
            <a:cxnSpLocks/>
            <a:stCxn id="17" idx="31"/>
          </p:cNvCxnSpPr>
          <p:nvPr/>
        </p:nvCxnSpPr>
        <p:spPr>
          <a:xfrm>
            <a:off x="6995886" y="2714171"/>
            <a:ext cx="0" cy="3756187"/>
          </a:xfrm>
          <a:prstGeom prst="line">
            <a:avLst/>
          </a:prstGeom>
          <a:ln w="38100" cmpd="sng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9AFF7CB9-8F2D-47B8-8BD1-8B509C941FD7}"/>
              </a:ext>
            </a:extLst>
          </p:cNvPr>
          <p:cNvSpPr/>
          <p:nvPr/>
        </p:nvSpPr>
        <p:spPr>
          <a:xfrm>
            <a:off x="6829815" y="6522062"/>
            <a:ext cx="332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75060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63D93-6A00-4BAA-BC3A-9EE39FF99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903" y="365126"/>
            <a:ext cx="10760243" cy="934286"/>
          </a:xfrm>
        </p:spPr>
        <p:txBody>
          <a:bodyPr/>
          <a:lstStyle/>
          <a:p>
            <a:pPr algn="ctr"/>
            <a:r>
              <a:rPr lang="es-NI" dirty="0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Distribución t - </a:t>
            </a:r>
            <a:r>
              <a:rPr lang="es-NI" dirty="0" err="1">
                <a:gradFill flip="none" rotWithShape="1">
                  <a:gsLst>
                    <a:gs pos="0">
                      <a:schemeClr val="accent1">
                        <a:lumMod val="89000"/>
                      </a:schemeClr>
                    </a:gs>
                    <a:gs pos="23000">
                      <a:schemeClr val="accent1">
                        <a:lumMod val="89000"/>
                      </a:schemeClr>
                    </a:gs>
                    <a:gs pos="69000">
                      <a:schemeClr val="accent1">
                        <a:lumMod val="75000"/>
                      </a:schemeClr>
                    </a:gs>
                    <a:gs pos="97000">
                      <a:schemeClr val="accent1">
                        <a:lumMod val="70000"/>
                      </a:schemeClr>
                    </a:gs>
                  </a:gsLst>
                  <a:path path="circle">
                    <a:fillToRect l="100000" b="100000"/>
                  </a:path>
                  <a:tileRect t="-100000" r="-100000"/>
                </a:gradFill>
              </a:rPr>
              <a:t>Student</a:t>
            </a:r>
            <a:endParaRPr lang="es-NI" dirty="0">
              <a:gradFill flip="none" rotWithShape="1">
                <a:gsLst>
                  <a:gs pos="0">
                    <a:schemeClr val="accent1">
                      <a:lumMod val="89000"/>
                    </a:schemeClr>
                  </a:gs>
                  <a:gs pos="23000">
                    <a:schemeClr val="accent1">
                      <a:lumMod val="89000"/>
                    </a:schemeClr>
                  </a:gs>
                  <a:gs pos="69000">
                    <a:schemeClr val="accent1">
                      <a:lumMod val="75000"/>
                    </a:schemeClr>
                  </a:gs>
                  <a:gs pos="97000">
                    <a:schemeClr val="accent1">
                      <a:lumMod val="70000"/>
                    </a:schemeClr>
                  </a:gs>
                </a:gsLst>
                <a:path path="circle">
                  <a:fillToRect l="100000" b="100000"/>
                </a:path>
                <a:tileRect t="-100000" r="-100000"/>
              </a:gra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B6E74D-04B0-44F9-AE63-72D3E0495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0914" y="1475874"/>
            <a:ext cx="10760243" cy="51052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NI" sz="2400" b="1" dirty="0">
                <a:solidFill>
                  <a:schemeClr val="bg1">
                    <a:lumMod val="50000"/>
                  </a:schemeClr>
                </a:solidFill>
              </a:rPr>
              <a:t>Paso 5: Conclusiones</a:t>
            </a:r>
          </a:p>
          <a:p>
            <a:pPr marL="0" indent="0" algn="just">
              <a:buNone/>
            </a:pPr>
            <a:r>
              <a:rPr lang="es-NI" sz="2400" dirty="0">
                <a:solidFill>
                  <a:schemeClr val="bg1">
                    <a:lumMod val="50000"/>
                  </a:schemeClr>
                </a:solidFill>
              </a:rPr>
              <a:t>Se acepta la hipótesis nula, por tanto se puede afirmar que existe evidencia que respalda el hecho de que el tiempo medio en la producción de tornillos es </a:t>
            </a:r>
            <a:r>
              <a:rPr lang="es-NI" sz="2400">
                <a:solidFill>
                  <a:schemeClr val="bg1">
                    <a:lumMod val="50000"/>
                  </a:schemeClr>
                </a:solidFill>
              </a:rPr>
              <a:t>25 horas; </a:t>
            </a:r>
            <a:r>
              <a:rPr lang="es-NI" sz="2400" dirty="0">
                <a:solidFill>
                  <a:schemeClr val="bg1">
                    <a:lumMod val="50000"/>
                  </a:schemeClr>
                </a:solidFill>
              </a:rPr>
              <a:t>dados los resultamos concluimos que la información que tiene la empresa sobre su producción es correcta. Basado en este dato no se necesitan ajustes a la maquinaria ni al proceso de producción.</a:t>
            </a:r>
          </a:p>
        </p:txBody>
      </p:sp>
      <p:sp>
        <p:nvSpPr>
          <p:cNvPr id="4" name="Diagrama de flujo: proceso 3">
            <a:extLst>
              <a:ext uri="{FF2B5EF4-FFF2-40B4-BE49-F238E27FC236}">
                <a16:creationId xmlns:a16="http://schemas.microsoft.com/office/drawing/2014/main" id="{86E52CBF-9876-4B45-B0A0-DF769645CE52}"/>
              </a:ext>
            </a:extLst>
          </p:cNvPr>
          <p:cNvSpPr/>
          <p:nvPr/>
        </p:nvSpPr>
        <p:spPr>
          <a:xfrm>
            <a:off x="304800" y="276895"/>
            <a:ext cx="401053" cy="111074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  <p:sp>
        <p:nvSpPr>
          <p:cNvPr id="5" name="Diagrama de flujo: proceso 4">
            <a:extLst>
              <a:ext uri="{FF2B5EF4-FFF2-40B4-BE49-F238E27FC236}">
                <a16:creationId xmlns:a16="http://schemas.microsoft.com/office/drawing/2014/main" id="{700CA9A0-5A34-4F37-9ABC-783A5E948C5E}"/>
              </a:ext>
            </a:extLst>
          </p:cNvPr>
          <p:cNvSpPr/>
          <p:nvPr/>
        </p:nvSpPr>
        <p:spPr>
          <a:xfrm>
            <a:off x="304800" y="1475874"/>
            <a:ext cx="401053" cy="5105231"/>
          </a:xfrm>
          <a:prstGeom prst="flowChartProcess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574152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a de Office">
  <a:themeElements>
    <a:clrScheme name="Upoli">
      <a:dk1>
        <a:srgbClr val="FF0000"/>
      </a:dk1>
      <a:lt1>
        <a:sysClr val="window" lastClr="FFFFFF"/>
      </a:lt1>
      <a:dk2>
        <a:srgbClr val="600000"/>
      </a:dk2>
      <a:lt2>
        <a:srgbClr val="E7E6E6"/>
      </a:lt2>
      <a:accent1>
        <a:srgbClr val="FF6566"/>
      </a:accent1>
      <a:accent2>
        <a:srgbClr val="C00000"/>
      </a:accent2>
      <a:accent3>
        <a:srgbClr val="A5A5A5"/>
      </a:accent3>
      <a:accent4>
        <a:srgbClr val="D8D8D8"/>
      </a:accent4>
      <a:accent5>
        <a:srgbClr val="BFBFBF"/>
      </a:accent5>
      <a:accent6>
        <a:srgbClr val="E50F0F"/>
      </a:accent6>
      <a:hlink>
        <a:srgbClr val="FF6566"/>
      </a:hlink>
      <a:folHlink>
        <a:srgbClr val="E0836A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xtura grung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3407FE4D-BC1C-4BDF-A6DB-C7D55ACA0B41}" vid="{6D25B3C5-4131-4331-9CAE-19351A04C64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Upoli V1</Template>
  <TotalTime>78</TotalTime>
  <Words>444</Words>
  <Application>Microsoft Office PowerPoint</Application>
  <PresentationFormat>Panorámica</PresentationFormat>
  <Paragraphs>44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Consolas</vt:lpstr>
      <vt:lpstr>Verdana</vt:lpstr>
      <vt:lpstr>Tema de Office</vt:lpstr>
      <vt:lpstr>Presentación de PowerPoint</vt:lpstr>
      <vt:lpstr>Distribución t - Student</vt:lpstr>
      <vt:lpstr>Distribución t - Student</vt:lpstr>
      <vt:lpstr>Distribución t - Student</vt:lpstr>
      <vt:lpstr>Distribución t - Student</vt:lpstr>
      <vt:lpstr>Distribución t - Student</vt:lpstr>
      <vt:lpstr>Distribución t - Student</vt:lpstr>
      <vt:lpstr>Distribución t - Student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Aguirre</dc:creator>
  <cp:lastModifiedBy>Guillermo Aguirre</cp:lastModifiedBy>
  <cp:revision>11</cp:revision>
  <dcterms:created xsi:type="dcterms:W3CDTF">2020-12-11T22:16:22Z</dcterms:created>
  <dcterms:modified xsi:type="dcterms:W3CDTF">2020-12-11T23:40:59Z</dcterms:modified>
</cp:coreProperties>
</file>