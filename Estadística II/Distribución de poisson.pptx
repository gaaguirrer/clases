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58" r:id="rId5"/>
    <p:sldId id="259" r:id="rId6"/>
    <p:sldId id="263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020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4758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2817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1641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94399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8128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0628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7734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1587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0631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4353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86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279DA-5FDF-47DE-B7A6-74883B75CD76}" type="datetimeFigureOut">
              <a:rPr lang="es-NI" smtClean="0"/>
              <a:t>25/11/2020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9006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atemovil.com/media-mediana-y-moda-ejemplos-y-ejercicio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dibujo&#10;&#10;Descripción generada automáticamente">
            <a:extLst>
              <a:ext uri="{FF2B5EF4-FFF2-40B4-BE49-F238E27FC236}">
                <a16:creationId xmlns:a16="http://schemas.microsoft.com/office/drawing/2014/main" id="{45F57773-4C73-4654-80C7-04684D5BE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767250"/>
          </a:xfrm>
          <a:prstGeom prst="rect">
            <a:avLst/>
          </a:prstGeom>
        </p:spPr>
      </p:pic>
      <p:pic>
        <p:nvPicPr>
          <p:cNvPr id="13" name="Imagen 12" descr="Imagen que contiene tabla, alimentos&#10;&#10;Descripción generada automáticamente">
            <a:extLst>
              <a:ext uri="{FF2B5EF4-FFF2-40B4-BE49-F238E27FC236}">
                <a16:creationId xmlns:a16="http://schemas.microsoft.com/office/drawing/2014/main" id="{1A8CC628-B5DB-4B20-A508-767CFBD9D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16084"/>
            <a:ext cx="12192000" cy="1641916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3B89A212-C425-4E46-BE12-FDE116E04741}"/>
              </a:ext>
            </a:extLst>
          </p:cNvPr>
          <p:cNvSpPr/>
          <p:nvPr/>
        </p:nvSpPr>
        <p:spPr>
          <a:xfrm>
            <a:off x="343429" y="2238587"/>
            <a:ext cx="1154377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Unidad II: Distribución de Probabilidades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ED3C0CB-5528-4F55-91C5-26CBD934CC8C}"/>
              </a:ext>
            </a:extLst>
          </p:cNvPr>
          <p:cNvSpPr/>
          <p:nvPr/>
        </p:nvSpPr>
        <p:spPr>
          <a:xfrm>
            <a:off x="1158589" y="1043216"/>
            <a:ext cx="987481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Estadística Inferencial</a:t>
            </a:r>
            <a:endParaRPr lang="es-ES" sz="6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15E12B9-EB97-492D-BFD2-9A07777B3F3E}"/>
              </a:ext>
            </a:extLst>
          </p:cNvPr>
          <p:cNvSpPr/>
          <p:nvPr/>
        </p:nvSpPr>
        <p:spPr>
          <a:xfrm>
            <a:off x="2300814" y="3987955"/>
            <a:ext cx="762901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glow rad="127000">
                    <a:schemeClr val="bg1">
                      <a:lumMod val="5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Distribución de Poisson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6E04DFA-AA68-4F8E-BDB0-08BF30862AF4}"/>
              </a:ext>
            </a:extLst>
          </p:cNvPr>
          <p:cNvSpPr/>
          <p:nvPr/>
        </p:nvSpPr>
        <p:spPr>
          <a:xfrm>
            <a:off x="9780552" y="5574904"/>
            <a:ext cx="22926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Ing. Aguirre</a:t>
            </a:r>
          </a:p>
        </p:txBody>
      </p:sp>
    </p:spTree>
    <p:extLst>
      <p:ext uri="{BB962C8B-B14F-4D97-AF65-F5344CB8AC3E}">
        <p14:creationId xmlns:p14="http://schemas.microsoft.com/office/powerpoint/2010/main" val="204687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de Poisson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4796589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distribución de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poisson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 una distribución de variable discreta, los sucesos son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idependientes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y ocurren durante un intervalo de tiempo dado o en una región específica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Ejemplos:</a:t>
            </a:r>
          </a:p>
          <a:p>
            <a:pPr marL="630238" algn="just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El número de autos que pasan a través de un cierto punto en la carretera</a:t>
            </a:r>
          </a:p>
          <a:p>
            <a:pPr marL="630238" algn="just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El número de errores  de ortografía que cometes al escribir una página</a:t>
            </a:r>
          </a:p>
          <a:p>
            <a:pPr marL="630238" algn="just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El número de llamadas telefónicas en una centra al día</a:t>
            </a:r>
          </a:p>
          <a:p>
            <a:pPr marL="630238" algn="just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El número de enfermos que llagan a un hospital por hora</a:t>
            </a:r>
          </a:p>
          <a:p>
            <a:pPr marL="630238" algn="just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El número de clientes que llegan a una oficina en la semana</a:t>
            </a:r>
          </a:p>
          <a:p>
            <a:pPr marL="630238" algn="just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En número de defectos por metro cuadrado en una tela</a:t>
            </a:r>
          </a:p>
          <a:p>
            <a:pPr marL="630238" algn="just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El número de estrellas en un determinado volumen del espacio exterior</a:t>
            </a:r>
            <a:endParaRPr lang="es-NI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4796589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1813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de Poisson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4796589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Se dice que una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variable aleatoria discreta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X tiene una distribución de Poisson con parámetro μ (μ&gt;0) si la función de probabilidad de X es: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Donde:</a:t>
            </a:r>
          </a:p>
          <a:p>
            <a:pPr marL="441325" indent="0" algn="just"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f(x) = P(X=x) :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probabilidad de x ocurrencias en un intervalo.</a:t>
            </a:r>
          </a:p>
          <a:p>
            <a:pPr marL="441325" indent="0" algn="just"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μ: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valor esperado o media de X.</a:t>
            </a:r>
          </a:p>
          <a:p>
            <a:pPr marL="441325" indent="0" algn="just"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e: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base de los logaritmos naturales. Su valor es 2,71828…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Además, en una distribución de Poisson:</a:t>
            </a:r>
          </a:p>
          <a:p>
            <a:pPr marL="0" indent="0" algn="r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media de X es igual a μ.</a:t>
            </a:r>
          </a:p>
          <a:p>
            <a:pPr marL="0" indent="0" algn="r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varianza de X es igual a μ.</a:t>
            </a:r>
            <a:endParaRPr lang="es-NI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4796589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BEB827-F565-431C-BE06-5D1EEF61D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1162" y="2252498"/>
            <a:ext cx="882967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8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de Poisson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479658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NI" b="1" dirty="0">
                <a:solidFill>
                  <a:schemeClr val="bg1">
                    <a:lumMod val="50000"/>
                  </a:schemeClr>
                </a:solidFill>
              </a:rPr>
              <a:t>Ejemplo 1: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veterinaria de Jorge recibe un promedio de μ = 4 pacientes por día. Sabiendo que el número de pacientes que llegan en un día sigue una distribución de Poisson, calcular:</a:t>
            </a:r>
          </a:p>
          <a:p>
            <a:pPr marL="514350" indent="-514350" algn="just">
              <a:buAutoNum type="alphaLcParenR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probabilidad de que lleguen 3 pacientes en un día.</a:t>
            </a:r>
          </a:p>
          <a:p>
            <a:pPr marL="514350" indent="-514350" algn="just">
              <a:buAutoNum type="alphaLcParenR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probabilidad de que lleguen 5 pacientes en un día.</a:t>
            </a:r>
          </a:p>
          <a:p>
            <a:pPr marL="514350" indent="-514350" algn="just">
              <a:buAutoNum type="alphaLcParenR"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Solución: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Definimos nuestros datos, encontrando el valor de μ que en este caso es 4, si no se presenta en el problema y nos proporcionan una cantidad de observaciones deberemos calcular μ con la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hlinkClick r:id="rId2"/>
              </a:rPr>
              <a:t>fórmula para calcular la media aritmética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que vimos en estadística descriptica y que puede consultar pinchando la frase en color rojo.</a:t>
            </a:r>
            <a:endParaRPr lang="es-NI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4796589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6618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de Poisson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4796589"/>
          </a:xfrm>
        </p:spPr>
        <p:txBody>
          <a:bodyPr/>
          <a:lstStyle/>
          <a:p>
            <a:pPr marL="514350" indent="-514350" algn="just">
              <a:buAutoNum type="alphaLcParenR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probabilidad de que lleguen 3 pacientes en un día.</a:t>
            </a:r>
          </a:p>
          <a:p>
            <a:pPr marL="0" indent="0" algn="just">
              <a:buNone/>
            </a:pPr>
            <a:endParaRPr lang="es-NI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4796589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8314775-BC95-4E76-82B6-64B7098E16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50" t="7597" r="9488" b="30959"/>
          <a:stretch/>
        </p:blipFill>
        <p:spPr>
          <a:xfrm>
            <a:off x="3236494" y="2326106"/>
            <a:ext cx="6112042" cy="305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21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de Poisson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4796589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b) la probabilidad de que lleguen 5 pacientes en un día.</a:t>
            </a:r>
            <a:endParaRPr lang="es-NI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4796589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8314775-BC95-4E76-82B6-64B7098E16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8" r="12009" b="18277"/>
          <a:stretch/>
        </p:blipFill>
        <p:spPr>
          <a:xfrm>
            <a:off x="3412761" y="2292523"/>
            <a:ext cx="5366478" cy="356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de Poisson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4796589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Ejemplo 2: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Una compañía telefónica recibe llamadas a razón de 4 por minuto. Calcule la probabilidad de: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a) Recibir 2 llamadas en un minuto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b) No recibir ninguna llamada en un minuto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c) Recibir menos de 3 llamadas en un minuto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d) Recibir más de 3 llamadas en un minuto</a:t>
            </a:r>
          </a:p>
          <a:p>
            <a:pPr marL="0" indent="0" algn="just">
              <a:buNone/>
            </a:pPr>
            <a:endParaRPr lang="es-NI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4796589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3552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de Poisson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0914" y="1475874"/>
                <a:ext cx="10760243" cy="4796589"/>
              </a:xfrm>
            </p:spPr>
            <p:txBody>
              <a:bodyPr/>
              <a:lstStyle/>
              <a:p>
                <a:pPr marL="514350" indent="-514350" algn="just">
                  <a:buAutoNum type="alphaLcParenR"/>
                </a:pP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Recibir 2 llamadas en un minuto</a:t>
                </a:r>
              </a:p>
              <a:p>
                <a:pPr marL="0" indent="0" algn="just">
                  <a:buNone/>
                </a:pPr>
                <a:endParaRPr lang="es-E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i="0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r>
                        <a:rPr lang="es-NI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d>
                            <m:d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i="0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r>
                        <a:rPr lang="es-NI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i="0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ⅇ</m:t>
                              </m:r>
                            </m:e>
                            <m:sup>
                              <m:r>
                                <a:rPr lang="es-NI" i="0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  <m:r>
                            <a:rPr lang="es-NI" i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i="0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NI" i="0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NI" i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s-NI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i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0.1831⋅16</m:t>
                          </m:r>
                        </m:num>
                        <m:den>
                          <m:r>
                            <a:rPr lang="es-NI" i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NI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NI"/>
                        <m:t>0.1465</m:t>
                      </m:r>
                    </m:oMath>
                  </m:oMathPara>
                </a14:m>
                <a:endParaRPr lang="es-NI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endParaRPr lang="es-NI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b) No recibir ninguna llamada en un minuto</a:t>
                </a:r>
              </a:p>
              <a:p>
                <a:pPr marL="0" indent="0" algn="just">
                  <a:buNone/>
                </a:pPr>
                <a:endParaRPr lang="es-E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0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b>
                      </m:sSub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d>
                            <m:d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0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b>
                      </m:sSub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ⅇ</m:t>
                              </m:r>
                            </m:e>
                            <m:sup>
                              <m:r>
                                <a:rPr lang="es-NI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  <m:r>
                            <a:rPr lang="es-NI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NI" b="0" i="0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s-NI" b="0" i="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NI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0.1831⋅1</m:t>
                          </m:r>
                        </m:num>
                        <m:den>
                          <m:r>
                            <a:rPr lang="es-NI" b="0" i="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NI"/>
                        <m:t>0.1</m:t>
                      </m:r>
                      <m:r>
                        <m:rPr>
                          <m:nor/>
                        </m:rPr>
                        <a:rPr lang="es-NI" b="0" i="0" smtClean="0"/>
                        <m:t>831</m:t>
                      </m:r>
                    </m:oMath>
                  </m:oMathPara>
                </a14:m>
                <a:endParaRPr lang="es-NI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endParaRPr lang="es-NI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0914" y="1475874"/>
                <a:ext cx="10760243" cy="4796589"/>
              </a:xfrm>
              <a:blipFill>
                <a:blip r:embed="rId2"/>
                <a:stretch>
                  <a:fillRect l="-1133" t="-216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4796589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3144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de Poisson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0914" y="1475874"/>
                <a:ext cx="10760243" cy="4796589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c) Recibir menos de 3 llamadas en un minuto</a:t>
                </a:r>
              </a:p>
              <a:p>
                <a:pPr marL="0" indent="0" algn="just">
                  <a:buNone/>
                </a:pPr>
                <a:endParaRPr lang="es-E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(x&lt;3)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= 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(0)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+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(1)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+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(2)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= 0.1831 + ? + 0.1465</a:t>
                </a:r>
                <a:endParaRPr lang="es-ES" baseline="-250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endParaRPr lang="es-ES" baseline="-250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endParaRPr lang="es-E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0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d>
                            <m:d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1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ⅇ</m:t>
                              </m:r>
                            </m:e>
                            <m:sup>
                              <m:r>
                                <a:rPr lang="es-NI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  <m:r>
                            <a:rPr lang="es-NI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NI" b="0" i="0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es-NI" b="0" i="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NI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0.1831⋅</m:t>
                          </m:r>
                          <m:r>
                            <a:rPr lang="es-NI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NI" b="0" i="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NI"/>
                        <m:t>0.</m:t>
                      </m:r>
                      <m:r>
                        <m:rPr>
                          <m:nor/>
                        </m:rPr>
                        <a:rPr lang="es-NI" b="0" i="0" smtClean="0"/>
                        <m:t>07326</m:t>
                      </m:r>
                    </m:oMath>
                  </m:oMathPara>
                </a14:m>
                <a:endParaRPr lang="es-E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endParaRPr lang="es-E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(x&lt;3)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= 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(0)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+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(1)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+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(2)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= 0.1831 + 0.07326 + 0.1465</a:t>
                </a:r>
                <a:endParaRPr lang="es-ES" baseline="-250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(x&lt;3)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= </a:t>
                </a:r>
                <a:r>
                  <a:rPr lang="es-ES" dirty="0">
                    <a:solidFill>
                      <a:srgbClr val="FF0000"/>
                    </a:solidFill>
                  </a:rPr>
                  <a:t>0.40286</a:t>
                </a:r>
                <a:endParaRPr lang="es-NI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0914" y="1475874"/>
                <a:ext cx="10760243" cy="4796589"/>
              </a:xfrm>
              <a:blipFill>
                <a:blip r:embed="rId2"/>
                <a:stretch>
                  <a:fillRect l="-1133" t="-2160" b="-1398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4796589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3553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de Poisson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0914" y="1475874"/>
                <a:ext cx="10760243" cy="4796589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d) Recibir más de 3 llamadas en un minuto</a:t>
                </a:r>
              </a:p>
              <a:p>
                <a:pPr marL="0" indent="0" algn="just">
                  <a:buNone/>
                </a:pPr>
                <a:endParaRPr lang="es-E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(x&gt;3)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= 1 – (p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(0)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+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(1)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+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(2) 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+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(3)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</a:p>
              <a:p>
                <a:pPr marL="0" indent="0" algn="just">
                  <a:buNone/>
                </a:pP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(3)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= ?</a:t>
                </a:r>
              </a:p>
              <a:p>
                <a:pPr marL="0" indent="0" algn="just">
                  <a:buNone/>
                </a:pPr>
                <a:endParaRPr lang="es-E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0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b>
                      </m:sSub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d>
                            <m:d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b="0" i="0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b>
                      </m:sSub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ⅇ</m:t>
                              </m:r>
                            </m:e>
                            <m:sup>
                              <m:r>
                                <a:rPr lang="es-NI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  <m:r>
                            <a:rPr lang="es-NI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NI" i="1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dirty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NI" b="0" i="0" dirty="0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s-NI" b="0" i="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NI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0.1831⋅</m:t>
                          </m:r>
                          <m:r>
                            <a:rPr lang="es-NI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</m:num>
                        <m:den>
                          <m:r>
                            <a:rPr lang="es-NI" b="0" i="0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NI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NI"/>
                        <m:t>0.1</m:t>
                      </m:r>
                      <m:r>
                        <m:rPr>
                          <m:nor/>
                        </m:rPr>
                        <a:rPr lang="es-NI" b="0" i="0" smtClean="0"/>
                        <m:t>953</m:t>
                      </m:r>
                    </m:oMath>
                  </m:oMathPara>
                </a14:m>
                <a:endParaRPr lang="es-NI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endParaRPr lang="es-E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p</a:t>
                </a:r>
                <a:r>
                  <a:rPr lang="es-ES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(x&gt;3) </a:t>
                </a:r>
                <a:r>
                  <a:rPr lang="es-ES" dirty="0">
                    <a:solidFill>
                      <a:schemeClr val="bg1">
                        <a:lumMod val="50000"/>
                      </a:schemeClr>
                    </a:solidFill>
                  </a:rPr>
                  <a:t>= 1 – 0.40286 + 0.1953 = 0.40184</a:t>
                </a:r>
                <a:endParaRPr lang="es-NI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0914" y="1475874"/>
                <a:ext cx="10760243" cy="4796589"/>
              </a:xfrm>
              <a:blipFill>
                <a:blip r:embed="rId2"/>
                <a:stretch>
                  <a:fillRect l="-1133" t="-216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4796589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22333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de Poisson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4796589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Practique: 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Si un banco recibe en promedio 6 cheques sin fondo por día, ¿cuáles son las probabilidades de que reciba,</a:t>
            </a:r>
          </a:p>
          <a:p>
            <a:pPr marL="514350" indent="-514350" algn="just">
              <a:buAutoNum type="alphaLcParenR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cuatro cheques sin fondo en un día dado, </a:t>
            </a:r>
          </a:p>
          <a:p>
            <a:pPr marL="514350" indent="-514350" algn="just">
              <a:buAutoNum type="alphaLcParenR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10 cheques sin fondos en cualquiera de dos días consecutivos? Pista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μ: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12 porque son dos días</a:t>
            </a:r>
            <a:endParaRPr lang="es-NI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4796589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20653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e Office">
  <a:themeElements>
    <a:clrScheme name="Upoli">
      <a:dk1>
        <a:srgbClr val="FF0000"/>
      </a:dk1>
      <a:lt1>
        <a:sysClr val="window" lastClr="FFFFFF"/>
      </a:lt1>
      <a:dk2>
        <a:srgbClr val="600000"/>
      </a:dk2>
      <a:lt2>
        <a:srgbClr val="E7E6E6"/>
      </a:lt2>
      <a:accent1>
        <a:srgbClr val="FF6566"/>
      </a:accent1>
      <a:accent2>
        <a:srgbClr val="C00000"/>
      </a:accent2>
      <a:accent3>
        <a:srgbClr val="A5A5A5"/>
      </a:accent3>
      <a:accent4>
        <a:srgbClr val="D8D8D8"/>
      </a:accent4>
      <a:accent5>
        <a:srgbClr val="BFBFBF"/>
      </a:accent5>
      <a:accent6>
        <a:srgbClr val="E50F0F"/>
      </a:accent6>
      <a:hlink>
        <a:srgbClr val="FF6566"/>
      </a:hlink>
      <a:folHlink>
        <a:srgbClr val="E0836A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xtura grung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E6A0BD37-2EB4-4727-AF56-20C9DFD3C6BA}" vid="{BE22D35E-4184-4E9C-B5FE-7F568E51B4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Upoli V1</Template>
  <TotalTime>127</TotalTime>
  <Words>690</Words>
  <Application>Microsoft Office PowerPoint</Application>
  <PresentationFormat>Panorámica</PresentationFormat>
  <Paragraphs>80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Cambria Math</vt:lpstr>
      <vt:lpstr>Consolas</vt:lpstr>
      <vt:lpstr>Verdana</vt:lpstr>
      <vt:lpstr>Tema de Office</vt:lpstr>
      <vt:lpstr>Presentación de PowerPoint</vt:lpstr>
      <vt:lpstr>Distribución de Poisson</vt:lpstr>
      <vt:lpstr>Distribución de Poisson</vt:lpstr>
      <vt:lpstr>Distribución de Poisson</vt:lpstr>
      <vt:lpstr>Distribución de Poisson</vt:lpstr>
      <vt:lpstr>Distribución de Poisson</vt:lpstr>
      <vt:lpstr>Distribución de Poisson</vt:lpstr>
      <vt:lpstr>Distribución de Poisson</vt:lpstr>
      <vt:lpstr>Distribución de Poisson</vt:lpstr>
      <vt:lpstr>Distribución de Poisson</vt:lpstr>
      <vt:lpstr>Distribución de Poisson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12</cp:revision>
  <dcterms:created xsi:type="dcterms:W3CDTF">2020-11-17T21:10:20Z</dcterms:created>
  <dcterms:modified xsi:type="dcterms:W3CDTF">2020-11-25T08:49:45Z</dcterms:modified>
</cp:coreProperties>
</file>