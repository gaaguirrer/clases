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5FB10-C8A1-4F4F-9B3C-9474298AB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5A8196-0A3E-4EC0-873A-D7333E81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27F34-D0FB-4704-B59A-BE77F3C5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66BC61-7C8A-4CC0-B003-FD940B40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B00AE-68FF-477E-816A-9DF3F619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04392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F236B1-CB2E-4775-85DC-BA9E43AE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B3B2E-0FFB-4DF0-AB80-A05AA48F3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7D039C-0818-4F85-A246-2090667B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6A448-2669-4F4F-B082-62D6CEA6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669C06-CD4F-403D-9ED4-65E1AB0B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59455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6EFC8-D5BD-42E6-8597-B95555D06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26B1E5C-B279-4920-A204-ECE0F216A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F182F1-D9AC-45F6-8BC1-A0209F9D1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8FD1B-0906-4C36-8AEB-61B8E569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C3E23B-090A-40C9-8C35-0E490927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36449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DD09A-AF26-4AF9-9B6E-2EDF5FD9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C039F2-37A8-4455-BE14-9E96A49BA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B9E2A8-6F64-4E2D-9996-D5A0CF5FBC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F82E8-5D0E-4DAC-B11F-19758FC7C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1234BA-94BB-4997-A4C9-060360FB7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5C3441-F6DF-4321-8979-46E4A3BF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9008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380143-EA96-486D-94F5-0AEB49216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BE4CFB-7C44-4372-9769-E6BCBF2FB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B8E01A-5E31-4999-BDF3-BF2C9820E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671DB7-186C-4C7B-9C41-DC22559C6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CF417A8-EC37-498F-A50E-E877CB927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0AFC24-2FD2-4F06-858D-A4029BC0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DBB0C1-E99E-4FFE-819A-9AA389DC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FBA749-C04E-4E56-9788-5B13547A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2919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ABF03-2128-45F6-B7D6-B4C177C5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6A164B-F2AA-45E3-A770-767C9DC81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B2F49E4-0306-4D15-A013-05EE60CFD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6E8355-0E49-48EB-94A1-4912B6FA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8606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1DA7DB-399C-4FBB-B300-43B03945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26F2501-01AB-4EFE-B1D4-C637F855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F65987-F13A-4C85-B564-B0016DDE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3160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C5CAC-EB14-4A66-8DB2-63DB938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D8C676-1145-4CC2-A0BB-5E48D8D31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EDD3BEB-03C2-494B-B9CF-C1030C7B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32AF35-5B6C-4AF3-A776-409FAF97F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28BA81-F693-486E-95A5-ECE382A9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D1BFD5-ADB2-4D24-89AF-54E9A757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8924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AC9BB-F533-483A-8040-001528D3D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442E9A-9E66-4430-A844-2465B7C71B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4F8BFB-0961-45C2-9905-0195FDC77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C5602C-0688-4F4F-B0D5-15F13E24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916398-853C-4A16-AC6E-4B086273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53D9FB2-DF9D-494B-848A-C30392CD8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25334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A5E3B-FE5D-4085-A2C6-0F8A476F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E474F6-ED88-4114-A092-D95A31D70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2C431C-8174-47D6-B213-6F27E178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967D14-817B-49C7-A0D4-D45AC542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D253A2-9DFC-4074-963D-F72BDA70B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6813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6D0654-BF6D-4C80-98E4-D67FBDCF28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DA9C1BD-D900-49CB-99F4-649CE9C70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9E960-35C4-4302-9429-ACE93B91F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21D45-3502-41BD-92DD-3658511F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E223A4-9559-4EFD-B0E1-E37A433D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9491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99B664-8502-48FB-A15E-DE1D7D60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53C223-7673-4E04-8793-7B59E631A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9DE5BE-D15B-4748-9F6E-39EE229B1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4186E-DD25-4294-BAA2-330EDAED041A}" type="datetimeFigureOut">
              <a:rPr lang="es-NI" smtClean="0"/>
              <a:t>6/11/2020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73841B-CAE7-499F-B346-A3E2EBB35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DA4CE8-8B79-4E71-B60A-E36D60BEF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AD454-1B8F-450E-AC8D-FD7A01121A0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9711587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53961" y="1253613"/>
            <a:ext cx="115184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La regla de la multiplicación o regla del producto</a:t>
            </a:r>
            <a:r>
              <a:rPr lang="es-ES" dirty="0"/>
              <a:t>, permite encontrar la probabilidad de que ocurra el evento A y el evento B al mismo tiempo (probabilidad conjunta). Esta regla depende de si los eventos son dependientes o independientes.</a:t>
            </a:r>
          </a:p>
          <a:p>
            <a:endParaRPr lang="es-ES" dirty="0"/>
          </a:p>
          <a:p>
            <a:r>
              <a:rPr lang="es-ES" b="1" dirty="0"/>
              <a:t>Eventos dependientes</a:t>
            </a:r>
          </a:p>
          <a:p>
            <a:r>
              <a:rPr lang="es-ES" dirty="0"/>
              <a:t>Dos eventos A y B son dependientes, si la ocurrencia de uno de ellos afecta la ocurrencia del otro. Para eventos dependientes, la regla de la multiplicación establece que:</a:t>
            </a:r>
            <a:endParaRPr lang="es-NI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1028" name="Picture 4" descr="regla de la multiplicación o producto de probabilidades">
            <a:extLst>
              <a:ext uri="{FF2B5EF4-FFF2-40B4-BE49-F238E27FC236}">
                <a16:creationId xmlns:a16="http://schemas.microsoft.com/office/drawing/2014/main" id="{E7F0209E-AF4E-44F5-8C14-9FCB5CFA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0814" y="4053348"/>
            <a:ext cx="5135171" cy="135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39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53961" y="1253613"/>
            <a:ext cx="115184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Ejemplo 1:</a:t>
            </a:r>
          </a:p>
          <a:p>
            <a:r>
              <a:rPr lang="es-ES" dirty="0"/>
              <a:t>Una caja contiene 2 canicas azules y 3 rojas. Si se extraen dos canicas al azar sin reposición, ¿cuál es la probabilidad de que las dos sean azules?</a:t>
            </a:r>
          </a:p>
          <a:p>
            <a:endParaRPr lang="es-ES" dirty="0"/>
          </a:p>
          <a:p>
            <a:r>
              <a:rPr lang="es-ES" b="1" dirty="0"/>
              <a:t>Solución:</a:t>
            </a:r>
            <a:endParaRPr lang="es-ES" dirty="0"/>
          </a:p>
          <a:p>
            <a:r>
              <a:rPr lang="es-ES" dirty="0"/>
              <a:t>Dado que las canicas serán extraídas de la misma caja, y que las canicas que se extraigan, no serán devueltas a la caja (no hay reposición), entonces, se trata de eventos dependientes.</a:t>
            </a:r>
          </a:p>
          <a:p>
            <a:endParaRPr lang="es-ES" dirty="0"/>
          </a:p>
          <a:p>
            <a:pPr marL="987425"/>
            <a:r>
              <a:rPr lang="es-ES" dirty="0"/>
              <a:t>Evento A: obtener una canica azul en la primera extracción.</a:t>
            </a:r>
          </a:p>
          <a:p>
            <a:pPr marL="987425"/>
            <a:r>
              <a:rPr lang="es-ES" dirty="0"/>
              <a:t>Evento B: obtener una canica azul en la segunda extracción.</a:t>
            </a:r>
          </a:p>
          <a:p>
            <a:pPr marL="987425"/>
            <a:r>
              <a:rPr lang="es-ES" dirty="0"/>
              <a:t>Por la regla de la multiplicación, sabemos que:</a:t>
            </a:r>
            <a:endParaRPr lang="es-NI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B934373-F9E6-421D-B905-36BB43FDB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68727" y="4684065"/>
            <a:ext cx="6149745" cy="18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3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36754" y="1565586"/>
            <a:ext cx="115184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Eventos independientes</a:t>
            </a:r>
          </a:p>
          <a:p>
            <a:endParaRPr lang="es-ES" dirty="0"/>
          </a:p>
          <a:p>
            <a:r>
              <a:rPr lang="es-ES" dirty="0"/>
              <a:t>Dos eventos A y B son independientes, si la ocurrencia de uno de ellos no afecta la ocurrencia del otro, es decir, cuando los eventos A y B no están relacionados. Para eventos independientes, la regla de la multiplicación establece que:</a:t>
            </a:r>
          </a:p>
          <a:p>
            <a:endParaRPr lang="es-ES" u="sng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7F0209E-AF4E-44F5-8C14-9FCB5CFA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28413" y="4297263"/>
            <a:ext cx="5135171" cy="665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316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53961" y="1253613"/>
            <a:ext cx="11518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Ejemplo 2:</a:t>
            </a:r>
          </a:p>
          <a:p>
            <a:r>
              <a:rPr lang="es-ES" dirty="0"/>
              <a:t>En un colegio, la probabilidad de que un alumno seleccionado al azar hable inglés es de 0,20; mientras que la probabilidad de que un alumno juegue fútbol es de 0,80.</a:t>
            </a:r>
          </a:p>
          <a:p>
            <a:endParaRPr lang="es-ES" dirty="0"/>
          </a:p>
          <a:p>
            <a:r>
              <a:rPr lang="es-ES" dirty="0"/>
              <a:t>El hecho de que un alumno hable inglés, no afecta en nada que juegue fútbol; por lo tanto, se trata de eventos independientes.</a:t>
            </a:r>
          </a:p>
          <a:p>
            <a:endParaRPr lang="es-ES" dirty="0"/>
          </a:p>
          <a:p>
            <a:pPr marL="811213"/>
            <a:r>
              <a:rPr lang="es-ES" dirty="0"/>
              <a:t>Evento A: que el alumno hable inglés. P(A) = 0,20.</a:t>
            </a:r>
          </a:p>
          <a:p>
            <a:pPr marL="811213"/>
            <a:r>
              <a:rPr lang="es-ES" dirty="0"/>
              <a:t>Evento B: que el alumno juegue fútbol. P(B) = 0,80.</a:t>
            </a:r>
          </a:p>
          <a:p>
            <a:pPr marL="811213"/>
            <a:r>
              <a:rPr lang="es-ES" dirty="0"/>
              <a:t>Usamos la regla de la multiplicación para eventos independientes:</a:t>
            </a:r>
            <a:endParaRPr lang="es-NI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3074" name="Picture 2" descr="regla de la multiplicación o producto de probabilidades">
            <a:extLst>
              <a:ext uri="{FF2B5EF4-FFF2-40B4-BE49-F238E27FC236}">
                <a16:creationId xmlns:a16="http://schemas.microsoft.com/office/drawing/2014/main" id="{432F8CCA-A763-4C16-92A6-FD229BC6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308" y="4743605"/>
            <a:ext cx="6901384" cy="117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851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53961" y="1253613"/>
            <a:ext cx="115184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Ejemplo 2:</a:t>
            </a:r>
          </a:p>
          <a:p>
            <a:r>
              <a:rPr lang="es-ES" dirty="0"/>
              <a:t>En un colegio, la probabilidad de que un alumno seleccionado al azar hable inglés es de 0,20; mientras que la probabilidad de que un alumno juegue fútbol es de 0,80.</a:t>
            </a:r>
          </a:p>
          <a:p>
            <a:endParaRPr lang="es-ES" dirty="0"/>
          </a:p>
          <a:p>
            <a:r>
              <a:rPr lang="es-ES" dirty="0"/>
              <a:t>El hecho de que un alumno hable inglés, no afecta en nada que juegue fútbol; por lo tanto, se trata de eventos independientes.</a:t>
            </a:r>
          </a:p>
          <a:p>
            <a:endParaRPr lang="es-ES" dirty="0"/>
          </a:p>
          <a:p>
            <a:pPr marL="811213"/>
            <a:r>
              <a:rPr lang="es-ES" dirty="0"/>
              <a:t>Evento A: que el alumno hable inglés. P(A) = 0,20.</a:t>
            </a:r>
          </a:p>
          <a:p>
            <a:pPr marL="811213"/>
            <a:r>
              <a:rPr lang="es-ES" dirty="0"/>
              <a:t>Evento B: que el alumno juegue fútbol. P(B) = 0,80.</a:t>
            </a:r>
          </a:p>
          <a:p>
            <a:pPr marL="811213"/>
            <a:r>
              <a:rPr lang="es-ES" dirty="0"/>
              <a:t>Usamos la regla de la multiplicación para eventos independientes:</a:t>
            </a:r>
            <a:endParaRPr lang="es-NI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pic>
        <p:nvPicPr>
          <p:cNvPr id="3074" name="Picture 2" descr="regla de la multiplicación o producto de probabilidades">
            <a:extLst>
              <a:ext uri="{FF2B5EF4-FFF2-40B4-BE49-F238E27FC236}">
                <a16:creationId xmlns:a16="http://schemas.microsoft.com/office/drawing/2014/main" id="{432F8CCA-A763-4C16-92A6-FD229BC68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308" y="4743605"/>
            <a:ext cx="6901384" cy="117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711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076FBC8-ABE6-4918-92A2-3CDCA926D15C}"/>
              </a:ext>
            </a:extLst>
          </p:cNvPr>
          <p:cNvSpPr/>
          <p:nvPr/>
        </p:nvSpPr>
        <p:spPr>
          <a:xfrm>
            <a:off x="918941" y="179894"/>
            <a:ext cx="10354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50" dirty="0">
                <a:ln w="0">
                  <a:noFill/>
                </a:ln>
                <a:solidFill>
                  <a:schemeClr val="bg2"/>
                </a:solidFill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Regla de la multiplicación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897E1A-28A0-4060-B4E3-36A29C042D99}"/>
              </a:ext>
            </a:extLst>
          </p:cNvPr>
          <p:cNvSpPr txBox="1"/>
          <p:nvPr/>
        </p:nvSpPr>
        <p:spPr>
          <a:xfrm>
            <a:off x="353961" y="1253613"/>
            <a:ext cx="11518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Ejercicio 1:</a:t>
            </a:r>
          </a:p>
          <a:p>
            <a:r>
              <a:rPr lang="es-ES" dirty="0"/>
              <a:t>Sabiendo que P(A) = 0,70; P(B) = 0,50; y además, P(A∩B) = 0,40; determinar si son eventos dependientes o independientes.</a:t>
            </a:r>
            <a:endParaRPr lang="es-NI" dirty="0"/>
          </a:p>
        </p:txBody>
      </p:sp>
      <p:sp>
        <p:nvSpPr>
          <p:cNvPr id="8" name="AutoShape 2" descr="regla de la multiplicación o producto de probabilidades">
            <a:extLst>
              <a:ext uri="{FF2B5EF4-FFF2-40B4-BE49-F238E27FC236}">
                <a16:creationId xmlns:a16="http://schemas.microsoft.com/office/drawing/2014/main" id="{9A7D5ECF-CA92-4738-83A3-5EAF998F19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8C4B2E9-0F16-45BE-B7F2-8213881BEABF}"/>
              </a:ext>
            </a:extLst>
          </p:cNvPr>
          <p:cNvSpPr txBox="1"/>
          <p:nvPr/>
        </p:nvSpPr>
        <p:spPr>
          <a:xfrm>
            <a:off x="353961" y="2814935"/>
            <a:ext cx="115184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los eventos independientes, se cumple que: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En este caso:</a:t>
            </a:r>
          </a:p>
          <a:p>
            <a:r>
              <a:rPr lang="es-ES" dirty="0"/>
              <a:t>P(A∩B) = 0,40.</a:t>
            </a:r>
          </a:p>
          <a:p>
            <a:r>
              <a:rPr lang="es-ES" dirty="0"/>
              <a:t>P(A) × P(B) = 0,70 × 0,50 = 0,35.</a:t>
            </a:r>
          </a:p>
          <a:p>
            <a:r>
              <a:rPr lang="es-ES" dirty="0"/>
              <a:t>Podemos ver que 0,40 es diferente de 0,35; entonces:</a:t>
            </a:r>
          </a:p>
          <a:p>
            <a:r>
              <a:rPr lang="es-ES" dirty="0"/>
              <a:t>Podemos concluir que no son eventos independientes, es decir, </a:t>
            </a:r>
            <a:r>
              <a:rPr lang="es-ES" b="1" dirty="0"/>
              <a:t>son eventos dependientes.</a:t>
            </a:r>
            <a:endParaRPr lang="es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012EDA-AFA3-45D2-BAE5-4439D83B1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40497" y="3599766"/>
            <a:ext cx="4983544" cy="64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8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Escala de grise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573</Words>
  <Application>Microsoft Office PowerPoint</Application>
  <PresentationFormat>Panorámica</PresentationFormat>
  <Paragraphs>51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Consolas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3</cp:revision>
  <dcterms:created xsi:type="dcterms:W3CDTF">2020-11-07T00:30:27Z</dcterms:created>
  <dcterms:modified xsi:type="dcterms:W3CDTF">2020-11-07T00:55:33Z</dcterms:modified>
</cp:coreProperties>
</file>