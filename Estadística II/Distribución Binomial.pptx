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E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67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282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0136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66206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7093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4319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954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2544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6719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3386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8149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8881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B1435-1504-4EA2-99E8-6AD0170FE3F2}" type="datetimeFigureOut">
              <a:rPr lang="es-NI" smtClean="0"/>
              <a:t>14/11/2020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DB535-8679-4158-8D78-E4F9F44C35A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14465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4FA933-CF79-497C-88A7-A24E29A721D6}"/>
              </a:ext>
            </a:extLst>
          </p:cNvPr>
          <p:cNvSpPr/>
          <p:nvPr/>
        </p:nvSpPr>
        <p:spPr>
          <a:xfrm>
            <a:off x="1826241" y="161073"/>
            <a:ext cx="85395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Distribución Binomial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EE4888-3EA0-4729-9474-1D6A3DE14AAA}"/>
              </a:ext>
            </a:extLst>
          </p:cNvPr>
          <p:cNvSpPr txBox="1"/>
          <p:nvPr/>
        </p:nvSpPr>
        <p:spPr>
          <a:xfrm>
            <a:off x="346841" y="1198179"/>
            <a:ext cx="114930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La </a:t>
            </a:r>
            <a:r>
              <a:rPr lang="es-ES" sz="2000" b="1" dirty="0"/>
              <a:t>distribución binomial </a:t>
            </a:r>
            <a:r>
              <a:rPr lang="es-ES" sz="2000" dirty="0"/>
              <a:t>es una </a:t>
            </a:r>
            <a:r>
              <a:rPr lang="es-ES" sz="2000" u="sng" dirty="0"/>
              <a:t>distribución de probabilidad discreta</a:t>
            </a:r>
            <a:r>
              <a:rPr lang="es-ES" sz="2000" dirty="0"/>
              <a:t> que nos dice el porcentaje en que es probable obtener un resultado entre dos posibles al realizar un número n de pruebas.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Por ejemplo, si lanzamos un dado la posibilidad de que el resultado sea par (2, 4 </a:t>
            </a:r>
            <a:r>
              <a:rPr lang="es-ES" sz="2000" dirty="0" err="1"/>
              <a:t>ó</a:t>
            </a:r>
            <a:r>
              <a:rPr lang="es-ES" sz="2000" dirty="0"/>
              <a:t> 6) o impar (1, 3 </a:t>
            </a:r>
            <a:r>
              <a:rPr lang="es-ES" sz="2000" dirty="0" err="1"/>
              <a:t>ó</a:t>
            </a:r>
            <a:r>
              <a:rPr lang="es-ES" sz="2000" dirty="0"/>
              <a:t> 5) será exactamente la misma si el dado está bien equilibrado, el 50% y por muchas veces que lo lancemos la probabilidad, en cada una de esas veces, seguirá siendo el 50%.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En la distribución binomial tenemos tres variables:</a:t>
            </a:r>
          </a:p>
          <a:p>
            <a:pPr algn="just"/>
            <a:endParaRPr lang="es-ES" sz="2000" dirty="0"/>
          </a:p>
          <a:p>
            <a:pPr marL="725488" algn="just"/>
            <a:r>
              <a:rPr lang="es-ES" sz="2000" b="1" dirty="0"/>
              <a:t>n</a:t>
            </a:r>
            <a:r>
              <a:rPr lang="es-ES" sz="2000" dirty="0"/>
              <a:t> es el número de veces que repetimos el experimento.</a:t>
            </a:r>
          </a:p>
          <a:p>
            <a:pPr marL="725488" algn="just"/>
            <a:r>
              <a:rPr lang="es-ES" sz="2000" b="1" dirty="0"/>
              <a:t>p</a:t>
            </a:r>
            <a:r>
              <a:rPr lang="es-ES" sz="2000" dirty="0"/>
              <a:t> es uno de los dos resultados al que llamaremos éxito.</a:t>
            </a:r>
          </a:p>
          <a:p>
            <a:pPr marL="725488" algn="just"/>
            <a:r>
              <a:rPr lang="es-ES" sz="2000" b="1" dirty="0"/>
              <a:t>q</a:t>
            </a:r>
            <a:r>
              <a:rPr lang="es-ES" sz="2000" dirty="0"/>
              <a:t> es el otro resultado posible al que llamaremos fracaso.</a:t>
            </a:r>
            <a:endParaRPr lang="es-NI" sz="2000" dirty="0"/>
          </a:p>
        </p:txBody>
      </p:sp>
    </p:spTree>
    <p:extLst>
      <p:ext uri="{BB962C8B-B14F-4D97-AF65-F5344CB8AC3E}">
        <p14:creationId xmlns:p14="http://schemas.microsoft.com/office/powerpoint/2010/main" val="752953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4FA933-CF79-497C-88A7-A24E29A721D6}"/>
              </a:ext>
            </a:extLst>
          </p:cNvPr>
          <p:cNvSpPr/>
          <p:nvPr/>
        </p:nvSpPr>
        <p:spPr>
          <a:xfrm>
            <a:off x="1826241" y="161073"/>
            <a:ext cx="85395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Distribución Binomial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EE4888-3EA0-4729-9474-1D6A3DE14AAA}"/>
              </a:ext>
            </a:extLst>
          </p:cNvPr>
          <p:cNvSpPr txBox="1"/>
          <p:nvPr/>
        </p:nvSpPr>
        <p:spPr>
          <a:xfrm>
            <a:off x="346841" y="1198179"/>
            <a:ext cx="1149306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Como p y q son los dos únicos resultados posibles, entre los dos su porcentaje debe sumar uno por lo que p=1-q.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Para hacer el experimento lo primero que tenemos que hacer es definir p, es decir, en el ejemplo del dado definir si éxito o p es que salga un número par o impar; a partir de ahí, q será la otra posibilidad.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Otro ejemplo: supongamos que vamos con prisa por la calle y queremos tomar un taxi, vamos a calcular la probabilidad de que el próximo taxi que pase esté libre u ocupado. Como hoy está lloviendo es muy probable que esté ocupado. Vamos a asignar a la probabilidad de que esté libre un 15% (es decir, 0,15). Si definimos p o éxito como la probabilidad de que esté libre la de que esté ocupado será q que, al ser 1-p será 1-0,15, es decir 0,85 o, dicho en porcentaje, el 85%</a:t>
            </a:r>
            <a:endParaRPr lang="es-NI" sz="2000" dirty="0"/>
          </a:p>
        </p:txBody>
      </p:sp>
    </p:spTree>
    <p:extLst>
      <p:ext uri="{BB962C8B-B14F-4D97-AF65-F5344CB8AC3E}">
        <p14:creationId xmlns:p14="http://schemas.microsoft.com/office/powerpoint/2010/main" val="324578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4FA933-CF79-497C-88A7-A24E29A721D6}"/>
              </a:ext>
            </a:extLst>
          </p:cNvPr>
          <p:cNvSpPr/>
          <p:nvPr/>
        </p:nvSpPr>
        <p:spPr>
          <a:xfrm>
            <a:off x="1826241" y="161073"/>
            <a:ext cx="85395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Distribución Binomial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EE4888-3EA0-4729-9474-1D6A3DE14AAA}"/>
              </a:ext>
            </a:extLst>
          </p:cNvPr>
          <p:cNvSpPr txBox="1"/>
          <p:nvPr/>
        </p:nvSpPr>
        <p:spPr>
          <a:xfrm>
            <a:off x="346841" y="1198179"/>
            <a:ext cx="114930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Así, si queremos saber la probabilidad de que un resultado ocurra determinadas veces utilizaremos estos porcentajes.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Por ejemplo, si observamos que pasan diez taxis y queremos saber la probabilidad de que tres de ellos estén libres la fórmula sería:</a:t>
            </a:r>
            <a:endParaRPr lang="es-NI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0DC57C-D357-4A41-8E55-23D6E4835E5E}"/>
              </a:ext>
            </a:extLst>
          </p:cNvPr>
          <p:cNvSpPr txBox="1"/>
          <p:nvPr/>
        </p:nvSpPr>
        <p:spPr>
          <a:xfrm>
            <a:off x="385982" y="4844213"/>
            <a:ext cx="114930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Donde P es la probabilidad de que tres taxis de los diez estén libres, </a:t>
            </a:r>
            <a:r>
              <a:rPr lang="es-ES" sz="2000" dirty="0">
                <a:solidFill>
                  <a:srgbClr val="FFFF00"/>
                </a:solidFill>
              </a:rPr>
              <a:t>x las veces que queremos calcular que estén libres</a:t>
            </a:r>
            <a:r>
              <a:rPr lang="es-ES" sz="2000" dirty="0"/>
              <a:t>, en este caso tres, </a:t>
            </a:r>
            <a:r>
              <a:rPr lang="es-ES" sz="2000" dirty="0">
                <a:solidFill>
                  <a:srgbClr val="00B0F0"/>
                </a:solidFill>
              </a:rPr>
              <a:t>p el porcentaje de éxito</a:t>
            </a:r>
            <a:r>
              <a:rPr lang="es-ES" sz="2000" dirty="0"/>
              <a:t>, en este caso 0,15, elevado a x, que hemos visto antes, por </a:t>
            </a:r>
            <a:r>
              <a:rPr lang="es-ES" sz="2000" dirty="0">
                <a:solidFill>
                  <a:srgbClr val="04EC30"/>
                </a:solidFill>
              </a:rPr>
              <a:t>q</a:t>
            </a:r>
            <a:r>
              <a:rPr lang="es-ES" sz="2000" dirty="0"/>
              <a:t> (el porcentaje de fracaso que, en este caso es 0,85) elevado a n menos x; n sobre x se calcula utilizando números factoriales.</a:t>
            </a:r>
            <a:endParaRPr lang="es-NI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0EDA713-88D2-4D41-8245-7E1B20A98A4C}"/>
                  </a:ext>
                </a:extLst>
              </p:cNvPr>
              <p:cNvSpPr txBox="1"/>
              <p:nvPr/>
            </p:nvSpPr>
            <p:spPr>
              <a:xfrm>
                <a:off x="2592467" y="3099221"/>
                <a:ext cx="7854073" cy="776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NI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sz="3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d>
                          <m:dPr>
                            <m:ctrlPr>
                              <a:rPr lang="es-NI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es-NI" sz="3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NI" sz="32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32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NI" sz="32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s-NI" sz="32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s-NI" sz="32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s-NI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s-NI" sz="3200" i="1" smtClean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3200" b="0" i="1" smtClean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NI" sz="3200" i="1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s-NI" sz="3200" i="1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NI" sz="3200" i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3200" i="1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s-NI" sz="3200" b="0" i="0" smtClean="0">
                        <a:solidFill>
                          <a:srgbClr val="04EC3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NI" sz="32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NI" sz="32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s-NI" sz="32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NI" sz="32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s-NI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32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s-NI" sz="32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32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NI" sz="32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NI" sz="32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NI" sz="32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s-NI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NI" sz="32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NI" sz="32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s-NI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s-NI" sz="3200" dirty="0">
                    <a:solidFill>
                      <a:srgbClr val="00B0F0"/>
                    </a:solidFill>
                  </a:rPr>
                  <a:t> </a:t>
                </a:r>
                <a:r>
                  <a:rPr lang="es-NI" sz="3200" dirty="0"/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NI" sz="3200" i="1" smtClean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3200" i="1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NI" sz="3200" i="1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s-NI" sz="3200" i="1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NI" sz="320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3200" i="1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s-NI" sz="3200" dirty="0"/>
                  <a:t> </a:t>
                </a: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0EDA713-88D2-4D41-8245-7E1B20A98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467" y="3099221"/>
                <a:ext cx="7854073" cy="776623"/>
              </a:xfrm>
              <a:prstGeom prst="rect">
                <a:avLst/>
              </a:prstGeom>
              <a:blipFill>
                <a:blip r:embed="rId2"/>
                <a:stretch>
                  <a:fillRect t="-1563" b="-8594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7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4FA933-CF79-497C-88A7-A24E29A721D6}"/>
              </a:ext>
            </a:extLst>
          </p:cNvPr>
          <p:cNvSpPr/>
          <p:nvPr/>
        </p:nvSpPr>
        <p:spPr>
          <a:xfrm>
            <a:off x="1826241" y="161073"/>
            <a:ext cx="85395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Distribución Binomial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EE4888-3EA0-4729-9474-1D6A3DE14AAA}"/>
              </a:ext>
            </a:extLst>
          </p:cNvPr>
          <p:cNvSpPr txBox="1"/>
          <p:nvPr/>
        </p:nvSpPr>
        <p:spPr>
          <a:xfrm>
            <a:off x="346841" y="1198179"/>
            <a:ext cx="114930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/>
              <a:t>Ejemplo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Imaginemos que un 80% de personas en el mundo ha visto el partido de la final del último mundial de fútbol. Tras el evento, 4 amigos se reúnen a conversar, ¿Cuál es la probabilidad de que 3 de ellos hayan visto el partido?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b="1" dirty="0"/>
              <a:t>Solución</a:t>
            </a:r>
          </a:p>
          <a:p>
            <a:pPr algn="just"/>
            <a:r>
              <a:rPr lang="es-ES" sz="2000" dirty="0"/>
              <a:t>Definamos las variables del experimento: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n    = 4 (es el total de la muestra que tenemos)</a:t>
            </a:r>
          </a:p>
          <a:p>
            <a:pPr algn="just"/>
            <a:r>
              <a:rPr lang="es-ES" sz="2000" dirty="0"/>
              <a:t>x    = número de éxitos, que en este caso es igual a 3, dado que buscamos la probabilidad de que 3 de los 4 amigos lo hayan visto.</a:t>
            </a:r>
          </a:p>
          <a:p>
            <a:pPr algn="just"/>
            <a:r>
              <a:rPr lang="es-ES" sz="2000" dirty="0"/>
              <a:t>p    = probabilidad de éxito (0,8)</a:t>
            </a:r>
          </a:p>
          <a:p>
            <a:pPr algn="just"/>
            <a:r>
              <a:rPr lang="es-ES" sz="2000" dirty="0"/>
              <a:t>q    = probabilidad de fracaso (0,2). Este resultado se obtiene al restar 1-p.</a:t>
            </a:r>
          </a:p>
          <a:p>
            <a:pPr algn="just"/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161818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4FA933-CF79-497C-88A7-A24E29A721D6}"/>
              </a:ext>
            </a:extLst>
          </p:cNvPr>
          <p:cNvSpPr/>
          <p:nvPr/>
        </p:nvSpPr>
        <p:spPr>
          <a:xfrm>
            <a:off x="1826241" y="161073"/>
            <a:ext cx="85395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Distribución Binomial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EE4888-3EA0-4729-9474-1D6A3DE14AAA}"/>
              </a:ext>
            </a:extLst>
          </p:cNvPr>
          <p:cNvSpPr txBox="1"/>
          <p:nvPr/>
        </p:nvSpPr>
        <p:spPr>
          <a:xfrm>
            <a:off x="346841" y="1198179"/>
            <a:ext cx="1149306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Tras definir todas nuestras variables, simplemente sustituimos en la formula.</a:t>
            </a:r>
          </a:p>
          <a:p>
            <a:pPr algn="just"/>
            <a:endParaRPr lang="es-ES" sz="2000" b="1" dirty="0"/>
          </a:p>
          <a:p>
            <a:pPr algn="just"/>
            <a:endParaRPr lang="es-ES" sz="2000" b="1" dirty="0"/>
          </a:p>
          <a:p>
            <a:pPr algn="just"/>
            <a:endParaRPr lang="es-ES" sz="2000" b="1" dirty="0"/>
          </a:p>
          <a:p>
            <a:pPr algn="just"/>
            <a:endParaRPr lang="es-ES" sz="2000" b="1" dirty="0"/>
          </a:p>
          <a:p>
            <a:pPr algn="just"/>
            <a:endParaRPr lang="es-ES" sz="2000" b="1" dirty="0"/>
          </a:p>
          <a:p>
            <a:pPr algn="just"/>
            <a:endParaRPr lang="es-ES" sz="2000" b="1" dirty="0"/>
          </a:p>
          <a:p>
            <a:pPr algn="just"/>
            <a:endParaRPr lang="es-ES" sz="2000" b="1" dirty="0"/>
          </a:p>
          <a:p>
            <a:pPr algn="just"/>
            <a:r>
              <a:rPr lang="es-ES" sz="2000" dirty="0"/>
              <a:t>El numerador de la factorial se obtendría de multiplicar 4*3*2*1 = 24 y en el denominador tendríamos 3*2*1*1 = 6. Por lo tanto, el resultado de la factorial sería 24/6=4.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Fuera del corchete tenemos dos números. El primero sería 0,8^3=0,512 y el segundo 0,2 (dado que 4-3 = 1 y cualquier número elevado a 1 es el mismo).</a:t>
            </a:r>
          </a:p>
          <a:p>
            <a:pPr algn="just"/>
            <a:r>
              <a:rPr lang="es-ES" sz="2000" dirty="0"/>
              <a:t>Por tanto, nuestro resultado final sería: 4*0,512*0,2 = 0,4096. Si multiplicamos por 100 tenemos que hay una probabilidad del 40,96% de que 3 de los 4 amigos haya visto el partido de la final del mundial.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AC6EEE-BBD8-4A5B-B5F6-674F6FE11710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37" t="23283" r="11410" b="25805"/>
          <a:stretch/>
        </p:blipFill>
        <p:spPr bwMode="auto">
          <a:xfrm>
            <a:off x="3874604" y="1961252"/>
            <a:ext cx="4442791" cy="14677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6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4FA933-CF79-497C-88A7-A24E29A721D6}"/>
              </a:ext>
            </a:extLst>
          </p:cNvPr>
          <p:cNvSpPr/>
          <p:nvPr/>
        </p:nvSpPr>
        <p:spPr>
          <a:xfrm>
            <a:off x="1826241" y="161073"/>
            <a:ext cx="85395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Distribución Binomial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EE4888-3EA0-4729-9474-1D6A3DE14AAA}"/>
              </a:ext>
            </a:extLst>
          </p:cNvPr>
          <p:cNvSpPr txBox="1"/>
          <p:nvPr/>
        </p:nvSpPr>
        <p:spPr>
          <a:xfrm>
            <a:off x="220717" y="1084403"/>
            <a:ext cx="1149306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/>
              <a:t>Ejercicio 1:</a:t>
            </a:r>
          </a:p>
          <a:p>
            <a:pPr algn="just"/>
            <a:r>
              <a:rPr lang="es-ES" sz="2000" dirty="0"/>
              <a:t>La última novela de un autor ha tenido un gran éxito, hasta el punto de que el 80% de los lectores ya la han leído.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Un grupo de 4 amigos son aficionados a la lectura:</a:t>
            </a:r>
          </a:p>
          <a:p>
            <a:pPr algn="just"/>
            <a:endParaRPr lang="es-ES" sz="2000" dirty="0"/>
          </a:p>
          <a:p>
            <a:pPr marL="1185862" indent="-457200" algn="just">
              <a:buFont typeface="+mj-lt"/>
              <a:buAutoNum type="alphaLcParenR"/>
            </a:pPr>
            <a:r>
              <a:rPr lang="es-ES" sz="2000" dirty="0"/>
              <a:t>¿Cuál es la probabilidad de que en el grupo hayan leído la novela 2 personas?</a:t>
            </a:r>
          </a:p>
          <a:p>
            <a:pPr marL="1185862" indent="-457200" algn="just">
              <a:buFont typeface="+mj-lt"/>
              <a:buAutoNum type="alphaLcParenR"/>
            </a:pPr>
            <a:r>
              <a:rPr lang="es-ES" sz="2000" dirty="0"/>
              <a:t>¿Y cómo máximo 2?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b="1" dirty="0"/>
              <a:t>Solución</a:t>
            </a:r>
          </a:p>
          <a:p>
            <a:pPr marL="457200" indent="-457200" algn="just">
              <a:buAutoNum type="alphaLcParenR"/>
            </a:pPr>
            <a:r>
              <a:rPr lang="es-ES" sz="2000" dirty="0"/>
              <a:t>¿Cuál es la probabilidad de que en el grupo hayan leído la novela 2 personas?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p = 0.8		q= 1 – p = 1 – 0.8 = 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2A4AFA4-DBAB-467B-A31C-75749152245E}"/>
                  </a:ext>
                </a:extLst>
              </p:cNvPr>
              <p:cNvSpPr txBox="1"/>
              <p:nvPr/>
            </p:nvSpPr>
            <p:spPr>
              <a:xfrm>
                <a:off x="346841" y="5340894"/>
                <a:ext cx="10366236" cy="612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ctrlPr>
                              <a:rPr lang="es-NI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  <m:r>
                      <a:rPr lang="es-NI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NI" sz="2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4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NI" sz="2400" i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s-NI" sz="2400" i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s-NI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i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s-NI" sz="2400" i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s-NI" sz="2400" i="1" smtClean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i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</m:e>
                      <m:sup>
                        <m:r>
                          <a:rPr lang="es-NI" sz="2400" i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4−2</m:t>
                        </m:r>
                      </m:sup>
                    </m:sSup>
                    <m:r>
                      <a:rPr lang="es-NI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NI" sz="2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NI" sz="2400" i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4!</m:t>
                            </m:r>
                          </m:num>
                          <m:den>
                            <m:r>
                              <a:rPr lang="es-NI" sz="2400" i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2!</m:t>
                            </m:r>
                            <m:d>
                              <m:dPr>
                                <m:ctrlPr>
                                  <a:rPr lang="es-NI" sz="24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NI" sz="2400" i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4−2</m:t>
                                </m:r>
                              </m:e>
                            </m:d>
                            <m:r>
                              <a:rPr lang="es-NI" sz="2400" i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s-NI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i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s-NI" sz="2400" i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NI" sz="24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NI" sz="2400" i="1" smtClean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i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</m:e>
                      <m:sup>
                        <m:r>
                          <a:rPr lang="es-NI" sz="2400" i="0">
                            <a:solidFill>
                              <a:srgbClr val="04EC3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NI" sz="2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NI" sz="24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NI" sz="24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s-NI" sz="24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s-NI" sz="24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NI" sz="240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es-NI" sz="24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  <m:r>
                      <a:rPr lang="es-NI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0.64</m:t>
                    </m:r>
                  </m:oMath>
                </a14:m>
                <a:r>
                  <a:rPr lang="es-NI" sz="2400" dirty="0"/>
                  <a:t> </a:t>
                </a:r>
                <a:r>
                  <a:rPr lang="es-NI" sz="2000" dirty="0">
                    <a:solidFill>
                      <a:srgbClr val="04EC30"/>
                    </a:solidFill>
                  </a:rPr>
                  <a:t>0.04 </a:t>
                </a:r>
                <a:r>
                  <a:rPr lang="es-NI" sz="2000" dirty="0"/>
                  <a:t>=</a:t>
                </a:r>
                <a:r>
                  <a:rPr lang="es-NI" sz="2000" dirty="0">
                    <a:solidFill>
                      <a:srgbClr val="04EC30"/>
                    </a:solidFill>
                  </a:rPr>
                  <a:t> 24/4 * </a:t>
                </a:r>
                <a:r>
                  <a:rPr lang="es-NI" sz="2000" dirty="0"/>
                  <a:t>0.0256</a:t>
                </a:r>
                <a:r>
                  <a:rPr lang="es-NI" sz="2000" dirty="0">
                    <a:solidFill>
                      <a:srgbClr val="04EC30"/>
                    </a:solidFill>
                  </a:rPr>
                  <a:t> </a:t>
                </a:r>
                <a:endParaRPr lang="es-NI" sz="2400" dirty="0">
                  <a:solidFill>
                    <a:srgbClr val="04EC30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2A4AFA4-DBAB-467B-A31C-757491522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41" y="5340894"/>
                <a:ext cx="10366236" cy="612091"/>
              </a:xfrm>
              <a:prstGeom prst="rect">
                <a:avLst/>
              </a:prstGeom>
              <a:blipFill>
                <a:blip r:embed="rId2"/>
                <a:stretch>
                  <a:fillRect r="-706" b="-792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F97C9CB-CFE4-4F3A-83D2-5CD25EB3DE31}"/>
                  </a:ext>
                </a:extLst>
              </p:cNvPr>
              <p:cNvSpPr txBox="1"/>
              <p:nvPr/>
            </p:nvSpPr>
            <p:spPr>
              <a:xfrm>
                <a:off x="346841" y="6226410"/>
                <a:ext cx="7015656" cy="421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NI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ctrlPr>
                              <a:rPr lang="es-NI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  <m:r>
                      <a:rPr lang="es-NI" sz="2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NI" sz="2000" dirty="0"/>
                  <a:t> 6 * 0.0256 = 0.1536 - &gt; 15.36%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F97C9CB-CFE4-4F3A-83D2-5CD25EB3D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41" y="6226410"/>
                <a:ext cx="7015656" cy="421590"/>
              </a:xfrm>
              <a:prstGeom prst="rect">
                <a:avLst/>
              </a:prstGeom>
              <a:blipFill>
                <a:blip r:embed="rId3"/>
                <a:stretch>
                  <a:fillRect t="-8571" b="-17143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58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4FA933-CF79-497C-88A7-A24E29A721D6}"/>
              </a:ext>
            </a:extLst>
          </p:cNvPr>
          <p:cNvSpPr/>
          <p:nvPr/>
        </p:nvSpPr>
        <p:spPr>
          <a:xfrm>
            <a:off x="1826241" y="161073"/>
            <a:ext cx="85395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Distribución Binomial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EE4888-3EA0-4729-9474-1D6A3DE14AAA}"/>
              </a:ext>
            </a:extLst>
          </p:cNvPr>
          <p:cNvSpPr txBox="1"/>
          <p:nvPr/>
        </p:nvSpPr>
        <p:spPr>
          <a:xfrm>
            <a:off x="349469" y="1084403"/>
            <a:ext cx="11493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/>
              <a:t>Solución</a:t>
            </a:r>
          </a:p>
          <a:p>
            <a:pPr algn="just"/>
            <a:r>
              <a:rPr lang="es-ES" sz="2000" dirty="0"/>
              <a:t>b) ¿Y cómo máximo 2?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106042E-02A7-471B-95F8-8DB9EAC22C29}"/>
                  </a:ext>
                </a:extLst>
              </p:cNvPr>
              <p:cNvSpPr txBox="1"/>
              <p:nvPr/>
            </p:nvSpPr>
            <p:spPr>
              <a:xfrm>
                <a:off x="731296" y="1928903"/>
                <a:ext cx="4431534" cy="3952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ctrlPr>
                                <a:rPr lang="es-NI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≤2</m:t>
                              </m:r>
                            </m:e>
                          </m:d>
                        </m:sub>
                      </m:sSub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ctrlPr>
                                <a:rPr lang="es-NI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sub>
                      </m:sSub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ctrlPr>
                                <a:rPr lang="es-NI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sub>
                      </m:sSub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ctrlPr>
                                <a:rPr lang="es-NI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106042E-02A7-471B-95F8-8DB9EAC22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96" y="1928903"/>
                <a:ext cx="4431534" cy="395236"/>
              </a:xfrm>
              <a:prstGeom prst="rect">
                <a:avLst/>
              </a:prstGeom>
              <a:blipFill>
                <a:blip r:embed="rId2"/>
                <a:stretch>
                  <a:fillRect l="-825" b="-18462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94C5A39-8D52-484A-A376-FAFB7E17522C}"/>
                  </a:ext>
                </a:extLst>
              </p:cNvPr>
              <p:cNvSpPr txBox="1"/>
              <p:nvPr/>
            </p:nvSpPr>
            <p:spPr>
              <a:xfrm>
                <a:off x="235870" y="2516308"/>
                <a:ext cx="11720260" cy="6144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d>
                            <m:dPr>
                              <m:ctrlPr>
                                <a:rPr lang="es-NI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NI" sz="2400" i="0">
                                  <a:latin typeface="Cambria Math" panose="02040503050406030204" pitchFamily="18" charset="0"/>
                                </a:rPr>
                                <m:t>≤2</m:t>
                              </m:r>
                            </m:e>
                          </m:d>
                        </m:sub>
                      </m:sSub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d>
                        <m:d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40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0.8</m:t>
                          </m:r>
                        </m:e>
                        <m: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sSup>
                        <m:sSup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0.2</m:t>
                          </m:r>
                        </m:e>
                        <m: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d>
                        <m:d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40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0.8</m:t>
                          </m:r>
                        </m:e>
                        <m: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0.2</m:t>
                          </m:r>
                        </m:e>
                        <m: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d>
                        <m:d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40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0.8</m:t>
                          </m:r>
                        </m:e>
                        <m: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NI" sz="2400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NI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0.2</m:t>
                          </m:r>
                        </m:e>
                        <m:sup>
                          <m:r>
                            <a:rPr lang="es-NI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94C5A39-8D52-484A-A376-FAFB7E175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70" y="2516308"/>
                <a:ext cx="11720260" cy="614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77E6B00-D559-4BDA-B71D-914A30DA903F}"/>
                  </a:ext>
                </a:extLst>
              </p:cNvPr>
              <p:cNvSpPr txBox="1"/>
              <p:nvPr/>
            </p:nvSpPr>
            <p:spPr>
              <a:xfrm>
                <a:off x="1063497" y="3250330"/>
                <a:ext cx="3767132" cy="604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s-NI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NI" sz="20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s-NI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s-NI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NI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4!</m:t>
                        </m:r>
                      </m:num>
                      <m:den>
                        <m:r>
                          <a:rPr lang="es-NI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s-NI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4−</m:t>
                            </m:r>
                            <m:r>
                              <a:rPr lang="es-NI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s-NI" sz="2000" dirty="0"/>
                  <a:t> = 24 / 24 = 1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77E6B00-D559-4BDA-B71D-914A30DA9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97" y="3250330"/>
                <a:ext cx="3767132" cy="6044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8A30314-B28D-483B-9980-E8818CFE1E49}"/>
                  </a:ext>
                </a:extLst>
              </p:cNvPr>
              <p:cNvSpPr txBox="1"/>
              <p:nvPr/>
            </p:nvSpPr>
            <p:spPr>
              <a:xfrm>
                <a:off x="4830629" y="3250330"/>
                <a:ext cx="3511745" cy="602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s-NI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NI" sz="20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s-NI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NI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4!</m:t>
                        </m:r>
                      </m:num>
                      <m:den>
                        <m:r>
                          <a:rPr lang="es-NI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s-NI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4−</m:t>
                            </m:r>
                            <m:r>
                              <a:rPr lang="es-NI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s-NI" sz="2000" dirty="0"/>
                  <a:t> = 24 / 6 = 4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8A30314-B28D-483B-9980-E8818CFE1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629" y="3250330"/>
                <a:ext cx="3511745" cy="602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8D2D668-8C57-4910-A8AE-A7C6F88802EF}"/>
                  </a:ext>
                </a:extLst>
              </p:cNvPr>
              <p:cNvSpPr txBox="1"/>
              <p:nvPr/>
            </p:nvSpPr>
            <p:spPr>
              <a:xfrm>
                <a:off x="8342374" y="3369888"/>
                <a:ext cx="3511745" cy="602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s-NI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NI" sz="20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s-NI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NI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4!</m:t>
                        </m:r>
                      </m:num>
                      <m:den>
                        <m:r>
                          <a:rPr lang="es-NI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s-NI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4−</m:t>
                            </m:r>
                            <m:r>
                              <a:rPr lang="es-NI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s-NI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s-NI" sz="2000" dirty="0"/>
                  <a:t> = 24 / 4 = 6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8D2D668-8C57-4910-A8AE-A7C6F8880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374" y="3369888"/>
                <a:ext cx="3511745" cy="602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AA219E6-289D-43FC-95C8-75E01CE61B12}"/>
                  </a:ext>
                </a:extLst>
              </p:cNvPr>
              <p:cNvSpPr txBox="1"/>
              <p:nvPr/>
            </p:nvSpPr>
            <p:spPr>
              <a:xfrm>
                <a:off x="682911" y="4352446"/>
                <a:ext cx="8013412" cy="1510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NI" sz="2400" b="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ctrlPr>
                              <a:rPr lang="es-NI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24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NI" sz="2400" b="0" i="0">
                                <a:latin typeface="Cambria Math" panose="02040503050406030204" pitchFamily="18" charset="0"/>
                              </a:rPr>
                              <m:t>≤2</m:t>
                            </m:r>
                          </m:e>
                        </m:d>
                      </m:sub>
                    </m:sSub>
                    <m:r>
                      <a:rPr lang="es-NI" sz="2400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sSup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p>
                      <m:sSup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0.2</m:t>
                        </m:r>
                      </m:e>
                      <m:sup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NI" sz="24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s-NI" sz="2400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NI" sz="2400" b="0" i="0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sSup>
                      <m:sSup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0.2</m:t>
                        </m:r>
                      </m:e>
                      <m:sup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NI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NI" sz="24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NI" sz="2400" b="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sSup>
                      <m:sSup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NI" sz="2400" b="0" i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0.2</m:t>
                        </m:r>
                      </m:e>
                      <m:sup>
                        <m:r>
                          <a:rPr lang="es-NI" sz="24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NI" sz="2400" dirty="0"/>
                  <a:t> </a:t>
                </a:r>
              </a:p>
              <a:p>
                <a:r>
                  <a:rPr lang="es-NI" sz="2400" dirty="0"/>
                  <a:t>        = 1*1*0.0016 + 4*0.8*0.008 + 6*0.64*0.04</a:t>
                </a:r>
              </a:p>
              <a:p>
                <a:r>
                  <a:rPr lang="es-NI" sz="2400" dirty="0"/>
                  <a:t>        =     0.0016    +    0.0256       +     0.1536</a:t>
                </a:r>
              </a:p>
              <a:p>
                <a:r>
                  <a:rPr lang="es-NI" sz="2400" dirty="0"/>
                  <a:t>        = 0.1808 -&gt; 18.08%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AA219E6-289D-43FC-95C8-75E01CE61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11" y="4352446"/>
                <a:ext cx="8013412" cy="1510670"/>
              </a:xfrm>
              <a:prstGeom prst="rect">
                <a:avLst/>
              </a:prstGeom>
              <a:blipFill>
                <a:blip r:embed="rId7"/>
                <a:stretch>
                  <a:fillRect l="-1293" r="-1445" b="-1088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8199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xtura grung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</TotalTime>
  <Words>926</Words>
  <Application>Microsoft Office PowerPoint</Application>
  <PresentationFormat>Panorámica</PresentationFormat>
  <Paragraphs>74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Consolas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AntonioAguirre</cp:lastModifiedBy>
  <cp:revision>20</cp:revision>
  <dcterms:created xsi:type="dcterms:W3CDTF">2020-11-13T04:06:08Z</dcterms:created>
  <dcterms:modified xsi:type="dcterms:W3CDTF">2020-11-14T15:51:06Z</dcterms:modified>
</cp:coreProperties>
</file>