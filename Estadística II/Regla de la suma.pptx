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2" r:id="rId8"/>
    <p:sldId id="264" r:id="rId9"/>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5" d="100"/>
          <a:sy n="65" d="100"/>
        </p:scale>
        <p:origin x="85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329E0B-E55C-41B6-A04B-7933B9C1118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147C7459-0B0A-4A28-ADF2-134E0A0020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D28CFBB6-F3D0-42CA-BDFB-EE44BDD02F54}"/>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9E6193CD-4BE7-4FC9-96A2-294617D9935E}"/>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08B9953F-EA8A-4DD1-8DE7-65C4E36AED64}"/>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118087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56BE12-8ECC-452F-AD18-E26506E6BF5C}"/>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EFCE367-E74D-4240-ABDA-88FF149E479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95FAFD70-E54D-48CD-84BF-703052829DA0}"/>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41E6798B-4535-4DD5-85D0-3474886EC3E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09778DD4-715B-48C7-B7E3-C3FB2C4040BD}"/>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041759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E9526A-42F3-44A6-B26F-BD608F82BAF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F51F9C6-3C34-4A83-AC03-28A01EFA5D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9D50374-0174-4CF4-91A1-28CA06394007}"/>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456FF29E-50C1-40E3-AB89-436F70BCD1A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0235BF2-7230-49CA-A4E2-DB967DC471AE}"/>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889163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E310F-46AF-4B08-AE3B-2D17713CB21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1C3EB5E3-798D-4A51-9303-B25AD65363D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6CFFABE1-9802-423E-AB23-B31CD6D179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3DAAB032-B30A-4367-BBB9-FCFFFD6F9270}"/>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6" name="Marcador de pie de página 5">
            <a:extLst>
              <a:ext uri="{FF2B5EF4-FFF2-40B4-BE49-F238E27FC236}">
                <a16:creationId xmlns:a16="http://schemas.microsoft.com/office/drawing/2014/main" id="{7443823D-138B-47C4-BF52-056074196306}"/>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7D39475D-D745-4CC9-8C69-42B4C627797A}"/>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1847274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D44B8-D404-49EB-B292-C5EF6D81B31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DDF052AD-2CB2-411B-AE89-D8698AE051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673D29-C2CD-49DB-804B-FB41506BD39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DEC2EA9B-48B1-49CB-A49E-B4CADD38CD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DFBD3A4-800C-4341-A23A-A25661ABEE4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6CF2EBBC-448A-445A-964B-E284CDCD3950}"/>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8" name="Marcador de pie de página 7">
            <a:extLst>
              <a:ext uri="{FF2B5EF4-FFF2-40B4-BE49-F238E27FC236}">
                <a16:creationId xmlns:a16="http://schemas.microsoft.com/office/drawing/2014/main" id="{5BFD57BE-4C65-4E40-A075-2C3B39DE87E0}"/>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AB0181A8-9E67-4879-BE13-31798584D79A}"/>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577892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283D8B-AE5F-4C8B-A3CF-134F40A0717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570294BC-1CD4-4ABD-860A-8D74395AC1FA}"/>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4" name="Marcador de pie de página 3">
            <a:extLst>
              <a:ext uri="{FF2B5EF4-FFF2-40B4-BE49-F238E27FC236}">
                <a16:creationId xmlns:a16="http://schemas.microsoft.com/office/drawing/2014/main" id="{ACFF4CE3-5AD3-4BDC-BD75-27005CF4E4CB}"/>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003D83EB-1937-4A3C-9193-257FA1851DEA}"/>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245126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2A2AF5-1EAD-4165-9828-1A3DCEF6F9D4}"/>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3" name="Marcador de pie de página 2">
            <a:extLst>
              <a:ext uri="{FF2B5EF4-FFF2-40B4-BE49-F238E27FC236}">
                <a16:creationId xmlns:a16="http://schemas.microsoft.com/office/drawing/2014/main" id="{DAA48EBE-FE6B-4D51-AEAA-1141E18435FE}"/>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46D8FE97-9AC0-4B40-95B4-A571D2E9E0A0}"/>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794620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B3E304-98D1-411A-A4FD-81A18ECFA84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76CC724C-0841-42F1-9DAF-42A331BCE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50B9CC9A-3AFD-477B-B7C9-FB0247D160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43B1F8-1245-4B9F-8510-F11F0F748296}"/>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6" name="Marcador de pie de página 5">
            <a:extLst>
              <a:ext uri="{FF2B5EF4-FFF2-40B4-BE49-F238E27FC236}">
                <a16:creationId xmlns:a16="http://schemas.microsoft.com/office/drawing/2014/main" id="{7B680EF5-BDEE-4CC9-9616-A76A4D81076F}"/>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5609D1D4-0953-4A45-A9D2-626113E8383B}"/>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73045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E507F8-E4F8-408A-BBF1-3AF495A548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226A124D-837A-4C3B-8A8C-BCA3D90A6C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FDE5E935-D3A7-45C0-966F-1A71663BFF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2D4D938-1FDC-47F1-B147-1CE31BF6D4F1}"/>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6" name="Marcador de pie de página 5">
            <a:extLst>
              <a:ext uri="{FF2B5EF4-FFF2-40B4-BE49-F238E27FC236}">
                <a16:creationId xmlns:a16="http://schemas.microsoft.com/office/drawing/2014/main" id="{B325EFFA-E38E-4883-9E21-DFC85A146842}"/>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62BD14F-C8C4-4D38-B311-A33B1C689FC7}"/>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32242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45075B-CCD8-41A3-B6E8-EA169F5CC19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2E618520-7800-4FAC-9836-B6D39967739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9DD2AAF-3317-4BFF-B178-9659D454DB10}"/>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BD317BF4-1A20-4BBA-8AF3-36580EFE0DE4}"/>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5A47C51D-7129-44D3-92AA-C734A8961439}"/>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300745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6233A0-47A2-4D4C-8EB9-3AFC2B04B47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28FF063-064C-42AB-B6C2-9B5F0F81648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7D191BE-4D6A-47F8-A339-236121362B06}"/>
              </a:ext>
            </a:extLst>
          </p:cNvPr>
          <p:cNvSpPr>
            <a:spLocks noGrp="1"/>
          </p:cNvSpPr>
          <p:nvPr>
            <p:ph type="dt" sz="half" idx="10"/>
          </p:nvPr>
        </p:nvSpPr>
        <p:spPr/>
        <p:txBody>
          <a:body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10A3C85D-818E-4691-ABB6-4F42C808A82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1A0108B0-C64A-4950-BA7B-896ADFDC606C}"/>
              </a:ext>
            </a:extLst>
          </p:cNvPr>
          <p:cNvSpPr>
            <a:spLocks noGrp="1"/>
          </p:cNvSpPr>
          <p:nvPr>
            <p:ph type="sldNum" sz="quarter" idx="12"/>
          </p:nvPr>
        </p:nvSpPr>
        <p:spPr/>
        <p:txBody>
          <a:bodyPr/>
          <a:lstStyle/>
          <a:p>
            <a:fld id="{C187E0F1-C90F-45D3-8FD1-5138C14E3047}" type="slidenum">
              <a:rPr lang="es-NI" smtClean="0"/>
              <a:t>‹Nº›</a:t>
            </a:fld>
            <a:endParaRPr lang="es-NI"/>
          </a:p>
        </p:txBody>
      </p:sp>
    </p:spTree>
    <p:extLst>
      <p:ext uri="{BB962C8B-B14F-4D97-AF65-F5344CB8AC3E}">
        <p14:creationId xmlns:p14="http://schemas.microsoft.com/office/powerpoint/2010/main" val="108844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818737F-F8D1-43AB-8F6B-A15D6EC752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099F0322-F881-41A7-8151-B0B26E7B4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5E80ADBB-D93C-4F2A-8AE1-3D70DEC805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638826-28E2-4886-8E8E-DEF57DA8FFE7}" type="datetimeFigureOut">
              <a:rPr lang="es-NI" smtClean="0"/>
              <a:t>6/11/2020</a:t>
            </a:fld>
            <a:endParaRPr lang="es-NI"/>
          </a:p>
        </p:txBody>
      </p:sp>
      <p:sp>
        <p:nvSpPr>
          <p:cNvPr id="5" name="Marcador de pie de página 4">
            <a:extLst>
              <a:ext uri="{FF2B5EF4-FFF2-40B4-BE49-F238E27FC236}">
                <a16:creationId xmlns:a16="http://schemas.microsoft.com/office/drawing/2014/main" id="{A2034A1F-CC01-4CDB-BD7E-9B894CE307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950ECDDE-A69A-4664-AD43-4CB1B4FB25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7E0F1-C90F-45D3-8FD1-5138C14E3047}" type="slidenum">
              <a:rPr lang="es-NI" smtClean="0"/>
              <a:t>‹Nº›</a:t>
            </a:fld>
            <a:endParaRPr lang="es-NI"/>
          </a:p>
        </p:txBody>
      </p:sp>
    </p:spTree>
    <p:extLst>
      <p:ext uri="{BB962C8B-B14F-4D97-AF65-F5344CB8AC3E}">
        <p14:creationId xmlns:p14="http://schemas.microsoft.com/office/powerpoint/2010/main" val="1201314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478221" y="882869"/>
            <a:ext cx="11713779" cy="3416320"/>
          </a:xfrm>
          <a:prstGeom prst="rect">
            <a:avLst/>
          </a:prstGeom>
          <a:noFill/>
        </p:spPr>
        <p:txBody>
          <a:bodyPr wrap="square" rtlCol="0">
            <a:spAutoFit/>
          </a:bodyPr>
          <a:lstStyle/>
          <a:p>
            <a:r>
              <a:rPr lang="es-ES" dirty="0">
                <a:solidFill>
                  <a:schemeClr val="bg1"/>
                </a:solidFill>
                <a:latin typeface="Verdana" panose="020B0604030504040204" pitchFamily="34" charset="0"/>
                <a:ea typeface="Verdana" panose="020B0604030504040204" pitchFamily="34" charset="0"/>
              </a:rPr>
              <a:t>La regla de adición o regla de la suma, establece que si tenemos un evento A y un evento B, la probabilidad de que ocurra el evento A o el evento B se calcula de la siguiente manera:</a:t>
            </a:r>
          </a:p>
          <a:p>
            <a:endParaRPr lang="es-ES" dirty="0">
              <a:solidFill>
                <a:schemeClr val="bg1"/>
              </a:solidFill>
              <a:latin typeface="Verdana" panose="020B0604030504040204" pitchFamily="34" charset="0"/>
              <a:ea typeface="Verdana" panose="020B0604030504040204" pitchFamily="34" charset="0"/>
            </a:endParaRPr>
          </a:p>
          <a:p>
            <a:r>
              <a:rPr lang="es-ES" b="1" dirty="0">
                <a:solidFill>
                  <a:schemeClr val="bg1"/>
                </a:solidFill>
                <a:latin typeface="Verdana" panose="020B0604030504040204" pitchFamily="34" charset="0"/>
                <a:ea typeface="Verdana" panose="020B0604030504040204" pitchFamily="34" charset="0"/>
              </a:rPr>
              <a:t>Fórmula</a:t>
            </a:r>
          </a:p>
          <a:p>
            <a:endParaRPr lang="es-ES" dirty="0">
              <a:solidFill>
                <a:schemeClr val="bg1"/>
              </a:solidFill>
              <a:latin typeface="Verdana" panose="020B0604030504040204" pitchFamily="34" charset="0"/>
              <a:ea typeface="Verdana" panose="020B0604030504040204" pitchFamily="34" charset="0"/>
            </a:endParaRPr>
          </a:p>
          <a:p>
            <a:pPr algn="ctr"/>
            <a:r>
              <a:rPr lang="es-NI" b="1" dirty="0">
                <a:solidFill>
                  <a:schemeClr val="bg1"/>
                </a:solidFill>
                <a:latin typeface="Verdana" panose="020B0604030504040204" pitchFamily="34" charset="0"/>
                <a:ea typeface="Verdana" panose="020B0604030504040204" pitchFamily="34" charset="0"/>
              </a:rPr>
              <a:t>P(A⋃B) = P(A) + P(B) − P(A⋂B)</a:t>
            </a:r>
          </a:p>
          <a:p>
            <a:pPr algn="just"/>
            <a:r>
              <a:rPr lang="es-ES" dirty="0">
                <a:solidFill>
                  <a:schemeClr val="bg1"/>
                </a:solidFill>
                <a:latin typeface="Verdana" panose="020B0604030504040204" pitchFamily="34" charset="0"/>
                <a:ea typeface="Verdana" panose="020B0604030504040204" pitchFamily="34" charset="0"/>
              </a:rPr>
              <a:t>Donde:</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b="1" dirty="0">
                <a:solidFill>
                  <a:schemeClr val="bg1"/>
                </a:solidFill>
                <a:latin typeface="Verdana" panose="020B0604030504040204" pitchFamily="34" charset="0"/>
                <a:ea typeface="Verdana" panose="020B0604030504040204" pitchFamily="34" charset="0"/>
              </a:rPr>
              <a:t>P(A) </a:t>
            </a:r>
            <a:r>
              <a:rPr lang="es-ES" dirty="0">
                <a:solidFill>
                  <a:schemeClr val="bg1"/>
                </a:solidFill>
                <a:latin typeface="Verdana" panose="020B0604030504040204" pitchFamily="34" charset="0"/>
                <a:ea typeface="Verdana" panose="020B0604030504040204" pitchFamily="34" charset="0"/>
              </a:rPr>
              <a:t>: probabilidad de que ocurra el evento A.</a:t>
            </a:r>
          </a:p>
          <a:p>
            <a:pPr algn="just"/>
            <a:r>
              <a:rPr lang="es-ES" b="1" dirty="0">
                <a:solidFill>
                  <a:schemeClr val="bg1"/>
                </a:solidFill>
                <a:latin typeface="Verdana" panose="020B0604030504040204" pitchFamily="34" charset="0"/>
                <a:ea typeface="Verdana" panose="020B0604030504040204" pitchFamily="34" charset="0"/>
              </a:rPr>
              <a:t>P(B) </a:t>
            </a:r>
            <a:r>
              <a:rPr lang="es-ES" dirty="0">
                <a:solidFill>
                  <a:schemeClr val="bg1"/>
                </a:solidFill>
                <a:latin typeface="Verdana" panose="020B0604030504040204" pitchFamily="34" charset="0"/>
                <a:ea typeface="Verdana" panose="020B0604030504040204" pitchFamily="34" charset="0"/>
              </a:rPr>
              <a:t>: probabilidad de que ocurra el evento B.</a:t>
            </a:r>
          </a:p>
          <a:p>
            <a:pPr algn="just"/>
            <a:r>
              <a:rPr lang="es-ES" b="1" dirty="0">
                <a:solidFill>
                  <a:schemeClr val="bg1"/>
                </a:solidFill>
                <a:latin typeface="Verdana" panose="020B0604030504040204" pitchFamily="34" charset="0"/>
                <a:ea typeface="Verdana" panose="020B0604030504040204" pitchFamily="34" charset="0"/>
              </a:rPr>
              <a:t>P(A⋃B) </a:t>
            </a:r>
            <a:r>
              <a:rPr lang="es-ES" dirty="0">
                <a:solidFill>
                  <a:schemeClr val="bg1"/>
                </a:solidFill>
                <a:latin typeface="Verdana" panose="020B0604030504040204" pitchFamily="34" charset="0"/>
                <a:ea typeface="Verdana" panose="020B0604030504040204" pitchFamily="34" charset="0"/>
              </a:rPr>
              <a:t>: probabilidad de que ocurra el evento A o el evento B.</a:t>
            </a:r>
          </a:p>
          <a:p>
            <a:pPr algn="just"/>
            <a:r>
              <a:rPr lang="es-ES" b="1" dirty="0">
                <a:solidFill>
                  <a:schemeClr val="bg1"/>
                </a:solidFill>
                <a:latin typeface="Verdana" panose="020B0604030504040204" pitchFamily="34" charset="0"/>
                <a:ea typeface="Verdana" panose="020B0604030504040204" pitchFamily="34" charset="0"/>
              </a:rPr>
              <a:t>P(A⋂B) </a:t>
            </a:r>
            <a:r>
              <a:rPr lang="es-ES" dirty="0">
                <a:solidFill>
                  <a:schemeClr val="bg1"/>
                </a:solidFill>
                <a:latin typeface="Verdana" panose="020B0604030504040204" pitchFamily="34" charset="0"/>
                <a:ea typeface="Verdana" panose="020B0604030504040204" pitchFamily="34" charset="0"/>
              </a:rPr>
              <a:t>: probabilidad de que ocurra el evento A y el evento B a la vez.</a:t>
            </a:r>
            <a:endParaRPr lang="es-NI"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93429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478221" y="882869"/>
            <a:ext cx="11713779" cy="4524315"/>
          </a:xfrm>
          <a:prstGeom prst="rect">
            <a:avLst/>
          </a:prstGeom>
          <a:noFill/>
        </p:spPr>
        <p:txBody>
          <a:bodyPr wrap="square" rtlCol="0">
            <a:spAutoFit/>
          </a:bodyPr>
          <a:lstStyle/>
          <a:p>
            <a:r>
              <a:rPr lang="es-ES" b="1" dirty="0">
                <a:solidFill>
                  <a:schemeClr val="bg1"/>
                </a:solidFill>
                <a:latin typeface="Verdana" panose="020B0604030504040204" pitchFamily="34" charset="0"/>
                <a:ea typeface="Verdana" panose="020B0604030504040204" pitchFamily="34" charset="0"/>
              </a:rPr>
              <a:t>Ejemplo 1:</a:t>
            </a:r>
          </a:p>
          <a:p>
            <a:endParaRPr lang="es-ES" dirty="0">
              <a:solidFill>
                <a:schemeClr val="bg1"/>
              </a:solidFill>
              <a:latin typeface="Verdana" panose="020B0604030504040204" pitchFamily="34" charset="0"/>
              <a:ea typeface="Verdana" panose="020B0604030504040204" pitchFamily="34" charset="0"/>
            </a:endParaRPr>
          </a:p>
          <a:p>
            <a:r>
              <a:rPr lang="es-ES" dirty="0">
                <a:solidFill>
                  <a:schemeClr val="bg1"/>
                </a:solidFill>
                <a:latin typeface="Verdana" panose="020B0604030504040204" pitchFamily="34" charset="0"/>
                <a:ea typeface="Verdana" panose="020B0604030504040204" pitchFamily="34" charset="0"/>
              </a:rPr>
              <a:t>La probabilidad de que un día cualquiera, Carlos almuerce pollo frito es de 0,4. La probabilidad de que almuerce hamburguesa es de 0,3; mientras que la probabilidad de que almuerce pollo frito y hamburguesa el mismo día es de 0,1. Calcula la probabilidad de que un día cualquiera, Carlos almuerce pollo frito o hamburguesa.</a:t>
            </a:r>
          </a:p>
          <a:p>
            <a:endParaRPr lang="es-ES" dirty="0">
              <a:solidFill>
                <a:schemeClr val="bg1"/>
              </a:solidFill>
              <a:latin typeface="Verdana" panose="020B0604030504040204" pitchFamily="34" charset="0"/>
              <a:ea typeface="Verdana" panose="020B0604030504040204" pitchFamily="34" charset="0"/>
            </a:endParaRPr>
          </a:p>
          <a:p>
            <a:r>
              <a:rPr lang="es-ES" b="1" dirty="0">
                <a:solidFill>
                  <a:schemeClr val="bg1"/>
                </a:solidFill>
                <a:latin typeface="Verdana" panose="020B0604030504040204" pitchFamily="34" charset="0"/>
                <a:ea typeface="Verdana" panose="020B0604030504040204" pitchFamily="34" charset="0"/>
              </a:rPr>
              <a:t>Solución:</a:t>
            </a:r>
          </a:p>
          <a:p>
            <a:endParaRPr lang="es-ES" dirty="0">
              <a:solidFill>
                <a:schemeClr val="bg1"/>
              </a:solidFill>
              <a:latin typeface="Verdana" panose="020B0604030504040204" pitchFamily="34" charset="0"/>
              <a:ea typeface="Verdana" panose="020B0604030504040204" pitchFamily="34" charset="0"/>
            </a:endParaRPr>
          </a:p>
          <a:p>
            <a:r>
              <a:rPr lang="es-ES" u="sng" dirty="0">
                <a:solidFill>
                  <a:schemeClr val="bg1"/>
                </a:solidFill>
                <a:latin typeface="Verdana" panose="020B0604030504040204" pitchFamily="34" charset="0"/>
                <a:ea typeface="Verdana" panose="020B0604030504040204" pitchFamily="34" charset="0"/>
              </a:rPr>
              <a:t>Definimos nuestras probabilidades:</a:t>
            </a:r>
          </a:p>
          <a:p>
            <a:endParaRPr lang="es-ES" dirty="0">
              <a:solidFill>
                <a:schemeClr val="bg1"/>
              </a:solidFill>
              <a:latin typeface="Verdana" panose="020B0604030504040204" pitchFamily="34" charset="0"/>
              <a:ea typeface="Verdana" panose="020B0604030504040204" pitchFamily="34" charset="0"/>
            </a:endParaRPr>
          </a:p>
          <a:p>
            <a:pPr marL="630238" indent="-285750">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Carlos almuerce pollo frito: P(A) = 0,4.</a:t>
            </a:r>
          </a:p>
          <a:p>
            <a:pPr marL="630238" indent="-285750">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Carlos almuerce hamburguesa: P(B) = 0,3.</a:t>
            </a:r>
          </a:p>
          <a:p>
            <a:pPr marL="630238" indent="-285750">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Carlos almuerce pollo frito y hamburguesa el mismo día: P(A⋂B) = 0,1.</a:t>
            </a:r>
          </a:p>
          <a:p>
            <a:pPr marL="630238" indent="-285750">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Carlos almuerce pollo frito o hamburguesa: </a:t>
            </a:r>
          </a:p>
          <a:p>
            <a:pPr marL="630238" indent="-285750">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P(A⋃B) = ?</a:t>
            </a:r>
            <a:endParaRPr lang="es-NI"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69015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257497" y="852062"/>
            <a:ext cx="11713779" cy="5909310"/>
          </a:xfrm>
          <a:prstGeom prst="rect">
            <a:avLst/>
          </a:prstGeom>
          <a:noFill/>
        </p:spPr>
        <p:txBody>
          <a:bodyPr wrap="square" rtlCol="0">
            <a:spAutoFit/>
          </a:bodyPr>
          <a:lstStyle/>
          <a:p>
            <a:r>
              <a:rPr lang="es-ES" b="1" dirty="0">
                <a:solidFill>
                  <a:schemeClr val="bg1"/>
                </a:solidFill>
                <a:latin typeface="Verdana" panose="020B0604030504040204" pitchFamily="34" charset="0"/>
                <a:ea typeface="Verdana" panose="020B0604030504040204" pitchFamily="34" charset="0"/>
              </a:rPr>
              <a:t>Ahora, aplicamos nuestra fórmula:</a:t>
            </a:r>
          </a:p>
          <a:p>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 P(B) − P(A⋂B)</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0,4 + 0,3 − 0,1</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0,6</a:t>
            </a:r>
          </a:p>
          <a:p>
            <a:pPr algn="just"/>
            <a:endParaRPr lang="es-ES"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¿Y si los eventos son mutuamente excluyentes?</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Dos eventos A y B son mutuamente excluyentes si no pueden ocurrir al mismo tiempo, es decir, si no tienen elementos comunes. Por ejemplo, sacar una carta al azar de una bajara, y obtener un 5 y un 7, son eventos mutuamente excluyentes, ya que no hay ninguna carta que tenga un 5 y un 7 al mismo tiempo. Entonces P(A⋂B) = 0 , por lo tanto, partiendo de la misma fórmula, obtendríamos la siguiente expresión:</a:t>
            </a:r>
          </a:p>
          <a:p>
            <a:pPr algn="just"/>
            <a:endParaRPr lang="es-ES"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 P(B) − P(A⋂B)</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 P(B) − 0</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+P(B)</a:t>
            </a:r>
          </a:p>
        </p:txBody>
      </p:sp>
    </p:spTree>
    <p:extLst>
      <p:ext uri="{BB962C8B-B14F-4D97-AF65-F5344CB8AC3E}">
        <p14:creationId xmlns:p14="http://schemas.microsoft.com/office/powerpoint/2010/main" val="1493185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331076" y="725938"/>
            <a:ext cx="11508827" cy="5632311"/>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Ejemplo 2:</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La probabilidad de que al tirar un dado, salga 1, es de 1/6. La probabilidad de que salga 3, es de 1/6. Calcular la probabilidad de que al tirar un dado, salga 1 o 3.</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b="1" dirty="0">
                <a:solidFill>
                  <a:schemeClr val="bg1"/>
                </a:solidFill>
                <a:latin typeface="Verdana" panose="020B0604030504040204" pitchFamily="34" charset="0"/>
                <a:ea typeface="Verdana" panose="020B0604030504040204" pitchFamily="34" charset="0"/>
              </a:rPr>
              <a:t>Solución:</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Definimos nuestros eventos:</a:t>
            </a:r>
          </a:p>
          <a:p>
            <a:pPr algn="just"/>
            <a:endParaRPr lang="es-ES" dirty="0">
              <a:solidFill>
                <a:schemeClr val="bg1"/>
              </a:solidFill>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salga 1:  P(A) = 1/6.</a:t>
            </a:r>
          </a:p>
          <a:p>
            <a:pPr marL="285750" indent="-285750" algn="just">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salga 3:  P(B) = 1/6.</a:t>
            </a:r>
          </a:p>
          <a:p>
            <a:pPr marL="285750" indent="-285750" algn="just">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salga 1 y 3 al mismo tiempo P(A⋂B) = 0. Este valor es cero, dado que son eventos mutuamente excluyentes. Si sale 1, ya no puede salir 3.</a:t>
            </a:r>
          </a:p>
          <a:p>
            <a:pPr marL="285750" indent="-285750" algn="just">
              <a:buFont typeface="Arial" panose="020B0604020202020204" pitchFamily="34" charset="0"/>
              <a:buChar char="•"/>
            </a:pPr>
            <a:r>
              <a:rPr lang="es-ES" dirty="0">
                <a:solidFill>
                  <a:schemeClr val="bg1"/>
                </a:solidFill>
                <a:latin typeface="Verdana" panose="020B0604030504040204" pitchFamily="34" charset="0"/>
                <a:ea typeface="Verdana" panose="020B0604030504040204" pitchFamily="34" charset="0"/>
              </a:rPr>
              <a:t>Probabilidad de que salga 1 o 3: P(A⋃B) = ?</a:t>
            </a:r>
          </a:p>
          <a:p>
            <a:pPr marL="285750" indent="-285750" algn="just">
              <a:buFont typeface="Arial" panose="020B0604020202020204" pitchFamily="34" charset="0"/>
              <a:buChar char="•"/>
            </a:pPr>
            <a:endParaRPr lang="es-ES"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 P(B) − P(A⋂B)</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1/6 + 1/6 - 0</a:t>
            </a:r>
          </a:p>
          <a:p>
            <a:pPr algn="ctr"/>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2/6 = 1/3 </a:t>
            </a:r>
          </a:p>
        </p:txBody>
      </p:sp>
    </p:spTree>
    <p:extLst>
      <p:ext uri="{BB962C8B-B14F-4D97-AF65-F5344CB8AC3E}">
        <p14:creationId xmlns:p14="http://schemas.microsoft.com/office/powerpoint/2010/main" val="584117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367861" y="725938"/>
            <a:ext cx="11487808" cy="1754326"/>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Ejercicio 1: </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En una sala hay 20 personas, donde se sabe la mitad de las personas son mayores de 30 años, si se sabe que hay 7 nicaragüenses y que 12 de ellos son mayores de 30 o nicaragüenses, ¿Cuál es la probabilidad de que al seleccionar una persona al azar salga alguien que sea mayor de 30 años y nicaragüense?</a:t>
            </a:r>
          </a:p>
        </p:txBody>
      </p:sp>
      <p:sp>
        <p:nvSpPr>
          <p:cNvPr id="6" name="CuadroTexto 5">
            <a:extLst>
              <a:ext uri="{FF2B5EF4-FFF2-40B4-BE49-F238E27FC236}">
                <a16:creationId xmlns:a16="http://schemas.microsoft.com/office/drawing/2014/main" id="{B846DAC0-4C0A-4CC6-90D5-49B253283AE6}"/>
              </a:ext>
            </a:extLst>
          </p:cNvPr>
          <p:cNvSpPr txBox="1"/>
          <p:nvPr/>
        </p:nvSpPr>
        <p:spPr>
          <a:xfrm>
            <a:off x="352096" y="2517141"/>
            <a:ext cx="11487808" cy="2308324"/>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Solución:</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Definimos nuestros eventos:</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Probabilidad de que sea mayor de 30 años P(A) = 0.5</a:t>
            </a:r>
          </a:p>
          <a:p>
            <a:pPr algn="just"/>
            <a:r>
              <a:rPr lang="es-ES" dirty="0">
                <a:solidFill>
                  <a:schemeClr val="bg1"/>
                </a:solidFill>
                <a:latin typeface="Verdana" panose="020B0604030504040204" pitchFamily="34" charset="0"/>
                <a:ea typeface="Verdana" panose="020B0604030504040204" pitchFamily="34" charset="0"/>
              </a:rPr>
              <a:t>Probabilidad de que sea nicaragüense P(B) = 7 / 20 = 0.35</a:t>
            </a:r>
          </a:p>
          <a:p>
            <a:pPr algn="just"/>
            <a:r>
              <a:rPr lang="es-ES" dirty="0">
                <a:solidFill>
                  <a:schemeClr val="bg1"/>
                </a:solidFill>
                <a:latin typeface="Verdana" panose="020B0604030504040204" pitchFamily="34" charset="0"/>
                <a:ea typeface="Verdana" panose="020B0604030504040204" pitchFamily="34" charset="0"/>
              </a:rPr>
              <a:t>Probabilidad de que sea un mayor de 30 años o un nicaragüense P(A⋃B) </a:t>
            </a:r>
            <a:r>
              <a:rPr lang="es-ES" b="1" dirty="0">
                <a:solidFill>
                  <a:schemeClr val="bg1"/>
                </a:solidFill>
                <a:latin typeface="Verdana" panose="020B0604030504040204" pitchFamily="34" charset="0"/>
                <a:ea typeface="Verdana" panose="020B0604030504040204" pitchFamily="34" charset="0"/>
              </a:rPr>
              <a:t>= </a:t>
            </a:r>
            <a:r>
              <a:rPr lang="es-ES" dirty="0">
                <a:solidFill>
                  <a:schemeClr val="bg1"/>
                </a:solidFill>
                <a:latin typeface="Verdana" panose="020B0604030504040204" pitchFamily="34" charset="0"/>
                <a:ea typeface="Verdana" panose="020B0604030504040204" pitchFamily="34" charset="0"/>
              </a:rPr>
              <a:t>12 / 20 = 0.6</a:t>
            </a:r>
          </a:p>
          <a:p>
            <a:pPr algn="just"/>
            <a:r>
              <a:rPr lang="es-ES" dirty="0">
                <a:solidFill>
                  <a:schemeClr val="bg1"/>
                </a:solidFill>
                <a:latin typeface="Verdana" panose="020B0604030504040204" pitchFamily="34" charset="0"/>
                <a:ea typeface="Verdana" panose="020B0604030504040204" pitchFamily="34" charset="0"/>
              </a:rPr>
              <a:t>la probabilidad de que sea mayor de 30 años y nicaragüense </a:t>
            </a:r>
            <a:r>
              <a:rPr lang="es-ES" b="1" dirty="0">
                <a:solidFill>
                  <a:schemeClr val="bg1"/>
                </a:solidFill>
                <a:latin typeface="Verdana" panose="020B0604030504040204" pitchFamily="34" charset="0"/>
                <a:ea typeface="Verdana" panose="020B0604030504040204" pitchFamily="34" charset="0"/>
              </a:rPr>
              <a:t>P(A⋂B)</a:t>
            </a:r>
            <a:r>
              <a:rPr lang="es-ES" dirty="0">
                <a:solidFill>
                  <a:schemeClr val="bg1"/>
                </a:solidFill>
                <a:latin typeface="Verdana" panose="020B0604030504040204" pitchFamily="34" charset="0"/>
                <a:ea typeface="Verdana" panose="020B0604030504040204" pitchFamily="34" charset="0"/>
              </a:rPr>
              <a:t> =?</a:t>
            </a:r>
          </a:p>
        </p:txBody>
      </p:sp>
      <p:sp>
        <p:nvSpPr>
          <p:cNvPr id="7" name="CuadroTexto 6">
            <a:extLst>
              <a:ext uri="{FF2B5EF4-FFF2-40B4-BE49-F238E27FC236}">
                <a16:creationId xmlns:a16="http://schemas.microsoft.com/office/drawing/2014/main" id="{A0A273FF-20DF-47BC-8C9C-53CDB9E39A6D}"/>
              </a:ext>
            </a:extLst>
          </p:cNvPr>
          <p:cNvSpPr txBox="1"/>
          <p:nvPr/>
        </p:nvSpPr>
        <p:spPr>
          <a:xfrm>
            <a:off x="352096" y="4862342"/>
            <a:ext cx="5743904" cy="1477328"/>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Despejamos:</a:t>
            </a:r>
          </a:p>
          <a:p>
            <a:pPr algn="just"/>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rgbClr val="FFC000"/>
                </a:solidFill>
                <a:latin typeface="Verdana" panose="020B0604030504040204" pitchFamily="34" charset="0"/>
                <a:ea typeface="Verdana" panose="020B0604030504040204" pitchFamily="34" charset="0"/>
              </a:rPr>
              <a:t>P(A⋃B)</a:t>
            </a:r>
            <a:r>
              <a:rPr lang="es-ES" b="1" dirty="0">
                <a:solidFill>
                  <a:schemeClr val="bg1"/>
                </a:solidFill>
                <a:latin typeface="Verdana" panose="020B0604030504040204" pitchFamily="34" charset="0"/>
                <a:ea typeface="Verdana" panose="020B0604030504040204" pitchFamily="34" charset="0"/>
              </a:rPr>
              <a:t> = P(A) + P(B) </a:t>
            </a:r>
            <a:r>
              <a:rPr lang="es-ES" b="1" dirty="0">
                <a:solidFill>
                  <a:srgbClr val="0070C0"/>
                </a:solidFill>
                <a:latin typeface="Verdana" panose="020B0604030504040204" pitchFamily="34" charset="0"/>
                <a:ea typeface="Verdana" panose="020B0604030504040204" pitchFamily="34" charset="0"/>
              </a:rPr>
              <a:t>− P(A⋂B)</a:t>
            </a:r>
          </a:p>
          <a:p>
            <a:pPr algn="ctr"/>
            <a:r>
              <a:rPr lang="es-ES" b="1" dirty="0">
                <a:solidFill>
                  <a:srgbClr val="FFC000"/>
                </a:solidFill>
                <a:latin typeface="Verdana" panose="020B0604030504040204" pitchFamily="34" charset="0"/>
                <a:ea typeface="Verdana" panose="020B0604030504040204" pitchFamily="34" charset="0"/>
              </a:rPr>
              <a:t>P(A⋃B) </a:t>
            </a:r>
            <a:r>
              <a:rPr lang="es-ES" b="1" dirty="0">
                <a:solidFill>
                  <a:srgbClr val="0070C0"/>
                </a:solidFill>
                <a:latin typeface="Verdana" panose="020B0604030504040204" pitchFamily="34" charset="0"/>
                <a:ea typeface="Verdana" panose="020B0604030504040204" pitchFamily="34" charset="0"/>
              </a:rPr>
              <a:t>+ P(A⋂B)</a:t>
            </a:r>
            <a:r>
              <a:rPr lang="es-ES" b="1" dirty="0">
                <a:solidFill>
                  <a:schemeClr val="bg1"/>
                </a:solidFill>
                <a:latin typeface="Verdana" panose="020B0604030504040204" pitchFamily="34" charset="0"/>
                <a:ea typeface="Verdana" panose="020B0604030504040204" pitchFamily="34" charset="0"/>
              </a:rPr>
              <a:t> = P(A) + P(B)</a:t>
            </a:r>
            <a:endParaRPr lang="es-ES" dirty="0">
              <a:solidFill>
                <a:schemeClr val="bg1"/>
              </a:solidFill>
              <a:latin typeface="Verdana" panose="020B0604030504040204" pitchFamily="34" charset="0"/>
              <a:ea typeface="Verdana" panose="020B0604030504040204" pitchFamily="34" charset="0"/>
            </a:endParaRPr>
          </a:p>
          <a:p>
            <a:pPr algn="ctr"/>
            <a:r>
              <a:rPr lang="es-ES" b="1" dirty="0">
                <a:solidFill>
                  <a:srgbClr val="0070C0"/>
                </a:solidFill>
                <a:latin typeface="Verdana" panose="020B0604030504040204" pitchFamily="34" charset="0"/>
                <a:ea typeface="Verdana" panose="020B0604030504040204" pitchFamily="34" charset="0"/>
              </a:rPr>
              <a:t>P(A⋂B)</a:t>
            </a:r>
            <a:r>
              <a:rPr lang="es-ES" b="1" dirty="0">
                <a:solidFill>
                  <a:srgbClr val="FFC000"/>
                </a:solidFill>
                <a:latin typeface="Verdana" panose="020B0604030504040204" pitchFamily="34" charset="0"/>
                <a:ea typeface="Verdana" panose="020B0604030504040204" pitchFamily="34" charset="0"/>
              </a:rPr>
              <a:t> </a:t>
            </a:r>
            <a:r>
              <a:rPr lang="es-ES" b="1" dirty="0">
                <a:solidFill>
                  <a:schemeClr val="bg1"/>
                </a:solidFill>
                <a:latin typeface="Verdana" panose="020B0604030504040204" pitchFamily="34" charset="0"/>
                <a:ea typeface="Verdana" panose="020B0604030504040204" pitchFamily="34" charset="0"/>
              </a:rPr>
              <a:t>= P(A) + P(B) </a:t>
            </a:r>
            <a:r>
              <a:rPr lang="es-ES" b="1" dirty="0">
                <a:solidFill>
                  <a:srgbClr val="FFC000"/>
                </a:solidFill>
                <a:latin typeface="Verdana" panose="020B0604030504040204" pitchFamily="34" charset="0"/>
                <a:ea typeface="Verdana" panose="020B0604030504040204" pitchFamily="34" charset="0"/>
              </a:rPr>
              <a:t>−</a:t>
            </a:r>
            <a:r>
              <a:rPr lang="es-ES" b="1" dirty="0">
                <a:solidFill>
                  <a:srgbClr val="0070C0"/>
                </a:solidFill>
                <a:latin typeface="Verdana" panose="020B0604030504040204" pitchFamily="34" charset="0"/>
                <a:ea typeface="Verdana" panose="020B0604030504040204" pitchFamily="34" charset="0"/>
              </a:rPr>
              <a:t> </a:t>
            </a:r>
            <a:r>
              <a:rPr lang="es-ES" b="1" dirty="0">
                <a:solidFill>
                  <a:srgbClr val="FFC000"/>
                </a:solidFill>
                <a:latin typeface="Verdana" panose="020B0604030504040204" pitchFamily="34" charset="0"/>
                <a:ea typeface="Verdana" panose="020B0604030504040204" pitchFamily="34" charset="0"/>
              </a:rPr>
              <a:t>P(A⋃B)</a:t>
            </a:r>
            <a:r>
              <a:rPr lang="es-ES" b="1" dirty="0">
                <a:solidFill>
                  <a:schemeClr val="bg1"/>
                </a:solidFill>
                <a:latin typeface="Verdana" panose="020B0604030504040204" pitchFamily="34" charset="0"/>
                <a:ea typeface="Verdana" panose="020B0604030504040204" pitchFamily="34" charset="0"/>
              </a:rPr>
              <a:t> </a:t>
            </a:r>
            <a:endParaRPr lang="es-ES" b="1" dirty="0">
              <a:solidFill>
                <a:srgbClr val="0070C0"/>
              </a:solidFill>
              <a:latin typeface="Verdana" panose="020B0604030504040204" pitchFamily="34" charset="0"/>
              <a:ea typeface="Verdana" panose="020B0604030504040204" pitchFamily="34" charset="0"/>
            </a:endParaRPr>
          </a:p>
        </p:txBody>
      </p:sp>
      <p:sp>
        <p:nvSpPr>
          <p:cNvPr id="8" name="CuadroTexto 7">
            <a:extLst>
              <a:ext uri="{FF2B5EF4-FFF2-40B4-BE49-F238E27FC236}">
                <a16:creationId xmlns:a16="http://schemas.microsoft.com/office/drawing/2014/main" id="{2B632CAD-847C-4F3C-BEDC-A8AF7BDC4039}"/>
              </a:ext>
            </a:extLst>
          </p:cNvPr>
          <p:cNvSpPr txBox="1"/>
          <p:nvPr/>
        </p:nvSpPr>
        <p:spPr>
          <a:xfrm>
            <a:off x="5766619" y="4851518"/>
            <a:ext cx="6253316" cy="1754326"/>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Sustituimos en la nueva fórmula y resolvemos:</a:t>
            </a:r>
          </a:p>
          <a:p>
            <a:pPr algn="just"/>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P(A⋂B) = P(A) + P(B) − P(A⋃B) </a:t>
            </a:r>
          </a:p>
          <a:p>
            <a:pPr algn="ctr"/>
            <a:r>
              <a:rPr lang="es-ES" b="1" dirty="0">
                <a:solidFill>
                  <a:schemeClr val="bg1"/>
                </a:solidFill>
                <a:latin typeface="Verdana" panose="020B0604030504040204" pitchFamily="34" charset="0"/>
                <a:ea typeface="Verdana" panose="020B0604030504040204" pitchFamily="34" charset="0"/>
              </a:rPr>
              <a:t>P(A⋂B) = 0.5 + 0.35 − 0.6</a:t>
            </a:r>
          </a:p>
          <a:p>
            <a:pPr algn="ctr"/>
            <a:r>
              <a:rPr lang="es-ES" b="1" dirty="0">
                <a:solidFill>
                  <a:schemeClr val="bg1"/>
                </a:solidFill>
                <a:latin typeface="Verdana" panose="020B0604030504040204" pitchFamily="34" charset="0"/>
                <a:ea typeface="Verdana" panose="020B0604030504040204" pitchFamily="34" charset="0"/>
              </a:rPr>
              <a:t>P= 0.25 </a:t>
            </a:r>
          </a:p>
          <a:p>
            <a:pPr algn="ctr"/>
            <a:endParaRPr lang="es-ES"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0119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3226676" y="18052"/>
            <a:ext cx="5738648"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367861" y="666946"/>
            <a:ext cx="11487808" cy="2031325"/>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Ejercicio 2: </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Una maquina dispensadora de refrescos tiene en su interior 50 bebidas, y cada vez que se utiliza esta dispensa una al azar, si se conoce que en su interior tiene 40 bebidas que están heladas y de estas solo 30 son bebidas de color negro, ¿Cuál es la probabilidad que al sacar una bebida esta sea negra, si sabe además que la probabilidad de obtener una bebida negra o helada es de 0.7?</a:t>
            </a:r>
          </a:p>
        </p:txBody>
      </p:sp>
      <p:sp>
        <p:nvSpPr>
          <p:cNvPr id="6" name="CuadroTexto 5">
            <a:extLst>
              <a:ext uri="{FF2B5EF4-FFF2-40B4-BE49-F238E27FC236}">
                <a16:creationId xmlns:a16="http://schemas.microsoft.com/office/drawing/2014/main" id="{B846DAC0-4C0A-4CC6-90D5-49B253283AE6}"/>
              </a:ext>
            </a:extLst>
          </p:cNvPr>
          <p:cNvSpPr txBox="1"/>
          <p:nvPr/>
        </p:nvSpPr>
        <p:spPr>
          <a:xfrm>
            <a:off x="352096" y="2644817"/>
            <a:ext cx="11487808" cy="2308324"/>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Solución:</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Definimos nuestros eventos:</a:t>
            </a:r>
          </a:p>
          <a:p>
            <a:pPr algn="just"/>
            <a:endParaRPr lang="es-ES" dirty="0">
              <a:solidFill>
                <a:schemeClr val="bg1"/>
              </a:solidFill>
              <a:latin typeface="Verdana" panose="020B0604030504040204" pitchFamily="34" charset="0"/>
              <a:ea typeface="Verdana" panose="020B0604030504040204" pitchFamily="34" charset="0"/>
            </a:endParaRPr>
          </a:p>
          <a:p>
            <a:pPr algn="just"/>
            <a:r>
              <a:rPr lang="es-ES" dirty="0">
                <a:solidFill>
                  <a:schemeClr val="bg1"/>
                </a:solidFill>
                <a:latin typeface="Verdana" panose="020B0604030504040204" pitchFamily="34" charset="0"/>
                <a:ea typeface="Verdana" panose="020B0604030504040204" pitchFamily="34" charset="0"/>
              </a:rPr>
              <a:t>Probabilidad de que esté helada P(A) = 40 / 50 = 0.8</a:t>
            </a:r>
          </a:p>
          <a:p>
            <a:pPr algn="just"/>
            <a:r>
              <a:rPr lang="es-ES" dirty="0">
                <a:solidFill>
                  <a:schemeClr val="bg1"/>
                </a:solidFill>
                <a:latin typeface="Verdana" panose="020B0604030504040204" pitchFamily="34" charset="0"/>
                <a:ea typeface="Verdana" panose="020B0604030504040204" pitchFamily="34" charset="0"/>
              </a:rPr>
              <a:t>Probabilidad de que sea negra P(B) = ?</a:t>
            </a:r>
          </a:p>
          <a:p>
            <a:pPr algn="just"/>
            <a:r>
              <a:rPr lang="es-ES" dirty="0">
                <a:solidFill>
                  <a:schemeClr val="bg1"/>
                </a:solidFill>
                <a:latin typeface="Verdana" panose="020B0604030504040204" pitchFamily="34" charset="0"/>
                <a:ea typeface="Verdana" panose="020B0604030504040204" pitchFamily="34" charset="0"/>
              </a:rPr>
              <a:t>Probabilidad de que sea negra o esté helada P(A⋃B) = 0.7</a:t>
            </a:r>
          </a:p>
          <a:p>
            <a:pPr algn="just"/>
            <a:r>
              <a:rPr lang="es-ES" dirty="0">
                <a:solidFill>
                  <a:schemeClr val="bg1"/>
                </a:solidFill>
                <a:latin typeface="Verdana" panose="020B0604030504040204" pitchFamily="34" charset="0"/>
                <a:ea typeface="Verdana" panose="020B0604030504040204" pitchFamily="34" charset="0"/>
              </a:rPr>
              <a:t>Probabilidad de que la bebida sea negra y esté helada  P(A⋂B) = 30 / 50 = 0.6 </a:t>
            </a:r>
          </a:p>
        </p:txBody>
      </p:sp>
      <p:sp>
        <p:nvSpPr>
          <p:cNvPr id="7" name="CuadroTexto 6">
            <a:extLst>
              <a:ext uri="{FF2B5EF4-FFF2-40B4-BE49-F238E27FC236}">
                <a16:creationId xmlns:a16="http://schemas.microsoft.com/office/drawing/2014/main" id="{A0A273FF-20DF-47BC-8C9C-53CDB9E39A6D}"/>
              </a:ext>
            </a:extLst>
          </p:cNvPr>
          <p:cNvSpPr txBox="1"/>
          <p:nvPr/>
        </p:nvSpPr>
        <p:spPr>
          <a:xfrm>
            <a:off x="352096" y="4862342"/>
            <a:ext cx="5743904" cy="1754326"/>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Despejamos:</a:t>
            </a:r>
          </a:p>
          <a:p>
            <a:pPr algn="just"/>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rgbClr val="FFC000"/>
                </a:solidFill>
                <a:latin typeface="Verdana" panose="020B0604030504040204" pitchFamily="34" charset="0"/>
                <a:ea typeface="Verdana" panose="020B0604030504040204" pitchFamily="34" charset="0"/>
              </a:rPr>
              <a:t>P(A⋃B)</a:t>
            </a:r>
            <a:r>
              <a:rPr lang="es-ES" b="1" dirty="0">
                <a:solidFill>
                  <a:schemeClr val="bg1"/>
                </a:solidFill>
                <a:latin typeface="Verdana" panose="020B0604030504040204" pitchFamily="34" charset="0"/>
                <a:ea typeface="Verdana" panose="020B0604030504040204" pitchFamily="34" charset="0"/>
              </a:rPr>
              <a:t> = P(A) </a:t>
            </a:r>
            <a:r>
              <a:rPr lang="es-ES" b="1" dirty="0">
                <a:solidFill>
                  <a:srgbClr val="0070C0"/>
                </a:solidFill>
                <a:latin typeface="Verdana" panose="020B0604030504040204" pitchFamily="34" charset="0"/>
                <a:ea typeface="Verdana" panose="020B0604030504040204" pitchFamily="34" charset="0"/>
              </a:rPr>
              <a:t>+ P(B)</a:t>
            </a:r>
            <a:r>
              <a:rPr lang="es-ES" b="1" dirty="0">
                <a:solidFill>
                  <a:schemeClr val="bg1"/>
                </a:solidFill>
                <a:latin typeface="Verdana" panose="020B0604030504040204" pitchFamily="34" charset="0"/>
                <a:ea typeface="Verdana" panose="020B0604030504040204" pitchFamily="34" charset="0"/>
              </a:rPr>
              <a:t> − P(A⋂B)</a:t>
            </a:r>
          </a:p>
          <a:p>
            <a:pPr algn="ctr"/>
            <a:r>
              <a:rPr lang="es-ES" b="1" dirty="0">
                <a:solidFill>
                  <a:srgbClr val="FFC000"/>
                </a:solidFill>
                <a:latin typeface="Verdana" panose="020B0604030504040204" pitchFamily="34" charset="0"/>
                <a:ea typeface="Verdana" panose="020B0604030504040204" pitchFamily="34" charset="0"/>
              </a:rPr>
              <a:t>P(A⋃B) </a:t>
            </a:r>
            <a:r>
              <a:rPr lang="es-ES" b="1" dirty="0">
                <a:solidFill>
                  <a:schemeClr val="bg1"/>
                </a:solidFill>
                <a:latin typeface="Verdana" panose="020B0604030504040204" pitchFamily="34" charset="0"/>
                <a:ea typeface="Verdana" panose="020B0604030504040204" pitchFamily="34" charset="0"/>
              </a:rPr>
              <a:t>+ P(A⋂B) = P(A) + </a:t>
            </a:r>
            <a:r>
              <a:rPr lang="es-ES" b="1" dirty="0">
                <a:solidFill>
                  <a:srgbClr val="0070C0"/>
                </a:solidFill>
                <a:latin typeface="Verdana" panose="020B0604030504040204" pitchFamily="34" charset="0"/>
                <a:ea typeface="Verdana" panose="020B0604030504040204" pitchFamily="34" charset="0"/>
              </a:rPr>
              <a:t>P(B)</a:t>
            </a:r>
          </a:p>
          <a:p>
            <a:pPr algn="ctr"/>
            <a:r>
              <a:rPr lang="es-ES" b="1" dirty="0">
                <a:solidFill>
                  <a:srgbClr val="FFC000"/>
                </a:solidFill>
                <a:latin typeface="Verdana" panose="020B0604030504040204" pitchFamily="34" charset="0"/>
                <a:ea typeface="Verdana" panose="020B0604030504040204" pitchFamily="34" charset="0"/>
              </a:rPr>
              <a:t>P(A⋃B) </a:t>
            </a:r>
            <a:r>
              <a:rPr lang="es-ES" b="1" dirty="0">
                <a:solidFill>
                  <a:schemeClr val="bg1"/>
                </a:solidFill>
                <a:latin typeface="Verdana" panose="020B0604030504040204" pitchFamily="34" charset="0"/>
                <a:ea typeface="Verdana" panose="020B0604030504040204" pitchFamily="34" charset="0"/>
              </a:rPr>
              <a:t>+ P(A⋂B) - P(A) =  </a:t>
            </a:r>
            <a:r>
              <a:rPr lang="es-ES" b="1" dirty="0">
                <a:solidFill>
                  <a:srgbClr val="0070C0"/>
                </a:solidFill>
                <a:latin typeface="Verdana" panose="020B0604030504040204" pitchFamily="34" charset="0"/>
                <a:ea typeface="Verdana" panose="020B0604030504040204" pitchFamily="34" charset="0"/>
              </a:rPr>
              <a:t>P(B)</a:t>
            </a:r>
          </a:p>
          <a:p>
            <a:pPr algn="ctr"/>
            <a:r>
              <a:rPr lang="es-ES" b="1" dirty="0">
                <a:solidFill>
                  <a:srgbClr val="0070C0"/>
                </a:solidFill>
                <a:latin typeface="Verdana" panose="020B0604030504040204" pitchFamily="34" charset="0"/>
                <a:ea typeface="Verdana" panose="020B0604030504040204" pitchFamily="34" charset="0"/>
              </a:rPr>
              <a:t>P(B) </a:t>
            </a:r>
            <a:r>
              <a:rPr lang="es-ES" b="1" dirty="0">
                <a:solidFill>
                  <a:schemeClr val="bg1"/>
                </a:solidFill>
                <a:latin typeface="Verdana" panose="020B0604030504040204" pitchFamily="34" charset="0"/>
                <a:ea typeface="Verdana" panose="020B0604030504040204" pitchFamily="34" charset="0"/>
              </a:rPr>
              <a:t>=</a:t>
            </a:r>
            <a:r>
              <a:rPr lang="es-ES" b="1" dirty="0">
                <a:solidFill>
                  <a:srgbClr val="FFC000"/>
                </a:solidFill>
                <a:latin typeface="Verdana" panose="020B0604030504040204" pitchFamily="34" charset="0"/>
                <a:ea typeface="Verdana" panose="020B0604030504040204" pitchFamily="34" charset="0"/>
              </a:rPr>
              <a:t> P(A⋃B) </a:t>
            </a:r>
            <a:r>
              <a:rPr lang="es-ES" b="1" dirty="0">
                <a:solidFill>
                  <a:schemeClr val="bg1"/>
                </a:solidFill>
                <a:latin typeface="Verdana" panose="020B0604030504040204" pitchFamily="34" charset="0"/>
                <a:ea typeface="Verdana" panose="020B0604030504040204" pitchFamily="34" charset="0"/>
              </a:rPr>
              <a:t>+ P(A⋂B) - P(A)</a:t>
            </a:r>
            <a:r>
              <a:rPr lang="es-ES" b="1" dirty="0">
                <a:solidFill>
                  <a:srgbClr val="0070C0"/>
                </a:solidFill>
                <a:latin typeface="Verdana" panose="020B0604030504040204" pitchFamily="34" charset="0"/>
                <a:ea typeface="Verdana" panose="020B0604030504040204" pitchFamily="34" charset="0"/>
              </a:rPr>
              <a:t> </a:t>
            </a:r>
            <a:endParaRPr lang="es-ES" dirty="0">
              <a:solidFill>
                <a:srgbClr val="0070C0"/>
              </a:solidFill>
              <a:latin typeface="Verdana" panose="020B0604030504040204" pitchFamily="34" charset="0"/>
              <a:ea typeface="Verdana" panose="020B0604030504040204" pitchFamily="34" charset="0"/>
            </a:endParaRPr>
          </a:p>
        </p:txBody>
      </p:sp>
      <p:sp>
        <p:nvSpPr>
          <p:cNvPr id="8" name="CuadroTexto 7">
            <a:extLst>
              <a:ext uri="{FF2B5EF4-FFF2-40B4-BE49-F238E27FC236}">
                <a16:creationId xmlns:a16="http://schemas.microsoft.com/office/drawing/2014/main" id="{2B632CAD-847C-4F3C-BEDC-A8AF7BDC4039}"/>
              </a:ext>
            </a:extLst>
          </p:cNvPr>
          <p:cNvSpPr txBox="1"/>
          <p:nvPr/>
        </p:nvSpPr>
        <p:spPr>
          <a:xfrm>
            <a:off x="5766619" y="4851518"/>
            <a:ext cx="6253316" cy="1754326"/>
          </a:xfrm>
          <a:prstGeom prst="rect">
            <a:avLst/>
          </a:prstGeom>
          <a:noFill/>
        </p:spPr>
        <p:txBody>
          <a:bodyPr wrap="square" rtlCol="0">
            <a:spAutoFit/>
          </a:bodyPr>
          <a:lstStyle/>
          <a:p>
            <a:pPr algn="just"/>
            <a:r>
              <a:rPr lang="es-ES" b="1" dirty="0">
                <a:solidFill>
                  <a:schemeClr val="bg1"/>
                </a:solidFill>
                <a:latin typeface="Verdana" panose="020B0604030504040204" pitchFamily="34" charset="0"/>
                <a:ea typeface="Verdana" panose="020B0604030504040204" pitchFamily="34" charset="0"/>
              </a:rPr>
              <a:t>Sustituimos en la nueva fórmula y resolvemos:</a:t>
            </a:r>
          </a:p>
          <a:p>
            <a:pPr algn="just"/>
            <a:endParaRPr lang="es-ES" b="1" dirty="0">
              <a:solidFill>
                <a:schemeClr val="bg1"/>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P(B) = P(A⋃B) + P(A⋂B) - P(A)</a:t>
            </a:r>
            <a:r>
              <a:rPr lang="es-ES" b="1" dirty="0">
                <a:solidFill>
                  <a:srgbClr val="0070C0"/>
                </a:solidFill>
                <a:latin typeface="Verdana" panose="020B0604030504040204" pitchFamily="34" charset="0"/>
                <a:ea typeface="Verdana" panose="020B0604030504040204" pitchFamily="34" charset="0"/>
              </a:rPr>
              <a:t> </a:t>
            </a:r>
            <a:endParaRPr lang="es-ES" dirty="0">
              <a:solidFill>
                <a:srgbClr val="0070C0"/>
              </a:solidFill>
              <a:latin typeface="Verdana" panose="020B0604030504040204" pitchFamily="34" charset="0"/>
              <a:ea typeface="Verdana" panose="020B0604030504040204" pitchFamily="34" charset="0"/>
            </a:endParaRPr>
          </a:p>
          <a:p>
            <a:pPr algn="ctr"/>
            <a:r>
              <a:rPr lang="es-ES" b="1" dirty="0">
                <a:solidFill>
                  <a:schemeClr val="bg1"/>
                </a:solidFill>
                <a:latin typeface="Verdana" panose="020B0604030504040204" pitchFamily="34" charset="0"/>
                <a:ea typeface="Verdana" panose="020B0604030504040204" pitchFamily="34" charset="0"/>
              </a:rPr>
              <a:t>P(B) = 0.7 + 0.6 − 0.8</a:t>
            </a:r>
          </a:p>
          <a:p>
            <a:pPr algn="ctr"/>
            <a:r>
              <a:rPr lang="es-ES" b="1" dirty="0">
                <a:solidFill>
                  <a:schemeClr val="bg1"/>
                </a:solidFill>
                <a:latin typeface="Verdana" panose="020B0604030504040204" pitchFamily="34" charset="0"/>
                <a:ea typeface="Verdana" panose="020B0604030504040204" pitchFamily="34" charset="0"/>
              </a:rPr>
              <a:t>P(A⋂B) = 0.5 </a:t>
            </a:r>
          </a:p>
          <a:p>
            <a:pPr algn="ctr"/>
            <a:endParaRPr lang="es-ES"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4531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1730478" y="209638"/>
            <a:ext cx="8731044"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Formulario 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1204A924-6A75-47B6-A352-EA7891F5DA68}"/>
              </a:ext>
            </a:extLst>
          </p:cNvPr>
          <p:cNvSpPr txBox="1"/>
          <p:nvPr/>
        </p:nvSpPr>
        <p:spPr>
          <a:xfrm>
            <a:off x="1635205" y="1016051"/>
            <a:ext cx="8921589" cy="5632311"/>
          </a:xfrm>
          <a:prstGeom prst="rect">
            <a:avLst/>
          </a:prstGeom>
          <a:noFill/>
        </p:spPr>
        <p:txBody>
          <a:bodyPr wrap="square" rtlCol="0">
            <a:spAutoFit/>
          </a:bodyPr>
          <a:lstStyle/>
          <a:p>
            <a:pPr algn="ctr"/>
            <a:r>
              <a:rPr lang="es-ES" sz="3600" b="1" dirty="0">
                <a:solidFill>
                  <a:schemeClr val="bg1"/>
                </a:solidFill>
                <a:latin typeface="Verdana" panose="020B0604030504040204" pitchFamily="34" charset="0"/>
                <a:ea typeface="Verdana" panose="020B0604030504040204" pitchFamily="34" charset="0"/>
              </a:rPr>
              <a:t>P(A⋃B) = P(A) + P(B) − P(A⋂B)</a:t>
            </a:r>
          </a:p>
          <a:p>
            <a:pPr algn="ctr"/>
            <a:endParaRPr lang="es-ES" sz="3600" b="1" dirty="0">
              <a:solidFill>
                <a:schemeClr val="bg1"/>
              </a:solidFill>
              <a:latin typeface="Verdana" panose="020B0604030504040204" pitchFamily="34" charset="0"/>
              <a:ea typeface="Verdana" panose="020B0604030504040204" pitchFamily="34" charset="0"/>
            </a:endParaRPr>
          </a:p>
          <a:p>
            <a:pPr algn="ctr"/>
            <a:endParaRPr lang="es-ES" sz="3600" b="1" dirty="0">
              <a:solidFill>
                <a:schemeClr val="bg1"/>
              </a:solidFill>
              <a:latin typeface="Verdana" panose="020B0604030504040204" pitchFamily="34" charset="0"/>
              <a:ea typeface="Verdana" panose="020B0604030504040204" pitchFamily="34" charset="0"/>
            </a:endParaRPr>
          </a:p>
          <a:p>
            <a:pPr algn="ctr"/>
            <a:r>
              <a:rPr lang="es-ES" sz="3600" b="1" dirty="0">
                <a:solidFill>
                  <a:schemeClr val="bg1"/>
                </a:solidFill>
                <a:latin typeface="Verdana" panose="020B0604030504040204" pitchFamily="34" charset="0"/>
                <a:ea typeface="Verdana" panose="020B0604030504040204" pitchFamily="34" charset="0"/>
              </a:rPr>
              <a:t>P(A⋂B) = P(A) + P(B) − P(A⋃B) </a:t>
            </a:r>
          </a:p>
          <a:p>
            <a:pPr algn="ctr"/>
            <a:endParaRPr lang="es-ES" sz="3600" b="1" dirty="0">
              <a:solidFill>
                <a:schemeClr val="bg1"/>
              </a:solidFill>
              <a:latin typeface="Verdana" panose="020B0604030504040204" pitchFamily="34" charset="0"/>
              <a:ea typeface="Verdana" panose="020B0604030504040204" pitchFamily="34" charset="0"/>
            </a:endParaRPr>
          </a:p>
          <a:p>
            <a:pPr algn="ctr"/>
            <a:endParaRPr lang="es-ES" sz="3600" b="1" dirty="0">
              <a:solidFill>
                <a:schemeClr val="bg1"/>
              </a:solidFill>
              <a:latin typeface="Verdana" panose="020B0604030504040204" pitchFamily="34" charset="0"/>
              <a:ea typeface="Verdana" panose="020B0604030504040204" pitchFamily="34" charset="0"/>
            </a:endParaRPr>
          </a:p>
          <a:p>
            <a:pPr algn="ctr"/>
            <a:r>
              <a:rPr lang="es-ES" sz="3600" b="1" dirty="0">
                <a:solidFill>
                  <a:schemeClr val="bg1"/>
                </a:solidFill>
                <a:latin typeface="Verdana" panose="020B0604030504040204" pitchFamily="34" charset="0"/>
                <a:ea typeface="Verdana" panose="020B0604030504040204" pitchFamily="34" charset="0"/>
              </a:rPr>
              <a:t>P(B) = P(A⋃B) + P(A⋂B) - P(A)</a:t>
            </a:r>
          </a:p>
          <a:p>
            <a:pPr algn="ctr"/>
            <a:endParaRPr lang="es-ES" sz="3600" b="1" dirty="0">
              <a:solidFill>
                <a:schemeClr val="bg1"/>
              </a:solidFill>
              <a:latin typeface="Verdana" panose="020B0604030504040204" pitchFamily="34" charset="0"/>
              <a:ea typeface="Verdana" panose="020B0604030504040204" pitchFamily="34" charset="0"/>
            </a:endParaRPr>
          </a:p>
          <a:p>
            <a:pPr algn="ctr"/>
            <a:endParaRPr lang="es-ES" sz="3600" b="1" dirty="0">
              <a:solidFill>
                <a:schemeClr val="bg1"/>
              </a:solidFill>
              <a:latin typeface="Verdana" panose="020B0604030504040204" pitchFamily="34" charset="0"/>
              <a:ea typeface="Verdana" panose="020B0604030504040204" pitchFamily="34" charset="0"/>
            </a:endParaRPr>
          </a:p>
          <a:p>
            <a:pPr algn="ctr"/>
            <a:r>
              <a:rPr lang="es-ES" sz="3600" b="1" dirty="0">
                <a:solidFill>
                  <a:schemeClr val="bg1"/>
                </a:solidFill>
                <a:latin typeface="Verdana" panose="020B0604030504040204" pitchFamily="34" charset="0"/>
                <a:ea typeface="Verdana" panose="020B0604030504040204" pitchFamily="34" charset="0"/>
              </a:rPr>
              <a:t>P(A) = P(A⋃B) + P(A⋂B) - P(B) </a:t>
            </a:r>
            <a:endParaRPr lang="es-ES" sz="36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38904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E0FDE86-75DF-4EF5-AC05-8BBB07BF2C21}"/>
              </a:ext>
            </a:extLst>
          </p:cNvPr>
          <p:cNvSpPr/>
          <p:nvPr/>
        </p:nvSpPr>
        <p:spPr>
          <a:xfrm>
            <a:off x="1730478" y="209638"/>
            <a:ext cx="8731044" cy="707886"/>
          </a:xfrm>
          <a:prstGeom prst="rect">
            <a:avLst/>
          </a:prstGeom>
          <a:noFill/>
        </p:spPr>
        <p:txBody>
          <a:bodyPr wrap="square" lIns="91440" tIns="45720" rIns="91440" bIns="45720">
            <a:spAutoFit/>
          </a:bodyPr>
          <a:lstStyle/>
          <a:p>
            <a:pPr algn="ctr"/>
            <a:r>
              <a:rPr lang="es-ES" sz="4000" b="1"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rPr>
              <a:t>Practica: Regla de la suma</a:t>
            </a:r>
            <a:endParaRPr lang="es-ES" sz="4000" b="1" cap="none" spc="0" dirty="0">
              <a:ln w="9525">
                <a:solidFill>
                  <a:schemeClr val="bg1"/>
                </a:solidFill>
                <a:prstDash val="solid"/>
              </a:ln>
              <a:solidFill>
                <a:schemeClr val="bg2">
                  <a:lumMod val="10000"/>
                </a:schemeClr>
              </a:solidFill>
              <a:effectLst>
                <a:outerShdw blurRad="12700" dist="38100" dir="2700000" algn="tl" rotWithShape="0">
                  <a:schemeClr val="accent5">
                    <a:lumMod val="60000"/>
                    <a:lumOff val="40000"/>
                  </a:schemeClr>
                </a:outerShdw>
              </a:effectLst>
              <a:latin typeface="Verdana" panose="020B0604030504040204" pitchFamily="34" charset="0"/>
              <a:ea typeface="Verdana" panose="020B0604030504040204" pitchFamily="34" charset="0"/>
            </a:endParaRPr>
          </a:p>
        </p:txBody>
      </p:sp>
      <p:sp>
        <p:nvSpPr>
          <p:cNvPr id="6" name="CuadroTexto 5">
            <a:extLst>
              <a:ext uri="{FF2B5EF4-FFF2-40B4-BE49-F238E27FC236}">
                <a16:creationId xmlns:a16="http://schemas.microsoft.com/office/drawing/2014/main" id="{9588DC54-9BD8-4023-810F-D7321E233F88}"/>
              </a:ext>
            </a:extLst>
          </p:cNvPr>
          <p:cNvSpPr txBox="1"/>
          <p:nvPr/>
        </p:nvSpPr>
        <p:spPr>
          <a:xfrm>
            <a:off x="234109" y="1435449"/>
            <a:ext cx="11487808" cy="2585323"/>
          </a:xfrm>
          <a:prstGeom prst="rect">
            <a:avLst/>
          </a:prstGeom>
          <a:noFill/>
        </p:spPr>
        <p:txBody>
          <a:bodyPr wrap="square" rtlCol="0">
            <a:spAutoFit/>
          </a:bodyPr>
          <a:lstStyle/>
          <a:p>
            <a:pPr algn="just"/>
            <a:r>
              <a:rPr lang="es-ES" dirty="0">
                <a:solidFill>
                  <a:schemeClr val="bg1"/>
                </a:solidFill>
                <a:latin typeface="Verdana" panose="020B0604030504040204" pitchFamily="34" charset="0"/>
                <a:ea typeface="Verdana" panose="020B0604030504040204" pitchFamily="34" charset="0"/>
              </a:rPr>
              <a:t>La directora del colegio tiene en su llavero 80 llaves que va a distribuir al personal escolar el primer día de clases. De estas 80 llaves, 60 abren salones, 40 abren la puerta a la sala de maestros y 30 abren salones y la sala de maestros. Con esta información, contesta las siguientes preguntas.</a:t>
            </a:r>
          </a:p>
          <a:p>
            <a:pPr algn="just"/>
            <a:endParaRPr lang="es-ES" dirty="0">
              <a:solidFill>
                <a:schemeClr val="bg1"/>
              </a:solidFill>
              <a:latin typeface="Verdana" panose="020B0604030504040204" pitchFamily="34" charset="0"/>
              <a:ea typeface="Verdana" panose="020B0604030504040204" pitchFamily="34" charset="0"/>
            </a:endParaRP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un salón?</a:t>
            </a: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la sala de maestros?</a:t>
            </a: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un salón y la sala de maestros? </a:t>
            </a: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una llave abra un salón o la sala de maestros? </a:t>
            </a:r>
          </a:p>
        </p:txBody>
      </p:sp>
      <p:sp>
        <p:nvSpPr>
          <p:cNvPr id="7" name="CuadroTexto 6">
            <a:extLst>
              <a:ext uri="{FF2B5EF4-FFF2-40B4-BE49-F238E27FC236}">
                <a16:creationId xmlns:a16="http://schemas.microsoft.com/office/drawing/2014/main" id="{2A77B6DA-38B4-439C-9D6B-D4D8D24A45AA}"/>
              </a:ext>
            </a:extLst>
          </p:cNvPr>
          <p:cNvSpPr txBox="1"/>
          <p:nvPr/>
        </p:nvSpPr>
        <p:spPr>
          <a:xfrm>
            <a:off x="-609600" y="4815207"/>
            <a:ext cx="12585290" cy="1200329"/>
          </a:xfrm>
          <a:prstGeom prst="rect">
            <a:avLst/>
          </a:prstGeom>
          <a:noFill/>
        </p:spPr>
        <p:txBody>
          <a:bodyPr wrap="square" rtlCol="0">
            <a:spAutoFit/>
          </a:bodyPr>
          <a:lstStyle/>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un salón? </a:t>
            </a:r>
            <a:r>
              <a:rPr lang="es-ES" b="1" dirty="0">
                <a:solidFill>
                  <a:schemeClr val="bg1"/>
                </a:solidFill>
                <a:latin typeface="Verdana" panose="020B0604030504040204" pitchFamily="34" charset="0"/>
                <a:ea typeface="Verdana" panose="020B0604030504040204" pitchFamily="34" charset="0"/>
              </a:rPr>
              <a:t>P(A) = 0.75</a:t>
            </a: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la sala de maestros? </a:t>
            </a:r>
            <a:r>
              <a:rPr lang="es-ES" b="1" dirty="0">
                <a:solidFill>
                  <a:schemeClr val="bg1"/>
                </a:solidFill>
                <a:latin typeface="Verdana" panose="020B0604030504040204" pitchFamily="34" charset="0"/>
                <a:ea typeface="Verdana" panose="020B0604030504040204" pitchFamily="34" charset="0"/>
              </a:rPr>
              <a:t>P(B) = 0.5</a:t>
            </a:r>
            <a:endParaRPr lang="es-ES" dirty="0">
              <a:solidFill>
                <a:schemeClr val="bg1"/>
              </a:solidFill>
              <a:latin typeface="Verdana" panose="020B0604030504040204" pitchFamily="34" charset="0"/>
              <a:ea typeface="Verdana" panose="020B0604030504040204" pitchFamily="34" charset="0"/>
            </a:endParaRP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la llave abra un salón y la sala de maestros? </a:t>
            </a:r>
            <a:r>
              <a:rPr lang="es-ES" b="1" dirty="0">
                <a:solidFill>
                  <a:schemeClr val="bg1"/>
                </a:solidFill>
                <a:latin typeface="Verdana" panose="020B0604030504040204" pitchFamily="34" charset="0"/>
                <a:ea typeface="Verdana" panose="020B0604030504040204" pitchFamily="34" charset="0"/>
              </a:rPr>
              <a:t>P(A⋂B) = 0.375</a:t>
            </a:r>
          </a:p>
          <a:p>
            <a:pPr marL="1165225" indent="-342900" algn="just">
              <a:buFont typeface="+mj-lt"/>
              <a:buAutoNum type="arabicPeriod"/>
            </a:pPr>
            <a:r>
              <a:rPr lang="es-ES" dirty="0">
                <a:solidFill>
                  <a:schemeClr val="bg1"/>
                </a:solidFill>
                <a:latin typeface="Verdana" panose="020B0604030504040204" pitchFamily="34" charset="0"/>
                <a:ea typeface="Verdana" panose="020B0604030504040204" pitchFamily="34" charset="0"/>
              </a:rPr>
              <a:t>¿Cuál es la probabilidad de que una llave abra un salón o la sala de maestros? </a:t>
            </a:r>
            <a:r>
              <a:rPr lang="es-ES" b="1" dirty="0">
                <a:solidFill>
                  <a:schemeClr val="bg1"/>
                </a:solidFill>
                <a:latin typeface="Verdana" panose="020B0604030504040204" pitchFamily="34" charset="0"/>
                <a:ea typeface="Verdana" panose="020B0604030504040204" pitchFamily="34" charset="0"/>
              </a:rPr>
              <a:t>P(A⋃B) = 0.875</a:t>
            </a:r>
          </a:p>
        </p:txBody>
      </p:sp>
    </p:spTree>
    <p:extLst>
      <p:ext uri="{BB962C8B-B14F-4D97-AF65-F5344CB8AC3E}">
        <p14:creationId xmlns:p14="http://schemas.microsoft.com/office/powerpoint/2010/main" val="394928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Tema de Office">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1557</Words>
  <Application>Microsoft Office PowerPoint</Application>
  <PresentationFormat>Panorámica</PresentationFormat>
  <Paragraphs>130</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Calibri</vt:lpstr>
      <vt:lpstr>Calibri Light</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12</cp:revision>
  <dcterms:created xsi:type="dcterms:W3CDTF">2020-11-06T20:04:46Z</dcterms:created>
  <dcterms:modified xsi:type="dcterms:W3CDTF">2020-11-07T00:16:40Z</dcterms:modified>
</cp:coreProperties>
</file>