
<file path=[Content_Types].xml><?xml version="1.0" encoding="utf-8"?>
<Types xmlns="http://schemas.openxmlformats.org/package/2006/content-types">
  <Default Extension="fntdata" ContentType="application/x-fontdata"/>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embeddedFontLst>
    <p:embeddedFont>
      <p:font typeface="MiSans" panose="020B0604020202020204" charset="-122"/>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9" d="100"/>
          <a:sy n="79" d="100"/>
        </p:scale>
        <p:origin x="74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illermo AntonioAguirre" userId="42908199-65f4-4d4a-8e05-6e659ccb82ce" providerId="ADAL" clId="{7FFDD690-C89F-48BE-ADB8-2E4EEA2D9395}"/>
    <pc:docChg chg="modSld">
      <pc:chgData name="Guillermo AntonioAguirre" userId="42908199-65f4-4d4a-8e05-6e659ccb82ce" providerId="ADAL" clId="{7FFDD690-C89F-48BE-ADB8-2E4EEA2D9395}" dt="2025-11-01T14:56:36.706" v="11" actId="20577"/>
      <pc:docMkLst>
        <pc:docMk/>
      </pc:docMkLst>
      <pc:sldChg chg="modSp mod">
        <pc:chgData name="Guillermo AntonioAguirre" userId="42908199-65f4-4d4a-8e05-6e659ccb82ce" providerId="ADAL" clId="{7FFDD690-C89F-48BE-ADB8-2E4EEA2D9395}" dt="2025-11-01T14:56:36.706" v="11" actId="20577"/>
        <pc:sldMkLst>
          <pc:docMk/>
          <pc:sldMk cId="0" sldId="256"/>
        </pc:sldMkLst>
        <pc:spChg chg="mod">
          <ac:chgData name="Guillermo AntonioAguirre" userId="42908199-65f4-4d4a-8e05-6e659ccb82ce" providerId="ADAL" clId="{7FFDD690-C89F-48BE-ADB8-2E4EEA2D9395}" dt="2025-11-01T14:56:36.706" v="11" actId="20577"/>
          <ac:spMkLst>
            <pc:docMk/>
            <pc:sldMk cId="0" sldId="256"/>
            <ac:spMk id="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252111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jpg"/><Relationship Id="rId4" Type="http://schemas.openxmlformats.org/officeDocument/2006/relationships/image" Target="../media/image7.jpg"/></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1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17.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20.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22.png"/><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6.jpg"/><Relationship Id="rId7"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0808"/>
        </a:solidFill>
        <a:effectLst/>
      </p:bgPr>
    </p:bg>
    <p:spTree>
      <p:nvGrpSpPr>
        <p:cNvPr id="1" name=""/>
        <p:cNvGrpSpPr/>
        <p:nvPr/>
      </p:nvGrpSpPr>
      <p:grpSpPr>
        <a:xfrm>
          <a:off x="0" y="0"/>
          <a:ext cx="0" cy="0"/>
          <a:chOff x="0" y="0"/>
          <a:chExt cx="0" cy="0"/>
        </a:xfrm>
      </p:grpSpPr>
      <p:pic>
        <p:nvPicPr>
          <p:cNvPr id="2" name="Image 0" descr="https://kimi-img.moonshot.cn/pub/slides/slides_tmpl/image/25-08-27-20:02:12-d2nf7h18bjvh7rlj0650.jpg"/>
          <p:cNvPicPr>
            <a:picLocks noChangeAspect="1"/>
          </p:cNvPicPr>
          <p:nvPr/>
        </p:nvPicPr>
        <p:blipFill>
          <a:blip r:embed="rId3"/>
          <a:srcRect/>
          <a:stretch/>
        </p:blipFill>
        <p:spPr>
          <a:xfrm>
            <a:off x="0" y="0"/>
            <a:ext cx="12191999" cy="6864626"/>
          </a:xfrm>
          <a:prstGeom prst="rect">
            <a:avLst/>
          </a:prstGeom>
        </p:spPr>
      </p:pic>
      <p:sp>
        <p:nvSpPr>
          <p:cNvPr id="4" name="Text 0"/>
          <p:cNvSpPr/>
          <p:nvPr/>
        </p:nvSpPr>
        <p:spPr>
          <a:xfrm>
            <a:off x="576835" y="2224670"/>
            <a:ext cx="8567166" cy="2274373"/>
          </a:xfrm>
          <a:prstGeom prst="rect">
            <a:avLst/>
          </a:prstGeom>
          <a:noFill/>
          <a:ln/>
        </p:spPr>
        <p:txBody>
          <a:bodyPr wrap="square" lIns="91440" tIns="45720" rIns="91440" bIns="45720" rtlCol="0" anchor="t"/>
          <a:lstStyle/>
          <a:p>
            <a:pPr marL="0" indent="0">
              <a:lnSpc>
                <a:spcPct val="100000"/>
              </a:lnSpc>
              <a:buNone/>
            </a:pPr>
            <a:r>
              <a:rPr lang="en-US" sz="5400" b="1" dirty="0">
                <a:solidFill>
                  <a:srgbClr val="FFFFFF"/>
                </a:solidFill>
                <a:latin typeface="MiSans" pitchFamily="34" charset="0"/>
                <a:ea typeface="MiSans" pitchFamily="34" charset="-122"/>
                <a:cs typeface="MiSans" pitchFamily="34" charset="-120"/>
              </a:rPr>
              <a:t>NE555: El Chip </a:t>
            </a:r>
            <a:r>
              <a:rPr lang="en-US" sz="5400" b="1" dirty="0" err="1">
                <a:solidFill>
                  <a:srgbClr val="FFFFFF"/>
                </a:solidFill>
                <a:latin typeface="MiSans" pitchFamily="34" charset="0"/>
                <a:ea typeface="MiSans" pitchFamily="34" charset="-122"/>
                <a:cs typeface="MiSans" pitchFamily="34" charset="-120"/>
              </a:rPr>
              <a:t>navaja</a:t>
            </a:r>
            <a:r>
              <a:rPr lang="en-US" sz="5400" b="1" dirty="0">
                <a:solidFill>
                  <a:srgbClr val="FFFFFF"/>
                </a:solidFill>
                <a:latin typeface="MiSans" pitchFamily="34" charset="0"/>
                <a:ea typeface="MiSans" pitchFamily="34" charset="-122"/>
                <a:cs typeface="MiSans" pitchFamily="34" charset="-120"/>
              </a:rPr>
              <a:t> </a:t>
            </a:r>
            <a:r>
              <a:rPr lang="en-US" sz="5400" b="1" dirty="0" err="1">
                <a:solidFill>
                  <a:srgbClr val="FFFFFF"/>
                </a:solidFill>
                <a:latin typeface="MiSans" pitchFamily="34" charset="0"/>
                <a:ea typeface="MiSans" pitchFamily="34" charset="-122"/>
                <a:cs typeface="MiSans" pitchFamily="34" charset="-120"/>
              </a:rPr>
              <a:t>suiza</a:t>
            </a:r>
            <a:endParaRPr lang="en-US" sz="1600" dirty="0"/>
          </a:p>
        </p:txBody>
      </p:sp>
      <p:pic>
        <p:nvPicPr>
          <p:cNvPr id="5" name="Image 2" descr="https://kimi-img.moonshot.cn/pub/slides/slides_tmpl/image/25-08-27-20:02:05-d2nf7f98bjvh7rlj05ug.png"/>
          <p:cNvPicPr>
            <a:picLocks noChangeAspect="1"/>
          </p:cNvPicPr>
          <p:nvPr/>
        </p:nvPicPr>
        <p:blipFill>
          <a:blip r:embed="rId4"/>
          <a:stretch>
            <a:fillRect/>
          </a:stretch>
        </p:blipFill>
        <p:spPr>
          <a:xfrm>
            <a:off x="557175" y="5734389"/>
            <a:ext cx="1732915" cy="457200"/>
          </a:xfrm>
          <a:prstGeom prst="rect">
            <a:avLst/>
          </a:prstGeom>
        </p:spPr>
      </p:pic>
      <p:sp>
        <p:nvSpPr>
          <p:cNvPr id="7" name="Text 2"/>
          <p:cNvSpPr/>
          <p:nvPr/>
        </p:nvSpPr>
        <p:spPr>
          <a:xfrm>
            <a:off x="430084" y="5781642"/>
            <a:ext cx="1733550" cy="248841"/>
          </a:xfrm>
          <a:prstGeom prst="rect">
            <a:avLst/>
          </a:prstGeom>
          <a:noFill/>
          <a:ln/>
        </p:spPr>
        <p:txBody>
          <a:bodyPr wrap="square" lIns="91440" tIns="45720" rIns="91440" bIns="45720" rtlCol="0" anchor="t">
            <a:spAutoFit/>
          </a:bodyPr>
          <a:lstStyle/>
          <a:p>
            <a:pPr marL="0" indent="0" algn="ctr">
              <a:lnSpc>
                <a:spcPct val="100000"/>
              </a:lnSpc>
              <a:buNone/>
            </a:pPr>
            <a:r>
              <a:rPr lang="en-US" sz="1600" dirty="0">
                <a:solidFill>
                  <a:srgbClr val="FFFFFF"/>
                </a:solidFill>
                <a:latin typeface="MiSans" pitchFamily="34" charset="0"/>
                <a:ea typeface="MiSans" pitchFamily="34" charset="-122"/>
                <a:cs typeface="MiSans" pitchFamily="34" charset="-120"/>
              </a:rPr>
              <a:t>2025/08/05</a:t>
            </a:r>
            <a:endParaRPr lang="en-US" sz="1600" dirty="0"/>
          </a:p>
        </p:txBody>
      </p:sp>
      <p:sp>
        <p:nvSpPr>
          <p:cNvPr id="8" name="Shape 3"/>
          <p:cNvSpPr/>
          <p:nvPr/>
        </p:nvSpPr>
        <p:spPr>
          <a:xfrm>
            <a:off x="779721" y="6270738"/>
            <a:ext cx="0" cy="125950"/>
          </a:xfrm>
          <a:prstGeom prst="line">
            <a:avLst/>
          </a:prstGeom>
          <a:noFill/>
          <a:ln w="12700">
            <a:solidFill>
              <a:srgbClr val="FFFFFF"/>
            </a:solidFill>
            <a:prstDash val="solid"/>
            <a:headEnd type="none"/>
            <a:tailEnd type="none"/>
          </a:ln>
        </p:spPr>
        <p:txBody>
          <a:bodyPr/>
          <a:lstStyle/>
          <a:p>
            <a:endParaRPr lang="en-US"/>
          </a:p>
        </p:txBody>
      </p:sp>
      <p:sp>
        <p:nvSpPr>
          <p:cNvPr id="9" name="Shape 4"/>
          <p:cNvSpPr/>
          <p:nvPr/>
        </p:nvSpPr>
        <p:spPr>
          <a:xfrm>
            <a:off x="867722" y="6270738"/>
            <a:ext cx="0" cy="125950"/>
          </a:xfrm>
          <a:prstGeom prst="line">
            <a:avLst/>
          </a:prstGeom>
          <a:noFill/>
          <a:ln w="12700">
            <a:solidFill>
              <a:srgbClr val="FFFFFF"/>
            </a:solidFill>
            <a:prstDash val="solid"/>
            <a:headEnd type="none"/>
            <a:tailEnd type="none"/>
          </a:ln>
        </p:spPr>
        <p:txBody>
          <a:bodyPr/>
          <a:lstStyle/>
          <a:p>
            <a:endParaRPr lang="en-US"/>
          </a:p>
        </p:txBody>
      </p:sp>
      <p:sp>
        <p:nvSpPr>
          <p:cNvPr id="10" name="Shape 5"/>
          <p:cNvSpPr/>
          <p:nvPr/>
        </p:nvSpPr>
        <p:spPr>
          <a:xfrm>
            <a:off x="955722" y="6166356"/>
            <a:ext cx="0" cy="220414"/>
          </a:xfrm>
          <a:prstGeom prst="line">
            <a:avLst/>
          </a:prstGeom>
          <a:noFill/>
          <a:ln w="12700">
            <a:solidFill>
              <a:srgbClr val="FFFFFF"/>
            </a:solidFill>
            <a:prstDash val="solid"/>
            <a:headEnd type="none"/>
            <a:tailEnd type="none"/>
          </a:ln>
        </p:spPr>
        <p:txBody>
          <a:bodyPr/>
          <a:lstStyle/>
          <a:p>
            <a:endParaRPr lang="en-US"/>
          </a:p>
        </p:txBody>
      </p:sp>
      <p:sp>
        <p:nvSpPr>
          <p:cNvPr id="11" name="Shape 6"/>
          <p:cNvSpPr/>
          <p:nvPr/>
        </p:nvSpPr>
        <p:spPr>
          <a:xfrm>
            <a:off x="1043723" y="6270738"/>
            <a:ext cx="0" cy="125950"/>
          </a:xfrm>
          <a:prstGeom prst="line">
            <a:avLst/>
          </a:prstGeom>
          <a:noFill/>
          <a:ln w="12700">
            <a:solidFill>
              <a:srgbClr val="FFFFFF"/>
            </a:solidFill>
            <a:prstDash val="solid"/>
            <a:headEnd type="none"/>
            <a:tailEnd type="none"/>
          </a:ln>
        </p:spPr>
        <p:txBody>
          <a:bodyPr/>
          <a:lstStyle/>
          <a:p>
            <a:endParaRPr lang="en-US"/>
          </a:p>
        </p:txBody>
      </p:sp>
      <p:sp>
        <p:nvSpPr>
          <p:cNvPr id="12" name="Shape 7"/>
          <p:cNvSpPr/>
          <p:nvPr/>
        </p:nvSpPr>
        <p:spPr>
          <a:xfrm>
            <a:off x="1131723" y="6270738"/>
            <a:ext cx="0" cy="125950"/>
          </a:xfrm>
          <a:prstGeom prst="line">
            <a:avLst/>
          </a:prstGeom>
          <a:noFill/>
          <a:ln w="12700">
            <a:solidFill>
              <a:srgbClr val="FFFFFF"/>
            </a:solidFill>
            <a:prstDash val="solid"/>
            <a:headEnd type="none"/>
            <a:tailEnd type="none"/>
          </a:ln>
        </p:spPr>
        <p:txBody>
          <a:bodyPr/>
          <a:lstStyle/>
          <a:p>
            <a:endParaRPr lang="en-US"/>
          </a:p>
        </p:txBody>
      </p:sp>
      <p:sp>
        <p:nvSpPr>
          <p:cNvPr id="13" name="Shape 8"/>
          <p:cNvSpPr/>
          <p:nvPr/>
        </p:nvSpPr>
        <p:spPr>
          <a:xfrm>
            <a:off x="10796832" y="6396446"/>
            <a:ext cx="116844" cy="116844"/>
          </a:xfrm>
          <a:prstGeom prst="ellipse">
            <a:avLst/>
          </a:prstGeom>
          <a:solidFill>
            <a:srgbClr val="FFFFFF"/>
          </a:solidFill>
          <a:ln/>
        </p:spPr>
        <p:txBody>
          <a:bodyPr/>
          <a:lstStyle/>
          <a:p>
            <a:endParaRPr lang="en-US"/>
          </a:p>
        </p:txBody>
      </p:sp>
      <p:sp>
        <p:nvSpPr>
          <p:cNvPr id="14" name="Text 9"/>
          <p:cNvSpPr/>
          <p:nvPr/>
        </p:nvSpPr>
        <p:spPr>
          <a:xfrm>
            <a:off x="10796832" y="6396446"/>
            <a:ext cx="116844" cy="116844"/>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5" name="Shape 10"/>
          <p:cNvSpPr/>
          <p:nvPr/>
        </p:nvSpPr>
        <p:spPr>
          <a:xfrm>
            <a:off x="10989337" y="6396446"/>
            <a:ext cx="116844" cy="116844"/>
          </a:xfrm>
          <a:prstGeom prst="ellipse">
            <a:avLst/>
          </a:prstGeom>
          <a:solidFill>
            <a:srgbClr val="FFFFFF">
              <a:alpha val="56471"/>
            </a:srgbClr>
          </a:solidFill>
          <a:ln/>
        </p:spPr>
        <p:txBody>
          <a:bodyPr/>
          <a:lstStyle/>
          <a:p>
            <a:endParaRPr lang="en-US"/>
          </a:p>
        </p:txBody>
      </p:sp>
      <p:sp>
        <p:nvSpPr>
          <p:cNvPr id="16" name="Text 11"/>
          <p:cNvSpPr/>
          <p:nvPr/>
        </p:nvSpPr>
        <p:spPr>
          <a:xfrm>
            <a:off x="10989337" y="6396446"/>
            <a:ext cx="116844" cy="116844"/>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7" name="Shape 12"/>
          <p:cNvSpPr/>
          <p:nvPr/>
        </p:nvSpPr>
        <p:spPr>
          <a:xfrm>
            <a:off x="11186107" y="6396446"/>
            <a:ext cx="116844" cy="116844"/>
          </a:xfrm>
          <a:prstGeom prst="ellipse">
            <a:avLst/>
          </a:prstGeom>
          <a:solidFill>
            <a:srgbClr val="FFFFFF"/>
          </a:solidFill>
          <a:ln/>
        </p:spPr>
        <p:txBody>
          <a:bodyPr/>
          <a:lstStyle/>
          <a:p>
            <a:endParaRPr lang="en-US"/>
          </a:p>
        </p:txBody>
      </p:sp>
      <p:sp>
        <p:nvSpPr>
          <p:cNvPr id="18" name="Text 13"/>
          <p:cNvSpPr/>
          <p:nvPr/>
        </p:nvSpPr>
        <p:spPr>
          <a:xfrm>
            <a:off x="11186107" y="6396446"/>
            <a:ext cx="116844" cy="116844"/>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9" name="Shape 14"/>
          <p:cNvSpPr/>
          <p:nvPr/>
        </p:nvSpPr>
        <p:spPr>
          <a:xfrm>
            <a:off x="11382877" y="6396446"/>
            <a:ext cx="116844" cy="116844"/>
          </a:xfrm>
          <a:prstGeom prst="ellipse">
            <a:avLst/>
          </a:prstGeom>
          <a:solidFill>
            <a:srgbClr val="FFFFFF">
              <a:alpha val="56471"/>
            </a:srgbClr>
          </a:solidFill>
          <a:ln/>
        </p:spPr>
        <p:txBody>
          <a:bodyPr/>
          <a:lstStyle/>
          <a:p>
            <a:endParaRPr lang="en-US"/>
          </a:p>
        </p:txBody>
      </p:sp>
      <p:sp>
        <p:nvSpPr>
          <p:cNvPr id="20" name="Text 15"/>
          <p:cNvSpPr/>
          <p:nvPr/>
        </p:nvSpPr>
        <p:spPr>
          <a:xfrm>
            <a:off x="11382877" y="6396446"/>
            <a:ext cx="116844" cy="116844"/>
          </a:xfrm>
          <a:prstGeom prst="rect">
            <a:avLst/>
          </a:prstGeom>
          <a:noFill/>
          <a:ln/>
        </p:spPr>
        <p:txBody>
          <a:bodyPr wrap="square" lIns="45720" tIns="91440" rIns="91440" bIns="45720" rtlCol="0" anchor="ctr"/>
          <a:lstStyle/>
          <a:p>
            <a:pPr marL="0" indent="0">
              <a:lnSpc>
                <a:spcPct val="100000"/>
              </a:lnSpc>
              <a:buNone/>
            </a:pPr>
            <a:endParaRPr lang="en-US" sz="1600" dirty="0"/>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2:10-d2nf7gh8bjvh7rlj062g.jpg"/>
          <p:cNvPicPr>
            <a:picLocks noChangeAspect="1"/>
          </p:cNvPicPr>
          <p:nvPr/>
        </p:nvPicPr>
        <p:blipFill>
          <a:blip r:embed="rId3"/>
          <a:srcRect/>
          <a:stretch/>
        </p:blipFill>
        <p:spPr>
          <a:xfrm>
            <a:off x="-11363" y="-11130"/>
            <a:ext cx="12203363" cy="6871023"/>
          </a:xfrm>
          <a:prstGeom prst="rect">
            <a:avLst/>
          </a:prstGeom>
        </p:spPr>
      </p:pic>
      <p:sp>
        <p:nvSpPr>
          <p:cNvPr id="3" name="Shape 0"/>
          <p:cNvSpPr/>
          <p:nvPr/>
        </p:nvSpPr>
        <p:spPr>
          <a:xfrm>
            <a:off x="949027" y="6176992"/>
            <a:ext cx="0" cy="125950"/>
          </a:xfrm>
          <a:prstGeom prst="line">
            <a:avLst/>
          </a:prstGeom>
          <a:noFill/>
          <a:ln w="12700">
            <a:solidFill>
              <a:srgbClr val="FFFFFF"/>
            </a:solidFill>
            <a:prstDash val="solid"/>
            <a:headEnd type="none"/>
            <a:tailEnd type="none"/>
          </a:ln>
        </p:spPr>
        <p:txBody>
          <a:bodyPr/>
          <a:lstStyle/>
          <a:p>
            <a:endParaRPr lang="en-US"/>
          </a:p>
        </p:txBody>
      </p:sp>
      <p:sp>
        <p:nvSpPr>
          <p:cNvPr id="4" name="Shape 1"/>
          <p:cNvSpPr/>
          <p:nvPr/>
        </p:nvSpPr>
        <p:spPr>
          <a:xfrm>
            <a:off x="1037028" y="6176992"/>
            <a:ext cx="0" cy="125950"/>
          </a:xfrm>
          <a:prstGeom prst="line">
            <a:avLst/>
          </a:prstGeom>
          <a:noFill/>
          <a:ln w="12700">
            <a:solidFill>
              <a:srgbClr val="FFFFFF"/>
            </a:solidFill>
            <a:prstDash val="solid"/>
            <a:headEnd type="none"/>
            <a:tailEnd type="none"/>
          </a:ln>
        </p:spPr>
        <p:txBody>
          <a:bodyPr/>
          <a:lstStyle/>
          <a:p>
            <a:endParaRPr lang="en-US"/>
          </a:p>
        </p:txBody>
      </p:sp>
      <p:sp>
        <p:nvSpPr>
          <p:cNvPr id="5" name="Shape 2"/>
          <p:cNvSpPr/>
          <p:nvPr/>
        </p:nvSpPr>
        <p:spPr>
          <a:xfrm>
            <a:off x="1125028" y="6072610"/>
            <a:ext cx="0" cy="220414"/>
          </a:xfrm>
          <a:prstGeom prst="line">
            <a:avLst/>
          </a:prstGeom>
          <a:noFill/>
          <a:ln w="12700">
            <a:solidFill>
              <a:srgbClr val="FFFFFF"/>
            </a:solidFill>
            <a:prstDash val="solid"/>
            <a:headEnd type="none"/>
            <a:tailEnd type="none"/>
          </a:ln>
        </p:spPr>
        <p:txBody>
          <a:bodyPr/>
          <a:lstStyle/>
          <a:p>
            <a:endParaRPr lang="en-US"/>
          </a:p>
        </p:txBody>
      </p:sp>
      <p:sp>
        <p:nvSpPr>
          <p:cNvPr id="6" name="Shape 3"/>
          <p:cNvSpPr/>
          <p:nvPr/>
        </p:nvSpPr>
        <p:spPr>
          <a:xfrm>
            <a:off x="1213029" y="6176992"/>
            <a:ext cx="0" cy="125950"/>
          </a:xfrm>
          <a:prstGeom prst="line">
            <a:avLst/>
          </a:prstGeom>
          <a:noFill/>
          <a:ln w="12700">
            <a:solidFill>
              <a:srgbClr val="FFFFFF"/>
            </a:solidFill>
            <a:prstDash val="solid"/>
            <a:headEnd type="none"/>
            <a:tailEnd type="none"/>
          </a:ln>
        </p:spPr>
        <p:txBody>
          <a:bodyPr/>
          <a:lstStyle/>
          <a:p>
            <a:endParaRPr lang="en-US"/>
          </a:p>
        </p:txBody>
      </p:sp>
      <p:sp>
        <p:nvSpPr>
          <p:cNvPr id="7" name="Shape 4"/>
          <p:cNvSpPr/>
          <p:nvPr/>
        </p:nvSpPr>
        <p:spPr>
          <a:xfrm>
            <a:off x="1301029" y="6176992"/>
            <a:ext cx="0" cy="125950"/>
          </a:xfrm>
          <a:prstGeom prst="line">
            <a:avLst/>
          </a:prstGeom>
          <a:noFill/>
          <a:ln w="12700">
            <a:solidFill>
              <a:srgbClr val="FFFFFF"/>
            </a:solidFill>
            <a:prstDash val="solid"/>
            <a:headEnd type="none"/>
            <a:tailEnd type="none"/>
          </a:ln>
        </p:spPr>
        <p:txBody>
          <a:bodyPr/>
          <a:lstStyle/>
          <a:p>
            <a:endParaRPr lang="en-US"/>
          </a:p>
        </p:txBody>
      </p:sp>
      <p:sp>
        <p:nvSpPr>
          <p:cNvPr id="8" name="Shape 5"/>
          <p:cNvSpPr/>
          <p:nvPr/>
        </p:nvSpPr>
        <p:spPr>
          <a:xfrm flipH="1">
            <a:off x="11451321" y="672670"/>
            <a:ext cx="77797" cy="72000"/>
          </a:xfrm>
          <a:prstGeom prst="ellipse">
            <a:avLst/>
          </a:prstGeom>
          <a:solidFill>
            <a:srgbClr val="FFFFFF"/>
          </a:solidFill>
          <a:ln/>
        </p:spPr>
        <p:txBody>
          <a:bodyPr/>
          <a:lstStyle/>
          <a:p>
            <a:endParaRPr lang="en-US"/>
          </a:p>
        </p:txBody>
      </p:sp>
      <p:sp>
        <p:nvSpPr>
          <p:cNvPr id="9" name="Text 6"/>
          <p:cNvSpPr/>
          <p:nvPr/>
        </p:nvSpPr>
        <p:spPr>
          <a:xfrm>
            <a:off x="11451321" y="672670"/>
            <a:ext cx="77797" cy="7200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0" name="Shape 7"/>
          <p:cNvSpPr/>
          <p:nvPr/>
        </p:nvSpPr>
        <p:spPr>
          <a:xfrm flipH="1">
            <a:off x="11323146" y="672670"/>
            <a:ext cx="77797" cy="72000"/>
          </a:xfrm>
          <a:prstGeom prst="ellipse">
            <a:avLst/>
          </a:prstGeom>
          <a:solidFill>
            <a:srgbClr val="FFFFFF">
              <a:alpha val="56471"/>
            </a:srgbClr>
          </a:solidFill>
          <a:ln/>
        </p:spPr>
        <p:txBody>
          <a:bodyPr/>
          <a:lstStyle/>
          <a:p>
            <a:endParaRPr lang="en-US"/>
          </a:p>
        </p:txBody>
      </p:sp>
      <p:sp>
        <p:nvSpPr>
          <p:cNvPr id="11" name="Text 8"/>
          <p:cNvSpPr/>
          <p:nvPr/>
        </p:nvSpPr>
        <p:spPr>
          <a:xfrm>
            <a:off x="11323146" y="672670"/>
            <a:ext cx="77797" cy="7200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2" name="Shape 9"/>
          <p:cNvSpPr/>
          <p:nvPr/>
        </p:nvSpPr>
        <p:spPr>
          <a:xfrm flipH="1">
            <a:off x="11192132" y="672670"/>
            <a:ext cx="77797" cy="72000"/>
          </a:xfrm>
          <a:prstGeom prst="ellipse">
            <a:avLst/>
          </a:prstGeom>
          <a:solidFill>
            <a:srgbClr val="FFFFFF"/>
          </a:solidFill>
          <a:ln/>
        </p:spPr>
        <p:txBody>
          <a:bodyPr/>
          <a:lstStyle/>
          <a:p>
            <a:endParaRPr lang="en-US"/>
          </a:p>
        </p:txBody>
      </p:sp>
      <p:sp>
        <p:nvSpPr>
          <p:cNvPr id="13" name="Text 10"/>
          <p:cNvSpPr/>
          <p:nvPr/>
        </p:nvSpPr>
        <p:spPr>
          <a:xfrm>
            <a:off x="11192132" y="672670"/>
            <a:ext cx="77797" cy="7200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4" name="Shape 11"/>
          <p:cNvSpPr/>
          <p:nvPr/>
        </p:nvSpPr>
        <p:spPr>
          <a:xfrm flipH="1">
            <a:off x="11061118" y="672670"/>
            <a:ext cx="77797" cy="72000"/>
          </a:xfrm>
          <a:prstGeom prst="ellipse">
            <a:avLst/>
          </a:prstGeom>
          <a:solidFill>
            <a:srgbClr val="FFFFFF">
              <a:alpha val="56471"/>
            </a:srgbClr>
          </a:solidFill>
          <a:ln/>
        </p:spPr>
        <p:txBody>
          <a:bodyPr/>
          <a:lstStyle/>
          <a:p>
            <a:endParaRPr lang="en-US"/>
          </a:p>
        </p:txBody>
      </p:sp>
      <p:sp>
        <p:nvSpPr>
          <p:cNvPr id="15" name="Text 12"/>
          <p:cNvSpPr/>
          <p:nvPr/>
        </p:nvSpPr>
        <p:spPr>
          <a:xfrm>
            <a:off x="11061118" y="672670"/>
            <a:ext cx="77797" cy="72000"/>
          </a:xfrm>
          <a:prstGeom prst="rect">
            <a:avLst/>
          </a:prstGeom>
          <a:noFill/>
          <a:ln/>
        </p:spPr>
        <p:txBody>
          <a:bodyPr wrap="square" lIns="45720" tIns="91440" rIns="91440" bIns="45720" rtlCol="0" anchor="ctr"/>
          <a:lstStyle/>
          <a:p>
            <a:pPr marL="0" indent="0">
              <a:lnSpc>
                <a:spcPct val="100000"/>
              </a:lnSpc>
              <a:buNone/>
            </a:pPr>
            <a:endParaRPr lang="en-US" sz="1600" dirty="0"/>
          </a:p>
        </p:txBody>
      </p:sp>
      <p:pic>
        <p:nvPicPr>
          <p:cNvPr id="16" name="Image 1" descr="https://kimi-img.moonshot.cn/pub/slides/slides_tmpl/image/25-08-27-20:02:06-d2nf7fh8bjvh7rlj05v0.png"/>
          <p:cNvPicPr>
            <a:picLocks noChangeAspect="1"/>
          </p:cNvPicPr>
          <p:nvPr/>
        </p:nvPicPr>
        <p:blipFill>
          <a:blip r:embed="rId4"/>
          <a:stretch>
            <a:fillRect/>
          </a:stretch>
        </p:blipFill>
        <p:spPr>
          <a:xfrm>
            <a:off x="1096868" y="2174555"/>
            <a:ext cx="723900" cy="1511962"/>
          </a:xfrm>
          <a:prstGeom prst="rect">
            <a:avLst/>
          </a:prstGeom>
        </p:spPr>
      </p:pic>
      <p:pic>
        <p:nvPicPr>
          <p:cNvPr id="17" name="Image 2" descr="https://kimi-img.moonshot.cn/pub/slides/slides_tmpl/image/25-08-27-20:02:06-d2nf7fh8bjvh7rlj05v0.png"/>
          <p:cNvPicPr>
            <a:picLocks noChangeAspect="1"/>
          </p:cNvPicPr>
          <p:nvPr/>
        </p:nvPicPr>
        <p:blipFill>
          <a:blip r:embed="rId4"/>
          <a:stretch>
            <a:fillRect/>
          </a:stretch>
        </p:blipFill>
        <p:spPr>
          <a:xfrm>
            <a:off x="4469270" y="2174555"/>
            <a:ext cx="723900" cy="1511962"/>
          </a:xfrm>
          <a:prstGeom prst="rect">
            <a:avLst/>
          </a:prstGeom>
        </p:spPr>
      </p:pic>
      <p:pic>
        <p:nvPicPr>
          <p:cNvPr id="18" name="Image 3" descr="https://kimi-img.moonshot.cn/pub/slides/slides_tmpl/image/25-08-27-20:02:06-d2nf7fh8bjvh7rlj05v0.png"/>
          <p:cNvPicPr>
            <a:picLocks noChangeAspect="1"/>
          </p:cNvPicPr>
          <p:nvPr/>
        </p:nvPicPr>
        <p:blipFill>
          <a:blip r:embed="rId4"/>
          <a:stretch>
            <a:fillRect/>
          </a:stretch>
        </p:blipFill>
        <p:spPr>
          <a:xfrm>
            <a:off x="7849360" y="2174555"/>
            <a:ext cx="723900" cy="1511962"/>
          </a:xfrm>
          <a:prstGeom prst="rect">
            <a:avLst/>
          </a:prstGeom>
        </p:spPr>
      </p:pic>
      <p:pic>
        <p:nvPicPr>
          <p:cNvPr id="19" name="Image 4" descr="https://kimi-img.moonshot.cn/pub/slides/slides_tmpl/image/25-08-27-20:02:06-d2nf7fh8bjvh7rlj05v0.png"/>
          <p:cNvPicPr>
            <a:picLocks noChangeAspect="1"/>
          </p:cNvPicPr>
          <p:nvPr/>
        </p:nvPicPr>
        <p:blipFill>
          <a:blip r:embed="rId4"/>
          <a:stretch>
            <a:fillRect/>
          </a:stretch>
        </p:blipFill>
        <p:spPr>
          <a:xfrm>
            <a:off x="1096868" y="3780616"/>
            <a:ext cx="723900" cy="1511962"/>
          </a:xfrm>
          <a:prstGeom prst="rect">
            <a:avLst/>
          </a:prstGeom>
        </p:spPr>
      </p:pic>
      <p:pic>
        <p:nvPicPr>
          <p:cNvPr id="20" name="Image 5" descr="https://kimi-img.moonshot.cn/pub/slides/slides_tmpl/image/25-08-27-20:02:06-d2nf7fh8bjvh7rlj05v0.png"/>
          <p:cNvPicPr>
            <a:picLocks noChangeAspect="1"/>
          </p:cNvPicPr>
          <p:nvPr/>
        </p:nvPicPr>
        <p:blipFill>
          <a:blip r:embed="rId4"/>
          <a:stretch>
            <a:fillRect/>
          </a:stretch>
        </p:blipFill>
        <p:spPr>
          <a:xfrm>
            <a:off x="4469270" y="3780616"/>
            <a:ext cx="723900" cy="1511962"/>
          </a:xfrm>
          <a:prstGeom prst="rect">
            <a:avLst/>
          </a:prstGeom>
        </p:spPr>
      </p:pic>
      <p:pic>
        <p:nvPicPr>
          <p:cNvPr id="21" name="Image 6" descr="https://kimi-img.moonshot.cn/pub/slides/slides_tmpl/image/25-08-27-20:02:06-d2nf7fh8bjvh7rlj05v0.png"/>
          <p:cNvPicPr>
            <a:picLocks noChangeAspect="1"/>
          </p:cNvPicPr>
          <p:nvPr/>
        </p:nvPicPr>
        <p:blipFill>
          <a:blip r:embed="rId4"/>
          <a:stretch>
            <a:fillRect/>
          </a:stretch>
        </p:blipFill>
        <p:spPr>
          <a:xfrm>
            <a:off x="7849360" y="3780616"/>
            <a:ext cx="723900" cy="1511962"/>
          </a:xfrm>
          <a:prstGeom prst="rect">
            <a:avLst/>
          </a:prstGeom>
        </p:spPr>
      </p:pic>
      <p:sp>
        <p:nvSpPr>
          <p:cNvPr id="22" name="Text 13"/>
          <p:cNvSpPr/>
          <p:nvPr/>
        </p:nvSpPr>
        <p:spPr>
          <a:xfrm>
            <a:off x="721377" y="941261"/>
            <a:ext cx="3260015" cy="606887"/>
          </a:xfrm>
          <a:prstGeom prst="rect">
            <a:avLst/>
          </a:prstGeom>
          <a:noFill/>
          <a:ln/>
        </p:spPr>
        <p:txBody>
          <a:bodyPr wrap="square" lIns="91440" tIns="45720" rIns="91440" bIns="45720" rtlCol="0" anchor="t"/>
          <a:lstStyle/>
          <a:p>
            <a:pPr>
              <a:lnSpc>
                <a:spcPct val="90000"/>
              </a:lnSpc>
            </a:pPr>
            <a:r>
              <a:rPr lang="en-US" sz="4000" dirty="0" err="1">
                <a:solidFill>
                  <a:schemeClr val="bg1"/>
                </a:solidFill>
                <a:latin typeface="MiSans" pitchFamily="34" charset="0"/>
                <a:ea typeface="MiSans" pitchFamily="34" charset="-122"/>
                <a:cs typeface="MiSans" pitchFamily="34" charset="-120"/>
              </a:rPr>
              <a:t>Contenido</a:t>
            </a:r>
            <a:endParaRPr lang="en-US" sz="4000" dirty="0">
              <a:solidFill>
                <a:schemeClr val="bg1"/>
              </a:solidFill>
            </a:endParaRPr>
          </a:p>
        </p:txBody>
      </p:sp>
      <p:sp>
        <p:nvSpPr>
          <p:cNvPr id="25" name="Shape 15"/>
          <p:cNvSpPr/>
          <p:nvPr/>
        </p:nvSpPr>
        <p:spPr>
          <a:xfrm>
            <a:off x="1613338" y="2453555"/>
            <a:ext cx="541714" cy="460126"/>
          </a:xfrm>
          <a:prstGeom prst="rect">
            <a:avLst/>
          </a:prstGeom>
          <a:solidFill>
            <a:srgbClr val="000000">
              <a:alpha val="0"/>
            </a:srgbClr>
          </a:solidFill>
          <a:ln/>
        </p:spPr>
        <p:txBody>
          <a:bodyPr/>
          <a:lstStyle/>
          <a:p>
            <a:endParaRPr lang="en-US"/>
          </a:p>
        </p:txBody>
      </p:sp>
      <p:sp>
        <p:nvSpPr>
          <p:cNvPr id="26" name="Text 16"/>
          <p:cNvSpPr/>
          <p:nvPr/>
        </p:nvSpPr>
        <p:spPr>
          <a:xfrm>
            <a:off x="1613338" y="2453555"/>
            <a:ext cx="541714" cy="460126"/>
          </a:xfrm>
          <a:prstGeom prst="rect">
            <a:avLst/>
          </a:prstGeom>
          <a:noFill/>
          <a:ln/>
        </p:spPr>
        <p:txBody>
          <a:bodyPr wrap="square" lIns="0" tIns="0" rIns="0" bIns="0" rtlCol="0" anchor="t"/>
          <a:lstStyle/>
          <a:p>
            <a:pPr marL="0" indent="0">
              <a:lnSpc>
                <a:spcPct val="110000"/>
              </a:lnSpc>
              <a:buNone/>
            </a:pPr>
            <a:r>
              <a:rPr lang="en-US" sz="2800" dirty="0">
                <a:solidFill>
                  <a:srgbClr val="FFFFFF"/>
                </a:solidFill>
                <a:latin typeface="MiSans" pitchFamily="34" charset="0"/>
                <a:ea typeface="MiSans" pitchFamily="34" charset="-122"/>
                <a:cs typeface="MiSans" pitchFamily="34" charset="-120"/>
              </a:rPr>
              <a:t>01</a:t>
            </a:r>
            <a:endParaRPr lang="en-US" sz="1600" dirty="0"/>
          </a:p>
        </p:txBody>
      </p:sp>
      <p:sp>
        <p:nvSpPr>
          <p:cNvPr id="27" name="Text 17"/>
          <p:cNvSpPr/>
          <p:nvPr/>
        </p:nvSpPr>
        <p:spPr>
          <a:xfrm>
            <a:off x="1613337" y="2954311"/>
            <a:ext cx="3035114" cy="248841"/>
          </a:xfrm>
          <a:prstGeom prst="rect">
            <a:avLst/>
          </a:prstGeom>
          <a:noFill/>
          <a:ln/>
        </p:spPr>
        <p:txBody>
          <a:bodyPr wrap="square" lIns="0" tIns="0" rIns="0" bIns="0" rtlCol="0" anchor="t">
            <a:spAutoFit/>
          </a:bodyPr>
          <a:lstStyle/>
          <a:p>
            <a:pPr marL="0" indent="0">
              <a:lnSpc>
                <a:spcPct val="100000"/>
              </a:lnSpc>
              <a:buNone/>
            </a:pPr>
            <a:r>
              <a:rPr lang="en-US" sz="1600" dirty="0">
                <a:solidFill>
                  <a:srgbClr val="FFFFFF"/>
                </a:solidFill>
                <a:latin typeface="MiSans" pitchFamily="34" charset="0"/>
                <a:ea typeface="MiSans" pitchFamily="34" charset="-122"/>
                <a:cs typeface="MiSans" pitchFamily="34" charset="-120"/>
              </a:rPr>
              <a:t>Introducción al NE555</a:t>
            </a:r>
            <a:endParaRPr lang="en-US" sz="1600" dirty="0"/>
          </a:p>
        </p:txBody>
      </p:sp>
      <p:sp>
        <p:nvSpPr>
          <p:cNvPr id="28" name="Shape 18"/>
          <p:cNvSpPr/>
          <p:nvPr/>
        </p:nvSpPr>
        <p:spPr>
          <a:xfrm>
            <a:off x="4985740" y="2453555"/>
            <a:ext cx="541714" cy="460126"/>
          </a:xfrm>
          <a:prstGeom prst="rect">
            <a:avLst/>
          </a:prstGeom>
          <a:solidFill>
            <a:srgbClr val="000000">
              <a:alpha val="0"/>
            </a:srgbClr>
          </a:solidFill>
          <a:ln/>
        </p:spPr>
        <p:txBody>
          <a:bodyPr/>
          <a:lstStyle/>
          <a:p>
            <a:endParaRPr lang="en-US"/>
          </a:p>
        </p:txBody>
      </p:sp>
      <p:sp>
        <p:nvSpPr>
          <p:cNvPr id="29" name="Text 19"/>
          <p:cNvSpPr/>
          <p:nvPr/>
        </p:nvSpPr>
        <p:spPr>
          <a:xfrm>
            <a:off x="4985740" y="2453555"/>
            <a:ext cx="541714" cy="460126"/>
          </a:xfrm>
          <a:prstGeom prst="rect">
            <a:avLst/>
          </a:prstGeom>
          <a:noFill/>
          <a:ln/>
        </p:spPr>
        <p:txBody>
          <a:bodyPr wrap="square" lIns="0" tIns="0" rIns="0" bIns="0" rtlCol="0" anchor="t"/>
          <a:lstStyle/>
          <a:p>
            <a:pPr marL="0" indent="0">
              <a:lnSpc>
                <a:spcPct val="110000"/>
              </a:lnSpc>
              <a:buNone/>
            </a:pPr>
            <a:r>
              <a:rPr lang="en-US" sz="2800" dirty="0">
                <a:solidFill>
                  <a:srgbClr val="FFFFFF"/>
                </a:solidFill>
                <a:latin typeface="MiSans" pitchFamily="34" charset="0"/>
                <a:ea typeface="MiSans" pitchFamily="34" charset="-122"/>
                <a:cs typeface="MiSans" pitchFamily="34" charset="-120"/>
              </a:rPr>
              <a:t>02</a:t>
            </a:r>
            <a:endParaRPr lang="en-US" sz="1600" dirty="0"/>
          </a:p>
        </p:txBody>
      </p:sp>
      <p:sp>
        <p:nvSpPr>
          <p:cNvPr id="30" name="Text 20"/>
          <p:cNvSpPr/>
          <p:nvPr/>
        </p:nvSpPr>
        <p:spPr>
          <a:xfrm>
            <a:off x="4985739" y="2954311"/>
            <a:ext cx="3035114" cy="248841"/>
          </a:xfrm>
          <a:prstGeom prst="rect">
            <a:avLst/>
          </a:prstGeom>
          <a:noFill/>
          <a:ln/>
        </p:spPr>
        <p:txBody>
          <a:bodyPr wrap="square" lIns="0" tIns="0" rIns="0" bIns="0" rtlCol="0" anchor="t">
            <a:spAutoFit/>
          </a:bodyPr>
          <a:lstStyle/>
          <a:p>
            <a:pPr marL="0" indent="0">
              <a:lnSpc>
                <a:spcPct val="100000"/>
              </a:lnSpc>
              <a:buNone/>
            </a:pPr>
            <a:r>
              <a:rPr lang="en-US" sz="1600" dirty="0">
                <a:solidFill>
                  <a:srgbClr val="FFFFFF"/>
                </a:solidFill>
                <a:latin typeface="MiSans" pitchFamily="34" charset="0"/>
                <a:ea typeface="MiSans" pitchFamily="34" charset="-122"/>
                <a:cs typeface="MiSans" pitchFamily="34" charset="-120"/>
              </a:rPr>
              <a:t>Características y Pines</a:t>
            </a:r>
            <a:endParaRPr lang="en-US" sz="1600" dirty="0"/>
          </a:p>
        </p:txBody>
      </p:sp>
      <p:sp>
        <p:nvSpPr>
          <p:cNvPr id="31" name="Shape 21"/>
          <p:cNvSpPr/>
          <p:nvPr/>
        </p:nvSpPr>
        <p:spPr>
          <a:xfrm>
            <a:off x="8365830" y="2453555"/>
            <a:ext cx="541714" cy="460126"/>
          </a:xfrm>
          <a:prstGeom prst="rect">
            <a:avLst/>
          </a:prstGeom>
          <a:solidFill>
            <a:srgbClr val="000000">
              <a:alpha val="0"/>
            </a:srgbClr>
          </a:solidFill>
          <a:ln/>
        </p:spPr>
        <p:txBody>
          <a:bodyPr/>
          <a:lstStyle/>
          <a:p>
            <a:endParaRPr lang="en-US"/>
          </a:p>
        </p:txBody>
      </p:sp>
      <p:sp>
        <p:nvSpPr>
          <p:cNvPr id="32" name="Text 22"/>
          <p:cNvSpPr/>
          <p:nvPr/>
        </p:nvSpPr>
        <p:spPr>
          <a:xfrm>
            <a:off x="8365830" y="2453555"/>
            <a:ext cx="541714" cy="460126"/>
          </a:xfrm>
          <a:prstGeom prst="rect">
            <a:avLst/>
          </a:prstGeom>
          <a:noFill/>
          <a:ln/>
        </p:spPr>
        <p:txBody>
          <a:bodyPr wrap="square" lIns="0" tIns="0" rIns="0" bIns="0" rtlCol="0" anchor="t"/>
          <a:lstStyle/>
          <a:p>
            <a:pPr marL="0" indent="0">
              <a:lnSpc>
                <a:spcPct val="110000"/>
              </a:lnSpc>
              <a:buNone/>
            </a:pPr>
            <a:r>
              <a:rPr lang="en-US" sz="2800" dirty="0">
                <a:solidFill>
                  <a:srgbClr val="FFFFFF"/>
                </a:solidFill>
                <a:latin typeface="MiSans" pitchFamily="34" charset="0"/>
                <a:ea typeface="MiSans" pitchFamily="34" charset="-122"/>
                <a:cs typeface="MiSans" pitchFamily="34" charset="-120"/>
              </a:rPr>
              <a:t>03</a:t>
            </a:r>
            <a:endParaRPr lang="en-US" sz="1600" dirty="0"/>
          </a:p>
        </p:txBody>
      </p:sp>
      <p:sp>
        <p:nvSpPr>
          <p:cNvPr id="33" name="Text 23"/>
          <p:cNvSpPr/>
          <p:nvPr/>
        </p:nvSpPr>
        <p:spPr>
          <a:xfrm>
            <a:off x="8365829" y="2954311"/>
            <a:ext cx="3035114" cy="248841"/>
          </a:xfrm>
          <a:prstGeom prst="rect">
            <a:avLst/>
          </a:prstGeom>
          <a:noFill/>
          <a:ln/>
        </p:spPr>
        <p:txBody>
          <a:bodyPr wrap="square" lIns="0" tIns="0" rIns="0" bIns="0" rtlCol="0" anchor="t">
            <a:spAutoFit/>
          </a:bodyPr>
          <a:lstStyle/>
          <a:p>
            <a:pPr marL="0" indent="0">
              <a:lnSpc>
                <a:spcPct val="100000"/>
              </a:lnSpc>
              <a:buNone/>
            </a:pPr>
            <a:r>
              <a:rPr lang="en-US" sz="1600" dirty="0">
                <a:solidFill>
                  <a:srgbClr val="FFFFFF"/>
                </a:solidFill>
                <a:latin typeface="MiSans" pitchFamily="34" charset="0"/>
                <a:ea typeface="MiSans" pitchFamily="34" charset="-122"/>
                <a:cs typeface="MiSans" pitchFamily="34" charset="-120"/>
              </a:rPr>
              <a:t>Funcionamiento Interno</a:t>
            </a:r>
            <a:endParaRPr lang="en-US" sz="1600" dirty="0"/>
          </a:p>
        </p:txBody>
      </p:sp>
      <p:sp>
        <p:nvSpPr>
          <p:cNvPr id="34" name="Shape 24"/>
          <p:cNvSpPr/>
          <p:nvPr/>
        </p:nvSpPr>
        <p:spPr>
          <a:xfrm>
            <a:off x="1613338" y="4059616"/>
            <a:ext cx="541714" cy="460126"/>
          </a:xfrm>
          <a:prstGeom prst="rect">
            <a:avLst/>
          </a:prstGeom>
          <a:solidFill>
            <a:srgbClr val="000000">
              <a:alpha val="0"/>
            </a:srgbClr>
          </a:solidFill>
          <a:ln/>
        </p:spPr>
        <p:txBody>
          <a:bodyPr/>
          <a:lstStyle/>
          <a:p>
            <a:endParaRPr lang="en-US"/>
          </a:p>
        </p:txBody>
      </p:sp>
      <p:sp>
        <p:nvSpPr>
          <p:cNvPr id="35" name="Text 25"/>
          <p:cNvSpPr/>
          <p:nvPr/>
        </p:nvSpPr>
        <p:spPr>
          <a:xfrm>
            <a:off x="1613338" y="4059616"/>
            <a:ext cx="541714" cy="460126"/>
          </a:xfrm>
          <a:prstGeom prst="rect">
            <a:avLst/>
          </a:prstGeom>
          <a:noFill/>
          <a:ln/>
        </p:spPr>
        <p:txBody>
          <a:bodyPr wrap="square" lIns="0" tIns="0" rIns="0" bIns="0" rtlCol="0" anchor="t"/>
          <a:lstStyle/>
          <a:p>
            <a:pPr marL="0" indent="0">
              <a:lnSpc>
                <a:spcPct val="110000"/>
              </a:lnSpc>
              <a:buNone/>
            </a:pPr>
            <a:r>
              <a:rPr lang="en-US" sz="2800" dirty="0">
                <a:solidFill>
                  <a:srgbClr val="FFFFFF"/>
                </a:solidFill>
                <a:latin typeface="MiSans" pitchFamily="34" charset="0"/>
                <a:ea typeface="MiSans" pitchFamily="34" charset="-122"/>
                <a:cs typeface="MiSans" pitchFamily="34" charset="-120"/>
              </a:rPr>
              <a:t>04</a:t>
            </a:r>
            <a:endParaRPr lang="en-US" sz="1600" dirty="0"/>
          </a:p>
        </p:txBody>
      </p:sp>
      <p:sp>
        <p:nvSpPr>
          <p:cNvPr id="36" name="Text 26"/>
          <p:cNvSpPr/>
          <p:nvPr/>
        </p:nvSpPr>
        <p:spPr>
          <a:xfrm>
            <a:off x="1613337" y="4560372"/>
            <a:ext cx="3035114" cy="248841"/>
          </a:xfrm>
          <a:prstGeom prst="rect">
            <a:avLst/>
          </a:prstGeom>
          <a:noFill/>
          <a:ln/>
        </p:spPr>
        <p:txBody>
          <a:bodyPr wrap="square" lIns="0" tIns="0" rIns="0" bIns="0" rtlCol="0" anchor="t">
            <a:spAutoFit/>
          </a:bodyPr>
          <a:lstStyle/>
          <a:p>
            <a:pPr marL="0" indent="0">
              <a:lnSpc>
                <a:spcPct val="100000"/>
              </a:lnSpc>
              <a:buNone/>
            </a:pPr>
            <a:r>
              <a:rPr lang="en-US" sz="1600" dirty="0">
                <a:solidFill>
                  <a:srgbClr val="FFFFFF"/>
                </a:solidFill>
                <a:latin typeface="MiSans" pitchFamily="34" charset="0"/>
                <a:ea typeface="MiSans" pitchFamily="34" charset="-122"/>
                <a:cs typeface="MiSans" pitchFamily="34" charset="-120"/>
              </a:rPr>
              <a:t>Modos de Operación</a:t>
            </a:r>
            <a:endParaRPr lang="en-US" sz="1600" dirty="0"/>
          </a:p>
        </p:txBody>
      </p:sp>
      <p:sp>
        <p:nvSpPr>
          <p:cNvPr id="37" name="Shape 27"/>
          <p:cNvSpPr/>
          <p:nvPr/>
        </p:nvSpPr>
        <p:spPr>
          <a:xfrm>
            <a:off x="4985740" y="4059616"/>
            <a:ext cx="541714" cy="460126"/>
          </a:xfrm>
          <a:prstGeom prst="rect">
            <a:avLst/>
          </a:prstGeom>
          <a:solidFill>
            <a:srgbClr val="000000">
              <a:alpha val="0"/>
            </a:srgbClr>
          </a:solidFill>
          <a:ln/>
        </p:spPr>
        <p:txBody>
          <a:bodyPr/>
          <a:lstStyle/>
          <a:p>
            <a:endParaRPr lang="en-US"/>
          </a:p>
        </p:txBody>
      </p:sp>
      <p:sp>
        <p:nvSpPr>
          <p:cNvPr id="38" name="Text 28"/>
          <p:cNvSpPr/>
          <p:nvPr/>
        </p:nvSpPr>
        <p:spPr>
          <a:xfrm>
            <a:off x="4985740" y="4059616"/>
            <a:ext cx="541714" cy="460126"/>
          </a:xfrm>
          <a:prstGeom prst="rect">
            <a:avLst/>
          </a:prstGeom>
          <a:noFill/>
          <a:ln/>
        </p:spPr>
        <p:txBody>
          <a:bodyPr wrap="square" lIns="0" tIns="0" rIns="0" bIns="0" rtlCol="0" anchor="t"/>
          <a:lstStyle/>
          <a:p>
            <a:pPr marL="0" indent="0">
              <a:lnSpc>
                <a:spcPct val="110000"/>
              </a:lnSpc>
              <a:buNone/>
            </a:pPr>
            <a:r>
              <a:rPr lang="en-US" sz="2800" dirty="0">
                <a:solidFill>
                  <a:srgbClr val="FFFFFF"/>
                </a:solidFill>
                <a:latin typeface="MiSans" pitchFamily="34" charset="0"/>
                <a:ea typeface="MiSans" pitchFamily="34" charset="-122"/>
                <a:cs typeface="MiSans" pitchFamily="34" charset="-120"/>
              </a:rPr>
              <a:t>05</a:t>
            </a:r>
            <a:endParaRPr lang="en-US" sz="1600" dirty="0"/>
          </a:p>
        </p:txBody>
      </p:sp>
      <p:sp>
        <p:nvSpPr>
          <p:cNvPr id="39" name="Text 29"/>
          <p:cNvSpPr/>
          <p:nvPr/>
        </p:nvSpPr>
        <p:spPr>
          <a:xfrm>
            <a:off x="4985739" y="4560372"/>
            <a:ext cx="3035114" cy="248841"/>
          </a:xfrm>
          <a:prstGeom prst="rect">
            <a:avLst/>
          </a:prstGeom>
          <a:noFill/>
          <a:ln/>
        </p:spPr>
        <p:txBody>
          <a:bodyPr wrap="square" lIns="0" tIns="0" rIns="0" bIns="0" rtlCol="0" anchor="t">
            <a:spAutoFit/>
          </a:bodyPr>
          <a:lstStyle/>
          <a:p>
            <a:pPr marL="0" indent="0">
              <a:lnSpc>
                <a:spcPct val="100000"/>
              </a:lnSpc>
              <a:buNone/>
            </a:pPr>
            <a:r>
              <a:rPr lang="en-US" sz="1600" dirty="0">
                <a:solidFill>
                  <a:srgbClr val="FFFFFF"/>
                </a:solidFill>
                <a:latin typeface="MiSans" pitchFamily="34" charset="0"/>
                <a:ea typeface="MiSans" pitchFamily="34" charset="-122"/>
                <a:cs typeface="MiSans" pitchFamily="34" charset="-120"/>
              </a:rPr>
              <a:t>Aplicaciones y Consejos</a:t>
            </a:r>
            <a:endParaRPr lang="en-US" sz="1600" dirty="0"/>
          </a:p>
        </p:txBody>
      </p:sp>
      <p:sp>
        <p:nvSpPr>
          <p:cNvPr id="40" name="Shape 30"/>
          <p:cNvSpPr/>
          <p:nvPr/>
        </p:nvSpPr>
        <p:spPr>
          <a:xfrm>
            <a:off x="8365830" y="4059616"/>
            <a:ext cx="541714" cy="460126"/>
          </a:xfrm>
          <a:prstGeom prst="rect">
            <a:avLst/>
          </a:prstGeom>
          <a:solidFill>
            <a:srgbClr val="000000">
              <a:alpha val="0"/>
            </a:srgbClr>
          </a:solidFill>
          <a:ln/>
        </p:spPr>
        <p:txBody>
          <a:bodyPr/>
          <a:lstStyle/>
          <a:p>
            <a:endParaRPr lang="en-US"/>
          </a:p>
        </p:txBody>
      </p:sp>
      <p:sp>
        <p:nvSpPr>
          <p:cNvPr id="41" name="Text 31"/>
          <p:cNvSpPr/>
          <p:nvPr/>
        </p:nvSpPr>
        <p:spPr>
          <a:xfrm>
            <a:off x="8365830" y="4059616"/>
            <a:ext cx="541714" cy="460126"/>
          </a:xfrm>
          <a:prstGeom prst="rect">
            <a:avLst/>
          </a:prstGeom>
          <a:noFill/>
          <a:ln/>
        </p:spPr>
        <p:txBody>
          <a:bodyPr wrap="square" lIns="0" tIns="0" rIns="0" bIns="0" rtlCol="0" anchor="t"/>
          <a:lstStyle/>
          <a:p>
            <a:pPr marL="0" indent="0">
              <a:lnSpc>
                <a:spcPct val="110000"/>
              </a:lnSpc>
              <a:buNone/>
            </a:pPr>
            <a:r>
              <a:rPr lang="en-US" sz="2800" dirty="0">
                <a:solidFill>
                  <a:srgbClr val="FFFFFF"/>
                </a:solidFill>
                <a:latin typeface="MiSans" pitchFamily="34" charset="0"/>
                <a:ea typeface="MiSans" pitchFamily="34" charset="-122"/>
                <a:cs typeface="MiSans" pitchFamily="34" charset="-120"/>
              </a:rPr>
              <a:t>06</a:t>
            </a:r>
            <a:endParaRPr lang="en-US" sz="1600" dirty="0"/>
          </a:p>
        </p:txBody>
      </p:sp>
      <p:sp>
        <p:nvSpPr>
          <p:cNvPr id="42" name="Text 32"/>
          <p:cNvSpPr/>
          <p:nvPr/>
        </p:nvSpPr>
        <p:spPr>
          <a:xfrm>
            <a:off x="8365829" y="4560372"/>
            <a:ext cx="3035114" cy="248841"/>
          </a:xfrm>
          <a:prstGeom prst="rect">
            <a:avLst/>
          </a:prstGeom>
          <a:noFill/>
          <a:ln/>
        </p:spPr>
        <p:txBody>
          <a:bodyPr wrap="square" lIns="0" tIns="0" rIns="0" bIns="0" rtlCol="0" anchor="t">
            <a:spAutoFit/>
          </a:bodyPr>
          <a:lstStyle/>
          <a:p>
            <a:pPr marL="0" indent="0">
              <a:lnSpc>
                <a:spcPct val="100000"/>
              </a:lnSpc>
              <a:buNone/>
            </a:pPr>
            <a:r>
              <a:rPr lang="en-US" sz="1600" dirty="0">
                <a:solidFill>
                  <a:srgbClr val="FFFFFF"/>
                </a:solidFill>
                <a:latin typeface="MiSans" pitchFamily="34" charset="0"/>
                <a:ea typeface="MiSans" pitchFamily="34" charset="-122"/>
                <a:cs typeface="MiSans" pitchFamily="34" charset="-120"/>
              </a:rPr>
              <a:t>Conclusión</a:t>
            </a:r>
            <a:endParaRPr lang="en-US" sz="1600"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2:12-d2nf7h18bjvh7rlj0650.jpg"/>
          <p:cNvPicPr>
            <a:picLocks noChangeAspect="1"/>
          </p:cNvPicPr>
          <p:nvPr/>
        </p:nvPicPr>
        <p:blipFill>
          <a:blip r:embed="rId3"/>
          <a:srcRect/>
          <a:stretch/>
        </p:blipFill>
        <p:spPr>
          <a:xfrm>
            <a:off x="0" y="3426"/>
            <a:ext cx="12191999" cy="6864626"/>
          </a:xfrm>
          <a:prstGeom prst="rect">
            <a:avLst/>
          </a:prstGeom>
        </p:spPr>
      </p:pic>
      <p:sp>
        <p:nvSpPr>
          <p:cNvPr id="3" name="Text 0"/>
          <p:cNvSpPr/>
          <p:nvPr/>
        </p:nvSpPr>
        <p:spPr>
          <a:xfrm>
            <a:off x="4119359" y="3709831"/>
            <a:ext cx="3832016" cy="1026120"/>
          </a:xfrm>
          <a:prstGeom prst="rect">
            <a:avLst/>
          </a:prstGeom>
          <a:noFill/>
          <a:ln/>
        </p:spPr>
        <p:txBody>
          <a:bodyPr wrap="square" lIns="0" tIns="0" rIns="0" bIns="0" rtlCol="0" anchor="t">
            <a:spAutoFit/>
          </a:bodyPr>
          <a:lstStyle/>
          <a:p>
            <a:pPr marL="0" indent="0" algn="ctr">
              <a:lnSpc>
                <a:spcPct val="100000"/>
              </a:lnSpc>
              <a:buNone/>
            </a:pPr>
            <a:r>
              <a:rPr lang="en-US" sz="3200" dirty="0">
                <a:solidFill>
                  <a:srgbClr val="FFFFFF"/>
                </a:solidFill>
                <a:latin typeface="MiSans" pitchFamily="34" charset="0"/>
                <a:ea typeface="MiSans" pitchFamily="34" charset="-122"/>
                <a:cs typeface="MiSans" pitchFamily="34" charset="-120"/>
              </a:rPr>
              <a:t>Introducción al NE555</a:t>
            </a:r>
            <a:endParaRPr lang="en-US" sz="1600" dirty="0"/>
          </a:p>
        </p:txBody>
      </p:sp>
      <p:sp>
        <p:nvSpPr>
          <p:cNvPr id="4" name="Shape 1"/>
          <p:cNvSpPr/>
          <p:nvPr/>
        </p:nvSpPr>
        <p:spPr>
          <a:xfrm>
            <a:off x="779721" y="6270738"/>
            <a:ext cx="0" cy="125950"/>
          </a:xfrm>
          <a:prstGeom prst="line">
            <a:avLst/>
          </a:prstGeom>
          <a:noFill/>
          <a:ln w="12700">
            <a:solidFill>
              <a:srgbClr val="FFFFFF"/>
            </a:solidFill>
            <a:prstDash val="solid"/>
            <a:headEnd type="none"/>
            <a:tailEnd type="none"/>
          </a:ln>
        </p:spPr>
        <p:txBody>
          <a:bodyPr/>
          <a:lstStyle/>
          <a:p>
            <a:endParaRPr lang="en-US"/>
          </a:p>
        </p:txBody>
      </p:sp>
      <p:sp>
        <p:nvSpPr>
          <p:cNvPr id="5" name="Shape 2"/>
          <p:cNvSpPr/>
          <p:nvPr/>
        </p:nvSpPr>
        <p:spPr>
          <a:xfrm>
            <a:off x="867722" y="6270738"/>
            <a:ext cx="0" cy="125950"/>
          </a:xfrm>
          <a:prstGeom prst="line">
            <a:avLst/>
          </a:prstGeom>
          <a:noFill/>
          <a:ln w="12700">
            <a:solidFill>
              <a:srgbClr val="FFFFFF"/>
            </a:solidFill>
            <a:prstDash val="solid"/>
            <a:headEnd type="none"/>
            <a:tailEnd type="none"/>
          </a:ln>
        </p:spPr>
        <p:txBody>
          <a:bodyPr/>
          <a:lstStyle/>
          <a:p>
            <a:endParaRPr lang="en-US"/>
          </a:p>
        </p:txBody>
      </p:sp>
      <p:sp>
        <p:nvSpPr>
          <p:cNvPr id="6" name="Shape 3"/>
          <p:cNvSpPr/>
          <p:nvPr/>
        </p:nvSpPr>
        <p:spPr>
          <a:xfrm>
            <a:off x="955722" y="6166356"/>
            <a:ext cx="0" cy="220414"/>
          </a:xfrm>
          <a:prstGeom prst="line">
            <a:avLst/>
          </a:prstGeom>
          <a:noFill/>
          <a:ln w="12700">
            <a:solidFill>
              <a:srgbClr val="FFFFFF"/>
            </a:solidFill>
            <a:prstDash val="solid"/>
            <a:headEnd type="none"/>
            <a:tailEnd type="none"/>
          </a:ln>
        </p:spPr>
        <p:txBody>
          <a:bodyPr/>
          <a:lstStyle/>
          <a:p>
            <a:endParaRPr lang="en-US"/>
          </a:p>
        </p:txBody>
      </p:sp>
      <p:sp>
        <p:nvSpPr>
          <p:cNvPr id="7" name="Shape 4"/>
          <p:cNvSpPr/>
          <p:nvPr/>
        </p:nvSpPr>
        <p:spPr>
          <a:xfrm>
            <a:off x="1043723" y="6270738"/>
            <a:ext cx="0" cy="125950"/>
          </a:xfrm>
          <a:prstGeom prst="line">
            <a:avLst/>
          </a:prstGeom>
          <a:noFill/>
          <a:ln w="12700">
            <a:solidFill>
              <a:srgbClr val="FFFFFF"/>
            </a:solidFill>
            <a:prstDash val="solid"/>
            <a:headEnd type="none"/>
            <a:tailEnd type="none"/>
          </a:ln>
        </p:spPr>
        <p:txBody>
          <a:bodyPr/>
          <a:lstStyle/>
          <a:p>
            <a:endParaRPr lang="en-US"/>
          </a:p>
        </p:txBody>
      </p:sp>
      <p:sp>
        <p:nvSpPr>
          <p:cNvPr id="8" name="Shape 5"/>
          <p:cNvSpPr/>
          <p:nvPr/>
        </p:nvSpPr>
        <p:spPr>
          <a:xfrm>
            <a:off x="1131723" y="6270738"/>
            <a:ext cx="0" cy="125950"/>
          </a:xfrm>
          <a:prstGeom prst="line">
            <a:avLst/>
          </a:prstGeom>
          <a:noFill/>
          <a:ln w="12700">
            <a:solidFill>
              <a:srgbClr val="FFFFFF"/>
            </a:solidFill>
            <a:prstDash val="solid"/>
            <a:headEnd type="none"/>
            <a:tailEnd type="none"/>
          </a:ln>
        </p:spPr>
        <p:txBody>
          <a:bodyPr/>
          <a:lstStyle/>
          <a:p>
            <a:endParaRPr lang="en-US"/>
          </a:p>
        </p:txBody>
      </p:sp>
      <p:sp>
        <p:nvSpPr>
          <p:cNvPr id="9" name="Shape 6"/>
          <p:cNvSpPr/>
          <p:nvPr/>
        </p:nvSpPr>
        <p:spPr>
          <a:xfrm>
            <a:off x="10796832" y="6396446"/>
            <a:ext cx="116844" cy="116844"/>
          </a:xfrm>
          <a:prstGeom prst="ellipse">
            <a:avLst/>
          </a:prstGeom>
          <a:solidFill>
            <a:srgbClr val="FFFFFF"/>
          </a:solidFill>
          <a:ln/>
        </p:spPr>
        <p:txBody>
          <a:bodyPr/>
          <a:lstStyle/>
          <a:p>
            <a:endParaRPr lang="en-US"/>
          </a:p>
        </p:txBody>
      </p:sp>
      <p:sp>
        <p:nvSpPr>
          <p:cNvPr id="10" name="Text 7"/>
          <p:cNvSpPr/>
          <p:nvPr/>
        </p:nvSpPr>
        <p:spPr>
          <a:xfrm>
            <a:off x="10796832" y="6396446"/>
            <a:ext cx="116844" cy="116844"/>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1" name="Shape 8"/>
          <p:cNvSpPr/>
          <p:nvPr/>
        </p:nvSpPr>
        <p:spPr>
          <a:xfrm>
            <a:off x="10989337" y="6396446"/>
            <a:ext cx="116844" cy="116844"/>
          </a:xfrm>
          <a:prstGeom prst="ellipse">
            <a:avLst/>
          </a:prstGeom>
          <a:solidFill>
            <a:srgbClr val="FFFFFF">
              <a:alpha val="56471"/>
            </a:srgbClr>
          </a:solidFill>
          <a:ln/>
        </p:spPr>
        <p:txBody>
          <a:bodyPr/>
          <a:lstStyle/>
          <a:p>
            <a:endParaRPr lang="en-US"/>
          </a:p>
        </p:txBody>
      </p:sp>
      <p:sp>
        <p:nvSpPr>
          <p:cNvPr id="12" name="Text 9"/>
          <p:cNvSpPr/>
          <p:nvPr/>
        </p:nvSpPr>
        <p:spPr>
          <a:xfrm>
            <a:off x="10989337" y="6396446"/>
            <a:ext cx="116844" cy="116844"/>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3" name="Shape 10"/>
          <p:cNvSpPr/>
          <p:nvPr/>
        </p:nvSpPr>
        <p:spPr>
          <a:xfrm>
            <a:off x="11186107" y="6396446"/>
            <a:ext cx="116844" cy="116844"/>
          </a:xfrm>
          <a:prstGeom prst="ellipse">
            <a:avLst/>
          </a:prstGeom>
          <a:solidFill>
            <a:srgbClr val="FFFFFF"/>
          </a:solidFill>
          <a:ln/>
        </p:spPr>
        <p:txBody>
          <a:bodyPr/>
          <a:lstStyle/>
          <a:p>
            <a:endParaRPr lang="en-US"/>
          </a:p>
        </p:txBody>
      </p:sp>
      <p:sp>
        <p:nvSpPr>
          <p:cNvPr id="14" name="Text 11"/>
          <p:cNvSpPr/>
          <p:nvPr/>
        </p:nvSpPr>
        <p:spPr>
          <a:xfrm>
            <a:off x="11186107" y="6396446"/>
            <a:ext cx="116844" cy="116844"/>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5" name="Shape 12"/>
          <p:cNvSpPr/>
          <p:nvPr/>
        </p:nvSpPr>
        <p:spPr>
          <a:xfrm>
            <a:off x="11382877" y="6396446"/>
            <a:ext cx="116844" cy="116844"/>
          </a:xfrm>
          <a:prstGeom prst="ellipse">
            <a:avLst/>
          </a:prstGeom>
          <a:solidFill>
            <a:srgbClr val="FFFFFF">
              <a:alpha val="56471"/>
            </a:srgbClr>
          </a:solidFill>
          <a:ln/>
        </p:spPr>
        <p:txBody>
          <a:bodyPr/>
          <a:lstStyle/>
          <a:p>
            <a:endParaRPr lang="en-US"/>
          </a:p>
        </p:txBody>
      </p:sp>
      <p:sp>
        <p:nvSpPr>
          <p:cNvPr id="16" name="Text 13"/>
          <p:cNvSpPr/>
          <p:nvPr/>
        </p:nvSpPr>
        <p:spPr>
          <a:xfrm>
            <a:off x="11382877" y="6396446"/>
            <a:ext cx="116844" cy="116844"/>
          </a:xfrm>
          <a:prstGeom prst="rect">
            <a:avLst/>
          </a:prstGeom>
          <a:noFill/>
          <a:ln/>
        </p:spPr>
        <p:txBody>
          <a:bodyPr wrap="square" lIns="45720" tIns="91440" rIns="91440" bIns="45720" rtlCol="0" anchor="ctr"/>
          <a:lstStyle/>
          <a:p>
            <a:pPr marL="0" indent="0">
              <a:lnSpc>
                <a:spcPct val="100000"/>
              </a:lnSpc>
              <a:buNone/>
            </a:pPr>
            <a:endParaRPr lang="en-US" sz="1600" dirty="0"/>
          </a:p>
        </p:txBody>
      </p:sp>
      <p:pic>
        <p:nvPicPr>
          <p:cNvPr id="17" name="Image 1" descr="https://kimi-img.moonshot.cn/pub/slides/slides_tmpl/image/25-08-27-20:02:06-d2nf7fh8bjvh7rlj0600.png"/>
          <p:cNvPicPr>
            <a:picLocks noChangeAspect="1"/>
          </p:cNvPicPr>
          <p:nvPr/>
        </p:nvPicPr>
        <p:blipFill>
          <a:blip r:embed="rId4"/>
          <a:stretch>
            <a:fillRect/>
          </a:stretch>
        </p:blipFill>
        <p:spPr>
          <a:xfrm>
            <a:off x="4267199" y="3446152"/>
            <a:ext cx="3657600" cy="12700"/>
          </a:xfrm>
          <a:prstGeom prst="rect">
            <a:avLst/>
          </a:prstGeom>
        </p:spPr>
      </p:pic>
      <p:sp>
        <p:nvSpPr>
          <p:cNvPr id="18" name="Shape 14"/>
          <p:cNvSpPr/>
          <p:nvPr/>
        </p:nvSpPr>
        <p:spPr>
          <a:xfrm>
            <a:off x="4893310" y="1477010"/>
            <a:ext cx="2284095" cy="2335530"/>
          </a:xfrm>
          <a:prstGeom prst="rect">
            <a:avLst/>
          </a:prstGeom>
          <a:solidFill>
            <a:srgbClr val="000000">
              <a:alpha val="0"/>
            </a:srgbClr>
          </a:solidFill>
          <a:ln/>
        </p:spPr>
        <p:txBody>
          <a:bodyPr/>
          <a:lstStyle/>
          <a:p>
            <a:endParaRPr lang="en-US"/>
          </a:p>
        </p:txBody>
      </p:sp>
      <p:sp>
        <p:nvSpPr>
          <p:cNvPr id="19" name="Text 15"/>
          <p:cNvSpPr/>
          <p:nvPr/>
        </p:nvSpPr>
        <p:spPr>
          <a:xfrm>
            <a:off x="4893310" y="1477010"/>
            <a:ext cx="2284095" cy="2335530"/>
          </a:xfrm>
          <a:prstGeom prst="rect">
            <a:avLst/>
          </a:prstGeom>
          <a:noFill/>
          <a:ln/>
        </p:spPr>
        <p:txBody>
          <a:bodyPr wrap="square" lIns="0" tIns="0" rIns="0" bIns="0" rtlCol="0" anchor="t"/>
          <a:lstStyle/>
          <a:p>
            <a:pPr marL="0" indent="0">
              <a:lnSpc>
                <a:spcPct val="110000"/>
              </a:lnSpc>
              <a:buNone/>
            </a:pPr>
            <a:r>
              <a:rPr lang="en-US" sz="13800" dirty="0">
                <a:gradFill flip="none" rotWithShape="0">
                  <a:gsLst>
                    <a:gs pos="0">
                      <a:srgbClr val="FFFFFF">
                        <a:alpha val="61000"/>
                      </a:srgbClr>
                    </a:gs>
                    <a:gs pos="28000">
                      <a:srgbClr val="FFFFFF">
                        <a:alpha val="61000"/>
                      </a:srgbClr>
                    </a:gs>
                    <a:gs pos="78000">
                      <a:srgbClr val="FFFFFF"/>
                    </a:gs>
                    <a:gs pos="100000">
                      <a:srgbClr val="FFFFFF"/>
                    </a:gs>
                  </a:gsLst>
                  <a:path path="circle">
                    <a:fillToRect r="100000" b="100000"/>
                  </a:path>
                  <a:tileRect l="-100000" t="-100000"/>
                </a:gradFill>
                <a:latin typeface="PingFang SC Medium" pitchFamily="34" charset="0"/>
                <a:ea typeface="PingFang SC Medium" pitchFamily="34" charset="-122"/>
                <a:cs typeface="PingFang SC Medium" pitchFamily="34" charset="-120"/>
              </a:rPr>
              <a:t>01</a:t>
            </a:r>
            <a:endParaRPr lang="en-US" sz="1600"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2:10-d2nf7gh8bjvh7rlj061g.jpg"/>
          <p:cNvPicPr>
            <a:picLocks noChangeAspect="1"/>
          </p:cNvPicPr>
          <p:nvPr/>
        </p:nvPicPr>
        <p:blipFill>
          <a:blip r:embed="rId3"/>
          <a:stretch>
            <a:fillRect/>
          </a:stretch>
        </p:blipFill>
        <p:spPr>
          <a:xfrm>
            <a:off x="0" y="0"/>
            <a:ext cx="12192000" cy="6864626"/>
          </a:xfrm>
          <a:prstGeom prst="rect">
            <a:avLst/>
          </a:prstGeom>
        </p:spPr>
      </p:pic>
      <p:sp>
        <p:nvSpPr>
          <p:cNvPr id="3" name="Shape 0"/>
          <p:cNvSpPr/>
          <p:nvPr/>
        </p:nvSpPr>
        <p:spPr>
          <a:xfrm>
            <a:off x="4316708" y="2008994"/>
            <a:ext cx="6875424" cy="1909146"/>
          </a:xfrm>
          <a:prstGeom prst="rect">
            <a:avLst/>
          </a:prstGeom>
          <a:solidFill>
            <a:srgbClr val="FFFFFF">
              <a:alpha val="8235"/>
            </a:srgbClr>
          </a:solidFill>
          <a:ln/>
        </p:spPr>
        <p:txBody>
          <a:bodyPr/>
          <a:lstStyle/>
          <a:p>
            <a:endParaRPr lang="en-US"/>
          </a:p>
        </p:txBody>
      </p:sp>
      <p:sp>
        <p:nvSpPr>
          <p:cNvPr id="4" name="Text 1"/>
          <p:cNvSpPr/>
          <p:nvPr/>
        </p:nvSpPr>
        <p:spPr>
          <a:xfrm>
            <a:off x="4316708" y="1979810"/>
            <a:ext cx="6875424" cy="1909146"/>
          </a:xfrm>
          <a:prstGeom prst="rect">
            <a:avLst/>
          </a:prstGeom>
          <a:noFill/>
          <a:ln/>
        </p:spPr>
        <p:txBody>
          <a:bodyPr wrap="square" lIns="45720" tIns="91440" rIns="91440" bIns="45720" rtlCol="0" anchor="ctr"/>
          <a:lstStyle/>
          <a:p>
            <a:pPr marL="0" indent="0">
              <a:lnSpc>
                <a:spcPct val="100000"/>
              </a:lnSpc>
              <a:buNone/>
            </a:pPr>
            <a:endParaRPr lang="en-US" sz="1600" dirty="0"/>
          </a:p>
        </p:txBody>
      </p:sp>
      <p:pic>
        <p:nvPicPr>
          <p:cNvPr id="5" name="Image 1" descr="https://kimi-img.moonshot.cn/pub/slides/slides_tmpl/image/25-08-27-20:02:13-d2nf7h98bjvh7rlj066g.jpg"/>
          <p:cNvPicPr>
            <a:picLocks noChangeAspect="1"/>
          </p:cNvPicPr>
          <p:nvPr/>
        </p:nvPicPr>
        <p:blipFill>
          <a:blip r:embed="rId4"/>
          <a:stretch>
            <a:fillRect/>
          </a:stretch>
        </p:blipFill>
        <p:spPr>
          <a:xfrm>
            <a:off x="1007418" y="1979809"/>
            <a:ext cx="3120319" cy="1895890"/>
          </a:xfrm>
          <a:prstGeom prst="rect">
            <a:avLst/>
          </a:prstGeom>
        </p:spPr>
      </p:pic>
      <p:sp>
        <p:nvSpPr>
          <p:cNvPr id="6" name="Shape 2"/>
          <p:cNvSpPr/>
          <p:nvPr/>
        </p:nvSpPr>
        <p:spPr>
          <a:xfrm flipH="1">
            <a:off x="11451321" y="672670"/>
            <a:ext cx="77797" cy="72000"/>
          </a:xfrm>
          <a:prstGeom prst="ellipse">
            <a:avLst/>
          </a:prstGeom>
          <a:solidFill>
            <a:srgbClr val="FFFFFF"/>
          </a:solidFill>
          <a:ln/>
        </p:spPr>
        <p:txBody>
          <a:bodyPr/>
          <a:lstStyle/>
          <a:p>
            <a:endParaRPr lang="en-US"/>
          </a:p>
        </p:txBody>
      </p:sp>
      <p:sp>
        <p:nvSpPr>
          <p:cNvPr id="7" name="Text 3"/>
          <p:cNvSpPr/>
          <p:nvPr/>
        </p:nvSpPr>
        <p:spPr>
          <a:xfrm>
            <a:off x="11451321" y="672670"/>
            <a:ext cx="77797" cy="7200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8" name="Shape 4"/>
          <p:cNvSpPr/>
          <p:nvPr/>
        </p:nvSpPr>
        <p:spPr>
          <a:xfrm flipH="1">
            <a:off x="11323146" y="672670"/>
            <a:ext cx="77797" cy="72000"/>
          </a:xfrm>
          <a:prstGeom prst="ellipse">
            <a:avLst/>
          </a:prstGeom>
          <a:solidFill>
            <a:srgbClr val="FFFFFF">
              <a:alpha val="56471"/>
            </a:srgbClr>
          </a:solidFill>
          <a:ln/>
        </p:spPr>
        <p:txBody>
          <a:bodyPr/>
          <a:lstStyle/>
          <a:p>
            <a:endParaRPr lang="en-US"/>
          </a:p>
        </p:txBody>
      </p:sp>
      <p:sp>
        <p:nvSpPr>
          <p:cNvPr id="9" name="Text 5"/>
          <p:cNvSpPr/>
          <p:nvPr/>
        </p:nvSpPr>
        <p:spPr>
          <a:xfrm>
            <a:off x="11323146" y="672670"/>
            <a:ext cx="77797" cy="7200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0" name="Shape 6"/>
          <p:cNvSpPr/>
          <p:nvPr/>
        </p:nvSpPr>
        <p:spPr>
          <a:xfrm flipH="1">
            <a:off x="11192132" y="672670"/>
            <a:ext cx="77797" cy="72000"/>
          </a:xfrm>
          <a:prstGeom prst="ellipse">
            <a:avLst/>
          </a:prstGeom>
          <a:solidFill>
            <a:srgbClr val="FFFFFF"/>
          </a:solidFill>
          <a:ln/>
        </p:spPr>
        <p:txBody>
          <a:bodyPr/>
          <a:lstStyle/>
          <a:p>
            <a:endParaRPr lang="en-US"/>
          </a:p>
        </p:txBody>
      </p:sp>
      <p:sp>
        <p:nvSpPr>
          <p:cNvPr id="11" name="Text 7"/>
          <p:cNvSpPr/>
          <p:nvPr/>
        </p:nvSpPr>
        <p:spPr>
          <a:xfrm>
            <a:off x="11192132" y="672670"/>
            <a:ext cx="77797" cy="7200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2" name="Shape 8"/>
          <p:cNvSpPr/>
          <p:nvPr/>
        </p:nvSpPr>
        <p:spPr>
          <a:xfrm flipH="1">
            <a:off x="11061118" y="672670"/>
            <a:ext cx="77797" cy="72000"/>
          </a:xfrm>
          <a:prstGeom prst="ellipse">
            <a:avLst/>
          </a:prstGeom>
          <a:solidFill>
            <a:srgbClr val="FFFFFF">
              <a:alpha val="56471"/>
            </a:srgbClr>
          </a:solidFill>
          <a:ln/>
        </p:spPr>
        <p:txBody>
          <a:bodyPr/>
          <a:lstStyle/>
          <a:p>
            <a:endParaRPr lang="en-US"/>
          </a:p>
        </p:txBody>
      </p:sp>
      <p:sp>
        <p:nvSpPr>
          <p:cNvPr id="13" name="Text 9"/>
          <p:cNvSpPr/>
          <p:nvPr/>
        </p:nvSpPr>
        <p:spPr>
          <a:xfrm>
            <a:off x="11061118" y="672670"/>
            <a:ext cx="77797" cy="7200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4" name="Shape 10"/>
          <p:cNvSpPr/>
          <p:nvPr/>
        </p:nvSpPr>
        <p:spPr>
          <a:xfrm>
            <a:off x="11358882" y="6059762"/>
            <a:ext cx="226534" cy="220415"/>
          </a:xfrm>
          <a:prstGeom prst="rect">
            <a:avLst/>
          </a:prstGeom>
          <a:solidFill>
            <a:srgbClr val="517BDA"/>
          </a:solidFill>
          <a:ln/>
          <a:effectLst>
            <a:outerShdw blurRad="145102" dist="50800" dir="2700000" algn="bl" rotWithShape="0">
              <a:srgbClr val="517BDA">
                <a:alpha val="76471"/>
              </a:srgbClr>
            </a:outerShdw>
          </a:effectLst>
        </p:spPr>
        <p:txBody>
          <a:bodyPr/>
          <a:lstStyle/>
          <a:p>
            <a:endParaRPr lang="en-US"/>
          </a:p>
        </p:txBody>
      </p:sp>
      <p:sp>
        <p:nvSpPr>
          <p:cNvPr id="15" name="Text 11"/>
          <p:cNvSpPr/>
          <p:nvPr/>
        </p:nvSpPr>
        <p:spPr>
          <a:xfrm>
            <a:off x="11358882" y="6059762"/>
            <a:ext cx="226534" cy="22041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6" name="Shape 12"/>
          <p:cNvSpPr/>
          <p:nvPr/>
        </p:nvSpPr>
        <p:spPr>
          <a:xfrm rot="13500000">
            <a:off x="4389082" y="2166445"/>
            <a:ext cx="224914" cy="224914"/>
          </a:xfrm>
          <a:prstGeom prst="rtTriangle">
            <a:avLst/>
          </a:prstGeom>
          <a:gradFill flip="none" rotWithShape="1">
            <a:gsLst>
              <a:gs pos="0">
                <a:srgbClr val="004BA0"/>
              </a:gs>
              <a:gs pos="50000">
                <a:srgbClr val="1F5EC3"/>
              </a:gs>
              <a:gs pos="100000">
                <a:srgbClr val="4E96D8"/>
              </a:gs>
            </a:gsLst>
            <a:lin ang="5400000" scaled="1"/>
          </a:gradFill>
          <a:ln/>
          <a:effectLst>
            <a:outerShdw blurRad="145102" dist="50800" dir="2700000" algn="bl" rotWithShape="0">
              <a:srgbClr val="517BDA">
                <a:alpha val="76471"/>
              </a:srgbClr>
            </a:outerShdw>
          </a:effectLst>
        </p:spPr>
        <p:txBody>
          <a:bodyPr/>
          <a:lstStyle/>
          <a:p>
            <a:endParaRPr lang="en-US"/>
          </a:p>
        </p:txBody>
      </p:sp>
      <p:sp>
        <p:nvSpPr>
          <p:cNvPr id="17" name="Text 13"/>
          <p:cNvSpPr/>
          <p:nvPr/>
        </p:nvSpPr>
        <p:spPr>
          <a:xfrm rot="13500000">
            <a:off x="4389082" y="2283179"/>
            <a:ext cx="224914" cy="224914"/>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8" name="Shape 14"/>
          <p:cNvSpPr/>
          <p:nvPr/>
        </p:nvSpPr>
        <p:spPr>
          <a:xfrm>
            <a:off x="980841" y="4045676"/>
            <a:ext cx="6875424" cy="1909146"/>
          </a:xfrm>
          <a:prstGeom prst="rect">
            <a:avLst/>
          </a:prstGeom>
          <a:solidFill>
            <a:srgbClr val="FFFFFF">
              <a:alpha val="8235"/>
            </a:srgbClr>
          </a:solidFill>
          <a:ln/>
        </p:spPr>
        <p:txBody>
          <a:bodyPr/>
          <a:lstStyle/>
          <a:p>
            <a:endParaRPr lang="en-US"/>
          </a:p>
        </p:txBody>
      </p:sp>
      <p:sp>
        <p:nvSpPr>
          <p:cNvPr id="19" name="Text 15"/>
          <p:cNvSpPr/>
          <p:nvPr/>
        </p:nvSpPr>
        <p:spPr>
          <a:xfrm>
            <a:off x="980841" y="4045676"/>
            <a:ext cx="6875424" cy="1909146"/>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0" name="Shape 16"/>
          <p:cNvSpPr/>
          <p:nvPr/>
        </p:nvSpPr>
        <p:spPr>
          <a:xfrm rot="13500000">
            <a:off x="1053215" y="4242038"/>
            <a:ext cx="224914" cy="224914"/>
          </a:xfrm>
          <a:prstGeom prst="rtTriangle">
            <a:avLst/>
          </a:prstGeom>
          <a:gradFill flip="none" rotWithShape="1">
            <a:gsLst>
              <a:gs pos="0">
                <a:srgbClr val="004BA0"/>
              </a:gs>
              <a:gs pos="50000">
                <a:srgbClr val="1F5EC3"/>
              </a:gs>
              <a:gs pos="100000">
                <a:srgbClr val="4E96D8"/>
              </a:gs>
            </a:gsLst>
            <a:lin ang="5400000" scaled="1"/>
          </a:gradFill>
          <a:ln/>
          <a:effectLst>
            <a:outerShdw blurRad="145102" dist="50800" dir="2700000" algn="bl" rotWithShape="0">
              <a:srgbClr val="517BDA">
                <a:alpha val="76471"/>
              </a:srgbClr>
            </a:outerShdw>
          </a:effectLst>
        </p:spPr>
        <p:txBody>
          <a:bodyPr/>
          <a:lstStyle/>
          <a:p>
            <a:endParaRPr lang="en-US"/>
          </a:p>
        </p:txBody>
      </p:sp>
      <p:sp>
        <p:nvSpPr>
          <p:cNvPr id="21" name="Text 17"/>
          <p:cNvSpPr/>
          <p:nvPr/>
        </p:nvSpPr>
        <p:spPr>
          <a:xfrm rot="13500000">
            <a:off x="1053215" y="4349045"/>
            <a:ext cx="224914" cy="224914"/>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2" name="Shape 18"/>
          <p:cNvSpPr/>
          <p:nvPr/>
        </p:nvSpPr>
        <p:spPr>
          <a:xfrm>
            <a:off x="3352616" y="3064564"/>
            <a:ext cx="1782539" cy="887359"/>
          </a:xfrm>
          <a:prstGeom prst="rect">
            <a:avLst/>
          </a:prstGeom>
          <a:solidFill>
            <a:srgbClr val="000000">
              <a:alpha val="0"/>
            </a:srgbClr>
          </a:solidFill>
          <a:ln/>
        </p:spPr>
        <p:txBody>
          <a:bodyPr/>
          <a:lstStyle/>
          <a:p>
            <a:endParaRPr lang="en-US"/>
          </a:p>
        </p:txBody>
      </p:sp>
      <p:sp>
        <p:nvSpPr>
          <p:cNvPr id="23" name="Text 19"/>
          <p:cNvSpPr/>
          <p:nvPr/>
        </p:nvSpPr>
        <p:spPr>
          <a:xfrm>
            <a:off x="3352616" y="3064564"/>
            <a:ext cx="1782539" cy="887359"/>
          </a:xfrm>
          <a:prstGeom prst="rect">
            <a:avLst/>
          </a:prstGeom>
          <a:noFill/>
          <a:ln/>
        </p:spPr>
        <p:txBody>
          <a:bodyPr wrap="square" lIns="0" tIns="0" rIns="0" bIns="0" rtlCol="0" anchor="t"/>
          <a:lstStyle/>
          <a:p>
            <a:pPr marL="0" indent="0">
              <a:lnSpc>
                <a:spcPct val="110000"/>
              </a:lnSpc>
              <a:buNone/>
            </a:pPr>
            <a:r>
              <a:rPr lang="en-US" sz="5400" dirty="0">
                <a:solidFill>
                  <a:srgbClr val="FFFFFF"/>
                </a:solidFill>
                <a:latin typeface="MiSans" pitchFamily="34" charset="0"/>
                <a:ea typeface="MiSans" pitchFamily="34" charset="-122"/>
                <a:cs typeface="MiSans" pitchFamily="34" charset="-120"/>
              </a:rPr>
              <a:t>01</a:t>
            </a:r>
            <a:endParaRPr lang="en-US" sz="1600" dirty="0"/>
          </a:p>
        </p:txBody>
      </p:sp>
      <p:sp>
        <p:nvSpPr>
          <p:cNvPr id="24" name="Shape 20"/>
          <p:cNvSpPr/>
          <p:nvPr/>
        </p:nvSpPr>
        <p:spPr>
          <a:xfrm>
            <a:off x="8224660" y="5124096"/>
            <a:ext cx="1782539" cy="887359"/>
          </a:xfrm>
          <a:prstGeom prst="rect">
            <a:avLst/>
          </a:prstGeom>
          <a:solidFill>
            <a:srgbClr val="000000">
              <a:alpha val="0"/>
            </a:srgbClr>
          </a:solidFill>
          <a:ln/>
        </p:spPr>
        <p:txBody>
          <a:bodyPr/>
          <a:lstStyle/>
          <a:p>
            <a:endParaRPr lang="en-US"/>
          </a:p>
        </p:txBody>
      </p:sp>
      <p:sp>
        <p:nvSpPr>
          <p:cNvPr id="25" name="Text 21"/>
          <p:cNvSpPr/>
          <p:nvPr/>
        </p:nvSpPr>
        <p:spPr>
          <a:xfrm>
            <a:off x="8224660" y="5124096"/>
            <a:ext cx="1782539" cy="887359"/>
          </a:xfrm>
          <a:prstGeom prst="rect">
            <a:avLst/>
          </a:prstGeom>
          <a:noFill/>
          <a:ln/>
        </p:spPr>
        <p:txBody>
          <a:bodyPr wrap="square" lIns="0" tIns="0" rIns="0" bIns="0" rtlCol="0" anchor="t"/>
          <a:lstStyle/>
          <a:p>
            <a:pPr marL="0" indent="0">
              <a:lnSpc>
                <a:spcPct val="110000"/>
              </a:lnSpc>
              <a:buNone/>
            </a:pPr>
            <a:r>
              <a:rPr lang="en-US" sz="5400" b="1" dirty="0">
                <a:solidFill>
                  <a:srgbClr val="FFFFFF"/>
                </a:solidFill>
                <a:latin typeface="PingFang SC Semibold" pitchFamily="34" charset="0"/>
                <a:ea typeface="PingFang SC Semibold" pitchFamily="34" charset="-122"/>
                <a:cs typeface="PingFang SC Semibold" pitchFamily="34" charset="-120"/>
              </a:rPr>
              <a:t>02</a:t>
            </a:r>
            <a:endParaRPr lang="en-US" sz="1600" dirty="0"/>
          </a:p>
        </p:txBody>
      </p:sp>
      <p:pic>
        <p:nvPicPr>
          <p:cNvPr id="26" name="Image 2" descr="https://kimi-img.moonshot.cn/pub/slides/slides_tmpl/image/25-08-27-20:02:13-d2nf7h98bjvh7rlj0670.jpg"/>
          <p:cNvPicPr>
            <a:picLocks noChangeAspect="1"/>
          </p:cNvPicPr>
          <p:nvPr/>
        </p:nvPicPr>
        <p:blipFill>
          <a:blip r:embed="rId5"/>
          <a:srcRect/>
          <a:stretch/>
        </p:blipFill>
        <p:spPr>
          <a:xfrm>
            <a:off x="8071813" y="4028147"/>
            <a:ext cx="3120319" cy="1926675"/>
          </a:xfrm>
          <a:prstGeom prst="rect">
            <a:avLst/>
          </a:prstGeom>
        </p:spPr>
      </p:pic>
      <p:sp>
        <p:nvSpPr>
          <p:cNvPr id="27" name="Shape 22"/>
          <p:cNvSpPr/>
          <p:nvPr/>
        </p:nvSpPr>
        <p:spPr>
          <a:xfrm>
            <a:off x="8164596" y="3951923"/>
            <a:ext cx="1782539" cy="887359"/>
          </a:xfrm>
          <a:prstGeom prst="rect">
            <a:avLst/>
          </a:prstGeom>
          <a:solidFill>
            <a:srgbClr val="000000">
              <a:alpha val="0"/>
            </a:srgbClr>
          </a:solidFill>
          <a:ln/>
        </p:spPr>
        <p:txBody>
          <a:bodyPr/>
          <a:lstStyle/>
          <a:p>
            <a:endParaRPr lang="en-US"/>
          </a:p>
        </p:txBody>
      </p:sp>
      <p:sp>
        <p:nvSpPr>
          <p:cNvPr id="28" name="Text 23"/>
          <p:cNvSpPr/>
          <p:nvPr/>
        </p:nvSpPr>
        <p:spPr>
          <a:xfrm>
            <a:off x="8164596" y="3951923"/>
            <a:ext cx="1782539" cy="887359"/>
          </a:xfrm>
          <a:prstGeom prst="rect">
            <a:avLst/>
          </a:prstGeom>
          <a:noFill/>
          <a:ln/>
        </p:spPr>
        <p:txBody>
          <a:bodyPr wrap="square" lIns="0" tIns="0" rIns="0" bIns="0" rtlCol="0" anchor="t"/>
          <a:lstStyle/>
          <a:p>
            <a:pPr marL="0" indent="0">
              <a:lnSpc>
                <a:spcPct val="110000"/>
              </a:lnSpc>
              <a:buNone/>
            </a:pPr>
            <a:r>
              <a:rPr lang="en-US" sz="5400" dirty="0">
                <a:solidFill>
                  <a:srgbClr val="FFFFFF"/>
                </a:solidFill>
                <a:latin typeface="MiSans" pitchFamily="34" charset="0"/>
                <a:ea typeface="MiSans" pitchFamily="34" charset="-122"/>
                <a:cs typeface="MiSans" pitchFamily="34" charset="-120"/>
              </a:rPr>
              <a:t>02</a:t>
            </a:r>
            <a:endParaRPr lang="en-US" sz="1600" dirty="0"/>
          </a:p>
        </p:txBody>
      </p:sp>
      <p:sp>
        <p:nvSpPr>
          <p:cNvPr id="29" name="Text 24"/>
          <p:cNvSpPr/>
          <p:nvPr/>
        </p:nvSpPr>
        <p:spPr>
          <a:xfrm>
            <a:off x="542215" y="599241"/>
            <a:ext cx="8152877" cy="833184"/>
          </a:xfrm>
          <a:prstGeom prst="rect">
            <a:avLst/>
          </a:prstGeom>
          <a:noFill/>
          <a:ln/>
        </p:spPr>
        <p:txBody>
          <a:bodyPr wrap="square" lIns="91440" tIns="45720" rIns="91440" bIns="45720" rtlCol="0" anchor="t"/>
          <a:lstStyle/>
          <a:p>
            <a:pPr marL="0" indent="0">
              <a:lnSpc>
                <a:spcPct val="100000"/>
              </a:lnSpc>
              <a:buNone/>
            </a:pPr>
            <a:r>
              <a:rPr lang="en-US" sz="3600" b="1" dirty="0">
                <a:solidFill>
                  <a:srgbClr val="FFFFFF"/>
                </a:solidFill>
                <a:latin typeface="MiSans" pitchFamily="34" charset="0"/>
                <a:ea typeface="MiSans" pitchFamily="34" charset="-122"/>
                <a:cs typeface="MiSans" pitchFamily="34" charset="-120"/>
              </a:rPr>
              <a:t>¿Qué es el NE555 y por qué revolucionó?</a:t>
            </a:r>
            <a:endParaRPr lang="en-US" sz="1600" dirty="0"/>
          </a:p>
        </p:txBody>
      </p:sp>
      <p:pic>
        <p:nvPicPr>
          <p:cNvPr id="30" name="Image 3" descr="https://kimi-img.moonshot.cn/pub/slides/slides_tmpl/image/25-08-27-20:02:06-d2nf7fh8bjvh7rlj060g.png"/>
          <p:cNvPicPr>
            <a:picLocks noChangeAspect="1"/>
          </p:cNvPicPr>
          <p:nvPr/>
        </p:nvPicPr>
        <p:blipFill>
          <a:blip r:embed="rId6"/>
          <a:stretch>
            <a:fillRect/>
          </a:stretch>
        </p:blipFill>
        <p:spPr>
          <a:xfrm>
            <a:off x="662882" y="96310"/>
            <a:ext cx="1371600" cy="304800"/>
          </a:xfrm>
          <a:prstGeom prst="rect">
            <a:avLst/>
          </a:prstGeom>
        </p:spPr>
      </p:pic>
      <p:sp>
        <p:nvSpPr>
          <p:cNvPr id="31" name="Text 25"/>
          <p:cNvSpPr/>
          <p:nvPr/>
        </p:nvSpPr>
        <p:spPr>
          <a:xfrm>
            <a:off x="4753241" y="2128465"/>
            <a:ext cx="4331168" cy="303411"/>
          </a:xfrm>
          <a:prstGeom prst="rect">
            <a:avLst/>
          </a:prstGeom>
          <a:noFill/>
          <a:ln/>
        </p:spPr>
        <p:txBody>
          <a:bodyPr wrap="square" lIns="0" tIns="0" rIns="0" bIns="0" rtlCol="0" anchor="t">
            <a:spAutoFit/>
          </a:bodyPr>
          <a:lstStyle/>
          <a:p>
            <a:pPr marL="0" indent="0">
              <a:lnSpc>
                <a:spcPct val="100000"/>
              </a:lnSpc>
              <a:buNone/>
            </a:pPr>
            <a:r>
              <a:rPr lang="en-US" sz="2000" b="1" dirty="0">
                <a:gradFill flip="none" rotWithShape="0">
                  <a:gsLst>
                    <a:gs pos="0">
                      <a:srgbClr val="30B0FE">
                        <a:alpha val="77000"/>
                      </a:srgbClr>
                    </a:gs>
                    <a:gs pos="10000">
                      <a:srgbClr val="30B0FE">
                        <a:alpha val="77000"/>
                      </a:srgbClr>
                    </a:gs>
                    <a:gs pos="70000">
                      <a:srgbClr val="5684E9"/>
                    </a:gs>
                    <a:gs pos="100000">
                      <a:srgbClr val="014BB5"/>
                    </a:gs>
                  </a:gsLst>
                  <a:lin ang="4800000" scaled="1"/>
                </a:gradFill>
                <a:latin typeface="MiSans" pitchFamily="34" charset="0"/>
                <a:ea typeface="MiSans" pitchFamily="34" charset="-122"/>
                <a:cs typeface="MiSans" pitchFamily="34" charset="-120"/>
              </a:rPr>
              <a:t>Origen y Versatilidad</a:t>
            </a:r>
            <a:endParaRPr lang="en-US" sz="1600" dirty="0"/>
          </a:p>
        </p:txBody>
      </p:sp>
      <p:sp>
        <p:nvSpPr>
          <p:cNvPr id="32" name="Text 26"/>
          <p:cNvSpPr/>
          <p:nvPr/>
        </p:nvSpPr>
        <p:spPr>
          <a:xfrm>
            <a:off x="4419335" y="2566208"/>
            <a:ext cx="6678322" cy="1280120"/>
          </a:xfrm>
          <a:prstGeom prst="rect">
            <a:avLst/>
          </a:prstGeom>
          <a:noFill/>
          <a:ln/>
        </p:spPr>
        <p:txBody>
          <a:bodyPr wrap="square" lIns="91440" tIns="45720" rIns="91440" bIns="45720" rtlCol="0" anchor="t">
            <a:spAutoFit/>
          </a:bodyPr>
          <a:lstStyle/>
          <a:p>
            <a:pPr marL="0" indent="0">
              <a:lnSpc>
                <a:spcPct val="150000"/>
              </a:lnSpc>
              <a:buNone/>
            </a:pPr>
            <a:r>
              <a:rPr lang="en-US" sz="1400" dirty="0">
                <a:solidFill>
                  <a:srgbClr val="FFFFFF"/>
                </a:solidFill>
                <a:latin typeface="MiSans" pitchFamily="34" charset="0"/>
                <a:ea typeface="MiSans" pitchFamily="34" charset="-122"/>
                <a:cs typeface="MiSans" pitchFamily="34" charset="-120"/>
              </a:rPr>
              <a:t>El NE555, lanzado en 1972 por Signetics, es un circuito integrado temporizador que revolucionó la electrónica. Su capacidad para funcionar como temporizador, generador de pulsos y oscilador lo convierte en un componente versátil y económico, ideal para una amplia gama de aplicaciones.</a:t>
            </a:r>
            <a:endParaRPr lang="en-US" sz="1600" dirty="0"/>
          </a:p>
        </p:txBody>
      </p:sp>
      <p:sp>
        <p:nvSpPr>
          <p:cNvPr id="33" name="Text 27"/>
          <p:cNvSpPr/>
          <p:nvPr/>
        </p:nvSpPr>
        <p:spPr>
          <a:xfrm>
            <a:off x="1406579" y="4213783"/>
            <a:ext cx="4194630" cy="303411"/>
          </a:xfrm>
          <a:prstGeom prst="rect">
            <a:avLst/>
          </a:prstGeom>
          <a:noFill/>
          <a:ln/>
        </p:spPr>
        <p:txBody>
          <a:bodyPr wrap="square" lIns="0" tIns="0" rIns="0" bIns="0" rtlCol="0" anchor="t">
            <a:spAutoFit/>
          </a:bodyPr>
          <a:lstStyle/>
          <a:p>
            <a:pPr marL="0" indent="0">
              <a:lnSpc>
                <a:spcPct val="100000"/>
              </a:lnSpc>
              <a:buNone/>
            </a:pPr>
            <a:r>
              <a:rPr lang="en-US" sz="2000" b="1" dirty="0">
                <a:gradFill flip="none" rotWithShape="0">
                  <a:gsLst>
                    <a:gs pos="0">
                      <a:srgbClr val="30B0FE">
                        <a:alpha val="77000"/>
                      </a:srgbClr>
                    </a:gs>
                    <a:gs pos="10000">
                      <a:srgbClr val="30B0FE">
                        <a:alpha val="77000"/>
                      </a:srgbClr>
                    </a:gs>
                    <a:gs pos="70000">
                      <a:srgbClr val="5684E9"/>
                    </a:gs>
                    <a:gs pos="100000">
                      <a:srgbClr val="014BB5"/>
                    </a:gs>
                  </a:gsLst>
                  <a:lin ang="4800000" scaled="1"/>
                </a:gradFill>
                <a:latin typeface="MiSans" pitchFamily="34" charset="0"/>
                <a:ea typeface="MiSans" pitchFamily="34" charset="-122"/>
                <a:cs typeface="MiSans" pitchFamily="34" charset="-120"/>
              </a:rPr>
              <a:t>Aplicaciones Comunes</a:t>
            </a:r>
            <a:endParaRPr lang="en-US" sz="1600" dirty="0"/>
          </a:p>
        </p:txBody>
      </p:sp>
      <p:sp>
        <p:nvSpPr>
          <p:cNvPr id="34" name="Text 28"/>
          <p:cNvSpPr/>
          <p:nvPr/>
        </p:nvSpPr>
        <p:spPr>
          <a:xfrm>
            <a:off x="1083468" y="4602891"/>
            <a:ext cx="6678322" cy="1280120"/>
          </a:xfrm>
          <a:prstGeom prst="rect">
            <a:avLst/>
          </a:prstGeom>
          <a:noFill/>
          <a:ln/>
        </p:spPr>
        <p:txBody>
          <a:bodyPr wrap="square" lIns="91440" tIns="45720" rIns="91440" bIns="45720" rtlCol="0" anchor="t">
            <a:spAutoFit/>
          </a:bodyPr>
          <a:lstStyle/>
          <a:p>
            <a:pPr marL="0" indent="0">
              <a:lnSpc>
                <a:spcPct val="150000"/>
              </a:lnSpc>
              <a:buNone/>
            </a:pPr>
            <a:r>
              <a:rPr lang="en-US" sz="1400" dirty="0">
                <a:solidFill>
                  <a:srgbClr val="FFFFFF"/>
                </a:solidFill>
                <a:latin typeface="MiSans" pitchFamily="34" charset="0"/>
                <a:ea typeface="MiSans" pitchFamily="34" charset="-122"/>
                <a:cs typeface="MiSans" pitchFamily="34" charset="-120"/>
              </a:rPr>
              <a:t>Este chip es común en proyectos de control de tiempo, parpadeo de LEDs y generación de tonos. Su bajo costo y amplia disponibilidad lo han convertido en un estándar en la industria, permitiendo a los diseñadores crear soluciones sencillas y eficientes.</a:t>
            </a:r>
            <a:endParaRPr lang="en-US" sz="1600"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2:12-d2nf7h18bjvh7rlj0650.jpg"/>
          <p:cNvPicPr>
            <a:picLocks noChangeAspect="1"/>
          </p:cNvPicPr>
          <p:nvPr/>
        </p:nvPicPr>
        <p:blipFill>
          <a:blip r:embed="rId3"/>
          <a:srcRect/>
          <a:stretch/>
        </p:blipFill>
        <p:spPr>
          <a:xfrm>
            <a:off x="0" y="3426"/>
            <a:ext cx="12191999" cy="6864626"/>
          </a:xfrm>
          <a:prstGeom prst="rect">
            <a:avLst/>
          </a:prstGeom>
        </p:spPr>
      </p:pic>
      <p:sp>
        <p:nvSpPr>
          <p:cNvPr id="3" name="Text 0"/>
          <p:cNvSpPr/>
          <p:nvPr/>
        </p:nvSpPr>
        <p:spPr>
          <a:xfrm>
            <a:off x="4119359" y="3709831"/>
            <a:ext cx="3832016" cy="984885"/>
          </a:xfrm>
          <a:prstGeom prst="rect">
            <a:avLst/>
          </a:prstGeom>
          <a:noFill/>
          <a:ln/>
        </p:spPr>
        <p:txBody>
          <a:bodyPr wrap="square" lIns="0" tIns="0" rIns="0" bIns="0" rtlCol="0" anchor="t">
            <a:spAutoFit/>
          </a:bodyPr>
          <a:lstStyle/>
          <a:p>
            <a:pPr marL="0" indent="0" algn="ctr">
              <a:lnSpc>
                <a:spcPct val="100000"/>
              </a:lnSpc>
              <a:buNone/>
            </a:pPr>
            <a:r>
              <a:rPr lang="en-US" sz="3200" dirty="0">
                <a:solidFill>
                  <a:srgbClr val="FFFFFF"/>
                </a:solidFill>
                <a:latin typeface="MiSans" pitchFamily="34" charset="0"/>
                <a:ea typeface="MiSans" pitchFamily="34" charset="-122"/>
                <a:cs typeface="MiSans" pitchFamily="34" charset="-120"/>
              </a:rPr>
              <a:t>Características y Pines</a:t>
            </a:r>
            <a:endParaRPr lang="en-US" sz="1600" dirty="0"/>
          </a:p>
        </p:txBody>
      </p:sp>
      <p:sp>
        <p:nvSpPr>
          <p:cNvPr id="4" name="Shape 1"/>
          <p:cNvSpPr/>
          <p:nvPr/>
        </p:nvSpPr>
        <p:spPr>
          <a:xfrm>
            <a:off x="779721" y="6270738"/>
            <a:ext cx="0" cy="125950"/>
          </a:xfrm>
          <a:prstGeom prst="line">
            <a:avLst/>
          </a:prstGeom>
          <a:noFill/>
          <a:ln w="12700">
            <a:solidFill>
              <a:srgbClr val="FFFFFF"/>
            </a:solidFill>
            <a:prstDash val="solid"/>
            <a:headEnd type="none"/>
            <a:tailEnd type="none"/>
          </a:ln>
        </p:spPr>
        <p:txBody>
          <a:bodyPr/>
          <a:lstStyle/>
          <a:p>
            <a:endParaRPr lang="en-US"/>
          </a:p>
        </p:txBody>
      </p:sp>
      <p:sp>
        <p:nvSpPr>
          <p:cNvPr id="5" name="Shape 2"/>
          <p:cNvSpPr/>
          <p:nvPr/>
        </p:nvSpPr>
        <p:spPr>
          <a:xfrm>
            <a:off x="867722" y="6270738"/>
            <a:ext cx="0" cy="125950"/>
          </a:xfrm>
          <a:prstGeom prst="line">
            <a:avLst/>
          </a:prstGeom>
          <a:noFill/>
          <a:ln w="12700">
            <a:solidFill>
              <a:srgbClr val="FFFFFF"/>
            </a:solidFill>
            <a:prstDash val="solid"/>
            <a:headEnd type="none"/>
            <a:tailEnd type="none"/>
          </a:ln>
        </p:spPr>
        <p:txBody>
          <a:bodyPr/>
          <a:lstStyle/>
          <a:p>
            <a:endParaRPr lang="en-US"/>
          </a:p>
        </p:txBody>
      </p:sp>
      <p:sp>
        <p:nvSpPr>
          <p:cNvPr id="6" name="Shape 3"/>
          <p:cNvSpPr/>
          <p:nvPr/>
        </p:nvSpPr>
        <p:spPr>
          <a:xfrm>
            <a:off x="955722" y="6166356"/>
            <a:ext cx="0" cy="220414"/>
          </a:xfrm>
          <a:prstGeom prst="line">
            <a:avLst/>
          </a:prstGeom>
          <a:noFill/>
          <a:ln w="12700">
            <a:solidFill>
              <a:srgbClr val="FFFFFF"/>
            </a:solidFill>
            <a:prstDash val="solid"/>
            <a:headEnd type="none"/>
            <a:tailEnd type="none"/>
          </a:ln>
        </p:spPr>
        <p:txBody>
          <a:bodyPr/>
          <a:lstStyle/>
          <a:p>
            <a:endParaRPr lang="en-US"/>
          </a:p>
        </p:txBody>
      </p:sp>
      <p:sp>
        <p:nvSpPr>
          <p:cNvPr id="7" name="Shape 4"/>
          <p:cNvSpPr/>
          <p:nvPr/>
        </p:nvSpPr>
        <p:spPr>
          <a:xfrm>
            <a:off x="1043723" y="6270738"/>
            <a:ext cx="0" cy="125950"/>
          </a:xfrm>
          <a:prstGeom prst="line">
            <a:avLst/>
          </a:prstGeom>
          <a:noFill/>
          <a:ln w="12700">
            <a:solidFill>
              <a:srgbClr val="FFFFFF"/>
            </a:solidFill>
            <a:prstDash val="solid"/>
            <a:headEnd type="none"/>
            <a:tailEnd type="none"/>
          </a:ln>
        </p:spPr>
        <p:txBody>
          <a:bodyPr/>
          <a:lstStyle/>
          <a:p>
            <a:endParaRPr lang="en-US"/>
          </a:p>
        </p:txBody>
      </p:sp>
      <p:sp>
        <p:nvSpPr>
          <p:cNvPr id="8" name="Shape 5"/>
          <p:cNvSpPr/>
          <p:nvPr/>
        </p:nvSpPr>
        <p:spPr>
          <a:xfrm>
            <a:off x="1131723" y="6270738"/>
            <a:ext cx="0" cy="125950"/>
          </a:xfrm>
          <a:prstGeom prst="line">
            <a:avLst/>
          </a:prstGeom>
          <a:noFill/>
          <a:ln w="12700">
            <a:solidFill>
              <a:srgbClr val="FFFFFF"/>
            </a:solidFill>
            <a:prstDash val="solid"/>
            <a:headEnd type="none"/>
            <a:tailEnd type="none"/>
          </a:ln>
        </p:spPr>
        <p:txBody>
          <a:bodyPr/>
          <a:lstStyle/>
          <a:p>
            <a:endParaRPr lang="en-US"/>
          </a:p>
        </p:txBody>
      </p:sp>
      <p:sp>
        <p:nvSpPr>
          <p:cNvPr id="9" name="Shape 6"/>
          <p:cNvSpPr/>
          <p:nvPr/>
        </p:nvSpPr>
        <p:spPr>
          <a:xfrm>
            <a:off x="10796832" y="6396446"/>
            <a:ext cx="116844" cy="116844"/>
          </a:xfrm>
          <a:prstGeom prst="ellipse">
            <a:avLst/>
          </a:prstGeom>
          <a:solidFill>
            <a:srgbClr val="FFFFFF"/>
          </a:solidFill>
          <a:ln/>
        </p:spPr>
        <p:txBody>
          <a:bodyPr/>
          <a:lstStyle/>
          <a:p>
            <a:endParaRPr lang="en-US"/>
          </a:p>
        </p:txBody>
      </p:sp>
      <p:sp>
        <p:nvSpPr>
          <p:cNvPr id="10" name="Text 7"/>
          <p:cNvSpPr/>
          <p:nvPr/>
        </p:nvSpPr>
        <p:spPr>
          <a:xfrm>
            <a:off x="10796832" y="6396446"/>
            <a:ext cx="116844" cy="116844"/>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1" name="Shape 8"/>
          <p:cNvSpPr/>
          <p:nvPr/>
        </p:nvSpPr>
        <p:spPr>
          <a:xfrm>
            <a:off x="10989337" y="6396446"/>
            <a:ext cx="116844" cy="116844"/>
          </a:xfrm>
          <a:prstGeom prst="ellipse">
            <a:avLst/>
          </a:prstGeom>
          <a:solidFill>
            <a:srgbClr val="FFFFFF">
              <a:alpha val="56471"/>
            </a:srgbClr>
          </a:solidFill>
          <a:ln/>
        </p:spPr>
        <p:txBody>
          <a:bodyPr/>
          <a:lstStyle/>
          <a:p>
            <a:endParaRPr lang="en-US"/>
          </a:p>
        </p:txBody>
      </p:sp>
      <p:sp>
        <p:nvSpPr>
          <p:cNvPr id="12" name="Text 9"/>
          <p:cNvSpPr/>
          <p:nvPr/>
        </p:nvSpPr>
        <p:spPr>
          <a:xfrm>
            <a:off x="10989337" y="6396446"/>
            <a:ext cx="116844" cy="116844"/>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3" name="Shape 10"/>
          <p:cNvSpPr/>
          <p:nvPr/>
        </p:nvSpPr>
        <p:spPr>
          <a:xfrm>
            <a:off x="11186107" y="6396446"/>
            <a:ext cx="116844" cy="116844"/>
          </a:xfrm>
          <a:prstGeom prst="ellipse">
            <a:avLst/>
          </a:prstGeom>
          <a:solidFill>
            <a:srgbClr val="FFFFFF"/>
          </a:solidFill>
          <a:ln/>
        </p:spPr>
        <p:txBody>
          <a:bodyPr/>
          <a:lstStyle/>
          <a:p>
            <a:endParaRPr lang="en-US"/>
          </a:p>
        </p:txBody>
      </p:sp>
      <p:sp>
        <p:nvSpPr>
          <p:cNvPr id="14" name="Text 11"/>
          <p:cNvSpPr/>
          <p:nvPr/>
        </p:nvSpPr>
        <p:spPr>
          <a:xfrm>
            <a:off x="11186107" y="6396446"/>
            <a:ext cx="116844" cy="116844"/>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5" name="Shape 12"/>
          <p:cNvSpPr/>
          <p:nvPr/>
        </p:nvSpPr>
        <p:spPr>
          <a:xfrm>
            <a:off x="11382877" y="6396446"/>
            <a:ext cx="116844" cy="116844"/>
          </a:xfrm>
          <a:prstGeom prst="ellipse">
            <a:avLst/>
          </a:prstGeom>
          <a:solidFill>
            <a:srgbClr val="FFFFFF">
              <a:alpha val="56471"/>
            </a:srgbClr>
          </a:solidFill>
          <a:ln/>
        </p:spPr>
        <p:txBody>
          <a:bodyPr/>
          <a:lstStyle/>
          <a:p>
            <a:endParaRPr lang="en-US"/>
          </a:p>
        </p:txBody>
      </p:sp>
      <p:sp>
        <p:nvSpPr>
          <p:cNvPr id="16" name="Text 13"/>
          <p:cNvSpPr/>
          <p:nvPr/>
        </p:nvSpPr>
        <p:spPr>
          <a:xfrm>
            <a:off x="11382877" y="6396446"/>
            <a:ext cx="116844" cy="116844"/>
          </a:xfrm>
          <a:prstGeom prst="rect">
            <a:avLst/>
          </a:prstGeom>
          <a:noFill/>
          <a:ln/>
        </p:spPr>
        <p:txBody>
          <a:bodyPr wrap="square" lIns="45720" tIns="91440" rIns="91440" bIns="45720" rtlCol="0" anchor="ctr"/>
          <a:lstStyle/>
          <a:p>
            <a:pPr marL="0" indent="0">
              <a:lnSpc>
                <a:spcPct val="100000"/>
              </a:lnSpc>
              <a:buNone/>
            </a:pPr>
            <a:endParaRPr lang="en-US" sz="1600" dirty="0"/>
          </a:p>
        </p:txBody>
      </p:sp>
      <p:pic>
        <p:nvPicPr>
          <p:cNvPr id="17" name="Image 1" descr="https://kimi-img.moonshot.cn/pub/slides/slides_tmpl/image/25-08-27-20:02:06-d2nf7fh8bjvh7rlj0600.png"/>
          <p:cNvPicPr>
            <a:picLocks noChangeAspect="1"/>
          </p:cNvPicPr>
          <p:nvPr/>
        </p:nvPicPr>
        <p:blipFill>
          <a:blip r:embed="rId4"/>
          <a:stretch>
            <a:fillRect/>
          </a:stretch>
        </p:blipFill>
        <p:spPr>
          <a:xfrm>
            <a:off x="4267199" y="3446152"/>
            <a:ext cx="3657600" cy="12700"/>
          </a:xfrm>
          <a:prstGeom prst="rect">
            <a:avLst/>
          </a:prstGeom>
        </p:spPr>
      </p:pic>
      <p:sp>
        <p:nvSpPr>
          <p:cNvPr id="18" name="Shape 14"/>
          <p:cNvSpPr/>
          <p:nvPr/>
        </p:nvSpPr>
        <p:spPr>
          <a:xfrm>
            <a:off x="4893310" y="1477010"/>
            <a:ext cx="2284095" cy="2335530"/>
          </a:xfrm>
          <a:prstGeom prst="rect">
            <a:avLst/>
          </a:prstGeom>
          <a:solidFill>
            <a:srgbClr val="000000">
              <a:alpha val="0"/>
            </a:srgbClr>
          </a:solidFill>
          <a:ln/>
        </p:spPr>
        <p:txBody>
          <a:bodyPr/>
          <a:lstStyle/>
          <a:p>
            <a:endParaRPr lang="en-US"/>
          </a:p>
        </p:txBody>
      </p:sp>
      <p:sp>
        <p:nvSpPr>
          <p:cNvPr id="19" name="Text 15"/>
          <p:cNvSpPr/>
          <p:nvPr/>
        </p:nvSpPr>
        <p:spPr>
          <a:xfrm>
            <a:off x="4893310" y="1477010"/>
            <a:ext cx="2284095" cy="2335530"/>
          </a:xfrm>
          <a:prstGeom prst="rect">
            <a:avLst/>
          </a:prstGeom>
          <a:noFill/>
          <a:ln/>
        </p:spPr>
        <p:txBody>
          <a:bodyPr wrap="square" lIns="0" tIns="0" rIns="0" bIns="0" rtlCol="0" anchor="t"/>
          <a:lstStyle/>
          <a:p>
            <a:pPr marL="0" indent="0">
              <a:lnSpc>
                <a:spcPct val="110000"/>
              </a:lnSpc>
              <a:buNone/>
            </a:pPr>
            <a:r>
              <a:rPr lang="en-US" sz="13800" dirty="0">
                <a:gradFill flip="none" rotWithShape="0">
                  <a:gsLst>
                    <a:gs pos="0">
                      <a:srgbClr val="FFFFFF">
                        <a:alpha val="61000"/>
                      </a:srgbClr>
                    </a:gs>
                    <a:gs pos="28000">
                      <a:srgbClr val="FFFFFF">
                        <a:alpha val="61000"/>
                      </a:srgbClr>
                    </a:gs>
                    <a:gs pos="78000">
                      <a:srgbClr val="FFFFFF"/>
                    </a:gs>
                    <a:gs pos="100000">
                      <a:srgbClr val="FFFFFF"/>
                    </a:gs>
                  </a:gsLst>
                  <a:path path="circle">
                    <a:fillToRect r="100000" b="100000"/>
                  </a:path>
                  <a:tileRect l="-100000" t="-100000"/>
                </a:gradFill>
                <a:latin typeface="PingFang SC Medium" pitchFamily="34" charset="0"/>
                <a:ea typeface="PingFang SC Medium" pitchFamily="34" charset="-122"/>
                <a:cs typeface="PingFang SC Medium" pitchFamily="34" charset="-120"/>
              </a:rPr>
              <a:t>02</a:t>
            </a:r>
            <a:endParaRPr lang="en-US" sz="1600" dirty="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2:10-d2nf7gh8bjvh7rlj061g.jpg"/>
          <p:cNvPicPr>
            <a:picLocks noChangeAspect="1"/>
          </p:cNvPicPr>
          <p:nvPr/>
        </p:nvPicPr>
        <p:blipFill>
          <a:blip r:embed="rId3"/>
          <a:stretch>
            <a:fillRect/>
          </a:stretch>
        </p:blipFill>
        <p:spPr>
          <a:xfrm>
            <a:off x="-15810" y="0"/>
            <a:ext cx="12218079" cy="6879310"/>
          </a:xfrm>
          <a:prstGeom prst="rect">
            <a:avLst/>
          </a:prstGeom>
        </p:spPr>
      </p:pic>
      <p:pic>
        <p:nvPicPr>
          <p:cNvPr id="3" name="Image 1" descr="https://kimi-img.moonshot.cn/pub/slides/slides_tmpl/image/25-08-27-20:02:15-d2nf7hp8bjvh7rlj06dg.png"/>
          <p:cNvPicPr>
            <a:picLocks noChangeAspect="1"/>
          </p:cNvPicPr>
          <p:nvPr/>
        </p:nvPicPr>
        <p:blipFill>
          <a:blip r:embed="rId4"/>
          <a:stretch>
            <a:fillRect/>
          </a:stretch>
        </p:blipFill>
        <p:spPr>
          <a:xfrm>
            <a:off x="-15810" y="2217961"/>
            <a:ext cx="15315171" cy="829824"/>
          </a:xfrm>
          <a:prstGeom prst="rect">
            <a:avLst/>
          </a:prstGeom>
        </p:spPr>
      </p:pic>
      <p:sp>
        <p:nvSpPr>
          <p:cNvPr id="4" name="Shape 0"/>
          <p:cNvSpPr/>
          <p:nvPr/>
        </p:nvSpPr>
        <p:spPr>
          <a:xfrm flipH="1">
            <a:off x="11314843" y="981848"/>
            <a:ext cx="77797" cy="72000"/>
          </a:xfrm>
          <a:prstGeom prst="ellipse">
            <a:avLst/>
          </a:prstGeom>
          <a:solidFill>
            <a:srgbClr val="FFFFFF"/>
          </a:solidFill>
          <a:ln/>
        </p:spPr>
        <p:txBody>
          <a:bodyPr/>
          <a:lstStyle/>
          <a:p>
            <a:endParaRPr lang="en-US"/>
          </a:p>
        </p:txBody>
      </p:sp>
      <p:sp>
        <p:nvSpPr>
          <p:cNvPr id="5" name="Text 1"/>
          <p:cNvSpPr/>
          <p:nvPr/>
        </p:nvSpPr>
        <p:spPr>
          <a:xfrm>
            <a:off x="11314843" y="981848"/>
            <a:ext cx="77797" cy="72000"/>
          </a:xfrm>
          <a:prstGeom prst="rect">
            <a:avLst/>
          </a:prstGeom>
          <a:noFill/>
          <a:ln/>
        </p:spPr>
        <p:txBody>
          <a:bodyPr wrap="square" lIns="45720" tIns="91440" rIns="91440" bIns="45720" rtlCol="0" anchor="ctr"/>
          <a:lstStyle/>
          <a:p>
            <a:pPr marL="0" indent="0">
              <a:lnSpc>
                <a:spcPct val="100000"/>
              </a:lnSpc>
              <a:buNone/>
            </a:pPr>
            <a:endParaRPr lang="en-US" sz="1600" dirty="0"/>
          </a:p>
        </p:txBody>
      </p:sp>
      <p:pic>
        <p:nvPicPr>
          <p:cNvPr id="6" name="Image 2" descr="https://kimi-img.moonshot.cn/pub/slides/slides_tmpl/image/25-08-27-20:02:15-d2nf7hp8bjvh7rlj06e0.png"/>
          <p:cNvPicPr>
            <a:picLocks noChangeAspect="1"/>
          </p:cNvPicPr>
          <p:nvPr/>
        </p:nvPicPr>
        <p:blipFill>
          <a:blip r:embed="rId5"/>
          <a:stretch>
            <a:fillRect/>
          </a:stretch>
        </p:blipFill>
        <p:spPr>
          <a:xfrm>
            <a:off x="1804785" y="2432913"/>
            <a:ext cx="1193800" cy="1193800"/>
          </a:xfrm>
          <a:prstGeom prst="rect">
            <a:avLst/>
          </a:prstGeom>
        </p:spPr>
      </p:pic>
      <p:sp>
        <p:nvSpPr>
          <p:cNvPr id="7" name="Shape 2"/>
          <p:cNvSpPr/>
          <p:nvPr/>
        </p:nvSpPr>
        <p:spPr>
          <a:xfrm flipH="1">
            <a:off x="11186668" y="981848"/>
            <a:ext cx="77797" cy="72000"/>
          </a:xfrm>
          <a:prstGeom prst="ellipse">
            <a:avLst/>
          </a:prstGeom>
          <a:solidFill>
            <a:srgbClr val="FFFFFF">
              <a:alpha val="56471"/>
            </a:srgbClr>
          </a:solidFill>
          <a:ln/>
        </p:spPr>
        <p:txBody>
          <a:bodyPr/>
          <a:lstStyle/>
          <a:p>
            <a:endParaRPr lang="en-US"/>
          </a:p>
        </p:txBody>
      </p:sp>
      <p:sp>
        <p:nvSpPr>
          <p:cNvPr id="8" name="Text 3"/>
          <p:cNvSpPr/>
          <p:nvPr/>
        </p:nvSpPr>
        <p:spPr>
          <a:xfrm>
            <a:off x="11186668" y="981848"/>
            <a:ext cx="77797" cy="7200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9" name="Shape 4"/>
          <p:cNvSpPr/>
          <p:nvPr/>
        </p:nvSpPr>
        <p:spPr>
          <a:xfrm flipH="1">
            <a:off x="11055654" y="981848"/>
            <a:ext cx="77797" cy="72000"/>
          </a:xfrm>
          <a:prstGeom prst="ellipse">
            <a:avLst/>
          </a:prstGeom>
          <a:solidFill>
            <a:srgbClr val="FFFFFF"/>
          </a:solidFill>
          <a:ln/>
        </p:spPr>
        <p:txBody>
          <a:bodyPr/>
          <a:lstStyle/>
          <a:p>
            <a:endParaRPr lang="en-US"/>
          </a:p>
        </p:txBody>
      </p:sp>
      <p:sp>
        <p:nvSpPr>
          <p:cNvPr id="10" name="Text 5"/>
          <p:cNvSpPr/>
          <p:nvPr/>
        </p:nvSpPr>
        <p:spPr>
          <a:xfrm>
            <a:off x="11055654" y="981848"/>
            <a:ext cx="77797" cy="7200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1" name="Shape 6"/>
          <p:cNvSpPr/>
          <p:nvPr/>
        </p:nvSpPr>
        <p:spPr>
          <a:xfrm flipH="1">
            <a:off x="10924640" y="981848"/>
            <a:ext cx="77797" cy="72000"/>
          </a:xfrm>
          <a:prstGeom prst="ellipse">
            <a:avLst/>
          </a:prstGeom>
          <a:solidFill>
            <a:srgbClr val="FFFFFF">
              <a:alpha val="56471"/>
            </a:srgbClr>
          </a:solidFill>
          <a:ln/>
        </p:spPr>
        <p:txBody>
          <a:bodyPr/>
          <a:lstStyle/>
          <a:p>
            <a:endParaRPr lang="en-US"/>
          </a:p>
        </p:txBody>
      </p:sp>
      <p:sp>
        <p:nvSpPr>
          <p:cNvPr id="12" name="Text 7"/>
          <p:cNvSpPr/>
          <p:nvPr/>
        </p:nvSpPr>
        <p:spPr>
          <a:xfrm>
            <a:off x="10924640" y="981848"/>
            <a:ext cx="77797" cy="72000"/>
          </a:xfrm>
          <a:prstGeom prst="rect">
            <a:avLst/>
          </a:prstGeom>
          <a:noFill/>
          <a:ln/>
        </p:spPr>
        <p:txBody>
          <a:bodyPr wrap="square" lIns="45720" tIns="91440" rIns="91440" bIns="45720" rtlCol="0" anchor="ctr"/>
          <a:lstStyle/>
          <a:p>
            <a:pPr marL="0" indent="0">
              <a:lnSpc>
                <a:spcPct val="100000"/>
              </a:lnSpc>
              <a:buNone/>
            </a:pPr>
            <a:endParaRPr lang="en-US" sz="1600" dirty="0"/>
          </a:p>
        </p:txBody>
      </p:sp>
      <p:pic>
        <p:nvPicPr>
          <p:cNvPr id="13" name="Image 3" descr="https://kimi-img.moonshot.cn/pub/slides/slides_tmpl/image/25-08-27-20:02:15-d2nf7hp8bjvh7rlj06e0.png"/>
          <p:cNvPicPr>
            <a:picLocks noChangeAspect="1"/>
          </p:cNvPicPr>
          <p:nvPr/>
        </p:nvPicPr>
        <p:blipFill>
          <a:blip r:embed="rId5"/>
          <a:stretch>
            <a:fillRect/>
          </a:stretch>
        </p:blipFill>
        <p:spPr>
          <a:xfrm>
            <a:off x="5572113" y="1664817"/>
            <a:ext cx="1193800" cy="1193800"/>
          </a:xfrm>
          <a:prstGeom prst="rect">
            <a:avLst/>
          </a:prstGeom>
        </p:spPr>
      </p:pic>
      <p:pic>
        <p:nvPicPr>
          <p:cNvPr id="14" name="Image 4" descr="https://kimi-img.moonshot.cn/pub/slides/slides_tmpl/image/25-08-27-20:02:15-d2nf7hp8bjvh7rlj06e0.png"/>
          <p:cNvPicPr>
            <a:picLocks noChangeAspect="1"/>
          </p:cNvPicPr>
          <p:nvPr/>
        </p:nvPicPr>
        <p:blipFill>
          <a:blip r:embed="rId5"/>
          <a:stretch>
            <a:fillRect/>
          </a:stretch>
        </p:blipFill>
        <p:spPr>
          <a:xfrm>
            <a:off x="9119985" y="2451201"/>
            <a:ext cx="1193800" cy="1193800"/>
          </a:xfrm>
          <a:prstGeom prst="rect">
            <a:avLst/>
          </a:prstGeom>
        </p:spPr>
      </p:pic>
      <p:sp>
        <p:nvSpPr>
          <p:cNvPr id="15" name="Shape 8"/>
          <p:cNvSpPr/>
          <p:nvPr/>
        </p:nvSpPr>
        <p:spPr>
          <a:xfrm>
            <a:off x="11358882" y="6059762"/>
            <a:ext cx="226534" cy="220415"/>
          </a:xfrm>
          <a:prstGeom prst="rect">
            <a:avLst/>
          </a:prstGeom>
          <a:solidFill>
            <a:srgbClr val="517BDA"/>
          </a:solidFill>
          <a:ln/>
          <a:effectLst>
            <a:outerShdw blurRad="145102" dist="50800" dir="2700000" algn="bl" rotWithShape="0">
              <a:srgbClr val="517BDA">
                <a:alpha val="76471"/>
              </a:srgbClr>
            </a:outerShdw>
          </a:effectLst>
        </p:spPr>
        <p:txBody>
          <a:bodyPr/>
          <a:lstStyle/>
          <a:p>
            <a:endParaRPr lang="en-US"/>
          </a:p>
        </p:txBody>
      </p:sp>
      <p:sp>
        <p:nvSpPr>
          <p:cNvPr id="16" name="Text 9"/>
          <p:cNvSpPr/>
          <p:nvPr/>
        </p:nvSpPr>
        <p:spPr>
          <a:xfrm>
            <a:off x="11358882" y="6059762"/>
            <a:ext cx="226534" cy="22041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7" name="Text 10"/>
          <p:cNvSpPr/>
          <p:nvPr/>
        </p:nvSpPr>
        <p:spPr>
          <a:xfrm>
            <a:off x="542215" y="998076"/>
            <a:ext cx="8152877" cy="833184"/>
          </a:xfrm>
          <a:prstGeom prst="rect">
            <a:avLst/>
          </a:prstGeom>
          <a:noFill/>
          <a:ln/>
        </p:spPr>
        <p:txBody>
          <a:bodyPr wrap="square" lIns="91440" tIns="45720" rIns="91440" bIns="45720" rtlCol="0" anchor="t"/>
          <a:lstStyle/>
          <a:p>
            <a:pPr marL="0" indent="0">
              <a:lnSpc>
                <a:spcPct val="100000"/>
              </a:lnSpc>
              <a:buNone/>
            </a:pPr>
            <a:r>
              <a:rPr lang="en-US" sz="3600" b="1" dirty="0">
                <a:solidFill>
                  <a:srgbClr val="FFFFFF"/>
                </a:solidFill>
                <a:latin typeface="MiSans" pitchFamily="34" charset="0"/>
                <a:ea typeface="MiSans" pitchFamily="34" charset="-122"/>
                <a:cs typeface="MiSans" pitchFamily="34" charset="-120"/>
              </a:rPr>
              <a:t>Especificaciones clave del NE555</a:t>
            </a:r>
            <a:endParaRPr lang="en-US" sz="1600" dirty="0"/>
          </a:p>
        </p:txBody>
      </p:sp>
      <p:pic>
        <p:nvPicPr>
          <p:cNvPr id="18" name="Image 5" descr="https://kimi-img.moonshot.cn/pub/slides/slides_tmpl/image/25-08-27-20:02:06-d2nf7fh8bjvh7rlj060g.png"/>
          <p:cNvPicPr>
            <a:picLocks noChangeAspect="1"/>
          </p:cNvPicPr>
          <p:nvPr/>
        </p:nvPicPr>
        <p:blipFill>
          <a:blip r:embed="rId6"/>
          <a:stretch>
            <a:fillRect/>
          </a:stretch>
        </p:blipFill>
        <p:spPr>
          <a:xfrm>
            <a:off x="662882" y="495145"/>
            <a:ext cx="1371600" cy="304800"/>
          </a:xfrm>
          <a:prstGeom prst="rect">
            <a:avLst/>
          </a:prstGeom>
        </p:spPr>
      </p:pic>
      <p:sp>
        <p:nvSpPr>
          <p:cNvPr id="19" name="Shape 11"/>
          <p:cNvSpPr/>
          <p:nvPr/>
        </p:nvSpPr>
        <p:spPr>
          <a:xfrm>
            <a:off x="2069138" y="2846751"/>
            <a:ext cx="665094" cy="295787"/>
          </a:xfrm>
          <a:prstGeom prst="rect">
            <a:avLst/>
          </a:prstGeom>
          <a:solidFill>
            <a:srgbClr val="000000">
              <a:alpha val="0"/>
            </a:srgbClr>
          </a:solidFill>
          <a:ln/>
        </p:spPr>
        <p:txBody>
          <a:bodyPr/>
          <a:lstStyle/>
          <a:p>
            <a:endParaRPr lang="en-US"/>
          </a:p>
        </p:txBody>
      </p:sp>
      <p:sp>
        <p:nvSpPr>
          <p:cNvPr id="20" name="Text 12"/>
          <p:cNvSpPr/>
          <p:nvPr/>
        </p:nvSpPr>
        <p:spPr>
          <a:xfrm>
            <a:off x="2069138" y="2846751"/>
            <a:ext cx="665094" cy="295787"/>
          </a:xfrm>
          <a:prstGeom prst="rect">
            <a:avLst/>
          </a:prstGeom>
          <a:noFill/>
          <a:ln/>
        </p:spPr>
        <p:txBody>
          <a:bodyPr wrap="square" lIns="0" tIns="0" rIns="0" bIns="0" rtlCol="0" anchor="t"/>
          <a:lstStyle/>
          <a:p>
            <a:pPr marL="0" indent="0" algn="ctr">
              <a:lnSpc>
                <a:spcPct val="110000"/>
              </a:lnSpc>
              <a:buNone/>
            </a:pPr>
            <a:r>
              <a:rPr lang="en-US" sz="1800" dirty="0">
                <a:solidFill>
                  <a:srgbClr val="FFFFFF"/>
                </a:solidFill>
                <a:latin typeface="MiSans" pitchFamily="34" charset="0"/>
                <a:ea typeface="MiSans" pitchFamily="34" charset="-122"/>
                <a:cs typeface="MiSans" pitchFamily="34" charset="-120"/>
              </a:rPr>
              <a:t>01</a:t>
            </a:r>
            <a:endParaRPr lang="en-US" sz="1600" dirty="0"/>
          </a:p>
        </p:txBody>
      </p:sp>
      <p:sp>
        <p:nvSpPr>
          <p:cNvPr id="21" name="Text 13"/>
          <p:cNvSpPr/>
          <p:nvPr/>
        </p:nvSpPr>
        <p:spPr>
          <a:xfrm>
            <a:off x="906167" y="3573655"/>
            <a:ext cx="3338973" cy="276860"/>
          </a:xfrm>
          <a:prstGeom prst="rect">
            <a:avLst/>
          </a:prstGeom>
          <a:noFill/>
          <a:ln/>
        </p:spPr>
        <p:txBody>
          <a:bodyPr wrap="square" lIns="0" tIns="0" rIns="0" bIns="0" rtlCol="0" anchor="t">
            <a:spAutoFit/>
          </a:bodyPr>
          <a:lstStyle/>
          <a:p>
            <a:pPr marL="0" indent="0">
              <a:lnSpc>
                <a:spcPct val="100000"/>
              </a:lnSpc>
              <a:buNone/>
            </a:pPr>
            <a:r>
              <a:rPr lang="en-US" sz="1800" b="1" dirty="0">
                <a:gradFill flip="none" rotWithShape="0">
                  <a:gsLst>
                    <a:gs pos="0">
                      <a:srgbClr val="30B0FE">
                        <a:alpha val="77000"/>
                      </a:srgbClr>
                    </a:gs>
                    <a:gs pos="10000">
                      <a:srgbClr val="30B0FE">
                        <a:alpha val="77000"/>
                      </a:srgbClr>
                    </a:gs>
                    <a:gs pos="70000">
                      <a:srgbClr val="5684E9"/>
                    </a:gs>
                    <a:gs pos="100000">
                      <a:srgbClr val="014BB5"/>
                    </a:gs>
                  </a:gsLst>
                  <a:lin ang="4800000" scaled="1"/>
                </a:gradFill>
                <a:latin typeface="MiSans" pitchFamily="34" charset="0"/>
                <a:ea typeface="MiSans" pitchFamily="34" charset="-122"/>
                <a:cs typeface="MiSans" pitchFamily="34" charset="-120"/>
              </a:rPr>
              <a:t>Rango de Alimentación</a:t>
            </a:r>
            <a:endParaRPr lang="en-US" sz="1600" dirty="0"/>
          </a:p>
        </p:txBody>
      </p:sp>
      <p:sp>
        <p:nvSpPr>
          <p:cNvPr id="22" name="Text 14"/>
          <p:cNvSpPr/>
          <p:nvPr/>
        </p:nvSpPr>
        <p:spPr>
          <a:xfrm>
            <a:off x="824230" y="3974465"/>
            <a:ext cx="3338830" cy="2353310"/>
          </a:xfrm>
          <a:prstGeom prst="rect">
            <a:avLst/>
          </a:prstGeom>
          <a:noFill/>
          <a:ln/>
        </p:spPr>
        <p:txBody>
          <a:bodyPr wrap="square" lIns="91440" tIns="45720" rIns="91440" bIns="45720" rtlCol="0" anchor="t">
            <a:spAutoFit/>
          </a:bodyPr>
          <a:lstStyle/>
          <a:p>
            <a:pPr marL="0" indent="0">
              <a:lnSpc>
                <a:spcPct val="150000"/>
              </a:lnSpc>
              <a:buNone/>
            </a:pPr>
            <a:r>
              <a:rPr lang="en-US" sz="1400" dirty="0">
                <a:solidFill>
                  <a:srgbClr val="FFFFFF"/>
                </a:solidFill>
                <a:latin typeface="MiSans" pitchFamily="34" charset="0"/>
                <a:ea typeface="MiSans" pitchFamily="34" charset="-122"/>
                <a:cs typeface="MiSans" pitchFamily="34" charset="-120"/>
              </a:rPr>
              <a:t>El NE555 opera con un voltaje de alimentación entre 4.5V y 16V, lo que lo hace compatible con una amplia variedad de fuentes de energía. Esto lo convierte en un componente robusto y adaptable para diferentes aplicaciones.</a:t>
            </a:r>
            <a:endParaRPr lang="en-US" sz="1600" dirty="0"/>
          </a:p>
        </p:txBody>
      </p:sp>
      <p:sp>
        <p:nvSpPr>
          <p:cNvPr id="23" name="Shape 15"/>
          <p:cNvSpPr/>
          <p:nvPr/>
        </p:nvSpPr>
        <p:spPr>
          <a:xfrm>
            <a:off x="5824743" y="2081751"/>
            <a:ext cx="665094" cy="295787"/>
          </a:xfrm>
          <a:prstGeom prst="rect">
            <a:avLst/>
          </a:prstGeom>
          <a:solidFill>
            <a:srgbClr val="000000">
              <a:alpha val="0"/>
            </a:srgbClr>
          </a:solidFill>
          <a:ln/>
        </p:spPr>
        <p:txBody>
          <a:bodyPr/>
          <a:lstStyle/>
          <a:p>
            <a:endParaRPr lang="en-US"/>
          </a:p>
        </p:txBody>
      </p:sp>
      <p:sp>
        <p:nvSpPr>
          <p:cNvPr id="24" name="Text 16"/>
          <p:cNvSpPr/>
          <p:nvPr/>
        </p:nvSpPr>
        <p:spPr>
          <a:xfrm>
            <a:off x="5824743" y="2081751"/>
            <a:ext cx="665094" cy="295787"/>
          </a:xfrm>
          <a:prstGeom prst="rect">
            <a:avLst/>
          </a:prstGeom>
          <a:noFill/>
          <a:ln/>
        </p:spPr>
        <p:txBody>
          <a:bodyPr wrap="square" lIns="0" tIns="0" rIns="0" bIns="0" rtlCol="0" anchor="t"/>
          <a:lstStyle/>
          <a:p>
            <a:pPr marL="0" indent="0" algn="ctr">
              <a:lnSpc>
                <a:spcPct val="110000"/>
              </a:lnSpc>
              <a:buNone/>
            </a:pPr>
            <a:r>
              <a:rPr lang="en-US" sz="1800" dirty="0">
                <a:solidFill>
                  <a:srgbClr val="FFFFFF"/>
                </a:solidFill>
                <a:latin typeface="MiSans" pitchFamily="34" charset="0"/>
                <a:ea typeface="MiSans" pitchFamily="34" charset="-122"/>
                <a:cs typeface="MiSans" pitchFamily="34" charset="-120"/>
              </a:rPr>
              <a:t>02</a:t>
            </a:r>
            <a:endParaRPr lang="en-US" sz="1600" dirty="0"/>
          </a:p>
        </p:txBody>
      </p:sp>
      <p:sp>
        <p:nvSpPr>
          <p:cNvPr id="25" name="Text 17"/>
          <p:cNvSpPr/>
          <p:nvPr/>
        </p:nvSpPr>
        <p:spPr>
          <a:xfrm>
            <a:off x="4582055" y="2823847"/>
            <a:ext cx="3338973" cy="276860"/>
          </a:xfrm>
          <a:prstGeom prst="rect">
            <a:avLst/>
          </a:prstGeom>
          <a:noFill/>
          <a:ln/>
        </p:spPr>
        <p:txBody>
          <a:bodyPr wrap="square" lIns="0" tIns="0" rIns="0" bIns="0" rtlCol="0" anchor="t">
            <a:spAutoFit/>
          </a:bodyPr>
          <a:lstStyle/>
          <a:p>
            <a:pPr marL="0" indent="0">
              <a:lnSpc>
                <a:spcPct val="100000"/>
              </a:lnSpc>
              <a:buNone/>
            </a:pPr>
            <a:r>
              <a:rPr lang="en-US" sz="1800" b="1" dirty="0">
                <a:gradFill flip="none" rotWithShape="0">
                  <a:gsLst>
                    <a:gs pos="0">
                      <a:srgbClr val="30B0FE">
                        <a:alpha val="77000"/>
                      </a:srgbClr>
                    </a:gs>
                    <a:gs pos="10000">
                      <a:srgbClr val="30B0FE">
                        <a:alpha val="77000"/>
                      </a:srgbClr>
                    </a:gs>
                    <a:gs pos="70000">
                      <a:srgbClr val="5684E9"/>
                    </a:gs>
                    <a:gs pos="100000">
                      <a:srgbClr val="014BB5"/>
                    </a:gs>
                  </a:gsLst>
                  <a:lin ang="4800000" scaled="1"/>
                </a:gradFill>
                <a:latin typeface="MiSans" pitchFamily="34" charset="0"/>
                <a:ea typeface="MiSans" pitchFamily="34" charset="-122"/>
                <a:cs typeface="MiSans" pitchFamily="34" charset="-120"/>
              </a:rPr>
              <a:t>Corriente de Salida</a:t>
            </a:r>
            <a:endParaRPr lang="en-US" sz="1600" dirty="0"/>
          </a:p>
        </p:txBody>
      </p:sp>
      <p:sp>
        <p:nvSpPr>
          <p:cNvPr id="26" name="Text 18"/>
          <p:cNvSpPr/>
          <p:nvPr/>
        </p:nvSpPr>
        <p:spPr>
          <a:xfrm>
            <a:off x="4500245" y="3225165"/>
            <a:ext cx="3338830" cy="2353310"/>
          </a:xfrm>
          <a:prstGeom prst="rect">
            <a:avLst/>
          </a:prstGeom>
          <a:noFill/>
          <a:ln/>
        </p:spPr>
        <p:txBody>
          <a:bodyPr wrap="square" lIns="91440" tIns="45720" rIns="91440" bIns="45720" rtlCol="0" anchor="t">
            <a:spAutoFit/>
          </a:bodyPr>
          <a:lstStyle/>
          <a:p>
            <a:pPr marL="0" indent="0">
              <a:lnSpc>
                <a:spcPct val="150000"/>
              </a:lnSpc>
              <a:buNone/>
            </a:pPr>
            <a:r>
              <a:rPr lang="en-US" sz="1400" dirty="0">
                <a:solidFill>
                  <a:srgbClr val="FFFFFF"/>
                </a:solidFill>
                <a:latin typeface="MiSans" pitchFamily="34" charset="0"/>
                <a:ea typeface="MiSans" pitchFamily="34" charset="-122"/>
                <a:cs typeface="MiSans" pitchFamily="34" charset="-120"/>
              </a:rPr>
              <a:t>Puede proporcionar hasta 200 mA de corriente de salida, lo que es suficiente para alimentar directamente LEDs y otros componentes pequeños sin necesidad de amplificadores adicionales.</a:t>
            </a:r>
            <a:endParaRPr lang="en-US" sz="1600" dirty="0"/>
          </a:p>
        </p:txBody>
      </p:sp>
      <p:sp>
        <p:nvSpPr>
          <p:cNvPr id="27" name="Shape 19"/>
          <p:cNvSpPr/>
          <p:nvPr/>
        </p:nvSpPr>
        <p:spPr>
          <a:xfrm>
            <a:off x="9372615" y="2869908"/>
            <a:ext cx="665094" cy="295787"/>
          </a:xfrm>
          <a:prstGeom prst="rect">
            <a:avLst/>
          </a:prstGeom>
          <a:solidFill>
            <a:srgbClr val="000000">
              <a:alpha val="0"/>
            </a:srgbClr>
          </a:solidFill>
          <a:ln/>
        </p:spPr>
        <p:txBody>
          <a:bodyPr/>
          <a:lstStyle/>
          <a:p>
            <a:endParaRPr lang="en-US"/>
          </a:p>
        </p:txBody>
      </p:sp>
      <p:sp>
        <p:nvSpPr>
          <p:cNvPr id="28" name="Text 20"/>
          <p:cNvSpPr/>
          <p:nvPr/>
        </p:nvSpPr>
        <p:spPr>
          <a:xfrm>
            <a:off x="9372615" y="2869908"/>
            <a:ext cx="665094" cy="295787"/>
          </a:xfrm>
          <a:prstGeom prst="rect">
            <a:avLst/>
          </a:prstGeom>
          <a:noFill/>
          <a:ln/>
        </p:spPr>
        <p:txBody>
          <a:bodyPr wrap="square" lIns="0" tIns="0" rIns="0" bIns="0" rtlCol="0" anchor="t"/>
          <a:lstStyle/>
          <a:p>
            <a:pPr marL="0" indent="0" algn="ctr">
              <a:lnSpc>
                <a:spcPct val="110000"/>
              </a:lnSpc>
              <a:buNone/>
            </a:pPr>
            <a:r>
              <a:rPr lang="en-US" sz="1800" dirty="0">
                <a:solidFill>
                  <a:srgbClr val="FFFFFF"/>
                </a:solidFill>
                <a:latin typeface="MiSans" pitchFamily="34" charset="0"/>
                <a:ea typeface="MiSans" pitchFamily="34" charset="-122"/>
                <a:cs typeface="MiSans" pitchFamily="34" charset="-120"/>
              </a:rPr>
              <a:t>03</a:t>
            </a:r>
            <a:endParaRPr lang="en-US" sz="1600" dirty="0"/>
          </a:p>
        </p:txBody>
      </p:sp>
      <p:sp>
        <p:nvSpPr>
          <p:cNvPr id="29" name="Text 21"/>
          <p:cNvSpPr/>
          <p:nvPr/>
        </p:nvSpPr>
        <p:spPr>
          <a:xfrm>
            <a:off x="8129927" y="3555367"/>
            <a:ext cx="3338973" cy="276860"/>
          </a:xfrm>
          <a:prstGeom prst="rect">
            <a:avLst/>
          </a:prstGeom>
          <a:noFill/>
          <a:ln/>
        </p:spPr>
        <p:txBody>
          <a:bodyPr wrap="square" lIns="0" tIns="0" rIns="0" bIns="0" rtlCol="0" anchor="t">
            <a:spAutoFit/>
          </a:bodyPr>
          <a:lstStyle/>
          <a:p>
            <a:pPr marL="0" indent="0">
              <a:lnSpc>
                <a:spcPct val="100000"/>
              </a:lnSpc>
              <a:buNone/>
            </a:pPr>
            <a:r>
              <a:rPr lang="en-US" sz="1800" b="1" dirty="0">
                <a:gradFill flip="none" rotWithShape="0">
                  <a:gsLst>
                    <a:gs pos="0">
                      <a:srgbClr val="30B0FE">
                        <a:alpha val="77000"/>
                      </a:srgbClr>
                    </a:gs>
                    <a:gs pos="10000">
                      <a:srgbClr val="30B0FE">
                        <a:alpha val="77000"/>
                      </a:srgbClr>
                    </a:gs>
                    <a:gs pos="70000">
                      <a:srgbClr val="5684E9"/>
                    </a:gs>
                    <a:gs pos="100000">
                      <a:srgbClr val="014BB5"/>
                    </a:gs>
                  </a:gsLst>
                  <a:lin ang="4800000" scaled="1"/>
                </a:gradFill>
                <a:latin typeface="MiSans" pitchFamily="34" charset="0"/>
                <a:ea typeface="MiSans" pitchFamily="34" charset="-122"/>
                <a:cs typeface="MiSans" pitchFamily="34" charset="-120"/>
              </a:rPr>
              <a:t>Estabilidad y Encapsulado</a:t>
            </a:r>
            <a:endParaRPr lang="en-US" sz="1600" dirty="0"/>
          </a:p>
        </p:txBody>
      </p:sp>
      <p:sp>
        <p:nvSpPr>
          <p:cNvPr id="30" name="Text 22"/>
          <p:cNvSpPr/>
          <p:nvPr/>
        </p:nvSpPr>
        <p:spPr>
          <a:xfrm>
            <a:off x="8047990" y="3956685"/>
            <a:ext cx="3353435" cy="2353310"/>
          </a:xfrm>
          <a:prstGeom prst="rect">
            <a:avLst/>
          </a:prstGeom>
          <a:noFill/>
          <a:ln/>
        </p:spPr>
        <p:txBody>
          <a:bodyPr wrap="square" lIns="91440" tIns="45720" rIns="91440" bIns="45720" rtlCol="0" anchor="t">
            <a:spAutoFit/>
          </a:bodyPr>
          <a:lstStyle/>
          <a:p>
            <a:pPr marL="0" indent="0">
              <a:lnSpc>
                <a:spcPct val="150000"/>
              </a:lnSpc>
              <a:buNone/>
            </a:pPr>
            <a:r>
              <a:rPr lang="en-US" sz="1400" dirty="0">
                <a:solidFill>
                  <a:srgbClr val="FFFFFF"/>
                </a:solidFill>
                <a:latin typeface="MiSans" pitchFamily="34" charset="0"/>
                <a:ea typeface="MiSans" pitchFamily="34" charset="-122"/>
                <a:cs typeface="MiSans" pitchFamily="34" charset="-120"/>
              </a:rPr>
              <a:t>Ofrece una estabilidad de ±1%, garantizando un rendimiento confiable. Viene en un paquete DIP de 8 pines, facilitando su integración en prototipos y diseños finales.</a:t>
            </a:r>
            <a:endParaRPr lang="en-US" sz="1600" dirty="0"/>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2:10-d2nf7gh8bjvh7rlj061g.jpg"/>
          <p:cNvPicPr>
            <a:picLocks noChangeAspect="1"/>
          </p:cNvPicPr>
          <p:nvPr/>
        </p:nvPicPr>
        <p:blipFill>
          <a:blip r:embed="rId3"/>
          <a:stretch>
            <a:fillRect/>
          </a:stretch>
        </p:blipFill>
        <p:spPr>
          <a:xfrm>
            <a:off x="0" y="0"/>
            <a:ext cx="12192000" cy="6864626"/>
          </a:xfrm>
          <a:prstGeom prst="rect">
            <a:avLst/>
          </a:prstGeom>
        </p:spPr>
      </p:pic>
      <p:pic>
        <p:nvPicPr>
          <p:cNvPr id="3" name="Image 1" descr="https://kimi-img.moonshot.cn/pub/slides/slides_tmpl/image/25-08-27-20:02:17-d2nf7i98bjvh7rlj06n0.png"/>
          <p:cNvPicPr>
            <a:picLocks noChangeAspect="1"/>
          </p:cNvPicPr>
          <p:nvPr/>
        </p:nvPicPr>
        <p:blipFill>
          <a:blip r:embed="rId4"/>
          <a:stretch>
            <a:fillRect/>
          </a:stretch>
        </p:blipFill>
        <p:spPr>
          <a:xfrm>
            <a:off x="830284" y="1724989"/>
            <a:ext cx="10819501" cy="4691524"/>
          </a:xfrm>
          <a:prstGeom prst="rect">
            <a:avLst/>
          </a:prstGeom>
        </p:spPr>
      </p:pic>
      <p:sp>
        <p:nvSpPr>
          <p:cNvPr id="4" name="Shape 0"/>
          <p:cNvSpPr/>
          <p:nvPr/>
        </p:nvSpPr>
        <p:spPr>
          <a:xfrm>
            <a:off x="10924640" y="981848"/>
            <a:ext cx="77797" cy="72000"/>
          </a:xfrm>
          <a:prstGeom prst="ellipse">
            <a:avLst/>
          </a:prstGeom>
          <a:solidFill>
            <a:srgbClr val="FFFFFF"/>
          </a:solidFill>
          <a:ln/>
        </p:spPr>
        <p:txBody>
          <a:bodyPr/>
          <a:lstStyle/>
          <a:p>
            <a:endParaRPr lang="en-US"/>
          </a:p>
        </p:txBody>
      </p:sp>
      <p:sp>
        <p:nvSpPr>
          <p:cNvPr id="5" name="Text 1"/>
          <p:cNvSpPr/>
          <p:nvPr/>
        </p:nvSpPr>
        <p:spPr>
          <a:xfrm>
            <a:off x="10924640" y="981848"/>
            <a:ext cx="77797" cy="7200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6" name="Shape 2"/>
          <p:cNvSpPr/>
          <p:nvPr/>
        </p:nvSpPr>
        <p:spPr>
          <a:xfrm>
            <a:off x="11052814" y="981848"/>
            <a:ext cx="77797" cy="72000"/>
          </a:xfrm>
          <a:prstGeom prst="ellipse">
            <a:avLst/>
          </a:prstGeom>
          <a:solidFill>
            <a:srgbClr val="FFFFFF">
              <a:alpha val="56471"/>
            </a:srgbClr>
          </a:solidFill>
          <a:ln/>
        </p:spPr>
        <p:txBody>
          <a:bodyPr/>
          <a:lstStyle/>
          <a:p>
            <a:endParaRPr lang="en-US"/>
          </a:p>
        </p:txBody>
      </p:sp>
      <p:sp>
        <p:nvSpPr>
          <p:cNvPr id="7" name="Text 3"/>
          <p:cNvSpPr/>
          <p:nvPr/>
        </p:nvSpPr>
        <p:spPr>
          <a:xfrm>
            <a:off x="11052814" y="981848"/>
            <a:ext cx="77797" cy="7200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8" name="Shape 4"/>
          <p:cNvSpPr/>
          <p:nvPr/>
        </p:nvSpPr>
        <p:spPr>
          <a:xfrm>
            <a:off x="11183828" y="981848"/>
            <a:ext cx="77797" cy="72000"/>
          </a:xfrm>
          <a:prstGeom prst="ellipse">
            <a:avLst/>
          </a:prstGeom>
          <a:solidFill>
            <a:srgbClr val="FFFFFF"/>
          </a:solidFill>
          <a:ln/>
        </p:spPr>
        <p:txBody>
          <a:bodyPr/>
          <a:lstStyle/>
          <a:p>
            <a:endParaRPr lang="en-US"/>
          </a:p>
        </p:txBody>
      </p:sp>
      <p:sp>
        <p:nvSpPr>
          <p:cNvPr id="9" name="Text 5"/>
          <p:cNvSpPr/>
          <p:nvPr/>
        </p:nvSpPr>
        <p:spPr>
          <a:xfrm>
            <a:off x="11183828" y="981848"/>
            <a:ext cx="77797" cy="7200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0" name="Shape 6"/>
          <p:cNvSpPr/>
          <p:nvPr/>
        </p:nvSpPr>
        <p:spPr>
          <a:xfrm>
            <a:off x="11314843" y="981848"/>
            <a:ext cx="77797" cy="72000"/>
          </a:xfrm>
          <a:prstGeom prst="ellipse">
            <a:avLst/>
          </a:prstGeom>
          <a:solidFill>
            <a:srgbClr val="FFFFFF">
              <a:alpha val="56471"/>
            </a:srgbClr>
          </a:solidFill>
          <a:ln/>
        </p:spPr>
        <p:txBody>
          <a:bodyPr/>
          <a:lstStyle/>
          <a:p>
            <a:endParaRPr lang="en-US"/>
          </a:p>
        </p:txBody>
      </p:sp>
      <p:sp>
        <p:nvSpPr>
          <p:cNvPr id="11" name="Text 7"/>
          <p:cNvSpPr/>
          <p:nvPr/>
        </p:nvSpPr>
        <p:spPr>
          <a:xfrm>
            <a:off x="11314843" y="981848"/>
            <a:ext cx="77797" cy="7200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2" name="Shape 8"/>
          <p:cNvSpPr/>
          <p:nvPr/>
        </p:nvSpPr>
        <p:spPr>
          <a:xfrm>
            <a:off x="11358882" y="6059762"/>
            <a:ext cx="226534" cy="220415"/>
          </a:xfrm>
          <a:prstGeom prst="rect">
            <a:avLst/>
          </a:prstGeom>
          <a:solidFill>
            <a:srgbClr val="517BDA"/>
          </a:solidFill>
          <a:ln/>
          <a:effectLst>
            <a:outerShdw blurRad="145102" dist="50800" dir="2700000" algn="bl" rotWithShape="0">
              <a:srgbClr val="517BDA">
                <a:alpha val="76471"/>
              </a:srgbClr>
            </a:outerShdw>
          </a:effectLst>
        </p:spPr>
        <p:txBody>
          <a:bodyPr/>
          <a:lstStyle/>
          <a:p>
            <a:endParaRPr lang="en-US"/>
          </a:p>
        </p:txBody>
      </p:sp>
      <p:sp>
        <p:nvSpPr>
          <p:cNvPr id="13" name="Text 9"/>
          <p:cNvSpPr/>
          <p:nvPr/>
        </p:nvSpPr>
        <p:spPr>
          <a:xfrm>
            <a:off x="11358882" y="6059762"/>
            <a:ext cx="226534" cy="22041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4" name="Shape 10"/>
          <p:cNvSpPr/>
          <p:nvPr/>
        </p:nvSpPr>
        <p:spPr>
          <a:xfrm rot="13500000">
            <a:off x="1208652" y="1871604"/>
            <a:ext cx="190478" cy="190478"/>
          </a:xfrm>
          <a:prstGeom prst="rtTriangle">
            <a:avLst/>
          </a:prstGeom>
          <a:gradFill flip="none" rotWithShape="1">
            <a:gsLst>
              <a:gs pos="0">
                <a:srgbClr val="004BA0"/>
              </a:gs>
              <a:gs pos="50000">
                <a:srgbClr val="1F5EC3"/>
              </a:gs>
              <a:gs pos="100000">
                <a:srgbClr val="4E96D8"/>
              </a:gs>
            </a:gsLst>
            <a:lin ang="5400000" scaled="1"/>
          </a:gradFill>
          <a:ln/>
          <a:effectLst>
            <a:outerShdw blurRad="145102" dist="50800" dir="2700000" algn="bl" rotWithShape="0">
              <a:srgbClr val="517BDA">
                <a:alpha val="76471"/>
              </a:srgbClr>
            </a:outerShdw>
          </a:effectLst>
        </p:spPr>
        <p:txBody>
          <a:bodyPr/>
          <a:lstStyle/>
          <a:p>
            <a:endParaRPr lang="en-US"/>
          </a:p>
        </p:txBody>
      </p:sp>
      <p:sp>
        <p:nvSpPr>
          <p:cNvPr id="15" name="Text 11"/>
          <p:cNvSpPr/>
          <p:nvPr/>
        </p:nvSpPr>
        <p:spPr>
          <a:xfrm rot="13500000">
            <a:off x="1208652" y="1871604"/>
            <a:ext cx="190478" cy="190478"/>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6" name="Shape 12"/>
          <p:cNvSpPr/>
          <p:nvPr/>
        </p:nvSpPr>
        <p:spPr>
          <a:xfrm rot="13500000">
            <a:off x="1208652" y="4214211"/>
            <a:ext cx="190478" cy="190478"/>
          </a:xfrm>
          <a:prstGeom prst="rtTriangle">
            <a:avLst/>
          </a:prstGeom>
          <a:gradFill flip="none" rotWithShape="1">
            <a:gsLst>
              <a:gs pos="0">
                <a:srgbClr val="004BA0"/>
              </a:gs>
              <a:gs pos="50000">
                <a:srgbClr val="1F5EC3"/>
              </a:gs>
              <a:gs pos="100000">
                <a:srgbClr val="4E96D8"/>
              </a:gs>
            </a:gsLst>
            <a:lin ang="5400000" scaled="1"/>
          </a:gradFill>
          <a:ln/>
          <a:effectLst>
            <a:outerShdw blurRad="145102" dist="50800" dir="2700000" algn="bl" rotWithShape="0">
              <a:srgbClr val="517BDA">
                <a:alpha val="76471"/>
              </a:srgbClr>
            </a:outerShdw>
          </a:effectLst>
        </p:spPr>
        <p:txBody>
          <a:bodyPr/>
          <a:lstStyle/>
          <a:p>
            <a:endParaRPr lang="en-US"/>
          </a:p>
        </p:txBody>
      </p:sp>
      <p:sp>
        <p:nvSpPr>
          <p:cNvPr id="17" name="Text 13"/>
          <p:cNvSpPr/>
          <p:nvPr/>
        </p:nvSpPr>
        <p:spPr>
          <a:xfrm rot="13500000">
            <a:off x="1208652" y="4214211"/>
            <a:ext cx="190478" cy="190478"/>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8" name="Shape 14"/>
          <p:cNvSpPr/>
          <p:nvPr/>
        </p:nvSpPr>
        <p:spPr>
          <a:xfrm rot="13500000">
            <a:off x="6356384" y="1871604"/>
            <a:ext cx="190478" cy="190478"/>
          </a:xfrm>
          <a:prstGeom prst="rtTriangle">
            <a:avLst/>
          </a:prstGeom>
          <a:gradFill flip="none" rotWithShape="1">
            <a:gsLst>
              <a:gs pos="0">
                <a:srgbClr val="004BA0"/>
              </a:gs>
              <a:gs pos="50000">
                <a:srgbClr val="1F5EC3"/>
              </a:gs>
              <a:gs pos="100000">
                <a:srgbClr val="4E96D8"/>
              </a:gs>
            </a:gsLst>
            <a:lin ang="5400000" scaled="1"/>
          </a:gradFill>
          <a:ln/>
          <a:effectLst>
            <a:outerShdw blurRad="145102" dist="50800" dir="2700000" algn="bl" rotWithShape="0">
              <a:srgbClr val="517BDA">
                <a:alpha val="76471"/>
              </a:srgbClr>
            </a:outerShdw>
          </a:effectLst>
        </p:spPr>
        <p:txBody>
          <a:bodyPr/>
          <a:lstStyle/>
          <a:p>
            <a:endParaRPr lang="en-US"/>
          </a:p>
        </p:txBody>
      </p:sp>
      <p:sp>
        <p:nvSpPr>
          <p:cNvPr id="19" name="Text 15"/>
          <p:cNvSpPr/>
          <p:nvPr/>
        </p:nvSpPr>
        <p:spPr>
          <a:xfrm rot="13500000">
            <a:off x="6356384" y="1871604"/>
            <a:ext cx="190478" cy="190478"/>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0" name="Shape 16"/>
          <p:cNvSpPr/>
          <p:nvPr/>
        </p:nvSpPr>
        <p:spPr>
          <a:xfrm rot="13500000">
            <a:off x="6356384" y="4214211"/>
            <a:ext cx="190478" cy="190478"/>
          </a:xfrm>
          <a:prstGeom prst="rtTriangle">
            <a:avLst/>
          </a:prstGeom>
          <a:gradFill flip="none" rotWithShape="1">
            <a:gsLst>
              <a:gs pos="0">
                <a:srgbClr val="004BA0"/>
              </a:gs>
              <a:gs pos="50000">
                <a:srgbClr val="1F5EC3"/>
              </a:gs>
              <a:gs pos="100000">
                <a:srgbClr val="4E96D8"/>
              </a:gs>
            </a:gsLst>
            <a:lin ang="5400000" scaled="1"/>
          </a:gradFill>
          <a:ln/>
          <a:effectLst>
            <a:outerShdw blurRad="145102" dist="50800" dir="2700000" algn="bl" rotWithShape="0">
              <a:srgbClr val="517BDA">
                <a:alpha val="76471"/>
              </a:srgbClr>
            </a:outerShdw>
          </a:effectLst>
        </p:spPr>
        <p:txBody>
          <a:bodyPr/>
          <a:lstStyle/>
          <a:p>
            <a:endParaRPr lang="en-US"/>
          </a:p>
        </p:txBody>
      </p:sp>
      <p:sp>
        <p:nvSpPr>
          <p:cNvPr id="21" name="Text 17"/>
          <p:cNvSpPr/>
          <p:nvPr/>
        </p:nvSpPr>
        <p:spPr>
          <a:xfrm rot="13500000">
            <a:off x="6356384" y="4214211"/>
            <a:ext cx="190478" cy="190478"/>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2" name="Text 18"/>
          <p:cNvSpPr/>
          <p:nvPr/>
        </p:nvSpPr>
        <p:spPr>
          <a:xfrm>
            <a:off x="542215" y="998076"/>
            <a:ext cx="8152877" cy="833184"/>
          </a:xfrm>
          <a:prstGeom prst="rect">
            <a:avLst/>
          </a:prstGeom>
          <a:noFill/>
          <a:ln/>
        </p:spPr>
        <p:txBody>
          <a:bodyPr wrap="square" lIns="91440" tIns="45720" rIns="91440" bIns="45720" rtlCol="0" anchor="t"/>
          <a:lstStyle/>
          <a:p>
            <a:pPr marL="0" indent="0">
              <a:lnSpc>
                <a:spcPct val="100000"/>
              </a:lnSpc>
              <a:buNone/>
            </a:pPr>
            <a:r>
              <a:rPr lang="en-US" sz="3600" b="1" dirty="0">
                <a:solidFill>
                  <a:srgbClr val="FFFFFF"/>
                </a:solidFill>
                <a:latin typeface="MiSans" pitchFamily="34" charset="0"/>
                <a:ea typeface="MiSans" pitchFamily="34" charset="-122"/>
                <a:cs typeface="MiSans" pitchFamily="34" charset="-120"/>
              </a:rPr>
              <a:t>Mapa de pines y función de cada uno</a:t>
            </a:r>
            <a:endParaRPr lang="en-US" sz="1600" dirty="0"/>
          </a:p>
        </p:txBody>
      </p:sp>
      <p:pic>
        <p:nvPicPr>
          <p:cNvPr id="23" name="Image 2" descr="https://kimi-img.moonshot.cn/pub/slides/slides_tmpl/image/25-08-27-20:02:06-d2nf7fh8bjvh7rlj060g.png"/>
          <p:cNvPicPr>
            <a:picLocks noChangeAspect="1"/>
          </p:cNvPicPr>
          <p:nvPr/>
        </p:nvPicPr>
        <p:blipFill>
          <a:blip r:embed="rId5"/>
          <a:stretch>
            <a:fillRect/>
          </a:stretch>
        </p:blipFill>
        <p:spPr>
          <a:xfrm>
            <a:off x="662882" y="495145"/>
            <a:ext cx="1371600" cy="304800"/>
          </a:xfrm>
          <a:prstGeom prst="rect">
            <a:avLst/>
          </a:prstGeom>
        </p:spPr>
      </p:pic>
      <p:sp>
        <p:nvSpPr>
          <p:cNvPr id="24" name="Text 19"/>
          <p:cNvSpPr/>
          <p:nvPr/>
        </p:nvSpPr>
        <p:spPr>
          <a:xfrm>
            <a:off x="1498834" y="1854734"/>
            <a:ext cx="3100070" cy="276860"/>
          </a:xfrm>
          <a:prstGeom prst="rect">
            <a:avLst/>
          </a:prstGeom>
          <a:noFill/>
          <a:ln/>
        </p:spPr>
        <p:txBody>
          <a:bodyPr wrap="square" lIns="0" tIns="0" rIns="0" bIns="0" rtlCol="0" anchor="t">
            <a:spAutoFit/>
          </a:bodyPr>
          <a:lstStyle/>
          <a:p>
            <a:pPr marL="0" indent="0">
              <a:lnSpc>
                <a:spcPct val="100000"/>
              </a:lnSpc>
              <a:buNone/>
            </a:pPr>
            <a:r>
              <a:rPr lang="en-US" sz="1800" b="1" dirty="0">
                <a:gradFill flip="none" rotWithShape="0">
                  <a:gsLst>
                    <a:gs pos="0">
                      <a:srgbClr val="30B0FE">
                        <a:alpha val="77000"/>
                      </a:srgbClr>
                    </a:gs>
                    <a:gs pos="10000">
                      <a:srgbClr val="30B0FE">
                        <a:alpha val="77000"/>
                      </a:srgbClr>
                    </a:gs>
                    <a:gs pos="70000">
                      <a:srgbClr val="5684E9"/>
                    </a:gs>
                    <a:gs pos="100000">
                      <a:srgbClr val="014BB5"/>
                    </a:gs>
                  </a:gsLst>
                  <a:lin ang="4800000" scaled="1"/>
                </a:gradFill>
                <a:latin typeface="MiSans" pitchFamily="34" charset="0"/>
                <a:ea typeface="MiSans" pitchFamily="34" charset="-122"/>
                <a:cs typeface="MiSans" pitchFamily="34" charset="-120"/>
              </a:rPr>
              <a:t>GND y Vcc</a:t>
            </a:r>
            <a:endParaRPr lang="en-US" sz="1600" dirty="0"/>
          </a:p>
        </p:txBody>
      </p:sp>
      <p:sp>
        <p:nvSpPr>
          <p:cNvPr id="25" name="Text 20"/>
          <p:cNvSpPr/>
          <p:nvPr/>
        </p:nvSpPr>
        <p:spPr>
          <a:xfrm>
            <a:off x="1219226" y="2195800"/>
            <a:ext cx="4741301" cy="1679691"/>
          </a:xfrm>
          <a:prstGeom prst="rect">
            <a:avLst/>
          </a:prstGeom>
          <a:noFill/>
          <a:ln/>
        </p:spPr>
        <p:txBody>
          <a:bodyPr wrap="square" lIns="91440" tIns="45720" rIns="91440" bIns="45720" rtlCol="0" anchor="t">
            <a:spAutoFit/>
          </a:bodyPr>
          <a:lstStyle/>
          <a:p>
            <a:pPr marL="0" indent="0">
              <a:lnSpc>
                <a:spcPct val="150000"/>
              </a:lnSpc>
              <a:buNone/>
            </a:pPr>
            <a:r>
              <a:rPr lang="en-US" sz="1400" dirty="0">
                <a:solidFill>
                  <a:srgbClr val="FFFFFF"/>
                </a:solidFill>
                <a:latin typeface="MiSans" pitchFamily="34" charset="0"/>
                <a:ea typeface="MiSans" pitchFamily="34" charset="-122"/>
                <a:cs typeface="MiSans" pitchFamily="34" charset="-120"/>
              </a:rPr>
              <a:t>El pin 1 (GND) es la tierra, mientras que el pin 8 (Vcc) es la alimentación positiva. Estos pines son esenciales para el funcionamiento básico del chip.</a:t>
            </a:r>
            <a:endParaRPr lang="en-US" sz="1600" dirty="0"/>
          </a:p>
        </p:txBody>
      </p:sp>
      <p:sp>
        <p:nvSpPr>
          <p:cNvPr id="26" name="Text 21"/>
          <p:cNvSpPr/>
          <p:nvPr/>
        </p:nvSpPr>
        <p:spPr>
          <a:xfrm>
            <a:off x="1498834" y="4183927"/>
            <a:ext cx="3100070" cy="276860"/>
          </a:xfrm>
          <a:prstGeom prst="rect">
            <a:avLst/>
          </a:prstGeom>
          <a:noFill/>
          <a:ln/>
        </p:spPr>
        <p:txBody>
          <a:bodyPr wrap="square" lIns="0" tIns="0" rIns="0" bIns="0" rtlCol="0" anchor="t">
            <a:spAutoFit/>
          </a:bodyPr>
          <a:lstStyle/>
          <a:p>
            <a:pPr marL="0" indent="0">
              <a:lnSpc>
                <a:spcPct val="100000"/>
              </a:lnSpc>
              <a:buNone/>
            </a:pPr>
            <a:r>
              <a:rPr lang="en-US" sz="1800" b="1" dirty="0">
                <a:gradFill flip="none" rotWithShape="0">
                  <a:gsLst>
                    <a:gs pos="0">
                      <a:srgbClr val="30B0FE">
                        <a:alpha val="77000"/>
                      </a:srgbClr>
                    </a:gs>
                    <a:gs pos="10000">
                      <a:srgbClr val="30B0FE">
                        <a:alpha val="77000"/>
                      </a:srgbClr>
                    </a:gs>
                    <a:gs pos="70000">
                      <a:srgbClr val="5684E9"/>
                    </a:gs>
                    <a:gs pos="100000">
                      <a:srgbClr val="014BB5"/>
                    </a:gs>
                  </a:gsLst>
                  <a:lin ang="4800000" scaled="1"/>
                </a:gradFill>
                <a:latin typeface="MiSans" pitchFamily="34" charset="0"/>
                <a:ea typeface="MiSans" pitchFamily="34" charset="-122"/>
                <a:cs typeface="MiSans" pitchFamily="34" charset="-120"/>
              </a:rPr>
              <a:t>Trigger y Output</a:t>
            </a:r>
            <a:endParaRPr lang="en-US" sz="1600" dirty="0"/>
          </a:p>
        </p:txBody>
      </p:sp>
      <p:sp>
        <p:nvSpPr>
          <p:cNvPr id="27" name="Text 22"/>
          <p:cNvSpPr/>
          <p:nvPr/>
        </p:nvSpPr>
        <p:spPr>
          <a:xfrm>
            <a:off x="1219226" y="4538407"/>
            <a:ext cx="4741291" cy="1679691"/>
          </a:xfrm>
          <a:prstGeom prst="rect">
            <a:avLst/>
          </a:prstGeom>
          <a:noFill/>
          <a:ln/>
        </p:spPr>
        <p:txBody>
          <a:bodyPr wrap="square" lIns="91440" tIns="45720" rIns="91440" bIns="45720" rtlCol="0" anchor="t">
            <a:spAutoFit/>
          </a:bodyPr>
          <a:lstStyle/>
          <a:p>
            <a:pPr marL="0" indent="0">
              <a:lnSpc>
                <a:spcPct val="150000"/>
              </a:lnSpc>
              <a:buNone/>
            </a:pPr>
            <a:r>
              <a:rPr lang="en-US" sz="1400" dirty="0">
                <a:solidFill>
                  <a:srgbClr val="FFFFFF"/>
                </a:solidFill>
                <a:latin typeface="MiSans" pitchFamily="34" charset="0"/>
                <a:ea typeface="MiSans" pitchFamily="34" charset="-122"/>
                <a:cs typeface="MiSans" pitchFamily="34" charset="-120"/>
              </a:rPr>
              <a:t>El pin 2 (Trigger) activa el temporizador al recibir un pulso, mientras que el pin 3 (Output) proporciona la señal de salida digital, que puede ser alta o baja según el estado del temporizador.</a:t>
            </a:r>
            <a:endParaRPr lang="en-US" sz="1600" dirty="0"/>
          </a:p>
        </p:txBody>
      </p:sp>
      <p:sp>
        <p:nvSpPr>
          <p:cNvPr id="28" name="Text 23"/>
          <p:cNvSpPr/>
          <p:nvPr/>
        </p:nvSpPr>
        <p:spPr>
          <a:xfrm>
            <a:off x="6646566" y="1841320"/>
            <a:ext cx="3100070" cy="276860"/>
          </a:xfrm>
          <a:prstGeom prst="rect">
            <a:avLst/>
          </a:prstGeom>
          <a:noFill/>
          <a:ln/>
        </p:spPr>
        <p:txBody>
          <a:bodyPr wrap="square" lIns="0" tIns="0" rIns="0" bIns="0" rtlCol="0" anchor="t">
            <a:spAutoFit/>
          </a:bodyPr>
          <a:lstStyle/>
          <a:p>
            <a:pPr marL="0" indent="0">
              <a:lnSpc>
                <a:spcPct val="100000"/>
              </a:lnSpc>
              <a:buNone/>
            </a:pPr>
            <a:r>
              <a:rPr lang="en-US" sz="1800" b="1" dirty="0">
                <a:gradFill flip="none" rotWithShape="0">
                  <a:gsLst>
                    <a:gs pos="0">
                      <a:srgbClr val="30B0FE">
                        <a:alpha val="77000"/>
                      </a:srgbClr>
                    </a:gs>
                    <a:gs pos="10000">
                      <a:srgbClr val="30B0FE">
                        <a:alpha val="77000"/>
                      </a:srgbClr>
                    </a:gs>
                    <a:gs pos="70000">
                      <a:srgbClr val="5684E9"/>
                    </a:gs>
                    <a:gs pos="100000">
                      <a:srgbClr val="014BB5"/>
                    </a:gs>
                  </a:gsLst>
                  <a:lin ang="4800000" scaled="1"/>
                </a:gradFill>
                <a:latin typeface="MiSans" pitchFamily="34" charset="0"/>
                <a:ea typeface="MiSans" pitchFamily="34" charset="-122"/>
                <a:cs typeface="MiSans" pitchFamily="34" charset="-120"/>
              </a:rPr>
              <a:t>Reset y Control</a:t>
            </a:r>
            <a:endParaRPr lang="en-US" sz="1600" dirty="0"/>
          </a:p>
        </p:txBody>
      </p:sp>
      <p:sp>
        <p:nvSpPr>
          <p:cNvPr id="29" name="Text 24"/>
          <p:cNvSpPr/>
          <p:nvPr/>
        </p:nvSpPr>
        <p:spPr>
          <a:xfrm>
            <a:off x="6366958" y="2195800"/>
            <a:ext cx="4741301" cy="1679691"/>
          </a:xfrm>
          <a:prstGeom prst="rect">
            <a:avLst/>
          </a:prstGeom>
          <a:noFill/>
          <a:ln/>
        </p:spPr>
        <p:txBody>
          <a:bodyPr wrap="square" lIns="91440" tIns="45720" rIns="91440" bIns="45720" rtlCol="0" anchor="t">
            <a:spAutoFit/>
          </a:bodyPr>
          <a:lstStyle/>
          <a:p>
            <a:pPr marL="0" indent="0">
              <a:lnSpc>
                <a:spcPct val="150000"/>
              </a:lnSpc>
              <a:buNone/>
            </a:pPr>
            <a:r>
              <a:rPr lang="en-US" sz="1400" dirty="0">
                <a:solidFill>
                  <a:srgbClr val="FFFFFF"/>
                </a:solidFill>
                <a:latin typeface="MiSans" pitchFamily="34" charset="0"/>
                <a:ea typeface="MiSans" pitchFamily="34" charset="-122"/>
                <a:cs typeface="MiSans" pitchFamily="34" charset="-120"/>
              </a:rPr>
              <a:t>El pin 4 (Reset) reinicia el temporizador, mientras que el pin 5 (Control) permite ajustar el voltaje de referencia, lo que es útil para modular el ancho del pulso.</a:t>
            </a:r>
            <a:endParaRPr lang="en-US" sz="1600" dirty="0"/>
          </a:p>
        </p:txBody>
      </p:sp>
      <p:sp>
        <p:nvSpPr>
          <p:cNvPr id="30" name="Text 25"/>
          <p:cNvSpPr/>
          <p:nvPr/>
        </p:nvSpPr>
        <p:spPr>
          <a:xfrm>
            <a:off x="6646566" y="4183927"/>
            <a:ext cx="3100070" cy="276860"/>
          </a:xfrm>
          <a:prstGeom prst="rect">
            <a:avLst/>
          </a:prstGeom>
          <a:noFill/>
          <a:ln/>
        </p:spPr>
        <p:txBody>
          <a:bodyPr wrap="square" lIns="0" tIns="0" rIns="0" bIns="0" rtlCol="0" anchor="t">
            <a:spAutoFit/>
          </a:bodyPr>
          <a:lstStyle/>
          <a:p>
            <a:pPr marL="0" indent="0">
              <a:lnSpc>
                <a:spcPct val="100000"/>
              </a:lnSpc>
              <a:buNone/>
            </a:pPr>
            <a:r>
              <a:rPr lang="en-US" sz="1800" b="1" dirty="0">
                <a:gradFill flip="none" rotWithShape="0">
                  <a:gsLst>
                    <a:gs pos="0">
                      <a:srgbClr val="30B0FE">
                        <a:alpha val="77000"/>
                      </a:srgbClr>
                    </a:gs>
                    <a:gs pos="10000">
                      <a:srgbClr val="30B0FE">
                        <a:alpha val="77000"/>
                      </a:srgbClr>
                    </a:gs>
                    <a:gs pos="70000">
                      <a:srgbClr val="5684E9"/>
                    </a:gs>
                    <a:gs pos="100000">
                      <a:srgbClr val="014BB5"/>
                    </a:gs>
                  </a:gsLst>
                  <a:lin ang="4800000" scaled="1"/>
                </a:gradFill>
                <a:latin typeface="MiSans" pitchFamily="34" charset="0"/>
                <a:ea typeface="MiSans" pitchFamily="34" charset="-122"/>
                <a:cs typeface="MiSans" pitchFamily="34" charset="-120"/>
              </a:rPr>
              <a:t>Threshold y Discharge</a:t>
            </a:r>
            <a:endParaRPr lang="en-US" sz="1600" dirty="0"/>
          </a:p>
        </p:txBody>
      </p:sp>
      <p:sp>
        <p:nvSpPr>
          <p:cNvPr id="31" name="Text 26"/>
          <p:cNvSpPr/>
          <p:nvPr/>
        </p:nvSpPr>
        <p:spPr>
          <a:xfrm>
            <a:off x="6366958" y="4538407"/>
            <a:ext cx="4741291" cy="1679691"/>
          </a:xfrm>
          <a:prstGeom prst="rect">
            <a:avLst/>
          </a:prstGeom>
          <a:noFill/>
          <a:ln/>
        </p:spPr>
        <p:txBody>
          <a:bodyPr wrap="square" lIns="91440" tIns="45720" rIns="91440" bIns="45720" rtlCol="0" anchor="t">
            <a:spAutoFit/>
          </a:bodyPr>
          <a:lstStyle/>
          <a:p>
            <a:pPr marL="0" indent="0">
              <a:lnSpc>
                <a:spcPct val="150000"/>
              </a:lnSpc>
              <a:buNone/>
            </a:pPr>
            <a:r>
              <a:rPr lang="en-US" sz="1400" dirty="0">
                <a:solidFill>
                  <a:srgbClr val="FFFFFF"/>
                </a:solidFill>
                <a:latin typeface="MiSans" pitchFamily="34" charset="0"/>
                <a:ea typeface="MiSans" pitchFamily="34" charset="-122"/>
                <a:cs typeface="MiSans" pitchFamily="34" charset="-120"/>
              </a:rPr>
              <a:t>El pin 6 (Threshold) detiene la carga del capacitor, mientras que el pin 7 (Discharge) controla la descarga del capacitor, permitiendo un control preciso del tiempo.</a:t>
            </a:r>
            <a:endParaRPr lang="en-US" sz="1600" dirty="0"/>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2:12-d2nf7h18bjvh7rlj0650.jpg"/>
          <p:cNvPicPr>
            <a:picLocks noChangeAspect="1"/>
          </p:cNvPicPr>
          <p:nvPr/>
        </p:nvPicPr>
        <p:blipFill>
          <a:blip r:embed="rId3"/>
          <a:srcRect/>
          <a:stretch/>
        </p:blipFill>
        <p:spPr>
          <a:xfrm>
            <a:off x="0" y="3426"/>
            <a:ext cx="12191999" cy="6864626"/>
          </a:xfrm>
          <a:prstGeom prst="rect">
            <a:avLst/>
          </a:prstGeom>
        </p:spPr>
      </p:pic>
      <p:sp>
        <p:nvSpPr>
          <p:cNvPr id="3" name="Text 0"/>
          <p:cNvSpPr/>
          <p:nvPr/>
        </p:nvSpPr>
        <p:spPr>
          <a:xfrm>
            <a:off x="4119359" y="3709831"/>
            <a:ext cx="3832016" cy="984885"/>
          </a:xfrm>
          <a:prstGeom prst="rect">
            <a:avLst/>
          </a:prstGeom>
          <a:noFill/>
          <a:ln/>
        </p:spPr>
        <p:txBody>
          <a:bodyPr wrap="square" lIns="0" tIns="0" rIns="0" bIns="0" rtlCol="0" anchor="t">
            <a:spAutoFit/>
          </a:bodyPr>
          <a:lstStyle/>
          <a:p>
            <a:pPr marL="0" indent="0" algn="ctr">
              <a:lnSpc>
                <a:spcPct val="100000"/>
              </a:lnSpc>
              <a:buNone/>
            </a:pPr>
            <a:r>
              <a:rPr lang="en-US" sz="3200" dirty="0">
                <a:solidFill>
                  <a:srgbClr val="FFFFFF"/>
                </a:solidFill>
                <a:latin typeface="MiSans" pitchFamily="34" charset="0"/>
                <a:ea typeface="MiSans" pitchFamily="34" charset="-122"/>
                <a:cs typeface="MiSans" pitchFamily="34" charset="-120"/>
              </a:rPr>
              <a:t>Funcionamiento Interno</a:t>
            </a:r>
            <a:endParaRPr lang="en-US" sz="1600" dirty="0"/>
          </a:p>
        </p:txBody>
      </p:sp>
      <p:sp>
        <p:nvSpPr>
          <p:cNvPr id="4" name="Shape 1"/>
          <p:cNvSpPr/>
          <p:nvPr/>
        </p:nvSpPr>
        <p:spPr>
          <a:xfrm>
            <a:off x="779721" y="6270738"/>
            <a:ext cx="0" cy="125950"/>
          </a:xfrm>
          <a:prstGeom prst="line">
            <a:avLst/>
          </a:prstGeom>
          <a:noFill/>
          <a:ln w="12700">
            <a:solidFill>
              <a:srgbClr val="FFFFFF"/>
            </a:solidFill>
            <a:prstDash val="solid"/>
            <a:headEnd type="none"/>
            <a:tailEnd type="none"/>
          </a:ln>
        </p:spPr>
        <p:txBody>
          <a:bodyPr/>
          <a:lstStyle/>
          <a:p>
            <a:endParaRPr lang="en-US"/>
          </a:p>
        </p:txBody>
      </p:sp>
      <p:sp>
        <p:nvSpPr>
          <p:cNvPr id="5" name="Shape 2"/>
          <p:cNvSpPr/>
          <p:nvPr/>
        </p:nvSpPr>
        <p:spPr>
          <a:xfrm>
            <a:off x="867722" y="6270738"/>
            <a:ext cx="0" cy="125950"/>
          </a:xfrm>
          <a:prstGeom prst="line">
            <a:avLst/>
          </a:prstGeom>
          <a:noFill/>
          <a:ln w="12700">
            <a:solidFill>
              <a:srgbClr val="FFFFFF"/>
            </a:solidFill>
            <a:prstDash val="solid"/>
            <a:headEnd type="none"/>
            <a:tailEnd type="none"/>
          </a:ln>
        </p:spPr>
        <p:txBody>
          <a:bodyPr/>
          <a:lstStyle/>
          <a:p>
            <a:endParaRPr lang="en-US"/>
          </a:p>
        </p:txBody>
      </p:sp>
      <p:sp>
        <p:nvSpPr>
          <p:cNvPr id="6" name="Shape 3"/>
          <p:cNvSpPr/>
          <p:nvPr/>
        </p:nvSpPr>
        <p:spPr>
          <a:xfrm>
            <a:off x="955722" y="6166356"/>
            <a:ext cx="0" cy="220414"/>
          </a:xfrm>
          <a:prstGeom prst="line">
            <a:avLst/>
          </a:prstGeom>
          <a:noFill/>
          <a:ln w="12700">
            <a:solidFill>
              <a:srgbClr val="FFFFFF"/>
            </a:solidFill>
            <a:prstDash val="solid"/>
            <a:headEnd type="none"/>
            <a:tailEnd type="none"/>
          </a:ln>
        </p:spPr>
        <p:txBody>
          <a:bodyPr/>
          <a:lstStyle/>
          <a:p>
            <a:endParaRPr lang="en-US"/>
          </a:p>
        </p:txBody>
      </p:sp>
      <p:sp>
        <p:nvSpPr>
          <p:cNvPr id="7" name="Shape 4"/>
          <p:cNvSpPr/>
          <p:nvPr/>
        </p:nvSpPr>
        <p:spPr>
          <a:xfrm>
            <a:off x="1043723" y="6270738"/>
            <a:ext cx="0" cy="125950"/>
          </a:xfrm>
          <a:prstGeom prst="line">
            <a:avLst/>
          </a:prstGeom>
          <a:noFill/>
          <a:ln w="12700">
            <a:solidFill>
              <a:srgbClr val="FFFFFF"/>
            </a:solidFill>
            <a:prstDash val="solid"/>
            <a:headEnd type="none"/>
            <a:tailEnd type="none"/>
          </a:ln>
        </p:spPr>
        <p:txBody>
          <a:bodyPr/>
          <a:lstStyle/>
          <a:p>
            <a:endParaRPr lang="en-US"/>
          </a:p>
        </p:txBody>
      </p:sp>
      <p:sp>
        <p:nvSpPr>
          <p:cNvPr id="8" name="Shape 5"/>
          <p:cNvSpPr/>
          <p:nvPr/>
        </p:nvSpPr>
        <p:spPr>
          <a:xfrm>
            <a:off x="1131723" y="6270738"/>
            <a:ext cx="0" cy="125950"/>
          </a:xfrm>
          <a:prstGeom prst="line">
            <a:avLst/>
          </a:prstGeom>
          <a:noFill/>
          <a:ln w="12700">
            <a:solidFill>
              <a:srgbClr val="FFFFFF"/>
            </a:solidFill>
            <a:prstDash val="solid"/>
            <a:headEnd type="none"/>
            <a:tailEnd type="none"/>
          </a:ln>
        </p:spPr>
        <p:txBody>
          <a:bodyPr/>
          <a:lstStyle/>
          <a:p>
            <a:endParaRPr lang="en-US"/>
          </a:p>
        </p:txBody>
      </p:sp>
      <p:sp>
        <p:nvSpPr>
          <p:cNvPr id="9" name="Shape 6"/>
          <p:cNvSpPr/>
          <p:nvPr/>
        </p:nvSpPr>
        <p:spPr>
          <a:xfrm>
            <a:off x="10796832" y="6396446"/>
            <a:ext cx="116844" cy="116844"/>
          </a:xfrm>
          <a:prstGeom prst="ellipse">
            <a:avLst/>
          </a:prstGeom>
          <a:solidFill>
            <a:srgbClr val="FFFFFF"/>
          </a:solidFill>
          <a:ln/>
        </p:spPr>
        <p:txBody>
          <a:bodyPr/>
          <a:lstStyle/>
          <a:p>
            <a:endParaRPr lang="en-US"/>
          </a:p>
        </p:txBody>
      </p:sp>
      <p:sp>
        <p:nvSpPr>
          <p:cNvPr id="10" name="Text 7"/>
          <p:cNvSpPr/>
          <p:nvPr/>
        </p:nvSpPr>
        <p:spPr>
          <a:xfrm>
            <a:off x="10796832" y="6396446"/>
            <a:ext cx="116844" cy="116844"/>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1" name="Shape 8"/>
          <p:cNvSpPr/>
          <p:nvPr/>
        </p:nvSpPr>
        <p:spPr>
          <a:xfrm>
            <a:off x="10989337" y="6396446"/>
            <a:ext cx="116844" cy="116844"/>
          </a:xfrm>
          <a:prstGeom prst="ellipse">
            <a:avLst/>
          </a:prstGeom>
          <a:solidFill>
            <a:srgbClr val="FFFFFF">
              <a:alpha val="56471"/>
            </a:srgbClr>
          </a:solidFill>
          <a:ln/>
        </p:spPr>
        <p:txBody>
          <a:bodyPr/>
          <a:lstStyle/>
          <a:p>
            <a:endParaRPr lang="en-US"/>
          </a:p>
        </p:txBody>
      </p:sp>
      <p:sp>
        <p:nvSpPr>
          <p:cNvPr id="12" name="Text 9"/>
          <p:cNvSpPr/>
          <p:nvPr/>
        </p:nvSpPr>
        <p:spPr>
          <a:xfrm>
            <a:off x="10989337" y="6396446"/>
            <a:ext cx="116844" cy="116844"/>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3" name="Shape 10"/>
          <p:cNvSpPr/>
          <p:nvPr/>
        </p:nvSpPr>
        <p:spPr>
          <a:xfrm>
            <a:off x="11186107" y="6396446"/>
            <a:ext cx="116844" cy="116844"/>
          </a:xfrm>
          <a:prstGeom prst="ellipse">
            <a:avLst/>
          </a:prstGeom>
          <a:solidFill>
            <a:srgbClr val="FFFFFF"/>
          </a:solidFill>
          <a:ln/>
        </p:spPr>
        <p:txBody>
          <a:bodyPr/>
          <a:lstStyle/>
          <a:p>
            <a:endParaRPr lang="en-US"/>
          </a:p>
        </p:txBody>
      </p:sp>
      <p:sp>
        <p:nvSpPr>
          <p:cNvPr id="14" name="Text 11"/>
          <p:cNvSpPr/>
          <p:nvPr/>
        </p:nvSpPr>
        <p:spPr>
          <a:xfrm>
            <a:off x="11186107" y="6396446"/>
            <a:ext cx="116844" cy="116844"/>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5" name="Shape 12"/>
          <p:cNvSpPr/>
          <p:nvPr/>
        </p:nvSpPr>
        <p:spPr>
          <a:xfrm>
            <a:off x="11382877" y="6396446"/>
            <a:ext cx="116844" cy="116844"/>
          </a:xfrm>
          <a:prstGeom prst="ellipse">
            <a:avLst/>
          </a:prstGeom>
          <a:solidFill>
            <a:srgbClr val="FFFFFF">
              <a:alpha val="56471"/>
            </a:srgbClr>
          </a:solidFill>
          <a:ln/>
        </p:spPr>
        <p:txBody>
          <a:bodyPr/>
          <a:lstStyle/>
          <a:p>
            <a:endParaRPr lang="en-US"/>
          </a:p>
        </p:txBody>
      </p:sp>
      <p:sp>
        <p:nvSpPr>
          <p:cNvPr id="16" name="Text 13"/>
          <p:cNvSpPr/>
          <p:nvPr/>
        </p:nvSpPr>
        <p:spPr>
          <a:xfrm>
            <a:off x="11382877" y="6396446"/>
            <a:ext cx="116844" cy="116844"/>
          </a:xfrm>
          <a:prstGeom prst="rect">
            <a:avLst/>
          </a:prstGeom>
          <a:noFill/>
          <a:ln/>
        </p:spPr>
        <p:txBody>
          <a:bodyPr wrap="square" lIns="45720" tIns="91440" rIns="91440" bIns="45720" rtlCol="0" anchor="ctr"/>
          <a:lstStyle/>
          <a:p>
            <a:pPr marL="0" indent="0">
              <a:lnSpc>
                <a:spcPct val="100000"/>
              </a:lnSpc>
              <a:buNone/>
            </a:pPr>
            <a:endParaRPr lang="en-US" sz="1600" dirty="0"/>
          </a:p>
        </p:txBody>
      </p:sp>
      <p:pic>
        <p:nvPicPr>
          <p:cNvPr id="17" name="Image 1" descr="https://kimi-img.moonshot.cn/pub/slides/slides_tmpl/image/25-08-27-20:02:06-d2nf7fh8bjvh7rlj0600.png"/>
          <p:cNvPicPr>
            <a:picLocks noChangeAspect="1"/>
          </p:cNvPicPr>
          <p:nvPr/>
        </p:nvPicPr>
        <p:blipFill>
          <a:blip r:embed="rId4"/>
          <a:stretch>
            <a:fillRect/>
          </a:stretch>
        </p:blipFill>
        <p:spPr>
          <a:xfrm>
            <a:off x="4267199" y="3446152"/>
            <a:ext cx="3657600" cy="12700"/>
          </a:xfrm>
          <a:prstGeom prst="rect">
            <a:avLst/>
          </a:prstGeom>
        </p:spPr>
      </p:pic>
      <p:sp>
        <p:nvSpPr>
          <p:cNvPr id="18" name="Shape 14"/>
          <p:cNvSpPr/>
          <p:nvPr/>
        </p:nvSpPr>
        <p:spPr>
          <a:xfrm>
            <a:off x="4893310" y="1477010"/>
            <a:ext cx="2284095" cy="2335530"/>
          </a:xfrm>
          <a:prstGeom prst="rect">
            <a:avLst/>
          </a:prstGeom>
          <a:solidFill>
            <a:srgbClr val="000000">
              <a:alpha val="0"/>
            </a:srgbClr>
          </a:solidFill>
          <a:ln/>
        </p:spPr>
        <p:txBody>
          <a:bodyPr/>
          <a:lstStyle/>
          <a:p>
            <a:endParaRPr lang="en-US"/>
          </a:p>
        </p:txBody>
      </p:sp>
      <p:sp>
        <p:nvSpPr>
          <p:cNvPr id="19" name="Text 15"/>
          <p:cNvSpPr/>
          <p:nvPr/>
        </p:nvSpPr>
        <p:spPr>
          <a:xfrm>
            <a:off x="4893310" y="1477010"/>
            <a:ext cx="2284095" cy="2335530"/>
          </a:xfrm>
          <a:prstGeom prst="rect">
            <a:avLst/>
          </a:prstGeom>
          <a:noFill/>
          <a:ln/>
        </p:spPr>
        <p:txBody>
          <a:bodyPr wrap="square" lIns="0" tIns="0" rIns="0" bIns="0" rtlCol="0" anchor="t"/>
          <a:lstStyle/>
          <a:p>
            <a:pPr marL="0" indent="0">
              <a:lnSpc>
                <a:spcPct val="110000"/>
              </a:lnSpc>
              <a:buNone/>
            </a:pPr>
            <a:r>
              <a:rPr lang="en-US" sz="13800" dirty="0">
                <a:gradFill flip="none" rotWithShape="0">
                  <a:gsLst>
                    <a:gs pos="0">
                      <a:srgbClr val="FFFFFF">
                        <a:alpha val="61000"/>
                      </a:srgbClr>
                    </a:gs>
                    <a:gs pos="28000">
                      <a:srgbClr val="FFFFFF">
                        <a:alpha val="61000"/>
                      </a:srgbClr>
                    </a:gs>
                    <a:gs pos="78000">
                      <a:srgbClr val="FFFFFF"/>
                    </a:gs>
                    <a:gs pos="100000">
                      <a:srgbClr val="FFFFFF"/>
                    </a:gs>
                  </a:gsLst>
                  <a:path path="circle">
                    <a:fillToRect r="100000" b="100000"/>
                  </a:path>
                  <a:tileRect l="-100000" t="-100000"/>
                </a:gradFill>
                <a:latin typeface="PingFang SC Medium" pitchFamily="34" charset="0"/>
                <a:ea typeface="PingFang SC Medium" pitchFamily="34" charset="-122"/>
                <a:cs typeface="PingFang SC Medium" pitchFamily="34" charset="-120"/>
              </a:rPr>
              <a:t>03</a:t>
            </a:r>
            <a:endParaRPr lang="en-US" sz="1600" dirty="0"/>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2:10-d2nf7gh8bjvh7rlj061g.jpg"/>
          <p:cNvPicPr>
            <a:picLocks noChangeAspect="1"/>
          </p:cNvPicPr>
          <p:nvPr/>
        </p:nvPicPr>
        <p:blipFill>
          <a:blip r:embed="rId3"/>
          <a:stretch>
            <a:fillRect/>
          </a:stretch>
        </p:blipFill>
        <p:spPr>
          <a:xfrm>
            <a:off x="0" y="0"/>
            <a:ext cx="12192000" cy="6864626"/>
          </a:xfrm>
          <a:prstGeom prst="rect">
            <a:avLst/>
          </a:prstGeom>
        </p:spPr>
      </p:pic>
      <p:pic>
        <p:nvPicPr>
          <p:cNvPr id="3" name="Image 1" descr="https://kimi-img.moonshot.cn/pub/slides/slides_tmpl/image/25-08-27-20:02:14-d2nf7hh8bjvh7rlj069g.png"/>
          <p:cNvPicPr>
            <a:picLocks noChangeAspect="1"/>
          </p:cNvPicPr>
          <p:nvPr/>
        </p:nvPicPr>
        <p:blipFill>
          <a:blip r:embed="rId4"/>
          <a:stretch>
            <a:fillRect/>
          </a:stretch>
        </p:blipFill>
        <p:spPr>
          <a:xfrm>
            <a:off x="-470398" y="-304800"/>
            <a:ext cx="13029241" cy="7676341"/>
          </a:xfrm>
          <a:prstGeom prst="rect">
            <a:avLst/>
          </a:prstGeom>
        </p:spPr>
      </p:pic>
      <p:sp>
        <p:nvSpPr>
          <p:cNvPr id="4" name="Shape 0"/>
          <p:cNvSpPr/>
          <p:nvPr/>
        </p:nvSpPr>
        <p:spPr>
          <a:xfrm>
            <a:off x="691721" y="6176992"/>
            <a:ext cx="0" cy="125950"/>
          </a:xfrm>
          <a:prstGeom prst="line">
            <a:avLst/>
          </a:prstGeom>
          <a:noFill/>
          <a:ln w="12700">
            <a:solidFill>
              <a:srgbClr val="FFFFFF"/>
            </a:solidFill>
            <a:prstDash val="solid"/>
            <a:headEnd type="none"/>
            <a:tailEnd type="none"/>
          </a:ln>
        </p:spPr>
        <p:txBody>
          <a:bodyPr/>
          <a:lstStyle/>
          <a:p>
            <a:endParaRPr lang="en-US"/>
          </a:p>
        </p:txBody>
      </p:sp>
      <p:sp>
        <p:nvSpPr>
          <p:cNvPr id="5" name="Shape 1"/>
          <p:cNvSpPr/>
          <p:nvPr/>
        </p:nvSpPr>
        <p:spPr>
          <a:xfrm>
            <a:off x="779722" y="6176992"/>
            <a:ext cx="0" cy="125950"/>
          </a:xfrm>
          <a:prstGeom prst="line">
            <a:avLst/>
          </a:prstGeom>
          <a:noFill/>
          <a:ln w="12700">
            <a:solidFill>
              <a:srgbClr val="FFFFFF"/>
            </a:solidFill>
            <a:prstDash val="solid"/>
            <a:headEnd type="none"/>
            <a:tailEnd type="none"/>
          </a:ln>
        </p:spPr>
        <p:txBody>
          <a:bodyPr/>
          <a:lstStyle/>
          <a:p>
            <a:endParaRPr lang="en-US"/>
          </a:p>
        </p:txBody>
      </p:sp>
      <p:sp>
        <p:nvSpPr>
          <p:cNvPr id="6" name="Shape 2"/>
          <p:cNvSpPr/>
          <p:nvPr/>
        </p:nvSpPr>
        <p:spPr>
          <a:xfrm>
            <a:off x="867722" y="6072610"/>
            <a:ext cx="0" cy="220414"/>
          </a:xfrm>
          <a:prstGeom prst="line">
            <a:avLst/>
          </a:prstGeom>
          <a:noFill/>
          <a:ln w="12700">
            <a:solidFill>
              <a:srgbClr val="FFFFFF"/>
            </a:solidFill>
            <a:prstDash val="solid"/>
            <a:headEnd type="none"/>
            <a:tailEnd type="none"/>
          </a:ln>
        </p:spPr>
        <p:txBody>
          <a:bodyPr/>
          <a:lstStyle/>
          <a:p>
            <a:endParaRPr lang="en-US"/>
          </a:p>
        </p:txBody>
      </p:sp>
      <p:sp>
        <p:nvSpPr>
          <p:cNvPr id="7" name="Shape 3"/>
          <p:cNvSpPr/>
          <p:nvPr/>
        </p:nvSpPr>
        <p:spPr>
          <a:xfrm>
            <a:off x="955723" y="6176992"/>
            <a:ext cx="0" cy="125950"/>
          </a:xfrm>
          <a:prstGeom prst="line">
            <a:avLst/>
          </a:prstGeom>
          <a:noFill/>
          <a:ln w="12700">
            <a:solidFill>
              <a:srgbClr val="FFFFFF"/>
            </a:solidFill>
            <a:prstDash val="solid"/>
            <a:headEnd type="none"/>
            <a:tailEnd type="none"/>
          </a:ln>
        </p:spPr>
        <p:txBody>
          <a:bodyPr/>
          <a:lstStyle/>
          <a:p>
            <a:endParaRPr lang="en-US"/>
          </a:p>
        </p:txBody>
      </p:sp>
      <p:sp>
        <p:nvSpPr>
          <p:cNvPr id="8" name="Shape 4"/>
          <p:cNvSpPr/>
          <p:nvPr/>
        </p:nvSpPr>
        <p:spPr>
          <a:xfrm>
            <a:off x="1043723" y="6176992"/>
            <a:ext cx="0" cy="125950"/>
          </a:xfrm>
          <a:prstGeom prst="line">
            <a:avLst/>
          </a:prstGeom>
          <a:noFill/>
          <a:ln w="12700">
            <a:solidFill>
              <a:srgbClr val="FFFFFF"/>
            </a:solidFill>
            <a:prstDash val="solid"/>
            <a:headEnd type="none"/>
            <a:tailEnd type="none"/>
          </a:ln>
        </p:spPr>
        <p:txBody>
          <a:bodyPr/>
          <a:lstStyle/>
          <a:p>
            <a:endParaRPr lang="en-US"/>
          </a:p>
        </p:txBody>
      </p:sp>
      <p:sp>
        <p:nvSpPr>
          <p:cNvPr id="9" name="Shape 5"/>
          <p:cNvSpPr/>
          <p:nvPr/>
        </p:nvSpPr>
        <p:spPr>
          <a:xfrm flipH="1">
            <a:off x="11451321" y="672670"/>
            <a:ext cx="77797" cy="72000"/>
          </a:xfrm>
          <a:prstGeom prst="ellipse">
            <a:avLst/>
          </a:prstGeom>
          <a:solidFill>
            <a:srgbClr val="FFFFFF"/>
          </a:solidFill>
          <a:ln/>
        </p:spPr>
        <p:txBody>
          <a:bodyPr/>
          <a:lstStyle/>
          <a:p>
            <a:endParaRPr lang="en-US"/>
          </a:p>
        </p:txBody>
      </p:sp>
      <p:sp>
        <p:nvSpPr>
          <p:cNvPr id="10" name="Text 6"/>
          <p:cNvSpPr/>
          <p:nvPr/>
        </p:nvSpPr>
        <p:spPr>
          <a:xfrm>
            <a:off x="11451321" y="672670"/>
            <a:ext cx="77797" cy="7200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1" name="Shape 7"/>
          <p:cNvSpPr/>
          <p:nvPr/>
        </p:nvSpPr>
        <p:spPr>
          <a:xfrm flipH="1">
            <a:off x="11319983" y="673749"/>
            <a:ext cx="77797" cy="72000"/>
          </a:xfrm>
          <a:prstGeom prst="ellipse">
            <a:avLst/>
          </a:prstGeom>
          <a:solidFill>
            <a:srgbClr val="FFFFFF">
              <a:alpha val="56471"/>
            </a:srgbClr>
          </a:solidFill>
          <a:ln/>
        </p:spPr>
        <p:txBody>
          <a:bodyPr/>
          <a:lstStyle/>
          <a:p>
            <a:endParaRPr lang="en-US"/>
          </a:p>
        </p:txBody>
      </p:sp>
      <p:sp>
        <p:nvSpPr>
          <p:cNvPr id="12" name="Text 8"/>
          <p:cNvSpPr/>
          <p:nvPr/>
        </p:nvSpPr>
        <p:spPr>
          <a:xfrm>
            <a:off x="11319983" y="673749"/>
            <a:ext cx="77797" cy="7200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3" name="Shape 9"/>
          <p:cNvSpPr/>
          <p:nvPr/>
        </p:nvSpPr>
        <p:spPr>
          <a:xfrm flipH="1">
            <a:off x="11192132" y="672670"/>
            <a:ext cx="77797" cy="72000"/>
          </a:xfrm>
          <a:prstGeom prst="ellipse">
            <a:avLst/>
          </a:prstGeom>
          <a:solidFill>
            <a:srgbClr val="FFFFFF"/>
          </a:solidFill>
          <a:ln/>
        </p:spPr>
        <p:txBody>
          <a:bodyPr/>
          <a:lstStyle/>
          <a:p>
            <a:endParaRPr lang="en-US"/>
          </a:p>
        </p:txBody>
      </p:sp>
      <p:sp>
        <p:nvSpPr>
          <p:cNvPr id="14" name="Text 10"/>
          <p:cNvSpPr/>
          <p:nvPr/>
        </p:nvSpPr>
        <p:spPr>
          <a:xfrm>
            <a:off x="11192132" y="672670"/>
            <a:ext cx="77797" cy="7200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5" name="Shape 11"/>
          <p:cNvSpPr/>
          <p:nvPr/>
        </p:nvSpPr>
        <p:spPr>
          <a:xfrm flipH="1">
            <a:off x="11061118" y="672670"/>
            <a:ext cx="77797" cy="72000"/>
          </a:xfrm>
          <a:prstGeom prst="ellipse">
            <a:avLst/>
          </a:prstGeom>
          <a:solidFill>
            <a:srgbClr val="FFFFFF">
              <a:alpha val="56471"/>
            </a:srgbClr>
          </a:solidFill>
          <a:ln/>
        </p:spPr>
        <p:txBody>
          <a:bodyPr/>
          <a:lstStyle/>
          <a:p>
            <a:endParaRPr lang="en-US"/>
          </a:p>
        </p:txBody>
      </p:sp>
      <p:sp>
        <p:nvSpPr>
          <p:cNvPr id="16" name="Text 12"/>
          <p:cNvSpPr/>
          <p:nvPr/>
        </p:nvSpPr>
        <p:spPr>
          <a:xfrm>
            <a:off x="11061118" y="672670"/>
            <a:ext cx="77797" cy="7200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7" name="Shape 13"/>
          <p:cNvSpPr/>
          <p:nvPr/>
        </p:nvSpPr>
        <p:spPr>
          <a:xfrm>
            <a:off x="11358882" y="6059762"/>
            <a:ext cx="226534" cy="220415"/>
          </a:xfrm>
          <a:prstGeom prst="rect">
            <a:avLst/>
          </a:prstGeom>
          <a:solidFill>
            <a:srgbClr val="FFFFFF"/>
          </a:solidFill>
          <a:ln/>
          <a:effectLst>
            <a:outerShdw blurRad="145102" dist="50800" dir="2700000" algn="bl" rotWithShape="0">
              <a:srgbClr val="FFFFFF">
                <a:alpha val="76078"/>
              </a:srgbClr>
            </a:outerShdw>
          </a:effectLst>
        </p:spPr>
        <p:txBody>
          <a:bodyPr/>
          <a:lstStyle/>
          <a:p>
            <a:endParaRPr lang="en-US"/>
          </a:p>
        </p:txBody>
      </p:sp>
      <p:sp>
        <p:nvSpPr>
          <p:cNvPr id="18" name="Text 14"/>
          <p:cNvSpPr/>
          <p:nvPr/>
        </p:nvSpPr>
        <p:spPr>
          <a:xfrm>
            <a:off x="11358882" y="6059762"/>
            <a:ext cx="226534" cy="22041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9" name="Shape 15"/>
          <p:cNvSpPr/>
          <p:nvPr/>
        </p:nvSpPr>
        <p:spPr>
          <a:xfrm rot="13500000">
            <a:off x="669125" y="3016063"/>
            <a:ext cx="224914" cy="224914"/>
          </a:xfrm>
          <a:prstGeom prst="rtTriangle">
            <a:avLst/>
          </a:prstGeom>
          <a:gradFill flip="none" rotWithShape="1">
            <a:gsLst>
              <a:gs pos="0">
                <a:srgbClr val="004BA0"/>
              </a:gs>
              <a:gs pos="50000">
                <a:srgbClr val="1F5EC3"/>
              </a:gs>
              <a:gs pos="100000">
                <a:srgbClr val="4E96D8"/>
              </a:gs>
            </a:gsLst>
            <a:lin ang="5400000" scaled="1"/>
          </a:gradFill>
          <a:ln/>
          <a:effectLst>
            <a:outerShdw blurRad="145102" dist="50800" dir="2700000" algn="bl" rotWithShape="0">
              <a:srgbClr val="517BDA">
                <a:alpha val="76471"/>
              </a:srgbClr>
            </a:outerShdw>
          </a:effectLst>
        </p:spPr>
        <p:txBody>
          <a:bodyPr/>
          <a:lstStyle/>
          <a:p>
            <a:endParaRPr lang="en-US"/>
          </a:p>
        </p:txBody>
      </p:sp>
      <p:sp>
        <p:nvSpPr>
          <p:cNvPr id="20" name="Text 16"/>
          <p:cNvSpPr/>
          <p:nvPr/>
        </p:nvSpPr>
        <p:spPr>
          <a:xfrm rot="13500000">
            <a:off x="669125" y="3016063"/>
            <a:ext cx="224914" cy="224914"/>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1" name="Text 17"/>
          <p:cNvSpPr/>
          <p:nvPr/>
        </p:nvSpPr>
        <p:spPr>
          <a:xfrm>
            <a:off x="542215" y="998076"/>
            <a:ext cx="8152877" cy="833184"/>
          </a:xfrm>
          <a:prstGeom prst="rect">
            <a:avLst/>
          </a:prstGeom>
          <a:noFill/>
          <a:ln/>
        </p:spPr>
        <p:txBody>
          <a:bodyPr wrap="square" lIns="91440" tIns="45720" rIns="91440" bIns="45720" rtlCol="0" anchor="t"/>
          <a:lstStyle/>
          <a:p>
            <a:pPr marL="0" indent="0">
              <a:lnSpc>
                <a:spcPct val="100000"/>
              </a:lnSpc>
              <a:buNone/>
            </a:pPr>
            <a:r>
              <a:rPr lang="en-US" sz="3600" b="1" dirty="0">
                <a:solidFill>
                  <a:srgbClr val="FFFFFF"/>
                </a:solidFill>
                <a:latin typeface="MiSans" pitchFamily="34" charset="0"/>
                <a:ea typeface="MiSans" pitchFamily="34" charset="-122"/>
                <a:cs typeface="MiSans" pitchFamily="34" charset="-120"/>
              </a:rPr>
              <a:t>Bloques internos que hacen tic-tac</a:t>
            </a:r>
            <a:endParaRPr lang="en-US" sz="1600" dirty="0"/>
          </a:p>
        </p:txBody>
      </p:sp>
      <p:pic>
        <p:nvPicPr>
          <p:cNvPr id="22" name="Image 2" descr="https://kimi-img.moonshot.cn/pub/slides/slides_tmpl/image/25-08-27-20:02:06-d2nf7fh8bjvh7rlj060g.png"/>
          <p:cNvPicPr>
            <a:picLocks noChangeAspect="1"/>
          </p:cNvPicPr>
          <p:nvPr/>
        </p:nvPicPr>
        <p:blipFill>
          <a:blip r:embed="rId5"/>
          <a:stretch>
            <a:fillRect/>
          </a:stretch>
        </p:blipFill>
        <p:spPr>
          <a:xfrm>
            <a:off x="662882" y="495145"/>
            <a:ext cx="1371600" cy="304800"/>
          </a:xfrm>
          <a:prstGeom prst="rect">
            <a:avLst/>
          </a:prstGeom>
        </p:spPr>
      </p:pic>
      <p:sp>
        <p:nvSpPr>
          <p:cNvPr id="23" name="Text 18"/>
          <p:cNvSpPr/>
          <p:nvPr/>
        </p:nvSpPr>
        <p:spPr>
          <a:xfrm>
            <a:off x="1037766" y="2987561"/>
            <a:ext cx="3421380" cy="307340"/>
          </a:xfrm>
          <a:prstGeom prst="rect">
            <a:avLst/>
          </a:prstGeom>
          <a:noFill/>
          <a:ln/>
        </p:spPr>
        <p:txBody>
          <a:bodyPr wrap="square" lIns="0" tIns="0" rIns="0" bIns="0" rtlCol="0" anchor="t">
            <a:spAutoFit/>
          </a:bodyPr>
          <a:lstStyle/>
          <a:p>
            <a:pPr marL="0" indent="0">
              <a:lnSpc>
                <a:spcPct val="100000"/>
              </a:lnSpc>
              <a:buNone/>
            </a:pPr>
            <a:r>
              <a:rPr lang="en-US" sz="2000" b="1" dirty="0">
                <a:gradFill flip="none" rotWithShape="0">
                  <a:gsLst>
                    <a:gs pos="0">
                      <a:srgbClr val="30B0FE">
                        <a:alpha val="77000"/>
                      </a:srgbClr>
                    </a:gs>
                    <a:gs pos="10000">
                      <a:srgbClr val="30B0FE">
                        <a:alpha val="77000"/>
                      </a:srgbClr>
                    </a:gs>
                    <a:gs pos="70000">
                      <a:srgbClr val="5684E9"/>
                    </a:gs>
                    <a:gs pos="100000">
                      <a:srgbClr val="014BB5"/>
                    </a:gs>
                  </a:gsLst>
                  <a:lin ang="4800000" scaled="1"/>
                </a:gradFill>
                <a:latin typeface="MiSans" pitchFamily="34" charset="0"/>
                <a:ea typeface="MiSans" pitchFamily="34" charset="-122"/>
                <a:cs typeface="MiSans" pitchFamily="34" charset="-120"/>
              </a:rPr>
              <a:t>Comparadores y Flip-Flop</a:t>
            </a:r>
            <a:endParaRPr lang="en-US" sz="1600" dirty="0"/>
          </a:p>
        </p:txBody>
      </p:sp>
      <p:sp>
        <p:nvSpPr>
          <p:cNvPr id="24" name="Text 19"/>
          <p:cNvSpPr/>
          <p:nvPr/>
        </p:nvSpPr>
        <p:spPr>
          <a:xfrm>
            <a:off x="643809" y="3365557"/>
            <a:ext cx="7241667" cy="1033360"/>
          </a:xfrm>
          <a:prstGeom prst="rect">
            <a:avLst/>
          </a:prstGeom>
          <a:noFill/>
          <a:ln/>
        </p:spPr>
        <p:txBody>
          <a:bodyPr wrap="square" lIns="91440" tIns="45720" rIns="91440" bIns="45720" rtlCol="0" anchor="t">
            <a:spAutoFit/>
          </a:bodyPr>
          <a:lstStyle/>
          <a:p>
            <a:pPr marL="0" indent="0">
              <a:lnSpc>
                <a:spcPct val="150000"/>
              </a:lnSpc>
              <a:buNone/>
            </a:pPr>
            <a:r>
              <a:rPr lang="en-US" sz="1400" dirty="0">
                <a:solidFill>
                  <a:srgbClr val="FFFFFF"/>
                </a:solidFill>
                <a:latin typeface="MiSans" pitchFamily="34" charset="0"/>
                <a:ea typeface="MiSans" pitchFamily="34" charset="-122"/>
                <a:cs typeface="MiSans" pitchFamily="34" charset="-120"/>
              </a:rPr>
              <a:t>El NE555 consta de comparadores de voltaje que monitorean los niveles en los pines 2 y 6, un flip-flop RS que almacena el estado de salida y un transistor de descarga que controla el capacitor. Las resistencias internas de 5kΩ generan referencias precisas de 1/3 y 2/3 del voltaje de alimentación.</a:t>
            </a:r>
            <a:endParaRPr lang="en-US" sz="1600" dirty="0"/>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2:12-d2nf7h18bjvh7rlj0650.jpg"/>
          <p:cNvPicPr>
            <a:picLocks noChangeAspect="1"/>
          </p:cNvPicPr>
          <p:nvPr/>
        </p:nvPicPr>
        <p:blipFill>
          <a:blip r:embed="rId3"/>
          <a:srcRect/>
          <a:stretch/>
        </p:blipFill>
        <p:spPr>
          <a:xfrm>
            <a:off x="0" y="3426"/>
            <a:ext cx="12191999" cy="6864626"/>
          </a:xfrm>
          <a:prstGeom prst="rect">
            <a:avLst/>
          </a:prstGeom>
        </p:spPr>
      </p:pic>
      <p:sp>
        <p:nvSpPr>
          <p:cNvPr id="3" name="Text 0"/>
          <p:cNvSpPr/>
          <p:nvPr/>
        </p:nvSpPr>
        <p:spPr>
          <a:xfrm>
            <a:off x="4119359" y="3709831"/>
            <a:ext cx="3832016" cy="984885"/>
          </a:xfrm>
          <a:prstGeom prst="rect">
            <a:avLst/>
          </a:prstGeom>
          <a:noFill/>
          <a:ln/>
        </p:spPr>
        <p:txBody>
          <a:bodyPr wrap="square" lIns="0" tIns="0" rIns="0" bIns="0" rtlCol="0" anchor="t">
            <a:spAutoFit/>
          </a:bodyPr>
          <a:lstStyle/>
          <a:p>
            <a:pPr marL="0" indent="0" algn="ctr">
              <a:lnSpc>
                <a:spcPct val="100000"/>
              </a:lnSpc>
              <a:buNone/>
            </a:pPr>
            <a:r>
              <a:rPr lang="en-US" sz="3200" dirty="0">
                <a:solidFill>
                  <a:srgbClr val="FFFFFF"/>
                </a:solidFill>
                <a:latin typeface="MiSans" pitchFamily="34" charset="0"/>
                <a:ea typeface="MiSans" pitchFamily="34" charset="-122"/>
                <a:cs typeface="MiSans" pitchFamily="34" charset="-120"/>
              </a:rPr>
              <a:t>Modos de Operación</a:t>
            </a:r>
            <a:endParaRPr lang="en-US" sz="1600" dirty="0"/>
          </a:p>
        </p:txBody>
      </p:sp>
      <p:sp>
        <p:nvSpPr>
          <p:cNvPr id="4" name="Shape 1"/>
          <p:cNvSpPr/>
          <p:nvPr/>
        </p:nvSpPr>
        <p:spPr>
          <a:xfrm>
            <a:off x="779721" y="6270738"/>
            <a:ext cx="0" cy="125950"/>
          </a:xfrm>
          <a:prstGeom prst="line">
            <a:avLst/>
          </a:prstGeom>
          <a:noFill/>
          <a:ln w="12700">
            <a:solidFill>
              <a:srgbClr val="FFFFFF"/>
            </a:solidFill>
            <a:prstDash val="solid"/>
            <a:headEnd type="none"/>
            <a:tailEnd type="none"/>
          </a:ln>
        </p:spPr>
        <p:txBody>
          <a:bodyPr/>
          <a:lstStyle/>
          <a:p>
            <a:endParaRPr lang="en-US"/>
          </a:p>
        </p:txBody>
      </p:sp>
      <p:sp>
        <p:nvSpPr>
          <p:cNvPr id="5" name="Shape 2"/>
          <p:cNvSpPr/>
          <p:nvPr/>
        </p:nvSpPr>
        <p:spPr>
          <a:xfrm>
            <a:off x="867722" y="6270738"/>
            <a:ext cx="0" cy="125950"/>
          </a:xfrm>
          <a:prstGeom prst="line">
            <a:avLst/>
          </a:prstGeom>
          <a:noFill/>
          <a:ln w="12700">
            <a:solidFill>
              <a:srgbClr val="FFFFFF"/>
            </a:solidFill>
            <a:prstDash val="solid"/>
            <a:headEnd type="none"/>
            <a:tailEnd type="none"/>
          </a:ln>
        </p:spPr>
        <p:txBody>
          <a:bodyPr/>
          <a:lstStyle/>
          <a:p>
            <a:endParaRPr lang="en-US"/>
          </a:p>
        </p:txBody>
      </p:sp>
      <p:sp>
        <p:nvSpPr>
          <p:cNvPr id="6" name="Shape 3"/>
          <p:cNvSpPr/>
          <p:nvPr/>
        </p:nvSpPr>
        <p:spPr>
          <a:xfrm>
            <a:off x="955722" y="6166356"/>
            <a:ext cx="0" cy="220414"/>
          </a:xfrm>
          <a:prstGeom prst="line">
            <a:avLst/>
          </a:prstGeom>
          <a:noFill/>
          <a:ln w="12700">
            <a:solidFill>
              <a:srgbClr val="FFFFFF"/>
            </a:solidFill>
            <a:prstDash val="solid"/>
            <a:headEnd type="none"/>
            <a:tailEnd type="none"/>
          </a:ln>
        </p:spPr>
        <p:txBody>
          <a:bodyPr/>
          <a:lstStyle/>
          <a:p>
            <a:endParaRPr lang="en-US"/>
          </a:p>
        </p:txBody>
      </p:sp>
      <p:sp>
        <p:nvSpPr>
          <p:cNvPr id="7" name="Shape 4"/>
          <p:cNvSpPr/>
          <p:nvPr/>
        </p:nvSpPr>
        <p:spPr>
          <a:xfrm>
            <a:off x="1043723" y="6270738"/>
            <a:ext cx="0" cy="125950"/>
          </a:xfrm>
          <a:prstGeom prst="line">
            <a:avLst/>
          </a:prstGeom>
          <a:noFill/>
          <a:ln w="12700">
            <a:solidFill>
              <a:srgbClr val="FFFFFF"/>
            </a:solidFill>
            <a:prstDash val="solid"/>
            <a:headEnd type="none"/>
            <a:tailEnd type="none"/>
          </a:ln>
        </p:spPr>
        <p:txBody>
          <a:bodyPr/>
          <a:lstStyle/>
          <a:p>
            <a:endParaRPr lang="en-US"/>
          </a:p>
        </p:txBody>
      </p:sp>
      <p:sp>
        <p:nvSpPr>
          <p:cNvPr id="8" name="Shape 5"/>
          <p:cNvSpPr/>
          <p:nvPr/>
        </p:nvSpPr>
        <p:spPr>
          <a:xfrm>
            <a:off x="1131723" y="6270738"/>
            <a:ext cx="0" cy="125950"/>
          </a:xfrm>
          <a:prstGeom prst="line">
            <a:avLst/>
          </a:prstGeom>
          <a:noFill/>
          <a:ln w="12700">
            <a:solidFill>
              <a:srgbClr val="FFFFFF"/>
            </a:solidFill>
            <a:prstDash val="solid"/>
            <a:headEnd type="none"/>
            <a:tailEnd type="none"/>
          </a:ln>
        </p:spPr>
        <p:txBody>
          <a:bodyPr/>
          <a:lstStyle/>
          <a:p>
            <a:endParaRPr lang="en-US"/>
          </a:p>
        </p:txBody>
      </p:sp>
      <p:sp>
        <p:nvSpPr>
          <p:cNvPr id="9" name="Shape 6"/>
          <p:cNvSpPr/>
          <p:nvPr/>
        </p:nvSpPr>
        <p:spPr>
          <a:xfrm>
            <a:off x="10796832" y="6396446"/>
            <a:ext cx="116844" cy="116844"/>
          </a:xfrm>
          <a:prstGeom prst="ellipse">
            <a:avLst/>
          </a:prstGeom>
          <a:solidFill>
            <a:srgbClr val="FFFFFF"/>
          </a:solidFill>
          <a:ln/>
        </p:spPr>
        <p:txBody>
          <a:bodyPr/>
          <a:lstStyle/>
          <a:p>
            <a:endParaRPr lang="en-US"/>
          </a:p>
        </p:txBody>
      </p:sp>
      <p:sp>
        <p:nvSpPr>
          <p:cNvPr id="10" name="Text 7"/>
          <p:cNvSpPr/>
          <p:nvPr/>
        </p:nvSpPr>
        <p:spPr>
          <a:xfrm>
            <a:off x="10796832" y="6396446"/>
            <a:ext cx="116844" cy="116844"/>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1" name="Shape 8"/>
          <p:cNvSpPr/>
          <p:nvPr/>
        </p:nvSpPr>
        <p:spPr>
          <a:xfrm>
            <a:off x="10989337" y="6396446"/>
            <a:ext cx="116844" cy="116844"/>
          </a:xfrm>
          <a:prstGeom prst="ellipse">
            <a:avLst/>
          </a:prstGeom>
          <a:solidFill>
            <a:srgbClr val="FFFFFF">
              <a:alpha val="56471"/>
            </a:srgbClr>
          </a:solidFill>
          <a:ln/>
        </p:spPr>
        <p:txBody>
          <a:bodyPr/>
          <a:lstStyle/>
          <a:p>
            <a:endParaRPr lang="en-US"/>
          </a:p>
        </p:txBody>
      </p:sp>
      <p:sp>
        <p:nvSpPr>
          <p:cNvPr id="12" name="Text 9"/>
          <p:cNvSpPr/>
          <p:nvPr/>
        </p:nvSpPr>
        <p:spPr>
          <a:xfrm>
            <a:off x="10989337" y="6396446"/>
            <a:ext cx="116844" cy="116844"/>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3" name="Shape 10"/>
          <p:cNvSpPr/>
          <p:nvPr/>
        </p:nvSpPr>
        <p:spPr>
          <a:xfrm>
            <a:off x="11186107" y="6396446"/>
            <a:ext cx="116844" cy="116844"/>
          </a:xfrm>
          <a:prstGeom prst="ellipse">
            <a:avLst/>
          </a:prstGeom>
          <a:solidFill>
            <a:srgbClr val="FFFFFF"/>
          </a:solidFill>
          <a:ln/>
        </p:spPr>
        <p:txBody>
          <a:bodyPr/>
          <a:lstStyle/>
          <a:p>
            <a:endParaRPr lang="en-US"/>
          </a:p>
        </p:txBody>
      </p:sp>
      <p:sp>
        <p:nvSpPr>
          <p:cNvPr id="14" name="Text 11"/>
          <p:cNvSpPr/>
          <p:nvPr/>
        </p:nvSpPr>
        <p:spPr>
          <a:xfrm>
            <a:off x="11186107" y="6396446"/>
            <a:ext cx="116844" cy="116844"/>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5" name="Shape 12"/>
          <p:cNvSpPr/>
          <p:nvPr/>
        </p:nvSpPr>
        <p:spPr>
          <a:xfrm>
            <a:off x="11382877" y="6396446"/>
            <a:ext cx="116844" cy="116844"/>
          </a:xfrm>
          <a:prstGeom prst="ellipse">
            <a:avLst/>
          </a:prstGeom>
          <a:solidFill>
            <a:srgbClr val="FFFFFF">
              <a:alpha val="56471"/>
            </a:srgbClr>
          </a:solidFill>
          <a:ln/>
        </p:spPr>
        <p:txBody>
          <a:bodyPr/>
          <a:lstStyle/>
          <a:p>
            <a:endParaRPr lang="en-US"/>
          </a:p>
        </p:txBody>
      </p:sp>
      <p:sp>
        <p:nvSpPr>
          <p:cNvPr id="16" name="Text 13"/>
          <p:cNvSpPr/>
          <p:nvPr/>
        </p:nvSpPr>
        <p:spPr>
          <a:xfrm>
            <a:off x="11382877" y="6396446"/>
            <a:ext cx="116844" cy="116844"/>
          </a:xfrm>
          <a:prstGeom prst="rect">
            <a:avLst/>
          </a:prstGeom>
          <a:noFill/>
          <a:ln/>
        </p:spPr>
        <p:txBody>
          <a:bodyPr wrap="square" lIns="45720" tIns="91440" rIns="91440" bIns="45720" rtlCol="0" anchor="ctr"/>
          <a:lstStyle/>
          <a:p>
            <a:pPr marL="0" indent="0">
              <a:lnSpc>
                <a:spcPct val="100000"/>
              </a:lnSpc>
              <a:buNone/>
            </a:pPr>
            <a:endParaRPr lang="en-US" sz="1600" dirty="0"/>
          </a:p>
        </p:txBody>
      </p:sp>
      <p:pic>
        <p:nvPicPr>
          <p:cNvPr id="17" name="Image 1" descr="https://kimi-img.moonshot.cn/pub/slides/slides_tmpl/image/25-08-27-20:02:06-d2nf7fh8bjvh7rlj0600.png"/>
          <p:cNvPicPr>
            <a:picLocks noChangeAspect="1"/>
          </p:cNvPicPr>
          <p:nvPr/>
        </p:nvPicPr>
        <p:blipFill>
          <a:blip r:embed="rId4"/>
          <a:stretch>
            <a:fillRect/>
          </a:stretch>
        </p:blipFill>
        <p:spPr>
          <a:xfrm>
            <a:off x="4267199" y="3446152"/>
            <a:ext cx="3657600" cy="12700"/>
          </a:xfrm>
          <a:prstGeom prst="rect">
            <a:avLst/>
          </a:prstGeom>
        </p:spPr>
      </p:pic>
      <p:sp>
        <p:nvSpPr>
          <p:cNvPr id="18" name="Shape 14"/>
          <p:cNvSpPr/>
          <p:nvPr/>
        </p:nvSpPr>
        <p:spPr>
          <a:xfrm>
            <a:off x="4893310" y="1477010"/>
            <a:ext cx="2284095" cy="2335530"/>
          </a:xfrm>
          <a:prstGeom prst="rect">
            <a:avLst/>
          </a:prstGeom>
          <a:solidFill>
            <a:srgbClr val="000000">
              <a:alpha val="0"/>
            </a:srgbClr>
          </a:solidFill>
          <a:ln/>
        </p:spPr>
        <p:txBody>
          <a:bodyPr/>
          <a:lstStyle/>
          <a:p>
            <a:endParaRPr lang="en-US"/>
          </a:p>
        </p:txBody>
      </p:sp>
      <p:sp>
        <p:nvSpPr>
          <p:cNvPr id="19" name="Text 15"/>
          <p:cNvSpPr/>
          <p:nvPr/>
        </p:nvSpPr>
        <p:spPr>
          <a:xfrm>
            <a:off x="4893310" y="1477010"/>
            <a:ext cx="2284095" cy="2335530"/>
          </a:xfrm>
          <a:prstGeom prst="rect">
            <a:avLst/>
          </a:prstGeom>
          <a:noFill/>
          <a:ln/>
        </p:spPr>
        <p:txBody>
          <a:bodyPr wrap="square" lIns="0" tIns="0" rIns="0" bIns="0" rtlCol="0" anchor="t"/>
          <a:lstStyle/>
          <a:p>
            <a:pPr marL="0" indent="0">
              <a:lnSpc>
                <a:spcPct val="110000"/>
              </a:lnSpc>
              <a:buNone/>
            </a:pPr>
            <a:r>
              <a:rPr lang="en-US" sz="13800" dirty="0">
                <a:gradFill flip="none" rotWithShape="0">
                  <a:gsLst>
                    <a:gs pos="0">
                      <a:srgbClr val="FFFFFF">
                        <a:alpha val="61000"/>
                      </a:srgbClr>
                    </a:gs>
                    <a:gs pos="28000">
                      <a:srgbClr val="FFFFFF">
                        <a:alpha val="61000"/>
                      </a:srgbClr>
                    </a:gs>
                    <a:gs pos="78000">
                      <a:srgbClr val="FFFFFF"/>
                    </a:gs>
                    <a:gs pos="100000">
                      <a:srgbClr val="FFFFFF"/>
                    </a:gs>
                  </a:gsLst>
                  <a:path path="circle">
                    <a:fillToRect r="100000" b="100000"/>
                  </a:path>
                  <a:tileRect l="-100000" t="-100000"/>
                </a:gradFill>
                <a:latin typeface="PingFang SC Medium" pitchFamily="34" charset="0"/>
                <a:ea typeface="PingFang SC Medium" pitchFamily="34" charset="-122"/>
                <a:cs typeface="PingFang SC Medium" pitchFamily="34" charset="-120"/>
              </a:rPr>
              <a:t>04</a:t>
            </a:r>
            <a:endParaRPr lang="en-US" sz="1600" dirty="0"/>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2:10-d2nf7gh8bjvh7rlj061g.jpg"/>
          <p:cNvPicPr>
            <a:picLocks noChangeAspect="1"/>
          </p:cNvPicPr>
          <p:nvPr/>
        </p:nvPicPr>
        <p:blipFill>
          <a:blip r:embed="rId3"/>
          <a:stretch>
            <a:fillRect/>
          </a:stretch>
        </p:blipFill>
        <p:spPr>
          <a:xfrm>
            <a:off x="-3179" y="-1"/>
            <a:ext cx="12194137" cy="6865829"/>
          </a:xfrm>
          <a:prstGeom prst="rect">
            <a:avLst/>
          </a:prstGeom>
        </p:spPr>
      </p:pic>
      <p:sp>
        <p:nvSpPr>
          <p:cNvPr id="3" name="Shape 0"/>
          <p:cNvSpPr/>
          <p:nvPr/>
        </p:nvSpPr>
        <p:spPr>
          <a:xfrm flipH="1">
            <a:off x="11314843" y="981848"/>
            <a:ext cx="77797" cy="72000"/>
          </a:xfrm>
          <a:prstGeom prst="ellipse">
            <a:avLst/>
          </a:prstGeom>
          <a:solidFill>
            <a:srgbClr val="FFFFFF"/>
          </a:solidFill>
          <a:ln/>
        </p:spPr>
        <p:txBody>
          <a:bodyPr/>
          <a:lstStyle/>
          <a:p>
            <a:endParaRPr lang="en-US"/>
          </a:p>
        </p:txBody>
      </p:sp>
      <p:sp>
        <p:nvSpPr>
          <p:cNvPr id="4" name="Text 1"/>
          <p:cNvSpPr/>
          <p:nvPr/>
        </p:nvSpPr>
        <p:spPr>
          <a:xfrm>
            <a:off x="11314843" y="981848"/>
            <a:ext cx="77797" cy="72000"/>
          </a:xfrm>
          <a:prstGeom prst="rect">
            <a:avLst/>
          </a:prstGeom>
          <a:noFill/>
          <a:ln/>
        </p:spPr>
        <p:txBody>
          <a:bodyPr wrap="square" lIns="45720" tIns="91440" rIns="91440" bIns="45720" rtlCol="0" anchor="ctr"/>
          <a:lstStyle/>
          <a:p>
            <a:pPr marL="0" indent="0">
              <a:lnSpc>
                <a:spcPct val="100000"/>
              </a:lnSpc>
              <a:buNone/>
            </a:pPr>
            <a:endParaRPr lang="en-US" sz="1600" dirty="0"/>
          </a:p>
        </p:txBody>
      </p:sp>
      <p:pic>
        <p:nvPicPr>
          <p:cNvPr id="5" name="Image 1" descr="https://kimi-img.moonshot.cn/pub/slides/slides_tmpl/image/25-08-27-20:02:16-d2nf7i18bjvh7rlj06j0.png"/>
          <p:cNvPicPr>
            <a:picLocks noChangeAspect="1"/>
          </p:cNvPicPr>
          <p:nvPr/>
        </p:nvPicPr>
        <p:blipFill>
          <a:blip r:embed="rId4"/>
          <a:stretch>
            <a:fillRect/>
          </a:stretch>
        </p:blipFill>
        <p:spPr>
          <a:xfrm>
            <a:off x="227077" y="1736336"/>
            <a:ext cx="10151467" cy="1622141"/>
          </a:xfrm>
          <a:prstGeom prst="rect">
            <a:avLst/>
          </a:prstGeom>
        </p:spPr>
      </p:pic>
      <p:sp>
        <p:nvSpPr>
          <p:cNvPr id="6" name="Shape 2"/>
          <p:cNvSpPr/>
          <p:nvPr/>
        </p:nvSpPr>
        <p:spPr>
          <a:xfrm flipH="1">
            <a:off x="11186668" y="981848"/>
            <a:ext cx="77797" cy="72000"/>
          </a:xfrm>
          <a:prstGeom prst="ellipse">
            <a:avLst/>
          </a:prstGeom>
          <a:solidFill>
            <a:srgbClr val="FFFFFF">
              <a:alpha val="56471"/>
            </a:srgbClr>
          </a:solidFill>
          <a:ln/>
        </p:spPr>
        <p:txBody>
          <a:bodyPr/>
          <a:lstStyle/>
          <a:p>
            <a:endParaRPr lang="en-US"/>
          </a:p>
        </p:txBody>
      </p:sp>
      <p:sp>
        <p:nvSpPr>
          <p:cNvPr id="7" name="Text 3"/>
          <p:cNvSpPr/>
          <p:nvPr/>
        </p:nvSpPr>
        <p:spPr>
          <a:xfrm>
            <a:off x="11186668" y="981848"/>
            <a:ext cx="77797" cy="7200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8" name="Shape 4"/>
          <p:cNvSpPr/>
          <p:nvPr/>
        </p:nvSpPr>
        <p:spPr>
          <a:xfrm flipH="1">
            <a:off x="11055654" y="981848"/>
            <a:ext cx="77797" cy="72000"/>
          </a:xfrm>
          <a:prstGeom prst="ellipse">
            <a:avLst/>
          </a:prstGeom>
          <a:solidFill>
            <a:srgbClr val="FFFFFF"/>
          </a:solidFill>
          <a:ln/>
        </p:spPr>
        <p:txBody>
          <a:bodyPr/>
          <a:lstStyle/>
          <a:p>
            <a:endParaRPr lang="en-US"/>
          </a:p>
        </p:txBody>
      </p:sp>
      <p:sp>
        <p:nvSpPr>
          <p:cNvPr id="9" name="Text 5"/>
          <p:cNvSpPr/>
          <p:nvPr/>
        </p:nvSpPr>
        <p:spPr>
          <a:xfrm>
            <a:off x="11055654" y="981848"/>
            <a:ext cx="77797" cy="72000"/>
          </a:xfrm>
          <a:prstGeom prst="rect">
            <a:avLst/>
          </a:prstGeom>
          <a:noFill/>
          <a:ln/>
        </p:spPr>
        <p:txBody>
          <a:bodyPr wrap="square" lIns="45720" tIns="91440" rIns="91440" bIns="45720" rtlCol="0" anchor="ctr"/>
          <a:lstStyle/>
          <a:p>
            <a:pPr marL="0" indent="0">
              <a:lnSpc>
                <a:spcPct val="100000"/>
              </a:lnSpc>
              <a:buNone/>
            </a:pPr>
            <a:endParaRPr lang="en-US" sz="1600" dirty="0"/>
          </a:p>
        </p:txBody>
      </p:sp>
      <p:pic>
        <p:nvPicPr>
          <p:cNvPr id="10" name="Image 2" descr="https://kimi-img.moonshot.cn/pub/slides/slides_tmpl/image/25-08-27-20:02:16-d2nf7i18bjvh7rlj06jg.png"/>
          <p:cNvPicPr>
            <a:picLocks noChangeAspect="1"/>
          </p:cNvPicPr>
          <p:nvPr/>
        </p:nvPicPr>
        <p:blipFill>
          <a:blip r:embed="rId5"/>
          <a:stretch>
            <a:fillRect/>
          </a:stretch>
        </p:blipFill>
        <p:spPr>
          <a:xfrm>
            <a:off x="710957" y="2472057"/>
            <a:ext cx="1219200" cy="1219200"/>
          </a:xfrm>
          <a:prstGeom prst="rect">
            <a:avLst/>
          </a:prstGeom>
        </p:spPr>
      </p:pic>
      <p:pic>
        <p:nvPicPr>
          <p:cNvPr id="11" name="Image 3" descr="https://kimi-img.moonshot.cn/pub/slides/slides_tmpl/image/25-08-27-20:02:16-d2nf7i18bjvh7rlj06jg.png"/>
          <p:cNvPicPr>
            <a:picLocks noChangeAspect="1"/>
          </p:cNvPicPr>
          <p:nvPr/>
        </p:nvPicPr>
        <p:blipFill>
          <a:blip r:embed="rId5"/>
          <a:stretch>
            <a:fillRect/>
          </a:stretch>
        </p:blipFill>
        <p:spPr>
          <a:xfrm>
            <a:off x="7735823" y="1282634"/>
            <a:ext cx="1219200" cy="1219200"/>
          </a:xfrm>
          <a:prstGeom prst="rect">
            <a:avLst/>
          </a:prstGeom>
        </p:spPr>
      </p:pic>
      <p:sp>
        <p:nvSpPr>
          <p:cNvPr id="12" name="Shape 6"/>
          <p:cNvSpPr/>
          <p:nvPr/>
        </p:nvSpPr>
        <p:spPr>
          <a:xfrm flipH="1">
            <a:off x="10924640" y="981848"/>
            <a:ext cx="77797" cy="72000"/>
          </a:xfrm>
          <a:prstGeom prst="ellipse">
            <a:avLst/>
          </a:prstGeom>
          <a:solidFill>
            <a:srgbClr val="FFFFFF">
              <a:alpha val="56471"/>
            </a:srgbClr>
          </a:solidFill>
          <a:ln/>
        </p:spPr>
        <p:txBody>
          <a:bodyPr/>
          <a:lstStyle/>
          <a:p>
            <a:endParaRPr lang="en-US"/>
          </a:p>
        </p:txBody>
      </p:sp>
      <p:sp>
        <p:nvSpPr>
          <p:cNvPr id="13" name="Text 7"/>
          <p:cNvSpPr/>
          <p:nvPr/>
        </p:nvSpPr>
        <p:spPr>
          <a:xfrm>
            <a:off x="10924640" y="981848"/>
            <a:ext cx="77797" cy="72000"/>
          </a:xfrm>
          <a:prstGeom prst="rect">
            <a:avLst/>
          </a:prstGeom>
          <a:noFill/>
          <a:ln/>
        </p:spPr>
        <p:txBody>
          <a:bodyPr wrap="square" lIns="45720" tIns="91440" rIns="91440" bIns="45720" rtlCol="0" anchor="ctr"/>
          <a:lstStyle/>
          <a:p>
            <a:pPr marL="0" indent="0">
              <a:lnSpc>
                <a:spcPct val="100000"/>
              </a:lnSpc>
              <a:buNone/>
            </a:pPr>
            <a:endParaRPr lang="en-US" sz="1600" dirty="0"/>
          </a:p>
        </p:txBody>
      </p:sp>
      <p:pic>
        <p:nvPicPr>
          <p:cNvPr id="14" name="Image 4" descr="https://kimi-img.moonshot.cn/pub/slides/slides_tmpl/image/25-08-27-20:02:16-d2nf7i18bjvh7rlj06jg.png"/>
          <p:cNvPicPr>
            <a:picLocks noChangeAspect="1"/>
          </p:cNvPicPr>
          <p:nvPr/>
        </p:nvPicPr>
        <p:blipFill>
          <a:blip r:embed="rId5"/>
          <a:stretch>
            <a:fillRect/>
          </a:stretch>
        </p:blipFill>
        <p:spPr>
          <a:xfrm>
            <a:off x="4275303" y="1967581"/>
            <a:ext cx="1219200" cy="1219200"/>
          </a:xfrm>
          <a:prstGeom prst="rect">
            <a:avLst/>
          </a:prstGeom>
        </p:spPr>
      </p:pic>
      <p:sp>
        <p:nvSpPr>
          <p:cNvPr id="15" name="Shape 8"/>
          <p:cNvSpPr/>
          <p:nvPr/>
        </p:nvSpPr>
        <p:spPr>
          <a:xfrm>
            <a:off x="11358882" y="6059762"/>
            <a:ext cx="226534" cy="220415"/>
          </a:xfrm>
          <a:prstGeom prst="rect">
            <a:avLst/>
          </a:prstGeom>
          <a:solidFill>
            <a:srgbClr val="517BDA"/>
          </a:solidFill>
          <a:ln/>
          <a:effectLst>
            <a:outerShdw blurRad="145102" dist="50800" dir="2700000" algn="bl" rotWithShape="0">
              <a:srgbClr val="517BDA">
                <a:alpha val="76471"/>
              </a:srgbClr>
            </a:outerShdw>
          </a:effectLst>
        </p:spPr>
        <p:txBody>
          <a:bodyPr/>
          <a:lstStyle/>
          <a:p>
            <a:endParaRPr lang="en-US"/>
          </a:p>
        </p:txBody>
      </p:sp>
      <p:sp>
        <p:nvSpPr>
          <p:cNvPr id="16" name="Text 9"/>
          <p:cNvSpPr/>
          <p:nvPr/>
        </p:nvSpPr>
        <p:spPr>
          <a:xfrm>
            <a:off x="11358882" y="6059762"/>
            <a:ext cx="226534" cy="22041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7" name="Text 10"/>
          <p:cNvSpPr/>
          <p:nvPr/>
        </p:nvSpPr>
        <p:spPr>
          <a:xfrm>
            <a:off x="542215" y="998076"/>
            <a:ext cx="8152877" cy="833184"/>
          </a:xfrm>
          <a:prstGeom prst="rect">
            <a:avLst/>
          </a:prstGeom>
          <a:noFill/>
          <a:ln/>
        </p:spPr>
        <p:txBody>
          <a:bodyPr wrap="square" lIns="91440" tIns="45720" rIns="91440" bIns="45720" rtlCol="0" anchor="t"/>
          <a:lstStyle/>
          <a:p>
            <a:pPr marL="0" indent="0">
              <a:lnSpc>
                <a:spcPct val="100000"/>
              </a:lnSpc>
              <a:buNone/>
            </a:pPr>
            <a:r>
              <a:rPr lang="en-US" sz="3600" b="1" dirty="0">
                <a:solidFill>
                  <a:srgbClr val="FFFFFF"/>
                </a:solidFill>
                <a:latin typeface="MiSans" pitchFamily="34" charset="0"/>
                <a:ea typeface="MiSans" pitchFamily="34" charset="-122"/>
                <a:cs typeface="MiSans" pitchFamily="34" charset="-120"/>
              </a:rPr>
              <a:t>Monoestable: un pulso perfecto</a:t>
            </a:r>
            <a:endParaRPr lang="en-US" sz="1600" dirty="0"/>
          </a:p>
        </p:txBody>
      </p:sp>
      <p:pic>
        <p:nvPicPr>
          <p:cNvPr id="18" name="Image 5" descr="https://kimi-img.moonshot.cn/pub/slides/slides_tmpl/image/25-08-27-20:02:06-d2nf7fh8bjvh7rlj060g.png"/>
          <p:cNvPicPr>
            <a:picLocks noChangeAspect="1"/>
          </p:cNvPicPr>
          <p:nvPr/>
        </p:nvPicPr>
        <p:blipFill>
          <a:blip r:embed="rId6"/>
          <a:stretch>
            <a:fillRect/>
          </a:stretch>
        </p:blipFill>
        <p:spPr>
          <a:xfrm>
            <a:off x="662882" y="495145"/>
            <a:ext cx="1371600" cy="304800"/>
          </a:xfrm>
          <a:prstGeom prst="rect">
            <a:avLst/>
          </a:prstGeom>
        </p:spPr>
      </p:pic>
      <p:sp>
        <p:nvSpPr>
          <p:cNvPr id="19" name="Shape 11"/>
          <p:cNvSpPr/>
          <p:nvPr/>
        </p:nvSpPr>
        <p:spPr>
          <a:xfrm>
            <a:off x="988010" y="2887496"/>
            <a:ext cx="665094" cy="295787"/>
          </a:xfrm>
          <a:prstGeom prst="rect">
            <a:avLst/>
          </a:prstGeom>
          <a:solidFill>
            <a:srgbClr val="000000">
              <a:alpha val="0"/>
            </a:srgbClr>
          </a:solidFill>
          <a:ln/>
        </p:spPr>
        <p:txBody>
          <a:bodyPr/>
          <a:lstStyle/>
          <a:p>
            <a:endParaRPr lang="en-US"/>
          </a:p>
        </p:txBody>
      </p:sp>
      <p:sp>
        <p:nvSpPr>
          <p:cNvPr id="20" name="Text 12"/>
          <p:cNvSpPr/>
          <p:nvPr/>
        </p:nvSpPr>
        <p:spPr>
          <a:xfrm>
            <a:off x="988010" y="2887496"/>
            <a:ext cx="665094" cy="295787"/>
          </a:xfrm>
          <a:prstGeom prst="rect">
            <a:avLst/>
          </a:prstGeom>
          <a:noFill/>
          <a:ln/>
        </p:spPr>
        <p:txBody>
          <a:bodyPr wrap="square" lIns="0" tIns="0" rIns="0" bIns="0" rtlCol="0" anchor="t"/>
          <a:lstStyle/>
          <a:p>
            <a:pPr marL="0" indent="0" algn="ctr">
              <a:lnSpc>
                <a:spcPct val="110000"/>
              </a:lnSpc>
              <a:buNone/>
            </a:pPr>
            <a:r>
              <a:rPr lang="en-US" sz="1800" dirty="0">
                <a:solidFill>
                  <a:srgbClr val="FFFFFF"/>
                </a:solidFill>
                <a:latin typeface="MiSans" pitchFamily="34" charset="0"/>
                <a:ea typeface="MiSans" pitchFamily="34" charset="-122"/>
                <a:cs typeface="MiSans" pitchFamily="34" charset="-120"/>
              </a:rPr>
              <a:t>01</a:t>
            </a:r>
            <a:endParaRPr lang="en-US" sz="1600" dirty="0"/>
          </a:p>
        </p:txBody>
      </p:sp>
      <p:sp>
        <p:nvSpPr>
          <p:cNvPr id="21" name="Text 13"/>
          <p:cNvSpPr/>
          <p:nvPr/>
        </p:nvSpPr>
        <p:spPr>
          <a:xfrm>
            <a:off x="980435" y="3709885"/>
            <a:ext cx="3145914" cy="276860"/>
          </a:xfrm>
          <a:prstGeom prst="rect">
            <a:avLst/>
          </a:prstGeom>
          <a:noFill/>
          <a:ln/>
        </p:spPr>
        <p:txBody>
          <a:bodyPr wrap="square" lIns="0" tIns="0" rIns="0" bIns="0" rtlCol="0" anchor="t">
            <a:spAutoFit/>
          </a:bodyPr>
          <a:lstStyle/>
          <a:p>
            <a:pPr marL="0" indent="0">
              <a:lnSpc>
                <a:spcPct val="100000"/>
              </a:lnSpc>
              <a:buNone/>
            </a:pPr>
            <a:r>
              <a:rPr lang="en-US" sz="1800" b="1" dirty="0">
                <a:gradFill flip="none" rotWithShape="0">
                  <a:gsLst>
                    <a:gs pos="0">
                      <a:srgbClr val="30B0FE">
                        <a:alpha val="77000"/>
                      </a:srgbClr>
                    </a:gs>
                    <a:gs pos="10000">
                      <a:srgbClr val="30B0FE">
                        <a:alpha val="77000"/>
                      </a:srgbClr>
                    </a:gs>
                    <a:gs pos="70000">
                      <a:srgbClr val="5684E9"/>
                    </a:gs>
                    <a:gs pos="100000">
                      <a:srgbClr val="014BB5"/>
                    </a:gs>
                  </a:gsLst>
                  <a:lin ang="4800000" scaled="1"/>
                </a:gradFill>
                <a:latin typeface="MiSans" pitchFamily="34" charset="0"/>
                <a:ea typeface="MiSans" pitchFamily="34" charset="-122"/>
                <a:cs typeface="MiSans" pitchFamily="34" charset="-120"/>
              </a:rPr>
              <a:t>Activación del Pulso</a:t>
            </a:r>
            <a:endParaRPr lang="en-US" sz="1600" dirty="0"/>
          </a:p>
        </p:txBody>
      </p:sp>
      <p:sp>
        <p:nvSpPr>
          <p:cNvPr id="22" name="Text 14"/>
          <p:cNvSpPr/>
          <p:nvPr/>
        </p:nvSpPr>
        <p:spPr>
          <a:xfrm>
            <a:off x="900224" y="4069952"/>
            <a:ext cx="3360880" cy="2326021"/>
          </a:xfrm>
          <a:prstGeom prst="rect">
            <a:avLst/>
          </a:prstGeom>
          <a:noFill/>
          <a:ln/>
        </p:spPr>
        <p:txBody>
          <a:bodyPr wrap="square" lIns="91440" tIns="45720" rIns="91440" bIns="45720" rtlCol="0" anchor="t">
            <a:spAutoFit/>
          </a:bodyPr>
          <a:lstStyle/>
          <a:p>
            <a:pPr marL="0" indent="0">
              <a:lnSpc>
                <a:spcPct val="150000"/>
              </a:lnSpc>
              <a:buNone/>
            </a:pPr>
            <a:r>
              <a:rPr lang="en-US" sz="1400" dirty="0">
                <a:solidFill>
                  <a:srgbClr val="FFFFFF"/>
                </a:solidFill>
                <a:latin typeface="MiSans" pitchFamily="34" charset="0"/>
                <a:ea typeface="MiSans" pitchFamily="34" charset="-122"/>
                <a:cs typeface="MiSans" pitchFamily="34" charset="-120"/>
              </a:rPr>
              <a:t>En modo monoestable, un pulso en el pin Trigger activa el temporizador, iniciando un ciclo de tiempo. El capacitor comienza a cargarse, y el output se pone en alto.</a:t>
            </a:r>
            <a:endParaRPr lang="en-US" sz="1600" dirty="0"/>
          </a:p>
        </p:txBody>
      </p:sp>
      <p:sp>
        <p:nvSpPr>
          <p:cNvPr id="23" name="Shape 15"/>
          <p:cNvSpPr/>
          <p:nvPr/>
        </p:nvSpPr>
        <p:spPr>
          <a:xfrm>
            <a:off x="4552356" y="2399512"/>
            <a:ext cx="665094" cy="295787"/>
          </a:xfrm>
          <a:prstGeom prst="rect">
            <a:avLst/>
          </a:prstGeom>
          <a:solidFill>
            <a:srgbClr val="000000">
              <a:alpha val="0"/>
            </a:srgbClr>
          </a:solidFill>
          <a:ln/>
        </p:spPr>
        <p:txBody>
          <a:bodyPr/>
          <a:lstStyle/>
          <a:p>
            <a:endParaRPr lang="en-US"/>
          </a:p>
        </p:txBody>
      </p:sp>
      <p:sp>
        <p:nvSpPr>
          <p:cNvPr id="24" name="Text 16"/>
          <p:cNvSpPr/>
          <p:nvPr/>
        </p:nvSpPr>
        <p:spPr>
          <a:xfrm>
            <a:off x="4552356" y="2399512"/>
            <a:ext cx="665094" cy="295787"/>
          </a:xfrm>
          <a:prstGeom prst="rect">
            <a:avLst/>
          </a:prstGeom>
          <a:noFill/>
          <a:ln/>
        </p:spPr>
        <p:txBody>
          <a:bodyPr wrap="square" lIns="0" tIns="0" rIns="0" bIns="0" rtlCol="0" anchor="t"/>
          <a:lstStyle/>
          <a:p>
            <a:pPr marL="0" indent="0" algn="ctr">
              <a:lnSpc>
                <a:spcPct val="110000"/>
              </a:lnSpc>
              <a:buNone/>
            </a:pPr>
            <a:r>
              <a:rPr lang="en-US" sz="1800" dirty="0">
                <a:solidFill>
                  <a:srgbClr val="FFFFFF"/>
                </a:solidFill>
                <a:latin typeface="MiSans" pitchFamily="34" charset="0"/>
                <a:ea typeface="MiSans" pitchFamily="34" charset="-122"/>
                <a:cs typeface="MiSans" pitchFamily="34" charset="-120"/>
              </a:rPr>
              <a:t>02</a:t>
            </a:r>
            <a:endParaRPr lang="en-US" sz="1600" dirty="0"/>
          </a:p>
        </p:txBody>
      </p:sp>
      <p:sp>
        <p:nvSpPr>
          <p:cNvPr id="25" name="Text 17"/>
          <p:cNvSpPr/>
          <p:nvPr/>
        </p:nvSpPr>
        <p:spPr>
          <a:xfrm>
            <a:off x="4589908" y="3340917"/>
            <a:ext cx="3145915" cy="276860"/>
          </a:xfrm>
          <a:prstGeom prst="rect">
            <a:avLst/>
          </a:prstGeom>
          <a:noFill/>
          <a:ln/>
        </p:spPr>
        <p:txBody>
          <a:bodyPr wrap="square" lIns="0" tIns="0" rIns="0" bIns="0" rtlCol="0" anchor="t">
            <a:spAutoFit/>
          </a:bodyPr>
          <a:lstStyle/>
          <a:p>
            <a:pPr marL="0" indent="0">
              <a:lnSpc>
                <a:spcPct val="100000"/>
              </a:lnSpc>
              <a:buNone/>
            </a:pPr>
            <a:r>
              <a:rPr lang="en-US" sz="1800" b="1" dirty="0">
                <a:gradFill flip="none" rotWithShape="0">
                  <a:gsLst>
                    <a:gs pos="0">
                      <a:srgbClr val="30B0FE">
                        <a:alpha val="77000"/>
                      </a:srgbClr>
                    </a:gs>
                    <a:gs pos="10000">
                      <a:srgbClr val="30B0FE">
                        <a:alpha val="77000"/>
                      </a:srgbClr>
                    </a:gs>
                    <a:gs pos="70000">
                      <a:srgbClr val="5684E9"/>
                    </a:gs>
                    <a:gs pos="100000">
                      <a:srgbClr val="014BB5"/>
                    </a:gs>
                  </a:gsLst>
                  <a:lin ang="4800000" scaled="1"/>
                </a:gradFill>
                <a:latin typeface="MiSans" pitchFamily="34" charset="0"/>
                <a:ea typeface="MiSans" pitchFamily="34" charset="-122"/>
                <a:cs typeface="MiSans" pitchFamily="34" charset="-120"/>
              </a:rPr>
              <a:t>Finalización del Pulso</a:t>
            </a:r>
            <a:endParaRPr lang="en-US" sz="1600" dirty="0"/>
          </a:p>
        </p:txBody>
      </p:sp>
      <p:sp>
        <p:nvSpPr>
          <p:cNvPr id="26" name="Text 18"/>
          <p:cNvSpPr/>
          <p:nvPr/>
        </p:nvSpPr>
        <p:spPr>
          <a:xfrm>
            <a:off x="4482425" y="3738964"/>
            <a:ext cx="3360880" cy="2326021"/>
          </a:xfrm>
          <a:prstGeom prst="rect">
            <a:avLst/>
          </a:prstGeom>
          <a:noFill/>
          <a:ln/>
        </p:spPr>
        <p:txBody>
          <a:bodyPr wrap="square" lIns="91440" tIns="45720" rIns="91440" bIns="45720" rtlCol="0" anchor="t">
            <a:spAutoFit/>
          </a:bodyPr>
          <a:lstStyle/>
          <a:p>
            <a:pPr marL="0" indent="0">
              <a:lnSpc>
                <a:spcPct val="150000"/>
              </a:lnSpc>
              <a:buNone/>
            </a:pPr>
            <a:r>
              <a:rPr lang="en-US" sz="1400" dirty="0">
                <a:solidFill>
                  <a:srgbClr val="FFFFFF"/>
                </a:solidFill>
                <a:latin typeface="MiSans" pitchFamily="34" charset="0"/>
                <a:ea typeface="MiSans" pitchFamily="34" charset="-122"/>
                <a:cs typeface="MiSans" pitchFamily="34" charset="-120"/>
              </a:rPr>
              <a:t>El ciclo termina cuando el voltaje del capacitor alcanza 2/3 de Vcc, y el output regresa a bajo. La duración del pulso se calcula con la fórmula T = 1.1 × R × C, permitiendo ajustes precisos.</a:t>
            </a:r>
            <a:endParaRPr lang="en-US" sz="1600" dirty="0"/>
          </a:p>
        </p:txBody>
      </p:sp>
      <p:sp>
        <p:nvSpPr>
          <p:cNvPr id="27" name="Shape 19"/>
          <p:cNvSpPr/>
          <p:nvPr/>
        </p:nvSpPr>
        <p:spPr>
          <a:xfrm>
            <a:off x="8012876" y="1697449"/>
            <a:ext cx="665094" cy="295787"/>
          </a:xfrm>
          <a:prstGeom prst="rect">
            <a:avLst/>
          </a:prstGeom>
          <a:solidFill>
            <a:srgbClr val="000000">
              <a:alpha val="0"/>
            </a:srgbClr>
          </a:solidFill>
          <a:ln/>
        </p:spPr>
        <p:txBody>
          <a:bodyPr/>
          <a:lstStyle/>
          <a:p>
            <a:endParaRPr lang="en-US"/>
          </a:p>
        </p:txBody>
      </p:sp>
      <p:sp>
        <p:nvSpPr>
          <p:cNvPr id="28" name="Text 20"/>
          <p:cNvSpPr/>
          <p:nvPr/>
        </p:nvSpPr>
        <p:spPr>
          <a:xfrm>
            <a:off x="8012876" y="1697449"/>
            <a:ext cx="665094" cy="295787"/>
          </a:xfrm>
          <a:prstGeom prst="rect">
            <a:avLst/>
          </a:prstGeom>
          <a:noFill/>
          <a:ln/>
        </p:spPr>
        <p:txBody>
          <a:bodyPr wrap="square" lIns="0" tIns="0" rIns="0" bIns="0" rtlCol="0" anchor="t"/>
          <a:lstStyle/>
          <a:p>
            <a:pPr marL="0" indent="0" algn="ctr">
              <a:lnSpc>
                <a:spcPct val="110000"/>
              </a:lnSpc>
              <a:buNone/>
            </a:pPr>
            <a:r>
              <a:rPr lang="en-US" sz="1800" dirty="0">
                <a:solidFill>
                  <a:srgbClr val="FFFFFF"/>
                </a:solidFill>
                <a:latin typeface="MiSans" pitchFamily="34" charset="0"/>
                <a:ea typeface="MiSans" pitchFamily="34" charset="-122"/>
                <a:cs typeface="MiSans" pitchFamily="34" charset="-120"/>
              </a:rPr>
              <a:t>03</a:t>
            </a:r>
            <a:endParaRPr lang="en-US" sz="1600" dirty="0"/>
          </a:p>
        </p:txBody>
      </p:sp>
      <p:sp>
        <p:nvSpPr>
          <p:cNvPr id="29" name="Text 21"/>
          <p:cNvSpPr/>
          <p:nvPr/>
        </p:nvSpPr>
        <p:spPr>
          <a:xfrm>
            <a:off x="8215423" y="2586938"/>
            <a:ext cx="3177217" cy="276860"/>
          </a:xfrm>
          <a:prstGeom prst="rect">
            <a:avLst/>
          </a:prstGeom>
          <a:noFill/>
          <a:ln/>
        </p:spPr>
        <p:txBody>
          <a:bodyPr wrap="square" lIns="0" tIns="0" rIns="0" bIns="0" rtlCol="0" anchor="t">
            <a:spAutoFit/>
          </a:bodyPr>
          <a:lstStyle/>
          <a:p>
            <a:pPr marL="0" indent="0">
              <a:lnSpc>
                <a:spcPct val="100000"/>
              </a:lnSpc>
              <a:buNone/>
            </a:pPr>
            <a:r>
              <a:rPr lang="en-US" sz="1800" b="1" dirty="0">
                <a:gradFill flip="none" rotWithShape="0">
                  <a:gsLst>
                    <a:gs pos="0">
                      <a:srgbClr val="30B0FE">
                        <a:alpha val="77000"/>
                      </a:srgbClr>
                    </a:gs>
                    <a:gs pos="10000">
                      <a:srgbClr val="30B0FE">
                        <a:alpha val="77000"/>
                      </a:srgbClr>
                    </a:gs>
                    <a:gs pos="70000">
                      <a:srgbClr val="5684E9"/>
                    </a:gs>
                    <a:gs pos="100000">
                      <a:srgbClr val="014BB5"/>
                    </a:gs>
                  </a:gsLst>
                  <a:lin ang="4800000" scaled="1"/>
                </a:gradFill>
                <a:latin typeface="MiSans" pitchFamily="34" charset="0"/>
                <a:ea typeface="MiSans" pitchFamily="34" charset="-122"/>
                <a:cs typeface="MiSans" pitchFamily="34" charset="-120"/>
              </a:rPr>
              <a:t>Aplicaciones</a:t>
            </a:r>
            <a:endParaRPr lang="en-US" sz="1600" dirty="0"/>
          </a:p>
        </p:txBody>
      </p:sp>
      <p:sp>
        <p:nvSpPr>
          <p:cNvPr id="30" name="Text 22"/>
          <p:cNvSpPr/>
          <p:nvPr/>
        </p:nvSpPr>
        <p:spPr>
          <a:xfrm>
            <a:off x="8105303" y="2994308"/>
            <a:ext cx="3360880" cy="2326021"/>
          </a:xfrm>
          <a:prstGeom prst="rect">
            <a:avLst/>
          </a:prstGeom>
          <a:noFill/>
          <a:ln/>
        </p:spPr>
        <p:txBody>
          <a:bodyPr wrap="square" lIns="91440" tIns="45720" rIns="91440" bIns="45720" rtlCol="0" anchor="t">
            <a:spAutoFit/>
          </a:bodyPr>
          <a:lstStyle/>
          <a:p>
            <a:pPr marL="0" indent="0">
              <a:lnSpc>
                <a:spcPct val="150000"/>
              </a:lnSpc>
              <a:buNone/>
            </a:pPr>
            <a:r>
              <a:rPr lang="en-US" sz="1400" dirty="0">
                <a:solidFill>
                  <a:srgbClr val="FFFFFF"/>
                </a:solidFill>
                <a:latin typeface="MiSans" pitchFamily="34" charset="0"/>
                <a:ea typeface="MiSans" pitchFamily="34" charset="-122"/>
                <a:cs typeface="MiSans" pitchFamily="34" charset="-120"/>
              </a:rPr>
              <a:t>Este modo es ideal para retrasos, temporizadores y des-bouncing. Es sencillo de implementar y no requiere componentes adicionales complejos.</a:t>
            </a:r>
            <a:endParaRPr lang="en-US" sz="1600" dirty="0"/>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2:10-d2nf7gh8bjvh7rlj061g.jpg"/>
          <p:cNvPicPr>
            <a:picLocks noChangeAspect="1"/>
          </p:cNvPicPr>
          <p:nvPr/>
        </p:nvPicPr>
        <p:blipFill>
          <a:blip r:embed="rId3"/>
          <a:stretch>
            <a:fillRect/>
          </a:stretch>
        </p:blipFill>
        <p:spPr>
          <a:xfrm>
            <a:off x="-1041" y="0"/>
            <a:ext cx="12192000" cy="6864626"/>
          </a:xfrm>
          <a:prstGeom prst="rect">
            <a:avLst/>
          </a:prstGeom>
        </p:spPr>
      </p:pic>
      <p:pic>
        <p:nvPicPr>
          <p:cNvPr id="3" name="Image 1" descr="https://kimi-img.moonshot.cn/pub/slides/slides_tmpl/image/25-08-27-20:02:16-d2nf7i18bjvh7rlj06i0.png"/>
          <p:cNvPicPr>
            <a:picLocks noChangeAspect="1"/>
          </p:cNvPicPr>
          <p:nvPr/>
        </p:nvPicPr>
        <p:blipFill>
          <a:blip r:embed="rId4"/>
          <a:stretch>
            <a:fillRect/>
          </a:stretch>
        </p:blipFill>
        <p:spPr>
          <a:xfrm>
            <a:off x="6327163" y="-38729"/>
            <a:ext cx="5985953" cy="7199142"/>
          </a:xfrm>
          <a:prstGeom prst="rect">
            <a:avLst/>
          </a:prstGeom>
        </p:spPr>
      </p:pic>
      <p:sp>
        <p:nvSpPr>
          <p:cNvPr id="4" name="Shape 0"/>
          <p:cNvSpPr/>
          <p:nvPr/>
        </p:nvSpPr>
        <p:spPr>
          <a:xfrm flipH="1">
            <a:off x="11314843" y="981848"/>
            <a:ext cx="77797" cy="72000"/>
          </a:xfrm>
          <a:prstGeom prst="ellipse">
            <a:avLst/>
          </a:prstGeom>
          <a:solidFill>
            <a:srgbClr val="FFFFFF"/>
          </a:solidFill>
          <a:ln/>
        </p:spPr>
        <p:txBody>
          <a:bodyPr/>
          <a:lstStyle/>
          <a:p>
            <a:endParaRPr lang="en-US"/>
          </a:p>
        </p:txBody>
      </p:sp>
      <p:sp>
        <p:nvSpPr>
          <p:cNvPr id="5" name="Text 1"/>
          <p:cNvSpPr/>
          <p:nvPr/>
        </p:nvSpPr>
        <p:spPr>
          <a:xfrm>
            <a:off x="11314843" y="981848"/>
            <a:ext cx="77797" cy="7200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6" name="Shape 2"/>
          <p:cNvSpPr/>
          <p:nvPr/>
        </p:nvSpPr>
        <p:spPr>
          <a:xfrm flipH="1">
            <a:off x="11186668" y="981848"/>
            <a:ext cx="77797" cy="72000"/>
          </a:xfrm>
          <a:prstGeom prst="ellipse">
            <a:avLst/>
          </a:prstGeom>
          <a:solidFill>
            <a:srgbClr val="FFFFFF">
              <a:alpha val="56471"/>
            </a:srgbClr>
          </a:solidFill>
          <a:ln/>
        </p:spPr>
        <p:txBody>
          <a:bodyPr/>
          <a:lstStyle/>
          <a:p>
            <a:endParaRPr lang="en-US"/>
          </a:p>
        </p:txBody>
      </p:sp>
      <p:sp>
        <p:nvSpPr>
          <p:cNvPr id="7" name="Text 3"/>
          <p:cNvSpPr/>
          <p:nvPr/>
        </p:nvSpPr>
        <p:spPr>
          <a:xfrm>
            <a:off x="11186668" y="981848"/>
            <a:ext cx="77797" cy="7200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8" name="Shape 4"/>
          <p:cNvSpPr/>
          <p:nvPr/>
        </p:nvSpPr>
        <p:spPr>
          <a:xfrm flipH="1">
            <a:off x="11055654" y="981848"/>
            <a:ext cx="77797" cy="72000"/>
          </a:xfrm>
          <a:prstGeom prst="ellipse">
            <a:avLst/>
          </a:prstGeom>
          <a:solidFill>
            <a:srgbClr val="FFFFFF"/>
          </a:solidFill>
          <a:ln/>
        </p:spPr>
        <p:txBody>
          <a:bodyPr/>
          <a:lstStyle/>
          <a:p>
            <a:endParaRPr lang="en-US"/>
          </a:p>
        </p:txBody>
      </p:sp>
      <p:sp>
        <p:nvSpPr>
          <p:cNvPr id="9" name="Text 5"/>
          <p:cNvSpPr/>
          <p:nvPr/>
        </p:nvSpPr>
        <p:spPr>
          <a:xfrm>
            <a:off x="11055654" y="981848"/>
            <a:ext cx="77797" cy="7200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0" name="Shape 6"/>
          <p:cNvSpPr/>
          <p:nvPr/>
        </p:nvSpPr>
        <p:spPr>
          <a:xfrm flipH="1">
            <a:off x="10924640" y="981848"/>
            <a:ext cx="77797" cy="72000"/>
          </a:xfrm>
          <a:prstGeom prst="ellipse">
            <a:avLst/>
          </a:prstGeom>
          <a:solidFill>
            <a:srgbClr val="FFFFFF">
              <a:alpha val="56471"/>
            </a:srgbClr>
          </a:solidFill>
          <a:ln/>
        </p:spPr>
        <p:txBody>
          <a:bodyPr/>
          <a:lstStyle/>
          <a:p>
            <a:endParaRPr lang="en-US"/>
          </a:p>
        </p:txBody>
      </p:sp>
      <p:sp>
        <p:nvSpPr>
          <p:cNvPr id="11" name="Text 7"/>
          <p:cNvSpPr/>
          <p:nvPr/>
        </p:nvSpPr>
        <p:spPr>
          <a:xfrm>
            <a:off x="10924640" y="981848"/>
            <a:ext cx="77797" cy="7200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2" name="Shape 8"/>
          <p:cNvSpPr/>
          <p:nvPr/>
        </p:nvSpPr>
        <p:spPr>
          <a:xfrm>
            <a:off x="11358882" y="6059762"/>
            <a:ext cx="226534" cy="220415"/>
          </a:xfrm>
          <a:prstGeom prst="rect">
            <a:avLst/>
          </a:prstGeom>
          <a:solidFill>
            <a:srgbClr val="517BDA"/>
          </a:solidFill>
          <a:ln/>
          <a:effectLst>
            <a:outerShdw blurRad="145102" dist="50800" dir="2700000" algn="bl" rotWithShape="0">
              <a:srgbClr val="517BDA">
                <a:alpha val="76471"/>
              </a:srgbClr>
            </a:outerShdw>
          </a:effectLst>
        </p:spPr>
        <p:txBody>
          <a:bodyPr/>
          <a:lstStyle/>
          <a:p>
            <a:endParaRPr lang="en-US"/>
          </a:p>
        </p:txBody>
      </p:sp>
      <p:sp>
        <p:nvSpPr>
          <p:cNvPr id="13" name="Text 9"/>
          <p:cNvSpPr/>
          <p:nvPr/>
        </p:nvSpPr>
        <p:spPr>
          <a:xfrm>
            <a:off x="11358882" y="6059762"/>
            <a:ext cx="226534" cy="220415"/>
          </a:xfrm>
          <a:prstGeom prst="rect">
            <a:avLst/>
          </a:prstGeom>
          <a:noFill/>
          <a:ln/>
        </p:spPr>
        <p:txBody>
          <a:bodyPr wrap="square" lIns="45720" tIns="91440" rIns="91440" bIns="45720" rtlCol="0" anchor="ctr"/>
          <a:lstStyle/>
          <a:p>
            <a:pPr marL="0" indent="0">
              <a:lnSpc>
                <a:spcPct val="100000"/>
              </a:lnSpc>
              <a:buNone/>
            </a:pPr>
            <a:endParaRPr lang="en-US" sz="1600" dirty="0"/>
          </a:p>
        </p:txBody>
      </p:sp>
      <p:pic>
        <p:nvPicPr>
          <p:cNvPr id="14" name="Image 2" descr="https://kimi-img.moonshot.cn/pub/slides/slides_tmpl/image/25-08-27-20:02:15-d2nf7hp8bjvh7rlj06d0.png"/>
          <p:cNvPicPr>
            <a:picLocks noChangeAspect="1"/>
          </p:cNvPicPr>
          <p:nvPr/>
        </p:nvPicPr>
        <p:blipFill>
          <a:blip r:embed="rId5"/>
          <a:stretch>
            <a:fillRect/>
          </a:stretch>
        </p:blipFill>
        <p:spPr>
          <a:xfrm>
            <a:off x="364778" y="2109792"/>
            <a:ext cx="1219200" cy="1219200"/>
          </a:xfrm>
          <a:prstGeom prst="rect">
            <a:avLst/>
          </a:prstGeom>
        </p:spPr>
      </p:pic>
      <p:pic>
        <p:nvPicPr>
          <p:cNvPr id="15" name="Image 3" descr="https://kimi-img.moonshot.cn/pub/slides/slides_tmpl/image/25-08-27-20:02:15-d2nf7hp8bjvh7rlj06d0.png"/>
          <p:cNvPicPr>
            <a:picLocks noChangeAspect="1"/>
          </p:cNvPicPr>
          <p:nvPr/>
        </p:nvPicPr>
        <p:blipFill>
          <a:blip r:embed="rId5"/>
          <a:stretch>
            <a:fillRect/>
          </a:stretch>
        </p:blipFill>
        <p:spPr>
          <a:xfrm>
            <a:off x="4461290" y="2109792"/>
            <a:ext cx="1219200" cy="1219200"/>
          </a:xfrm>
          <a:prstGeom prst="rect">
            <a:avLst/>
          </a:prstGeom>
        </p:spPr>
      </p:pic>
      <p:sp>
        <p:nvSpPr>
          <p:cNvPr id="16" name="Shape 10"/>
          <p:cNvSpPr/>
          <p:nvPr/>
        </p:nvSpPr>
        <p:spPr>
          <a:xfrm>
            <a:off x="779721" y="6270738"/>
            <a:ext cx="0" cy="125950"/>
          </a:xfrm>
          <a:prstGeom prst="line">
            <a:avLst/>
          </a:prstGeom>
          <a:noFill/>
          <a:ln w="12700">
            <a:solidFill>
              <a:srgbClr val="FFFFFF"/>
            </a:solidFill>
            <a:prstDash val="solid"/>
            <a:headEnd type="none"/>
            <a:tailEnd type="none"/>
          </a:ln>
        </p:spPr>
        <p:txBody>
          <a:bodyPr/>
          <a:lstStyle/>
          <a:p>
            <a:endParaRPr lang="en-US"/>
          </a:p>
        </p:txBody>
      </p:sp>
      <p:sp>
        <p:nvSpPr>
          <p:cNvPr id="17" name="Shape 11"/>
          <p:cNvSpPr/>
          <p:nvPr/>
        </p:nvSpPr>
        <p:spPr>
          <a:xfrm>
            <a:off x="867722" y="6270738"/>
            <a:ext cx="0" cy="125950"/>
          </a:xfrm>
          <a:prstGeom prst="line">
            <a:avLst/>
          </a:prstGeom>
          <a:noFill/>
          <a:ln w="12700">
            <a:solidFill>
              <a:srgbClr val="FFFFFF"/>
            </a:solidFill>
            <a:prstDash val="solid"/>
            <a:headEnd type="none"/>
            <a:tailEnd type="none"/>
          </a:ln>
        </p:spPr>
        <p:txBody>
          <a:bodyPr/>
          <a:lstStyle/>
          <a:p>
            <a:endParaRPr lang="en-US"/>
          </a:p>
        </p:txBody>
      </p:sp>
      <p:sp>
        <p:nvSpPr>
          <p:cNvPr id="18" name="Shape 12"/>
          <p:cNvSpPr/>
          <p:nvPr/>
        </p:nvSpPr>
        <p:spPr>
          <a:xfrm>
            <a:off x="955722" y="6166356"/>
            <a:ext cx="0" cy="220414"/>
          </a:xfrm>
          <a:prstGeom prst="line">
            <a:avLst/>
          </a:prstGeom>
          <a:noFill/>
          <a:ln w="12700">
            <a:solidFill>
              <a:srgbClr val="FFFFFF"/>
            </a:solidFill>
            <a:prstDash val="solid"/>
            <a:headEnd type="none"/>
            <a:tailEnd type="none"/>
          </a:ln>
        </p:spPr>
        <p:txBody>
          <a:bodyPr/>
          <a:lstStyle/>
          <a:p>
            <a:endParaRPr lang="en-US"/>
          </a:p>
        </p:txBody>
      </p:sp>
      <p:sp>
        <p:nvSpPr>
          <p:cNvPr id="19" name="Shape 13"/>
          <p:cNvSpPr/>
          <p:nvPr/>
        </p:nvSpPr>
        <p:spPr>
          <a:xfrm>
            <a:off x="1043723" y="6270738"/>
            <a:ext cx="0" cy="125950"/>
          </a:xfrm>
          <a:prstGeom prst="line">
            <a:avLst/>
          </a:prstGeom>
          <a:noFill/>
          <a:ln w="12700">
            <a:solidFill>
              <a:srgbClr val="FFFFFF"/>
            </a:solidFill>
            <a:prstDash val="solid"/>
            <a:headEnd type="none"/>
            <a:tailEnd type="none"/>
          </a:ln>
        </p:spPr>
        <p:txBody>
          <a:bodyPr/>
          <a:lstStyle/>
          <a:p>
            <a:endParaRPr lang="en-US"/>
          </a:p>
        </p:txBody>
      </p:sp>
      <p:sp>
        <p:nvSpPr>
          <p:cNvPr id="20" name="Shape 14"/>
          <p:cNvSpPr/>
          <p:nvPr/>
        </p:nvSpPr>
        <p:spPr>
          <a:xfrm>
            <a:off x="1131723" y="6270738"/>
            <a:ext cx="0" cy="125950"/>
          </a:xfrm>
          <a:prstGeom prst="line">
            <a:avLst/>
          </a:prstGeom>
          <a:noFill/>
          <a:ln w="12700">
            <a:solidFill>
              <a:srgbClr val="FFFFFF"/>
            </a:solidFill>
            <a:prstDash val="solid"/>
            <a:headEnd type="none"/>
            <a:tailEnd type="none"/>
          </a:ln>
        </p:spPr>
        <p:txBody>
          <a:bodyPr/>
          <a:lstStyle/>
          <a:p>
            <a:endParaRPr lang="en-US"/>
          </a:p>
        </p:txBody>
      </p:sp>
      <p:sp>
        <p:nvSpPr>
          <p:cNvPr id="21" name="Text 15"/>
          <p:cNvSpPr/>
          <p:nvPr/>
        </p:nvSpPr>
        <p:spPr>
          <a:xfrm>
            <a:off x="542215" y="998076"/>
            <a:ext cx="8152877" cy="833184"/>
          </a:xfrm>
          <a:prstGeom prst="rect">
            <a:avLst/>
          </a:prstGeom>
          <a:noFill/>
          <a:ln/>
        </p:spPr>
        <p:txBody>
          <a:bodyPr wrap="square" lIns="91440" tIns="45720" rIns="91440" bIns="45720" rtlCol="0" anchor="t"/>
          <a:lstStyle/>
          <a:p>
            <a:pPr marL="0" indent="0">
              <a:lnSpc>
                <a:spcPct val="100000"/>
              </a:lnSpc>
              <a:buNone/>
            </a:pPr>
            <a:r>
              <a:rPr lang="en-US" sz="3600" b="1" dirty="0">
                <a:solidFill>
                  <a:srgbClr val="FFFFFF"/>
                </a:solidFill>
                <a:latin typeface="MiSans" pitchFamily="34" charset="0"/>
                <a:ea typeface="MiSans" pitchFamily="34" charset="-122"/>
                <a:cs typeface="MiSans" pitchFamily="34" charset="-120"/>
              </a:rPr>
              <a:t>Astable: reloj cuadrado continuo</a:t>
            </a:r>
            <a:endParaRPr lang="en-US" sz="1600" dirty="0"/>
          </a:p>
        </p:txBody>
      </p:sp>
      <p:pic>
        <p:nvPicPr>
          <p:cNvPr id="22" name="Image 4" descr="https://kimi-img.moonshot.cn/pub/slides/slides_tmpl/image/25-08-27-20:02:06-d2nf7fh8bjvh7rlj060g.png"/>
          <p:cNvPicPr>
            <a:picLocks noChangeAspect="1"/>
          </p:cNvPicPr>
          <p:nvPr/>
        </p:nvPicPr>
        <p:blipFill>
          <a:blip r:embed="rId6"/>
          <a:stretch>
            <a:fillRect/>
          </a:stretch>
        </p:blipFill>
        <p:spPr>
          <a:xfrm>
            <a:off x="662882" y="495145"/>
            <a:ext cx="1371600" cy="304800"/>
          </a:xfrm>
          <a:prstGeom prst="rect">
            <a:avLst/>
          </a:prstGeom>
        </p:spPr>
      </p:pic>
      <p:sp>
        <p:nvSpPr>
          <p:cNvPr id="23" name="Shape 16"/>
          <p:cNvSpPr/>
          <p:nvPr/>
        </p:nvSpPr>
        <p:spPr>
          <a:xfrm>
            <a:off x="641831" y="2543535"/>
            <a:ext cx="665094" cy="295787"/>
          </a:xfrm>
          <a:prstGeom prst="rect">
            <a:avLst/>
          </a:prstGeom>
          <a:solidFill>
            <a:srgbClr val="000000">
              <a:alpha val="0"/>
            </a:srgbClr>
          </a:solidFill>
          <a:ln/>
        </p:spPr>
        <p:txBody>
          <a:bodyPr/>
          <a:lstStyle/>
          <a:p>
            <a:endParaRPr lang="en-US"/>
          </a:p>
        </p:txBody>
      </p:sp>
      <p:sp>
        <p:nvSpPr>
          <p:cNvPr id="24" name="Text 17"/>
          <p:cNvSpPr/>
          <p:nvPr/>
        </p:nvSpPr>
        <p:spPr>
          <a:xfrm>
            <a:off x="641831" y="2543535"/>
            <a:ext cx="665094" cy="295787"/>
          </a:xfrm>
          <a:prstGeom prst="rect">
            <a:avLst/>
          </a:prstGeom>
          <a:noFill/>
          <a:ln/>
        </p:spPr>
        <p:txBody>
          <a:bodyPr wrap="square" lIns="0" tIns="0" rIns="0" bIns="0" rtlCol="0" anchor="t"/>
          <a:lstStyle/>
          <a:p>
            <a:pPr marL="0" indent="0" algn="ctr">
              <a:lnSpc>
                <a:spcPct val="110000"/>
              </a:lnSpc>
              <a:buNone/>
            </a:pPr>
            <a:r>
              <a:rPr lang="en-US" sz="1800" dirty="0">
                <a:solidFill>
                  <a:srgbClr val="FFFFFF"/>
                </a:solidFill>
                <a:latin typeface="MiSans" pitchFamily="34" charset="0"/>
                <a:ea typeface="MiSans" pitchFamily="34" charset="-122"/>
                <a:cs typeface="MiSans" pitchFamily="34" charset="-120"/>
              </a:rPr>
              <a:t>01</a:t>
            </a:r>
            <a:endParaRPr lang="en-US" sz="1600" dirty="0"/>
          </a:p>
        </p:txBody>
      </p:sp>
      <p:sp>
        <p:nvSpPr>
          <p:cNvPr id="25" name="Text 18"/>
          <p:cNvSpPr/>
          <p:nvPr/>
        </p:nvSpPr>
        <p:spPr>
          <a:xfrm>
            <a:off x="652396" y="3216481"/>
            <a:ext cx="4053511" cy="303411"/>
          </a:xfrm>
          <a:prstGeom prst="rect">
            <a:avLst/>
          </a:prstGeom>
          <a:noFill/>
          <a:ln/>
        </p:spPr>
        <p:txBody>
          <a:bodyPr wrap="square" lIns="0" tIns="0" rIns="0" bIns="0" rtlCol="0" anchor="t">
            <a:spAutoFit/>
          </a:bodyPr>
          <a:lstStyle/>
          <a:p>
            <a:pPr marL="0" indent="0">
              <a:lnSpc>
                <a:spcPct val="100000"/>
              </a:lnSpc>
              <a:buNone/>
            </a:pPr>
            <a:r>
              <a:rPr lang="en-US" sz="2000" b="1" dirty="0">
                <a:gradFill flip="none" rotWithShape="0">
                  <a:gsLst>
                    <a:gs pos="0">
                      <a:srgbClr val="30B0FE">
                        <a:alpha val="77000"/>
                      </a:srgbClr>
                    </a:gs>
                    <a:gs pos="10000">
                      <a:srgbClr val="30B0FE">
                        <a:alpha val="77000"/>
                      </a:srgbClr>
                    </a:gs>
                    <a:gs pos="70000">
                      <a:srgbClr val="5684E9"/>
                    </a:gs>
                    <a:gs pos="100000">
                      <a:srgbClr val="014BB5"/>
                    </a:gs>
                  </a:gsLst>
                  <a:lin ang="4800000" scaled="1"/>
                </a:gradFill>
                <a:latin typeface="MiSans" pitchFamily="34" charset="0"/>
                <a:ea typeface="MiSans" pitchFamily="34" charset="-122"/>
                <a:cs typeface="MiSans" pitchFamily="34" charset="-120"/>
              </a:rPr>
              <a:t>Oscilación Continua</a:t>
            </a:r>
            <a:endParaRPr lang="en-US" sz="1600" dirty="0"/>
          </a:p>
        </p:txBody>
      </p:sp>
      <p:sp>
        <p:nvSpPr>
          <p:cNvPr id="26" name="Text 19"/>
          <p:cNvSpPr/>
          <p:nvPr/>
        </p:nvSpPr>
        <p:spPr>
          <a:xfrm>
            <a:off x="577383" y="3663293"/>
            <a:ext cx="3627449" cy="1280120"/>
          </a:xfrm>
          <a:prstGeom prst="rect">
            <a:avLst/>
          </a:prstGeom>
          <a:noFill/>
          <a:ln/>
        </p:spPr>
        <p:txBody>
          <a:bodyPr wrap="square" lIns="91440" tIns="45720" rIns="91440" bIns="45720" rtlCol="0" anchor="t">
            <a:spAutoFit/>
          </a:bodyPr>
          <a:lstStyle/>
          <a:p>
            <a:pPr marL="0" indent="0">
              <a:lnSpc>
                <a:spcPct val="150000"/>
              </a:lnSpc>
              <a:buNone/>
            </a:pPr>
            <a:r>
              <a:rPr lang="en-US" sz="1400" dirty="0">
                <a:solidFill>
                  <a:srgbClr val="FFFFFF"/>
                </a:solidFill>
                <a:latin typeface="MiSans" pitchFamily="34" charset="0"/>
                <a:ea typeface="MiSans" pitchFamily="34" charset="-122"/>
                <a:cs typeface="MiSans" pitchFamily="34" charset="-120"/>
              </a:rPr>
              <a:t>En modo astable, el NE555 genera una onda cuadrada continua. El capacitor carga y descarga entre 1/3 y 2/3 de Vcc, creando una señal de reloj.</a:t>
            </a:r>
            <a:endParaRPr lang="en-US" sz="1600" dirty="0"/>
          </a:p>
        </p:txBody>
      </p:sp>
      <p:sp>
        <p:nvSpPr>
          <p:cNvPr id="27" name="Shape 20"/>
          <p:cNvSpPr/>
          <p:nvPr/>
        </p:nvSpPr>
        <p:spPr>
          <a:xfrm>
            <a:off x="4738343" y="2543535"/>
            <a:ext cx="665094" cy="295787"/>
          </a:xfrm>
          <a:prstGeom prst="rect">
            <a:avLst/>
          </a:prstGeom>
          <a:solidFill>
            <a:srgbClr val="000000">
              <a:alpha val="0"/>
            </a:srgbClr>
          </a:solidFill>
          <a:ln/>
        </p:spPr>
        <p:txBody>
          <a:bodyPr/>
          <a:lstStyle/>
          <a:p>
            <a:endParaRPr lang="en-US"/>
          </a:p>
        </p:txBody>
      </p:sp>
      <p:sp>
        <p:nvSpPr>
          <p:cNvPr id="28" name="Text 21"/>
          <p:cNvSpPr/>
          <p:nvPr/>
        </p:nvSpPr>
        <p:spPr>
          <a:xfrm>
            <a:off x="4738343" y="2543535"/>
            <a:ext cx="665094" cy="295787"/>
          </a:xfrm>
          <a:prstGeom prst="rect">
            <a:avLst/>
          </a:prstGeom>
          <a:noFill/>
          <a:ln/>
        </p:spPr>
        <p:txBody>
          <a:bodyPr wrap="square" lIns="0" tIns="0" rIns="0" bIns="0" rtlCol="0" anchor="t"/>
          <a:lstStyle/>
          <a:p>
            <a:pPr marL="0" indent="0" algn="ctr">
              <a:lnSpc>
                <a:spcPct val="110000"/>
              </a:lnSpc>
              <a:buNone/>
            </a:pPr>
            <a:r>
              <a:rPr lang="en-US" sz="1800" dirty="0">
                <a:solidFill>
                  <a:srgbClr val="FFFFFF"/>
                </a:solidFill>
                <a:latin typeface="MiSans" pitchFamily="34" charset="0"/>
                <a:ea typeface="MiSans" pitchFamily="34" charset="-122"/>
                <a:cs typeface="MiSans" pitchFamily="34" charset="-120"/>
              </a:rPr>
              <a:t>02</a:t>
            </a:r>
            <a:endParaRPr lang="en-US" sz="1600" dirty="0"/>
          </a:p>
        </p:txBody>
      </p:sp>
      <p:sp>
        <p:nvSpPr>
          <p:cNvPr id="29" name="Text 22"/>
          <p:cNvSpPr/>
          <p:nvPr/>
        </p:nvSpPr>
        <p:spPr>
          <a:xfrm>
            <a:off x="4712918" y="3216481"/>
            <a:ext cx="4056104" cy="303411"/>
          </a:xfrm>
          <a:prstGeom prst="rect">
            <a:avLst/>
          </a:prstGeom>
          <a:noFill/>
          <a:ln/>
        </p:spPr>
        <p:txBody>
          <a:bodyPr wrap="square" lIns="0" tIns="0" rIns="0" bIns="0" rtlCol="0" anchor="t">
            <a:spAutoFit/>
          </a:bodyPr>
          <a:lstStyle/>
          <a:p>
            <a:pPr marL="0" indent="0">
              <a:lnSpc>
                <a:spcPct val="100000"/>
              </a:lnSpc>
              <a:buNone/>
            </a:pPr>
            <a:r>
              <a:rPr lang="en-US" sz="2000" b="1" dirty="0">
                <a:gradFill flip="none" rotWithShape="0">
                  <a:gsLst>
                    <a:gs pos="0">
                      <a:srgbClr val="30B0FE">
                        <a:alpha val="77000"/>
                      </a:srgbClr>
                    </a:gs>
                    <a:gs pos="10000">
                      <a:srgbClr val="30B0FE">
                        <a:alpha val="77000"/>
                      </a:srgbClr>
                    </a:gs>
                    <a:gs pos="70000">
                      <a:srgbClr val="5684E9"/>
                    </a:gs>
                    <a:gs pos="100000">
                      <a:srgbClr val="014BB5"/>
                    </a:gs>
                  </a:gsLst>
                  <a:lin ang="4800000" scaled="1"/>
                </a:gradFill>
                <a:latin typeface="MiSans" pitchFamily="34" charset="0"/>
                <a:ea typeface="MiSans" pitchFamily="34" charset="-122"/>
                <a:cs typeface="MiSans" pitchFamily="34" charset="-120"/>
              </a:rPr>
              <a:t>Ajuste de Frecuencia</a:t>
            </a:r>
            <a:endParaRPr lang="en-US" sz="1600" dirty="0"/>
          </a:p>
        </p:txBody>
      </p:sp>
      <p:sp>
        <p:nvSpPr>
          <p:cNvPr id="30" name="Text 23"/>
          <p:cNvSpPr/>
          <p:nvPr/>
        </p:nvSpPr>
        <p:spPr>
          <a:xfrm>
            <a:off x="4637905" y="3663293"/>
            <a:ext cx="3586780" cy="1920081"/>
          </a:xfrm>
          <a:prstGeom prst="rect">
            <a:avLst/>
          </a:prstGeom>
          <a:noFill/>
          <a:ln/>
        </p:spPr>
        <p:txBody>
          <a:bodyPr wrap="square" lIns="91440" tIns="45720" rIns="91440" bIns="45720" rtlCol="0" anchor="t">
            <a:spAutoFit/>
          </a:bodyPr>
          <a:lstStyle/>
          <a:p>
            <a:pPr marL="0" indent="0">
              <a:lnSpc>
                <a:spcPct val="150000"/>
              </a:lnSpc>
              <a:buNone/>
            </a:pPr>
            <a:r>
              <a:rPr lang="en-US" sz="1400" dirty="0">
                <a:solidFill>
                  <a:srgbClr val="FFFFFF"/>
                </a:solidFill>
                <a:latin typeface="MiSans" pitchFamily="34" charset="0"/>
                <a:ea typeface="MiSans" pitchFamily="34" charset="-122"/>
                <a:cs typeface="MiSans" pitchFamily="34" charset="-120"/>
              </a:rPr>
              <a:t>La frecuencia y el ciclo de trabajo se pueden ajustar con resistencias y un capacitor. Las fórmulas T_on = 0.693 × (R1 + R2) × C y T_off = 0.693 × R2 × C permiten una gran flexibilidad en la señal generada.</a:t>
            </a:r>
            <a:endParaRPr lang="en-US" sz="1600" dirty="0"/>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gradFill flip="none" rotWithShape="0">
          <a:gsLst>
            <a:gs pos="0">
              <a:srgbClr val="EFFAFC"/>
            </a:gs>
            <a:gs pos="74000">
              <a:srgbClr val="72C5E9"/>
            </a:gs>
            <a:gs pos="83000">
              <a:srgbClr val="72C5E9"/>
            </a:gs>
            <a:gs pos="100000">
              <a:srgbClr val="A1D9F1"/>
            </a:gs>
          </a:gsLst>
          <a:lin ang="5400000" scaled="1"/>
        </a:gradFill>
        <a:effectLst/>
      </p:bgPr>
    </p:bg>
    <p:spTree>
      <p:nvGrpSpPr>
        <p:cNvPr id="1" name=""/>
        <p:cNvGrpSpPr/>
        <p:nvPr/>
      </p:nvGrpSpPr>
      <p:grpSpPr>
        <a:xfrm>
          <a:off x="0" y="0"/>
          <a:ext cx="0" cy="0"/>
          <a:chOff x="0" y="0"/>
          <a:chExt cx="0" cy="0"/>
        </a:xfrm>
      </p:grpSpPr>
      <p:pic>
        <p:nvPicPr>
          <p:cNvPr id="2" name="Image 0" descr="https://kimi-img.moonshot.cn/pub/slides/slides_tmpl/image/25-08-27-20:02:10-d2nf7gh8bjvh7rlj061g.jpg"/>
          <p:cNvPicPr>
            <a:picLocks noChangeAspect="1"/>
          </p:cNvPicPr>
          <p:nvPr/>
        </p:nvPicPr>
        <p:blipFill>
          <a:blip r:embed="rId3"/>
          <a:stretch>
            <a:fillRect/>
          </a:stretch>
        </p:blipFill>
        <p:spPr>
          <a:xfrm>
            <a:off x="0" y="0"/>
            <a:ext cx="12192000" cy="6864626"/>
          </a:xfrm>
          <a:prstGeom prst="rect">
            <a:avLst/>
          </a:prstGeom>
        </p:spPr>
      </p:pic>
      <p:sp>
        <p:nvSpPr>
          <p:cNvPr id="3" name="Shape 0"/>
          <p:cNvSpPr/>
          <p:nvPr/>
        </p:nvSpPr>
        <p:spPr>
          <a:xfrm>
            <a:off x="-352891" y="4114793"/>
            <a:ext cx="12886267" cy="0"/>
          </a:xfrm>
          <a:prstGeom prst="line">
            <a:avLst/>
          </a:prstGeom>
          <a:noFill/>
          <a:ln w="31750">
            <a:solidFill>
              <a:srgbClr val="5684E9"/>
            </a:solidFill>
            <a:prstDash val="solid"/>
            <a:headEnd type="none"/>
            <a:tailEnd type="none"/>
          </a:ln>
        </p:spPr>
        <p:txBody>
          <a:bodyPr/>
          <a:lstStyle/>
          <a:p>
            <a:endParaRPr lang="en-US"/>
          </a:p>
        </p:txBody>
      </p:sp>
      <p:pic>
        <p:nvPicPr>
          <p:cNvPr id="4" name="Image 1" descr="https://kimi-img.moonshot.cn/pub/slides/slides_tmpl/image/25-08-27-20:02:17-d2nf7i98bjvh7rlj06m0.png"/>
          <p:cNvPicPr>
            <a:picLocks noChangeAspect="1"/>
          </p:cNvPicPr>
          <p:nvPr/>
        </p:nvPicPr>
        <p:blipFill>
          <a:blip r:embed="rId4"/>
          <a:stretch>
            <a:fillRect/>
          </a:stretch>
        </p:blipFill>
        <p:spPr>
          <a:xfrm>
            <a:off x="4590706" y="2705251"/>
            <a:ext cx="1092200" cy="1892300"/>
          </a:xfrm>
          <a:prstGeom prst="rect">
            <a:avLst/>
          </a:prstGeom>
        </p:spPr>
      </p:pic>
      <p:sp>
        <p:nvSpPr>
          <p:cNvPr id="5" name="Shape 1"/>
          <p:cNvSpPr/>
          <p:nvPr/>
        </p:nvSpPr>
        <p:spPr>
          <a:xfrm>
            <a:off x="10924640" y="981848"/>
            <a:ext cx="77797" cy="72000"/>
          </a:xfrm>
          <a:prstGeom prst="ellipse">
            <a:avLst/>
          </a:prstGeom>
          <a:solidFill>
            <a:srgbClr val="FFFFFF"/>
          </a:solidFill>
          <a:ln/>
        </p:spPr>
        <p:txBody>
          <a:bodyPr/>
          <a:lstStyle/>
          <a:p>
            <a:endParaRPr lang="en-US"/>
          </a:p>
        </p:txBody>
      </p:sp>
      <p:sp>
        <p:nvSpPr>
          <p:cNvPr id="6" name="Text 2"/>
          <p:cNvSpPr/>
          <p:nvPr/>
        </p:nvSpPr>
        <p:spPr>
          <a:xfrm>
            <a:off x="10924640" y="981848"/>
            <a:ext cx="77797" cy="7200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7" name="Shape 3"/>
          <p:cNvSpPr/>
          <p:nvPr/>
        </p:nvSpPr>
        <p:spPr>
          <a:xfrm>
            <a:off x="11052814" y="981848"/>
            <a:ext cx="77797" cy="72000"/>
          </a:xfrm>
          <a:prstGeom prst="ellipse">
            <a:avLst/>
          </a:prstGeom>
          <a:solidFill>
            <a:srgbClr val="FFFFFF">
              <a:alpha val="56471"/>
            </a:srgbClr>
          </a:solidFill>
          <a:ln/>
        </p:spPr>
        <p:txBody>
          <a:bodyPr/>
          <a:lstStyle/>
          <a:p>
            <a:endParaRPr lang="en-US"/>
          </a:p>
        </p:txBody>
      </p:sp>
      <p:sp>
        <p:nvSpPr>
          <p:cNvPr id="8" name="Text 4"/>
          <p:cNvSpPr/>
          <p:nvPr/>
        </p:nvSpPr>
        <p:spPr>
          <a:xfrm>
            <a:off x="11052814" y="981848"/>
            <a:ext cx="77797" cy="7200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9" name="Shape 5"/>
          <p:cNvSpPr/>
          <p:nvPr/>
        </p:nvSpPr>
        <p:spPr>
          <a:xfrm>
            <a:off x="11183828" y="981848"/>
            <a:ext cx="77797" cy="72000"/>
          </a:xfrm>
          <a:prstGeom prst="ellipse">
            <a:avLst/>
          </a:prstGeom>
          <a:solidFill>
            <a:srgbClr val="FFFFFF"/>
          </a:solidFill>
          <a:ln/>
        </p:spPr>
        <p:txBody>
          <a:bodyPr/>
          <a:lstStyle/>
          <a:p>
            <a:endParaRPr lang="en-US"/>
          </a:p>
        </p:txBody>
      </p:sp>
      <p:sp>
        <p:nvSpPr>
          <p:cNvPr id="10" name="Text 6"/>
          <p:cNvSpPr/>
          <p:nvPr/>
        </p:nvSpPr>
        <p:spPr>
          <a:xfrm>
            <a:off x="11183828" y="981848"/>
            <a:ext cx="77797" cy="7200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1" name="Shape 7"/>
          <p:cNvSpPr/>
          <p:nvPr/>
        </p:nvSpPr>
        <p:spPr>
          <a:xfrm>
            <a:off x="11314843" y="981848"/>
            <a:ext cx="77797" cy="72000"/>
          </a:xfrm>
          <a:prstGeom prst="ellipse">
            <a:avLst/>
          </a:prstGeom>
          <a:solidFill>
            <a:srgbClr val="FFFFFF">
              <a:alpha val="56471"/>
            </a:srgbClr>
          </a:solidFill>
          <a:ln/>
        </p:spPr>
        <p:txBody>
          <a:bodyPr/>
          <a:lstStyle/>
          <a:p>
            <a:endParaRPr lang="en-US"/>
          </a:p>
        </p:txBody>
      </p:sp>
      <p:sp>
        <p:nvSpPr>
          <p:cNvPr id="12" name="Text 8"/>
          <p:cNvSpPr/>
          <p:nvPr/>
        </p:nvSpPr>
        <p:spPr>
          <a:xfrm>
            <a:off x="11314843" y="981848"/>
            <a:ext cx="77797" cy="72000"/>
          </a:xfrm>
          <a:prstGeom prst="rect">
            <a:avLst/>
          </a:prstGeom>
          <a:noFill/>
          <a:ln/>
        </p:spPr>
        <p:txBody>
          <a:bodyPr wrap="square" lIns="45720" tIns="91440" rIns="91440" bIns="45720" rtlCol="0" anchor="ctr"/>
          <a:lstStyle/>
          <a:p>
            <a:pPr marL="0" indent="0">
              <a:lnSpc>
                <a:spcPct val="100000"/>
              </a:lnSpc>
              <a:buNone/>
            </a:pPr>
            <a:endParaRPr lang="en-US" sz="1600" dirty="0"/>
          </a:p>
        </p:txBody>
      </p:sp>
      <p:pic>
        <p:nvPicPr>
          <p:cNvPr id="13" name="Image 2" descr="https://kimi-img.moonshot.cn/pub/slides/slides_tmpl/image/25-08-27-20:02:17-d2nf7i98bjvh7rlj06m0.png"/>
          <p:cNvPicPr>
            <a:picLocks noChangeAspect="1"/>
          </p:cNvPicPr>
          <p:nvPr/>
        </p:nvPicPr>
        <p:blipFill>
          <a:blip r:embed="rId4"/>
          <a:stretch>
            <a:fillRect/>
          </a:stretch>
        </p:blipFill>
        <p:spPr>
          <a:xfrm rot="10800000">
            <a:off x="1541077" y="3671817"/>
            <a:ext cx="1092200" cy="1892300"/>
          </a:xfrm>
          <a:prstGeom prst="rect">
            <a:avLst/>
          </a:prstGeom>
        </p:spPr>
      </p:pic>
      <p:pic>
        <p:nvPicPr>
          <p:cNvPr id="14" name="Image 3" descr="https://kimi-img.moonshot.cn/pub/slides/slides_tmpl/image/25-08-27-20:02:17-d2nf7i98bjvh7rlj06m0.png"/>
          <p:cNvPicPr>
            <a:picLocks noChangeAspect="1"/>
          </p:cNvPicPr>
          <p:nvPr/>
        </p:nvPicPr>
        <p:blipFill>
          <a:blip r:embed="rId4"/>
          <a:stretch>
            <a:fillRect/>
          </a:stretch>
        </p:blipFill>
        <p:spPr>
          <a:xfrm rot="10800000">
            <a:off x="6640366" y="3671817"/>
            <a:ext cx="1092200" cy="1892300"/>
          </a:xfrm>
          <a:prstGeom prst="rect">
            <a:avLst/>
          </a:prstGeom>
        </p:spPr>
      </p:pic>
      <p:pic>
        <p:nvPicPr>
          <p:cNvPr id="15" name="Image 4" descr="https://kimi-img.moonshot.cn/pub/slides/slides_tmpl/image/25-08-27-20:02:17-d2nf7i98bjvh7rlj06m0.png"/>
          <p:cNvPicPr>
            <a:picLocks noChangeAspect="1"/>
          </p:cNvPicPr>
          <p:nvPr/>
        </p:nvPicPr>
        <p:blipFill>
          <a:blip r:embed="rId4"/>
          <a:stretch>
            <a:fillRect/>
          </a:stretch>
        </p:blipFill>
        <p:spPr>
          <a:xfrm>
            <a:off x="9679913" y="2713561"/>
            <a:ext cx="1092200" cy="1892300"/>
          </a:xfrm>
          <a:prstGeom prst="rect">
            <a:avLst/>
          </a:prstGeom>
        </p:spPr>
      </p:pic>
      <p:sp>
        <p:nvSpPr>
          <p:cNvPr id="16" name="Text 9"/>
          <p:cNvSpPr/>
          <p:nvPr/>
        </p:nvSpPr>
        <p:spPr>
          <a:xfrm>
            <a:off x="542215" y="998076"/>
            <a:ext cx="8152877" cy="833184"/>
          </a:xfrm>
          <a:prstGeom prst="rect">
            <a:avLst/>
          </a:prstGeom>
          <a:noFill/>
          <a:ln/>
        </p:spPr>
        <p:txBody>
          <a:bodyPr wrap="square" lIns="91440" tIns="45720" rIns="91440" bIns="45720" rtlCol="0" anchor="t"/>
          <a:lstStyle/>
          <a:p>
            <a:pPr marL="0" indent="0">
              <a:lnSpc>
                <a:spcPct val="100000"/>
              </a:lnSpc>
              <a:buNone/>
            </a:pPr>
            <a:r>
              <a:rPr lang="en-US" sz="3600" b="1" dirty="0">
                <a:solidFill>
                  <a:srgbClr val="FFFFFF"/>
                </a:solidFill>
                <a:latin typeface="MiSans" pitchFamily="34" charset="0"/>
                <a:ea typeface="MiSans" pitchFamily="34" charset="-122"/>
                <a:cs typeface="MiSans" pitchFamily="34" charset="-120"/>
              </a:rPr>
              <a:t>Biestable: interruptor electrónico</a:t>
            </a:r>
            <a:endParaRPr lang="en-US" sz="1600" dirty="0"/>
          </a:p>
        </p:txBody>
      </p:sp>
      <p:pic>
        <p:nvPicPr>
          <p:cNvPr id="17" name="Image 5" descr="https://kimi-img.moonshot.cn/pub/slides/slides_tmpl/image/25-08-27-20:02:06-d2nf7fh8bjvh7rlj060g.png"/>
          <p:cNvPicPr>
            <a:picLocks noChangeAspect="1"/>
          </p:cNvPicPr>
          <p:nvPr/>
        </p:nvPicPr>
        <p:blipFill>
          <a:blip r:embed="rId5"/>
          <a:stretch>
            <a:fillRect/>
          </a:stretch>
        </p:blipFill>
        <p:spPr>
          <a:xfrm>
            <a:off x="662882" y="495145"/>
            <a:ext cx="1371600" cy="304800"/>
          </a:xfrm>
          <a:prstGeom prst="rect">
            <a:avLst/>
          </a:prstGeom>
        </p:spPr>
      </p:pic>
      <p:sp>
        <p:nvSpPr>
          <p:cNvPr id="18" name="Shape 10"/>
          <p:cNvSpPr/>
          <p:nvPr/>
        </p:nvSpPr>
        <p:spPr>
          <a:xfrm>
            <a:off x="1764991" y="4874930"/>
            <a:ext cx="652471" cy="328680"/>
          </a:xfrm>
          <a:prstGeom prst="rect">
            <a:avLst/>
          </a:prstGeom>
          <a:solidFill>
            <a:srgbClr val="000000">
              <a:alpha val="0"/>
            </a:srgbClr>
          </a:solidFill>
          <a:ln/>
        </p:spPr>
        <p:txBody>
          <a:bodyPr/>
          <a:lstStyle/>
          <a:p>
            <a:endParaRPr lang="en-US"/>
          </a:p>
        </p:txBody>
      </p:sp>
      <p:sp>
        <p:nvSpPr>
          <p:cNvPr id="19" name="Text 11"/>
          <p:cNvSpPr/>
          <p:nvPr/>
        </p:nvSpPr>
        <p:spPr>
          <a:xfrm>
            <a:off x="1764991" y="4874930"/>
            <a:ext cx="652471" cy="328680"/>
          </a:xfrm>
          <a:prstGeom prst="rect">
            <a:avLst/>
          </a:prstGeom>
          <a:noFill/>
          <a:ln/>
        </p:spPr>
        <p:txBody>
          <a:bodyPr wrap="square" lIns="0" tIns="0" rIns="0" bIns="0" rtlCol="0" anchor="t"/>
          <a:lstStyle/>
          <a:p>
            <a:pPr marL="0" indent="0">
              <a:lnSpc>
                <a:spcPct val="110000"/>
              </a:lnSpc>
              <a:buNone/>
            </a:pPr>
            <a:r>
              <a:rPr lang="en-US" sz="2000" dirty="0">
                <a:solidFill>
                  <a:srgbClr val="FFFFFF"/>
                </a:solidFill>
                <a:latin typeface="MiSans" pitchFamily="34" charset="0"/>
                <a:ea typeface="MiSans" pitchFamily="34" charset="-122"/>
                <a:cs typeface="MiSans" pitchFamily="34" charset="-120"/>
              </a:rPr>
              <a:t>01</a:t>
            </a:r>
            <a:endParaRPr lang="en-US" sz="1600" dirty="0"/>
          </a:p>
        </p:txBody>
      </p:sp>
      <p:sp>
        <p:nvSpPr>
          <p:cNvPr id="20" name="Text 12"/>
          <p:cNvSpPr/>
          <p:nvPr/>
        </p:nvSpPr>
        <p:spPr>
          <a:xfrm>
            <a:off x="2646256" y="4425970"/>
            <a:ext cx="3505796" cy="276860"/>
          </a:xfrm>
          <a:prstGeom prst="rect">
            <a:avLst/>
          </a:prstGeom>
          <a:noFill/>
          <a:ln/>
        </p:spPr>
        <p:txBody>
          <a:bodyPr wrap="square" lIns="0" tIns="0" rIns="0" bIns="0" rtlCol="0" anchor="t">
            <a:spAutoFit/>
          </a:bodyPr>
          <a:lstStyle/>
          <a:p>
            <a:pPr marL="0" indent="0">
              <a:lnSpc>
                <a:spcPct val="100000"/>
              </a:lnSpc>
              <a:buNone/>
            </a:pPr>
            <a:r>
              <a:rPr lang="en-US" sz="1800" b="1" dirty="0">
                <a:gradFill flip="none" rotWithShape="0">
                  <a:gsLst>
                    <a:gs pos="0">
                      <a:srgbClr val="30B0FE">
                        <a:alpha val="77000"/>
                      </a:srgbClr>
                    </a:gs>
                    <a:gs pos="10000">
                      <a:srgbClr val="30B0FE">
                        <a:alpha val="77000"/>
                      </a:srgbClr>
                    </a:gs>
                    <a:gs pos="70000">
                      <a:srgbClr val="5684E9"/>
                    </a:gs>
                    <a:gs pos="100000">
                      <a:srgbClr val="014BB5"/>
                    </a:gs>
                  </a:gsLst>
                  <a:lin ang="4800000" scaled="1"/>
                </a:gradFill>
                <a:latin typeface="MiSans" pitchFamily="34" charset="0"/>
                <a:ea typeface="MiSans" pitchFamily="34" charset="-122"/>
                <a:cs typeface="MiSans" pitchFamily="34" charset="-120"/>
              </a:rPr>
              <a:t>Estados Estables</a:t>
            </a:r>
            <a:endParaRPr lang="en-US" sz="1600" dirty="0"/>
          </a:p>
        </p:txBody>
      </p:sp>
      <p:sp>
        <p:nvSpPr>
          <p:cNvPr id="21" name="Text 13"/>
          <p:cNvSpPr/>
          <p:nvPr/>
        </p:nvSpPr>
        <p:spPr>
          <a:xfrm>
            <a:off x="2541771" y="4679344"/>
            <a:ext cx="4283720" cy="1679691"/>
          </a:xfrm>
          <a:prstGeom prst="rect">
            <a:avLst/>
          </a:prstGeom>
          <a:noFill/>
          <a:ln/>
        </p:spPr>
        <p:txBody>
          <a:bodyPr wrap="square" lIns="91440" tIns="45720" rIns="91440" bIns="45720" rtlCol="0" anchor="t">
            <a:spAutoFit/>
          </a:bodyPr>
          <a:lstStyle/>
          <a:p>
            <a:pPr marL="0" indent="0">
              <a:lnSpc>
                <a:spcPct val="150000"/>
              </a:lnSpc>
              <a:buNone/>
            </a:pPr>
            <a:r>
              <a:rPr lang="en-US" sz="1400" dirty="0">
                <a:solidFill>
                  <a:srgbClr val="FFFFFF"/>
                </a:solidFill>
                <a:latin typeface="MiSans" pitchFamily="34" charset="0"/>
                <a:ea typeface="MiSans" pitchFamily="34" charset="-122"/>
                <a:cs typeface="MiSans" pitchFamily="34" charset="-120"/>
              </a:rPr>
              <a:t>En modo biestable, el NE555 tiene dos estados estables: alto y bajo. Cambia de estado con señales externas en los pines Trigger y Reset.</a:t>
            </a:r>
            <a:endParaRPr lang="en-US" sz="1600" dirty="0"/>
          </a:p>
        </p:txBody>
      </p:sp>
      <p:sp>
        <p:nvSpPr>
          <p:cNvPr id="22" name="Shape 14"/>
          <p:cNvSpPr/>
          <p:nvPr/>
        </p:nvSpPr>
        <p:spPr>
          <a:xfrm>
            <a:off x="4813594" y="3064325"/>
            <a:ext cx="652471" cy="328680"/>
          </a:xfrm>
          <a:prstGeom prst="rect">
            <a:avLst/>
          </a:prstGeom>
          <a:solidFill>
            <a:srgbClr val="000000">
              <a:alpha val="0"/>
            </a:srgbClr>
          </a:solidFill>
          <a:ln/>
        </p:spPr>
        <p:txBody>
          <a:bodyPr/>
          <a:lstStyle/>
          <a:p>
            <a:endParaRPr lang="en-US"/>
          </a:p>
        </p:txBody>
      </p:sp>
      <p:sp>
        <p:nvSpPr>
          <p:cNvPr id="23" name="Text 15"/>
          <p:cNvSpPr/>
          <p:nvPr/>
        </p:nvSpPr>
        <p:spPr>
          <a:xfrm>
            <a:off x="4813594" y="3064325"/>
            <a:ext cx="652471" cy="328680"/>
          </a:xfrm>
          <a:prstGeom prst="rect">
            <a:avLst/>
          </a:prstGeom>
          <a:noFill/>
          <a:ln/>
        </p:spPr>
        <p:txBody>
          <a:bodyPr wrap="square" lIns="0" tIns="0" rIns="0" bIns="0" rtlCol="0" anchor="t"/>
          <a:lstStyle/>
          <a:p>
            <a:pPr marL="0" indent="0">
              <a:lnSpc>
                <a:spcPct val="110000"/>
              </a:lnSpc>
              <a:buNone/>
            </a:pPr>
            <a:r>
              <a:rPr lang="en-US" sz="2000" dirty="0">
                <a:solidFill>
                  <a:srgbClr val="FFFFFF"/>
                </a:solidFill>
                <a:latin typeface="MiSans" pitchFamily="34" charset="0"/>
                <a:ea typeface="MiSans" pitchFamily="34" charset="-122"/>
                <a:cs typeface="MiSans" pitchFamily="34" charset="-120"/>
              </a:rPr>
              <a:t>02</a:t>
            </a:r>
            <a:endParaRPr lang="en-US" sz="1600" dirty="0"/>
          </a:p>
        </p:txBody>
      </p:sp>
      <p:sp>
        <p:nvSpPr>
          <p:cNvPr id="24" name="Text 16"/>
          <p:cNvSpPr/>
          <p:nvPr/>
        </p:nvSpPr>
        <p:spPr>
          <a:xfrm>
            <a:off x="616288" y="1993666"/>
            <a:ext cx="3505796" cy="276860"/>
          </a:xfrm>
          <a:prstGeom prst="rect">
            <a:avLst/>
          </a:prstGeom>
          <a:noFill/>
          <a:ln/>
        </p:spPr>
        <p:txBody>
          <a:bodyPr wrap="square" lIns="0" tIns="0" rIns="0" bIns="0" rtlCol="0" anchor="t">
            <a:spAutoFit/>
          </a:bodyPr>
          <a:lstStyle/>
          <a:p>
            <a:pPr marL="0" indent="0">
              <a:lnSpc>
                <a:spcPct val="100000"/>
              </a:lnSpc>
              <a:buNone/>
            </a:pPr>
            <a:r>
              <a:rPr lang="en-US" sz="1800" b="1" dirty="0">
                <a:gradFill flip="none" rotWithShape="0">
                  <a:gsLst>
                    <a:gs pos="0">
                      <a:srgbClr val="30B0FE">
                        <a:alpha val="77000"/>
                      </a:srgbClr>
                    </a:gs>
                    <a:gs pos="10000">
                      <a:srgbClr val="30B0FE">
                        <a:alpha val="77000"/>
                      </a:srgbClr>
                    </a:gs>
                    <a:gs pos="70000">
                      <a:srgbClr val="5684E9"/>
                    </a:gs>
                    <a:gs pos="100000">
                      <a:srgbClr val="014BB5"/>
                    </a:gs>
                  </a:gsLst>
                  <a:lin ang="4800000" scaled="1"/>
                </a:gradFill>
                <a:latin typeface="MiSans" pitchFamily="34" charset="0"/>
                <a:ea typeface="MiSans" pitchFamily="34" charset="-122"/>
                <a:cs typeface="MiSans" pitchFamily="34" charset="-120"/>
              </a:rPr>
              <a:t>Funcionamiento</a:t>
            </a:r>
            <a:endParaRPr lang="en-US" sz="1600" dirty="0"/>
          </a:p>
        </p:txBody>
      </p:sp>
      <p:sp>
        <p:nvSpPr>
          <p:cNvPr id="25" name="Text 17"/>
          <p:cNvSpPr/>
          <p:nvPr/>
        </p:nvSpPr>
        <p:spPr>
          <a:xfrm>
            <a:off x="511803" y="2247040"/>
            <a:ext cx="4283720" cy="1679691"/>
          </a:xfrm>
          <a:prstGeom prst="rect">
            <a:avLst/>
          </a:prstGeom>
          <a:noFill/>
          <a:ln/>
        </p:spPr>
        <p:txBody>
          <a:bodyPr wrap="square" lIns="91440" tIns="45720" rIns="91440" bIns="45720" rtlCol="0" anchor="t">
            <a:spAutoFit/>
          </a:bodyPr>
          <a:lstStyle/>
          <a:p>
            <a:pPr marL="0" indent="0">
              <a:lnSpc>
                <a:spcPct val="150000"/>
              </a:lnSpc>
              <a:buNone/>
            </a:pPr>
            <a:r>
              <a:rPr lang="en-US" sz="1400" dirty="0">
                <a:solidFill>
                  <a:srgbClr val="FFFFFF"/>
                </a:solidFill>
                <a:latin typeface="MiSans" pitchFamily="34" charset="0"/>
                <a:ea typeface="MiSans" pitchFamily="34" charset="-122"/>
                <a:cs typeface="MiSans" pitchFamily="34" charset="-120"/>
              </a:rPr>
              <a:t>Cuando se activa el pin Trigger, el output se pone en alto. Al activar el pin Reset, el output regresa a bajo. No requiere capacitor ni resistencia de temporización.</a:t>
            </a:r>
            <a:endParaRPr lang="en-US" sz="1600" dirty="0"/>
          </a:p>
        </p:txBody>
      </p:sp>
      <p:sp>
        <p:nvSpPr>
          <p:cNvPr id="26" name="Shape 18"/>
          <p:cNvSpPr/>
          <p:nvPr/>
        </p:nvSpPr>
        <p:spPr>
          <a:xfrm>
            <a:off x="6857735" y="4891864"/>
            <a:ext cx="652471" cy="328680"/>
          </a:xfrm>
          <a:prstGeom prst="rect">
            <a:avLst/>
          </a:prstGeom>
          <a:solidFill>
            <a:srgbClr val="000000">
              <a:alpha val="0"/>
            </a:srgbClr>
          </a:solidFill>
          <a:ln/>
        </p:spPr>
        <p:txBody>
          <a:bodyPr/>
          <a:lstStyle/>
          <a:p>
            <a:endParaRPr lang="en-US"/>
          </a:p>
        </p:txBody>
      </p:sp>
      <p:sp>
        <p:nvSpPr>
          <p:cNvPr id="27" name="Text 19"/>
          <p:cNvSpPr/>
          <p:nvPr/>
        </p:nvSpPr>
        <p:spPr>
          <a:xfrm>
            <a:off x="6857735" y="4891864"/>
            <a:ext cx="652471" cy="328680"/>
          </a:xfrm>
          <a:prstGeom prst="rect">
            <a:avLst/>
          </a:prstGeom>
          <a:noFill/>
          <a:ln/>
        </p:spPr>
        <p:txBody>
          <a:bodyPr wrap="square" lIns="0" tIns="0" rIns="0" bIns="0" rtlCol="0" anchor="t"/>
          <a:lstStyle/>
          <a:p>
            <a:pPr marL="0" indent="0">
              <a:lnSpc>
                <a:spcPct val="110000"/>
              </a:lnSpc>
              <a:buNone/>
            </a:pPr>
            <a:r>
              <a:rPr lang="en-US" sz="2000" dirty="0">
                <a:solidFill>
                  <a:srgbClr val="FFFFFF"/>
                </a:solidFill>
                <a:latin typeface="MiSans" pitchFamily="34" charset="0"/>
                <a:ea typeface="MiSans" pitchFamily="34" charset="-122"/>
                <a:cs typeface="MiSans" pitchFamily="34" charset="-120"/>
              </a:rPr>
              <a:t>03</a:t>
            </a:r>
            <a:endParaRPr lang="en-US" sz="1600" dirty="0"/>
          </a:p>
        </p:txBody>
      </p:sp>
      <p:sp>
        <p:nvSpPr>
          <p:cNvPr id="28" name="Text 20"/>
          <p:cNvSpPr/>
          <p:nvPr/>
        </p:nvSpPr>
        <p:spPr>
          <a:xfrm>
            <a:off x="7686006" y="4425970"/>
            <a:ext cx="3505796" cy="276860"/>
          </a:xfrm>
          <a:prstGeom prst="rect">
            <a:avLst/>
          </a:prstGeom>
          <a:noFill/>
          <a:ln/>
        </p:spPr>
        <p:txBody>
          <a:bodyPr wrap="square" lIns="0" tIns="0" rIns="0" bIns="0" rtlCol="0" anchor="t">
            <a:spAutoFit/>
          </a:bodyPr>
          <a:lstStyle/>
          <a:p>
            <a:pPr marL="0" indent="0">
              <a:lnSpc>
                <a:spcPct val="100000"/>
              </a:lnSpc>
              <a:buNone/>
            </a:pPr>
            <a:r>
              <a:rPr lang="en-US" sz="1800" b="1" dirty="0">
                <a:gradFill flip="none" rotWithShape="0">
                  <a:gsLst>
                    <a:gs pos="0">
                      <a:srgbClr val="30B0FE">
                        <a:alpha val="77000"/>
                      </a:srgbClr>
                    </a:gs>
                    <a:gs pos="10000">
                      <a:srgbClr val="30B0FE">
                        <a:alpha val="77000"/>
                      </a:srgbClr>
                    </a:gs>
                    <a:gs pos="70000">
                      <a:srgbClr val="5684E9"/>
                    </a:gs>
                    <a:gs pos="100000">
                      <a:srgbClr val="014BB5"/>
                    </a:gs>
                  </a:gsLst>
                  <a:lin ang="4800000" scaled="1"/>
                </a:gradFill>
                <a:latin typeface="MiSans" pitchFamily="34" charset="0"/>
                <a:ea typeface="MiSans" pitchFamily="34" charset="-122"/>
                <a:cs typeface="MiSans" pitchFamily="34" charset="-120"/>
              </a:rPr>
              <a:t>Aplicaciones</a:t>
            </a:r>
            <a:endParaRPr lang="en-US" sz="1600" dirty="0"/>
          </a:p>
        </p:txBody>
      </p:sp>
      <p:sp>
        <p:nvSpPr>
          <p:cNvPr id="29" name="Text 21"/>
          <p:cNvSpPr/>
          <p:nvPr/>
        </p:nvSpPr>
        <p:spPr>
          <a:xfrm>
            <a:off x="7581521" y="4679344"/>
            <a:ext cx="4283720" cy="1679691"/>
          </a:xfrm>
          <a:prstGeom prst="rect">
            <a:avLst/>
          </a:prstGeom>
          <a:noFill/>
          <a:ln/>
        </p:spPr>
        <p:txBody>
          <a:bodyPr wrap="square" lIns="91440" tIns="45720" rIns="91440" bIns="45720" rtlCol="0" anchor="t">
            <a:spAutoFit/>
          </a:bodyPr>
          <a:lstStyle/>
          <a:p>
            <a:pPr marL="0" indent="0">
              <a:lnSpc>
                <a:spcPct val="150000"/>
              </a:lnSpc>
              <a:buNone/>
            </a:pPr>
            <a:r>
              <a:rPr lang="en-US" sz="1400" dirty="0">
                <a:solidFill>
                  <a:srgbClr val="FFFFFF"/>
                </a:solidFill>
                <a:latin typeface="MiSans" pitchFamily="34" charset="0"/>
                <a:ea typeface="MiSans" pitchFamily="34" charset="-122"/>
                <a:cs typeface="MiSans" pitchFamily="34" charset="-120"/>
              </a:rPr>
              <a:t>Este modo es ideal para interruptores electrónicos, memorias básicas y sistemas de alarma que deben mantener un estado hasta recibir una señal de cambio.</a:t>
            </a:r>
            <a:endParaRPr lang="en-US" sz="1600" dirty="0"/>
          </a:p>
        </p:txBody>
      </p:sp>
      <p:sp>
        <p:nvSpPr>
          <p:cNvPr id="30" name="Shape 22"/>
          <p:cNvSpPr/>
          <p:nvPr/>
        </p:nvSpPr>
        <p:spPr>
          <a:xfrm>
            <a:off x="9899777" y="3082614"/>
            <a:ext cx="652471" cy="328680"/>
          </a:xfrm>
          <a:prstGeom prst="rect">
            <a:avLst/>
          </a:prstGeom>
          <a:solidFill>
            <a:srgbClr val="000000">
              <a:alpha val="0"/>
            </a:srgbClr>
          </a:solidFill>
          <a:ln/>
        </p:spPr>
        <p:txBody>
          <a:bodyPr/>
          <a:lstStyle/>
          <a:p>
            <a:endParaRPr lang="en-US"/>
          </a:p>
        </p:txBody>
      </p:sp>
      <p:sp>
        <p:nvSpPr>
          <p:cNvPr id="31" name="Text 23"/>
          <p:cNvSpPr/>
          <p:nvPr/>
        </p:nvSpPr>
        <p:spPr>
          <a:xfrm>
            <a:off x="9899777" y="3082614"/>
            <a:ext cx="652471" cy="328680"/>
          </a:xfrm>
          <a:prstGeom prst="rect">
            <a:avLst/>
          </a:prstGeom>
          <a:noFill/>
          <a:ln/>
        </p:spPr>
        <p:txBody>
          <a:bodyPr wrap="square" lIns="0" tIns="0" rIns="0" bIns="0" rtlCol="0" anchor="t"/>
          <a:lstStyle/>
          <a:p>
            <a:pPr marL="0" indent="0">
              <a:lnSpc>
                <a:spcPct val="110000"/>
              </a:lnSpc>
              <a:buNone/>
            </a:pPr>
            <a:r>
              <a:rPr lang="en-US" sz="2000" dirty="0">
                <a:solidFill>
                  <a:srgbClr val="FFFFFF"/>
                </a:solidFill>
                <a:latin typeface="MiSans" pitchFamily="34" charset="0"/>
                <a:ea typeface="MiSans" pitchFamily="34" charset="-122"/>
                <a:cs typeface="MiSans" pitchFamily="34" charset="-120"/>
              </a:rPr>
              <a:t>04</a:t>
            </a:r>
            <a:endParaRPr lang="en-US" sz="1600" dirty="0"/>
          </a:p>
        </p:txBody>
      </p:sp>
      <p:sp>
        <p:nvSpPr>
          <p:cNvPr id="32" name="Text 24"/>
          <p:cNvSpPr/>
          <p:nvPr/>
        </p:nvSpPr>
        <p:spPr>
          <a:xfrm>
            <a:off x="5632024" y="1993666"/>
            <a:ext cx="3505796" cy="276860"/>
          </a:xfrm>
          <a:prstGeom prst="rect">
            <a:avLst/>
          </a:prstGeom>
          <a:noFill/>
          <a:ln/>
        </p:spPr>
        <p:txBody>
          <a:bodyPr wrap="square" lIns="0" tIns="0" rIns="0" bIns="0" rtlCol="0" anchor="t">
            <a:spAutoFit/>
          </a:bodyPr>
          <a:lstStyle/>
          <a:p>
            <a:pPr marL="0" indent="0">
              <a:lnSpc>
                <a:spcPct val="100000"/>
              </a:lnSpc>
              <a:buNone/>
            </a:pPr>
            <a:r>
              <a:rPr lang="en-US" sz="1800" b="1" dirty="0">
                <a:gradFill flip="none" rotWithShape="0">
                  <a:gsLst>
                    <a:gs pos="0">
                      <a:srgbClr val="30B0FE">
                        <a:alpha val="77000"/>
                      </a:srgbClr>
                    </a:gs>
                    <a:gs pos="10000">
                      <a:srgbClr val="30B0FE">
                        <a:alpha val="77000"/>
                      </a:srgbClr>
                    </a:gs>
                    <a:gs pos="70000">
                      <a:srgbClr val="5684E9"/>
                    </a:gs>
                    <a:gs pos="100000">
                      <a:srgbClr val="014BB5"/>
                    </a:gs>
                  </a:gsLst>
                  <a:lin ang="4800000" scaled="1"/>
                </a:gradFill>
                <a:latin typeface="MiSans" pitchFamily="34" charset="0"/>
                <a:ea typeface="MiSans" pitchFamily="34" charset="-122"/>
                <a:cs typeface="MiSans" pitchFamily="34" charset="-120"/>
              </a:rPr>
              <a:t>Ventajas</a:t>
            </a:r>
            <a:endParaRPr lang="en-US" sz="1600" dirty="0"/>
          </a:p>
        </p:txBody>
      </p:sp>
      <p:sp>
        <p:nvSpPr>
          <p:cNvPr id="33" name="Text 25"/>
          <p:cNvSpPr/>
          <p:nvPr/>
        </p:nvSpPr>
        <p:spPr>
          <a:xfrm>
            <a:off x="5527539" y="2247040"/>
            <a:ext cx="4283720" cy="1679691"/>
          </a:xfrm>
          <a:prstGeom prst="rect">
            <a:avLst/>
          </a:prstGeom>
          <a:noFill/>
          <a:ln/>
        </p:spPr>
        <p:txBody>
          <a:bodyPr wrap="square" lIns="91440" tIns="45720" rIns="91440" bIns="45720" rtlCol="0" anchor="t">
            <a:spAutoFit/>
          </a:bodyPr>
          <a:lstStyle/>
          <a:p>
            <a:pPr marL="0" indent="0">
              <a:lnSpc>
                <a:spcPct val="150000"/>
              </a:lnSpc>
              <a:buNone/>
            </a:pPr>
            <a:r>
              <a:rPr lang="en-US" sz="1400" dirty="0">
                <a:solidFill>
                  <a:srgbClr val="FFFFFF"/>
                </a:solidFill>
                <a:latin typeface="MiSans" pitchFamily="34" charset="0"/>
                <a:ea typeface="MiSans" pitchFamily="34" charset="-122"/>
                <a:cs typeface="MiSans" pitchFamily="34" charset="-120"/>
              </a:rPr>
              <a:t>Permite crear sistemas de control simples y confiables sin necesidad de componentes adicionales. Es especialmente útil en aplicaciones donde se requiere un estado de memoria.</a:t>
            </a:r>
            <a:endParaRPr lang="en-US" sz="1600" dirty="0"/>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2:12-d2nf7h18bjvh7rlj0650.jpg"/>
          <p:cNvPicPr>
            <a:picLocks noChangeAspect="1"/>
          </p:cNvPicPr>
          <p:nvPr/>
        </p:nvPicPr>
        <p:blipFill>
          <a:blip r:embed="rId3"/>
          <a:srcRect/>
          <a:stretch/>
        </p:blipFill>
        <p:spPr>
          <a:xfrm>
            <a:off x="0" y="3426"/>
            <a:ext cx="12191999" cy="6864626"/>
          </a:xfrm>
          <a:prstGeom prst="rect">
            <a:avLst/>
          </a:prstGeom>
        </p:spPr>
      </p:pic>
      <p:sp>
        <p:nvSpPr>
          <p:cNvPr id="3" name="Text 0"/>
          <p:cNvSpPr/>
          <p:nvPr/>
        </p:nvSpPr>
        <p:spPr>
          <a:xfrm>
            <a:off x="4119359" y="3709831"/>
            <a:ext cx="3832016" cy="984885"/>
          </a:xfrm>
          <a:prstGeom prst="rect">
            <a:avLst/>
          </a:prstGeom>
          <a:noFill/>
          <a:ln/>
        </p:spPr>
        <p:txBody>
          <a:bodyPr wrap="square" lIns="0" tIns="0" rIns="0" bIns="0" rtlCol="0" anchor="t">
            <a:spAutoFit/>
          </a:bodyPr>
          <a:lstStyle/>
          <a:p>
            <a:pPr marL="0" indent="0" algn="ctr">
              <a:lnSpc>
                <a:spcPct val="100000"/>
              </a:lnSpc>
              <a:buNone/>
            </a:pPr>
            <a:r>
              <a:rPr lang="en-US" sz="3200" dirty="0">
                <a:solidFill>
                  <a:srgbClr val="FFFFFF"/>
                </a:solidFill>
                <a:latin typeface="MiSans" pitchFamily="34" charset="0"/>
                <a:ea typeface="MiSans" pitchFamily="34" charset="-122"/>
                <a:cs typeface="MiSans" pitchFamily="34" charset="-120"/>
              </a:rPr>
              <a:t>Aplicaciones y Consejos</a:t>
            </a:r>
            <a:endParaRPr lang="en-US" sz="1600" dirty="0"/>
          </a:p>
        </p:txBody>
      </p:sp>
      <p:sp>
        <p:nvSpPr>
          <p:cNvPr id="4" name="Shape 1"/>
          <p:cNvSpPr/>
          <p:nvPr/>
        </p:nvSpPr>
        <p:spPr>
          <a:xfrm>
            <a:off x="779721" y="6270738"/>
            <a:ext cx="0" cy="125950"/>
          </a:xfrm>
          <a:prstGeom prst="line">
            <a:avLst/>
          </a:prstGeom>
          <a:noFill/>
          <a:ln w="12700">
            <a:solidFill>
              <a:srgbClr val="FFFFFF"/>
            </a:solidFill>
            <a:prstDash val="solid"/>
            <a:headEnd type="none"/>
            <a:tailEnd type="none"/>
          </a:ln>
        </p:spPr>
        <p:txBody>
          <a:bodyPr/>
          <a:lstStyle/>
          <a:p>
            <a:endParaRPr lang="en-US"/>
          </a:p>
        </p:txBody>
      </p:sp>
      <p:sp>
        <p:nvSpPr>
          <p:cNvPr id="5" name="Shape 2"/>
          <p:cNvSpPr/>
          <p:nvPr/>
        </p:nvSpPr>
        <p:spPr>
          <a:xfrm>
            <a:off x="867722" y="6270738"/>
            <a:ext cx="0" cy="125950"/>
          </a:xfrm>
          <a:prstGeom prst="line">
            <a:avLst/>
          </a:prstGeom>
          <a:noFill/>
          <a:ln w="12700">
            <a:solidFill>
              <a:srgbClr val="FFFFFF"/>
            </a:solidFill>
            <a:prstDash val="solid"/>
            <a:headEnd type="none"/>
            <a:tailEnd type="none"/>
          </a:ln>
        </p:spPr>
        <p:txBody>
          <a:bodyPr/>
          <a:lstStyle/>
          <a:p>
            <a:endParaRPr lang="en-US"/>
          </a:p>
        </p:txBody>
      </p:sp>
      <p:sp>
        <p:nvSpPr>
          <p:cNvPr id="6" name="Shape 3"/>
          <p:cNvSpPr/>
          <p:nvPr/>
        </p:nvSpPr>
        <p:spPr>
          <a:xfrm>
            <a:off x="955722" y="6166356"/>
            <a:ext cx="0" cy="220414"/>
          </a:xfrm>
          <a:prstGeom prst="line">
            <a:avLst/>
          </a:prstGeom>
          <a:noFill/>
          <a:ln w="12700">
            <a:solidFill>
              <a:srgbClr val="FFFFFF"/>
            </a:solidFill>
            <a:prstDash val="solid"/>
            <a:headEnd type="none"/>
            <a:tailEnd type="none"/>
          </a:ln>
        </p:spPr>
        <p:txBody>
          <a:bodyPr/>
          <a:lstStyle/>
          <a:p>
            <a:endParaRPr lang="en-US"/>
          </a:p>
        </p:txBody>
      </p:sp>
      <p:sp>
        <p:nvSpPr>
          <p:cNvPr id="7" name="Shape 4"/>
          <p:cNvSpPr/>
          <p:nvPr/>
        </p:nvSpPr>
        <p:spPr>
          <a:xfrm>
            <a:off x="1043723" y="6270738"/>
            <a:ext cx="0" cy="125950"/>
          </a:xfrm>
          <a:prstGeom prst="line">
            <a:avLst/>
          </a:prstGeom>
          <a:noFill/>
          <a:ln w="12700">
            <a:solidFill>
              <a:srgbClr val="FFFFFF"/>
            </a:solidFill>
            <a:prstDash val="solid"/>
            <a:headEnd type="none"/>
            <a:tailEnd type="none"/>
          </a:ln>
        </p:spPr>
        <p:txBody>
          <a:bodyPr/>
          <a:lstStyle/>
          <a:p>
            <a:endParaRPr lang="en-US"/>
          </a:p>
        </p:txBody>
      </p:sp>
      <p:sp>
        <p:nvSpPr>
          <p:cNvPr id="8" name="Shape 5"/>
          <p:cNvSpPr/>
          <p:nvPr/>
        </p:nvSpPr>
        <p:spPr>
          <a:xfrm>
            <a:off x="1131723" y="6270738"/>
            <a:ext cx="0" cy="125950"/>
          </a:xfrm>
          <a:prstGeom prst="line">
            <a:avLst/>
          </a:prstGeom>
          <a:noFill/>
          <a:ln w="12700">
            <a:solidFill>
              <a:srgbClr val="FFFFFF"/>
            </a:solidFill>
            <a:prstDash val="solid"/>
            <a:headEnd type="none"/>
            <a:tailEnd type="none"/>
          </a:ln>
        </p:spPr>
        <p:txBody>
          <a:bodyPr/>
          <a:lstStyle/>
          <a:p>
            <a:endParaRPr lang="en-US"/>
          </a:p>
        </p:txBody>
      </p:sp>
      <p:sp>
        <p:nvSpPr>
          <p:cNvPr id="9" name="Shape 6"/>
          <p:cNvSpPr/>
          <p:nvPr/>
        </p:nvSpPr>
        <p:spPr>
          <a:xfrm>
            <a:off x="10796832" y="6396446"/>
            <a:ext cx="116844" cy="116844"/>
          </a:xfrm>
          <a:prstGeom prst="ellipse">
            <a:avLst/>
          </a:prstGeom>
          <a:solidFill>
            <a:srgbClr val="FFFFFF"/>
          </a:solidFill>
          <a:ln/>
        </p:spPr>
        <p:txBody>
          <a:bodyPr/>
          <a:lstStyle/>
          <a:p>
            <a:endParaRPr lang="en-US"/>
          </a:p>
        </p:txBody>
      </p:sp>
      <p:sp>
        <p:nvSpPr>
          <p:cNvPr id="10" name="Text 7"/>
          <p:cNvSpPr/>
          <p:nvPr/>
        </p:nvSpPr>
        <p:spPr>
          <a:xfrm>
            <a:off x="10796832" y="6396446"/>
            <a:ext cx="116844" cy="116844"/>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1" name="Shape 8"/>
          <p:cNvSpPr/>
          <p:nvPr/>
        </p:nvSpPr>
        <p:spPr>
          <a:xfrm>
            <a:off x="10989337" y="6396446"/>
            <a:ext cx="116844" cy="116844"/>
          </a:xfrm>
          <a:prstGeom prst="ellipse">
            <a:avLst/>
          </a:prstGeom>
          <a:solidFill>
            <a:srgbClr val="FFFFFF">
              <a:alpha val="56471"/>
            </a:srgbClr>
          </a:solidFill>
          <a:ln/>
        </p:spPr>
        <p:txBody>
          <a:bodyPr/>
          <a:lstStyle/>
          <a:p>
            <a:endParaRPr lang="en-US"/>
          </a:p>
        </p:txBody>
      </p:sp>
      <p:sp>
        <p:nvSpPr>
          <p:cNvPr id="12" name="Text 9"/>
          <p:cNvSpPr/>
          <p:nvPr/>
        </p:nvSpPr>
        <p:spPr>
          <a:xfrm>
            <a:off x="10989337" y="6396446"/>
            <a:ext cx="116844" cy="116844"/>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3" name="Shape 10"/>
          <p:cNvSpPr/>
          <p:nvPr/>
        </p:nvSpPr>
        <p:spPr>
          <a:xfrm>
            <a:off x="11186107" y="6396446"/>
            <a:ext cx="116844" cy="116844"/>
          </a:xfrm>
          <a:prstGeom prst="ellipse">
            <a:avLst/>
          </a:prstGeom>
          <a:solidFill>
            <a:srgbClr val="FFFFFF"/>
          </a:solidFill>
          <a:ln/>
        </p:spPr>
        <p:txBody>
          <a:bodyPr/>
          <a:lstStyle/>
          <a:p>
            <a:endParaRPr lang="en-US"/>
          </a:p>
        </p:txBody>
      </p:sp>
      <p:sp>
        <p:nvSpPr>
          <p:cNvPr id="14" name="Text 11"/>
          <p:cNvSpPr/>
          <p:nvPr/>
        </p:nvSpPr>
        <p:spPr>
          <a:xfrm>
            <a:off x="11186107" y="6396446"/>
            <a:ext cx="116844" cy="116844"/>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5" name="Shape 12"/>
          <p:cNvSpPr/>
          <p:nvPr/>
        </p:nvSpPr>
        <p:spPr>
          <a:xfrm>
            <a:off x="11382877" y="6396446"/>
            <a:ext cx="116844" cy="116844"/>
          </a:xfrm>
          <a:prstGeom prst="ellipse">
            <a:avLst/>
          </a:prstGeom>
          <a:solidFill>
            <a:srgbClr val="FFFFFF">
              <a:alpha val="56471"/>
            </a:srgbClr>
          </a:solidFill>
          <a:ln/>
        </p:spPr>
        <p:txBody>
          <a:bodyPr/>
          <a:lstStyle/>
          <a:p>
            <a:endParaRPr lang="en-US"/>
          </a:p>
        </p:txBody>
      </p:sp>
      <p:sp>
        <p:nvSpPr>
          <p:cNvPr id="16" name="Text 13"/>
          <p:cNvSpPr/>
          <p:nvPr/>
        </p:nvSpPr>
        <p:spPr>
          <a:xfrm>
            <a:off x="11382877" y="6396446"/>
            <a:ext cx="116844" cy="116844"/>
          </a:xfrm>
          <a:prstGeom prst="rect">
            <a:avLst/>
          </a:prstGeom>
          <a:noFill/>
          <a:ln/>
        </p:spPr>
        <p:txBody>
          <a:bodyPr wrap="square" lIns="45720" tIns="91440" rIns="91440" bIns="45720" rtlCol="0" anchor="ctr"/>
          <a:lstStyle/>
          <a:p>
            <a:pPr marL="0" indent="0">
              <a:lnSpc>
                <a:spcPct val="100000"/>
              </a:lnSpc>
              <a:buNone/>
            </a:pPr>
            <a:endParaRPr lang="en-US" sz="1600" dirty="0"/>
          </a:p>
        </p:txBody>
      </p:sp>
      <p:pic>
        <p:nvPicPr>
          <p:cNvPr id="17" name="Image 1" descr="https://kimi-img.moonshot.cn/pub/slides/slides_tmpl/image/25-08-27-20:02:06-d2nf7fh8bjvh7rlj0600.png"/>
          <p:cNvPicPr>
            <a:picLocks noChangeAspect="1"/>
          </p:cNvPicPr>
          <p:nvPr/>
        </p:nvPicPr>
        <p:blipFill>
          <a:blip r:embed="rId4"/>
          <a:stretch>
            <a:fillRect/>
          </a:stretch>
        </p:blipFill>
        <p:spPr>
          <a:xfrm>
            <a:off x="4267199" y="3446152"/>
            <a:ext cx="3657600" cy="12700"/>
          </a:xfrm>
          <a:prstGeom prst="rect">
            <a:avLst/>
          </a:prstGeom>
        </p:spPr>
      </p:pic>
      <p:sp>
        <p:nvSpPr>
          <p:cNvPr id="18" name="Shape 14"/>
          <p:cNvSpPr/>
          <p:nvPr/>
        </p:nvSpPr>
        <p:spPr>
          <a:xfrm>
            <a:off x="4893310" y="1477010"/>
            <a:ext cx="2284095" cy="2335530"/>
          </a:xfrm>
          <a:prstGeom prst="rect">
            <a:avLst/>
          </a:prstGeom>
          <a:solidFill>
            <a:srgbClr val="000000">
              <a:alpha val="0"/>
            </a:srgbClr>
          </a:solidFill>
          <a:ln/>
        </p:spPr>
        <p:txBody>
          <a:bodyPr/>
          <a:lstStyle/>
          <a:p>
            <a:endParaRPr lang="en-US"/>
          </a:p>
        </p:txBody>
      </p:sp>
      <p:sp>
        <p:nvSpPr>
          <p:cNvPr id="19" name="Text 15"/>
          <p:cNvSpPr/>
          <p:nvPr/>
        </p:nvSpPr>
        <p:spPr>
          <a:xfrm>
            <a:off x="4893310" y="1477010"/>
            <a:ext cx="2284095" cy="2335530"/>
          </a:xfrm>
          <a:prstGeom prst="rect">
            <a:avLst/>
          </a:prstGeom>
          <a:noFill/>
          <a:ln/>
        </p:spPr>
        <p:txBody>
          <a:bodyPr wrap="square" lIns="0" tIns="0" rIns="0" bIns="0" rtlCol="0" anchor="t"/>
          <a:lstStyle/>
          <a:p>
            <a:pPr marL="0" indent="0">
              <a:lnSpc>
                <a:spcPct val="110000"/>
              </a:lnSpc>
              <a:buNone/>
            </a:pPr>
            <a:r>
              <a:rPr lang="en-US" sz="13800" dirty="0">
                <a:gradFill flip="none" rotWithShape="0">
                  <a:gsLst>
                    <a:gs pos="0">
                      <a:srgbClr val="FFFFFF">
                        <a:alpha val="61000"/>
                      </a:srgbClr>
                    </a:gs>
                    <a:gs pos="28000">
                      <a:srgbClr val="FFFFFF">
                        <a:alpha val="61000"/>
                      </a:srgbClr>
                    </a:gs>
                    <a:gs pos="78000">
                      <a:srgbClr val="FFFFFF"/>
                    </a:gs>
                    <a:gs pos="100000">
                      <a:srgbClr val="FFFFFF"/>
                    </a:gs>
                  </a:gsLst>
                  <a:path path="circle">
                    <a:fillToRect r="100000" b="100000"/>
                  </a:path>
                  <a:tileRect l="-100000" t="-100000"/>
                </a:gradFill>
                <a:latin typeface="PingFang SC Medium" pitchFamily="34" charset="0"/>
                <a:ea typeface="PingFang SC Medium" pitchFamily="34" charset="-122"/>
                <a:cs typeface="PingFang SC Medium" pitchFamily="34" charset="-120"/>
              </a:rPr>
              <a:t>05</a:t>
            </a:r>
            <a:endParaRPr lang="en-US" sz="1600" dirty="0"/>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2:10-d2nf7gh8bjvh7rlj061g.jpg"/>
          <p:cNvPicPr>
            <a:picLocks noChangeAspect="1"/>
          </p:cNvPicPr>
          <p:nvPr/>
        </p:nvPicPr>
        <p:blipFill>
          <a:blip r:embed="rId3"/>
          <a:stretch>
            <a:fillRect/>
          </a:stretch>
        </p:blipFill>
        <p:spPr>
          <a:xfrm>
            <a:off x="0" y="0"/>
            <a:ext cx="12192000" cy="6864626"/>
          </a:xfrm>
          <a:prstGeom prst="rect">
            <a:avLst/>
          </a:prstGeom>
        </p:spPr>
      </p:pic>
      <p:pic>
        <p:nvPicPr>
          <p:cNvPr id="3" name="Image 1" descr="https://kimi-img.moonshot.cn/pub/slides/slides_tmpl/image/25-08-27-20:02:16-d2nf7i18bjvh7rlj06k0.png"/>
          <p:cNvPicPr>
            <a:picLocks noChangeAspect="1"/>
          </p:cNvPicPr>
          <p:nvPr/>
        </p:nvPicPr>
        <p:blipFill>
          <a:blip r:embed="rId4">
            <a:alphaModFix amt="51000"/>
          </a:blip>
          <a:stretch>
            <a:fillRect/>
          </a:stretch>
        </p:blipFill>
        <p:spPr>
          <a:xfrm>
            <a:off x="922071" y="-151398"/>
            <a:ext cx="11507617" cy="7796879"/>
          </a:xfrm>
          <a:prstGeom prst="rect">
            <a:avLst/>
          </a:prstGeom>
        </p:spPr>
      </p:pic>
      <p:pic>
        <p:nvPicPr>
          <p:cNvPr id="4" name="Image 2" descr="https://kimi-img.moonshot.cn/pub/slides/slides_tmpl/image/25-08-27-20:02:12-d2nf7h18bjvh7rlj065g.png"/>
          <p:cNvPicPr>
            <a:picLocks noChangeAspect="1"/>
          </p:cNvPicPr>
          <p:nvPr/>
        </p:nvPicPr>
        <p:blipFill>
          <a:blip r:embed="rId5"/>
          <a:stretch>
            <a:fillRect/>
          </a:stretch>
        </p:blipFill>
        <p:spPr>
          <a:xfrm>
            <a:off x="976935" y="-151398"/>
            <a:ext cx="4796267" cy="8307846"/>
          </a:xfrm>
          <a:prstGeom prst="rect">
            <a:avLst/>
          </a:prstGeom>
        </p:spPr>
      </p:pic>
      <p:sp>
        <p:nvSpPr>
          <p:cNvPr id="5" name="Shape 0"/>
          <p:cNvSpPr/>
          <p:nvPr/>
        </p:nvSpPr>
        <p:spPr>
          <a:xfrm flipH="1">
            <a:off x="11451321" y="672670"/>
            <a:ext cx="77797" cy="72000"/>
          </a:xfrm>
          <a:prstGeom prst="ellipse">
            <a:avLst/>
          </a:prstGeom>
          <a:solidFill>
            <a:srgbClr val="FFFFFF"/>
          </a:solidFill>
          <a:ln/>
        </p:spPr>
        <p:txBody>
          <a:bodyPr/>
          <a:lstStyle/>
          <a:p>
            <a:endParaRPr lang="en-US"/>
          </a:p>
        </p:txBody>
      </p:sp>
      <p:sp>
        <p:nvSpPr>
          <p:cNvPr id="6" name="Text 1"/>
          <p:cNvSpPr/>
          <p:nvPr/>
        </p:nvSpPr>
        <p:spPr>
          <a:xfrm>
            <a:off x="11451321" y="672670"/>
            <a:ext cx="77797" cy="7200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7" name="Shape 2"/>
          <p:cNvSpPr/>
          <p:nvPr/>
        </p:nvSpPr>
        <p:spPr>
          <a:xfrm flipH="1">
            <a:off x="11319983" y="673749"/>
            <a:ext cx="77797" cy="72000"/>
          </a:xfrm>
          <a:prstGeom prst="ellipse">
            <a:avLst/>
          </a:prstGeom>
          <a:solidFill>
            <a:srgbClr val="FFFFFF">
              <a:alpha val="56471"/>
            </a:srgbClr>
          </a:solidFill>
          <a:ln/>
        </p:spPr>
        <p:txBody>
          <a:bodyPr/>
          <a:lstStyle/>
          <a:p>
            <a:endParaRPr lang="en-US"/>
          </a:p>
        </p:txBody>
      </p:sp>
      <p:sp>
        <p:nvSpPr>
          <p:cNvPr id="8" name="Text 3"/>
          <p:cNvSpPr/>
          <p:nvPr/>
        </p:nvSpPr>
        <p:spPr>
          <a:xfrm>
            <a:off x="11319983" y="673749"/>
            <a:ext cx="77797" cy="7200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9" name="Shape 4"/>
          <p:cNvSpPr/>
          <p:nvPr/>
        </p:nvSpPr>
        <p:spPr>
          <a:xfrm flipH="1">
            <a:off x="11192132" y="672670"/>
            <a:ext cx="77797" cy="72000"/>
          </a:xfrm>
          <a:prstGeom prst="ellipse">
            <a:avLst/>
          </a:prstGeom>
          <a:solidFill>
            <a:srgbClr val="FFFFFF"/>
          </a:solidFill>
          <a:ln/>
        </p:spPr>
        <p:txBody>
          <a:bodyPr/>
          <a:lstStyle/>
          <a:p>
            <a:endParaRPr lang="en-US"/>
          </a:p>
        </p:txBody>
      </p:sp>
      <p:sp>
        <p:nvSpPr>
          <p:cNvPr id="10" name="Text 5"/>
          <p:cNvSpPr/>
          <p:nvPr/>
        </p:nvSpPr>
        <p:spPr>
          <a:xfrm>
            <a:off x="11192132" y="672670"/>
            <a:ext cx="77797" cy="7200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1" name="Shape 6"/>
          <p:cNvSpPr/>
          <p:nvPr/>
        </p:nvSpPr>
        <p:spPr>
          <a:xfrm flipH="1">
            <a:off x="11061118" y="672670"/>
            <a:ext cx="77797" cy="72000"/>
          </a:xfrm>
          <a:prstGeom prst="ellipse">
            <a:avLst/>
          </a:prstGeom>
          <a:solidFill>
            <a:srgbClr val="FFFFFF">
              <a:alpha val="56471"/>
            </a:srgbClr>
          </a:solidFill>
          <a:ln/>
        </p:spPr>
        <p:txBody>
          <a:bodyPr/>
          <a:lstStyle/>
          <a:p>
            <a:endParaRPr lang="en-US"/>
          </a:p>
        </p:txBody>
      </p:sp>
      <p:sp>
        <p:nvSpPr>
          <p:cNvPr id="12" name="Text 7"/>
          <p:cNvSpPr/>
          <p:nvPr/>
        </p:nvSpPr>
        <p:spPr>
          <a:xfrm>
            <a:off x="11061118" y="672670"/>
            <a:ext cx="77797" cy="7200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3" name="Shape 8"/>
          <p:cNvSpPr/>
          <p:nvPr/>
        </p:nvSpPr>
        <p:spPr>
          <a:xfrm>
            <a:off x="11358882" y="6059762"/>
            <a:ext cx="226534" cy="220415"/>
          </a:xfrm>
          <a:prstGeom prst="rect">
            <a:avLst/>
          </a:prstGeom>
          <a:solidFill>
            <a:srgbClr val="517BDA"/>
          </a:solidFill>
          <a:ln/>
          <a:effectLst>
            <a:outerShdw blurRad="145102" dist="50800" dir="2700000" algn="bl" rotWithShape="0">
              <a:srgbClr val="517BDA">
                <a:alpha val="76471"/>
              </a:srgbClr>
            </a:outerShdw>
          </a:effectLst>
        </p:spPr>
        <p:txBody>
          <a:bodyPr/>
          <a:lstStyle/>
          <a:p>
            <a:endParaRPr lang="en-US"/>
          </a:p>
        </p:txBody>
      </p:sp>
      <p:sp>
        <p:nvSpPr>
          <p:cNvPr id="14" name="Text 9"/>
          <p:cNvSpPr/>
          <p:nvPr/>
        </p:nvSpPr>
        <p:spPr>
          <a:xfrm>
            <a:off x="11358882" y="6059762"/>
            <a:ext cx="226534" cy="22041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5" name="Text 10"/>
          <p:cNvSpPr/>
          <p:nvPr/>
        </p:nvSpPr>
        <p:spPr>
          <a:xfrm>
            <a:off x="1237335" y="1072801"/>
            <a:ext cx="4221847" cy="1316897"/>
          </a:xfrm>
          <a:prstGeom prst="rect">
            <a:avLst/>
          </a:prstGeom>
          <a:noFill/>
          <a:ln/>
        </p:spPr>
        <p:txBody>
          <a:bodyPr wrap="square" lIns="91440" tIns="45720" rIns="91440" bIns="45720" rtlCol="0" anchor="t"/>
          <a:lstStyle/>
          <a:p>
            <a:pPr marL="0" indent="0">
              <a:lnSpc>
                <a:spcPct val="100000"/>
              </a:lnSpc>
              <a:buNone/>
            </a:pPr>
            <a:r>
              <a:rPr lang="en-US" sz="3600" b="1" dirty="0">
                <a:solidFill>
                  <a:srgbClr val="FFFFFF"/>
                </a:solidFill>
                <a:latin typeface="MiSans" pitchFamily="34" charset="0"/>
                <a:ea typeface="MiSans" pitchFamily="34" charset="-122"/>
                <a:cs typeface="MiSans" pitchFamily="34" charset="-120"/>
              </a:rPr>
              <a:t>Aplicaciones que encontrarás en tu día</a:t>
            </a:r>
            <a:endParaRPr lang="en-US" sz="1600" dirty="0"/>
          </a:p>
        </p:txBody>
      </p:sp>
      <p:pic>
        <p:nvPicPr>
          <p:cNvPr id="16" name="Image 3" descr="https://kimi-img.moonshot.cn/pub/slides/slides_tmpl/image/25-08-27-20:02:06-d2nf7fh8bjvh7rlj060g.png"/>
          <p:cNvPicPr>
            <a:picLocks noChangeAspect="1"/>
          </p:cNvPicPr>
          <p:nvPr/>
        </p:nvPicPr>
        <p:blipFill>
          <a:blip r:embed="rId6"/>
          <a:stretch>
            <a:fillRect/>
          </a:stretch>
        </p:blipFill>
        <p:spPr>
          <a:xfrm>
            <a:off x="1358002" y="569871"/>
            <a:ext cx="1371600" cy="304800"/>
          </a:xfrm>
          <a:prstGeom prst="rect">
            <a:avLst/>
          </a:prstGeom>
        </p:spPr>
      </p:pic>
      <p:sp>
        <p:nvSpPr>
          <p:cNvPr id="17" name="Text 11"/>
          <p:cNvSpPr/>
          <p:nvPr/>
        </p:nvSpPr>
        <p:spPr>
          <a:xfrm>
            <a:off x="1318888" y="2959568"/>
            <a:ext cx="3421380" cy="307340"/>
          </a:xfrm>
          <a:prstGeom prst="rect">
            <a:avLst/>
          </a:prstGeom>
          <a:noFill/>
          <a:ln/>
        </p:spPr>
        <p:txBody>
          <a:bodyPr wrap="square" lIns="0" tIns="0" rIns="0" bIns="0" rtlCol="0" anchor="t">
            <a:spAutoFit/>
          </a:bodyPr>
          <a:lstStyle/>
          <a:p>
            <a:pPr marL="0" indent="0">
              <a:lnSpc>
                <a:spcPct val="100000"/>
              </a:lnSpc>
              <a:buNone/>
            </a:pPr>
            <a:r>
              <a:rPr lang="en-US" sz="2000" b="1" dirty="0">
                <a:gradFill flip="none" rotWithShape="0">
                  <a:gsLst>
                    <a:gs pos="0">
                      <a:srgbClr val="30B0FE">
                        <a:alpha val="77000"/>
                      </a:srgbClr>
                    </a:gs>
                    <a:gs pos="10000">
                      <a:srgbClr val="30B0FE">
                        <a:alpha val="77000"/>
                      </a:srgbClr>
                    </a:gs>
                    <a:gs pos="70000">
                      <a:srgbClr val="5684E9"/>
                    </a:gs>
                    <a:gs pos="100000">
                      <a:srgbClr val="014BB5"/>
                    </a:gs>
                  </a:gsLst>
                  <a:lin ang="4800000" scaled="1"/>
                </a:gradFill>
                <a:latin typeface="MiSans" pitchFamily="34" charset="0"/>
                <a:ea typeface="MiSans" pitchFamily="34" charset="-122"/>
                <a:cs typeface="MiSans" pitchFamily="34" charset="-120"/>
              </a:rPr>
              <a:t>Usos Cotidianos</a:t>
            </a:r>
            <a:endParaRPr lang="en-US" sz="1600" dirty="0"/>
          </a:p>
        </p:txBody>
      </p:sp>
      <p:sp>
        <p:nvSpPr>
          <p:cNvPr id="18" name="Text 12"/>
          <p:cNvSpPr/>
          <p:nvPr/>
        </p:nvSpPr>
        <p:spPr>
          <a:xfrm>
            <a:off x="1237335" y="3386294"/>
            <a:ext cx="4273205" cy="1679691"/>
          </a:xfrm>
          <a:prstGeom prst="rect">
            <a:avLst/>
          </a:prstGeom>
          <a:noFill/>
          <a:ln/>
        </p:spPr>
        <p:txBody>
          <a:bodyPr wrap="square" lIns="91440" tIns="45720" rIns="91440" bIns="45720" rtlCol="0" anchor="t">
            <a:spAutoFit/>
          </a:bodyPr>
          <a:lstStyle/>
          <a:p>
            <a:pPr marL="0" indent="0">
              <a:lnSpc>
                <a:spcPct val="150000"/>
              </a:lnSpc>
              <a:buNone/>
            </a:pPr>
            <a:r>
              <a:rPr lang="en-US" sz="1400" dirty="0">
                <a:solidFill>
                  <a:srgbClr val="FFFFFF"/>
                </a:solidFill>
                <a:latin typeface="MiSans" pitchFamily="34" charset="0"/>
                <a:ea typeface="MiSans" pitchFamily="34" charset="-122"/>
                <a:cs typeface="MiSans" pitchFamily="34" charset="-120"/>
              </a:rPr>
              <a:t>El NE555 se encuentra en aplicaciones cotidianas como el parpadeo de LEDs, generación de tonos y alarmas, control de servomotores, temporizadores de electrodomésticos, modulación de ancho de pulso y divisores de frecuencia. Su versatilidad lo hace indispensable en electrónica.</a:t>
            </a:r>
            <a:endParaRPr lang="en-US" sz="1600" dirty="0"/>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2:10-d2nf7gh8bjvh7rlj061g.jpg"/>
          <p:cNvPicPr>
            <a:picLocks noChangeAspect="1"/>
          </p:cNvPicPr>
          <p:nvPr/>
        </p:nvPicPr>
        <p:blipFill>
          <a:blip r:embed="rId3"/>
          <a:stretch>
            <a:fillRect/>
          </a:stretch>
        </p:blipFill>
        <p:spPr>
          <a:xfrm>
            <a:off x="-1041" y="0"/>
            <a:ext cx="12192000" cy="6864626"/>
          </a:xfrm>
          <a:prstGeom prst="rect">
            <a:avLst/>
          </a:prstGeom>
        </p:spPr>
      </p:pic>
      <p:pic>
        <p:nvPicPr>
          <p:cNvPr id="3" name="Image 1" descr="https://kimi-img.moonshot.cn/pub/slides/slides_tmpl/image/25-08-27-20:02:16-d2nf7i18bjvh7rlj06eg.png"/>
          <p:cNvPicPr>
            <a:picLocks noChangeAspect="1"/>
          </p:cNvPicPr>
          <p:nvPr/>
        </p:nvPicPr>
        <p:blipFill>
          <a:blip r:embed="rId4"/>
          <a:stretch>
            <a:fillRect/>
          </a:stretch>
        </p:blipFill>
        <p:spPr>
          <a:xfrm>
            <a:off x="-1042" y="8615"/>
            <a:ext cx="12607263" cy="3716515"/>
          </a:xfrm>
          <a:prstGeom prst="rect">
            <a:avLst/>
          </a:prstGeom>
        </p:spPr>
      </p:pic>
      <p:sp>
        <p:nvSpPr>
          <p:cNvPr id="4" name="Text 0"/>
          <p:cNvSpPr/>
          <p:nvPr/>
        </p:nvSpPr>
        <p:spPr>
          <a:xfrm>
            <a:off x="934263" y="479263"/>
            <a:ext cx="3049055" cy="606887"/>
          </a:xfrm>
          <a:prstGeom prst="rect">
            <a:avLst/>
          </a:prstGeom>
          <a:noFill/>
          <a:ln/>
        </p:spPr>
        <p:txBody>
          <a:bodyPr wrap="square" lIns="91440" tIns="45720" rIns="91440" bIns="45720" rtlCol="0" anchor="ctr"/>
          <a:lstStyle/>
          <a:p>
            <a:pPr marL="0" indent="0">
              <a:lnSpc>
                <a:spcPct val="90000"/>
              </a:lnSpc>
              <a:buNone/>
            </a:pPr>
            <a:r>
              <a:rPr lang="en-US" sz="4400" dirty="0">
                <a:solidFill>
                  <a:srgbClr val="000000"/>
                </a:solidFill>
                <a:latin typeface="MiSans" pitchFamily="34" charset="0"/>
                <a:ea typeface="MiSans" pitchFamily="34" charset="-122"/>
                <a:cs typeface="MiSans" pitchFamily="34" charset="-120"/>
              </a:rPr>
              <a:t> </a:t>
            </a:r>
            <a:endParaRPr lang="en-US" sz="1600" dirty="0"/>
          </a:p>
        </p:txBody>
      </p:sp>
      <p:sp>
        <p:nvSpPr>
          <p:cNvPr id="5" name="Shape 1"/>
          <p:cNvSpPr/>
          <p:nvPr/>
        </p:nvSpPr>
        <p:spPr>
          <a:xfrm>
            <a:off x="779721" y="6270738"/>
            <a:ext cx="0" cy="125950"/>
          </a:xfrm>
          <a:prstGeom prst="line">
            <a:avLst/>
          </a:prstGeom>
          <a:noFill/>
          <a:ln w="12700">
            <a:solidFill>
              <a:srgbClr val="FFFFFF"/>
            </a:solidFill>
            <a:prstDash val="solid"/>
            <a:headEnd type="none"/>
            <a:tailEnd type="none"/>
          </a:ln>
        </p:spPr>
        <p:txBody>
          <a:bodyPr/>
          <a:lstStyle/>
          <a:p>
            <a:endParaRPr lang="en-US"/>
          </a:p>
        </p:txBody>
      </p:sp>
      <p:sp>
        <p:nvSpPr>
          <p:cNvPr id="6" name="Shape 2"/>
          <p:cNvSpPr/>
          <p:nvPr/>
        </p:nvSpPr>
        <p:spPr>
          <a:xfrm>
            <a:off x="867722" y="6270738"/>
            <a:ext cx="0" cy="125950"/>
          </a:xfrm>
          <a:prstGeom prst="line">
            <a:avLst/>
          </a:prstGeom>
          <a:noFill/>
          <a:ln w="12700">
            <a:solidFill>
              <a:srgbClr val="FFFFFF"/>
            </a:solidFill>
            <a:prstDash val="solid"/>
            <a:headEnd type="none"/>
            <a:tailEnd type="none"/>
          </a:ln>
        </p:spPr>
        <p:txBody>
          <a:bodyPr/>
          <a:lstStyle/>
          <a:p>
            <a:endParaRPr lang="en-US"/>
          </a:p>
        </p:txBody>
      </p:sp>
      <p:sp>
        <p:nvSpPr>
          <p:cNvPr id="7" name="Shape 3"/>
          <p:cNvSpPr/>
          <p:nvPr/>
        </p:nvSpPr>
        <p:spPr>
          <a:xfrm>
            <a:off x="955722" y="6166356"/>
            <a:ext cx="0" cy="220414"/>
          </a:xfrm>
          <a:prstGeom prst="line">
            <a:avLst/>
          </a:prstGeom>
          <a:noFill/>
          <a:ln w="12700">
            <a:solidFill>
              <a:srgbClr val="FFFFFF"/>
            </a:solidFill>
            <a:prstDash val="solid"/>
            <a:headEnd type="none"/>
            <a:tailEnd type="none"/>
          </a:ln>
        </p:spPr>
        <p:txBody>
          <a:bodyPr/>
          <a:lstStyle/>
          <a:p>
            <a:endParaRPr lang="en-US"/>
          </a:p>
        </p:txBody>
      </p:sp>
      <p:sp>
        <p:nvSpPr>
          <p:cNvPr id="8" name="Shape 4"/>
          <p:cNvSpPr/>
          <p:nvPr/>
        </p:nvSpPr>
        <p:spPr>
          <a:xfrm>
            <a:off x="1043723" y="6270738"/>
            <a:ext cx="0" cy="125950"/>
          </a:xfrm>
          <a:prstGeom prst="line">
            <a:avLst/>
          </a:prstGeom>
          <a:noFill/>
          <a:ln w="12700">
            <a:solidFill>
              <a:srgbClr val="FFFFFF"/>
            </a:solidFill>
            <a:prstDash val="solid"/>
            <a:headEnd type="none"/>
            <a:tailEnd type="none"/>
          </a:ln>
        </p:spPr>
        <p:txBody>
          <a:bodyPr/>
          <a:lstStyle/>
          <a:p>
            <a:endParaRPr lang="en-US"/>
          </a:p>
        </p:txBody>
      </p:sp>
      <p:sp>
        <p:nvSpPr>
          <p:cNvPr id="9" name="Shape 5"/>
          <p:cNvSpPr/>
          <p:nvPr/>
        </p:nvSpPr>
        <p:spPr>
          <a:xfrm>
            <a:off x="1131723" y="6270738"/>
            <a:ext cx="0" cy="125950"/>
          </a:xfrm>
          <a:prstGeom prst="line">
            <a:avLst/>
          </a:prstGeom>
          <a:noFill/>
          <a:ln w="12700">
            <a:solidFill>
              <a:srgbClr val="FFFFFF"/>
            </a:solidFill>
            <a:prstDash val="solid"/>
            <a:headEnd type="none"/>
            <a:tailEnd type="none"/>
          </a:ln>
        </p:spPr>
        <p:txBody>
          <a:bodyPr/>
          <a:lstStyle/>
          <a:p>
            <a:endParaRPr lang="en-US"/>
          </a:p>
        </p:txBody>
      </p:sp>
      <p:pic>
        <p:nvPicPr>
          <p:cNvPr id="10" name="Image 2" descr="https://kimi-img.moonshot.cn/pub/slides/slides_tmpl/image/25-08-27-20:02:14-d2nf7hh8bjvh7rlj06b0.png"/>
          <p:cNvPicPr>
            <a:picLocks noChangeAspect="1"/>
          </p:cNvPicPr>
          <p:nvPr/>
        </p:nvPicPr>
        <p:blipFill>
          <a:blip r:embed="rId5"/>
          <a:stretch>
            <a:fillRect/>
          </a:stretch>
        </p:blipFill>
        <p:spPr>
          <a:xfrm>
            <a:off x="935771" y="3509350"/>
            <a:ext cx="825500" cy="825500"/>
          </a:xfrm>
          <a:prstGeom prst="rect">
            <a:avLst/>
          </a:prstGeom>
        </p:spPr>
      </p:pic>
      <p:sp>
        <p:nvSpPr>
          <p:cNvPr id="11" name="Shape 6"/>
          <p:cNvSpPr/>
          <p:nvPr/>
        </p:nvSpPr>
        <p:spPr>
          <a:xfrm flipH="1">
            <a:off x="11314843" y="981848"/>
            <a:ext cx="77797" cy="72000"/>
          </a:xfrm>
          <a:prstGeom prst="ellipse">
            <a:avLst/>
          </a:prstGeom>
          <a:solidFill>
            <a:srgbClr val="FFFFFF"/>
          </a:solidFill>
          <a:ln/>
        </p:spPr>
        <p:txBody>
          <a:bodyPr/>
          <a:lstStyle/>
          <a:p>
            <a:endParaRPr lang="en-US"/>
          </a:p>
        </p:txBody>
      </p:sp>
      <p:sp>
        <p:nvSpPr>
          <p:cNvPr id="12" name="Text 7"/>
          <p:cNvSpPr/>
          <p:nvPr/>
        </p:nvSpPr>
        <p:spPr>
          <a:xfrm>
            <a:off x="11314843" y="981848"/>
            <a:ext cx="77797" cy="7200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3" name="Shape 8"/>
          <p:cNvSpPr/>
          <p:nvPr/>
        </p:nvSpPr>
        <p:spPr>
          <a:xfrm flipH="1">
            <a:off x="11186668" y="981848"/>
            <a:ext cx="77797" cy="72000"/>
          </a:xfrm>
          <a:prstGeom prst="ellipse">
            <a:avLst/>
          </a:prstGeom>
          <a:solidFill>
            <a:srgbClr val="FFFFFF">
              <a:alpha val="56471"/>
            </a:srgbClr>
          </a:solidFill>
          <a:ln/>
        </p:spPr>
        <p:txBody>
          <a:bodyPr/>
          <a:lstStyle/>
          <a:p>
            <a:endParaRPr lang="en-US"/>
          </a:p>
        </p:txBody>
      </p:sp>
      <p:sp>
        <p:nvSpPr>
          <p:cNvPr id="14" name="Text 9"/>
          <p:cNvSpPr/>
          <p:nvPr/>
        </p:nvSpPr>
        <p:spPr>
          <a:xfrm>
            <a:off x="11186668" y="981848"/>
            <a:ext cx="77797" cy="7200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5" name="Shape 10"/>
          <p:cNvSpPr/>
          <p:nvPr/>
        </p:nvSpPr>
        <p:spPr>
          <a:xfrm flipH="1">
            <a:off x="11055654" y="981848"/>
            <a:ext cx="77797" cy="72000"/>
          </a:xfrm>
          <a:prstGeom prst="ellipse">
            <a:avLst/>
          </a:prstGeom>
          <a:solidFill>
            <a:srgbClr val="FFFFFF"/>
          </a:solidFill>
          <a:ln/>
        </p:spPr>
        <p:txBody>
          <a:bodyPr/>
          <a:lstStyle/>
          <a:p>
            <a:endParaRPr lang="en-US"/>
          </a:p>
        </p:txBody>
      </p:sp>
      <p:sp>
        <p:nvSpPr>
          <p:cNvPr id="16" name="Text 11"/>
          <p:cNvSpPr/>
          <p:nvPr/>
        </p:nvSpPr>
        <p:spPr>
          <a:xfrm>
            <a:off x="11055654" y="981848"/>
            <a:ext cx="77797" cy="7200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7" name="Shape 12"/>
          <p:cNvSpPr/>
          <p:nvPr/>
        </p:nvSpPr>
        <p:spPr>
          <a:xfrm flipH="1">
            <a:off x="10924640" y="981848"/>
            <a:ext cx="77797" cy="72000"/>
          </a:xfrm>
          <a:prstGeom prst="ellipse">
            <a:avLst/>
          </a:prstGeom>
          <a:solidFill>
            <a:srgbClr val="FFFFFF">
              <a:alpha val="56471"/>
            </a:srgbClr>
          </a:solidFill>
          <a:ln/>
        </p:spPr>
        <p:txBody>
          <a:bodyPr/>
          <a:lstStyle/>
          <a:p>
            <a:endParaRPr lang="en-US"/>
          </a:p>
        </p:txBody>
      </p:sp>
      <p:sp>
        <p:nvSpPr>
          <p:cNvPr id="18" name="Text 13"/>
          <p:cNvSpPr/>
          <p:nvPr/>
        </p:nvSpPr>
        <p:spPr>
          <a:xfrm>
            <a:off x="10924640" y="981848"/>
            <a:ext cx="77797" cy="72000"/>
          </a:xfrm>
          <a:prstGeom prst="rect">
            <a:avLst/>
          </a:prstGeom>
          <a:noFill/>
          <a:ln/>
        </p:spPr>
        <p:txBody>
          <a:bodyPr wrap="square" lIns="45720" tIns="91440" rIns="91440" bIns="45720" rtlCol="0" anchor="ctr"/>
          <a:lstStyle/>
          <a:p>
            <a:pPr marL="0" indent="0">
              <a:lnSpc>
                <a:spcPct val="100000"/>
              </a:lnSpc>
              <a:buNone/>
            </a:pPr>
            <a:endParaRPr lang="en-US" sz="1600" dirty="0"/>
          </a:p>
        </p:txBody>
      </p:sp>
      <p:pic>
        <p:nvPicPr>
          <p:cNvPr id="19" name="Image 3" descr="https://kimi-img.moonshot.cn/pub/slides/slides_tmpl/image/25-08-27-20:02:14-d2nf7hh8bjvh7rlj06b0.png"/>
          <p:cNvPicPr>
            <a:picLocks noChangeAspect="1"/>
          </p:cNvPicPr>
          <p:nvPr/>
        </p:nvPicPr>
        <p:blipFill>
          <a:blip r:embed="rId5"/>
          <a:stretch>
            <a:fillRect/>
          </a:stretch>
        </p:blipFill>
        <p:spPr>
          <a:xfrm>
            <a:off x="6277792" y="3509350"/>
            <a:ext cx="825500" cy="825500"/>
          </a:xfrm>
          <a:prstGeom prst="rect">
            <a:avLst/>
          </a:prstGeom>
        </p:spPr>
      </p:pic>
      <p:sp>
        <p:nvSpPr>
          <p:cNvPr id="20" name="Shape 14"/>
          <p:cNvSpPr/>
          <p:nvPr/>
        </p:nvSpPr>
        <p:spPr>
          <a:xfrm>
            <a:off x="11358882" y="6059762"/>
            <a:ext cx="226534" cy="220415"/>
          </a:xfrm>
          <a:prstGeom prst="rect">
            <a:avLst/>
          </a:prstGeom>
          <a:solidFill>
            <a:srgbClr val="517BDA"/>
          </a:solidFill>
          <a:ln/>
          <a:effectLst>
            <a:outerShdw blurRad="145102" dist="50800" dir="2700000" algn="bl" rotWithShape="0">
              <a:srgbClr val="517BDA">
                <a:alpha val="76471"/>
              </a:srgbClr>
            </a:outerShdw>
          </a:effectLst>
        </p:spPr>
        <p:txBody>
          <a:bodyPr/>
          <a:lstStyle/>
          <a:p>
            <a:endParaRPr lang="en-US"/>
          </a:p>
        </p:txBody>
      </p:sp>
      <p:sp>
        <p:nvSpPr>
          <p:cNvPr id="21" name="Text 15"/>
          <p:cNvSpPr/>
          <p:nvPr/>
        </p:nvSpPr>
        <p:spPr>
          <a:xfrm>
            <a:off x="11358882" y="6059762"/>
            <a:ext cx="226534" cy="22041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2" name="Text 16"/>
          <p:cNvSpPr/>
          <p:nvPr/>
        </p:nvSpPr>
        <p:spPr>
          <a:xfrm>
            <a:off x="542215" y="998076"/>
            <a:ext cx="8152877" cy="833184"/>
          </a:xfrm>
          <a:prstGeom prst="rect">
            <a:avLst/>
          </a:prstGeom>
          <a:noFill/>
          <a:ln/>
        </p:spPr>
        <p:txBody>
          <a:bodyPr wrap="square" lIns="91440" tIns="45720" rIns="91440" bIns="45720" rtlCol="0" anchor="t"/>
          <a:lstStyle/>
          <a:p>
            <a:pPr marL="0" indent="0">
              <a:lnSpc>
                <a:spcPct val="100000"/>
              </a:lnSpc>
              <a:buNone/>
            </a:pPr>
            <a:r>
              <a:rPr lang="en-US" sz="3600" b="1" dirty="0">
                <a:solidFill>
                  <a:srgbClr val="FFFFFF"/>
                </a:solidFill>
                <a:latin typeface="MiSans" pitchFamily="34" charset="0"/>
                <a:ea typeface="MiSans" pitchFamily="34" charset="-122"/>
                <a:cs typeface="MiSans" pitchFamily="34" charset="-120"/>
              </a:rPr>
              <a:t>Ejemplo LED parpadeante paso a paso</a:t>
            </a:r>
            <a:endParaRPr lang="en-US" sz="1600" dirty="0"/>
          </a:p>
        </p:txBody>
      </p:sp>
      <p:pic>
        <p:nvPicPr>
          <p:cNvPr id="23" name="Image 4" descr="https://kimi-img.moonshot.cn/pub/slides/slides_tmpl/image/25-08-27-20:02:06-d2nf7fh8bjvh7rlj060g.png"/>
          <p:cNvPicPr>
            <a:picLocks noChangeAspect="1"/>
          </p:cNvPicPr>
          <p:nvPr/>
        </p:nvPicPr>
        <p:blipFill>
          <a:blip r:embed="rId6"/>
          <a:stretch>
            <a:fillRect/>
          </a:stretch>
        </p:blipFill>
        <p:spPr>
          <a:xfrm>
            <a:off x="662882" y="495145"/>
            <a:ext cx="1371600" cy="304800"/>
          </a:xfrm>
          <a:prstGeom prst="rect">
            <a:avLst/>
          </a:prstGeom>
        </p:spPr>
      </p:pic>
      <p:sp>
        <p:nvSpPr>
          <p:cNvPr id="24" name="Shape 17"/>
          <p:cNvSpPr/>
          <p:nvPr/>
        </p:nvSpPr>
        <p:spPr>
          <a:xfrm>
            <a:off x="1010563" y="3753266"/>
            <a:ext cx="652471" cy="328680"/>
          </a:xfrm>
          <a:prstGeom prst="rect">
            <a:avLst/>
          </a:prstGeom>
          <a:solidFill>
            <a:srgbClr val="000000">
              <a:alpha val="0"/>
            </a:srgbClr>
          </a:solidFill>
          <a:ln/>
        </p:spPr>
        <p:txBody>
          <a:bodyPr/>
          <a:lstStyle/>
          <a:p>
            <a:endParaRPr lang="en-US"/>
          </a:p>
        </p:txBody>
      </p:sp>
      <p:sp>
        <p:nvSpPr>
          <p:cNvPr id="25" name="Text 18"/>
          <p:cNvSpPr/>
          <p:nvPr/>
        </p:nvSpPr>
        <p:spPr>
          <a:xfrm>
            <a:off x="1010563" y="3753266"/>
            <a:ext cx="652471" cy="328680"/>
          </a:xfrm>
          <a:prstGeom prst="rect">
            <a:avLst/>
          </a:prstGeom>
          <a:noFill/>
          <a:ln/>
        </p:spPr>
        <p:txBody>
          <a:bodyPr wrap="square" lIns="0" tIns="0" rIns="0" bIns="0" rtlCol="0" anchor="t"/>
          <a:lstStyle/>
          <a:p>
            <a:pPr marL="0" indent="0" algn="ctr">
              <a:lnSpc>
                <a:spcPct val="110000"/>
              </a:lnSpc>
              <a:buNone/>
            </a:pPr>
            <a:r>
              <a:rPr lang="en-US" sz="2000" dirty="0">
                <a:solidFill>
                  <a:srgbClr val="FFFFFF"/>
                </a:solidFill>
                <a:latin typeface="MiSans" pitchFamily="34" charset="0"/>
                <a:ea typeface="MiSans" pitchFamily="34" charset="-122"/>
                <a:cs typeface="MiSans" pitchFamily="34" charset="-120"/>
              </a:rPr>
              <a:t>01</a:t>
            </a:r>
            <a:endParaRPr lang="en-US" sz="1600" dirty="0"/>
          </a:p>
        </p:txBody>
      </p:sp>
      <p:sp>
        <p:nvSpPr>
          <p:cNvPr id="26" name="Text 19"/>
          <p:cNvSpPr/>
          <p:nvPr/>
        </p:nvSpPr>
        <p:spPr>
          <a:xfrm>
            <a:off x="1858043" y="3752661"/>
            <a:ext cx="3421380" cy="307340"/>
          </a:xfrm>
          <a:prstGeom prst="rect">
            <a:avLst/>
          </a:prstGeom>
          <a:noFill/>
          <a:ln/>
        </p:spPr>
        <p:txBody>
          <a:bodyPr wrap="square" lIns="0" tIns="0" rIns="0" bIns="0" rtlCol="0" anchor="t">
            <a:spAutoFit/>
          </a:bodyPr>
          <a:lstStyle/>
          <a:p>
            <a:pPr marL="0" indent="0">
              <a:lnSpc>
                <a:spcPct val="100000"/>
              </a:lnSpc>
              <a:buNone/>
            </a:pPr>
            <a:r>
              <a:rPr lang="en-US" sz="2000" b="1" dirty="0">
                <a:gradFill flip="none" rotWithShape="0">
                  <a:gsLst>
                    <a:gs pos="0">
                      <a:srgbClr val="30B0FE">
                        <a:alpha val="77000"/>
                      </a:srgbClr>
                    </a:gs>
                    <a:gs pos="10000">
                      <a:srgbClr val="30B0FE">
                        <a:alpha val="77000"/>
                      </a:srgbClr>
                    </a:gs>
                    <a:gs pos="70000">
                      <a:srgbClr val="5684E9"/>
                    </a:gs>
                    <a:gs pos="100000">
                      <a:srgbClr val="014BB5"/>
                    </a:gs>
                  </a:gsLst>
                  <a:lin ang="4800000" scaled="1"/>
                </a:gradFill>
                <a:latin typeface="MiSans" pitchFamily="34" charset="0"/>
                <a:ea typeface="MiSans" pitchFamily="34" charset="-122"/>
                <a:cs typeface="MiSans" pitchFamily="34" charset="-120"/>
              </a:rPr>
              <a:t>Montaje Astable</a:t>
            </a:r>
            <a:endParaRPr lang="en-US" sz="1600" dirty="0"/>
          </a:p>
        </p:txBody>
      </p:sp>
      <p:sp>
        <p:nvSpPr>
          <p:cNvPr id="27" name="Text 20"/>
          <p:cNvSpPr/>
          <p:nvPr/>
        </p:nvSpPr>
        <p:spPr>
          <a:xfrm>
            <a:off x="1771159" y="4082072"/>
            <a:ext cx="3875101" cy="2002856"/>
          </a:xfrm>
          <a:prstGeom prst="rect">
            <a:avLst/>
          </a:prstGeom>
          <a:noFill/>
          <a:ln/>
        </p:spPr>
        <p:txBody>
          <a:bodyPr wrap="square" lIns="91440" tIns="45720" rIns="91440" bIns="45720" rtlCol="0" anchor="t">
            <a:spAutoFit/>
          </a:bodyPr>
          <a:lstStyle/>
          <a:p>
            <a:pPr marL="0" indent="0">
              <a:lnSpc>
                <a:spcPct val="150000"/>
              </a:lnSpc>
              <a:buNone/>
            </a:pPr>
            <a:r>
              <a:rPr lang="en-US" sz="1400" dirty="0">
                <a:solidFill>
                  <a:srgbClr val="FFFFFF"/>
                </a:solidFill>
                <a:latin typeface="MiSans" pitchFamily="34" charset="0"/>
                <a:ea typeface="MiSans" pitchFamily="34" charset="-122"/>
                <a:cs typeface="MiSans" pitchFamily="34" charset="-120"/>
              </a:rPr>
              <a:t>Para crear un LED parpadeante, se utiliza el modo astable con R1=1 kΩ, R2=100 kΩ y C=10 µF. El NE555 genera una señal que hace parpadear el LED a una frecuencia determinada por estos valores.</a:t>
            </a:r>
            <a:endParaRPr lang="en-US" sz="1600" dirty="0"/>
          </a:p>
        </p:txBody>
      </p:sp>
      <p:sp>
        <p:nvSpPr>
          <p:cNvPr id="28" name="Shape 21"/>
          <p:cNvSpPr/>
          <p:nvPr/>
        </p:nvSpPr>
        <p:spPr>
          <a:xfrm>
            <a:off x="6352584" y="3753266"/>
            <a:ext cx="652471" cy="328680"/>
          </a:xfrm>
          <a:prstGeom prst="rect">
            <a:avLst/>
          </a:prstGeom>
          <a:solidFill>
            <a:srgbClr val="000000">
              <a:alpha val="0"/>
            </a:srgbClr>
          </a:solidFill>
          <a:ln/>
        </p:spPr>
        <p:txBody>
          <a:bodyPr/>
          <a:lstStyle/>
          <a:p>
            <a:endParaRPr lang="en-US"/>
          </a:p>
        </p:txBody>
      </p:sp>
      <p:sp>
        <p:nvSpPr>
          <p:cNvPr id="29" name="Text 22"/>
          <p:cNvSpPr/>
          <p:nvPr/>
        </p:nvSpPr>
        <p:spPr>
          <a:xfrm>
            <a:off x="6352584" y="3753266"/>
            <a:ext cx="652471" cy="328680"/>
          </a:xfrm>
          <a:prstGeom prst="rect">
            <a:avLst/>
          </a:prstGeom>
          <a:noFill/>
          <a:ln/>
        </p:spPr>
        <p:txBody>
          <a:bodyPr wrap="square" lIns="0" tIns="0" rIns="0" bIns="0" rtlCol="0" anchor="t"/>
          <a:lstStyle/>
          <a:p>
            <a:pPr marL="0" indent="0" algn="ctr">
              <a:lnSpc>
                <a:spcPct val="110000"/>
              </a:lnSpc>
              <a:buNone/>
            </a:pPr>
            <a:r>
              <a:rPr lang="en-US" sz="2000" dirty="0">
                <a:solidFill>
                  <a:srgbClr val="FFFFFF"/>
                </a:solidFill>
                <a:latin typeface="MiSans" pitchFamily="34" charset="0"/>
                <a:ea typeface="MiSans" pitchFamily="34" charset="-122"/>
                <a:cs typeface="MiSans" pitchFamily="34" charset="-120"/>
              </a:rPr>
              <a:t>02</a:t>
            </a:r>
            <a:endParaRPr lang="en-US" sz="1600" dirty="0"/>
          </a:p>
        </p:txBody>
      </p:sp>
      <p:sp>
        <p:nvSpPr>
          <p:cNvPr id="30" name="Text 23"/>
          <p:cNvSpPr/>
          <p:nvPr/>
        </p:nvSpPr>
        <p:spPr>
          <a:xfrm>
            <a:off x="7200064" y="3752661"/>
            <a:ext cx="3421380" cy="307340"/>
          </a:xfrm>
          <a:prstGeom prst="rect">
            <a:avLst/>
          </a:prstGeom>
          <a:noFill/>
          <a:ln/>
        </p:spPr>
        <p:txBody>
          <a:bodyPr wrap="square" lIns="0" tIns="0" rIns="0" bIns="0" rtlCol="0" anchor="t">
            <a:spAutoFit/>
          </a:bodyPr>
          <a:lstStyle/>
          <a:p>
            <a:pPr marL="0" indent="0">
              <a:lnSpc>
                <a:spcPct val="100000"/>
              </a:lnSpc>
              <a:buNone/>
            </a:pPr>
            <a:r>
              <a:rPr lang="en-US" sz="2000" b="1" dirty="0">
                <a:gradFill flip="none" rotWithShape="0">
                  <a:gsLst>
                    <a:gs pos="0">
                      <a:srgbClr val="30B0FE">
                        <a:alpha val="77000"/>
                      </a:srgbClr>
                    </a:gs>
                    <a:gs pos="10000">
                      <a:srgbClr val="30B0FE">
                        <a:alpha val="77000"/>
                      </a:srgbClr>
                    </a:gs>
                    <a:gs pos="70000">
                      <a:srgbClr val="5684E9"/>
                    </a:gs>
                    <a:gs pos="100000">
                      <a:srgbClr val="014BB5"/>
                    </a:gs>
                  </a:gsLst>
                  <a:lin ang="4800000" scaled="1"/>
                </a:gradFill>
                <a:latin typeface="MiSans" pitchFamily="34" charset="0"/>
                <a:ea typeface="MiSans" pitchFamily="34" charset="-122"/>
                <a:cs typeface="MiSans" pitchFamily="34" charset="-120"/>
              </a:rPr>
              <a:t>Ajuste de Frecuencia</a:t>
            </a:r>
            <a:endParaRPr lang="en-US" sz="1600" dirty="0"/>
          </a:p>
        </p:txBody>
      </p:sp>
      <p:sp>
        <p:nvSpPr>
          <p:cNvPr id="31" name="Text 24"/>
          <p:cNvSpPr/>
          <p:nvPr/>
        </p:nvSpPr>
        <p:spPr>
          <a:xfrm>
            <a:off x="7113180" y="4082072"/>
            <a:ext cx="3875101" cy="2002856"/>
          </a:xfrm>
          <a:prstGeom prst="rect">
            <a:avLst/>
          </a:prstGeom>
          <a:noFill/>
          <a:ln/>
        </p:spPr>
        <p:txBody>
          <a:bodyPr wrap="square" lIns="91440" tIns="45720" rIns="91440" bIns="45720" rtlCol="0" anchor="t">
            <a:spAutoFit/>
          </a:bodyPr>
          <a:lstStyle/>
          <a:p>
            <a:pPr marL="0" indent="0">
              <a:lnSpc>
                <a:spcPct val="150000"/>
              </a:lnSpc>
              <a:buNone/>
            </a:pPr>
            <a:r>
              <a:rPr lang="en-US" sz="1400" dirty="0">
                <a:solidFill>
                  <a:srgbClr val="FFFFFF"/>
                </a:solidFill>
                <a:latin typeface="MiSans" pitchFamily="34" charset="0"/>
                <a:ea typeface="MiSans" pitchFamily="34" charset="-122"/>
                <a:cs typeface="MiSans" pitchFamily="34" charset="-120"/>
              </a:rPr>
              <a:t>Al cambiar los valores de R o C, se puede modificar la velocidad de parpadeo. Este ejemplo demuestra cómo la teoría de tiempos se traduce en un efecto visible y práctico.</a:t>
            </a:r>
            <a:endParaRPr lang="en-US" sz="1600" dirty="0"/>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2:10-d2nf7gh8bjvh7rlj061g.jpg"/>
          <p:cNvPicPr>
            <a:picLocks noChangeAspect="1"/>
          </p:cNvPicPr>
          <p:nvPr/>
        </p:nvPicPr>
        <p:blipFill>
          <a:blip r:embed="rId3"/>
          <a:stretch>
            <a:fillRect/>
          </a:stretch>
        </p:blipFill>
        <p:spPr>
          <a:xfrm>
            <a:off x="0" y="0"/>
            <a:ext cx="12192000" cy="6864626"/>
          </a:xfrm>
          <a:prstGeom prst="rect">
            <a:avLst/>
          </a:prstGeom>
        </p:spPr>
      </p:pic>
      <p:sp>
        <p:nvSpPr>
          <p:cNvPr id="3" name="Shape 0"/>
          <p:cNvSpPr/>
          <p:nvPr/>
        </p:nvSpPr>
        <p:spPr>
          <a:xfrm>
            <a:off x="898525" y="2997835"/>
            <a:ext cx="3397885" cy="3533140"/>
          </a:xfrm>
          <a:prstGeom prst="rect">
            <a:avLst/>
          </a:prstGeom>
          <a:solidFill>
            <a:srgbClr val="FFFFFF">
              <a:alpha val="8235"/>
            </a:srgbClr>
          </a:solidFill>
          <a:ln/>
        </p:spPr>
        <p:txBody>
          <a:bodyPr/>
          <a:lstStyle/>
          <a:p>
            <a:endParaRPr lang="en-US"/>
          </a:p>
        </p:txBody>
      </p:sp>
      <p:sp>
        <p:nvSpPr>
          <p:cNvPr id="4" name="Text 1"/>
          <p:cNvSpPr/>
          <p:nvPr/>
        </p:nvSpPr>
        <p:spPr>
          <a:xfrm>
            <a:off x="898525" y="2997835"/>
            <a:ext cx="3397885" cy="353314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5" name="Shape 2"/>
          <p:cNvSpPr/>
          <p:nvPr/>
        </p:nvSpPr>
        <p:spPr>
          <a:xfrm>
            <a:off x="10924640" y="981848"/>
            <a:ext cx="77797" cy="72000"/>
          </a:xfrm>
          <a:prstGeom prst="ellipse">
            <a:avLst/>
          </a:prstGeom>
          <a:solidFill>
            <a:srgbClr val="FFFFFF"/>
          </a:solidFill>
          <a:ln/>
        </p:spPr>
        <p:txBody>
          <a:bodyPr/>
          <a:lstStyle/>
          <a:p>
            <a:endParaRPr lang="en-US"/>
          </a:p>
        </p:txBody>
      </p:sp>
      <p:sp>
        <p:nvSpPr>
          <p:cNvPr id="6" name="Text 3"/>
          <p:cNvSpPr/>
          <p:nvPr/>
        </p:nvSpPr>
        <p:spPr>
          <a:xfrm>
            <a:off x="10924640" y="981848"/>
            <a:ext cx="77797" cy="7200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7" name="Shape 4"/>
          <p:cNvSpPr/>
          <p:nvPr/>
        </p:nvSpPr>
        <p:spPr>
          <a:xfrm>
            <a:off x="11052814" y="981848"/>
            <a:ext cx="77797" cy="72000"/>
          </a:xfrm>
          <a:prstGeom prst="ellipse">
            <a:avLst/>
          </a:prstGeom>
          <a:solidFill>
            <a:srgbClr val="FFFFFF">
              <a:alpha val="56471"/>
            </a:srgbClr>
          </a:solidFill>
          <a:ln/>
        </p:spPr>
        <p:txBody>
          <a:bodyPr/>
          <a:lstStyle/>
          <a:p>
            <a:endParaRPr lang="en-US"/>
          </a:p>
        </p:txBody>
      </p:sp>
      <p:sp>
        <p:nvSpPr>
          <p:cNvPr id="8" name="Text 5"/>
          <p:cNvSpPr/>
          <p:nvPr/>
        </p:nvSpPr>
        <p:spPr>
          <a:xfrm>
            <a:off x="11052814" y="981848"/>
            <a:ext cx="77797" cy="7200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9" name="Shape 6"/>
          <p:cNvSpPr/>
          <p:nvPr/>
        </p:nvSpPr>
        <p:spPr>
          <a:xfrm>
            <a:off x="11183828" y="981848"/>
            <a:ext cx="77797" cy="72000"/>
          </a:xfrm>
          <a:prstGeom prst="ellipse">
            <a:avLst/>
          </a:prstGeom>
          <a:solidFill>
            <a:srgbClr val="FFFFFF"/>
          </a:solidFill>
          <a:ln/>
        </p:spPr>
        <p:txBody>
          <a:bodyPr/>
          <a:lstStyle/>
          <a:p>
            <a:endParaRPr lang="en-US"/>
          </a:p>
        </p:txBody>
      </p:sp>
      <p:sp>
        <p:nvSpPr>
          <p:cNvPr id="10" name="Text 7"/>
          <p:cNvSpPr/>
          <p:nvPr/>
        </p:nvSpPr>
        <p:spPr>
          <a:xfrm>
            <a:off x="11183828" y="981848"/>
            <a:ext cx="77797" cy="7200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1" name="Shape 8"/>
          <p:cNvSpPr/>
          <p:nvPr/>
        </p:nvSpPr>
        <p:spPr>
          <a:xfrm>
            <a:off x="11314843" y="981848"/>
            <a:ext cx="77797" cy="72000"/>
          </a:xfrm>
          <a:prstGeom prst="ellipse">
            <a:avLst/>
          </a:prstGeom>
          <a:solidFill>
            <a:srgbClr val="FFFFFF">
              <a:alpha val="56471"/>
            </a:srgbClr>
          </a:solidFill>
          <a:ln/>
        </p:spPr>
        <p:txBody>
          <a:bodyPr/>
          <a:lstStyle/>
          <a:p>
            <a:endParaRPr lang="en-US"/>
          </a:p>
        </p:txBody>
      </p:sp>
      <p:sp>
        <p:nvSpPr>
          <p:cNvPr id="12" name="Text 9"/>
          <p:cNvSpPr/>
          <p:nvPr/>
        </p:nvSpPr>
        <p:spPr>
          <a:xfrm>
            <a:off x="11314843" y="981848"/>
            <a:ext cx="77797" cy="72000"/>
          </a:xfrm>
          <a:prstGeom prst="rect">
            <a:avLst/>
          </a:prstGeom>
          <a:noFill/>
          <a:ln/>
        </p:spPr>
        <p:txBody>
          <a:bodyPr wrap="square" lIns="45720" tIns="91440" rIns="91440" bIns="45720" rtlCol="0" anchor="ctr"/>
          <a:lstStyle/>
          <a:p>
            <a:pPr marL="0" indent="0">
              <a:lnSpc>
                <a:spcPct val="100000"/>
              </a:lnSpc>
              <a:buNone/>
            </a:pPr>
            <a:endParaRPr lang="en-US" sz="1600" dirty="0"/>
          </a:p>
        </p:txBody>
      </p:sp>
      <p:pic>
        <p:nvPicPr>
          <p:cNvPr id="13" name="Image 1" descr="https://kimi-img.moonshot.cn/pub/slides/slides_tmpl/image/25-08-27-20:02:16-d2nf7i18bjvh7rlj06fg.png"/>
          <p:cNvPicPr>
            <a:picLocks noChangeAspect="1"/>
          </p:cNvPicPr>
          <p:nvPr/>
        </p:nvPicPr>
        <p:blipFill>
          <a:blip r:embed="rId4"/>
          <a:stretch>
            <a:fillRect/>
          </a:stretch>
        </p:blipFill>
        <p:spPr>
          <a:xfrm>
            <a:off x="4594860" y="5375275"/>
            <a:ext cx="3150235" cy="1155700"/>
          </a:xfrm>
          <a:prstGeom prst="rect">
            <a:avLst/>
          </a:prstGeom>
        </p:spPr>
      </p:pic>
      <p:pic>
        <p:nvPicPr>
          <p:cNvPr id="14" name="Image 2" descr="https://kimi-img.moonshot.cn/pub/slides/slides_tmpl/image/25-08-27-20:02:16-d2nf7i18bjvh7rlj06g0.png"/>
          <p:cNvPicPr>
            <a:picLocks noChangeAspect="1"/>
          </p:cNvPicPr>
          <p:nvPr/>
        </p:nvPicPr>
        <p:blipFill>
          <a:blip r:embed="rId5"/>
          <a:stretch>
            <a:fillRect/>
          </a:stretch>
        </p:blipFill>
        <p:spPr>
          <a:xfrm>
            <a:off x="8202295" y="1855470"/>
            <a:ext cx="3225800" cy="1168400"/>
          </a:xfrm>
          <a:prstGeom prst="rect">
            <a:avLst/>
          </a:prstGeom>
        </p:spPr>
      </p:pic>
      <p:pic>
        <p:nvPicPr>
          <p:cNvPr id="15" name="Image 3" descr="https://kimi-img.moonshot.cn/pub/slides/slides_tmpl/image/25-08-27-20:02:16-d2nf7i18bjvh7rlj06gg.png"/>
          <p:cNvPicPr>
            <a:picLocks noChangeAspect="1"/>
          </p:cNvPicPr>
          <p:nvPr/>
        </p:nvPicPr>
        <p:blipFill>
          <a:blip r:embed="rId6"/>
          <a:stretch>
            <a:fillRect/>
          </a:stretch>
        </p:blipFill>
        <p:spPr>
          <a:xfrm>
            <a:off x="897255" y="1840230"/>
            <a:ext cx="3430905" cy="1254760"/>
          </a:xfrm>
          <a:prstGeom prst="rect">
            <a:avLst/>
          </a:prstGeom>
        </p:spPr>
      </p:pic>
      <p:sp>
        <p:nvSpPr>
          <p:cNvPr id="16" name="Shape 10"/>
          <p:cNvSpPr/>
          <p:nvPr/>
        </p:nvSpPr>
        <p:spPr>
          <a:xfrm rot="13500000">
            <a:off x="927735" y="3230245"/>
            <a:ext cx="190500" cy="204470"/>
          </a:xfrm>
          <a:prstGeom prst="rtTriangle">
            <a:avLst/>
          </a:prstGeom>
          <a:gradFill flip="none" rotWithShape="1">
            <a:gsLst>
              <a:gs pos="0">
                <a:srgbClr val="004BA0"/>
              </a:gs>
              <a:gs pos="50000">
                <a:srgbClr val="1F5EC3"/>
              </a:gs>
              <a:gs pos="100000">
                <a:srgbClr val="4E96D8"/>
              </a:gs>
            </a:gsLst>
            <a:lin ang="5400000" scaled="1"/>
          </a:gradFill>
          <a:ln/>
          <a:effectLst>
            <a:outerShdw blurRad="145102" dist="50800" dir="2700000" algn="bl" rotWithShape="0">
              <a:srgbClr val="517BDA">
                <a:alpha val="76471"/>
              </a:srgbClr>
            </a:outerShdw>
          </a:effectLst>
        </p:spPr>
        <p:txBody>
          <a:bodyPr/>
          <a:lstStyle/>
          <a:p>
            <a:endParaRPr lang="en-US"/>
          </a:p>
        </p:txBody>
      </p:sp>
      <p:sp>
        <p:nvSpPr>
          <p:cNvPr id="17" name="Text 11"/>
          <p:cNvSpPr/>
          <p:nvPr/>
        </p:nvSpPr>
        <p:spPr>
          <a:xfrm rot="13500000">
            <a:off x="927735" y="3230245"/>
            <a:ext cx="190500" cy="20447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8" name="Shape 12"/>
          <p:cNvSpPr/>
          <p:nvPr/>
        </p:nvSpPr>
        <p:spPr>
          <a:xfrm>
            <a:off x="8203565" y="2997835"/>
            <a:ext cx="3220720" cy="3533140"/>
          </a:xfrm>
          <a:prstGeom prst="rect">
            <a:avLst/>
          </a:prstGeom>
          <a:solidFill>
            <a:srgbClr val="FFFFFF">
              <a:alpha val="8235"/>
            </a:srgbClr>
          </a:solidFill>
          <a:ln/>
        </p:spPr>
        <p:txBody>
          <a:bodyPr/>
          <a:lstStyle/>
          <a:p>
            <a:endParaRPr lang="en-US"/>
          </a:p>
        </p:txBody>
      </p:sp>
      <p:sp>
        <p:nvSpPr>
          <p:cNvPr id="19" name="Text 13"/>
          <p:cNvSpPr/>
          <p:nvPr/>
        </p:nvSpPr>
        <p:spPr>
          <a:xfrm>
            <a:off x="8203565" y="2997835"/>
            <a:ext cx="3220720" cy="353314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0" name="Shape 14"/>
          <p:cNvSpPr/>
          <p:nvPr/>
        </p:nvSpPr>
        <p:spPr>
          <a:xfrm rot="13500000">
            <a:off x="8204943" y="3242306"/>
            <a:ext cx="190478" cy="190478"/>
          </a:xfrm>
          <a:prstGeom prst="rtTriangle">
            <a:avLst/>
          </a:prstGeom>
          <a:gradFill flip="none" rotWithShape="1">
            <a:gsLst>
              <a:gs pos="0">
                <a:srgbClr val="004BA0"/>
              </a:gs>
              <a:gs pos="50000">
                <a:srgbClr val="1F5EC3"/>
              </a:gs>
              <a:gs pos="100000">
                <a:srgbClr val="4E96D8"/>
              </a:gs>
            </a:gsLst>
            <a:lin ang="5400000" scaled="1"/>
          </a:gradFill>
          <a:ln/>
          <a:effectLst>
            <a:outerShdw blurRad="145102" dist="50800" dir="2700000" algn="bl" rotWithShape="0">
              <a:srgbClr val="517BDA">
                <a:alpha val="76471"/>
              </a:srgbClr>
            </a:outerShdw>
          </a:effectLst>
        </p:spPr>
        <p:txBody>
          <a:bodyPr/>
          <a:lstStyle/>
          <a:p>
            <a:endParaRPr lang="en-US"/>
          </a:p>
        </p:txBody>
      </p:sp>
      <p:sp>
        <p:nvSpPr>
          <p:cNvPr id="21" name="Text 15"/>
          <p:cNvSpPr/>
          <p:nvPr/>
        </p:nvSpPr>
        <p:spPr>
          <a:xfrm rot="13500000">
            <a:off x="8204943" y="3242306"/>
            <a:ext cx="190478" cy="190478"/>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2" name="Shape 16"/>
          <p:cNvSpPr/>
          <p:nvPr/>
        </p:nvSpPr>
        <p:spPr>
          <a:xfrm>
            <a:off x="4595495" y="1845945"/>
            <a:ext cx="3145155" cy="3529330"/>
          </a:xfrm>
          <a:prstGeom prst="rect">
            <a:avLst/>
          </a:prstGeom>
          <a:solidFill>
            <a:srgbClr val="FFFFFF">
              <a:alpha val="8235"/>
            </a:srgbClr>
          </a:solidFill>
          <a:ln/>
        </p:spPr>
        <p:txBody>
          <a:bodyPr/>
          <a:lstStyle/>
          <a:p>
            <a:endParaRPr lang="en-US"/>
          </a:p>
        </p:txBody>
      </p:sp>
      <p:sp>
        <p:nvSpPr>
          <p:cNvPr id="23" name="Text 17"/>
          <p:cNvSpPr/>
          <p:nvPr/>
        </p:nvSpPr>
        <p:spPr>
          <a:xfrm>
            <a:off x="4595495" y="1845945"/>
            <a:ext cx="3145155" cy="352933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4" name="Shape 18"/>
          <p:cNvSpPr/>
          <p:nvPr/>
        </p:nvSpPr>
        <p:spPr>
          <a:xfrm rot="13500000">
            <a:off x="4629803" y="2071497"/>
            <a:ext cx="190478" cy="190478"/>
          </a:xfrm>
          <a:prstGeom prst="rtTriangle">
            <a:avLst/>
          </a:prstGeom>
          <a:gradFill flip="none" rotWithShape="1">
            <a:gsLst>
              <a:gs pos="0">
                <a:srgbClr val="004BA0"/>
              </a:gs>
              <a:gs pos="50000">
                <a:srgbClr val="1F5EC3"/>
              </a:gs>
              <a:gs pos="100000">
                <a:srgbClr val="4E96D8"/>
              </a:gs>
            </a:gsLst>
            <a:lin ang="5400000" scaled="1"/>
          </a:gradFill>
          <a:ln/>
          <a:effectLst>
            <a:outerShdw blurRad="145102" dist="50800" dir="2700000" algn="bl" rotWithShape="0">
              <a:srgbClr val="517BDA">
                <a:alpha val="76471"/>
              </a:srgbClr>
            </a:outerShdw>
          </a:effectLst>
        </p:spPr>
        <p:txBody>
          <a:bodyPr/>
          <a:lstStyle/>
          <a:p>
            <a:endParaRPr lang="en-US"/>
          </a:p>
        </p:txBody>
      </p:sp>
      <p:sp>
        <p:nvSpPr>
          <p:cNvPr id="25" name="Text 19"/>
          <p:cNvSpPr/>
          <p:nvPr/>
        </p:nvSpPr>
        <p:spPr>
          <a:xfrm rot="13500000">
            <a:off x="4629803" y="2071497"/>
            <a:ext cx="190478" cy="190478"/>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6" name="Text 20"/>
          <p:cNvSpPr/>
          <p:nvPr/>
        </p:nvSpPr>
        <p:spPr>
          <a:xfrm>
            <a:off x="542215" y="998076"/>
            <a:ext cx="8152877" cy="833184"/>
          </a:xfrm>
          <a:prstGeom prst="rect">
            <a:avLst/>
          </a:prstGeom>
          <a:noFill/>
          <a:ln/>
        </p:spPr>
        <p:txBody>
          <a:bodyPr wrap="square" lIns="91440" tIns="45720" rIns="91440" bIns="45720" rtlCol="0" anchor="t"/>
          <a:lstStyle/>
          <a:p>
            <a:pPr marL="0" indent="0">
              <a:lnSpc>
                <a:spcPct val="100000"/>
              </a:lnSpc>
              <a:buNone/>
            </a:pPr>
            <a:r>
              <a:rPr lang="en-US" sz="3600" b="1" dirty="0">
                <a:solidFill>
                  <a:srgbClr val="FFFFFF"/>
                </a:solidFill>
                <a:latin typeface="MiSans" pitchFamily="34" charset="0"/>
                <a:ea typeface="MiSans" pitchFamily="34" charset="-122"/>
                <a:cs typeface="MiSans" pitchFamily="34" charset="-120"/>
              </a:rPr>
              <a:t>Buenas prácticas para diseños robustos</a:t>
            </a:r>
            <a:endParaRPr lang="en-US" sz="1600" dirty="0"/>
          </a:p>
        </p:txBody>
      </p:sp>
      <p:pic>
        <p:nvPicPr>
          <p:cNvPr id="27" name="Image 4" descr="https://kimi-img.moonshot.cn/pub/slides/slides_tmpl/image/25-08-27-20:02:06-d2nf7fh8bjvh7rlj060g.png"/>
          <p:cNvPicPr>
            <a:picLocks noChangeAspect="1"/>
          </p:cNvPicPr>
          <p:nvPr/>
        </p:nvPicPr>
        <p:blipFill>
          <a:blip r:embed="rId7"/>
          <a:stretch>
            <a:fillRect/>
          </a:stretch>
        </p:blipFill>
        <p:spPr>
          <a:xfrm>
            <a:off x="662882" y="495145"/>
            <a:ext cx="1371600" cy="304800"/>
          </a:xfrm>
          <a:prstGeom prst="rect">
            <a:avLst/>
          </a:prstGeom>
        </p:spPr>
      </p:pic>
      <p:sp>
        <p:nvSpPr>
          <p:cNvPr id="28" name="Shape 21"/>
          <p:cNvSpPr/>
          <p:nvPr/>
        </p:nvSpPr>
        <p:spPr>
          <a:xfrm>
            <a:off x="1222375" y="2474595"/>
            <a:ext cx="701040" cy="525780"/>
          </a:xfrm>
          <a:prstGeom prst="rect">
            <a:avLst/>
          </a:prstGeom>
          <a:solidFill>
            <a:srgbClr val="000000">
              <a:alpha val="0"/>
            </a:srgbClr>
          </a:solidFill>
          <a:ln/>
        </p:spPr>
        <p:txBody>
          <a:bodyPr/>
          <a:lstStyle/>
          <a:p>
            <a:endParaRPr lang="en-US"/>
          </a:p>
        </p:txBody>
      </p:sp>
      <p:sp>
        <p:nvSpPr>
          <p:cNvPr id="29" name="Text 22"/>
          <p:cNvSpPr/>
          <p:nvPr/>
        </p:nvSpPr>
        <p:spPr>
          <a:xfrm>
            <a:off x="1222375" y="2474595"/>
            <a:ext cx="701040" cy="525780"/>
          </a:xfrm>
          <a:prstGeom prst="rect">
            <a:avLst/>
          </a:prstGeom>
          <a:noFill/>
          <a:ln/>
        </p:spPr>
        <p:txBody>
          <a:bodyPr wrap="square" lIns="0" tIns="0" rIns="0" bIns="0" rtlCol="0" anchor="t"/>
          <a:lstStyle/>
          <a:p>
            <a:pPr marL="0" indent="0">
              <a:lnSpc>
                <a:spcPct val="110000"/>
              </a:lnSpc>
              <a:buNone/>
            </a:pPr>
            <a:r>
              <a:rPr lang="en-US" sz="3200" dirty="0">
                <a:solidFill>
                  <a:srgbClr val="FFFFFF"/>
                </a:solidFill>
                <a:latin typeface="MiSans" pitchFamily="34" charset="0"/>
                <a:ea typeface="MiSans" pitchFamily="34" charset="-122"/>
                <a:cs typeface="MiSans" pitchFamily="34" charset="-120"/>
              </a:rPr>
              <a:t>01</a:t>
            </a:r>
            <a:endParaRPr lang="en-US" sz="1600" dirty="0"/>
          </a:p>
        </p:txBody>
      </p:sp>
      <p:sp>
        <p:nvSpPr>
          <p:cNvPr id="30" name="Text 23"/>
          <p:cNvSpPr/>
          <p:nvPr/>
        </p:nvSpPr>
        <p:spPr>
          <a:xfrm>
            <a:off x="1247140" y="3228340"/>
            <a:ext cx="2893060" cy="553720"/>
          </a:xfrm>
          <a:prstGeom prst="rect">
            <a:avLst/>
          </a:prstGeom>
          <a:noFill/>
          <a:ln/>
        </p:spPr>
        <p:txBody>
          <a:bodyPr wrap="square" lIns="0" tIns="0" rIns="0" bIns="0" rtlCol="0" anchor="t">
            <a:spAutoFit/>
          </a:bodyPr>
          <a:lstStyle/>
          <a:p>
            <a:pPr marL="0" indent="0">
              <a:lnSpc>
                <a:spcPct val="100000"/>
              </a:lnSpc>
              <a:buNone/>
            </a:pPr>
            <a:r>
              <a:rPr lang="en-US" sz="1800" b="1" dirty="0">
                <a:gradFill flip="none" rotWithShape="0">
                  <a:gsLst>
                    <a:gs pos="0">
                      <a:srgbClr val="30B0FE">
                        <a:alpha val="77000"/>
                      </a:srgbClr>
                    </a:gs>
                    <a:gs pos="10000">
                      <a:srgbClr val="30B0FE">
                        <a:alpha val="77000"/>
                      </a:srgbClr>
                    </a:gs>
                    <a:gs pos="70000">
                      <a:srgbClr val="5684E9"/>
                    </a:gs>
                    <a:gs pos="100000">
                      <a:srgbClr val="014BB5"/>
                    </a:gs>
                  </a:gsLst>
                  <a:lin ang="4800000" scaled="1"/>
                </a:gradFill>
                <a:latin typeface="MiSans" pitchFamily="34" charset="0"/>
                <a:ea typeface="MiSans" pitchFamily="34" charset="-122"/>
                <a:cs typeface="MiSans" pitchFamily="34" charset="-120"/>
              </a:rPr>
              <a:t>Desacoplamiento</a:t>
            </a:r>
            <a:endParaRPr lang="en-US" sz="1600" dirty="0"/>
          </a:p>
        </p:txBody>
      </p:sp>
      <p:sp>
        <p:nvSpPr>
          <p:cNvPr id="31" name="Text 24"/>
          <p:cNvSpPr/>
          <p:nvPr/>
        </p:nvSpPr>
        <p:spPr>
          <a:xfrm>
            <a:off x="898525" y="3739515"/>
            <a:ext cx="3397885" cy="2762250"/>
          </a:xfrm>
          <a:prstGeom prst="rect">
            <a:avLst/>
          </a:prstGeom>
          <a:noFill/>
          <a:ln/>
        </p:spPr>
        <p:txBody>
          <a:bodyPr wrap="square" lIns="91440" tIns="45720" rIns="91440" bIns="45720" rtlCol="0" anchor="t"/>
          <a:lstStyle/>
          <a:p>
            <a:pPr marL="0" indent="0">
              <a:lnSpc>
                <a:spcPct val="150000"/>
              </a:lnSpc>
              <a:buNone/>
            </a:pPr>
            <a:r>
              <a:rPr lang="en-US" sz="1400" dirty="0">
                <a:solidFill>
                  <a:srgbClr val="FFFFFF"/>
                </a:solidFill>
                <a:latin typeface="MiSans" pitchFamily="34" charset="0"/>
                <a:ea typeface="MiSans" pitchFamily="34" charset="-122"/>
                <a:cs typeface="MiSans" pitchFamily="34" charset="-120"/>
              </a:rPr>
              <a:t>Se recomienda usar un capacitor de desacoplamiento de 0.1 µF entre Vcc y GND para estabilizar la alimentación y evitar ruido en el circuito.</a:t>
            </a:r>
            <a:endParaRPr lang="en-US" sz="1600" dirty="0"/>
          </a:p>
        </p:txBody>
      </p:sp>
      <p:sp>
        <p:nvSpPr>
          <p:cNvPr id="32" name="Shape 25"/>
          <p:cNvSpPr/>
          <p:nvPr/>
        </p:nvSpPr>
        <p:spPr>
          <a:xfrm>
            <a:off x="4892765" y="5402415"/>
            <a:ext cx="652471" cy="525850"/>
          </a:xfrm>
          <a:prstGeom prst="rect">
            <a:avLst/>
          </a:prstGeom>
          <a:solidFill>
            <a:srgbClr val="000000">
              <a:alpha val="0"/>
            </a:srgbClr>
          </a:solidFill>
          <a:ln/>
        </p:spPr>
        <p:txBody>
          <a:bodyPr/>
          <a:lstStyle/>
          <a:p>
            <a:endParaRPr lang="en-US"/>
          </a:p>
        </p:txBody>
      </p:sp>
      <p:sp>
        <p:nvSpPr>
          <p:cNvPr id="33" name="Text 26"/>
          <p:cNvSpPr/>
          <p:nvPr/>
        </p:nvSpPr>
        <p:spPr>
          <a:xfrm>
            <a:off x="4892765" y="5402415"/>
            <a:ext cx="652471" cy="525850"/>
          </a:xfrm>
          <a:prstGeom prst="rect">
            <a:avLst/>
          </a:prstGeom>
          <a:noFill/>
          <a:ln/>
        </p:spPr>
        <p:txBody>
          <a:bodyPr wrap="square" lIns="0" tIns="0" rIns="0" bIns="0" rtlCol="0" anchor="t"/>
          <a:lstStyle/>
          <a:p>
            <a:pPr marL="0" indent="0">
              <a:lnSpc>
                <a:spcPct val="110000"/>
              </a:lnSpc>
              <a:buNone/>
            </a:pPr>
            <a:r>
              <a:rPr lang="en-US" sz="3200" dirty="0">
                <a:solidFill>
                  <a:srgbClr val="FFFFFF"/>
                </a:solidFill>
                <a:latin typeface="MiSans" pitchFamily="34" charset="0"/>
                <a:ea typeface="MiSans" pitchFamily="34" charset="-122"/>
                <a:cs typeface="MiSans" pitchFamily="34" charset="-120"/>
              </a:rPr>
              <a:t>02</a:t>
            </a:r>
            <a:endParaRPr lang="en-US" sz="1600" dirty="0"/>
          </a:p>
        </p:txBody>
      </p:sp>
      <p:sp>
        <p:nvSpPr>
          <p:cNvPr id="34" name="Text 27"/>
          <p:cNvSpPr/>
          <p:nvPr/>
        </p:nvSpPr>
        <p:spPr>
          <a:xfrm>
            <a:off x="4938395" y="2058035"/>
            <a:ext cx="2687320" cy="553720"/>
          </a:xfrm>
          <a:prstGeom prst="rect">
            <a:avLst/>
          </a:prstGeom>
          <a:noFill/>
          <a:ln/>
        </p:spPr>
        <p:txBody>
          <a:bodyPr wrap="square" lIns="0" tIns="0" rIns="0" bIns="0" rtlCol="0" anchor="t">
            <a:spAutoFit/>
          </a:bodyPr>
          <a:lstStyle/>
          <a:p>
            <a:pPr marL="0" indent="0">
              <a:lnSpc>
                <a:spcPct val="100000"/>
              </a:lnSpc>
              <a:buNone/>
            </a:pPr>
            <a:r>
              <a:rPr lang="en-US" sz="1800" b="1" dirty="0">
                <a:gradFill flip="none" rotWithShape="0">
                  <a:gsLst>
                    <a:gs pos="0">
                      <a:srgbClr val="30B0FE">
                        <a:alpha val="77000"/>
                      </a:srgbClr>
                    </a:gs>
                    <a:gs pos="10000">
                      <a:srgbClr val="30B0FE">
                        <a:alpha val="77000"/>
                      </a:srgbClr>
                    </a:gs>
                    <a:gs pos="70000">
                      <a:srgbClr val="5684E9"/>
                    </a:gs>
                    <a:gs pos="100000">
                      <a:srgbClr val="014BB5"/>
                    </a:gs>
                  </a:gsLst>
                  <a:lin ang="4800000" scaled="1"/>
                </a:gradFill>
                <a:latin typeface="MiSans" pitchFamily="34" charset="0"/>
                <a:ea typeface="MiSans" pitchFamily="34" charset="-122"/>
                <a:cs typeface="MiSans" pitchFamily="34" charset="-120"/>
              </a:rPr>
              <a:t>Valores de Capacitancia</a:t>
            </a:r>
            <a:endParaRPr lang="en-US" sz="1600" dirty="0"/>
          </a:p>
        </p:txBody>
      </p:sp>
      <p:sp>
        <p:nvSpPr>
          <p:cNvPr id="35" name="Text 28"/>
          <p:cNvSpPr/>
          <p:nvPr/>
        </p:nvSpPr>
        <p:spPr>
          <a:xfrm>
            <a:off x="4594860" y="2568575"/>
            <a:ext cx="3225800" cy="2353310"/>
          </a:xfrm>
          <a:prstGeom prst="rect">
            <a:avLst/>
          </a:prstGeom>
          <a:noFill/>
          <a:ln/>
        </p:spPr>
        <p:txBody>
          <a:bodyPr wrap="square" lIns="91440" tIns="45720" rIns="91440" bIns="45720" rtlCol="0" anchor="t">
            <a:spAutoFit/>
          </a:bodyPr>
          <a:lstStyle/>
          <a:p>
            <a:pPr marL="0" indent="0">
              <a:lnSpc>
                <a:spcPct val="150000"/>
              </a:lnSpc>
              <a:buNone/>
            </a:pPr>
            <a:r>
              <a:rPr lang="en-US" sz="1400" dirty="0">
                <a:solidFill>
                  <a:srgbClr val="FFFFFF"/>
                </a:solidFill>
                <a:latin typeface="MiSans" pitchFamily="34" charset="0"/>
                <a:ea typeface="MiSans" pitchFamily="34" charset="-122"/>
                <a:cs typeface="MiSans" pitchFamily="34" charset="-120"/>
              </a:rPr>
              <a:t>Evite valores muy bajos de capacitancia para no afectar la estabilidad del temporizador. Esto asegura un funcionamiento confiable y preciso.</a:t>
            </a:r>
            <a:endParaRPr lang="en-US" sz="1600" dirty="0"/>
          </a:p>
        </p:txBody>
      </p:sp>
      <p:sp>
        <p:nvSpPr>
          <p:cNvPr id="36" name="Shape 29"/>
          <p:cNvSpPr/>
          <p:nvPr/>
        </p:nvSpPr>
        <p:spPr>
          <a:xfrm>
            <a:off x="8576490" y="2474715"/>
            <a:ext cx="652471" cy="525850"/>
          </a:xfrm>
          <a:prstGeom prst="rect">
            <a:avLst/>
          </a:prstGeom>
          <a:solidFill>
            <a:srgbClr val="000000">
              <a:alpha val="0"/>
            </a:srgbClr>
          </a:solidFill>
          <a:ln/>
        </p:spPr>
        <p:txBody>
          <a:bodyPr/>
          <a:lstStyle/>
          <a:p>
            <a:endParaRPr lang="en-US"/>
          </a:p>
        </p:txBody>
      </p:sp>
      <p:sp>
        <p:nvSpPr>
          <p:cNvPr id="37" name="Text 30"/>
          <p:cNvSpPr/>
          <p:nvPr/>
        </p:nvSpPr>
        <p:spPr>
          <a:xfrm>
            <a:off x="8576490" y="2474715"/>
            <a:ext cx="652471" cy="525850"/>
          </a:xfrm>
          <a:prstGeom prst="rect">
            <a:avLst/>
          </a:prstGeom>
          <a:noFill/>
          <a:ln/>
        </p:spPr>
        <p:txBody>
          <a:bodyPr wrap="square" lIns="0" tIns="0" rIns="0" bIns="0" rtlCol="0" anchor="t"/>
          <a:lstStyle/>
          <a:p>
            <a:pPr marL="0" indent="0">
              <a:lnSpc>
                <a:spcPct val="110000"/>
              </a:lnSpc>
              <a:buNone/>
            </a:pPr>
            <a:r>
              <a:rPr lang="en-US" sz="3200" dirty="0">
                <a:solidFill>
                  <a:srgbClr val="FFFFFF"/>
                </a:solidFill>
                <a:latin typeface="MiSans" pitchFamily="34" charset="0"/>
                <a:ea typeface="MiSans" pitchFamily="34" charset="-122"/>
                <a:cs typeface="MiSans" pitchFamily="34" charset="-120"/>
              </a:rPr>
              <a:t>03</a:t>
            </a:r>
            <a:endParaRPr lang="en-US" sz="1600" dirty="0"/>
          </a:p>
        </p:txBody>
      </p:sp>
      <p:sp>
        <p:nvSpPr>
          <p:cNvPr id="38" name="Text 31"/>
          <p:cNvSpPr/>
          <p:nvPr/>
        </p:nvSpPr>
        <p:spPr>
          <a:xfrm>
            <a:off x="8575675" y="3228340"/>
            <a:ext cx="2726690" cy="553720"/>
          </a:xfrm>
          <a:prstGeom prst="rect">
            <a:avLst/>
          </a:prstGeom>
          <a:noFill/>
          <a:ln/>
        </p:spPr>
        <p:txBody>
          <a:bodyPr wrap="square" lIns="0" tIns="0" rIns="0" bIns="0" rtlCol="0" anchor="t">
            <a:spAutoFit/>
          </a:bodyPr>
          <a:lstStyle/>
          <a:p>
            <a:pPr marL="0" indent="0">
              <a:lnSpc>
                <a:spcPct val="100000"/>
              </a:lnSpc>
              <a:buNone/>
            </a:pPr>
            <a:r>
              <a:rPr lang="en-US" sz="1800" b="1" dirty="0">
                <a:gradFill flip="none" rotWithShape="0">
                  <a:gsLst>
                    <a:gs pos="0">
                      <a:srgbClr val="30B0FE">
                        <a:alpha val="77000"/>
                      </a:srgbClr>
                    </a:gs>
                    <a:gs pos="10000">
                      <a:srgbClr val="30B0FE">
                        <a:alpha val="77000"/>
                      </a:srgbClr>
                    </a:gs>
                    <a:gs pos="70000">
                      <a:srgbClr val="5684E9"/>
                    </a:gs>
                    <a:gs pos="100000">
                      <a:srgbClr val="014BB5"/>
                    </a:gs>
                  </a:gsLst>
                  <a:lin ang="4800000" scaled="1"/>
                </a:gradFill>
                <a:latin typeface="MiSans" pitchFamily="34" charset="0"/>
                <a:ea typeface="MiSans" pitchFamily="34" charset="-122"/>
                <a:cs typeface="MiSans" pitchFamily="34" charset="-120"/>
              </a:rPr>
              <a:t>Protección de la Salida</a:t>
            </a:r>
            <a:endParaRPr lang="en-US" sz="1600" dirty="0"/>
          </a:p>
        </p:txBody>
      </p:sp>
      <p:sp>
        <p:nvSpPr>
          <p:cNvPr id="39" name="Text 32"/>
          <p:cNvSpPr/>
          <p:nvPr/>
        </p:nvSpPr>
        <p:spPr>
          <a:xfrm>
            <a:off x="8202295" y="3739515"/>
            <a:ext cx="3175635" cy="2353310"/>
          </a:xfrm>
          <a:prstGeom prst="rect">
            <a:avLst/>
          </a:prstGeom>
          <a:noFill/>
          <a:ln/>
        </p:spPr>
        <p:txBody>
          <a:bodyPr wrap="square" lIns="91440" tIns="45720" rIns="91440" bIns="45720" rtlCol="0" anchor="t">
            <a:spAutoFit/>
          </a:bodyPr>
          <a:lstStyle/>
          <a:p>
            <a:pPr marL="0" indent="0">
              <a:lnSpc>
                <a:spcPct val="150000"/>
              </a:lnSpc>
              <a:buNone/>
            </a:pPr>
            <a:r>
              <a:rPr lang="en-US" sz="1400" dirty="0">
                <a:solidFill>
                  <a:srgbClr val="FFFFFF"/>
                </a:solidFill>
                <a:latin typeface="MiSans" pitchFamily="34" charset="0"/>
                <a:ea typeface="MiSans" pitchFamily="34" charset="-122"/>
                <a:cs typeface="MiSans" pitchFamily="34" charset="-120"/>
              </a:rPr>
              <a:t>Si se controlan cargas inductivas como relés o motores, proteja la salida con diodos para evitar daños por picos de voltaje. Esto garantiza la longevidad del circuito.</a:t>
            </a:r>
            <a:endParaRPr lang="en-US" sz="1600" dirty="0"/>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2:12-d2nf7h18bjvh7rlj0650.jpg"/>
          <p:cNvPicPr>
            <a:picLocks noChangeAspect="1"/>
          </p:cNvPicPr>
          <p:nvPr/>
        </p:nvPicPr>
        <p:blipFill>
          <a:blip r:embed="rId3"/>
          <a:srcRect/>
          <a:stretch/>
        </p:blipFill>
        <p:spPr>
          <a:xfrm>
            <a:off x="0" y="3426"/>
            <a:ext cx="12191999" cy="6864626"/>
          </a:xfrm>
          <a:prstGeom prst="rect">
            <a:avLst/>
          </a:prstGeom>
        </p:spPr>
      </p:pic>
      <p:sp>
        <p:nvSpPr>
          <p:cNvPr id="3" name="Text 0"/>
          <p:cNvSpPr/>
          <p:nvPr/>
        </p:nvSpPr>
        <p:spPr>
          <a:xfrm>
            <a:off x="4119359" y="3709831"/>
            <a:ext cx="3832016" cy="984885"/>
          </a:xfrm>
          <a:prstGeom prst="rect">
            <a:avLst/>
          </a:prstGeom>
          <a:noFill/>
          <a:ln/>
        </p:spPr>
        <p:txBody>
          <a:bodyPr wrap="square" lIns="0" tIns="0" rIns="0" bIns="0" rtlCol="0" anchor="t">
            <a:spAutoFit/>
          </a:bodyPr>
          <a:lstStyle/>
          <a:p>
            <a:pPr marL="0" indent="0" algn="ctr">
              <a:lnSpc>
                <a:spcPct val="100000"/>
              </a:lnSpc>
              <a:buNone/>
            </a:pPr>
            <a:r>
              <a:rPr lang="en-US" sz="3200" dirty="0">
                <a:solidFill>
                  <a:srgbClr val="FFFFFF"/>
                </a:solidFill>
                <a:latin typeface="MiSans" pitchFamily="34" charset="0"/>
                <a:ea typeface="MiSans" pitchFamily="34" charset="-122"/>
                <a:cs typeface="MiSans" pitchFamily="34" charset="-120"/>
              </a:rPr>
              <a:t>Conclusión</a:t>
            </a:r>
            <a:endParaRPr lang="en-US" sz="1600" dirty="0"/>
          </a:p>
        </p:txBody>
      </p:sp>
      <p:sp>
        <p:nvSpPr>
          <p:cNvPr id="4" name="Shape 1"/>
          <p:cNvSpPr/>
          <p:nvPr/>
        </p:nvSpPr>
        <p:spPr>
          <a:xfrm>
            <a:off x="779721" y="6270738"/>
            <a:ext cx="0" cy="125950"/>
          </a:xfrm>
          <a:prstGeom prst="line">
            <a:avLst/>
          </a:prstGeom>
          <a:noFill/>
          <a:ln w="12700">
            <a:solidFill>
              <a:srgbClr val="FFFFFF"/>
            </a:solidFill>
            <a:prstDash val="solid"/>
            <a:headEnd type="none"/>
            <a:tailEnd type="none"/>
          </a:ln>
        </p:spPr>
        <p:txBody>
          <a:bodyPr/>
          <a:lstStyle/>
          <a:p>
            <a:endParaRPr lang="en-US"/>
          </a:p>
        </p:txBody>
      </p:sp>
      <p:sp>
        <p:nvSpPr>
          <p:cNvPr id="5" name="Shape 2"/>
          <p:cNvSpPr/>
          <p:nvPr/>
        </p:nvSpPr>
        <p:spPr>
          <a:xfrm>
            <a:off x="867722" y="6270738"/>
            <a:ext cx="0" cy="125950"/>
          </a:xfrm>
          <a:prstGeom prst="line">
            <a:avLst/>
          </a:prstGeom>
          <a:noFill/>
          <a:ln w="12700">
            <a:solidFill>
              <a:srgbClr val="FFFFFF"/>
            </a:solidFill>
            <a:prstDash val="solid"/>
            <a:headEnd type="none"/>
            <a:tailEnd type="none"/>
          </a:ln>
        </p:spPr>
        <p:txBody>
          <a:bodyPr/>
          <a:lstStyle/>
          <a:p>
            <a:endParaRPr lang="en-US"/>
          </a:p>
        </p:txBody>
      </p:sp>
      <p:sp>
        <p:nvSpPr>
          <p:cNvPr id="6" name="Shape 3"/>
          <p:cNvSpPr/>
          <p:nvPr/>
        </p:nvSpPr>
        <p:spPr>
          <a:xfrm>
            <a:off x="955722" y="6166356"/>
            <a:ext cx="0" cy="220414"/>
          </a:xfrm>
          <a:prstGeom prst="line">
            <a:avLst/>
          </a:prstGeom>
          <a:noFill/>
          <a:ln w="12700">
            <a:solidFill>
              <a:srgbClr val="FFFFFF"/>
            </a:solidFill>
            <a:prstDash val="solid"/>
            <a:headEnd type="none"/>
            <a:tailEnd type="none"/>
          </a:ln>
        </p:spPr>
        <p:txBody>
          <a:bodyPr/>
          <a:lstStyle/>
          <a:p>
            <a:endParaRPr lang="en-US"/>
          </a:p>
        </p:txBody>
      </p:sp>
      <p:sp>
        <p:nvSpPr>
          <p:cNvPr id="7" name="Shape 4"/>
          <p:cNvSpPr/>
          <p:nvPr/>
        </p:nvSpPr>
        <p:spPr>
          <a:xfrm>
            <a:off x="1043723" y="6270738"/>
            <a:ext cx="0" cy="125950"/>
          </a:xfrm>
          <a:prstGeom prst="line">
            <a:avLst/>
          </a:prstGeom>
          <a:noFill/>
          <a:ln w="12700">
            <a:solidFill>
              <a:srgbClr val="FFFFFF"/>
            </a:solidFill>
            <a:prstDash val="solid"/>
            <a:headEnd type="none"/>
            <a:tailEnd type="none"/>
          </a:ln>
        </p:spPr>
        <p:txBody>
          <a:bodyPr/>
          <a:lstStyle/>
          <a:p>
            <a:endParaRPr lang="en-US"/>
          </a:p>
        </p:txBody>
      </p:sp>
      <p:sp>
        <p:nvSpPr>
          <p:cNvPr id="8" name="Shape 5"/>
          <p:cNvSpPr/>
          <p:nvPr/>
        </p:nvSpPr>
        <p:spPr>
          <a:xfrm>
            <a:off x="1131723" y="6270738"/>
            <a:ext cx="0" cy="125950"/>
          </a:xfrm>
          <a:prstGeom prst="line">
            <a:avLst/>
          </a:prstGeom>
          <a:noFill/>
          <a:ln w="12700">
            <a:solidFill>
              <a:srgbClr val="FFFFFF"/>
            </a:solidFill>
            <a:prstDash val="solid"/>
            <a:headEnd type="none"/>
            <a:tailEnd type="none"/>
          </a:ln>
        </p:spPr>
        <p:txBody>
          <a:bodyPr/>
          <a:lstStyle/>
          <a:p>
            <a:endParaRPr lang="en-US"/>
          </a:p>
        </p:txBody>
      </p:sp>
      <p:sp>
        <p:nvSpPr>
          <p:cNvPr id="9" name="Shape 6"/>
          <p:cNvSpPr/>
          <p:nvPr/>
        </p:nvSpPr>
        <p:spPr>
          <a:xfrm>
            <a:off x="10796832" y="6396446"/>
            <a:ext cx="116844" cy="116844"/>
          </a:xfrm>
          <a:prstGeom prst="ellipse">
            <a:avLst/>
          </a:prstGeom>
          <a:solidFill>
            <a:srgbClr val="FFFFFF"/>
          </a:solidFill>
          <a:ln/>
        </p:spPr>
        <p:txBody>
          <a:bodyPr/>
          <a:lstStyle/>
          <a:p>
            <a:endParaRPr lang="en-US"/>
          </a:p>
        </p:txBody>
      </p:sp>
      <p:sp>
        <p:nvSpPr>
          <p:cNvPr id="10" name="Text 7"/>
          <p:cNvSpPr/>
          <p:nvPr/>
        </p:nvSpPr>
        <p:spPr>
          <a:xfrm>
            <a:off x="10796832" y="6396446"/>
            <a:ext cx="116844" cy="116844"/>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1" name="Shape 8"/>
          <p:cNvSpPr/>
          <p:nvPr/>
        </p:nvSpPr>
        <p:spPr>
          <a:xfrm>
            <a:off x="10989337" y="6396446"/>
            <a:ext cx="116844" cy="116844"/>
          </a:xfrm>
          <a:prstGeom prst="ellipse">
            <a:avLst/>
          </a:prstGeom>
          <a:solidFill>
            <a:srgbClr val="FFFFFF">
              <a:alpha val="56471"/>
            </a:srgbClr>
          </a:solidFill>
          <a:ln/>
        </p:spPr>
        <p:txBody>
          <a:bodyPr/>
          <a:lstStyle/>
          <a:p>
            <a:endParaRPr lang="en-US"/>
          </a:p>
        </p:txBody>
      </p:sp>
      <p:sp>
        <p:nvSpPr>
          <p:cNvPr id="12" name="Text 9"/>
          <p:cNvSpPr/>
          <p:nvPr/>
        </p:nvSpPr>
        <p:spPr>
          <a:xfrm>
            <a:off x="10989337" y="6396446"/>
            <a:ext cx="116844" cy="116844"/>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3" name="Shape 10"/>
          <p:cNvSpPr/>
          <p:nvPr/>
        </p:nvSpPr>
        <p:spPr>
          <a:xfrm>
            <a:off x="11186107" y="6396446"/>
            <a:ext cx="116844" cy="116844"/>
          </a:xfrm>
          <a:prstGeom prst="ellipse">
            <a:avLst/>
          </a:prstGeom>
          <a:solidFill>
            <a:srgbClr val="FFFFFF"/>
          </a:solidFill>
          <a:ln/>
        </p:spPr>
        <p:txBody>
          <a:bodyPr/>
          <a:lstStyle/>
          <a:p>
            <a:endParaRPr lang="en-US"/>
          </a:p>
        </p:txBody>
      </p:sp>
      <p:sp>
        <p:nvSpPr>
          <p:cNvPr id="14" name="Text 11"/>
          <p:cNvSpPr/>
          <p:nvPr/>
        </p:nvSpPr>
        <p:spPr>
          <a:xfrm>
            <a:off x="11186107" y="6396446"/>
            <a:ext cx="116844" cy="116844"/>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5" name="Shape 12"/>
          <p:cNvSpPr/>
          <p:nvPr/>
        </p:nvSpPr>
        <p:spPr>
          <a:xfrm>
            <a:off x="11382877" y="6396446"/>
            <a:ext cx="116844" cy="116844"/>
          </a:xfrm>
          <a:prstGeom prst="ellipse">
            <a:avLst/>
          </a:prstGeom>
          <a:solidFill>
            <a:srgbClr val="FFFFFF">
              <a:alpha val="56471"/>
            </a:srgbClr>
          </a:solidFill>
          <a:ln/>
        </p:spPr>
        <p:txBody>
          <a:bodyPr/>
          <a:lstStyle/>
          <a:p>
            <a:endParaRPr lang="en-US"/>
          </a:p>
        </p:txBody>
      </p:sp>
      <p:sp>
        <p:nvSpPr>
          <p:cNvPr id="16" name="Text 13"/>
          <p:cNvSpPr/>
          <p:nvPr/>
        </p:nvSpPr>
        <p:spPr>
          <a:xfrm>
            <a:off x="11382877" y="6396446"/>
            <a:ext cx="116844" cy="116844"/>
          </a:xfrm>
          <a:prstGeom prst="rect">
            <a:avLst/>
          </a:prstGeom>
          <a:noFill/>
          <a:ln/>
        </p:spPr>
        <p:txBody>
          <a:bodyPr wrap="square" lIns="45720" tIns="91440" rIns="91440" bIns="45720" rtlCol="0" anchor="ctr"/>
          <a:lstStyle/>
          <a:p>
            <a:pPr marL="0" indent="0">
              <a:lnSpc>
                <a:spcPct val="100000"/>
              </a:lnSpc>
              <a:buNone/>
            </a:pPr>
            <a:endParaRPr lang="en-US" sz="1600" dirty="0"/>
          </a:p>
        </p:txBody>
      </p:sp>
      <p:pic>
        <p:nvPicPr>
          <p:cNvPr id="17" name="Image 1" descr="https://kimi-img.moonshot.cn/pub/slides/slides_tmpl/image/25-08-27-20:02:06-d2nf7fh8bjvh7rlj0600.png"/>
          <p:cNvPicPr>
            <a:picLocks noChangeAspect="1"/>
          </p:cNvPicPr>
          <p:nvPr/>
        </p:nvPicPr>
        <p:blipFill>
          <a:blip r:embed="rId4"/>
          <a:stretch>
            <a:fillRect/>
          </a:stretch>
        </p:blipFill>
        <p:spPr>
          <a:xfrm>
            <a:off x="4267199" y="3446152"/>
            <a:ext cx="3657600" cy="12700"/>
          </a:xfrm>
          <a:prstGeom prst="rect">
            <a:avLst/>
          </a:prstGeom>
        </p:spPr>
      </p:pic>
      <p:sp>
        <p:nvSpPr>
          <p:cNvPr id="18" name="Shape 14"/>
          <p:cNvSpPr/>
          <p:nvPr/>
        </p:nvSpPr>
        <p:spPr>
          <a:xfrm>
            <a:off x="4893310" y="1477010"/>
            <a:ext cx="2284095" cy="2335530"/>
          </a:xfrm>
          <a:prstGeom prst="rect">
            <a:avLst/>
          </a:prstGeom>
          <a:solidFill>
            <a:srgbClr val="000000">
              <a:alpha val="0"/>
            </a:srgbClr>
          </a:solidFill>
          <a:ln/>
        </p:spPr>
        <p:txBody>
          <a:bodyPr/>
          <a:lstStyle/>
          <a:p>
            <a:endParaRPr lang="en-US"/>
          </a:p>
        </p:txBody>
      </p:sp>
      <p:sp>
        <p:nvSpPr>
          <p:cNvPr id="19" name="Text 15"/>
          <p:cNvSpPr/>
          <p:nvPr/>
        </p:nvSpPr>
        <p:spPr>
          <a:xfrm>
            <a:off x="4893310" y="1477010"/>
            <a:ext cx="2284095" cy="2335530"/>
          </a:xfrm>
          <a:prstGeom prst="rect">
            <a:avLst/>
          </a:prstGeom>
          <a:noFill/>
          <a:ln/>
        </p:spPr>
        <p:txBody>
          <a:bodyPr wrap="square" lIns="0" tIns="0" rIns="0" bIns="0" rtlCol="0" anchor="t"/>
          <a:lstStyle/>
          <a:p>
            <a:pPr marL="0" indent="0">
              <a:lnSpc>
                <a:spcPct val="110000"/>
              </a:lnSpc>
              <a:buNone/>
            </a:pPr>
            <a:r>
              <a:rPr lang="en-US" sz="13800" dirty="0">
                <a:gradFill flip="none" rotWithShape="0">
                  <a:gsLst>
                    <a:gs pos="0">
                      <a:srgbClr val="FFFFFF">
                        <a:alpha val="61000"/>
                      </a:srgbClr>
                    </a:gs>
                    <a:gs pos="28000">
                      <a:srgbClr val="FFFFFF">
                        <a:alpha val="61000"/>
                      </a:srgbClr>
                    </a:gs>
                    <a:gs pos="78000">
                      <a:srgbClr val="FFFFFF"/>
                    </a:gs>
                    <a:gs pos="100000">
                      <a:srgbClr val="FFFFFF"/>
                    </a:gs>
                  </a:gsLst>
                  <a:path path="circle">
                    <a:fillToRect r="100000" b="100000"/>
                  </a:path>
                  <a:tileRect l="-100000" t="-100000"/>
                </a:gradFill>
                <a:latin typeface="PingFang SC Medium" pitchFamily="34" charset="0"/>
                <a:ea typeface="PingFang SC Medium" pitchFamily="34" charset="-122"/>
                <a:cs typeface="PingFang SC Medium" pitchFamily="34" charset="-120"/>
              </a:rPr>
              <a:t>06</a:t>
            </a:r>
            <a:endParaRPr lang="en-US" sz="1600" dirty="0"/>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2:10-d2nf7gh8bjvh7rlj061g.jpg"/>
          <p:cNvPicPr>
            <a:picLocks noChangeAspect="1"/>
          </p:cNvPicPr>
          <p:nvPr/>
        </p:nvPicPr>
        <p:blipFill>
          <a:blip r:embed="rId3"/>
          <a:stretch>
            <a:fillRect/>
          </a:stretch>
        </p:blipFill>
        <p:spPr>
          <a:xfrm>
            <a:off x="0" y="0"/>
            <a:ext cx="12192000" cy="6864626"/>
          </a:xfrm>
          <a:prstGeom prst="rect">
            <a:avLst/>
          </a:prstGeom>
        </p:spPr>
      </p:pic>
      <p:pic>
        <p:nvPicPr>
          <p:cNvPr id="3" name="Image 1" descr="https://kimi-img.moonshot.cn/pub/slides/slides_tmpl/image/25-08-27-20:02:10-d2nf7gh8bjvh7rlj0620.png"/>
          <p:cNvPicPr>
            <a:picLocks noChangeAspect="1"/>
          </p:cNvPicPr>
          <p:nvPr/>
        </p:nvPicPr>
        <p:blipFill>
          <a:blip r:embed="rId4">
            <a:alphaModFix amt="87000"/>
          </a:blip>
          <a:stretch>
            <a:fillRect/>
          </a:stretch>
        </p:blipFill>
        <p:spPr>
          <a:xfrm>
            <a:off x="-2477606" y="0"/>
            <a:ext cx="10283690" cy="6864626"/>
          </a:xfrm>
          <a:prstGeom prst="rect">
            <a:avLst/>
          </a:prstGeom>
        </p:spPr>
      </p:pic>
      <p:sp>
        <p:nvSpPr>
          <p:cNvPr id="4" name="Shape 0"/>
          <p:cNvSpPr/>
          <p:nvPr/>
        </p:nvSpPr>
        <p:spPr>
          <a:xfrm>
            <a:off x="5891530" y="2545080"/>
            <a:ext cx="5509260" cy="3366770"/>
          </a:xfrm>
          <a:prstGeom prst="rect">
            <a:avLst/>
          </a:prstGeom>
          <a:solidFill>
            <a:srgbClr val="FFFFFF">
              <a:alpha val="8235"/>
            </a:srgbClr>
          </a:solidFill>
          <a:ln/>
        </p:spPr>
        <p:txBody>
          <a:bodyPr/>
          <a:lstStyle/>
          <a:p>
            <a:endParaRPr lang="en-US"/>
          </a:p>
        </p:txBody>
      </p:sp>
      <p:sp>
        <p:nvSpPr>
          <p:cNvPr id="5" name="Text 1"/>
          <p:cNvSpPr/>
          <p:nvPr/>
        </p:nvSpPr>
        <p:spPr>
          <a:xfrm>
            <a:off x="5891530" y="2545080"/>
            <a:ext cx="5509260" cy="336677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6" name="Shape 2"/>
          <p:cNvSpPr/>
          <p:nvPr/>
        </p:nvSpPr>
        <p:spPr>
          <a:xfrm>
            <a:off x="691721" y="6176992"/>
            <a:ext cx="0" cy="125950"/>
          </a:xfrm>
          <a:prstGeom prst="line">
            <a:avLst/>
          </a:prstGeom>
          <a:noFill/>
          <a:ln w="12700">
            <a:solidFill>
              <a:srgbClr val="FFFFFF"/>
            </a:solidFill>
            <a:prstDash val="solid"/>
            <a:headEnd type="none"/>
            <a:tailEnd type="none"/>
          </a:ln>
        </p:spPr>
        <p:txBody>
          <a:bodyPr/>
          <a:lstStyle/>
          <a:p>
            <a:endParaRPr lang="en-US"/>
          </a:p>
        </p:txBody>
      </p:sp>
      <p:sp>
        <p:nvSpPr>
          <p:cNvPr id="7" name="Shape 3"/>
          <p:cNvSpPr/>
          <p:nvPr/>
        </p:nvSpPr>
        <p:spPr>
          <a:xfrm>
            <a:off x="779722" y="6176992"/>
            <a:ext cx="0" cy="125950"/>
          </a:xfrm>
          <a:prstGeom prst="line">
            <a:avLst/>
          </a:prstGeom>
          <a:noFill/>
          <a:ln w="12700">
            <a:solidFill>
              <a:srgbClr val="FFFFFF"/>
            </a:solidFill>
            <a:prstDash val="solid"/>
            <a:headEnd type="none"/>
            <a:tailEnd type="none"/>
          </a:ln>
        </p:spPr>
        <p:txBody>
          <a:bodyPr/>
          <a:lstStyle/>
          <a:p>
            <a:endParaRPr lang="en-US"/>
          </a:p>
        </p:txBody>
      </p:sp>
      <p:sp>
        <p:nvSpPr>
          <p:cNvPr id="8" name="Shape 4"/>
          <p:cNvSpPr/>
          <p:nvPr/>
        </p:nvSpPr>
        <p:spPr>
          <a:xfrm>
            <a:off x="867722" y="6072610"/>
            <a:ext cx="0" cy="220414"/>
          </a:xfrm>
          <a:prstGeom prst="line">
            <a:avLst/>
          </a:prstGeom>
          <a:noFill/>
          <a:ln w="12700">
            <a:solidFill>
              <a:srgbClr val="FFFFFF"/>
            </a:solidFill>
            <a:prstDash val="solid"/>
            <a:headEnd type="none"/>
            <a:tailEnd type="none"/>
          </a:ln>
        </p:spPr>
        <p:txBody>
          <a:bodyPr/>
          <a:lstStyle/>
          <a:p>
            <a:endParaRPr lang="en-US"/>
          </a:p>
        </p:txBody>
      </p:sp>
      <p:sp>
        <p:nvSpPr>
          <p:cNvPr id="9" name="Shape 5"/>
          <p:cNvSpPr/>
          <p:nvPr/>
        </p:nvSpPr>
        <p:spPr>
          <a:xfrm>
            <a:off x="955723" y="6176992"/>
            <a:ext cx="0" cy="125950"/>
          </a:xfrm>
          <a:prstGeom prst="line">
            <a:avLst/>
          </a:prstGeom>
          <a:noFill/>
          <a:ln w="12700">
            <a:solidFill>
              <a:srgbClr val="FFFFFF"/>
            </a:solidFill>
            <a:prstDash val="solid"/>
            <a:headEnd type="none"/>
            <a:tailEnd type="none"/>
          </a:ln>
        </p:spPr>
        <p:txBody>
          <a:bodyPr/>
          <a:lstStyle/>
          <a:p>
            <a:endParaRPr lang="en-US"/>
          </a:p>
        </p:txBody>
      </p:sp>
      <p:sp>
        <p:nvSpPr>
          <p:cNvPr id="10" name="Shape 6"/>
          <p:cNvSpPr/>
          <p:nvPr/>
        </p:nvSpPr>
        <p:spPr>
          <a:xfrm>
            <a:off x="1043723" y="6176992"/>
            <a:ext cx="0" cy="125950"/>
          </a:xfrm>
          <a:prstGeom prst="line">
            <a:avLst/>
          </a:prstGeom>
          <a:noFill/>
          <a:ln w="12700">
            <a:solidFill>
              <a:srgbClr val="FFFFFF"/>
            </a:solidFill>
            <a:prstDash val="solid"/>
            <a:headEnd type="none"/>
            <a:tailEnd type="none"/>
          </a:ln>
        </p:spPr>
        <p:txBody>
          <a:bodyPr/>
          <a:lstStyle/>
          <a:p>
            <a:endParaRPr lang="en-US"/>
          </a:p>
        </p:txBody>
      </p:sp>
      <p:sp>
        <p:nvSpPr>
          <p:cNvPr id="11" name="Shape 7"/>
          <p:cNvSpPr/>
          <p:nvPr/>
        </p:nvSpPr>
        <p:spPr>
          <a:xfrm flipH="1">
            <a:off x="11451321" y="672670"/>
            <a:ext cx="77797" cy="72000"/>
          </a:xfrm>
          <a:prstGeom prst="ellipse">
            <a:avLst/>
          </a:prstGeom>
          <a:solidFill>
            <a:srgbClr val="FFFFFF"/>
          </a:solidFill>
          <a:ln/>
        </p:spPr>
        <p:txBody>
          <a:bodyPr/>
          <a:lstStyle/>
          <a:p>
            <a:endParaRPr lang="en-US"/>
          </a:p>
        </p:txBody>
      </p:sp>
      <p:sp>
        <p:nvSpPr>
          <p:cNvPr id="12" name="Text 8"/>
          <p:cNvSpPr/>
          <p:nvPr/>
        </p:nvSpPr>
        <p:spPr>
          <a:xfrm>
            <a:off x="11451321" y="672670"/>
            <a:ext cx="77797" cy="7200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3" name="Shape 9"/>
          <p:cNvSpPr/>
          <p:nvPr/>
        </p:nvSpPr>
        <p:spPr>
          <a:xfrm flipH="1">
            <a:off x="11319983" y="673749"/>
            <a:ext cx="77797" cy="72000"/>
          </a:xfrm>
          <a:prstGeom prst="ellipse">
            <a:avLst/>
          </a:prstGeom>
          <a:solidFill>
            <a:srgbClr val="FFFFFF">
              <a:alpha val="56471"/>
            </a:srgbClr>
          </a:solidFill>
          <a:ln/>
        </p:spPr>
        <p:txBody>
          <a:bodyPr/>
          <a:lstStyle/>
          <a:p>
            <a:endParaRPr lang="en-US"/>
          </a:p>
        </p:txBody>
      </p:sp>
      <p:sp>
        <p:nvSpPr>
          <p:cNvPr id="14" name="Text 10"/>
          <p:cNvSpPr/>
          <p:nvPr/>
        </p:nvSpPr>
        <p:spPr>
          <a:xfrm>
            <a:off x="11319983" y="673749"/>
            <a:ext cx="77797" cy="7200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5" name="Shape 11"/>
          <p:cNvSpPr/>
          <p:nvPr/>
        </p:nvSpPr>
        <p:spPr>
          <a:xfrm flipH="1">
            <a:off x="11192132" y="672670"/>
            <a:ext cx="77797" cy="72000"/>
          </a:xfrm>
          <a:prstGeom prst="ellipse">
            <a:avLst/>
          </a:prstGeom>
          <a:solidFill>
            <a:srgbClr val="FFFFFF"/>
          </a:solidFill>
          <a:ln/>
        </p:spPr>
        <p:txBody>
          <a:bodyPr/>
          <a:lstStyle/>
          <a:p>
            <a:endParaRPr lang="en-US"/>
          </a:p>
        </p:txBody>
      </p:sp>
      <p:sp>
        <p:nvSpPr>
          <p:cNvPr id="16" name="Text 12"/>
          <p:cNvSpPr/>
          <p:nvPr/>
        </p:nvSpPr>
        <p:spPr>
          <a:xfrm>
            <a:off x="11192132" y="672670"/>
            <a:ext cx="77797" cy="7200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7" name="Shape 13"/>
          <p:cNvSpPr/>
          <p:nvPr/>
        </p:nvSpPr>
        <p:spPr>
          <a:xfrm flipH="1">
            <a:off x="11061118" y="672670"/>
            <a:ext cx="77797" cy="72000"/>
          </a:xfrm>
          <a:prstGeom prst="ellipse">
            <a:avLst/>
          </a:prstGeom>
          <a:solidFill>
            <a:srgbClr val="FFFFFF">
              <a:alpha val="56471"/>
            </a:srgbClr>
          </a:solidFill>
          <a:ln/>
        </p:spPr>
        <p:txBody>
          <a:bodyPr/>
          <a:lstStyle/>
          <a:p>
            <a:endParaRPr lang="en-US"/>
          </a:p>
        </p:txBody>
      </p:sp>
      <p:sp>
        <p:nvSpPr>
          <p:cNvPr id="18" name="Text 14"/>
          <p:cNvSpPr/>
          <p:nvPr/>
        </p:nvSpPr>
        <p:spPr>
          <a:xfrm>
            <a:off x="11061118" y="672670"/>
            <a:ext cx="77797" cy="72000"/>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9" name="Shape 15"/>
          <p:cNvSpPr/>
          <p:nvPr/>
        </p:nvSpPr>
        <p:spPr>
          <a:xfrm>
            <a:off x="11358882" y="6059762"/>
            <a:ext cx="226534" cy="220415"/>
          </a:xfrm>
          <a:prstGeom prst="rect">
            <a:avLst/>
          </a:prstGeom>
          <a:solidFill>
            <a:srgbClr val="517BDA"/>
          </a:solidFill>
          <a:ln/>
          <a:effectLst>
            <a:outerShdw blurRad="145102" dist="50800" dir="2700000" algn="bl" rotWithShape="0">
              <a:srgbClr val="517BDA">
                <a:alpha val="76471"/>
              </a:srgbClr>
            </a:outerShdw>
          </a:effectLst>
        </p:spPr>
        <p:txBody>
          <a:bodyPr/>
          <a:lstStyle/>
          <a:p>
            <a:endParaRPr lang="en-US"/>
          </a:p>
        </p:txBody>
      </p:sp>
      <p:sp>
        <p:nvSpPr>
          <p:cNvPr id="20" name="Text 16"/>
          <p:cNvSpPr/>
          <p:nvPr/>
        </p:nvSpPr>
        <p:spPr>
          <a:xfrm>
            <a:off x="11358882" y="6059762"/>
            <a:ext cx="226534" cy="22041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1" name="Shape 17"/>
          <p:cNvSpPr/>
          <p:nvPr/>
        </p:nvSpPr>
        <p:spPr>
          <a:xfrm rot="13500000">
            <a:off x="6011545" y="2965450"/>
            <a:ext cx="301625" cy="274955"/>
          </a:xfrm>
          <a:prstGeom prst="rtTriangle">
            <a:avLst/>
          </a:prstGeom>
          <a:gradFill flip="none" rotWithShape="1">
            <a:gsLst>
              <a:gs pos="0">
                <a:srgbClr val="004BA0"/>
              </a:gs>
              <a:gs pos="50000">
                <a:srgbClr val="1F5EC3"/>
              </a:gs>
              <a:gs pos="100000">
                <a:srgbClr val="4E96D8"/>
              </a:gs>
            </a:gsLst>
            <a:lin ang="5400000" scaled="1"/>
          </a:gradFill>
          <a:ln/>
          <a:effectLst>
            <a:outerShdw blurRad="145102" dist="50800" dir="2700000" algn="bl" rotWithShape="0">
              <a:srgbClr val="517BDA">
                <a:alpha val="76471"/>
              </a:srgbClr>
            </a:outerShdw>
          </a:effectLst>
        </p:spPr>
        <p:txBody>
          <a:bodyPr/>
          <a:lstStyle/>
          <a:p>
            <a:endParaRPr lang="en-US"/>
          </a:p>
        </p:txBody>
      </p:sp>
      <p:sp>
        <p:nvSpPr>
          <p:cNvPr id="22" name="Text 18"/>
          <p:cNvSpPr/>
          <p:nvPr/>
        </p:nvSpPr>
        <p:spPr>
          <a:xfrm rot="13500000">
            <a:off x="6011545" y="2965450"/>
            <a:ext cx="301625" cy="274955"/>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23" name="Text 19"/>
          <p:cNvSpPr/>
          <p:nvPr/>
        </p:nvSpPr>
        <p:spPr>
          <a:xfrm>
            <a:off x="542215" y="998076"/>
            <a:ext cx="8152877" cy="833184"/>
          </a:xfrm>
          <a:prstGeom prst="rect">
            <a:avLst/>
          </a:prstGeom>
          <a:noFill/>
          <a:ln/>
        </p:spPr>
        <p:txBody>
          <a:bodyPr wrap="square" lIns="91440" tIns="45720" rIns="91440" bIns="45720" rtlCol="0" anchor="t"/>
          <a:lstStyle/>
          <a:p>
            <a:pPr marL="0" indent="0">
              <a:lnSpc>
                <a:spcPct val="100000"/>
              </a:lnSpc>
              <a:buNone/>
            </a:pPr>
            <a:r>
              <a:rPr lang="en-US" sz="3600" b="1" dirty="0">
                <a:solidFill>
                  <a:srgbClr val="FFFFFF"/>
                </a:solidFill>
                <a:latin typeface="MiSans" pitchFamily="34" charset="0"/>
                <a:ea typeface="MiSans" pitchFamily="34" charset="-122"/>
                <a:cs typeface="MiSans" pitchFamily="34" charset="-120"/>
              </a:rPr>
              <a:t>NE555: tu aliado temporal definitivo</a:t>
            </a:r>
            <a:endParaRPr lang="en-US" sz="1600" dirty="0"/>
          </a:p>
        </p:txBody>
      </p:sp>
      <p:pic>
        <p:nvPicPr>
          <p:cNvPr id="24" name="Image 2" descr="https://kimi-img.moonshot.cn/pub/slides/slides_tmpl/image/25-08-27-20:02:06-d2nf7fh8bjvh7rlj060g.png"/>
          <p:cNvPicPr>
            <a:picLocks noChangeAspect="1"/>
          </p:cNvPicPr>
          <p:nvPr/>
        </p:nvPicPr>
        <p:blipFill>
          <a:blip r:embed="rId5"/>
          <a:stretch>
            <a:fillRect/>
          </a:stretch>
        </p:blipFill>
        <p:spPr>
          <a:xfrm>
            <a:off x="662882" y="495145"/>
            <a:ext cx="1371600" cy="304800"/>
          </a:xfrm>
          <a:prstGeom prst="rect">
            <a:avLst/>
          </a:prstGeom>
        </p:spPr>
      </p:pic>
      <p:sp>
        <p:nvSpPr>
          <p:cNvPr id="25" name="Text 20"/>
          <p:cNvSpPr/>
          <p:nvPr/>
        </p:nvSpPr>
        <p:spPr>
          <a:xfrm>
            <a:off x="6520180" y="2898775"/>
            <a:ext cx="4931410" cy="412750"/>
          </a:xfrm>
          <a:prstGeom prst="rect">
            <a:avLst/>
          </a:prstGeom>
          <a:noFill/>
          <a:ln/>
        </p:spPr>
        <p:txBody>
          <a:bodyPr wrap="square" lIns="0" tIns="0" rIns="0" bIns="0" rtlCol="0" anchor="ctr"/>
          <a:lstStyle/>
          <a:p>
            <a:pPr marL="0" indent="0">
              <a:lnSpc>
                <a:spcPct val="100000"/>
              </a:lnSpc>
              <a:buNone/>
            </a:pPr>
            <a:r>
              <a:rPr lang="en-US" sz="2000" b="1" dirty="0">
                <a:gradFill flip="none" rotWithShape="0">
                  <a:gsLst>
                    <a:gs pos="0">
                      <a:srgbClr val="30B0FE">
                        <a:alpha val="77000"/>
                      </a:srgbClr>
                    </a:gs>
                    <a:gs pos="10000">
                      <a:srgbClr val="30B0FE">
                        <a:alpha val="77000"/>
                      </a:srgbClr>
                    </a:gs>
                    <a:gs pos="70000">
                      <a:srgbClr val="5684E9"/>
                    </a:gs>
                    <a:gs pos="100000">
                      <a:srgbClr val="014BB5"/>
                    </a:gs>
                  </a:gsLst>
                  <a:lin ang="4800000" scaled="1"/>
                </a:gradFill>
                <a:latin typeface="MiSans" pitchFamily="34" charset="0"/>
                <a:ea typeface="MiSans" pitchFamily="34" charset="-122"/>
                <a:cs typeface="MiSans" pitchFamily="34" charset="-120"/>
              </a:rPr>
              <a:t>Versatilidad y Simplicidad</a:t>
            </a:r>
            <a:endParaRPr lang="en-US" sz="1600" dirty="0"/>
          </a:p>
        </p:txBody>
      </p:sp>
      <p:sp>
        <p:nvSpPr>
          <p:cNvPr id="26" name="Text 21"/>
          <p:cNvSpPr/>
          <p:nvPr/>
        </p:nvSpPr>
        <p:spPr>
          <a:xfrm>
            <a:off x="6055995" y="3145790"/>
            <a:ext cx="5267325" cy="2382520"/>
          </a:xfrm>
          <a:prstGeom prst="rect">
            <a:avLst/>
          </a:prstGeom>
          <a:noFill/>
          <a:ln/>
        </p:spPr>
        <p:txBody>
          <a:bodyPr wrap="square" lIns="91440" tIns="45720" rIns="91440" bIns="45720" rtlCol="0" anchor="ctr"/>
          <a:lstStyle/>
          <a:p>
            <a:pPr marL="0" indent="0">
              <a:lnSpc>
                <a:spcPct val="150000"/>
              </a:lnSpc>
              <a:buNone/>
            </a:pPr>
            <a:r>
              <a:rPr lang="en-US" sz="1400" dirty="0">
                <a:solidFill>
                  <a:srgbClr val="FFFFFF"/>
                </a:solidFill>
                <a:latin typeface="MiSans" pitchFamily="34" charset="0"/>
                <a:ea typeface="MiSans" pitchFamily="34" charset="-122"/>
                <a:cs typeface="MiSans" pitchFamily="34" charset="-120"/>
              </a:rPr>
              <a:t>El NE555 es un componente clásico y versátil que sigue siendo relevante en la electrónica moderna. Con sus tres modos de operación, permite crear una amplia variedad de aplicaciones desde temporizadores hasta osciladores con solo unos pocos componentes externos.</a:t>
            </a:r>
            <a:endParaRPr lang="en-US" sz="1600" dirty="0"/>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2:12-d2nf7h18bjvh7rlj0650.jpg"/>
          <p:cNvPicPr>
            <a:picLocks noChangeAspect="1"/>
          </p:cNvPicPr>
          <p:nvPr/>
        </p:nvPicPr>
        <p:blipFill>
          <a:blip r:embed="rId3"/>
          <a:srcRect/>
          <a:stretch/>
        </p:blipFill>
        <p:spPr>
          <a:xfrm>
            <a:off x="0" y="0"/>
            <a:ext cx="12191999" cy="6864626"/>
          </a:xfrm>
          <a:prstGeom prst="rect">
            <a:avLst/>
          </a:prstGeom>
        </p:spPr>
      </p:pic>
      <p:sp>
        <p:nvSpPr>
          <p:cNvPr id="3" name="Shape 0"/>
          <p:cNvSpPr/>
          <p:nvPr/>
        </p:nvSpPr>
        <p:spPr>
          <a:xfrm>
            <a:off x="779721" y="6270738"/>
            <a:ext cx="0" cy="125950"/>
          </a:xfrm>
          <a:prstGeom prst="line">
            <a:avLst/>
          </a:prstGeom>
          <a:noFill/>
          <a:ln w="12700">
            <a:solidFill>
              <a:srgbClr val="FFFFFF"/>
            </a:solidFill>
            <a:prstDash val="solid"/>
            <a:headEnd type="none"/>
            <a:tailEnd type="none"/>
          </a:ln>
        </p:spPr>
        <p:txBody>
          <a:bodyPr/>
          <a:lstStyle/>
          <a:p>
            <a:endParaRPr lang="en-US"/>
          </a:p>
        </p:txBody>
      </p:sp>
      <p:sp>
        <p:nvSpPr>
          <p:cNvPr id="4" name="Shape 1"/>
          <p:cNvSpPr/>
          <p:nvPr/>
        </p:nvSpPr>
        <p:spPr>
          <a:xfrm>
            <a:off x="867722" y="6270738"/>
            <a:ext cx="0" cy="125950"/>
          </a:xfrm>
          <a:prstGeom prst="line">
            <a:avLst/>
          </a:prstGeom>
          <a:noFill/>
          <a:ln w="12700">
            <a:solidFill>
              <a:srgbClr val="FFFFFF"/>
            </a:solidFill>
            <a:prstDash val="solid"/>
            <a:headEnd type="none"/>
            <a:tailEnd type="none"/>
          </a:ln>
        </p:spPr>
        <p:txBody>
          <a:bodyPr/>
          <a:lstStyle/>
          <a:p>
            <a:endParaRPr lang="en-US"/>
          </a:p>
        </p:txBody>
      </p:sp>
      <p:sp>
        <p:nvSpPr>
          <p:cNvPr id="5" name="Shape 2"/>
          <p:cNvSpPr/>
          <p:nvPr/>
        </p:nvSpPr>
        <p:spPr>
          <a:xfrm>
            <a:off x="955722" y="6166356"/>
            <a:ext cx="0" cy="220414"/>
          </a:xfrm>
          <a:prstGeom prst="line">
            <a:avLst/>
          </a:prstGeom>
          <a:noFill/>
          <a:ln w="12700">
            <a:solidFill>
              <a:srgbClr val="FFFFFF"/>
            </a:solidFill>
            <a:prstDash val="solid"/>
            <a:headEnd type="none"/>
            <a:tailEnd type="none"/>
          </a:ln>
        </p:spPr>
        <p:txBody>
          <a:bodyPr/>
          <a:lstStyle/>
          <a:p>
            <a:endParaRPr lang="en-US"/>
          </a:p>
        </p:txBody>
      </p:sp>
      <p:sp>
        <p:nvSpPr>
          <p:cNvPr id="6" name="Shape 3"/>
          <p:cNvSpPr/>
          <p:nvPr/>
        </p:nvSpPr>
        <p:spPr>
          <a:xfrm>
            <a:off x="1043723" y="6270738"/>
            <a:ext cx="0" cy="125950"/>
          </a:xfrm>
          <a:prstGeom prst="line">
            <a:avLst/>
          </a:prstGeom>
          <a:noFill/>
          <a:ln w="12700">
            <a:solidFill>
              <a:srgbClr val="FFFFFF"/>
            </a:solidFill>
            <a:prstDash val="solid"/>
            <a:headEnd type="none"/>
            <a:tailEnd type="none"/>
          </a:ln>
        </p:spPr>
        <p:txBody>
          <a:bodyPr/>
          <a:lstStyle/>
          <a:p>
            <a:endParaRPr lang="en-US"/>
          </a:p>
        </p:txBody>
      </p:sp>
      <p:sp>
        <p:nvSpPr>
          <p:cNvPr id="7" name="Shape 4"/>
          <p:cNvSpPr/>
          <p:nvPr/>
        </p:nvSpPr>
        <p:spPr>
          <a:xfrm>
            <a:off x="1131723" y="6270738"/>
            <a:ext cx="0" cy="125950"/>
          </a:xfrm>
          <a:prstGeom prst="line">
            <a:avLst/>
          </a:prstGeom>
          <a:noFill/>
          <a:ln w="12700">
            <a:solidFill>
              <a:srgbClr val="FFFFFF"/>
            </a:solidFill>
            <a:prstDash val="solid"/>
            <a:headEnd type="none"/>
            <a:tailEnd type="none"/>
          </a:ln>
        </p:spPr>
        <p:txBody>
          <a:bodyPr/>
          <a:lstStyle/>
          <a:p>
            <a:endParaRPr lang="en-US"/>
          </a:p>
        </p:txBody>
      </p:sp>
      <p:sp>
        <p:nvSpPr>
          <p:cNvPr id="8" name="Shape 5"/>
          <p:cNvSpPr/>
          <p:nvPr/>
        </p:nvSpPr>
        <p:spPr>
          <a:xfrm>
            <a:off x="10796832" y="6396446"/>
            <a:ext cx="116844" cy="116844"/>
          </a:xfrm>
          <a:prstGeom prst="ellipse">
            <a:avLst/>
          </a:prstGeom>
          <a:solidFill>
            <a:srgbClr val="FFFFFF"/>
          </a:solidFill>
          <a:ln/>
        </p:spPr>
        <p:txBody>
          <a:bodyPr/>
          <a:lstStyle/>
          <a:p>
            <a:endParaRPr lang="en-US"/>
          </a:p>
        </p:txBody>
      </p:sp>
      <p:sp>
        <p:nvSpPr>
          <p:cNvPr id="9" name="Text 6"/>
          <p:cNvSpPr/>
          <p:nvPr/>
        </p:nvSpPr>
        <p:spPr>
          <a:xfrm>
            <a:off x="10796832" y="6396446"/>
            <a:ext cx="116844" cy="116844"/>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0" name="Shape 7"/>
          <p:cNvSpPr/>
          <p:nvPr/>
        </p:nvSpPr>
        <p:spPr>
          <a:xfrm>
            <a:off x="10989337" y="6396446"/>
            <a:ext cx="116844" cy="116844"/>
          </a:xfrm>
          <a:prstGeom prst="ellipse">
            <a:avLst/>
          </a:prstGeom>
          <a:solidFill>
            <a:srgbClr val="FFFFFF">
              <a:alpha val="56471"/>
            </a:srgbClr>
          </a:solidFill>
          <a:ln/>
        </p:spPr>
        <p:txBody>
          <a:bodyPr/>
          <a:lstStyle/>
          <a:p>
            <a:endParaRPr lang="en-US"/>
          </a:p>
        </p:txBody>
      </p:sp>
      <p:sp>
        <p:nvSpPr>
          <p:cNvPr id="11" name="Text 8"/>
          <p:cNvSpPr/>
          <p:nvPr/>
        </p:nvSpPr>
        <p:spPr>
          <a:xfrm>
            <a:off x="10989337" y="6396446"/>
            <a:ext cx="116844" cy="116844"/>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2" name="Shape 9"/>
          <p:cNvSpPr/>
          <p:nvPr/>
        </p:nvSpPr>
        <p:spPr>
          <a:xfrm>
            <a:off x="11186107" y="6396446"/>
            <a:ext cx="116844" cy="116844"/>
          </a:xfrm>
          <a:prstGeom prst="ellipse">
            <a:avLst/>
          </a:prstGeom>
          <a:solidFill>
            <a:srgbClr val="FFFFFF"/>
          </a:solidFill>
          <a:ln/>
        </p:spPr>
        <p:txBody>
          <a:bodyPr/>
          <a:lstStyle/>
          <a:p>
            <a:endParaRPr lang="en-US"/>
          </a:p>
        </p:txBody>
      </p:sp>
      <p:sp>
        <p:nvSpPr>
          <p:cNvPr id="13" name="Text 10"/>
          <p:cNvSpPr/>
          <p:nvPr/>
        </p:nvSpPr>
        <p:spPr>
          <a:xfrm>
            <a:off x="11186107" y="6396446"/>
            <a:ext cx="116844" cy="116844"/>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4" name="Shape 11"/>
          <p:cNvSpPr/>
          <p:nvPr/>
        </p:nvSpPr>
        <p:spPr>
          <a:xfrm>
            <a:off x="11382877" y="6396446"/>
            <a:ext cx="116844" cy="116844"/>
          </a:xfrm>
          <a:prstGeom prst="ellipse">
            <a:avLst/>
          </a:prstGeom>
          <a:solidFill>
            <a:srgbClr val="FFFFFF">
              <a:alpha val="56471"/>
            </a:srgbClr>
          </a:solidFill>
          <a:ln/>
        </p:spPr>
        <p:txBody>
          <a:bodyPr/>
          <a:lstStyle/>
          <a:p>
            <a:endParaRPr lang="en-US"/>
          </a:p>
        </p:txBody>
      </p:sp>
      <p:sp>
        <p:nvSpPr>
          <p:cNvPr id="15" name="Text 12"/>
          <p:cNvSpPr/>
          <p:nvPr/>
        </p:nvSpPr>
        <p:spPr>
          <a:xfrm>
            <a:off x="11382877" y="6396446"/>
            <a:ext cx="116844" cy="116844"/>
          </a:xfrm>
          <a:prstGeom prst="rect">
            <a:avLst/>
          </a:prstGeom>
          <a:noFill/>
          <a:ln/>
        </p:spPr>
        <p:txBody>
          <a:bodyPr wrap="square" lIns="45720" tIns="91440" rIns="91440" bIns="45720" rtlCol="0" anchor="ctr"/>
          <a:lstStyle/>
          <a:p>
            <a:pPr marL="0" indent="0">
              <a:lnSpc>
                <a:spcPct val="100000"/>
              </a:lnSpc>
              <a:buNone/>
            </a:pPr>
            <a:endParaRPr lang="en-US" sz="1600" dirty="0"/>
          </a:p>
        </p:txBody>
      </p:sp>
      <p:sp>
        <p:nvSpPr>
          <p:cNvPr id="16" name="Text 13"/>
          <p:cNvSpPr/>
          <p:nvPr/>
        </p:nvSpPr>
        <p:spPr>
          <a:xfrm>
            <a:off x="494542" y="2273199"/>
            <a:ext cx="8299261" cy="1492250"/>
          </a:xfrm>
          <a:prstGeom prst="rect">
            <a:avLst/>
          </a:prstGeom>
          <a:noFill/>
          <a:ln/>
        </p:spPr>
        <p:txBody>
          <a:bodyPr wrap="square" lIns="91440" tIns="45720" rIns="91440" bIns="45720" rtlCol="0" anchor="ctr"/>
          <a:lstStyle/>
          <a:p>
            <a:pPr marL="0" indent="0">
              <a:lnSpc>
                <a:spcPct val="90000"/>
              </a:lnSpc>
              <a:buNone/>
            </a:pPr>
            <a:r>
              <a:rPr lang="es-NI" sz="9600" b="1" dirty="0">
                <a:solidFill>
                  <a:srgbClr val="FFFFFF"/>
                </a:solidFill>
                <a:latin typeface="MiSans" pitchFamily="34" charset="0"/>
                <a:ea typeface="MiSans" pitchFamily="34" charset="-122"/>
                <a:cs typeface="MiSans" pitchFamily="34" charset="-120"/>
              </a:rPr>
              <a:t>I</a:t>
            </a:r>
            <a:r>
              <a:rPr lang="en-US" sz="9600" b="1" dirty="0" err="1">
                <a:solidFill>
                  <a:srgbClr val="FFFFFF"/>
                </a:solidFill>
                <a:latin typeface="MiSans" pitchFamily="34" charset="0"/>
                <a:ea typeface="MiSans" pitchFamily="34" charset="-122"/>
                <a:cs typeface="MiSans" pitchFamily="34" charset="-120"/>
              </a:rPr>
              <a:t>nicia</a:t>
            </a:r>
            <a:r>
              <a:rPr lang="en-US" sz="9600" b="1" dirty="0">
                <a:solidFill>
                  <a:srgbClr val="FFFFFF"/>
                </a:solidFill>
                <a:latin typeface="MiSans" pitchFamily="34" charset="0"/>
                <a:ea typeface="MiSans" pitchFamily="34" charset="-122"/>
                <a:cs typeface="MiSans" pitchFamily="34" charset="-120"/>
              </a:rPr>
              <a:t> </a:t>
            </a:r>
            <a:r>
              <a:rPr lang="en-US" sz="9600" b="1" dirty="0" err="1">
                <a:solidFill>
                  <a:srgbClr val="FFFFFF"/>
                </a:solidFill>
                <a:latin typeface="MiSans" pitchFamily="34" charset="0"/>
                <a:ea typeface="MiSans" pitchFamily="34" charset="-122"/>
                <a:cs typeface="MiSans" pitchFamily="34" charset="-120"/>
              </a:rPr>
              <a:t>tus</a:t>
            </a:r>
            <a:r>
              <a:rPr lang="en-US" sz="9600" b="1" dirty="0">
                <a:solidFill>
                  <a:srgbClr val="FFFFFF"/>
                </a:solidFill>
                <a:latin typeface="MiSans" pitchFamily="34" charset="0"/>
                <a:ea typeface="MiSans" pitchFamily="34" charset="-122"/>
                <a:cs typeface="MiSans" pitchFamily="34" charset="-120"/>
              </a:rPr>
              <a:t> </a:t>
            </a:r>
            <a:r>
              <a:rPr lang="en-US" sz="9600" b="1" dirty="0" err="1">
                <a:solidFill>
                  <a:srgbClr val="FFFFFF"/>
                </a:solidFill>
                <a:latin typeface="MiSans" pitchFamily="34" charset="0"/>
                <a:ea typeface="MiSans" pitchFamily="34" charset="-122"/>
                <a:cs typeface="MiSans" pitchFamily="34" charset="-120"/>
              </a:rPr>
              <a:t>proyectos</a:t>
            </a:r>
            <a:r>
              <a:rPr lang="en-US" sz="9600" b="1" dirty="0">
                <a:solidFill>
                  <a:srgbClr val="FFFFFF"/>
                </a:solidFill>
                <a:latin typeface="MiSans" pitchFamily="34" charset="0"/>
                <a:ea typeface="MiSans" pitchFamily="34" charset="-122"/>
                <a:cs typeface="MiSans" pitchFamily="34" charset="-120"/>
              </a:rPr>
              <a:t> con </a:t>
            </a:r>
            <a:r>
              <a:rPr lang="en-US" sz="9600" b="1" dirty="0" err="1">
                <a:solidFill>
                  <a:srgbClr val="FFFFFF"/>
                </a:solidFill>
                <a:latin typeface="MiSans" pitchFamily="34" charset="0"/>
                <a:ea typeface="MiSans" pitchFamily="34" charset="-122"/>
                <a:cs typeface="MiSans" pitchFamily="34" charset="-120"/>
              </a:rPr>
              <a:t>el</a:t>
            </a:r>
            <a:r>
              <a:rPr lang="en-US" sz="9600" b="1" dirty="0">
                <a:solidFill>
                  <a:srgbClr val="FFFFFF"/>
                </a:solidFill>
                <a:latin typeface="MiSans" pitchFamily="34" charset="0"/>
                <a:ea typeface="MiSans" pitchFamily="34" charset="-122"/>
                <a:cs typeface="MiSans" pitchFamily="34" charset="-120"/>
              </a:rPr>
              <a:t> NE 555</a:t>
            </a:r>
            <a:endParaRPr lang="en-US" sz="1600" dirty="0"/>
          </a:p>
        </p:txBody>
      </p:sp>
      <p:pic>
        <p:nvPicPr>
          <p:cNvPr id="18" name="Image 2" descr="https://kimi-img.moonshot.cn/pub/slides/slides_tmpl/image/25-08-27-20:02:05-d2nf7f98bjvh7rlj05ug.png"/>
          <p:cNvPicPr>
            <a:picLocks noChangeAspect="1"/>
          </p:cNvPicPr>
          <p:nvPr/>
        </p:nvPicPr>
        <p:blipFill>
          <a:blip r:embed="rId4"/>
          <a:stretch>
            <a:fillRect/>
          </a:stretch>
        </p:blipFill>
        <p:spPr>
          <a:xfrm>
            <a:off x="494542" y="5574200"/>
            <a:ext cx="1732915" cy="457200"/>
          </a:xfrm>
          <a:prstGeom prst="rect">
            <a:avLst/>
          </a:prstGeom>
        </p:spPr>
      </p:pic>
      <p:sp>
        <p:nvSpPr>
          <p:cNvPr id="20" name="Text 15"/>
          <p:cNvSpPr/>
          <p:nvPr/>
        </p:nvSpPr>
        <p:spPr>
          <a:xfrm>
            <a:off x="493907" y="5645292"/>
            <a:ext cx="1733550" cy="337185"/>
          </a:xfrm>
          <a:prstGeom prst="rect">
            <a:avLst/>
          </a:prstGeom>
          <a:noFill/>
          <a:ln/>
        </p:spPr>
        <p:txBody>
          <a:bodyPr wrap="square" lIns="91440" tIns="45720" rIns="91440" bIns="45720" rtlCol="0" anchor="t">
            <a:spAutoFit/>
          </a:bodyPr>
          <a:lstStyle/>
          <a:p>
            <a:pPr marL="0" indent="0" algn="ctr">
              <a:lnSpc>
                <a:spcPct val="100000"/>
              </a:lnSpc>
              <a:buNone/>
            </a:pPr>
            <a:r>
              <a:rPr lang="en-US" sz="1600" dirty="0">
                <a:solidFill>
                  <a:srgbClr val="FFFFFF"/>
                </a:solidFill>
                <a:latin typeface="MiSans" pitchFamily="34" charset="0"/>
                <a:ea typeface="MiSans" pitchFamily="34" charset="-122"/>
                <a:cs typeface="MiSans" pitchFamily="34" charset="-120"/>
              </a:rPr>
              <a:t>2025/08/05</a:t>
            </a:r>
            <a:endParaRPr lang="en-US" sz="1600" dirty="0"/>
          </a:p>
        </p:txBody>
      </p:sp>
    </p:spTree>
  </p:cSld>
  <p:clrMapOvr>
    <a:masterClrMapping/>
  </p:clrMapOvr>
  <p:transition>
    <p:fade/>
  </p:transition>
</p:sld>
</file>

<file path=ppt/theme/theme1.xml><?xml version="1.0" encoding="utf-8"?>
<a:theme xmlns:a="http://schemas.openxmlformats.org/drawingml/2006/main" name="Custom Theme">
  <a:themeElements>
    <a:clrScheme name="Custom">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1148</Words>
  <Application>Microsoft Office PowerPoint</Application>
  <PresentationFormat>Panorámica</PresentationFormat>
  <Paragraphs>133</Paragraphs>
  <Slides>20</Slides>
  <Notes>20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20</vt:i4>
      </vt:variant>
    </vt:vector>
  </HeadingPairs>
  <TitlesOfParts>
    <vt:vector size="25" baseType="lpstr">
      <vt:lpstr>MiSans</vt:lpstr>
      <vt:lpstr>PingFang SC Medium</vt:lpstr>
      <vt:lpstr>PingFang SC Semibold</vt:lpstr>
      <vt:lpstr>Arial</vt:lpstr>
      <vt:lpstr>Custom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NE555: El Chip Tiempo-Todo</dc:title>
  <dc:subject>NE555: El Chip Tiempo-Todo</dc:subject>
  <dc:creator>Kimi</dc:creator>
  <cp:lastModifiedBy>Guillermo AntonioAguirre</cp:lastModifiedBy>
  <cp:revision>2</cp:revision>
  <dcterms:created xsi:type="dcterms:W3CDTF">2025-11-01T14:44:35Z</dcterms:created>
  <dcterms:modified xsi:type="dcterms:W3CDTF">2025-11-01T14:56:42Z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{"Label":"NE555: El Chip Tiempo-Todo","ContentProducer":"001191110108MACG2KBH8F10000","ProduceID":"d431ef4q5kvkur1sshog","ReservedCode1":"","ContentPropagator":"001191110108MACG2KBH8F20000","PropagateID":"d431ef4q5kvkur1sshog","ReservedCode2":""}</vt:lpwstr>
  </property>
</Properties>
</file>