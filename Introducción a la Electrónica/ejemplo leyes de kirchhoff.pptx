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62" r:id="rId15"/>
    <p:sldId id="275" r:id="rId16"/>
    <p:sldId id="276" r:id="rId17"/>
    <p:sldId id="277" r:id="rId18"/>
    <p:sldId id="263" r:id="rId19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7B9B7-B1F7-64DF-681C-D7E08741E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D99C31-2DA1-0291-4E5E-98DD60D4F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E3318A-D600-39CB-96B0-1DA991189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D672-B542-4127-A95E-E6437788370A}" type="datetimeFigureOut">
              <a:rPr lang="es-NI" smtClean="0"/>
              <a:t>9/9/2022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028D04-4FE6-0658-8802-78009E4C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593D2B-2EEC-437B-C561-87B6D08C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9828-FF7A-410A-A122-31463BA38851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56796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52093-73DD-2AC1-A887-A9994E4CF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BADDA7-6B2F-5940-B5CF-A9E61F40F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BF2CF0-F2DC-DF6D-1B7E-F03B9BD90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D672-B542-4127-A95E-E6437788370A}" type="datetimeFigureOut">
              <a:rPr lang="es-NI" smtClean="0"/>
              <a:t>9/9/2022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0DAA03-4D40-42CC-45A3-69336202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E0423A-88DE-82C8-1E52-39FADB3F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9828-FF7A-410A-A122-31463BA38851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8747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AD05D-FF01-D691-F073-B52102E70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6101F0-C295-26A2-46BF-45AF9A713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F7A8B4-FB8C-047E-9CBF-06F43DB60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D672-B542-4127-A95E-E6437788370A}" type="datetimeFigureOut">
              <a:rPr lang="es-NI" smtClean="0"/>
              <a:t>9/9/2022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053194-9CC8-CDA1-E513-D7ACFF6C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B21FBC-61BB-E9C2-69DC-925E6A9A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9828-FF7A-410A-A122-31463BA38851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02503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3E919-9CAA-7EE2-6091-9B98A5336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E79A1D-A35E-A679-9670-0B5F50A990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66EE91-F76C-5EC3-342A-FDEEFF845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522AEA-DD20-0501-EE9C-BD7CD5321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D672-B542-4127-A95E-E6437788370A}" type="datetimeFigureOut">
              <a:rPr lang="es-NI" smtClean="0"/>
              <a:t>9/9/2022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849BF5-A993-3ECA-A491-CE3A9471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F6B7AB-1F3C-A288-D6D8-48E854CEC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9828-FF7A-410A-A122-31463BA38851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74631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30EFB-1252-E5D3-01AB-A7077C973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1BC201-ABC2-4492-C0AA-CD06DC439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AAB43D-F192-66D6-31A4-353E3E843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73E44BD-E213-6F2A-BEF1-F3C088815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04A5786-3473-22CC-CD1F-72A3881477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43AADB-D3CF-BEC0-5EFC-28DE456A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D672-B542-4127-A95E-E6437788370A}" type="datetimeFigureOut">
              <a:rPr lang="es-NI" smtClean="0"/>
              <a:t>9/9/2022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80FD891-5378-BF8B-6859-6AB35F84D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F6C704-6927-4203-739C-1C33EC8B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9828-FF7A-410A-A122-31463BA38851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7428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959DC-392B-E235-9F35-6127C8D20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F0D4C4-5A34-E1BB-47D4-0C6149679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D672-B542-4127-A95E-E6437788370A}" type="datetimeFigureOut">
              <a:rPr lang="es-NI" smtClean="0"/>
              <a:t>9/9/2022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B1F540-3FFF-D762-DCA3-ECB5DAB80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0472687-1409-2A74-0793-1D67F03A2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9828-FF7A-410A-A122-31463BA38851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24306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D6407D9-61CD-C19F-DF27-521ADB275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D672-B542-4127-A95E-E6437788370A}" type="datetimeFigureOut">
              <a:rPr lang="es-NI" smtClean="0"/>
              <a:t>9/9/2022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A4A522A-860C-BA40-94C1-D94215233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D00918-EEAE-49D0-6C08-1FD40E31B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9828-FF7A-410A-A122-31463BA38851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03197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119A5-3C2F-052A-2369-8C4ADBC63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574CF7-55A2-252E-2879-F1463EF55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256EA9-F40D-85E3-1D20-CB0B9F97E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7B362A-5EDF-2CA1-AB34-CE36A99AA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D672-B542-4127-A95E-E6437788370A}" type="datetimeFigureOut">
              <a:rPr lang="es-NI" smtClean="0"/>
              <a:t>9/9/2022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22EE37-0028-300C-0536-92BEC6CF3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EBD769-3456-6038-9336-C30DB29D2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9828-FF7A-410A-A122-31463BA38851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5375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749709-648A-85A5-5A23-56B0378EE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2CE1683-84D8-A4D1-6120-C5631129C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93972A-0576-AF81-CA2C-DCA68E7BE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AE457-B89C-650F-079C-FDA55D6E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D672-B542-4127-A95E-E6437788370A}" type="datetimeFigureOut">
              <a:rPr lang="es-NI" smtClean="0"/>
              <a:t>9/9/2022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3E2DFB-14D3-ACAC-1AA6-C259546D2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9C5008-C64C-55FF-27F4-D5E3F1E60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9828-FF7A-410A-A122-31463BA38851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937152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C56BB-42A1-6CB9-08ED-8CBCDF2D0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355602-9C87-0457-D30E-B52695C19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7CF083-55E0-D2CC-FF7A-57A58A44D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D672-B542-4127-A95E-E6437788370A}" type="datetimeFigureOut">
              <a:rPr lang="es-NI" smtClean="0"/>
              <a:t>9/9/2022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822F9C-E2EB-8E52-B1D6-0842A9F7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7B38AD-7174-9032-87E6-505395C8B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9828-FF7A-410A-A122-31463BA38851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9794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AF9500-9895-5D08-F205-6F9CEB914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3CF58-664E-F354-9C73-E74A58508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68364F-CCF1-E069-1A41-F854E208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D672-B542-4127-A95E-E6437788370A}" type="datetimeFigureOut">
              <a:rPr lang="es-NI" smtClean="0"/>
              <a:t>9/9/2022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5F7826-48AB-21B2-7CDB-C7FFAB29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604A69-0D10-7DC8-C53F-217C4147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09828-FF7A-410A-A122-31463BA38851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420185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9BDAEF-2DD8-71E8-A1D9-1C3A1FBB8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645639-5D9B-F2A2-C4EA-1969C5152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C6D2C1-AC41-8B1D-460B-3D715132E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CD672-B542-4127-A95E-E6437788370A}" type="datetimeFigureOut">
              <a:rPr lang="es-NI" smtClean="0"/>
              <a:t>9/9/2022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99B3DC-3254-7AF7-C40E-01A3F0DBE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45B44A-1255-874C-DDF3-F917E8614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09828-FF7A-410A-A122-31463BA38851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5799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873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CEA39CA-9AFE-D624-574D-F208A1704A07}"/>
              </a:ext>
            </a:extLst>
          </p:cNvPr>
          <p:cNvSpPr/>
          <p:nvPr/>
        </p:nvSpPr>
        <p:spPr>
          <a:xfrm>
            <a:off x="314325" y="72114"/>
            <a:ext cx="11403082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Determine las intensidades y voltajes consumidos por las resistencias en el siguiente circuito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97445BD-2C9A-5AD4-501E-2DE592D609D3}"/>
              </a:ext>
            </a:extLst>
          </p:cNvPr>
          <p:cNvGrpSpPr/>
          <p:nvPr/>
        </p:nvGrpSpPr>
        <p:grpSpPr>
          <a:xfrm>
            <a:off x="474593" y="1364776"/>
            <a:ext cx="11242814" cy="4339988"/>
            <a:chOff x="474593" y="1364776"/>
            <a:chExt cx="11242814" cy="433998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B9C8E7-6E33-4B3B-FE86-6CC484202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93" y="1364776"/>
              <a:ext cx="11242814" cy="43399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13D3D1F-8A35-23F6-13FA-4FE6FE0A835D}"/>
                </a:ext>
              </a:extLst>
            </p:cNvPr>
            <p:cNvSpPr txBox="1"/>
            <p:nvPr/>
          </p:nvSpPr>
          <p:spPr>
            <a:xfrm>
              <a:off x="2292823" y="1552012"/>
              <a:ext cx="117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dirty="0"/>
                <a:t>R</a:t>
              </a:r>
              <a:r>
                <a:rPr lang="es-NI" baseline="-25000" dirty="0"/>
                <a:t>1</a:t>
              </a:r>
              <a:r>
                <a:rPr lang="es-NI" dirty="0"/>
                <a:t>= 20 Ჲ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2136A40-B911-21CC-2CE0-260C9F226732}"/>
                </a:ext>
              </a:extLst>
            </p:cNvPr>
            <p:cNvSpPr txBox="1"/>
            <p:nvPr/>
          </p:nvSpPr>
          <p:spPr>
            <a:xfrm rot="5400000">
              <a:off x="3952900" y="3244334"/>
              <a:ext cx="12123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dirty="0"/>
                <a:t>R</a:t>
              </a:r>
              <a:r>
                <a:rPr lang="es-NI" baseline="-25000" dirty="0"/>
                <a:t>2</a:t>
              </a:r>
              <a:r>
                <a:rPr lang="es-NI" dirty="0"/>
                <a:t>= 12 Ჲ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686B59D-2F3F-ED1E-62D9-5C1B8A26CD23}"/>
                </a:ext>
              </a:extLst>
            </p:cNvPr>
            <p:cNvSpPr txBox="1"/>
            <p:nvPr/>
          </p:nvSpPr>
          <p:spPr>
            <a:xfrm>
              <a:off x="5497773" y="1552012"/>
              <a:ext cx="117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dirty="0"/>
                <a:t>R</a:t>
              </a:r>
              <a:r>
                <a:rPr lang="es-NI" baseline="-25000" dirty="0"/>
                <a:t>3</a:t>
              </a:r>
              <a:r>
                <a:rPr lang="es-NI" dirty="0"/>
                <a:t>= 18 Ჲ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CD9476C-B0FB-D90B-ECCD-0305A011D587}"/>
                </a:ext>
              </a:extLst>
            </p:cNvPr>
            <p:cNvSpPr txBox="1"/>
            <p:nvPr/>
          </p:nvSpPr>
          <p:spPr>
            <a:xfrm rot="5400000">
              <a:off x="7026724" y="3254149"/>
              <a:ext cx="12123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dirty="0"/>
                <a:t>R</a:t>
              </a:r>
              <a:r>
                <a:rPr lang="es-NI" baseline="-25000" dirty="0"/>
                <a:t>4</a:t>
              </a:r>
              <a:r>
                <a:rPr lang="es-NI" dirty="0"/>
                <a:t>= 16 Ჲ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FA5CFF-16A7-0BDD-B4EF-47411F176A86}"/>
                </a:ext>
              </a:extLst>
            </p:cNvPr>
            <p:cNvSpPr txBox="1"/>
            <p:nvPr/>
          </p:nvSpPr>
          <p:spPr>
            <a:xfrm>
              <a:off x="8702723" y="1552012"/>
              <a:ext cx="117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dirty="0"/>
                <a:t>R</a:t>
              </a:r>
              <a:r>
                <a:rPr lang="es-NI" baseline="-25000" dirty="0"/>
                <a:t>5</a:t>
              </a:r>
              <a:r>
                <a:rPr lang="es-NI" dirty="0"/>
                <a:t>= 24 Ჲ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0DF15708-14D9-86BA-7224-F172E917D760}"/>
                </a:ext>
              </a:extLst>
            </p:cNvPr>
            <p:cNvSpPr txBox="1"/>
            <p:nvPr/>
          </p:nvSpPr>
          <p:spPr>
            <a:xfrm>
              <a:off x="1706370" y="3534770"/>
              <a:ext cx="117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dirty="0"/>
                <a:t>V</a:t>
              </a:r>
              <a:r>
                <a:rPr lang="es-NI" baseline="-25000" dirty="0"/>
                <a:t>A</a:t>
              </a:r>
              <a:r>
                <a:rPr lang="es-NI" dirty="0"/>
                <a:t>= 24 V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C3FA41FD-565E-C024-1761-AB8B14A01BF7}"/>
                </a:ext>
              </a:extLst>
            </p:cNvPr>
            <p:cNvSpPr txBox="1"/>
            <p:nvPr/>
          </p:nvSpPr>
          <p:spPr>
            <a:xfrm>
              <a:off x="9674032" y="3554170"/>
              <a:ext cx="1172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dirty="0"/>
                <a:t>V</a:t>
              </a:r>
              <a:r>
                <a:rPr lang="es-NI" baseline="-25000" dirty="0"/>
                <a:t>B</a:t>
              </a:r>
              <a:r>
                <a:rPr lang="es-NI" dirty="0"/>
                <a:t>= 30 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438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CEA39CA-9AFE-D624-574D-F208A1704A07}"/>
              </a:ext>
            </a:extLst>
          </p:cNvPr>
          <p:cNvSpPr/>
          <p:nvPr/>
        </p:nvSpPr>
        <p:spPr>
          <a:xfrm>
            <a:off x="314325" y="72114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1: determinamos las direcciones de las corrientes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04A131-E839-2BD3-4EC2-8CBF3532E53E}"/>
              </a:ext>
            </a:extLst>
          </p:cNvPr>
          <p:cNvGrpSpPr/>
          <p:nvPr/>
        </p:nvGrpSpPr>
        <p:grpSpPr>
          <a:xfrm>
            <a:off x="144036" y="2918835"/>
            <a:ext cx="8922075" cy="3557586"/>
            <a:chOff x="2423284" y="3669356"/>
            <a:chExt cx="7345432" cy="283550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B9C8E7-6E33-4B3B-FE86-6CC484202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284" y="3669356"/>
              <a:ext cx="7345432" cy="2835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13D3D1F-8A35-23F6-13FA-4FE6FE0A835D}"/>
                </a:ext>
              </a:extLst>
            </p:cNvPr>
            <p:cNvSpPr txBox="1"/>
            <p:nvPr/>
          </p:nvSpPr>
          <p:spPr>
            <a:xfrm>
              <a:off x="3684019" y="3798617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1</a:t>
              </a:r>
              <a:r>
                <a:rPr lang="es-NI" sz="1200" dirty="0"/>
                <a:t>= 20 Ჲ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2136A40-B911-21CC-2CE0-260C9F226732}"/>
                </a:ext>
              </a:extLst>
            </p:cNvPr>
            <p:cNvSpPr txBox="1"/>
            <p:nvPr/>
          </p:nvSpPr>
          <p:spPr>
            <a:xfrm rot="5400000">
              <a:off x="4717039" y="4948610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2</a:t>
              </a:r>
              <a:r>
                <a:rPr lang="es-NI" sz="1200" dirty="0"/>
                <a:t>= 12 Ჲ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686B59D-2F3F-ED1E-62D9-5C1B8A26CD23}"/>
                </a:ext>
              </a:extLst>
            </p:cNvPr>
            <p:cNvSpPr txBox="1"/>
            <p:nvPr/>
          </p:nvSpPr>
          <p:spPr>
            <a:xfrm>
              <a:off x="5723575" y="3817329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3</a:t>
              </a:r>
              <a:r>
                <a:rPr lang="es-NI" sz="1200" dirty="0"/>
                <a:t>= 18 Ჲ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CD9476C-B0FB-D90B-ECCD-0305A011D587}"/>
                </a:ext>
              </a:extLst>
            </p:cNvPr>
            <p:cNvSpPr txBox="1"/>
            <p:nvPr/>
          </p:nvSpPr>
          <p:spPr>
            <a:xfrm rot="5400000">
              <a:off x="6627466" y="4940197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4</a:t>
              </a:r>
              <a:r>
                <a:rPr lang="es-NI" sz="1200" dirty="0"/>
                <a:t>= 16 Ჲ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FA5CFF-16A7-0BDD-B4EF-47411F176A86}"/>
                </a:ext>
              </a:extLst>
            </p:cNvPr>
            <p:cNvSpPr txBox="1"/>
            <p:nvPr/>
          </p:nvSpPr>
          <p:spPr>
            <a:xfrm>
              <a:off x="7763131" y="3798616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5</a:t>
              </a:r>
              <a:r>
                <a:rPr lang="es-NI" sz="1200" dirty="0"/>
                <a:t>= 24 Ჲ</a:t>
              </a:r>
            </a:p>
          </p:txBody>
        </p: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53A250C-4782-DFE6-E016-C5FF410B2FC0}"/>
                </a:ext>
              </a:extLst>
            </p:cNvPr>
            <p:cNvSpPr txBox="1"/>
            <p:nvPr/>
          </p:nvSpPr>
          <p:spPr>
            <a:xfrm>
              <a:off x="3097566" y="5195261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A</a:t>
              </a:r>
              <a:r>
                <a:rPr lang="es-NI" sz="1200" dirty="0">
                  <a:solidFill>
                    <a:srgbClr val="7030A0"/>
                  </a:solidFill>
                </a:rPr>
                <a:t>= 24 V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B7E6D30-1B08-8E0A-AD71-566E285574FE}"/>
                </a:ext>
              </a:extLst>
            </p:cNvPr>
            <p:cNvSpPr txBox="1"/>
            <p:nvPr/>
          </p:nvSpPr>
          <p:spPr>
            <a:xfrm>
              <a:off x="8442958" y="5224933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B</a:t>
              </a:r>
              <a:r>
                <a:rPr lang="es-NI" sz="1200" dirty="0">
                  <a:solidFill>
                    <a:srgbClr val="7030A0"/>
                  </a:solidFill>
                </a:rPr>
                <a:t>= 30 V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269D2BD-A35F-8073-C7A6-34D1FAAE4B98}"/>
              </a:ext>
            </a:extLst>
          </p:cNvPr>
          <p:cNvSpPr txBox="1"/>
          <p:nvPr/>
        </p:nvSpPr>
        <p:spPr>
          <a:xfrm>
            <a:off x="414338" y="928688"/>
            <a:ext cx="113030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La dirección de los electrones la representaremos a partir de cada fuente de poder en el sistema, para ello iremos del negativo a positivo (recuerde que el lado negativo de la pila se representa como el lado pequeño y grueso y el lado positivo como el largo y delgado, de modo que las corrientes se mueven como se indica en la figura, encontraremos dicha designación con</a:t>
            </a:r>
            <a:r>
              <a:rPr lang="es-NI" sz="2000" dirty="0">
                <a:solidFill>
                  <a:srgbClr val="FF0000"/>
                </a:solidFill>
              </a:rPr>
              <a:t> flechas de color rojo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98981A3-D11A-90AB-542E-BBE69232711F}"/>
              </a:ext>
            </a:extLst>
          </p:cNvPr>
          <p:cNvCxnSpPr>
            <a:cxnSpLocks/>
          </p:cNvCxnSpPr>
          <p:nvPr/>
        </p:nvCxnSpPr>
        <p:spPr>
          <a:xfrm flipV="1">
            <a:off x="8567248" y="4091963"/>
            <a:ext cx="0" cy="4982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018E9B7-0BD6-8512-A35E-A523A78B5CF5}"/>
              </a:ext>
            </a:extLst>
          </p:cNvPr>
          <p:cNvCxnSpPr>
            <a:cxnSpLocks/>
          </p:cNvCxnSpPr>
          <p:nvPr/>
        </p:nvCxnSpPr>
        <p:spPr>
          <a:xfrm flipV="1">
            <a:off x="8296112" y="3806900"/>
            <a:ext cx="0" cy="3597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CBAB298-A3E6-3617-6A80-70D502BF8D0A}"/>
              </a:ext>
            </a:extLst>
          </p:cNvPr>
          <p:cNvCxnSpPr>
            <a:cxnSpLocks/>
          </p:cNvCxnSpPr>
          <p:nvPr/>
        </p:nvCxnSpPr>
        <p:spPr>
          <a:xfrm flipH="1">
            <a:off x="6741457" y="2918835"/>
            <a:ext cx="7143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F1A8FC0-7D53-E93F-C474-B09030551A81}"/>
              </a:ext>
            </a:extLst>
          </p:cNvPr>
          <p:cNvCxnSpPr>
            <a:cxnSpLocks/>
          </p:cNvCxnSpPr>
          <p:nvPr/>
        </p:nvCxnSpPr>
        <p:spPr>
          <a:xfrm flipH="1">
            <a:off x="5922703" y="3106739"/>
            <a:ext cx="47215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379DF44-5090-96EE-0A41-721E58268D46}"/>
              </a:ext>
            </a:extLst>
          </p:cNvPr>
          <p:cNvCxnSpPr>
            <a:cxnSpLocks/>
          </p:cNvCxnSpPr>
          <p:nvPr/>
        </p:nvCxnSpPr>
        <p:spPr>
          <a:xfrm flipV="1">
            <a:off x="598488" y="4310743"/>
            <a:ext cx="0" cy="3245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346CA5D6-8173-7282-C92A-D5D9ED214742}"/>
              </a:ext>
            </a:extLst>
          </p:cNvPr>
          <p:cNvCxnSpPr>
            <a:cxnSpLocks/>
          </p:cNvCxnSpPr>
          <p:nvPr/>
        </p:nvCxnSpPr>
        <p:spPr>
          <a:xfrm flipV="1">
            <a:off x="963048" y="3889829"/>
            <a:ext cx="0" cy="4042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7A869613-2B57-B2FF-A899-908CBCAC90D6}"/>
              </a:ext>
            </a:extLst>
          </p:cNvPr>
          <p:cNvCxnSpPr>
            <a:cxnSpLocks/>
          </p:cNvCxnSpPr>
          <p:nvPr/>
        </p:nvCxnSpPr>
        <p:spPr>
          <a:xfrm>
            <a:off x="2842014" y="3091914"/>
            <a:ext cx="42374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FBFD8FD-CBED-4BF2-EC19-E7A87299270D}"/>
              </a:ext>
            </a:extLst>
          </p:cNvPr>
          <p:cNvCxnSpPr>
            <a:cxnSpLocks/>
          </p:cNvCxnSpPr>
          <p:nvPr/>
        </p:nvCxnSpPr>
        <p:spPr>
          <a:xfrm>
            <a:off x="1730100" y="2918834"/>
            <a:ext cx="657610" cy="12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echa: doblada 30">
            <a:extLst>
              <a:ext uri="{FF2B5EF4-FFF2-40B4-BE49-F238E27FC236}">
                <a16:creationId xmlns:a16="http://schemas.microsoft.com/office/drawing/2014/main" id="{AFEA33CF-F95C-8764-EC8F-BB5DA55905C4}"/>
              </a:ext>
            </a:extLst>
          </p:cNvPr>
          <p:cNvSpPr/>
          <p:nvPr/>
        </p:nvSpPr>
        <p:spPr>
          <a:xfrm>
            <a:off x="607367" y="3048264"/>
            <a:ext cx="304800" cy="403764"/>
          </a:xfrm>
          <a:prstGeom prst="ben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32" name="Flecha: doblada 31">
            <a:extLst>
              <a:ext uri="{FF2B5EF4-FFF2-40B4-BE49-F238E27FC236}">
                <a16:creationId xmlns:a16="http://schemas.microsoft.com/office/drawing/2014/main" id="{595B0369-2A88-C144-1948-D34699005D85}"/>
              </a:ext>
            </a:extLst>
          </p:cNvPr>
          <p:cNvSpPr/>
          <p:nvPr/>
        </p:nvSpPr>
        <p:spPr>
          <a:xfrm flipH="1">
            <a:off x="8296112" y="3000189"/>
            <a:ext cx="321029" cy="403764"/>
          </a:xfrm>
          <a:prstGeom prst="ben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62A6806-C279-5389-2057-FA06D3004831}"/>
              </a:ext>
            </a:extLst>
          </p:cNvPr>
          <p:cNvSpPr txBox="1"/>
          <p:nvPr/>
        </p:nvSpPr>
        <p:spPr>
          <a:xfrm>
            <a:off x="5754475" y="323467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2CBEC03-9889-B707-86B5-106520DE052D}"/>
              </a:ext>
            </a:extLst>
          </p:cNvPr>
          <p:cNvSpPr txBox="1"/>
          <p:nvPr/>
        </p:nvSpPr>
        <p:spPr>
          <a:xfrm>
            <a:off x="3399557" y="3216319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990651D-5173-2191-7CA6-29126C01BC38}"/>
              </a:ext>
            </a:extLst>
          </p:cNvPr>
          <p:cNvSpPr txBox="1"/>
          <p:nvPr/>
        </p:nvSpPr>
        <p:spPr>
          <a:xfrm>
            <a:off x="9114413" y="3840651"/>
            <a:ext cx="29695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Tenemos un problema, y es elegir la dirección de la corriente en los nodos 1 y 2</a:t>
            </a:r>
          </a:p>
        </p:txBody>
      </p:sp>
    </p:spTree>
    <p:extLst>
      <p:ext uri="{BB962C8B-B14F-4D97-AF65-F5344CB8AC3E}">
        <p14:creationId xmlns:p14="http://schemas.microsoft.com/office/powerpoint/2010/main" val="1714621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CEA39CA-9AFE-D624-574D-F208A1704A07}"/>
              </a:ext>
            </a:extLst>
          </p:cNvPr>
          <p:cNvSpPr/>
          <p:nvPr/>
        </p:nvSpPr>
        <p:spPr>
          <a:xfrm>
            <a:off x="314325" y="72114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1: determinamos las direcciones de las corrientes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04A131-E839-2BD3-4EC2-8CBF3532E53E}"/>
              </a:ext>
            </a:extLst>
          </p:cNvPr>
          <p:cNvGrpSpPr/>
          <p:nvPr/>
        </p:nvGrpSpPr>
        <p:grpSpPr>
          <a:xfrm>
            <a:off x="144036" y="2918835"/>
            <a:ext cx="8922075" cy="3557586"/>
            <a:chOff x="2423284" y="3669356"/>
            <a:chExt cx="7345432" cy="283550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B9C8E7-6E33-4B3B-FE86-6CC484202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284" y="3669356"/>
              <a:ext cx="7345432" cy="2835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13D3D1F-8A35-23F6-13FA-4FE6FE0A835D}"/>
                </a:ext>
              </a:extLst>
            </p:cNvPr>
            <p:cNvSpPr txBox="1"/>
            <p:nvPr/>
          </p:nvSpPr>
          <p:spPr>
            <a:xfrm>
              <a:off x="3684019" y="3798617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1</a:t>
              </a:r>
              <a:r>
                <a:rPr lang="es-NI" sz="1200" dirty="0"/>
                <a:t>= 20 Ჲ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2136A40-B911-21CC-2CE0-260C9F226732}"/>
                </a:ext>
              </a:extLst>
            </p:cNvPr>
            <p:cNvSpPr txBox="1"/>
            <p:nvPr/>
          </p:nvSpPr>
          <p:spPr>
            <a:xfrm rot="5400000">
              <a:off x="4717039" y="4948610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2</a:t>
              </a:r>
              <a:r>
                <a:rPr lang="es-NI" sz="1200" dirty="0"/>
                <a:t>= 12 Ჲ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686B59D-2F3F-ED1E-62D9-5C1B8A26CD23}"/>
                </a:ext>
              </a:extLst>
            </p:cNvPr>
            <p:cNvSpPr txBox="1"/>
            <p:nvPr/>
          </p:nvSpPr>
          <p:spPr>
            <a:xfrm>
              <a:off x="5723575" y="3817329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3</a:t>
              </a:r>
              <a:r>
                <a:rPr lang="es-NI" sz="1200" dirty="0"/>
                <a:t>= 18 Ჲ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CD9476C-B0FB-D90B-ECCD-0305A011D587}"/>
                </a:ext>
              </a:extLst>
            </p:cNvPr>
            <p:cNvSpPr txBox="1"/>
            <p:nvPr/>
          </p:nvSpPr>
          <p:spPr>
            <a:xfrm rot="5400000">
              <a:off x="6627466" y="4940197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4</a:t>
              </a:r>
              <a:r>
                <a:rPr lang="es-NI" sz="1200" dirty="0"/>
                <a:t>= 16 Ჲ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FA5CFF-16A7-0BDD-B4EF-47411F176A86}"/>
                </a:ext>
              </a:extLst>
            </p:cNvPr>
            <p:cNvSpPr txBox="1"/>
            <p:nvPr/>
          </p:nvSpPr>
          <p:spPr>
            <a:xfrm>
              <a:off x="7763131" y="3798616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5</a:t>
              </a:r>
              <a:r>
                <a:rPr lang="es-NI" sz="1200" dirty="0"/>
                <a:t>= 24 Ჲ</a:t>
              </a:r>
            </a:p>
          </p:txBody>
        </p: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53A250C-4782-DFE6-E016-C5FF410B2FC0}"/>
                </a:ext>
              </a:extLst>
            </p:cNvPr>
            <p:cNvSpPr txBox="1"/>
            <p:nvPr/>
          </p:nvSpPr>
          <p:spPr>
            <a:xfrm>
              <a:off x="3097566" y="5195261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A</a:t>
              </a:r>
              <a:r>
                <a:rPr lang="es-NI" sz="1200" dirty="0">
                  <a:solidFill>
                    <a:srgbClr val="7030A0"/>
                  </a:solidFill>
                </a:rPr>
                <a:t>= 24 V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B7E6D30-1B08-8E0A-AD71-566E285574FE}"/>
                </a:ext>
              </a:extLst>
            </p:cNvPr>
            <p:cNvSpPr txBox="1"/>
            <p:nvPr/>
          </p:nvSpPr>
          <p:spPr>
            <a:xfrm>
              <a:off x="8442958" y="5224933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B</a:t>
              </a:r>
              <a:r>
                <a:rPr lang="es-NI" sz="1200" dirty="0">
                  <a:solidFill>
                    <a:srgbClr val="7030A0"/>
                  </a:solidFill>
                </a:rPr>
                <a:t>= 30 V</a:t>
              </a:r>
            </a:p>
          </p:txBody>
        </p:sp>
      </p:grp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98981A3-D11A-90AB-542E-BBE69232711F}"/>
              </a:ext>
            </a:extLst>
          </p:cNvPr>
          <p:cNvCxnSpPr>
            <a:cxnSpLocks/>
          </p:cNvCxnSpPr>
          <p:nvPr/>
        </p:nvCxnSpPr>
        <p:spPr>
          <a:xfrm flipV="1">
            <a:off x="8567248" y="4091963"/>
            <a:ext cx="0" cy="4982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018E9B7-0BD6-8512-A35E-A523A78B5CF5}"/>
              </a:ext>
            </a:extLst>
          </p:cNvPr>
          <p:cNvCxnSpPr>
            <a:cxnSpLocks/>
          </p:cNvCxnSpPr>
          <p:nvPr/>
        </p:nvCxnSpPr>
        <p:spPr>
          <a:xfrm flipV="1">
            <a:off x="8296112" y="3806900"/>
            <a:ext cx="0" cy="3597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CBAB298-A3E6-3617-6A80-70D502BF8D0A}"/>
              </a:ext>
            </a:extLst>
          </p:cNvPr>
          <p:cNvCxnSpPr>
            <a:cxnSpLocks/>
          </p:cNvCxnSpPr>
          <p:nvPr/>
        </p:nvCxnSpPr>
        <p:spPr>
          <a:xfrm flipH="1">
            <a:off x="6741457" y="2918835"/>
            <a:ext cx="7143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F1A8FC0-7D53-E93F-C474-B09030551A81}"/>
              </a:ext>
            </a:extLst>
          </p:cNvPr>
          <p:cNvCxnSpPr>
            <a:cxnSpLocks/>
          </p:cNvCxnSpPr>
          <p:nvPr/>
        </p:nvCxnSpPr>
        <p:spPr>
          <a:xfrm flipH="1">
            <a:off x="5922703" y="3106739"/>
            <a:ext cx="47215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379DF44-5090-96EE-0A41-721E58268D46}"/>
              </a:ext>
            </a:extLst>
          </p:cNvPr>
          <p:cNvCxnSpPr>
            <a:cxnSpLocks/>
          </p:cNvCxnSpPr>
          <p:nvPr/>
        </p:nvCxnSpPr>
        <p:spPr>
          <a:xfrm flipV="1">
            <a:off x="598488" y="4310743"/>
            <a:ext cx="0" cy="3245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346CA5D6-8173-7282-C92A-D5D9ED214742}"/>
              </a:ext>
            </a:extLst>
          </p:cNvPr>
          <p:cNvCxnSpPr>
            <a:cxnSpLocks/>
          </p:cNvCxnSpPr>
          <p:nvPr/>
        </p:nvCxnSpPr>
        <p:spPr>
          <a:xfrm flipV="1">
            <a:off x="963048" y="3889829"/>
            <a:ext cx="0" cy="4042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7A869613-2B57-B2FF-A899-908CBCAC90D6}"/>
              </a:ext>
            </a:extLst>
          </p:cNvPr>
          <p:cNvCxnSpPr>
            <a:cxnSpLocks/>
          </p:cNvCxnSpPr>
          <p:nvPr/>
        </p:nvCxnSpPr>
        <p:spPr>
          <a:xfrm>
            <a:off x="2842014" y="3091914"/>
            <a:ext cx="42374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FBFD8FD-CBED-4BF2-EC19-E7A87299270D}"/>
              </a:ext>
            </a:extLst>
          </p:cNvPr>
          <p:cNvCxnSpPr>
            <a:cxnSpLocks/>
          </p:cNvCxnSpPr>
          <p:nvPr/>
        </p:nvCxnSpPr>
        <p:spPr>
          <a:xfrm>
            <a:off x="1730100" y="2918834"/>
            <a:ext cx="657610" cy="12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echa: doblada 30">
            <a:extLst>
              <a:ext uri="{FF2B5EF4-FFF2-40B4-BE49-F238E27FC236}">
                <a16:creationId xmlns:a16="http://schemas.microsoft.com/office/drawing/2014/main" id="{AFEA33CF-F95C-8764-EC8F-BB5DA55905C4}"/>
              </a:ext>
            </a:extLst>
          </p:cNvPr>
          <p:cNvSpPr/>
          <p:nvPr/>
        </p:nvSpPr>
        <p:spPr>
          <a:xfrm>
            <a:off x="607367" y="3048264"/>
            <a:ext cx="304800" cy="403764"/>
          </a:xfrm>
          <a:prstGeom prst="ben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32" name="Flecha: doblada 31">
            <a:extLst>
              <a:ext uri="{FF2B5EF4-FFF2-40B4-BE49-F238E27FC236}">
                <a16:creationId xmlns:a16="http://schemas.microsoft.com/office/drawing/2014/main" id="{595B0369-2A88-C144-1948-D34699005D85}"/>
              </a:ext>
            </a:extLst>
          </p:cNvPr>
          <p:cNvSpPr/>
          <p:nvPr/>
        </p:nvSpPr>
        <p:spPr>
          <a:xfrm flipH="1">
            <a:off x="8296112" y="3000189"/>
            <a:ext cx="321029" cy="403764"/>
          </a:xfrm>
          <a:prstGeom prst="ben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62A6806-C279-5389-2057-FA06D3004831}"/>
              </a:ext>
            </a:extLst>
          </p:cNvPr>
          <p:cNvSpPr txBox="1"/>
          <p:nvPr/>
        </p:nvSpPr>
        <p:spPr>
          <a:xfrm>
            <a:off x="5468129" y="323467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2CBEC03-9889-B707-86B5-106520DE052D}"/>
              </a:ext>
            </a:extLst>
          </p:cNvPr>
          <p:cNvSpPr txBox="1"/>
          <p:nvPr/>
        </p:nvSpPr>
        <p:spPr>
          <a:xfrm>
            <a:off x="3093454" y="3186121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4221E61-3300-EDE5-908C-2E8A877BB063}"/>
              </a:ext>
            </a:extLst>
          </p:cNvPr>
          <p:cNvSpPr txBox="1"/>
          <p:nvPr/>
        </p:nvSpPr>
        <p:spPr>
          <a:xfrm>
            <a:off x="491517" y="866289"/>
            <a:ext cx="113345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Solucionamos el problema en los nodos, ¿la corriente entra o sale?, cuando no sabemos si la corriente entra o sale, colocamos </a:t>
            </a:r>
            <a:r>
              <a:rPr lang="es-NI" sz="2000" b="1" dirty="0"/>
              <a:t>la dirección de forma arbitraria</a:t>
            </a:r>
            <a:r>
              <a:rPr lang="es-NI" sz="2000" dirty="0"/>
              <a:t> (a elección propia), y </a:t>
            </a:r>
            <a:r>
              <a:rPr lang="es-NI" sz="2000" u="sng" dirty="0"/>
              <a:t>si los números dan negativos indica que debemos corregir la dirección</a:t>
            </a:r>
            <a:r>
              <a:rPr lang="es-NI" sz="2000" dirty="0"/>
              <a:t>, si los valores dan positivo las tenemos bien, encontraremos en </a:t>
            </a:r>
            <a:r>
              <a:rPr lang="es-NI" sz="2000" dirty="0">
                <a:solidFill>
                  <a:srgbClr val="0066FF"/>
                </a:solidFill>
              </a:rPr>
              <a:t>azul</a:t>
            </a:r>
            <a:r>
              <a:rPr lang="es-NI" sz="2000" dirty="0"/>
              <a:t> la dirección propuesta.</a:t>
            </a:r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A25A76F2-550D-DE6F-0D3C-B99DAE43C5FC}"/>
              </a:ext>
            </a:extLst>
          </p:cNvPr>
          <p:cNvCxnSpPr>
            <a:cxnSpLocks/>
          </p:cNvCxnSpPr>
          <p:nvPr/>
        </p:nvCxnSpPr>
        <p:spPr>
          <a:xfrm flipH="1">
            <a:off x="5281684" y="3104490"/>
            <a:ext cx="304564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0E989B2-65B3-AFB3-7E1F-1AA87D6E6519}"/>
              </a:ext>
            </a:extLst>
          </p:cNvPr>
          <p:cNvCxnSpPr>
            <a:cxnSpLocks/>
          </p:cNvCxnSpPr>
          <p:nvPr/>
        </p:nvCxnSpPr>
        <p:spPr>
          <a:xfrm flipH="1">
            <a:off x="4404207" y="2962336"/>
            <a:ext cx="304564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11EB2EAE-46F5-B936-1DF2-10BBDEF39BF1}"/>
              </a:ext>
            </a:extLst>
          </p:cNvPr>
          <p:cNvCxnSpPr>
            <a:cxnSpLocks/>
          </p:cNvCxnSpPr>
          <p:nvPr/>
        </p:nvCxnSpPr>
        <p:spPr>
          <a:xfrm flipH="1">
            <a:off x="3597318" y="3031634"/>
            <a:ext cx="304564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DA77282-6506-9BBC-AE27-2372D7AB053C}"/>
              </a:ext>
            </a:extLst>
          </p:cNvPr>
          <p:cNvCxnSpPr>
            <a:cxnSpLocks/>
          </p:cNvCxnSpPr>
          <p:nvPr/>
        </p:nvCxnSpPr>
        <p:spPr>
          <a:xfrm>
            <a:off x="5922703" y="3330324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A6D06238-1E4E-4D75-F0D8-107F9F402627}"/>
              </a:ext>
            </a:extLst>
          </p:cNvPr>
          <p:cNvCxnSpPr>
            <a:cxnSpLocks/>
          </p:cNvCxnSpPr>
          <p:nvPr/>
        </p:nvCxnSpPr>
        <p:spPr>
          <a:xfrm>
            <a:off x="3463134" y="3315694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A25D5E9-13E6-9C1F-A449-520E772D6E27}"/>
              </a:ext>
            </a:extLst>
          </p:cNvPr>
          <p:cNvCxnSpPr>
            <a:cxnSpLocks/>
          </p:cNvCxnSpPr>
          <p:nvPr/>
        </p:nvCxnSpPr>
        <p:spPr>
          <a:xfrm>
            <a:off x="6015866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0822C22-5F00-092D-3B45-EFC485301F9E}"/>
              </a:ext>
            </a:extLst>
          </p:cNvPr>
          <p:cNvCxnSpPr>
            <a:cxnSpLocks/>
          </p:cNvCxnSpPr>
          <p:nvPr/>
        </p:nvCxnSpPr>
        <p:spPr>
          <a:xfrm>
            <a:off x="3749600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8355F37-C18F-9F0A-E03D-5E6551B4163A}"/>
              </a:ext>
            </a:extLst>
          </p:cNvPr>
          <p:cNvSpPr txBox="1"/>
          <p:nvPr/>
        </p:nvSpPr>
        <p:spPr>
          <a:xfrm>
            <a:off x="8932109" y="3673555"/>
            <a:ext cx="29695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Ahora debemos asignar las corrientes, las colocaremos en lugar de las flechas</a:t>
            </a:r>
          </a:p>
        </p:txBody>
      </p:sp>
    </p:spTree>
    <p:extLst>
      <p:ext uri="{BB962C8B-B14F-4D97-AF65-F5344CB8AC3E}">
        <p14:creationId xmlns:p14="http://schemas.microsoft.com/office/powerpoint/2010/main" val="3086993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CEA39CA-9AFE-D624-574D-F208A1704A07}"/>
              </a:ext>
            </a:extLst>
          </p:cNvPr>
          <p:cNvSpPr/>
          <p:nvPr/>
        </p:nvSpPr>
        <p:spPr>
          <a:xfrm>
            <a:off x="314325" y="72114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1: determinamos las direcciones de las corrientes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04A131-E839-2BD3-4EC2-8CBF3532E53E}"/>
              </a:ext>
            </a:extLst>
          </p:cNvPr>
          <p:cNvGrpSpPr/>
          <p:nvPr/>
        </p:nvGrpSpPr>
        <p:grpSpPr>
          <a:xfrm>
            <a:off x="144036" y="2918835"/>
            <a:ext cx="8922075" cy="3557586"/>
            <a:chOff x="2423284" y="3669356"/>
            <a:chExt cx="7345432" cy="283550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B9C8E7-6E33-4B3B-FE86-6CC484202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284" y="3669356"/>
              <a:ext cx="7345432" cy="2835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13D3D1F-8A35-23F6-13FA-4FE6FE0A835D}"/>
                </a:ext>
              </a:extLst>
            </p:cNvPr>
            <p:cNvSpPr txBox="1"/>
            <p:nvPr/>
          </p:nvSpPr>
          <p:spPr>
            <a:xfrm>
              <a:off x="3684019" y="3798617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1</a:t>
              </a:r>
              <a:r>
                <a:rPr lang="es-NI" sz="1200" dirty="0"/>
                <a:t>= 20 Ჲ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2136A40-B911-21CC-2CE0-260C9F226732}"/>
                </a:ext>
              </a:extLst>
            </p:cNvPr>
            <p:cNvSpPr txBox="1"/>
            <p:nvPr/>
          </p:nvSpPr>
          <p:spPr>
            <a:xfrm rot="5400000">
              <a:off x="4717039" y="4948610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2</a:t>
              </a:r>
              <a:r>
                <a:rPr lang="es-NI" sz="1200" dirty="0"/>
                <a:t>= 12 Ჲ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686B59D-2F3F-ED1E-62D9-5C1B8A26CD23}"/>
                </a:ext>
              </a:extLst>
            </p:cNvPr>
            <p:cNvSpPr txBox="1"/>
            <p:nvPr/>
          </p:nvSpPr>
          <p:spPr>
            <a:xfrm>
              <a:off x="5723575" y="3817329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3</a:t>
              </a:r>
              <a:r>
                <a:rPr lang="es-NI" sz="1200" dirty="0"/>
                <a:t>= 18 Ჲ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CD9476C-B0FB-D90B-ECCD-0305A011D587}"/>
                </a:ext>
              </a:extLst>
            </p:cNvPr>
            <p:cNvSpPr txBox="1"/>
            <p:nvPr/>
          </p:nvSpPr>
          <p:spPr>
            <a:xfrm rot="5400000">
              <a:off x="6627466" y="4940197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4</a:t>
              </a:r>
              <a:r>
                <a:rPr lang="es-NI" sz="1200" dirty="0"/>
                <a:t>= 16 Ჲ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FA5CFF-16A7-0BDD-B4EF-47411F176A86}"/>
                </a:ext>
              </a:extLst>
            </p:cNvPr>
            <p:cNvSpPr txBox="1"/>
            <p:nvPr/>
          </p:nvSpPr>
          <p:spPr>
            <a:xfrm>
              <a:off x="7763131" y="3798616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5</a:t>
              </a:r>
              <a:r>
                <a:rPr lang="es-NI" sz="1200" dirty="0"/>
                <a:t>= 24 Ჲ</a:t>
              </a:r>
            </a:p>
          </p:txBody>
        </p: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53A250C-4782-DFE6-E016-C5FF410B2FC0}"/>
                </a:ext>
              </a:extLst>
            </p:cNvPr>
            <p:cNvSpPr txBox="1"/>
            <p:nvPr/>
          </p:nvSpPr>
          <p:spPr>
            <a:xfrm>
              <a:off x="3097566" y="5195261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A</a:t>
              </a:r>
              <a:r>
                <a:rPr lang="es-NI" sz="1200" dirty="0">
                  <a:solidFill>
                    <a:srgbClr val="7030A0"/>
                  </a:solidFill>
                </a:rPr>
                <a:t>= 24 V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B7E6D30-1B08-8E0A-AD71-566E285574FE}"/>
                </a:ext>
              </a:extLst>
            </p:cNvPr>
            <p:cNvSpPr txBox="1"/>
            <p:nvPr/>
          </p:nvSpPr>
          <p:spPr>
            <a:xfrm>
              <a:off x="8442958" y="5224933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B</a:t>
              </a:r>
              <a:r>
                <a:rPr lang="es-NI" sz="1200" dirty="0">
                  <a:solidFill>
                    <a:srgbClr val="7030A0"/>
                  </a:solidFill>
                </a:rPr>
                <a:t>= 30 V</a:t>
              </a:r>
            </a:p>
          </p:txBody>
        </p:sp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CBAB298-A3E6-3617-6A80-70D502BF8D0A}"/>
              </a:ext>
            </a:extLst>
          </p:cNvPr>
          <p:cNvCxnSpPr>
            <a:cxnSpLocks/>
          </p:cNvCxnSpPr>
          <p:nvPr/>
        </p:nvCxnSpPr>
        <p:spPr>
          <a:xfrm flipH="1">
            <a:off x="6741457" y="2918835"/>
            <a:ext cx="7143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FBFD8FD-CBED-4BF2-EC19-E7A87299270D}"/>
              </a:ext>
            </a:extLst>
          </p:cNvPr>
          <p:cNvCxnSpPr>
            <a:cxnSpLocks/>
          </p:cNvCxnSpPr>
          <p:nvPr/>
        </p:nvCxnSpPr>
        <p:spPr>
          <a:xfrm>
            <a:off x="1730100" y="2918834"/>
            <a:ext cx="657610" cy="12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62A6806-C279-5389-2057-FA06D3004831}"/>
              </a:ext>
            </a:extLst>
          </p:cNvPr>
          <p:cNvSpPr txBox="1"/>
          <p:nvPr/>
        </p:nvSpPr>
        <p:spPr>
          <a:xfrm>
            <a:off x="5468129" y="323467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2CBEC03-9889-B707-86B5-106520DE052D}"/>
              </a:ext>
            </a:extLst>
          </p:cNvPr>
          <p:cNvSpPr txBox="1"/>
          <p:nvPr/>
        </p:nvSpPr>
        <p:spPr>
          <a:xfrm>
            <a:off x="3093454" y="3186121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4221E61-3300-EDE5-908C-2E8A877BB063}"/>
              </a:ext>
            </a:extLst>
          </p:cNvPr>
          <p:cNvSpPr txBox="1"/>
          <p:nvPr/>
        </p:nvSpPr>
        <p:spPr>
          <a:xfrm>
            <a:off x="491517" y="866289"/>
            <a:ext cx="113345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Borraremos todas las flechas guías, sólo dejaremos las que están encima de las resistencias y colocaremos el nombre de la intensidad acorde al nombre de la resistencia, entonces la resistencia 1, le colocaremos la intensidad 1 y así sucesivamente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0E989B2-65B3-AFB3-7E1F-1AA87D6E6519}"/>
              </a:ext>
            </a:extLst>
          </p:cNvPr>
          <p:cNvCxnSpPr>
            <a:cxnSpLocks/>
          </p:cNvCxnSpPr>
          <p:nvPr/>
        </p:nvCxnSpPr>
        <p:spPr>
          <a:xfrm flipH="1">
            <a:off x="4404207" y="2962336"/>
            <a:ext cx="304564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A25D5E9-13E6-9C1F-A449-520E772D6E27}"/>
              </a:ext>
            </a:extLst>
          </p:cNvPr>
          <p:cNvCxnSpPr>
            <a:cxnSpLocks/>
          </p:cNvCxnSpPr>
          <p:nvPr/>
        </p:nvCxnSpPr>
        <p:spPr>
          <a:xfrm>
            <a:off x="6015866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0822C22-5F00-092D-3B45-EFC485301F9E}"/>
              </a:ext>
            </a:extLst>
          </p:cNvPr>
          <p:cNvCxnSpPr>
            <a:cxnSpLocks/>
          </p:cNvCxnSpPr>
          <p:nvPr/>
        </p:nvCxnSpPr>
        <p:spPr>
          <a:xfrm>
            <a:off x="3749600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8355F37-C18F-9F0A-E03D-5E6551B4163A}"/>
              </a:ext>
            </a:extLst>
          </p:cNvPr>
          <p:cNvSpPr txBox="1"/>
          <p:nvPr/>
        </p:nvSpPr>
        <p:spPr>
          <a:xfrm>
            <a:off x="8932109" y="3673555"/>
            <a:ext cx="29695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Ahora debemos elegir la dirección de circulación de la maya, puede ser a favor o en contra de las manecillas del reloj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8879F25-52B8-330F-EE3B-21BFB39BAC1E}"/>
              </a:ext>
            </a:extLst>
          </p:cNvPr>
          <p:cNvSpPr txBox="1"/>
          <p:nvPr/>
        </p:nvSpPr>
        <p:spPr>
          <a:xfrm>
            <a:off x="6005359" y="446464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66FF"/>
                </a:solidFill>
              </a:rPr>
              <a:t>I</a:t>
            </a:r>
            <a:r>
              <a:rPr lang="es-NI" sz="1200" baseline="-25000" dirty="0">
                <a:solidFill>
                  <a:srgbClr val="0066FF"/>
                </a:solidFill>
              </a:rPr>
              <a:t>4</a:t>
            </a:r>
            <a:r>
              <a:rPr lang="es-NI" sz="1200" dirty="0">
                <a:solidFill>
                  <a:srgbClr val="0066FF"/>
                </a:solidFill>
              </a:rPr>
              <a:t>=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2D5BC45-B9F4-5D36-A8CF-0FC37A9C250E}"/>
              </a:ext>
            </a:extLst>
          </p:cNvPr>
          <p:cNvSpPr txBox="1"/>
          <p:nvPr/>
        </p:nvSpPr>
        <p:spPr>
          <a:xfrm>
            <a:off x="3753761" y="4423058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66FF"/>
                </a:solidFill>
              </a:rPr>
              <a:t>I</a:t>
            </a:r>
            <a:r>
              <a:rPr lang="es-NI" sz="1200" baseline="-25000" dirty="0">
                <a:solidFill>
                  <a:srgbClr val="0066FF"/>
                </a:solidFill>
              </a:rPr>
              <a:t>2</a:t>
            </a:r>
            <a:r>
              <a:rPr lang="es-NI" sz="1200" dirty="0">
                <a:solidFill>
                  <a:srgbClr val="0066FF"/>
                </a:solidFill>
              </a:rPr>
              <a:t>=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81876F-363D-B33F-8525-FA98AC86B459}"/>
              </a:ext>
            </a:extLst>
          </p:cNvPr>
          <p:cNvSpPr txBox="1"/>
          <p:nvPr/>
        </p:nvSpPr>
        <p:spPr>
          <a:xfrm>
            <a:off x="4473525" y="2684086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66FF"/>
                </a:solidFill>
              </a:rPr>
              <a:t>I</a:t>
            </a:r>
            <a:r>
              <a:rPr lang="es-NI" sz="1200" baseline="-25000" dirty="0">
                <a:solidFill>
                  <a:srgbClr val="0066FF"/>
                </a:solidFill>
              </a:rPr>
              <a:t>3</a:t>
            </a:r>
            <a:r>
              <a:rPr lang="es-NI" sz="1200" dirty="0">
                <a:solidFill>
                  <a:srgbClr val="0066FF"/>
                </a:solidFill>
              </a:rPr>
              <a:t>=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D5003F9-6BD2-05A7-CBF8-F785FADF291D}"/>
              </a:ext>
            </a:extLst>
          </p:cNvPr>
          <p:cNvSpPr txBox="1"/>
          <p:nvPr/>
        </p:nvSpPr>
        <p:spPr>
          <a:xfrm>
            <a:off x="6903227" y="2639254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FF0000"/>
                </a:solidFill>
              </a:rPr>
              <a:t>I</a:t>
            </a:r>
            <a:r>
              <a:rPr lang="es-NI" sz="1200" baseline="-25000" dirty="0">
                <a:solidFill>
                  <a:srgbClr val="FF0000"/>
                </a:solidFill>
              </a:rPr>
              <a:t>5</a:t>
            </a:r>
            <a:r>
              <a:rPr lang="es-NI" sz="1200" dirty="0">
                <a:solidFill>
                  <a:srgbClr val="FF0000"/>
                </a:solidFill>
              </a:rPr>
              <a:t>=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BFC7B9A-3E27-F038-EF1F-0937F9EAAF30}"/>
              </a:ext>
            </a:extLst>
          </p:cNvPr>
          <p:cNvSpPr txBox="1"/>
          <p:nvPr/>
        </p:nvSpPr>
        <p:spPr>
          <a:xfrm>
            <a:off x="1948564" y="2648163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FF0000"/>
                </a:solidFill>
              </a:rPr>
              <a:t>I</a:t>
            </a:r>
            <a:r>
              <a:rPr lang="es-NI" sz="1200" baseline="-25000" dirty="0">
                <a:solidFill>
                  <a:srgbClr val="FF0000"/>
                </a:solidFill>
              </a:rPr>
              <a:t>1</a:t>
            </a:r>
            <a:r>
              <a:rPr lang="es-NI" sz="1200" dirty="0">
                <a:solidFill>
                  <a:srgbClr val="FF0000"/>
                </a:solidFill>
              </a:rPr>
              <a:t>= </a:t>
            </a:r>
          </a:p>
        </p:txBody>
      </p:sp>
    </p:spTree>
    <p:extLst>
      <p:ext uri="{BB962C8B-B14F-4D97-AF65-F5344CB8AC3E}">
        <p14:creationId xmlns:p14="http://schemas.microsoft.com/office/powerpoint/2010/main" val="249750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CEA39CA-9AFE-D624-574D-F208A1704A07}"/>
              </a:ext>
            </a:extLst>
          </p:cNvPr>
          <p:cNvSpPr/>
          <p:nvPr/>
        </p:nvSpPr>
        <p:spPr>
          <a:xfrm>
            <a:off x="394459" y="86631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2: Asignamos la dirección dentro dela malla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04A131-E839-2BD3-4EC2-8CBF3532E53E}"/>
              </a:ext>
            </a:extLst>
          </p:cNvPr>
          <p:cNvGrpSpPr/>
          <p:nvPr/>
        </p:nvGrpSpPr>
        <p:grpSpPr>
          <a:xfrm>
            <a:off x="144036" y="2918835"/>
            <a:ext cx="8922075" cy="3557586"/>
            <a:chOff x="2423284" y="3669356"/>
            <a:chExt cx="7345432" cy="283550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B9C8E7-6E33-4B3B-FE86-6CC484202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284" y="3669356"/>
              <a:ext cx="7345432" cy="2835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13D3D1F-8A35-23F6-13FA-4FE6FE0A835D}"/>
                </a:ext>
              </a:extLst>
            </p:cNvPr>
            <p:cNvSpPr txBox="1"/>
            <p:nvPr/>
          </p:nvSpPr>
          <p:spPr>
            <a:xfrm>
              <a:off x="3684019" y="3798617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1</a:t>
              </a:r>
              <a:r>
                <a:rPr lang="es-NI" sz="1200" dirty="0"/>
                <a:t>= 20 Ჲ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2136A40-B911-21CC-2CE0-260C9F226732}"/>
                </a:ext>
              </a:extLst>
            </p:cNvPr>
            <p:cNvSpPr txBox="1"/>
            <p:nvPr/>
          </p:nvSpPr>
          <p:spPr>
            <a:xfrm rot="5400000">
              <a:off x="4717039" y="4948610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2</a:t>
              </a:r>
              <a:r>
                <a:rPr lang="es-NI" sz="1200" dirty="0"/>
                <a:t>= 12 Ჲ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686B59D-2F3F-ED1E-62D9-5C1B8A26CD23}"/>
                </a:ext>
              </a:extLst>
            </p:cNvPr>
            <p:cNvSpPr txBox="1"/>
            <p:nvPr/>
          </p:nvSpPr>
          <p:spPr>
            <a:xfrm>
              <a:off x="5723575" y="3817329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3</a:t>
              </a:r>
              <a:r>
                <a:rPr lang="es-NI" sz="1200" dirty="0"/>
                <a:t>= 18 Ჲ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CD9476C-B0FB-D90B-ECCD-0305A011D587}"/>
                </a:ext>
              </a:extLst>
            </p:cNvPr>
            <p:cNvSpPr txBox="1"/>
            <p:nvPr/>
          </p:nvSpPr>
          <p:spPr>
            <a:xfrm rot="5400000">
              <a:off x="6627466" y="4940197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4</a:t>
              </a:r>
              <a:r>
                <a:rPr lang="es-NI" sz="1200" dirty="0"/>
                <a:t>= 16 Ჲ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FA5CFF-16A7-0BDD-B4EF-47411F176A86}"/>
                </a:ext>
              </a:extLst>
            </p:cNvPr>
            <p:cNvSpPr txBox="1"/>
            <p:nvPr/>
          </p:nvSpPr>
          <p:spPr>
            <a:xfrm>
              <a:off x="7763131" y="3798616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5</a:t>
              </a:r>
              <a:r>
                <a:rPr lang="es-NI" sz="1200" dirty="0"/>
                <a:t>= 24 Ჲ</a:t>
              </a:r>
            </a:p>
          </p:txBody>
        </p: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53A250C-4782-DFE6-E016-C5FF410B2FC0}"/>
                </a:ext>
              </a:extLst>
            </p:cNvPr>
            <p:cNvSpPr txBox="1"/>
            <p:nvPr/>
          </p:nvSpPr>
          <p:spPr>
            <a:xfrm>
              <a:off x="3097566" y="5195261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A</a:t>
              </a:r>
              <a:r>
                <a:rPr lang="es-NI" sz="1200" dirty="0">
                  <a:solidFill>
                    <a:srgbClr val="7030A0"/>
                  </a:solidFill>
                </a:rPr>
                <a:t>= 24 V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B7E6D30-1B08-8E0A-AD71-566E285574FE}"/>
                </a:ext>
              </a:extLst>
            </p:cNvPr>
            <p:cNvSpPr txBox="1"/>
            <p:nvPr/>
          </p:nvSpPr>
          <p:spPr>
            <a:xfrm>
              <a:off x="8442958" y="5224933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B</a:t>
              </a:r>
              <a:r>
                <a:rPr lang="es-NI" sz="1200" dirty="0">
                  <a:solidFill>
                    <a:srgbClr val="7030A0"/>
                  </a:solidFill>
                </a:rPr>
                <a:t>= 30 V</a:t>
              </a:r>
            </a:p>
          </p:txBody>
        </p:sp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CBAB298-A3E6-3617-6A80-70D502BF8D0A}"/>
              </a:ext>
            </a:extLst>
          </p:cNvPr>
          <p:cNvCxnSpPr>
            <a:cxnSpLocks/>
          </p:cNvCxnSpPr>
          <p:nvPr/>
        </p:nvCxnSpPr>
        <p:spPr>
          <a:xfrm flipH="1">
            <a:off x="6741457" y="2918835"/>
            <a:ext cx="7143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FBFD8FD-CBED-4BF2-EC19-E7A87299270D}"/>
              </a:ext>
            </a:extLst>
          </p:cNvPr>
          <p:cNvCxnSpPr>
            <a:cxnSpLocks/>
          </p:cNvCxnSpPr>
          <p:nvPr/>
        </p:nvCxnSpPr>
        <p:spPr>
          <a:xfrm>
            <a:off x="1730100" y="2918834"/>
            <a:ext cx="657610" cy="12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62A6806-C279-5389-2057-FA06D3004831}"/>
              </a:ext>
            </a:extLst>
          </p:cNvPr>
          <p:cNvSpPr txBox="1"/>
          <p:nvPr/>
        </p:nvSpPr>
        <p:spPr>
          <a:xfrm>
            <a:off x="5468129" y="323467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2CBEC03-9889-B707-86B5-106520DE052D}"/>
              </a:ext>
            </a:extLst>
          </p:cNvPr>
          <p:cNvSpPr txBox="1"/>
          <p:nvPr/>
        </p:nvSpPr>
        <p:spPr>
          <a:xfrm>
            <a:off x="3093454" y="3186121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4221E61-3300-EDE5-908C-2E8A877BB063}"/>
              </a:ext>
            </a:extLst>
          </p:cNvPr>
          <p:cNvSpPr txBox="1"/>
          <p:nvPr/>
        </p:nvSpPr>
        <p:spPr>
          <a:xfrm>
            <a:off x="491517" y="866289"/>
            <a:ext cx="113345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Para ello podemos elegir entre una dirección dextrógira o levógira, trabajaremos con una dirección a favor de las manecillas del reloj, por lo cual indicaremos la dirección también con flechas, en este caso usaremos </a:t>
            </a:r>
            <a:r>
              <a:rPr lang="es-NI" sz="2000" dirty="0">
                <a:solidFill>
                  <a:srgbClr val="00B050"/>
                </a:solidFill>
              </a:rPr>
              <a:t>flechas verdes </a:t>
            </a:r>
            <a:r>
              <a:rPr lang="es-NI" sz="2000" dirty="0"/>
              <a:t>para evitar confusión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0E989B2-65B3-AFB3-7E1F-1AA87D6E6519}"/>
              </a:ext>
            </a:extLst>
          </p:cNvPr>
          <p:cNvCxnSpPr>
            <a:cxnSpLocks/>
          </p:cNvCxnSpPr>
          <p:nvPr/>
        </p:nvCxnSpPr>
        <p:spPr>
          <a:xfrm flipH="1">
            <a:off x="4404207" y="2962336"/>
            <a:ext cx="304564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A25D5E9-13E6-9C1F-A449-520E772D6E27}"/>
              </a:ext>
            </a:extLst>
          </p:cNvPr>
          <p:cNvCxnSpPr>
            <a:cxnSpLocks/>
          </p:cNvCxnSpPr>
          <p:nvPr/>
        </p:nvCxnSpPr>
        <p:spPr>
          <a:xfrm>
            <a:off x="6015866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0822C22-5F00-092D-3B45-EFC485301F9E}"/>
              </a:ext>
            </a:extLst>
          </p:cNvPr>
          <p:cNvCxnSpPr>
            <a:cxnSpLocks/>
          </p:cNvCxnSpPr>
          <p:nvPr/>
        </p:nvCxnSpPr>
        <p:spPr>
          <a:xfrm>
            <a:off x="3749600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8355F37-C18F-9F0A-E03D-5E6551B4163A}"/>
              </a:ext>
            </a:extLst>
          </p:cNvPr>
          <p:cNvSpPr txBox="1"/>
          <p:nvPr/>
        </p:nvSpPr>
        <p:spPr>
          <a:xfrm>
            <a:off x="8932109" y="3673555"/>
            <a:ext cx="29695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Una vez elegidas todas las direcciones podemos determinar las ecuaciones para determinar los valores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8879F25-52B8-330F-EE3B-21BFB39BAC1E}"/>
              </a:ext>
            </a:extLst>
          </p:cNvPr>
          <p:cNvSpPr txBox="1"/>
          <p:nvPr/>
        </p:nvSpPr>
        <p:spPr>
          <a:xfrm>
            <a:off x="6005359" y="446464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4</a:t>
            </a:r>
            <a:r>
              <a:rPr lang="es-NI" sz="1200" dirty="0"/>
              <a:t>=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2D5BC45-B9F4-5D36-A8CF-0FC37A9C250E}"/>
              </a:ext>
            </a:extLst>
          </p:cNvPr>
          <p:cNvSpPr txBox="1"/>
          <p:nvPr/>
        </p:nvSpPr>
        <p:spPr>
          <a:xfrm>
            <a:off x="3753761" y="4423058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2</a:t>
            </a:r>
            <a:r>
              <a:rPr lang="es-NI" sz="1200" dirty="0"/>
              <a:t>=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81876F-363D-B33F-8525-FA98AC86B459}"/>
              </a:ext>
            </a:extLst>
          </p:cNvPr>
          <p:cNvSpPr txBox="1"/>
          <p:nvPr/>
        </p:nvSpPr>
        <p:spPr>
          <a:xfrm>
            <a:off x="4473525" y="2684086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3</a:t>
            </a:r>
            <a:r>
              <a:rPr lang="es-NI" sz="1200" dirty="0"/>
              <a:t>=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D5003F9-6BD2-05A7-CBF8-F785FADF291D}"/>
              </a:ext>
            </a:extLst>
          </p:cNvPr>
          <p:cNvSpPr txBox="1"/>
          <p:nvPr/>
        </p:nvSpPr>
        <p:spPr>
          <a:xfrm>
            <a:off x="6903227" y="2639254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5</a:t>
            </a:r>
            <a:r>
              <a:rPr lang="es-NI" sz="1200" dirty="0"/>
              <a:t>=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BFC7B9A-3E27-F038-EF1F-0937F9EAAF30}"/>
              </a:ext>
            </a:extLst>
          </p:cNvPr>
          <p:cNvSpPr txBox="1"/>
          <p:nvPr/>
        </p:nvSpPr>
        <p:spPr>
          <a:xfrm>
            <a:off x="1948564" y="2648163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1</a:t>
            </a:r>
            <a:r>
              <a:rPr lang="es-NI" sz="1200" dirty="0"/>
              <a:t>= </a:t>
            </a:r>
          </a:p>
        </p:txBody>
      </p:sp>
      <p:sp>
        <p:nvSpPr>
          <p:cNvPr id="11" name="Flecha: curvada hacia la izquierda 10">
            <a:extLst>
              <a:ext uri="{FF2B5EF4-FFF2-40B4-BE49-F238E27FC236}">
                <a16:creationId xmlns:a16="http://schemas.microsoft.com/office/drawing/2014/main" id="{7D8577E9-EC6A-75D4-DB93-3F2E6B151FF7}"/>
              </a:ext>
            </a:extLst>
          </p:cNvPr>
          <p:cNvSpPr/>
          <p:nvPr/>
        </p:nvSpPr>
        <p:spPr>
          <a:xfrm rot="16200000">
            <a:off x="1789076" y="3845615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2" name="Flecha: curvada hacia la izquierda 11">
            <a:extLst>
              <a:ext uri="{FF2B5EF4-FFF2-40B4-BE49-F238E27FC236}">
                <a16:creationId xmlns:a16="http://schemas.microsoft.com/office/drawing/2014/main" id="{50DB6B74-D031-97B1-6D2E-ED64E43B5AFD}"/>
              </a:ext>
            </a:extLst>
          </p:cNvPr>
          <p:cNvSpPr/>
          <p:nvPr/>
        </p:nvSpPr>
        <p:spPr>
          <a:xfrm rot="16200000">
            <a:off x="4349905" y="3835173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5" name="Flecha: curvada hacia la izquierda 14">
            <a:extLst>
              <a:ext uri="{FF2B5EF4-FFF2-40B4-BE49-F238E27FC236}">
                <a16:creationId xmlns:a16="http://schemas.microsoft.com/office/drawing/2014/main" id="{CA163D2F-22BA-BB51-343C-4A1FB5F2B208}"/>
              </a:ext>
            </a:extLst>
          </p:cNvPr>
          <p:cNvSpPr/>
          <p:nvPr/>
        </p:nvSpPr>
        <p:spPr>
          <a:xfrm rot="16200000">
            <a:off x="6590925" y="3796362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E9BA396-FDCD-14A3-5041-247FB0CD4AB5}"/>
              </a:ext>
            </a:extLst>
          </p:cNvPr>
          <p:cNvSpPr txBox="1"/>
          <p:nvPr/>
        </p:nvSpPr>
        <p:spPr>
          <a:xfrm>
            <a:off x="1969220" y="446975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1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6D77544-9A31-31D9-5313-FED44714E6F3}"/>
              </a:ext>
            </a:extLst>
          </p:cNvPr>
          <p:cNvSpPr txBox="1"/>
          <p:nvPr/>
        </p:nvSpPr>
        <p:spPr>
          <a:xfrm>
            <a:off x="4587127" y="4548572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2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B816D21-EECA-0CDE-5F0E-89203E525D35}"/>
              </a:ext>
            </a:extLst>
          </p:cNvPr>
          <p:cNvSpPr txBox="1"/>
          <p:nvPr/>
        </p:nvSpPr>
        <p:spPr>
          <a:xfrm>
            <a:off x="6805681" y="4548572"/>
            <a:ext cx="414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3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5161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CEA39CA-9AFE-D624-574D-F208A1704A07}"/>
              </a:ext>
            </a:extLst>
          </p:cNvPr>
          <p:cNvSpPr/>
          <p:nvPr/>
        </p:nvSpPr>
        <p:spPr>
          <a:xfrm>
            <a:off x="394459" y="86631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3: Determinamos las ecuaciones correspondientes a los nodos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04A131-E839-2BD3-4EC2-8CBF3532E53E}"/>
              </a:ext>
            </a:extLst>
          </p:cNvPr>
          <p:cNvGrpSpPr/>
          <p:nvPr/>
        </p:nvGrpSpPr>
        <p:grpSpPr>
          <a:xfrm>
            <a:off x="144036" y="2918835"/>
            <a:ext cx="8922075" cy="3557586"/>
            <a:chOff x="2423284" y="3669356"/>
            <a:chExt cx="7345432" cy="283550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B9C8E7-6E33-4B3B-FE86-6CC484202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284" y="3669356"/>
              <a:ext cx="7345432" cy="2835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13D3D1F-8A35-23F6-13FA-4FE6FE0A835D}"/>
                </a:ext>
              </a:extLst>
            </p:cNvPr>
            <p:cNvSpPr txBox="1"/>
            <p:nvPr/>
          </p:nvSpPr>
          <p:spPr>
            <a:xfrm>
              <a:off x="3684019" y="3798617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1</a:t>
              </a:r>
              <a:r>
                <a:rPr lang="es-NI" sz="1200" dirty="0"/>
                <a:t>= 20 Ჲ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2136A40-B911-21CC-2CE0-260C9F226732}"/>
                </a:ext>
              </a:extLst>
            </p:cNvPr>
            <p:cNvSpPr txBox="1"/>
            <p:nvPr/>
          </p:nvSpPr>
          <p:spPr>
            <a:xfrm rot="5400000">
              <a:off x="4717039" y="4948610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2</a:t>
              </a:r>
              <a:r>
                <a:rPr lang="es-NI" sz="1200" dirty="0"/>
                <a:t>= 12 Ჲ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686B59D-2F3F-ED1E-62D9-5C1B8A26CD23}"/>
                </a:ext>
              </a:extLst>
            </p:cNvPr>
            <p:cNvSpPr txBox="1"/>
            <p:nvPr/>
          </p:nvSpPr>
          <p:spPr>
            <a:xfrm>
              <a:off x="5723575" y="3817329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3</a:t>
              </a:r>
              <a:r>
                <a:rPr lang="es-NI" sz="1200" dirty="0"/>
                <a:t>= 18 Ჲ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CD9476C-B0FB-D90B-ECCD-0305A011D587}"/>
                </a:ext>
              </a:extLst>
            </p:cNvPr>
            <p:cNvSpPr txBox="1"/>
            <p:nvPr/>
          </p:nvSpPr>
          <p:spPr>
            <a:xfrm rot="5400000">
              <a:off x="6627466" y="4940197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4</a:t>
              </a:r>
              <a:r>
                <a:rPr lang="es-NI" sz="1200" dirty="0"/>
                <a:t>= 16 Ჲ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FA5CFF-16A7-0BDD-B4EF-47411F176A86}"/>
                </a:ext>
              </a:extLst>
            </p:cNvPr>
            <p:cNvSpPr txBox="1"/>
            <p:nvPr/>
          </p:nvSpPr>
          <p:spPr>
            <a:xfrm>
              <a:off x="7763131" y="3798616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5</a:t>
              </a:r>
              <a:r>
                <a:rPr lang="es-NI" sz="1200" dirty="0"/>
                <a:t>= 24 Ჲ</a:t>
              </a:r>
            </a:p>
          </p:txBody>
        </p: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53A250C-4782-DFE6-E016-C5FF410B2FC0}"/>
                </a:ext>
              </a:extLst>
            </p:cNvPr>
            <p:cNvSpPr txBox="1"/>
            <p:nvPr/>
          </p:nvSpPr>
          <p:spPr>
            <a:xfrm>
              <a:off x="3097566" y="5195261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A</a:t>
              </a:r>
              <a:r>
                <a:rPr lang="es-NI" sz="1200" dirty="0">
                  <a:solidFill>
                    <a:srgbClr val="7030A0"/>
                  </a:solidFill>
                </a:rPr>
                <a:t>= 24 V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B7E6D30-1B08-8E0A-AD71-566E285574FE}"/>
                </a:ext>
              </a:extLst>
            </p:cNvPr>
            <p:cNvSpPr txBox="1"/>
            <p:nvPr/>
          </p:nvSpPr>
          <p:spPr>
            <a:xfrm>
              <a:off x="8442958" y="5224933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B</a:t>
              </a:r>
              <a:r>
                <a:rPr lang="es-NI" sz="1200" dirty="0">
                  <a:solidFill>
                    <a:srgbClr val="7030A0"/>
                  </a:solidFill>
                </a:rPr>
                <a:t>= 30 V</a:t>
              </a:r>
            </a:p>
          </p:txBody>
        </p:sp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CBAB298-A3E6-3617-6A80-70D502BF8D0A}"/>
              </a:ext>
            </a:extLst>
          </p:cNvPr>
          <p:cNvCxnSpPr>
            <a:cxnSpLocks/>
          </p:cNvCxnSpPr>
          <p:nvPr/>
        </p:nvCxnSpPr>
        <p:spPr>
          <a:xfrm flipH="1">
            <a:off x="6741457" y="2918835"/>
            <a:ext cx="7143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FBFD8FD-CBED-4BF2-EC19-E7A87299270D}"/>
              </a:ext>
            </a:extLst>
          </p:cNvPr>
          <p:cNvCxnSpPr>
            <a:cxnSpLocks/>
          </p:cNvCxnSpPr>
          <p:nvPr/>
        </p:nvCxnSpPr>
        <p:spPr>
          <a:xfrm>
            <a:off x="1730100" y="2918834"/>
            <a:ext cx="657610" cy="12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62A6806-C279-5389-2057-FA06D3004831}"/>
              </a:ext>
            </a:extLst>
          </p:cNvPr>
          <p:cNvSpPr txBox="1"/>
          <p:nvPr/>
        </p:nvSpPr>
        <p:spPr>
          <a:xfrm>
            <a:off x="5468129" y="323467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2CBEC03-9889-B707-86B5-106520DE052D}"/>
              </a:ext>
            </a:extLst>
          </p:cNvPr>
          <p:cNvSpPr txBox="1"/>
          <p:nvPr/>
        </p:nvSpPr>
        <p:spPr>
          <a:xfrm>
            <a:off x="3093454" y="3186121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4221E61-3300-EDE5-908C-2E8A877BB063}"/>
              </a:ext>
            </a:extLst>
          </p:cNvPr>
          <p:cNvSpPr txBox="1"/>
          <p:nvPr/>
        </p:nvSpPr>
        <p:spPr>
          <a:xfrm>
            <a:off x="365958" y="866290"/>
            <a:ext cx="115357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Para analizar los nodos aplicaremos la primera ley de Kirchhoff (ley de las corrientes) en cada uno, </a:t>
            </a:r>
            <a:r>
              <a:rPr lang="es-NI" sz="2000" u="sng" dirty="0"/>
              <a:t>la ley establece que la suma de todas las corrientes es igual a cero</a:t>
            </a:r>
            <a:r>
              <a:rPr lang="es-NI" sz="2000" dirty="0"/>
              <a:t>, por lo cual colocaremos la ecuación de la siguiente manera: </a:t>
            </a:r>
            <a:r>
              <a:rPr lang="es-NI" sz="2000" b="1" dirty="0"/>
              <a:t>Si</a:t>
            </a:r>
            <a:r>
              <a:rPr lang="es-NI" sz="2000" dirty="0"/>
              <a:t> la dirección de </a:t>
            </a:r>
            <a:r>
              <a:rPr lang="es-NI" sz="2000" b="1" dirty="0"/>
              <a:t>la corriente </a:t>
            </a:r>
            <a:r>
              <a:rPr lang="es-NI" sz="2000" dirty="0"/>
              <a:t>(flechas azules y rojas) </a:t>
            </a:r>
            <a:r>
              <a:rPr lang="es-NI" sz="2000" b="1" dirty="0"/>
              <a:t>entra al nodo </a:t>
            </a:r>
            <a:r>
              <a:rPr lang="es-NI" sz="2000" dirty="0"/>
              <a:t>(la flecha apunta hacia el nodo) </a:t>
            </a:r>
            <a:r>
              <a:rPr lang="es-NI" sz="2000" b="1" dirty="0"/>
              <a:t>la colocaremos </a:t>
            </a:r>
            <a:r>
              <a:rPr lang="es-NI" sz="2000" dirty="0"/>
              <a:t>dicha intensidad </a:t>
            </a:r>
            <a:r>
              <a:rPr lang="es-NI" sz="2000" b="1" dirty="0"/>
              <a:t>en positivo</a:t>
            </a:r>
            <a:r>
              <a:rPr lang="es-NI" sz="2000" dirty="0"/>
              <a:t>, y </a:t>
            </a:r>
            <a:r>
              <a:rPr lang="es-NI" sz="2000" b="1" dirty="0"/>
              <a:t>si</a:t>
            </a:r>
            <a:r>
              <a:rPr lang="es-NI" sz="2000" dirty="0"/>
              <a:t> la flecha </a:t>
            </a:r>
            <a:r>
              <a:rPr lang="es-NI" sz="2000" b="1" dirty="0"/>
              <a:t>sale del nodo </a:t>
            </a:r>
            <a:r>
              <a:rPr lang="es-NI" sz="2000" dirty="0"/>
              <a:t>(apunta en dirección contraria al nodo), </a:t>
            </a:r>
            <a:r>
              <a:rPr lang="es-NI" sz="2000" b="1" dirty="0"/>
              <a:t>colocaremos esas intensidades en negativo</a:t>
            </a:r>
            <a:r>
              <a:rPr lang="es-NI" sz="2000" dirty="0"/>
              <a:t>, </a:t>
            </a:r>
            <a:r>
              <a:rPr lang="es-NI" sz="2000" i="1" dirty="0"/>
              <a:t>se deben colocar en orden según el número </a:t>
            </a:r>
            <a:r>
              <a:rPr lang="es-NI" sz="2000" dirty="0"/>
              <a:t>e </a:t>
            </a:r>
            <a:r>
              <a:rPr lang="es-NI" sz="2000" b="1" dirty="0"/>
              <a:t>igualar a cero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0E989B2-65B3-AFB3-7E1F-1AA87D6E6519}"/>
              </a:ext>
            </a:extLst>
          </p:cNvPr>
          <p:cNvCxnSpPr>
            <a:cxnSpLocks/>
          </p:cNvCxnSpPr>
          <p:nvPr/>
        </p:nvCxnSpPr>
        <p:spPr>
          <a:xfrm flipH="1">
            <a:off x="4404207" y="2962336"/>
            <a:ext cx="304564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A25D5E9-13E6-9C1F-A449-520E772D6E27}"/>
              </a:ext>
            </a:extLst>
          </p:cNvPr>
          <p:cNvCxnSpPr>
            <a:cxnSpLocks/>
          </p:cNvCxnSpPr>
          <p:nvPr/>
        </p:nvCxnSpPr>
        <p:spPr>
          <a:xfrm>
            <a:off x="6015866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0822C22-5F00-092D-3B45-EFC485301F9E}"/>
              </a:ext>
            </a:extLst>
          </p:cNvPr>
          <p:cNvCxnSpPr>
            <a:cxnSpLocks/>
          </p:cNvCxnSpPr>
          <p:nvPr/>
        </p:nvCxnSpPr>
        <p:spPr>
          <a:xfrm>
            <a:off x="3749600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8355F37-C18F-9F0A-E03D-5E6551B4163A}"/>
              </a:ext>
            </a:extLst>
          </p:cNvPr>
          <p:cNvSpPr txBox="1"/>
          <p:nvPr/>
        </p:nvSpPr>
        <p:spPr>
          <a:xfrm>
            <a:off x="8932109" y="4248593"/>
            <a:ext cx="29695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Iniciaremos con el análisis del nodo 1 y luego seguiremos con el nodo 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8879F25-52B8-330F-EE3B-21BFB39BAC1E}"/>
              </a:ext>
            </a:extLst>
          </p:cNvPr>
          <p:cNvSpPr txBox="1"/>
          <p:nvPr/>
        </p:nvSpPr>
        <p:spPr>
          <a:xfrm>
            <a:off x="6005359" y="446464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4</a:t>
            </a:r>
            <a:r>
              <a:rPr lang="es-NI" sz="1200" dirty="0"/>
              <a:t>=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2D5BC45-B9F4-5D36-A8CF-0FC37A9C250E}"/>
              </a:ext>
            </a:extLst>
          </p:cNvPr>
          <p:cNvSpPr txBox="1"/>
          <p:nvPr/>
        </p:nvSpPr>
        <p:spPr>
          <a:xfrm>
            <a:off x="3753761" y="4423058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2</a:t>
            </a:r>
            <a:r>
              <a:rPr lang="es-NI" sz="1200" dirty="0"/>
              <a:t>=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81876F-363D-B33F-8525-FA98AC86B459}"/>
              </a:ext>
            </a:extLst>
          </p:cNvPr>
          <p:cNvSpPr txBox="1"/>
          <p:nvPr/>
        </p:nvSpPr>
        <p:spPr>
          <a:xfrm>
            <a:off x="4473525" y="2684086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3</a:t>
            </a:r>
            <a:r>
              <a:rPr lang="es-NI" sz="1200" dirty="0"/>
              <a:t>=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D5003F9-6BD2-05A7-CBF8-F785FADF291D}"/>
              </a:ext>
            </a:extLst>
          </p:cNvPr>
          <p:cNvSpPr txBox="1"/>
          <p:nvPr/>
        </p:nvSpPr>
        <p:spPr>
          <a:xfrm>
            <a:off x="6903227" y="2639254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5</a:t>
            </a:r>
            <a:r>
              <a:rPr lang="es-NI" sz="1200" dirty="0"/>
              <a:t>=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BFC7B9A-3E27-F038-EF1F-0937F9EAAF30}"/>
              </a:ext>
            </a:extLst>
          </p:cNvPr>
          <p:cNvSpPr txBox="1"/>
          <p:nvPr/>
        </p:nvSpPr>
        <p:spPr>
          <a:xfrm>
            <a:off x="1948564" y="2648163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1</a:t>
            </a:r>
            <a:r>
              <a:rPr lang="es-NI" sz="1200" dirty="0"/>
              <a:t>= </a:t>
            </a:r>
          </a:p>
        </p:txBody>
      </p:sp>
      <p:sp>
        <p:nvSpPr>
          <p:cNvPr id="11" name="Flecha: curvada hacia la izquierda 10">
            <a:extLst>
              <a:ext uri="{FF2B5EF4-FFF2-40B4-BE49-F238E27FC236}">
                <a16:creationId xmlns:a16="http://schemas.microsoft.com/office/drawing/2014/main" id="{7D8577E9-EC6A-75D4-DB93-3F2E6B151FF7}"/>
              </a:ext>
            </a:extLst>
          </p:cNvPr>
          <p:cNvSpPr/>
          <p:nvPr/>
        </p:nvSpPr>
        <p:spPr>
          <a:xfrm rot="16200000">
            <a:off x="1789076" y="3845615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2" name="Flecha: curvada hacia la izquierda 11">
            <a:extLst>
              <a:ext uri="{FF2B5EF4-FFF2-40B4-BE49-F238E27FC236}">
                <a16:creationId xmlns:a16="http://schemas.microsoft.com/office/drawing/2014/main" id="{50DB6B74-D031-97B1-6D2E-ED64E43B5AFD}"/>
              </a:ext>
            </a:extLst>
          </p:cNvPr>
          <p:cNvSpPr/>
          <p:nvPr/>
        </p:nvSpPr>
        <p:spPr>
          <a:xfrm rot="16200000">
            <a:off x="4349905" y="3835173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5" name="Flecha: curvada hacia la izquierda 14">
            <a:extLst>
              <a:ext uri="{FF2B5EF4-FFF2-40B4-BE49-F238E27FC236}">
                <a16:creationId xmlns:a16="http://schemas.microsoft.com/office/drawing/2014/main" id="{CA163D2F-22BA-BB51-343C-4A1FB5F2B208}"/>
              </a:ext>
            </a:extLst>
          </p:cNvPr>
          <p:cNvSpPr/>
          <p:nvPr/>
        </p:nvSpPr>
        <p:spPr>
          <a:xfrm rot="16200000">
            <a:off x="6590925" y="3796362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E9BA396-FDCD-14A3-5041-247FB0CD4AB5}"/>
              </a:ext>
            </a:extLst>
          </p:cNvPr>
          <p:cNvSpPr txBox="1"/>
          <p:nvPr/>
        </p:nvSpPr>
        <p:spPr>
          <a:xfrm>
            <a:off x="1969220" y="446975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1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6D77544-9A31-31D9-5313-FED44714E6F3}"/>
              </a:ext>
            </a:extLst>
          </p:cNvPr>
          <p:cNvSpPr txBox="1"/>
          <p:nvPr/>
        </p:nvSpPr>
        <p:spPr>
          <a:xfrm>
            <a:off x="4587127" y="4548572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2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B816D21-EECA-0CDE-5F0E-89203E525D35}"/>
              </a:ext>
            </a:extLst>
          </p:cNvPr>
          <p:cNvSpPr txBox="1"/>
          <p:nvPr/>
        </p:nvSpPr>
        <p:spPr>
          <a:xfrm>
            <a:off x="6805681" y="4548572"/>
            <a:ext cx="414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3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499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CEA39CA-9AFE-D624-574D-F208A1704A07}"/>
              </a:ext>
            </a:extLst>
          </p:cNvPr>
          <p:cNvSpPr/>
          <p:nvPr/>
        </p:nvSpPr>
        <p:spPr>
          <a:xfrm>
            <a:off x="394459" y="86631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3: Determinamos las ecuaciones correspondientes a los nodos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04A131-E839-2BD3-4EC2-8CBF3532E53E}"/>
              </a:ext>
            </a:extLst>
          </p:cNvPr>
          <p:cNvGrpSpPr/>
          <p:nvPr/>
        </p:nvGrpSpPr>
        <p:grpSpPr>
          <a:xfrm>
            <a:off x="144036" y="2918835"/>
            <a:ext cx="8922075" cy="3557586"/>
            <a:chOff x="2423284" y="3669356"/>
            <a:chExt cx="7345432" cy="283550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B9C8E7-6E33-4B3B-FE86-6CC484202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284" y="3669356"/>
              <a:ext cx="7345432" cy="2835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13D3D1F-8A35-23F6-13FA-4FE6FE0A835D}"/>
                </a:ext>
              </a:extLst>
            </p:cNvPr>
            <p:cNvSpPr txBox="1"/>
            <p:nvPr/>
          </p:nvSpPr>
          <p:spPr>
            <a:xfrm>
              <a:off x="3684019" y="3798617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1</a:t>
              </a:r>
              <a:r>
                <a:rPr lang="es-NI" sz="1200" dirty="0"/>
                <a:t>= 20 Ჲ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2136A40-B911-21CC-2CE0-260C9F226732}"/>
                </a:ext>
              </a:extLst>
            </p:cNvPr>
            <p:cNvSpPr txBox="1"/>
            <p:nvPr/>
          </p:nvSpPr>
          <p:spPr>
            <a:xfrm rot="5400000">
              <a:off x="4717039" y="4948610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2</a:t>
              </a:r>
              <a:r>
                <a:rPr lang="es-NI" sz="1200" dirty="0"/>
                <a:t>= 12 Ჲ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686B59D-2F3F-ED1E-62D9-5C1B8A26CD23}"/>
                </a:ext>
              </a:extLst>
            </p:cNvPr>
            <p:cNvSpPr txBox="1"/>
            <p:nvPr/>
          </p:nvSpPr>
          <p:spPr>
            <a:xfrm>
              <a:off x="5723575" y="3817329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3</a:t>
              </a:r>
              <a:r>
                <a:rPr lang="es-NI" sz="1200" dirty="0"/>
                <a:t>= 18 Ჲ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CD9476C-B0FB-D90B-ECCD-0305A011D587}"/>
                </a:ext>
              </a:extLst>
            </p:cNvPr>
            <p:cNvSpPr txBox="1"/>
            <p:nvPr/>
          </p:nvSpPr>
          <p:spPr>
            <a:xfrm rot="5400000">
              <a:off x="6627466" y="4940197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4</a:t>
              </a:r>
              <a:r>
                <a:rPr lang="es-NI" sz="1200" dirty="0"/>
                <a:t>= 16 Ჲ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FA5CFF-16A7-0BDD-B4EF-47411F176A86}"/>
                </a:ext>
              </a:extLst>
            </p:cNvPr>
            <p:cNvSpPr txBox="1"/>
            <p:nvPr/>
          </p:nvSpPr>
          <p:spPr>
            <a:xfrm>
              <a:off x="7763131" y="3798616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5</a:t>
              </a:r>
              <a:r>
                <a:rPr lang="es-NI" sz="1200" dirty="0"/>
                <a:t>= 24 Ჲ</a:t>
              </a:r>
            </a:p>
          </p:txBody>
        </p: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53A250C-4782-DFE6-E016-C5FF410B2FC0}"/>
                </a:ext>
              </a:extLst>
            </p:cNvPr>
            <p:cNvSpPr txBox="1"/>
            <p:nvPr/>
          </p:nvSpPr>
          <p:spPr>
            <a:xfrm>
              <a:off x="3097566" y="5195261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A</a:t>
              </a:r>
              <a:r>
                <a:rPr lang="es-NI" sz="1200" dirty="0">
                  <a:solidFill>
                    <a:srgbClr val="7030A0"/>
                  </a:solidFill>
                </a:rPr>
                <a:t>= 24 V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B7E6D30-1B08-8E0A-AD71-566E285574FE}"/>
                </a:ext>
              </a:extLst>
            </p:cNvPr>
            <p:cNvSpPr txBox="1"/>
            <p:nvPr/>
          </p:nvSpPr>
          <p:spPr>
            <a:xfrm>
              <a:off x="8442958" y="5224933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B</a:t>
              </a:r>
              <a:r>
                <a:rPr lang="es-NI" sz="1200" dirty="0">
                  <a:solidFill>
                    <a:srgbClr val="7030A0"/>
                  </a:solidFill>
                </a:rPr>
                <a:t>= 30 V</a:t>
              </a:r>
            </a:p>
          </p:txBody>
        </p:sp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CBAB298-A3E6-3617-6A80-70D502BF8D0A}"/>
              </a:ext>
            </a:extLst>
          </p:cNvPr>
          <p:cNvCxnSpPr>
            <a:cxnSpLocks/>
          </p:cNvCxnSpPr>
          <p:nvPr/>
        </p:nvCxnSpPr>
        <p:spPr>
          <a:xfrm flipH="1">
            <a:off x="6741457" y="2918835"/>
            <a:ext cx="7143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FBFD8FD-CBED-4BF2-EC19-E7A87299270D}"/>
              </a:ext>
            </a:extLst>
          </p:cNvPr>
          <p:cNvCxnSpPr>
            <a:cxnSpLocks/>
          </p:cNvCxnSpPr>
          <p:nvPr/>
        </p:nvCxnSpPr>
        <p:spPr>
          <a:xfrm>
            <a:off x="1730100" y="2918834"/>
            <a:ext cx="657610" cy="12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62A6806-C279-5389-2057-FA06D3004831}"/>
              </a:ext>
            </a:extLst>
          </p:cNvPr>
          <p:cNvSpPr txBox="1"/>
          <p:nvPr/>
        </p:nvSpPr>
        <p:spPr>
          <a:xfrm>
            <a:off x="5468129" y="323467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2CBEC03-9889-B707-86B5-106520DE052D}"/>
              </a:ext>
            </a:extLst>
          </p:cNvPr>
          <p:cNvSpPr txBox="1"/>
          <p:nvPr/>
        </p:nvSpPr>
        <p:spPr>
          <a:xfrm>
            <a:off x="3093454" y="3186121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4221E61-3300-EDE5-908C-2E8A877BB063}"/>
              </a:ext>
            </a:extLst>
          </p:cNvPr>
          <p:cNvSpPr txBox="1"/>
          <p:nvPr/>
        </p:nvSpPr>
        <p:spPr>
          <a:xfrm>
            <a:off x="365958" y="866290"/>
            <a:ext cx="115357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En el nodo 1 </a:t>
            </a:r>
            <a:r>
              <a:rPr lang="es-NI" sz="2000" b="1" dirty="0"/>
              <a:t>entran las corrientes 1 y 3 </a:t>
            </a:r>
            <a:r>
              <a:rPr lang="es-NI" sz="2000" dirty="0"/>
              <a:t>, y </a:t>
            </a:r>
            <a:r>
              <a:rPr lang="es-NI" sz="2000" b="1" dirty="0"/>
              <a:t>sale la corriente 2</a:t>
            </a:r>
            <a:r>
              <a:rPr lang="es-NI" sz="2000" dirty="0"/>
              <a:t>, las </a:t>
            </a:r>
            <a:r>
              <a:rPr lang="es-NI" sz="2000" u="sng" dirty="0"/>
              <a:t>corrientes que entran van con signo positivo y la que salen van con signo negativo</a:t>
            </a:r>
            <a:r>
              <a:rPr lang="es-NI" sz="2000" dirty="0"/>
              <a:t>, entonces nos quedaría de la siguiente manera </a:t>
            </a:r>
          </a:p>
          <a:p>
            <a:pPr algn="just"/>
            <a:endParaRPr lang="es-NI" sz="2000" dirty="0"/>
          </a:p>
          <a:p>
            <a:pPr algn="just"/>
            <a:r>
              <a:rPr lang="es-NI" sz="2000" dirty="0"/>
              <a:t> 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0E989B2-65B3-AFB3-7E1F-1AA87D6E6519}"/>
              </a:ext>
            </a:extLst>
          </p:cNvPr>
          <p:cNvCxnSpPr>
            <a:cxnSpLocks/>
          </p:cNvCxnSpPr>
          <p:nvPr/>
        </p:nvCxnSpPr>
        <p:spPr>
          <a:xfrm flipH="1">
            <a:off x="4404207" y="2962336"/>
            <a:ext cx="304564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A25D5E9-13E6-9C1F-A449-520E772D6E27}"/>
              </a:ext>
            </a:extLst>
          </p:cNvPr>
          <p:cNvCxnSpPr>
            <a:cxnSpLocks/>
          </p:cNvCxnSpPr>
          <p:nvPr/>
        </p:nvCxnSpPr>
        <p:spPr>
          <a:xfrm>
            <a:off x="6015866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0822C22-5F00-092D-3B45-EFC485301F9E}"/>
              </a:ext>
            </a:extLst>
          </p:cNvPr>
          <p:cNvCxnSpPr>
            <a:cxnSpLocks/>
          </p:cNvCxnSpPr>
          <p:nvPr/>
        </p:nvCxnSpPr>
        <p:spPr>
          <a:xfrm>
            <a:off x="3749600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8355F37-C18F-9F0A-E03D-5E6551B4163A}"/>
              </a:ext>
            </a:extLst>
          </p:cNvPr>
          <p:cNvSpPr txBox="1"/>
          <p:nvPr/>
        </p:nvSpPr>
        <p:spPr>
          <a:xfrm>
            <a:off x="3621628" y="2092636"/>
            <a:ext cx="2969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– 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+ 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= 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8879F25-52B8-330F-EE3B-21BFB39BAC1E}"/>
              </a:ext>
            </a:extLst>
          </p:cNvPr>
          <p:cNvSpPr txBox="1"/>
          <p:nvPr/>
        </p:nvSpPr>
        <p:spPr>
          <a:xfrm>
            <a:off x="6005359" y="446464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4</a:t>
            </a:r>
            <a:r>
              <a:rPr lang="es-NI" sz="1200" dirty="0"/>
              <a:t>=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2D5BC45-B9F4-5D36-A8CF-0FC37A9C250E}"/>
              </a:ext>
            </a:extLst>
          </p:cNvPr>
          <p:cNvSpPr txBox="1"/>
          <p:nvPr/>
        </p:nvSpPr>
        <p:spPr>
          <a:xfrm>
            <a:off x="3753761" y="4423058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2</a:t>
            </a:r>
            <a:r>
              <a:rPr lang="es-NI" sz="1200" dirty="0"/>
              <a:t>=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81876F-363D-B33F-8525-FA98AC86B459}"/>
              </a:ext>
            </a:extLst>
          </p:cNvPr>
          <p:cNvSpPr txBox="1"/>
          <p:nvPr/>
        </p:nvSpPr>
        <p:spPr>
          <a:xfrm>
            <a:off x="4473525" y="2684086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3</a:t>
            </a:r>
            <a:r>
              <a:rPr lang="es-NI" sz="1200" dirty="0"/>
              <a:t>=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D5003F9-6BD2-05A7-CBF8-F785FADF291D}"/>
              </a:ext>
            </a:extLst>
          </p:cNvPr>
          <p:cNvSpPr txBox="1"/>
          <p:nvPr/>
        </p:nvSpPr>
        <p:spPr>
          <a:xfrm>
            <a:off x="6903227" y="2639254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5</a:t>
            </a:r>
            <a:r>
              <a:rPr lang="es-NI" sz="1200" dirty="0"/>
              <a:t>=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BFC7B9A-3E27-F038-EF1F-0937F9EAAF30}"/>
              </a:ext>
            </a:extLst>
          </p:cNvPr>
          <p:cNvSpPr txBox="1"/>
          <p:nvPr/>
        </p:nvSpPr>
        <p:spPr>
          <a:xfrm>
            <a:off x="1948564" y="2648163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1</a:t>
            </a:r>
            <a:r>
              <a:rPr lang="es-NI" sz="1200" dirty="0"/>
              <a:t>= </a:t>
            </a:r>
          </a:p>
        </p:txBody>
      </p:sp>
      <p:sp>
        <p:nvSpPr>
          <p:cNvPr id="11" name="Flecha: curvada hacia la izquierda 10">
            <a:extLst>
              <a:ext uri="{FF2B5EF4-FFF2-40B4-BE49-F238E27FC236}">
                <a16:creationId xmlns:a16="http://schemas.microsoft.com/office/drawing/2014/main" id="{7D8577E9-EC6A-75D4-DB93-3F2E6B151FF7}"/>
              </a:ext>
            </a:extLst>
          </p:cNvPr>
          <p:cNvSpPr/>
          <p:nvPr/>
        </p:nvSpPr>
        <p:spPr>
          <a:xfrm rot="16200000">
            <a:off x="1789076" y="3845615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2" name="Flecha: curvada hacia la izquierda 11">
            <a:extLst>
              <a:ext uri="{FF2B5EF4-FFF2-40B4-BE49-F238E27FC236}">
                <a16:creationId xmlns:a16="http://schemas.microsoft.com/office/drawing/2014/main" id="{50DB6B74-D031-97B1-6D2E-ED64E43B5AFD}"/>
              </a:ext>
            </a:extLst>
          </p:cNvPr>
          <p:cNvSpPr/>
          <p:nvPr/>
        </p:nvSpPr>
        <p:spPr>
          <a:xfrm rot="16200000">
            <a:off x="4349905" y="3835173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5" name="Flecha: curvada hacia la izquierda 14">
            <a:extLst>
              <a:ext uri="{FF2B5EF4-FFF2-40B4-BE49-F238E27FC236}">
                <a16:creationId xmlns:a16="http://schemas.microsoft.com/office/drawing/2014/main" id="{CA163D2F-22BA-BB51-343C-4A1FB5F2B208}"/>
              </a:ext>
            </a:extLst>
          </p:cNvPr>
          <p:cNvSpPr/>
          <p:nvPr/>
        </p:nvSpPr>
        <p:spPr>
          <a:xfrm rot="16200000">
            <a:off x="6590925" y="3796362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E9BA396-FDCD-14A3-5041-247FB0CD4AB5}"/>
              </a:ext>
            </a:extLst>
          </p:cNvPr>
          <p:cNvSpPr txBox="1"/>
          <p:nvPr/>
        </p:nvSpPr>
        <p:spPr>
          <a:xfrm>
            <a:off x="1969220" y="446975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1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6D77544-9A31-31D9-5313-FED44714E6F3}"/>
              </a:ext>
            </a:extLst>
          </p:cNvPr>
          <p:cNvSpPr txBox="1"/>
          <p:nvPr/>
        </p:nvSpPr>
        <p:spPr>
          <a:xfrm>
            <a:off x="4587127" y="4548572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2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B816D21-EECA-0CDE-5F0E-89203E525D35}"/>
              </a:ext>
            </a:extLst>
          </p:cNvPr>
          <p:cNvSpPr txBox="1"/>
          <p:nvPr/>
        </p:nvSpPr>
        <p:spPr>
          <a:xfrm>
            <a:off x="6805681" y="4548572"/>
            <a:ext cx="414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3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6488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CEA39CA-9AFE-D624-574D-F208A1704A07}"/>
              </a:ext>
            </a:extLst>
          </p:cNvPr>
          <p:cNvSpPr/>
          <p:nvPr/>
        </p:nvSpPr>
        <p:spPr>
          <a:xfrm>
            <a:off x="394459" y="86631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3: Determinamos las ecuaciones correspondientes a los nodos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04A131-E839-2BD3-4EC2-8CBF3532E53E}"/>
              </a:ext>
            </a:extLst>
          </p:cNvPr>
          <p:cNvGrpSpPr/>
          <p:nvPr/>
        </p:nvGrpSpPr>
        <p:grpSpPr>
          <a:xfrm>
            <a:off x="144036" y="2918835"/>
            <a:ext cx="8922075" cy="3557586"/>
            <a:chOff x="2423284" y="3669356"/>
            <a:chExt cx="7345432" cy="283550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B9C8E7-6E33-4B3B-FE86-6CC484202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284" y="3669356"/>
              <a:ext cx="7345432" cy="2835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13D3D1F-8A35-23F6-13FA-4FE6FE0A835D}"/>
                </a:ext>
              </a:extLst>
            </p:cNvPr>
            <p:cNvSpPr txBox="1"/>
            <p:nvPr/>
          </p:nvSpPr>
          <p:spPr>
            <a:xfrm>
              <a:off x="3684019" y="3798617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1</a:t>
              </a:r>
              <a:r>
                <a:rPr lang="es-NI" sz="1200" dirty="0"/>
                <a:t>= 20 Ჲ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2136A40-B911-21CC-2CE0-260C9F226732}"/>
                </a:ext>
              </a:extLst>
            </p:cNvPr>
            <p:cNvSpPr txBox="1"/>
            <p:nvPr/>
          </p:nvSpPr>
          <p:spPr>
            <a:xfrm rot="5400000">
              <a:off x="4717039" y="4948610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2</a:t>
              </a:r>
              <a:r>
                <a:rPr lang="es-NI" sz="1200" dirty="0"/>
                <a:t>= 12 Ჲ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686B59D-2F3F-ED1E-62D9-5C1B8A26CD23}"/>
                </a:ext>
              </a:extLst>
            </p:cNvPr>
            <p:cNvSpPr txBox="1"/>
            <p:nvPr/>
          </p:nvSpPr>
          <p:spPr>
            <a:xfrm>
              <a:off x="5723575" y="3817329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3</a:t>
              </a:r>
              <a:r>
                <a:rPr lang="es-NI" sz="1200" dirty="0"/>
                <a:t>= 18 Ჲ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CD9476C-B0FB-D90B-ECCD-0305A011D587}"/>
                </a:ext>
              </a:extLst>
            </p:cNvPr>
            <p:cNvSpPr txBox="1"/>
            <p:nvPr/>
          </p:nvSpPr>
          <p:spPr>
            <a:xfrm rot="5400000">
              <a:off x="6627466" y="4940197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4</a:t>
              </a:r>
              <a:r>
                <a:rPr lang="es-NI" sz="1200" dirty="0"/>
                <a:t>= 16 Ჲ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FA5CFF-16A7-0BDD-B4EF-47411F176A86}"/>
                </a:ext>
              </a:extLst>
            </p:cNvPr>
            <p:cNvSpPr txBox="1"/>
            <p:nvPr/>
          </p:nvSpPr>
          <p:spPr>
            <a:xfrm>
              <a:off x="7763131" y="3798616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5</a:t>
              </a:r>
              <a:r>
                <a:rPr lang="es-NI" sz="1200" dirty="0"/>
                <a:t>= 24 Ჲ</a:t>
              </a:r>
            </a:p>
          </p:txBody>
        </p: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53A250C-4782-DFE6-E016-C5FF410B2FC0}"/>
                </a:ext>
              </a:extLst>
            </p:cNvPr>
            <p:cNvSpPr txBox="1"/>
            <p:nvPr/>
          </p:nvSpPr>
          <p:spPr>
            <a:xfrm>
              <a:off x="3097566" y="5195261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A</a:t>
              </a:r>
              <a:r>
                <a:rPr lang="es-NI" sz="1200" dirty="0">
                  <a:solidFill>
                    <a:srgbClr val="7030A0"/>
                  </a:solidFill>
                </a:rPr>
                <a:t>= 24 V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B7E6D30-1B08-8E0A-AD71-566E285574FE}"/>
                </a:ext>
              </a:extLst>
            </p:cNvPr>
            <p:cNvSpPr txBox="1"/>
            <p:nvPr/>
          </p:nvSpPr>
          <p:spPr>
            <a:xfrm>
              <a:off x="8442958" y="5224933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B</a:t>
              </a:r>
              <a:r>
                <a:rPr lang="es-NI" sz="1200" dirty="0">
                  <a:solidFill>
                    <a:srgbClr val="7030A0"/>
                  </a:solidFill>
                </a:rPr>
                <a:t>= 30 V</a:t>
              </a:r>
            </a:p>
          </p:txBody>
        </p:sp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CBAB298-A3E6-3617-6A80-70D502BF8D0A}"/>
              </a:ext>
            </a:extLst>
          </p:cNvPr>
          <p:cNvCxnSpPr>
            <a:cxnSpLocks/>
          </p:cNvCxnSpPr>
          <p:nvPr/>
        </p:nvCxnSpPr>
        <p:spPr>
          <a:xfrm flipH="1">
            <a:off x="6741457" y="2918835"/>
            <a:ext cx="7143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FBFD8FD-CBED-4BF2-EC19-E7A87299270D}"/>
              </a:ext>
            </a:extLst>
          </p:cNvPr>
          <p:cNvCxnSpPr>
            <a:cxnSpLocks/>
          </p:cNvCxnSpPr>
          <p:nvPr/>
        </p:nvCxnSpPr>
        <p:spPr>
          <a:xfrm>
            <a:off x="1730100" y="2918834"/>
            <a:ext cx="657610" cy="12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62A6806-C279-5389-2057-FA06D3004831}"/>
              </a:ext>
            </a:extLst>
          </p:cNvPr>
          <p:cNvSpPr txBox="1"/>
          <p:nvPr/>
        </p:nvSpPr>
        <p:spPr>
          <a:xfrm>
            <a:off x="5468129" y="323467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2CBEC03-9889-B707-86B5-106520DE052D}"/>
              </a:ext>
            </a:extLst>
          </p:cNvPr>
          <p:cNvSpPr txBox="1"/>
          <p:nvPr/>
        </p:nvSpPr>
        <p:spPr>
          <a:xfrm>
            <a:off x="3093454" y="3186121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4221E61-3300-EDE5-908C-2E8A877BB063}"/>
              </a:ext>
            </a:extLst>
          </p:cNvPr>
          <p:cNvSpPr txBox="1"/>
          <p:nvPr/>
        </p:nvSpPr>
        <p:spPr>
          <a:xfrm>
            <a:off x="365958" y="866290"/>
            <a:ext cx="115357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En el nodo 2 </a:t>
            </a:r>
            <a:r>
              <a:rPr lang="es-NI" sz="2000" b="1" dirty="0"/>
              <a:t>entra la corrientes 5</a:t>
            </a:r>
            <a:r>
              <a:rPr lang="es-NI" sz="2000" dirty="0"/>
              <a:t>, y </a:t>
            </a:r>
            <a:r>
              <a:rPr lang="es-NI" sz="2000" b="1" dirty="0"/>
              <a:t>salen las corrientes 3 y 4</a:t>
            </a:r>
            <a:r>
              <a:rPr lang="es-NI" sz="2000" dirty="0"/>
              <a:t>, </a:t>
            </a:r>
            <a:r>
              <a:rPr lang="es-NI" sz="2000" u="sng" dirty="0"/>
              <a:t>las corrientes que entran van con signo positivo y la que salen van con signo negativo</a:t>
            </a:r>
            <a:r>
              <a:rPr lang="es-NI" sz="2000" dirty="0"/>
              <a:t>, entonces nos quedaría de la siguiente manera </a:t>
            </a:r>
          </a:p>
          <a:p>
            <a:pPr algn="just"/>
            <a:endParaRPr lang="es-NI" sz="2000" dirty="0"/>
          </a:p>
          <a:p>
            <a:pPr algn="just"/>
            <a:r>
              <a:rPr lang="es-NI" sz="2000" dirty="0"/>
              <a:t> 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0E989B2-65B3-AFB3-7E1F-1AA87D6E6519}"/>
              </a:ext>
            </a:extLst>
          </p:cNvPr>
          <p:cNvCxnSpPr>
            <a:cxnSpLocks/>
          </p:cNvCxnSpPr>
          <p:nvPr/>
        </p:nvCxnSpPr>
        <p:spPr>
          <a:xfrm flipH="1">
            <a:off x="4404207" y="2962336"/>
            <a:ext cx="304564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A25D5E9-13E6-9C1F-A449-520E772D6E27}"/>
              </a:ext>
            </a:extLst>
          </p:cNvPr>
          <p:cNvCxnSpPr>
            <a:cxnSpLocks/>
          </p:cNvCxnSpPr>
          <p:nvPr/>
        </p:nvCxnSpPr>
        <p:spPr>
          <a:xfrm>
            <a:off x="6015866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0822C22-5F00-092D-3B45-EFC485301F9E}"/>
              </a:ext>
            </a:extLst>
          </p:cNvPr>
          <p:cNvCxnSpPr>
            <a:cxnSpLocks/>
          </p:cNvCxnSpPr>
          <p:nvPr/>
        </p:nvCxnSpPr>
        <p:spPr>
          <a:xfrm>
            <a:off x="3749600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8355F37-C18F-9F0A-E03D-5E6551B4163A}"/>
              </a:ext>
            </a:extLst>
          </p:cNvPr>
          <p:cNvSpPr txBox="1"/>
          <p:nvPr/>
        </p:nvSpPr>
        <p:spPr>
          <a:xfrm>
            <a:off x="3621628" y="2092636"/>
            <a:ext cx="2969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-I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– 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+ 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= 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8879F25-52B8-330F-EE3B-21BFB39BAC1E}"/>
              </a:ext>
            </a:extLst>
          </p:cNvPr>
          <p:cNvSpPr txBox="1"/>
          <p:nvPr/>
        </p:nvSpPr>
        <p:spPr>
          <a:xfrm>
            <a:off x="6005359" y="446464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4</a:t>
            </a:r>
            <a:r>
              <a:rPr lang="es-NI" sz="1200" dirty="0"/>
              <a:t>=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2D5BC45-B9F4-5D36-A8CF-0FC37A9C250E}"/>
              </a:ext>
            </a:extLst>
          </p:cNvPr>
          <p:cNvSpPr txBox="1"/>
          <p:nvPr/>
        </p:nvSpPr>
        <p:spPr>
          <a:xfrm>
            <a:off x="3753761" y="4423058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2</a:t>
            </a:r>
            <a:r>
              <a:rPr lang="es-NI" sz="1200" dirty="0"/>
              <a:t>=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81876F-363D-B33F-8525-FA98AC86B459}"/>
              </a:ext>
            </a:extLst>
          </p:cNvPr>
          <p:cNvSpPr txBox="1"/>
          <p:nvPr/>
        </p:nvSpPr>
        <p:spPr>
          <a:xfrm>
            <a:off x="4473525" y="2684086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3</a:t>
            </a:r>
            <a:r>
              <a:rPr lang="es-NI" sz="1200" dirty="0"/>
              <a:t>=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D5003F9-6BD2-05A7-CBF8-F785FADF291D}"/>
              </a:ext>
            </a:extLst>
          </p:cNvPr>
          <p:cNvSpPr txBox="1"/>
          <p:nvPr/>
        </p:nvSpPr>
        <p:spPr>
          <a:xfrm>
            <a:off x="6903227" y="2639254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5</a:t>
            </a:r>
            <a:r>
              <a:rPr lang="es-NI" sz="1200" dirty="0"/>
              <a:t>=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BFC7B9A-3E27-F038-EF1F-0937F9EAAF30}"/>
              </a:ext>
            </a:extLst>
          </p:cNvPr>
          <p:cNvSpPr txBox="1"/>
          <p:nvPr/>
        </p:nvSpPr>
        <p:spPr>
          <a:xfrm>
            <a:off x="1948564" y="2648163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1</a:t>
            </a:r>
            <a:r>
              <a:rPr lang="es-NI" sz="1200" dirty="0"/>
              <a:t>= </a:t>
            </a:r>
          </a:p>
        </p:txBody>
      </p:sp>
      <p:sp>
        <p:nvSpPr>
          <p:cNvPr id="11" name="Flecha: curvada hacia la izquierda 10">
            <a:extLst>
              <a:ext uri="{FF2B5EF4-FFF2-40B4-BE49-F238E27FC236}">
                <a16:creationId xmlns:a16="http://schemas.microsoft.com/office/drawing/2014/main" id="{7D8577E9-EC6A-75D4-DB93-3F2E6B151FF7}"/>
              </a:ext>
            </a:extLst>
          </p:cNvPr>
          <p:cNvSpPr/>
          <p:nvPr/>
        </p:nvSpPr>
        <p:spPr>
          <a:xfrm rot="16200000">
            <a:off x="1789076" y="3845615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2" name="Flecha: curvada hacia la izquierda 11">
            <a:extLst>
              <a:ext uri="{FF2B5EF4-FFF2-40B4-BE49-F238E27FC236}">
                <a16:creationId xmlns:a16="http://schemas.microsoft.com/office/drawing/2014/main" id="{50DB6B74-D031-97B1-6D2E-ED64E43B5AFD}"/>
              </a:ext>
            </a:extLst>
          </p:cNvPr>
          <p:cNvSpPr/>
          <p:nvPr/>
        </p:nvSpPr>
        <p:spPr>
          <a:xfrm rot="16200000">
            <a:off x="4349905" y="3835173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5" name="Flecha: curvada hacia la izquierda 14">
            <a:extLst>
              <a:ext uri="{FF2B5EF4-FFF2-40B4-BE49-F238E27FC236}">
                <a16:creationId xmlns:a16="http://schemas.microsoft.com/office/drawing/2014/main" id="{CA163D2F-22BA-BB51-343C-4A1FB5F2B208}"/>
              </a:ext>
            </a:extLst>
          </p:cNvPr>
          <p:cNvSpPr/>
          <p:nvPr/>
        </p:nvSpPr>
        <p:spPr>
          <a:xfrm rot="16200000">
            <a:off x="6590925" y="3796362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E9BA396-FDCD-14A3-5041-247FB0CD4AB5}"/>
              </a:ext>
            </a:extLst>
          </p:cNvPr>
          <p:cNvSpPr txBox="1"/>
          <p:nvPr/>
        </p:nvSpPr>
        <p:spPr>
          <a:xfrm>
            <a:off x="1969220" y="446975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1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6D77544-9A31-31D9-5313-FED44714E6F3}"/>
              </a:ext>
            </a:extLst>
          </p:cNvPr>
          <p:cNvSpPr txBox="1"/>
          <p:nvPr/>
        </p:nvSpPr>
        <p:spPr>
          <a:xfrm>
            <a:off x="4587127" y="4548572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M</a:t>
            </a:r>
            <a:r>
              <a:rPr lang="es-NI" sz="1200" baseline="-25000" dirty="0"/>
              <a:t>2</a:t>
            </a:r>
            <a:r>
              <a:rPr lang="es-NI" sz="1200" dirty="0"/>
              <a:t>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B816D21-EECA-0CDE-5F0E-89203E525D35}"/>
              </a:ext>
            </a:extLst>
          </p:cNvPr>
          <p:cNvSpPr txBox="1"/>
          <p:nvPr/>
        </p:nvSpPr>
        <p:spPr>
          <a:xfrm>
            <a:off x="6805681" y="4548572"/>
            <a:ext cx="414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3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174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CEA39CA-9AFE-D624-574D-F208A1704A07}"/>
              </a:ext>
            </a:extLst>
          </p:cNvPr>
          <p:cNvSpPr/>
          <p:nvPr/>
        </p:nvSpPr>
        <p:spPr>
          <a:xfrm>
            <a:off x="394459" y="86631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4: Determinamos las ecuaciones correspondientes a las mallas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04A131-E839-2BD3-4EC2-8CBF3532E53E}"/>
              </a:ext>
            </a:extLst>
          </p:cNvPr>
          <p:cNvGrpSpPr/>
          <p:nvPr/>
        </p:nvGrpSpPr>
        <p:grpSpPr>
          <a:xfrm>
            <a:off x="126089" y="3213783"/>
            <a:ext cx="8922075" cy="3557586"/>
            <a:chOff x="2423284" y="3669356"/>
            <a:chExt cx="7345432" cy="283550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B9C8E7-6E33-4B3B-FE86-6CC484202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284" y="3669356"/>
              <a:ext cx="7345432" cy="2835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13D3D1F-8A35-23F6-13FA-4FE6FE0A835D}"/>
                </a:ext>
              </a:extLst>
            </p:cNvPr>
            <p:cNvSpPr txBox="1"/>
            <p:nvPr/>
          </p:nvSpPr>
          <p:spPr>
            <a:xfrm>
              <a:off x="3684019" y="3798617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1</a:t>
              </a:r>
              <a:r>
                <a:rPr lang="es-NI" sz="1200" dirty="0"/>
                <a:t>= 20 Ჲ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2136A40-B911-21CC-2CE0-260C9F226732}"/>
                </a:ext>
              </a:extLst>
            </p:cNvPr>
            <p:cNvSpPr txBox="1"/>
            <p:nvPr/>
          </p:nvSpPr>
          <p:spPr>
            <a:xfrm rot="5400000">
              <a:off x="4717039" y="4948610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2</a:t>
              </a:r>
              <a:r>
                <a:rPr lang="es-NI" sz="1200" dirty="0"/>
                <a:t>= 12 Ჲ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686B59D-2F3F-ED1E-62D9-5C1B8A26CD23}"/>
                </a:ext>
              </a:extLst>
            </p:cNvPr>
            <p:cNvSpPr txBox="1"/>
            <p:nvPr/>
          </p:nvSpPr>
          <p:spPr>
            <a:xfrm>
              <a:off x="5723575" y="3817329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3</a:t>
              </a:r>
              <a:r>
                <a:rPr lang="es-NI" sz="1200" dirty="0"/>
                <a:t>= 18 Ჲ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CD9476C-B0FB-D90B-ECCD-0305A011D587}"/>
                </a:ext>
              </a:extLst>
            </p:cNvPr>
            <p:cNvSpPr txBox="1"/>
            <p:nvPr/>
          </p:nvSpPr>
          <p:spPr>
            <a:xfrm rot="5400000">
              <a:off x="6627466" y="4940197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4</a:t>
              </a:r>
              <a:r>
                <a:rPr lang="es-NI" sz="1200" dirty="0"/>
                <a:t>= 16 Ჲ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FA5CFF-16A7-0BDD-B4EF-47411F176A86}"/>
                </a:ext>
              </a:extLst>
            </p:cNvPr>
            <p:cNvSpPr txBox="1"/>
            <p:nvPr/>
          </p:nvSpPr>
          <p:spPr>
            <a:xfrm>
              <a:off x="7763131" y="3798616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5</a:t>
              </a:r>
              <a:r>
                <a:rPr lang="es-NI" sz="1200" dirty="0"/>
                <a:t>= 24 Ჲ</a:t>
              </a:r>
            </a:p>
          </p:txBody>
        </p: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53A250C-4782-DFE6-E016-C5FF410B2FC0}"/>
                </a:ext>
              </a:extLst>
            </p:cNvPr>
            <p:cNvSpPr txBox="1"/>
            <p:nvPr/>
          </p:nvSpPr>
          <p:spPr>
            <a:xfrm>
              <a:off x="3097566" y="5195261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A</a:t>
              </a:r>
              <a:r>
                <a:rPr lang="es-NI" sz="1200" dirty="0">
                  <a:solidFill>
                    <a:srgbClr val="7030A0"/>
                  </a:solidFill>
                </a:rPr>
                <a:t>= 24 V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B7E6D30-1B08-8E0A-AD71-566E285574FE}"/>
                </a:ext>
              </a:extLst>
            </p:cNvPr>
            <p:cNvSpPr txBox="1"/>
            <p:nvPr/>
          </p:nvSpPr>
          <p:spPr>
            <a:xfrm>
              <a:off x="8442958" y="5224933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B</a:t>
              </a:r>
              <a:r>
                <a:rPr lang="es-NI" sz="1200" dirty="0">
                  <a:solidFill>
                    <a:srgbClr val="7030A0"/>
                  </a:solidFill>
                </a:rPr>
                <a:t>= 30 V</a:t>
              </a:r>
            </a:p>
          </p:txBody>
        </p:sp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CBAB298-A3E6-3617-6A80-70D502BF8D0A}"/>
              </a:ext>
            </a:extLst>
          </p:cNvPr>
          <p:cNvCxnSpPr>
            <a:cxnSpLocks/>
          </p:cNvCxnSpPr>
          <p:nvPr/>
        </p:nvCxnSpPr>
        <p:spPr>
          <a:xfrm flipH="1">
            <a:off x="6796546" y="3232890"/>
            <a:ext cx="7143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FBFD8FD-CBED-4BF2-EC19-E7A87299270D}"/>
              </a:ext>
            </a:extLst>
          </p:cNvPr>
          <p:cNvCxnSpPr>
            <a:cxnSpLocks/>
          </p:cNvCxnSpPr>
          <p:nvPr/>
        </p:nvCxnSpPr>
        <p:spPr>
          <a:xfrm>
            <a:off x="1791301" y="3236644"/>
            <a:ext cx="578462" cy="84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62A6806-C279-5389-2057-FA06D3004831}"/>
              </a:ext>
            </a:extLst>
          </p:cNvPr>
          <p:cNvSpPr txBox="1"/>
          <p:nvPr/>
        </p:nvSpPr>
        <p:spPr>
          <a:xfrm>
            <a:off x="5442413" y="346522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2CBEC03-9889-B707-86B5-106520DE052D}"/>
              </a:ext>
            </a:extLst>
          </p:cNvPr>
          <p:cNvSpPr txBox="1"/>
          <p:nvPr/>
        </p:nvSpPr>
        <p:spPr>
          <a:xfrm>
            <a:off x="3047597" y="346522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1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0E989B2-65B3-AFB3-7E1F-1AA87D6E6519}"/>
              </a:ext>
            </a:extLst>
          </p:cNvPr>
          <p:cNvCxnSpPr>
            <a:cxnSpLocks/>
          </p:cNvCxnSpPr>
          <p:nvPr/>
        </p:nvCxnSpPr>
        <p:spPr>
          <a:xfrm flipH="1">
            <a:off x="4386260" y="3275915"/>
            <a:ext cx="304564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A25D5E9-13E6-9C1F-A449-520E772D6E27}"/>
              </a:ext>
            </a:extLst>
          </p:cNvPr>
          <p:cNvCxnSpPr>
            <a:cxnSpLocks/>
          </p:cNvCxnSpPr>
          <p:nvPr/>
        </p:nvCxnSpPr>
        <p:spPr>
          <a:xfrm>
            <a:off x="6015866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0822C22-5F00-092D-3B45-EFC485301F9E}"/>
              </a:ext>
            </a:extLst>
          </p:cNvPr>
          <p:cNvCxnSpPr>
            <a:cxnSpLocks/>
          </p:cNvCxnSpPr>
          <p:nvPr/>
        </p:nvCxnSpPr>
        <p:spPr>
          <a:xfrm>
            <a:off x="3749600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8355F37-C18F-9F0A-E03D-5E6551B4163A}"/>
              </a:ext>
            </a:extLst>
          </p:cNvPr>
          <p:cNvSpPr txBox="1"/>
          <p:nvPr/>
        </p:nvSpPr>
        <p:spPr>
          <a:xfrm>
            <a:off x="8932109" y="4248593"/>
            <a:ext cx="29695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Iniciaremos con el análisis de la malla 1 y luego seguiremos con la malla 2 y la 3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8879F25-52B8-330F-EE3B-21BFB39BAC1E}"/>
              </a:ext>
            </a:extLst>
          </p:cNvPr>
          <p:cNvSpPr txBox="1"/>
          <p:nvPr/>
        </p:nvSpPr>
        <p:spPr>
          <a:xfrm>
            <a:off x="6005359" y="446464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4</a:t>
            </a:r>
            <a:r>
              <a:rPr lang="es-NI" sz="1200" dirty="0"/>
              <a:t>=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2D5BC45-B9F4-5D36-A8CF-0FC37A9C250E}"/>
              </a:ext>
            </a:extLst>
          </p:cNvPr>
          <p:cNvSpPr txBox="1"/>
          <p:nvPr/>
        </p:nvSpPr>
        <p:spPr>
          <a:xfrm>
            <a:off x="3753761" y="4423058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2</a:t>
            </a:r>
            <a:r>
              <a:rPr lang="es-NI" sz="1200" dirty="0"/>
              <a:t>=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81876F-363D-B33F-8525-FA98AC86B459}"/>
              </a:ext>
            </a:extLst>
          </p:cNvPr>
          <p:cNvSpPr txBox="1"/>
          <p:nvPr/>
        </p:nvSpPr>
        <p:spPr>
          <a:xfrm>
            <a:off x="4455578" y="2997665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3</a:t>
            </a:r>
            <a:r>
              <a:rPr lang="es-NI" sz="1200" dirty="0"/>
              <a:t>=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D5003F9-6BD2-05A7-CBF8-F785FADF291D}"/>
              </a:ext>
            </a:extLst>
          </p:cNvPr>
          <p:cNvSpPr txBox="1"/>
          <p:nvPr/>
        </p:nvSpPr>
        <p:spPr>
          <a:xfrm>
            <a:off x="6891359" y="2940896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5</a:t>
            </a:r>
            <a:r>
              <a:rPr lang="es-NI" sz="1200" dirty="0"/>
              <a:t>=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BFC7B9A-3E27-F038-EF1F-0937F9EAAF30}"/>
              </a:ext>
            </a:extLst>
          </p:cNvPr>
          <p:cNvSpPr txBox="1"/>
          <p:nvPr/>
        </p:nvSpPr>
        <p:spPr>
          <a:xfrm>
            <a:off x="1930617" y="2961742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1</a:t>
            </a:r>
            <a:r>
              <a:rPr lang="es-NI" sz="1200" dirty="0"/>
              <a:t>= </a:t>
            </a:r>
          </a:p>
        </p:txBody>
      </p:sp>
      <p:sp>
        <p:nvSpPr>
          <p:cNvPr id="11" name="Flecha: curvada hacia la izquierda 10">
            <a:extLst>
              <a:ext uri="{FF2B5EF4-FFF2-40B4-BE49-F238E27FC236}">
                <a16:creationId xmlns:a16="http://schemas.microsoft.com/office/drawing/2014/main" id="{7D8577E9-EC6A-75D4-DB93-3F2E6B151FF7}"/>
              </a:ext>
            </a:extLst>
          </p:cNvPr>
          <p:cNvSpPr/>
          <p:nvPr/>
        </p:nvSpPr>
        <p:spPr>
          <a:xfrm rot="16200000">
            <a:off x="1789076" y="3845615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2" name="Flecha: curvada hacia la izquierda 11">
            <a:extLst>
              <a:ext uri="{FF2B5EF4-FFF2-40B4-BE49-F238E27FC236}">
                <a16:creationId xmlns:a16="http://schemas.microsoft.com/office/drawing/2014/main" id="{50DB6B74-D031-97B1-6D2E-ED64E43B5AFD}"/>
              </a:ext>
            </a:extLst>
          </p:cNvPr>
          <p:cNvSpPr/>
          <p:nvPr/>
        </p:nvSpPr>
        <p:spPr>
          <a:xfrm rot="16200000">
            <a:off x="4349905" y="3835173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5" name="Flecha: curvada hacia la izquierda 14">
            <a:extLst>
              <a:ext uri="{FF2B5EF4-FFF2-40B4-BE49-F238E27FC236}">
                <a16:creationId xmlns:a16="http://schemas.microsoft.com/office/drawing/2014/main" id="{CA163D2F-22BA-BB51-343C-4A1FB5F2B208}"/>
              </a:ext>
            </a:extLst>
          </p:cNvPr>
          <p:cNvSpPr/>
          <p:nvPr/>
        </p:nvSpPr>
        <p:spPr>
          <a:xfrm rot="16200000">
            <a:off x="6590925" y="3796362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E9BA396-FDCD-14A3-5041-247FB0CD4AB5}"/>
              </a:ext>
            </a:extLst>
          </p:cNvPr>
          <p:cNvSpPr txBox="1"/>
          <p:nvPr/>
        </p:nvSpPr>
        <p:spPr>
          <a:xfrm>
            <a:off x="1969220" y="446975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1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6D77544-9A31-31D9-5313-FED44714E6F3}"/>
              </a:ext>
            </a:extLst>
          </p:cNvPr>
          <p:cNvSpPr txBox="1"/>
          <p:nvPr/>
        </p:nvSpPr>
        <p:spPr>
          <a:xfrm>
            <a:off x="4587127" y="4548572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2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B816D21-EECA-0CDE-5F0E-89203E525D35}"/>
              </a:ext>
            </a:extLst>
          </p:cNvPr>
          <p:cNvSpPr txBox="1"/>
          <p:nvPr/>
        </p:nvSpPr>
        <p:spPr>
          <a:xfrm>
            <a:off x="6805681" y="4548572"/>
            <a:ext cx="414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3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2EDEF01-BF4A-D758-5A07-B09ED28999C2}"/>
              </a:ext>
            </a:extLst>
          </p:cNvPr>
          <p:cNvSpPr txBox="1"/>
          <p:nvPr/>
        </p:nvSpPr>
        <p:spPr>
          <a:xfrm>
            <a:off x="365958" y="866290"/>
            <a:ext cx="115357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Para analizar las mallas aplicaremos la segunda ley de Kirchhoff (ley del voltaje) en cada una, </a:t>
            </a:r>
            <a:r>
              <a:rPr lang="es-NI" sz="2000" u="sng" dirty="0"/>
              <a:t>la ley establece que la suma de todos los voltajes es igual a cero</a:t>
            </a:r>
            <a:r>
              <a:rPr lang="es-NI" sz="2000" dirty="0"/>
              <a:t>, por lo cual colocaremos la ecuación de la siguiente manera: </a:t>
            </a:r>
            <a:r>
              <a:rPr lang="es-NI" sz="2000" b="1" dirty="0"/>
              <a:t>Si la dirección de la corriente </a:t>
            </a:r>
            <a:r>
              <a:rPr lang="es-NI" sz="2000" dirty="0"/>
              <a:t>(flechas azules y rojas) </a:t>
            </a:r>
            <a:r>
              <a:rPr lang="es-NI" sz="2000" b="1" dirty="0"/>
              <a:t>coincide con la dirección de la malla </a:t>
            </a:r>
            <a:r>
              <a:rPr lang="es-NI" sz="2000" dirty="0"/>
              <a:t>(flecha verde), </a:t>
            </a:r>
            <a:r>
              <a:rPr lang="es-NI" sz="2000" b="1" dirty="0"/>
              <a:t>el voltaje se coloca en positivo</a:t>
            </a:r>
            <a:r>
              <a:rPr lang="es-NI" sz="2000" dirty="0"/>
              <a:t>, y </a:t>
            </a:r>
            <a:r>
              <a:rPr lang="es-NI" sz="2000" b="1" dirty="0"/>
              <a:t>si la dirección de la corriente va en contra de la dirección de la malla, el voltaje se coloca en negativo</a:t>
            </a:r>
            <a:r>
              <a:rPr lang="es-NI" sz="2000" dirty="0"/>
              <a:t> y cuando están dispuestas todos los voltajes se igualan a cero. En lugar del voltaje colocaremos su fórmula R*I, correspondiente a cada resistencia</a:t>
            </a:r>
          </a:p>
        </p:txBody>
      </p:sp>
    </p:spTree>
    <p:extLst>
      <p:ext uri="{BB962C8B-B14F-4D97-AF65-F5344CB8AC3E}">
        <p14:creationId xmlns:p14="http://schemas.microsoft.com/office/powerpoint/2010/main" val="2137649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CEA39CA-9AFE-D624-574D-F208A1704A07}"/>
              </a:ext>
            </a:extLst>
          </p:cNvPr>
          <p:cNvSpPr/>
          <p:nvPr/>
        </p:nvSpPr>
        <p:spPr>
          <a:xfrm>
            <a:off x="394459" y="86631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4: Determinamos las ecuaciones correspondientes a las mallas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04A131-E839-2BD3-4EC2-8CBF3532E53E}"/>
              </a:ext>
            </a:extLst>
          </p:cNvPr>
          <p:cNvGrpSpPr/>
          <p:nvPr/>
        </p:nvGrpSpPr>
        <p:grpSpPr>
          <a:xfrm>
            <a:off x="126089" y="3213783"/>
            <a:ext cx="8922075" cy="3557586"/>
            <a:chOff x="2423284" y="3669356"/>
            <a:chExt cx="7345432" cy="283550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B9C8E7-6E33-4B3B-FE86-6CC484202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284" y="3669356"/>
              <a:ext cx="7345432" cy="2835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13D3D1F-8A35-23F6-13FA-4FE6FE0A835D}"/>
                </a:ext>
              </a:extLst>
            </p:cNvPr>
            <p:cNvSpPr txBox="1"/>
            <p:nvPr/>
          </p:nvSpPr>
          <p:spPr>
            <a:xfrm>
              <a:off x="3684019" y="3798617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1</a:t>
              </a:r>
              <a:r>
                <a:rPr lang="es-NI" sz="1200" dirty="0"/>
                <a:t>= 20 Ჲ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2136A40-B911-21CC-2CE0-260C9F226732}"/>
                </a:ext>
              </a:extLst>
            </p:cNvPr>
            <p:cNvSpPr txBox="1"/>
            <p:nvPr/>
          </p:nvSpPr>
          <p:spPr>
            <a:xfrm rot="5400000">
              <a:off x="4717039" y="4948610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2</a:t>
              </a:r>
              <a:r>
                <a:rPr lang="es-NI" sz="1200" dirty="0"/>
                <a:t>= 12 Ჲ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686B59D-2F3F-ED1E-62D9-5C1B8A26CD23}"/>
                </a:ext>
              </a:extLst>
            </p:cNvPr>
            <p:cNvSpPr txBox="1"/>
            <p:nvPr/>
          </p:nvSpPr>
          <p:spPr>
            <a:xfrm>
              <a:off x="5723575" y="3817329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3</a:t>
              </a:r>
              <a:r>
                <a:rPr lang="es-NI" sz="1200" dirty="0"/>
                <a:t>= 18 Ჲ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CD9476C-B0FB-D90B-ECCD-0305A011D587}"/>
                </a:ext>
              </a:extLst>
            </p:cNvPr>
            <p:cNvSpPr txBox="1"/>
            <p:nvPr/>
          </p:nvSpPr>
          <p:spPr>
            <a:xfrm rot="5400000">
              <a:off x="6627466" y="4940197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4</a:t>
              </a:r>
              <a:r>
                <a:rPr lang="es-NI" sz="1200" dirty="0"/>
                <a:t>= 16 Ჲ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FA5CFF-16A7-0BDD-B4EF-47411F176A86}"/>
                </a:ext>
              </a:extLst>
            </p:cNvPr>
            <p:cNvSpPr txBox="1"/>
            <p:nvPr/>
          </p:nvSpPr>
          <p:spPr>
            <a:xfrm>
              <a:off x="7763131" y="3798616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5</a:t>
              </a:r>
              <a:r>
                <a:rPr lang="es-NI" sz="1200" dirty="0"/>
                <a:t>= 24 Ჲ</a:t>
              </a:r>
            </a:p>
          </p:txBody>
        </p: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53A250C-4782-DFE6-E016-C5FF410B2FC0}"/>
                </a:ext>
              </a:extLst>
            </p:cNvPr>
            <p:cNvSpPr txBox="1"/>
            <p:nvPr/>
          </p:nvSpPr>
          <p:spPr>
            <a:xfrm>
              <a:off x="3097566" y="5195261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A</a:t>
              </a:r>
              <a:r>
                <a:rPr lang="es-NI" sz="1200" dirty="0">
                  <a:solidFill>
                    <a:srgbClr val="7030A0"/>
                  </a:solidFill>
                </a:rPr>
                <a:t>= 24 V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B7E6D30-1B08-8E0A-AD71-566E285574FE}"/>
                </a:ext>
              </a:extLst>
            </p:cNvPr>
            <p:cNvSpPr txBox="1"/>
            <p:nvPr/>
          </p:nvSpPr>
          <p:spPr>
            <a:xfrm>
              <a:off x="8442958" y="5224933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B</a:t>
              </a:r>
              <a:r>
                <a:rPr lang="es-NI" sz="1200" dirty="0">
                  <a:solidFill>
                    <a:srgbClr val="7030A0"/>
                  </a:solidFill>
                </a:rPr>
                <a:t>= 30 V</a:t>
              </a:r>
            </a:p>
          </p:txBody>
        </p:sp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CBAB298-A3E6-3617-6A80-70D502BF8D0A}"/>
              </a:ext>
            </a:extLst>
          </p:cNvPr>
          <p:cNvCxnSpPr>
            <a:cxnSpLocks/>
          </p:cNvCxnSpPr>
          <p:nvPr/>
        </p:nvCxnSpPr>
        <p:spPr>
          <a:xfrm flipH="1">
            <a:off x="6796546" y="3232890"/>
            <a:ext cx="7143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FBFD8FD-CBED-4BF2-EC19-E7A87299270D}"/>
              </a:ext>
            </a:extLst>
          </p:cNvPr>
          <p:cNvCxnSpPr>
            <a:cxnSpLocks/>
          </p:cNvCxnSpPr>
          <p:nvPr/>
        </p:nvCxnSpPr>
        <p:spPr>
          <a:xfrm>
            <a:off x="1791301" y="3236644"/>
            <a:ext cx="578462" cy="84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62A6806-C279-5389-2057-FA06D3004831}"/>
              </a:ext>
            </a:extLst>
          </p:cNvPr>
          <p:cNvSpPr txBox="1"/>
          <p:nvPr/>
        </p:nvSpPr>
        <p:spPr>
          <a:xfrm>
            <a:off x="5442413" y="346522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2CBEC03-9889-B707-86B5-106520DE052D}"/>
              </a:ext>
            </a:extLst>
          </p:cNvPr>
          <p:cNvSpPr txBox="1"/>
          <p:nvPr/>
        </p:nvSpPr>
        <p:spPr>
          <a:xfrm>
            <a:off x="3047597" y="346522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1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0E989B2-65B3-AFB3-7E1F-1AA87D6E6519}"/>
              </a:ext>
            </a:extLst>
          </p:cNvPr>
          <p:cNvCxnSpPr>
            <a:cxnSpLocks/>
          </p:cNvCxnSpPr>
          <p:nvPr/>
        </p:nvCxnSpPr>
        <p:spPr>
          <a:xfrm flipH="1">
            <a:off x="4386260" y="3275915"/>
            <a:ext cx="304564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A25D5E9-13E6-9C1F-A449-520E772D6E27}"/>
              </a:ext>
            </a:extLst>
          </p:cNvPr>
          <p:cNvCxnSpPr>
            <a:cxnSpLocks/>
          </p:cNvCxnSpPr>
          <p:nvPr/>
        </p:nvCxnSpPr>
        <p:spPr>
          <a:xfrm>
            <a:off x="6015866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0822C22-5F00-092D-3B45-EFC485301F9E}"/>
              </a:ext>
            </a:extLst>
          </p:cNvPr>
          <p:cNvCxnSpPr>
            <a:cxnSpLocks/>
          </p:cNvCxnSpPr>
          <p:nvPr/>
        </p:nvCxnSpPr>
        <p:spPr>
          <a:xfrm>
            <a:off x="3749600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8355F37-C18F-9F0A-E03D-5E6551B4163A}"/>
              </a:ext>
            </a:extLst>
          </p:cNvPr>
          <p:cNvSpPr txBox="1"/>
          <p:nvPr/>
        </p:nvSpPr>
        <p:spPr>
          <a:xfrm>
            <a:off x="398401" y="2206892"/>
            <a:ext cx="2811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V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+ V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– 24 = 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8879F25-52B8-330F-EE3B-21BFB39BAC1E}"/>
              </a:ext>
            </a:extLst>
          </p:cNvPr>
          <p:cNvSpPr txBox="1"/>
          <p:nvPr/>
        </p:nvSpPr>
        <p:spPr>
          <a:xfrm>
            <a:off x="6005359" y="446464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4</a:t>
            </a:r>
            <a:r>
              <a:rPr lang="es-NI" sz="1200" dirty="0"/>
              <a:t>=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2D5BC45-B9F4-5D36-A8CF-0FC37A9C250E}"/>
              </a:ext>
            </a:extLst>
          </p:cNvPr>
          <p:cNvSpPr txBox="1"/>
          <p:nvPr/>
        </p:nvSpPr>
        <p:spPr>
          <a:xfrm>
            <a:off x="3752328" y="4410561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2</a:t>
            </a:r>
            <a:r>
              <a:rPr lang="es-NI" sz="1200" dirty="0"/>
              <a:t>=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81876F-363D-B33F-8525-FA98AC86B459}"/>
              </a:ext>
            </a:extLst>
          </p:cNvPr>
          <p:cNvSpPr txBox="1"/>
          <p:nvPr/>
        </p:nvSpPr>
        <p:spPr>
          <a:xfrm>
            <a:off x="4455578" y="2997665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3</a:t>
            </a:r>
            <a:r>
              <a:rPr lang="es-NI" sz="1200" dirty="0"/>
              <a:t>=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D5003F9-6BD2-05A7-CBF8-F785FADF291D}"/>
              </a:ext>
            </a:extLst>
          </p:cNvPr>
          <p:cNvSpPr txBox="1"/>
          <p:nvPr/>
        </p:nvSpPr>
        <p:spPr>
          <a:xfrm>
            <a:off x="6891359" y="2940896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5</a:t>
            </a:r>
            <a:r>
              <a:rPr lang="es-NI" sz="1200" dirty="0"/>
              <a:t>=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BFC7B9A-3E27-F038-EF1F-0937F9EAAF30}"/>
              </a:ext>
            </a:extLst>
          </p:cNvPr>
          <p:cNvSpPr txBox="1"/>
          <p:nvPr/>
        </p:nvSpPr>
        <p:spPr>
          <a:xfrm>
            <a:off x="1930617" y="2961742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1</a:t>
            </a:r>
            <a:r>
              <a:rPr lang="es-NI" sz="1200" dirty="0"/>
              <a:t>= </a:t>
            </a:r>
          </a:p>
        </p:txBody>
      </p:sp>
      <p:sp>
        <p:nvSpPr>
          <p:cNvPr id="11" name="Flecha: curvada hacia la izquierda 10">
            <a:extLst>
              <a:ext uri="{FF2B5EF4-FFF2-40B4-BE49-F238E27FC236}">
                <a16:creationId xmlns:a16="http://schemas.microsoft.com/office/drawing/2014/main" id="{7D8577E9-EC6A-75D4-DB93-3F2E6B151FF7}"/>
              </a:ext>
            </a:extLst>
          </p:cNvPr>
          <p:cNvSpPr/>
          <p:nvPr/>
        </p:nvSpPr>
        <p:spPr>
          <a:xfrm rot="16200000">
            <a:off x="1789076" y="3845615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2" name="Flecha: curvada hacia la izquierda 11">
            <a:extLst>
              <a:ext uri="{FF2B5EF4-FFF2-40B4-BE49-F238E27FC236}">
                <a16:creationId xmlns:a16="http://schemas.microsoft.com/office/drawing/2014/main" id="{50DB6B74-D031-97B1-6D2E-ED64E43B5AFD}"/>
              </a:ext>
            </a:extLst>
          </p:cNvPr>
          <p:cNvSpPr/>
          <p:nvPr/>
        </p:nvSpPr>
        <p:spPr>
          <a:xfrm rot="16200000">
            <a:off x="4349905" y="3835173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5" name="Flecha: curvada hacia la izquierda 14">
            <a:extLst>
              <a:ext uri="{FF2B5EF4-FFF2-40B4-BE49-F238E27FC236}">
                <a16:creationId xmlns:a16="http://schemas.microsoft.com/office/drawing/2014/main" id="{CA163D2F-22BA-BB51-343C-4A1FB5F2B208}"/>
              </a:ext>
            </a:extLst>
          </p:cNvPr>
          <p:cNvSpPr/>
          <p:nvPr/>
        </p:nvSpPr>
        <p:spPr>
          <a:xfrm rot="16200000">
            <a:off x="6590925" y="3796362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E9BA396-FDCD-14A3-5041-247FB0CD4AB5}"/>
              </a:ext>
            </a:extLst>
          </p:cNvPr>
          <p:cNvSpPr txBox="1"/>
          <p:nvPr/>
        </p:nvSpPr>
        <p:spPr>
          <a:xfrm>
            <a:off x="1969220" y="446975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1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6D77544-9A31-31D9-5313-FED44714E6F3}"/>
              </a:ext>
            </a:extLst>
          </p:cNvPr>
          <p:cNvSpPr txBox="1"/>
          <p:nvPr/>
        </p:nvSpPr>
        <p:spPr>
          <a:xfrm>
            <a:off x="4587127" y="4548572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2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B816D21-EECA-0CDE-5F0E-89203E525D35}"/>
              </a:ext>
            </a:extLst>
          </p:cNvPr>
          <p:cNvSpPr txBox="1"/>
          <p:nvPr/>
        </p:nvSpPr>
        <p:spPr>
          <a:xfrm>
            <a:off x="6805681" y="4548572"/>
            <a:ext cx="414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3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2EDEF01-BF4A-D758-5A07-B09ED28999C2}"/>
              </a:ext>
            </a:extLst>
          </p:cNvPr>
          <p:cNvSpPr txBox="1"/>
          <p:nvPr/>
        </p:nvSpPr>
        <p:spPr>
          <a:xfrm>
            <a:off x="365958" y="866290"/>
            <a:ext cx="115357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En la malla 1 encontraremos que tanto la intensidad 1 como la intensidad 2 va en la misma dirección que el voltaje de la malla, por eso los voltajes 1 y 2 se colocarán en positivo, y el voltaje de la fuente de poder se colocará en signo contrario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5465498-C729-C683-71D8-99A63B75128C}"/>
              </a:ext>
            </a:extLst>
          </p:cNvPr>
          <p:cNvSpPr txBox="1"/>
          <p:nvPr/>
        </p:nvSpPr>
        <p:spPr>
          <a:xfrm>
            <a:off x="3300127" y="1920828"/>
            <a:ext cx="48500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Para que las ecuaciones coincidan con las anteriores sustituiremos los voltajes por su formula 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3BBD6FE-D7ED-2BE0-F3CF-0CF2E9C2523D}"/>
              </a:ext>
            </a:extLst>
          </p:cNvPr>
          <p:cNvSpPr txBox="1"/>
          <p:nvPr/>
        </p:nvSpPr>
        <p:spPr>
          <a:xfrm>
            <a:off x="8783018" y="2108287"/>
            <a:ext cx="3118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*R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1 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+ 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*R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– 24 = 0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C8C555A-0C39-DD0E-3921-5EE2C19BBB63}"/>
              </a:ext>
            </a:extLst>
          </p:cNvPr>
          <p:cNvCxnSpPr>
            <a:cxnSpLocks/>
          </p:cNvCxnSpPr>
          <p:nvPr/>
        </p:nvCxnSpPr>
        <p:spPr>
          <a:xfrm>
            <a:off x="10341577" y="2699721"/>
            <a:ext cx="0" cy="67623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183CD93-ED01-0E2D-63FD-E6A835E36E61}"/>
              </a:ext>
            </a:extLst>
          </p:cNvPr>
          <p:cNvSpPr txBox="1"/>
          <p:nvPr/>
        </p:nvSpPr>
        <p:spPr>
          <a:xfrm>
            <a:off x="8823995" y="3527920"/>
            <a:ext cx="3009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Reemplazaremos las resistencias por sus valores y nos queda…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4211E0A6-6AA6-CB62-783D-939BEE209460}"/>
              </a:ext>
            </a:extLst>
          </p:cNvPr>
          <p:cNvCxnSpPr>
            <a:cxnSpLocks/>
          </p:cNvCxnSpPr>
          <p:nvPr/>
        </p:nvCxnSpPr>
        <p:spPr>
          <a:xfrm>
            <a:off x="10370754" y="4513578"/>
            <a:ext cx="0" cy="67623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ACB2F85-6D96-E32D-C039-1ED25CD5DF7B}"/>
              </a:ext>
            </a:extLst>
          </p:cNvPr>
          <p:cNvSpPr txBox="1"/>
          <p:nvPr/>
        </p:nvSpPr>
        <p:spPr>
          <a:xfrm>
            <a:off x="8893541" y="5363051"/>
            <a:ext cx="2954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20I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1 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+  12I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2 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– 24 = 0</a:t>
            </a:r>
          </a:p>
        </p:txBody>
      </p:sp>
    </p:spTree>
    <p:extLst>
      <p:ext uri="{BB962C8B-B14F-4D97-AF65-F5344CB8AC3E}">
        <p14:creationId xmlns:p14="http://schemas.microsoft.com/office/powerpoint/2010/main" val="451000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CEA39CA-9AFE-D624-574D-F208A1704A07}"/>
              </a:ext>
            </a:extLst>
          </p:cNvPr>
          <p:cNvSpPr/>
          <p:nvPr/>
        </p:nvSpPr>
        <p:spPr>
          <a:xfrm>
            <a:off x="394459" y="86631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4: Determinamos las ecuaciones correspondientes a las mallas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04A131-E839-2BD3-4EC2-8CBF3532E53E}"/>
              </a:ext>
            </a:extLst>
          </p:cNvPr>
          <p:cNvGrpSpPr/>
          <p:nvPr/>
        </p:nvGrpSpPr>
        <p:grpSpPr>
          <a:xfrm>
            <a:off x="126089" y="3213783"/>
            <a:ext cx="8922075" cy="3557586"/>
            <a:chOff x="2423284" y="3669356"/>
            <a:chExt cx="7345432" cy="283550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B9C8E7-6E33-4B3B-FE86-6CC484202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284" y="3669356"/>
              <a:ext cx="7345432" cy="2835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13D3D1F-8A35-23F6-13FA-4FE6FE0A835D}"/>
                </a:ext>
              </a:extLst>
            </p:cNvPr>
            <p:cNvSpPr txBox="1"/>
            <p:nvPr/>
          </p:nvSpPr>
          <p:spPr>
            <a:xfrm>
              <a:off x="3684019" y="3798617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1</a:t>
              </a:r>
              <a:r>
                <a:rPr lang="es-NI" sz="1200" dirty="0"/>
                <a:t>= 20 Ჲ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2136A40-B911-21CC-2CE0-260C9F226732}"/>
                </a:ext>
              </a:extLst>
            </p:cNvPr>
            <p:cNvSpPr txBox="1"/>
            <p:nvPr/>
          </p:nvSpPr>
          <p:spPr>
            <a:xfrm rot="5400000">
              <a:off x="4717039" y="4948610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2</a:t>
              </a:r>
              <a:r>
                <a:rPr lang="es-NI" sz="1200" dirty="0"/>
                <a:t>= 12 Ჲ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686B59D-2F3F-ED1E-62D9-5C1B8A26CD23}"/>
                </a:ext>
              </a:extLst>
            </p:cNvPr>
            <p:cNvSpPr txBox="1"/>
            <p:nvPr/>
          </p:nvSpPr>
          <p:spPr>
            <a:xfrm>
              <a:off x="5723575" y="3817329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3</a:t>
              </a:r>
              <a:r>
                <a:rPr lang="es-NI" sz="1200" dirty="0"/>
                <a:t>= 18 Ჲ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CD9476C-B0FB-D90B-ECCD-0305A011D587}"/>
                </a:ext>
              </a:extLst>
            </p:cNvPr>
            <p:cNvSpPr txBox="1"/>
            <p:nvPr/>
          </p:nvSpPr>
          <p:spPr>
            <a:xfrm rot="5400000">
              <a:off x="6627466" y="4940197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4</a:t>
              </a:r>
              <a:r>
                <a:rPr lang="es-NI" sz="1200" dirty="0"/>
                <a:t>= 16 Ჲ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FA5CFF-16A7-0BDD-B4EF-47411F176A86}"/>
                </a:ext>
              </a:extLst>
            </p:cNvPr>
            <p:cNvSpPr txBox="1"/>
            <p:nvPr/>
          </p:nvSpPr>
          <p:spPr>
            <a:xfrm>
              <a:off x="7763131" y="3798616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5</a:t>
              </a:r>
              <a:r>
                <a:rPr lang="es-NI" sz="1200" dirty="0"/>
                <a:t>= 24 Ჲ</a:t>
              </a:r>
            </a:p>
          </p:txBody>
        </p: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53A250C-4782-DFE6-E016-C5FF410B2FC0}"/>
                </a:ext>
              </a:extLst>
            </p:cNvPr>
            <p:cNvSpPr txBox="1"/>
            <p:nvPr/>
          </p:nvSpPr>
          <p:spPr>
            <a:xfrm>
              <a:off x="3097566" y="5195261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A</a:t>
              </a:r>
              <a:r>
                <a:rPr lang="es-NI" sz="1200" dirty="0">
                  <a:solidFill>
                    <a:srgbClr val="7030A0"/>
                  </a:solidFill>
                </a:rPr>
                <a:t>= 24 V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B7E6D30-1B08-8E0A-AD71-566E285574FE}"/>
                </a:ext>
              </a:extLst>
            </p:cNvPr>
            <p:cNvSpPr txBox="1"/>
            <p:nvPr/>
          </p:nvSpPr>
          <p:spPr>
            <a:xfrm>
              <a:off x="8442958" y="5224933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B</a:t>
              </a:r>
              <a:r>
                <a:rPr lang="es-NI" sz="1200" dirty="0">
                  <a:solidFill>
                    <a:srgbClr val="7030A0"/>
                  </a:solidFill>
                </a:rPr>
                <a:t>= 30 V</a:t>
              </a:r>
            </a:p>
          </p:txBody>
        </p:sp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CBAB298-A3E6-3617-6A80-70D502BF8D0A}"/>
              </a:ext>
            </a:extLst>
          </p:cNvPr>
          <p:cNvCxnSpPr>
            <a:cxnSpLocks/>
          </p:cNvCxnSpPr>
          <p:nvPr/>
        </p:nvCxnSpPr>
        <p:spPr>
          <a:xfrm flipH="1">
            <a:off x="6796546" y="3232890"/>
            <a:ext cx="7143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FBFD8FD-CBED-4BF2-EC19-E7A87299270D}"/>
              </a:ext>
            </a:extLst>
          </p:cNvPr>
          <p:cNvCxnSpPr>
            <a:cxnSpLocks/>
          </p:cNvCxnSpPr>
          <p:nvPr/>
        </p:nvCxnSpPr>
        <p:spPr>
          <a:xfrm>
            <a:off x="1791301" y="3236644"/>
            <a:ext cx="578462" cy="84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62A6806-C279-5389-2057-FA06D3004831}"/>
              </a:ext>
            </a:extLst>
          </p:cNvPr>
          <p:cNvSpPr txBox="1"/>
          <p:nvPr/>
        </p:nvSpPr>
        <p:spPr>
          <a:xfrm>
            <a:off x="5442413" y="346522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2CBEC03-9889-B707-86B5-106520DE052D}"/>
              </a:ext>
            </a:extLst>
          </p:cNvPr>
          <p:cNvSpPr txBox="1"/>
          <p:nvPr/>
        </p:nvSpPr>
        <p:spPr>
          <a:xfrm>
            <a:off x="3047597" y="346522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1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0E989B2-65B3-AFB3-7E1F-1AA87D6E6519}"/>
              </a:ext>
            </a:extLst>
          </p:cNvPr>
          <p:cNvCxnSpPr>
            <a:cxnSpLocks/>
          </p:cNvCxnSpPr>
          <p:nvPr/>
        </p:nvCxnSpPr>
        <p:spPr>
          <a:xfrm flipH="1">
            <a:off x="4386260" y="3275915"/>
            <a:ext cx="304564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A25D5E9-13E6-9C1F-A449-520E772D6E27}"/>
              </a:ext>
            </a:extLst>
          </p:cNvPr>
          <p:cNvCxnSpPr>
            <a:cxnSpLocks/>
          </p:cNvCxnSpPr>
          <p:nvPr/>
        </p:nvCxnSpPr>
        <p:spPr>
          <a:xfrm>
            <a:off x="6015866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0822C22-5F00-092D-3B45-EFC485301F9E}"/>
              </a:ext>
            </a:extLst>
          </p:cNvPr>
          <p:cNvCxnSpPr>
            <a:cxnSpLocks/>
          </p:cNvCxnSpPr>
          <p:nvPr/>
        </p:nvCxnSpPr>
        <p:spPr>
          <a:xfrm>
            <a:off x="3749600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8355F37-C18F-9F0A-E03D-5E6551B4163A}"/>
              </a:ext>
            </a:extLst>
          </p:cNvPr>
          <p:cNvSpPr txBox="1"/>
          <p:nvPr/>
        </p:nvSpPr>
        <p:spPr>
          <a:xfrm>
            <a:off x="398401" y="2206892"/>
            <a:ext cx="2811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- V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- V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+ V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= 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8879F25-52B8-330F-EE3B-21BFB39BAC1E}"/>
              </a:ext>
            </a:extLst>
          </p:cNvPr>
          <p:cNvSpPr txBox="1"/>
          <p:nvPr/>
        </p:nvSpPr>
        <p:spPr>
          <a:xfrm>
            <a:off x="6005359" y="446464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4</a:t>
            </a:r>
            <a:r>
              <a:rPr lang="es-NI" sz="1200" dirty="0"/>
              <a:t>=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2D5BC45-B9F4-5D36-A8CF-0FC37A9C250E}"/>
              </a:ext>
            </a:extLst>
          </p:cNvPr>
          <p:cNvSpPr txBox="1"/>
          <p:nvPr/>
        </p:nvSpPr>
        <p:spPr>
          <a:xfrm>
            <a:off x="3752328" y="4410561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2</a:t>
            </a:r>
            <a:r>
              <a:rPr lang="es-NI" sz="1200" dirty="0"/>
              <a:t>=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81876F-363D-B33F-8525-FA98AC86B459}"/>
              </a:ext>
            </a:extLst>
          </p:cNvPr>
          <p:cNvSpPr txBox="1"/>
          <p:nvPr/>
        </p:nvSpPr>
        <p:spPr>
          <a:xfrm>
            <a:off x="4455578" y="2997665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3</a:t>
            </a:r>
            <a:r>
              <a:rPr lang="es-NI" sz="1200" dirty="0"/>
              <a:t>=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D5003F9-6BD2-05A7-CBF8-F785FADF291D}"/>
              </a:ext>
            </a:extLst>
          </p:cNvPr>
          <p:cNvSpPr txBox="1"/>
          <p:nvPr/>
        </p:nvSpPr>
        <p:spPr>
          <a:xfrm>
            <a:off x="6891359" y="2940896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5</a:t>
            </a:r>
            <a:r>
              <a:rPr lang="es-NI" sz="1200" dirty="0"/>
              <a:t>=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BFC7B9A-3E27-F038-EF1F-0937F9EAAF30}"/>
              </a:ext>
            </a:extLst>
          </p:cNvPr>
          <p:cNvSpPr txBox="1"/>
          <p:nvPr/>
        </p:nvSpPr>
        <p:spPr>
          <a:xfrm>
            <a:off x="1930617" y="2961742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1</a:t>
            </a:r>
            <a:r>
              <a:rPr lang="es-NI" sz="1200" dirty="0"/>
              <a:t>= </a:t>
            </a:r>
          </a:p>
        </p:txBody>
      </p:sp>
      <p:sp>
        <p:nvSpPr>
          <p:cNvPr id="11" name="Flecha: curvada hacia la izquierda 10">
            <a:extLst>
              <a:ext uri="{FF2B5EF4-FFF2-40B4-BE49-F238E27FC236}">
                <a16:creationId xmlns:a16="http://schemas.microsoft.com/office/drawing/2014/main" id="{7D8577E9-EC6A-75D4-DB93-3F2E6B151FF7}"/>
              </a:ext>
            </a:extLst>
          </p:cNvPr>
          <p:cNvSpPr/>
          <p:nvPr/>
        </p:nvSpPr>
        <p:spPr>
          <a:xfrm rot="16200000">
            <a:off x="1789076" y="3845615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2" name="Flecha: curvada hacia la izquierda 11">
            <a:extLst>
              <a:ext uri="{FF2B5EF4-FFF2-40B4-BE49-F238E27FC236}">
                <a16:creationId xmlns:a16="http://schemas.microsoft.com/office/drawing/2014/main" id="{50DB6B74-D031-97B1-6D2E-ED64E43B5AFD}"/>
              </a:ext>
            </a:extLst>
          </p:cNvPr>
          <p:cNvSpPr/>
          <p:nvPr/>
        </p:nvSpPr>
        <p:spPr>
          <a:xfrm rot="16200000">
            <a:off x="4349905" y="3835173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5" name="Flecha: curvada hacia la izquierda 14">
            <a:extLst>
              <a:ext uri="{FF2B5EF4-FFF2-40B4-BE49-F238E27FC236}">
                <a16:creationId xmlns:a16="http://schemas.microsoft.com/office/drawing/2014/main" id="{CA163D2F-22BA-BB51-343C-4A1FB5F2B208}"/>
              </a:ext>
            </a:extLst>
          </p:cNvPr>
          <p:cNvSpPr/>
          <p:nvPr/>
        </p:nvSpPr>
        <p:spPr>
          <a:xfrm rot="16200000">
            <a:off x="6590925" y="3796362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E9BA396-FDCD-14A3-5041-247FB0CD4AB5}"/>
              </a:ext>
            </a:extLst>
          </p:cNvPr>
          <p:cNvSpPr txBox="1"/>
          <p:nvPr/>
        </p:nvSpPr>
        <p:spPr>
          <a:xfrm>
            <a:off x="1969220" y="446975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1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6D77544-9A31-31D9-5313-FED44714E6F3}"/>
              </a:ext>
            </a:extLst>
          </p:cNvPr>
          <p:cNvSpPr txBox="1"/>
          <p:nvPr/>
        </p:nvSpPr>
        <p:spPr>
          <a:xfrm>
            <a:off x="4587127" y="4548572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2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B816D21-EECA-0CDE-5F0E-89203E525D35}"/>
              </a:ext>
            </a:extLst>
          </p:cNvPr>
          <p:cNvSpPr txBox="1"/>
          <p:nvPr/>
        </p:nvSpPr>
        <p:spPr>
          <a:xfrm>
            <a:off x="6805681" y="4548572"/>
            <a:ext cx="414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3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2EDEF01-BF4A-D758-5A07-B09ED28999C2}"/>
              </a:ext>
            </a:extLst>
          </p:cNvPr>
          <p:cNvSpPr txBox="1"/>
          <p:nvPr/>
        </p:nvSpPr>
        <p:spPr>
          <a:xfrm>
            <a:off x="365958" y="866290"/>
            <a:ext cx="115357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En la malla 2 encontraremos que tanto la intensidad 2 como la intensidad 3 van en dirección contraria al voltaje de la malla, por eso los voltajes 3 y 2 se colocarán en negativo, y el voltaje 4 irá positivo ya que la corriente va en la dirección de la malla y se iguala a cero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5465498-C729-C683-71D8-99A63B75128C}"/>
              </a:ext>
            </a:extLst>
          </p:cNvPr>
          <p:cNvSpPr txBox="1"/>
          <p:nvPr/>
        </p:nvSpPr>
        <p:spPr>
          <a:xfrm>
            <a:off x="3300127" y="1920828"/>
            <a:ext cx="48500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Para que las ecuaciones coincidan con las anteriores sustituiremos los voltajes por su formula 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3BBD6FE-D7ED-2BE0-F3CF-0CF2E9C2523D}"/>
              </a:ext>
            </a:extLst>
          </p:cNvPr>
          <p:cNvSpPr txBox="1"/>
          <p:nvPr/>
        </p:nvSpPr>
        <p:spPr>
          <a:xfrm>
            <a:off x="8280350" y="2077808"/>
            <a:ext cx="37569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-(I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*R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)-(I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*R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)+(I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*R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)=0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C8C555A-0C39-DD0E-3921-5EE2C19BBB63}"/>
              </a:ext>
            </a:extLst>
          </p:cNvPr>
          <p:cNvCxnSpPr>
            <a:cxnSpLocks/>
          </p:cNvCxnSpPr>
          <p:nvPr/>
        </p:nvCxnSpPr>
        <p:spPr>
          <a:xfrm>
            <a:off x="10341577" y="2699721"/>
            <a:ext cx="0" cy="67623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183CD93-ED01-0E2D-63FD-E6A835E36E61}"/>
              </a:ext>
            </a:extLst>
          </p:cNvPr>
          <p:cNvSpPr txBox="1"/>
          <p:nvPr/>
        </p:nvSpPr>
        <p:spPr>
          <a:xfrm>
            <a:off x="8823995" y="3527920"/>
            <a:ext cx="3009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Reemplazaremos las resistencias por sus valores y nos queda…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4211E0A6-6AA6-CB62-783D-939BEE209460}"/>
              </a:ext>
            </a:extLst>
          </p:cNvPr>
          <p:cNvCxnSpPr>
            <a:cxnSpLocks/>
          </p:cNvCxnSpPr>
          <p:nvPr/>
        </p:nvCxnSpPr>
        <p:spPr>
          <a:xfrm>
            <a:off x="10370754" y="4513578"/>
            <a:ext cx="0" cy="67623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ACB2F85-6D96-E32D-C039-1ED25CD5DF7B}"/>
              </a:ext>
            </a:extLst>
          </p:cNvPr>
          <p:cNvSpPr txBox="1"/>
          <p:nvPr/>
        </p:nvSpPr>
        <p:spPr>
          <a:xfrm>
            <a:off x="8823995" y="5329186"/>
            <a:ext cx="3143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-12I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- 18I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3 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+ 16I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368178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CEA39CA-9AFE-D624-574D-F208A1704A07}"/>
              </a:ext>
            </a:extLst>
          </p:cNvPr>
          <p:cNvSpPr/>
          <p:nvPr/>
        </p:nvSpPr>
        <p:spPr>
          <a:xfrm>
            <a:off x="394459" y="86631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4: Determinamos las ecuaciones correspondientes a las mallas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04A131-E839-2BD3-4EC2-8CBF3532E53E}"/>
              </a:ext>
            </a:extLst>
          </p:cNvPr>
          <p:cNvGrpSpPr/>
          <p:nvPr/>
        </p:nvGrpSpPr>
        <p:grpSpPr>
          <a:xfrm>
            <a:off x="126089" y="3213783"/>
            <a:ext cx="8922075" cy="3557586"/>
            <a:chOff x="2423284" y="3669356"/>
            <a:chExt cx="7345432" cy="283550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1B9C8E7-6E33-4B3B-FE86-6CC484202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3284" y="3669356"/>
              <a:ext cx="7345432" cy="2835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13D3D1F-8A35-23F6-13FA-4FE6FE0A835D}"/>
                </a:ext>
              </a:extLst>
            </p:cNvPr>
            <p:cNvSpPr txBox="1"/>
            <p:nvPr/>
          </p:nvSpPr>
          <p:spPr>
            <a:xfrm>
              <a:off x="3684019" y="3798617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1</a:t>
              </a:r>
              <a:r>
                <a:rPr lang="es-NI" sz="1200" dirty="0"/>
                <a:t>= 20 Ჲ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2136A40-B911-21CC-2CE0-260C9F226732}"/>
                </a:ext>
              </a:extLst>
            </p:cNvPr>
            <p:cNvSpPr txBox="1"/>
            <p:nvPr/>
          </p:nvSpPr>
          <p:spPr>
            <a:xfrm rot="5400000">
              <a:off x="4717039" y="4948610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2</a:t>
              </a:r>
              <a:r>
                <a:rPr lang="es-NI" sz="1200" dirty="0"/>
                <a:t>= 12 Ჲ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686B59D-2F3F-ED1E-62D9-5C1B8A26CD23}"/>
                </a:ext>
              </a:extLst>
            </p:cNvPr>
            <p:cNvSpPr txBox="1"/>
            <p:nvPr/>
          </p:nvSpPr>
          <p:spPr>
            <a:xfrm>
              <a:off x="5723575" y="3817329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3</a:t>
              </a:r>
              <a:r>
                <a:rPr lang="es-NI" sz="1200" dirty="0"/>
                <a:t>= 18 Ჲ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CD9476C-B0FB-D90B-ECCD-0305A011D587}"/>
                </a:ext>
              </a:extLst>
            </p:cNvPr>
            <p:cNvSpPr txBox="1"/>
            <p:nvPr/>
          </p:nvSpPr>
          <p:spPr>
            <a:xfrm rot="5400000">
              <a:off x="6627466" y="4940197"/>
              <a:ext cx="829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4</a:t>
              </a:r>
              <a:r>
                <a:rPr lang="es-NI" sz="1200" dirty="0"/>
                <a:t>= 16 Ჲ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1CFA5CFF-16A7-0BDD-B4EF-47411F176A86}"/>
                </a:ext>
              </a:extLst>
            </p:cNvPr>
            <p:cNvSpPr txBox="1"/>
            <p:nvPr/>
          </p:nvSpPr>
          <p:spPr>
            <a:xfrm>
              <a:off x="7763131" y="3798616"/>
              <a:ext cx="766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/>
                <a:t>R</a:t>
              </a:r>
              <a:r>
                <a:rPr lang="es-NI" sz="1200" baseline="-25000" dirty="0"/>
                <a:t>5</a:t>
              </a:r>
              <a:r>
                <a:rPr lang="es-NI" sz="1200" dirty="0"/>
                <a:t>= 24 Ჲ</a:t>
              </a:r>
            </a:p>
          </p:txBody>
        </p: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53A250C-4782-DFE6-E016-C5FF410B2FC0}"/>
                </a:ext>
              </a:extLst>
            </p:cNvPr>
            <p:cNvSpPr txBox="1"/>
            <p:nvPr/>
          </p:nvSpPr>
          <p:spPr>
            <a:xfrm>
              <a:off x="3097566" y="5195261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A</a:t>
              </a:r>
              <a:r>
                <a:rPr lang="es-NI" sz="1200" dirty="0">
                  <a:solidFill>
                    <a:srgbClr val="7030A0"/>
                  </a:solidFill>
                </a:rPr>
                <a:t>= 24 V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B7E6D30-1B08-8E0A-AD71-566E285574FE}"/>
                </a:ext>
              </a:extLst>
            </p:cNvPr>
            <p:cNvSpPr txBox="1"/>
            <p:nvPr/>
          </p:nvSpPr>
          <p:spPr>
            <a:xfrm>
              <a:off x="8442958" y="5224933"/>
              <a:ext cx="1172906" cy="220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NI" sz="1200" dirty="0">
                  <a:solidFill>
                    <a:srgbClr val="7030A0"/>
                  </a:solidFill>
                </a:rPr>
                <a:t>V</a:t>
              </a:r>
              <a:r>
                <a:rPr lang="es-NI" sz="1200" baseline="-25000" dirty="0">
                  <a:solidFill>
                    <a:srgbClr val="7030A0"/>
                  </a:solidFill>
                </a:rPr>
                <a:t>B</a:t>
              </a:r>
              <a:r>
                <a:rPr lang="es-NI" sz="1200" dirty="0">
                  <a:solidFill>
                    <a:srgbClr val="7030A0"/>
                  </a:solidFill>
                </a:rPr>
                <a:t>= 30 V</a:t>
              </a:r>
            </a:p>
          </p:txBody>
        </p:sp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CBAB298-A3E6-3617-6A80-70D502BF8D0A}"/>
              </a:ext>
            </a:extLst>
          </p:cNvPr>
          <p:cNvCxnSpPr>
            <a:cxnSpLocks/>
          </p:cNvCxnSpPr>
          <p:nvPr/>
        </p:nvCxnSpPr>
        <p:spPr>
          <a:xfrm flipH="1">
            <a:off x="6796546" y="3232890"/>
            <a:ext cx="7143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FBFD8FD-CBED-4BF2-EC19-E7A87299270D}"/>
              </a:ext>
            </a:extLst>
          </p:cNvPr>
          <p:cNvCxnSpPr>
            <a:cxnSpLocks/>
          </p:cNvCxnSpPr>
          <p:nvPr/>
        </p:nvCxnSpPr>
        <p:spPr>
          <a:xfrm>
            <a:off x="1791301" y="3236644"/>
            <a:ext cx="578462" cy="84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62A6806-C279-5389-2057-FA06D3004831}"/>
              </a:ext>
            </a:extLst>
          </p:cNvPr>
          <p:cNvSpPr txBox="1"/>
          <p:nvPr/>
        </p:nvSpPr>
        <p:spPr>
          <a:xfrm>
            <a:off x="5442413" y="346522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2CBEC03-9889-B707-86B5-106520DE052D}"/>
              </a:ext>
            </a:extLst>
          </p:cNvPr>
          <p:cNvSpPr txBox="1"/>
          <p:nvPr/>
        </p:nvSpPr>
        <p:spPr>
          <a:xfrm>
            <a:off x="3047597" y="3465226"/>
            <a:ext cx="10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600" b="1" dirty="0">
                <a:solidFill>
                  <a:srgbClr val="FF0000"/>
                </a:solidFill>
              </a:rPr>
              <a:t>N</a:t>
            </a:r>
            <a:r>
              <a:rPr lang="es-NI" sz="1600" b="1" baseline="-25000" dirty="0">
                <a:solidFill>
                  <a:srgbClr val="FF0000"/>
                </a:solidFill>
              </a:rPr>
              <a:t>1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80E989B2-65B3-AFB3-7E1F-1AA87D6E6519}"/>
              </a:ext>
            </a:extLst>
          </p:cNvPr>
          <p:cNvCxnSpPr>
            <a:cxnSpLocks/>
          </p:cNvCxnSpPr>
          <p:nvPr/>
        </p:nvCxnSpPr>
        <p:spPr>
          <a:xfrm flipH="1">
            <a:off x="4386260" y="3275915"/>
            <a:ext cx="304564" cy="0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A25D5E9-13E6-9C1F-A449-520E772D6E27}"/>
              </a:ext>
            </a:extLst>
          </p:cNvPr>
          <p:cNvCxnSpPr>
            <a:cxnSpLocks/>
          </p:cNvCxnSpPr>
          <p:nvPr/>
        </p:nvCxnSpPr>
        <p:spPr>
          <a:xfrm>
            <a:off x="6015866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0822C22-5F00-092D-3B45-EFC485301F9E}"/>
              </a:ext>
            </a:extLst>
          </p:cNvPr>
          <p:cNvCxnSpPr>
            <a:cxnSpLocks/>
          </p:cNvCxnSpPr>
          <p:nvPr/>
        </p:nvCxnSpPr>
        <p:spPr>
          <a:xfrm>
            <a:off x="3749600" y="4381251"/>
            <a:ext cx="0" cy="417962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8879F25-52B8-330F-EE3B-21BFB39BAC1E}"/>
              </a:ext>
            </a:extLst>
          </p:cNvPr>
          <p:cNvSpPr txBox="1"/>
          <p:nvPr/>
        </p:nvSpPr>
        <p:spPr>
          <a:xfrm>
            <a:off x="6005359" y="446464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4</a:t>
            </a:r>
            <a:r>
              <a:rPr lang="es-NI" sz="1200" dirty="0"/>
              <a:t>=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2D5BC45-B9F4-5D36-A8CF-0FC37A9C250E}"/>
              </a:ext>
            </a:extLst>
          </p:cNvPr>
          <p:cNvSpPr txBox="1"/>
          <p:nvPr/>
        </p:nvSpPr>
        <p:spPr>
          <a:xfrm>
            <a:off x="3752328" y="4410561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2</a:t>
            </a:r>
            <a:r>
              <a:rPr lang="es-NI" sz="1200" dirty="0"/>
              <a:t>=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81876F-363D-B33F-8525-FA98AC86B459}"/>
              </a:ext>
            </a:extLst>
          </p:cNvPr>
          <p:cNvSpPr txBox="1"/>
          <p:nvPr/>
        </p:nvSpPr>
        <p:spPr>
          <a:xfrm>
            <a:off x="4455578" y="2997665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3</a:t>
            </a:r>
            <a:r>
              <a:rPr lang="es-NI" sz="1200" dirty="0"/>
              <a:t>=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D5003F9-6BD2-05A7-CBF8-F785FADF291D}"/>
              </a:ext>
            </a:extLst>
          </p:cNvPr>
          <p:cNvSpPr txBox="1"/>
          <p:nvPr/>
        </p:nvSpPr>
        <p:spPr>
          <a:xfrm>
            <a:off x="6891359" y="2940896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5</a:t>
            </a:r>
            <a:r>
              <a:rPr lang="es-NI" sz="1200" dirty="0"/>
              <a:t>=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BFC7B9A-3E27-F038-EF1F-0937F9EAAF30}"/>
              </a:ext>
            </a:extLst>
          </p:cNvPr>
          <p:cNvSpPr txBox="1"/>
          <p:nvPr/>
        </p:nvSpPr>
        <p:spPr>
          <a:xfrm>
            <a:off x="1930617" y="2961742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/>
              <a:t>I</a:t>
            </a:r>
            <a:r>
              <a:rPr lang="es-NI" sz="1200" baseline="-25000" dirty="0"/>
              <a:t>1</a:t>
            </a:r>
            <a:r>
              <a:rPr lang="es-NI" sz="1200" dirty="0"/>
              <a:t>= </a:t>
            </a:r>
          </a:p>
        </p:txBody>
      </p:sp>
      <p:sp>
        <p:nvSpPr>
          <p:cNvPr id="11" name="Flecha: curvada hacia la izquierda 10">
            <a:extLst>
              <a:ext uri="{FF2B5EF4-FFF2-40B4-BE49-F238E27FC236}">
                <a16:creationId xmlns:a16="http://schemas.microsoft.com/office/drawing/2014/main" id="{7D8577E9-EC6A-75D4-DB93-3F2E6B151FF7}"/>
              </a:ext>
            </a:extLst>
          </p:cNvPr>
          <p:cNvSpPr/>
          <p:nvPr/>
        </p:nvSpPr>
        <p:spPr>
          <a:xfrm rot="16200000">
            <a:off x="1789076" y="3845615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2" name="Flecha: curvada hacia la izquierda 11">
            <a:extLst>
              <a:ext uri="{FF2B5EF4-FFF2-40B4-BE49-F238E27FC236}">
                <a16:creationId xmlns:a16="http://schemas.microsoft.com/office/drawing/2014/main" id="{50DB6B74-D031-97B1-6D2E-ED64E43B5AFD}"/>
              </a:ext>
            </a:extLst>
          </p:cNvPr>
          <p:cNvSpPr/>
          <p:nvPr/>
        </p:nvSpPr>
        <p:spPr>
          <a:xfrm rot="16200000">
            <a:off x="4349905" y="3835173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5" name="Flecha: curvada hacia la izquierda 14">
            <a:extLst>
              <a:ext uri="{FF2B5EF4-FFF2-40B4-BE49-F238E27FC236}">
                <a16:creationId xmlns:a16="http://schemas.microsoft.com/office/drawing/2014/main" id="{CA163D2F-22BA-BB51-343C-4A1FB5F2B208}"/>
              </a:ext>
            </a:extLst>
          </p:cNvPr>
          <p:cNvSpPr/>
          <p:nvPr/>
        </p:nvSpPr>
        <p:spPr>
          <a:xfrm rot="16200000">
            <a:off x="6590925" y="3796362"/>
            <a:ext cx="897345" cy="1185068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E9BA396-FDCD-14A3-5041-247FB0CD4AB5}"/>
              </a:ext>
            </a:extLst>
          </p:cNvPr>
          <p:cNvSpPr txBox="1"/>
          <p:nvPr/>
        </p:nvSpPr>
        <p:spPr>
          <a:xfrm>
            <a:off x="1969220" y="4469757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1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6D77544-9A31-31D9-5313-FED44714E6F3}"/>
              </a:ext>
            </a:extLst>
          </p:cNvPr>
          <p:cNvSpPr txBox="1"/>
          <p:nvPr/>
        </p:nvSpPr>
        <p:spPr>
          <a:xfrm>
            <a:off x="4587127" y="4548572"/>
            <a:ext cx="657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2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B816D21-EECA-0CDE-5F0E-89203E525D35}"/>
              </a:ext>
            </a:extLst>
          </p:cNvPr>
          <p:cNvSpPr txBox="1"/>
          <p:nvPr/>
        </p:nvSpPr>
        <p:spPr>
          <a:xfrm>
            <a:off x="6805681" y="4548572"/>
            <a:ext cx="414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1200" dirty="0">
                <a:solidFill>
                  <a:srgbClr val="00B050"/>
                </a:solidFill>
              </a:rPr>
              <a:t>M</a:t>
            </a:r>
            <a:r>
              <a:rPr lang="es-NI" sz="1200" baseline="-25000" dirty="0">
                <a:solidFill>
                  <a:srgbClr val="00B050"/>
                </a:solidFill>
              </a:rPr>
              <a:t>3</a:t>
            </a:r>
            <a:r>
              <a:rPr lang="es-NI" sz="12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2EDEF01-BF4A-D758-5A07-B09ED28999C2}"/>
              </a:ext>
            </a:extLst>
          </p:cNvPr>
          <p:cNvSpPr txBox="1"/>
          <p:nvPr/>
        </p:nvSpPr>
        <p:spPr>
          <a:xfrm>
            <a:off x="365958" y="866290"/>
            <a:ext cx="115357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En la malla 3 encontraremos que tanto la intensidad </a:t>
            </a:r>
            <a:r>
              <a:rPr lang="es-ES" sz="2000" dirty="0"/>
              <a:t>4 como la intensidad 5 van en dirección contraria al voltaje de la malla, por eso los voltajes 4 y 5 se colocarán en negativo</a:t>
            </a:r>
            <a:r>
              <a:rPr lang="es-NI" sz="2000" dirty="0"/>
              <a:t>, y el voltaje de la fuente de poder se colocará en signo contrario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5465498-C729-C683-71D8-99A63B75128C}"/>
              </a:ext>
            </a:extLst>
          </p:cNvPr>
          <p:cNvSpPr txBox="1"/>
          <p:nvPr/>
        </p:nvSpPr>
        <p:spPr>
          <a:xfrm>
            <a:off x="3300127" y="1920828"/>
            <a:ext cx="48500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Para que las ecuaciones coincidan con las anteriores sustituiremos los voltajes por su formula 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C8C555A-0C39-DD0E-3921-5EE2C19BBB63}"/>
              </a:ext>
            </a:extLst>
          </p:cNvPr>
          <p:cNvCxnSpPr>
            <a:cxnSpLocks/>
          </p:cNvCxnSpPr>
          <p:nvPr/>
        </p:nvCxnSpPr>
        <p:spPr>
          <a:xfrm>
            <a:off x="10341577" y="2699721"/>
            <a:ext cx="0" cy="67623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183CD93-ED01-0E2D-63FD-E6A835E36E61}"/>
              </a:ext>
            </a:extLst>
          </p:cNvPr>
          <p:cNvSpPr txBox="1"/>
          <p:nvPr/>
        </p:nvSpPr>
        <p:spPr>
          <a:xfrm>
            <a:off x="8823995" y="3527920"/>
            <a:ext cx="3009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Reemplazaremos las resistencias por sus valores y nos queda…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4211E0A6-6AA6-CB62-783D-939BEE209460}"/>
              </a:ext>
            </a:extLst>
          </p:cNvPr>
          <p:cNvCxnSpPr>
            <a:cxnSpLocks/>
          </p:cNvCxnSpPr>
          <p:nvPr/>
        </p:nvCxnSpPr>
        <p:spPr>
          <a:xfrm>
            <a:off x="10370754" y="4513578"/>
            <a:ext cx="0" cy="67623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BE0DBC7-60CA-CC78-55F9-7A67C92995E9}"/>
              </a:ext>
            </a:extLst>
          </p:cNvPr>
          <p:cNvSpPr txBox="1"/>
          <p:nvPr/>
        </p:nvSpPr>
        <p:spPr>
          <a:xfrm>
            <a:off x="398401" y="2206892"/>
            <a:ext cx="2811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- V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- V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+ 30 = 0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65C16C5-7DE9-108A-7F2E-D66E6C0F46CC}"/>
              </a:ext>
            </a:extLst>
          </p:cNvPr>
          <p:cNvSpPr txBox="1"/>
          <p:nvPr/>
        </p:nvSpPr>
        <p:spPr>
          <a:xfrm>
            <a:off x="8661179" y="2105144"/>
            <a:ext cx="3306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-(I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*R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)-(I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*R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)+30=0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684EBD3-DEA8-BFDD-7EB4-36F2A9B8F6E5}"/>
              </a:ext>
            </a:extLst>
          </p:cNvPr>
          <p:cNvSpPr txBox="1"/>
          <p:nvPr/>
        </p:nvSpPr>
        <p:spPr>
          <a:xfrm>
            <a:off x="8823995" y="5329186"/>
            <a:ext cx="3143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-16I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 - 24I</a:t>
            </a:r>
            <a:r>
              <a:rPr lang="es-NI" sz="2000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5 </a:t>
            </a:r>
            <a:r>
              <a:rPr lang="es-NI" sz="2000" dirty="0">
                <a:latin typeface="Verdana" panose="020B0604030504040204" pitchFamily="34" charset="0"/>
                <a:ea typeface="Verdana" panose="020B0604030504040204" pitchFamily="34" charset="0"/>
              </a:rPr>
              <a:t>+ 30 = 0</a:t>
            </a:r>
          </a:p>
        </p:txBody>
      </p:sp>
    </p:spTree>
    <p:extLst>
      <p:ext uri="{BB962C8B-B14F-4D97-AF65-F5344CB8AC3E}">
        <p14:creationId xmlns:p14="http://schemas.microsoft.com/office/powerpoint/2010/main" val="452233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42730B6-8482-9643-8CBD-D678FAD13C46}"/>
              </a:ext>
            </a:extLst>
          </p:cNvPr>
          <p:cNvSpPr txBox="1"/>
          <p:nvPr/>
        </p:nvSpPr>
        <p:spPr>
          <a:xfrm>
            <a:off x="573206" y="1389137"/>
            <a:ext cx="52973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Colocamos las ecuaciones cuidando que cada Intensidad quede debajo de su correspondiente como podemos ver a la derecha.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8CF4E38-FCD3-E4F9-C624-D0DA3CF7C0CC}"/>
              </a:ext>
            </a:extLst>
          </p:cNvPr>
          <p:cNvSpPr/>
          <p:nvPr/>
        </p:nvSpPr>
        <p:spPr>
          <a:xfrm>
            <a:off x="394459" y="86631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5: Formamos un sistema de ecuaciones con las ecuaciones obtenidas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B8A9594F-9F04-2297-5AB4-5114C153398E}"/>
              </a:ext>
            </a:extLst>
          </p:cNvPr>
          <p:cNvGrpSpPr/>
          <p:nvPr/>
        </p:nvGrpSpPr>
        <p:grpSpPr>
          <a:xfrm>
            <a:off x="6096000" y="708012"/>
            <a:ext cx="7922884" cy="2262826"/>
            <a:chOff x="394459" y="626126"/>
            <a:chExt cx="7922884" cy="2262826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6F5FA3EE-842B-4AFC-2ACB-2EC5D1A2C858}"/>
                </a:ext>
              </a:extLst>
            </p:cNvPr>
            <p:cNvSpPr txBox="1"/>
            <p:nvPr/>
          </p:nvSpPr>
          <p:spPr>
            <a:xfrm>
              <a:off x="394459" y="626126"/>
              <a:ext cx="597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–  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                             = 0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964E7A78-4D33-65DE-A8CD-9259F6745546}"/>
                </a:ext>
              </a:extLst>
            </p:cNvPr>
            <p:cNvSpPr txBox="1"/>
            <p:nvPr/>
          </p:nvSpPr>
          <p:spPr>
            <a:xfrm>
              <a:off x="1895539" y="1122585"/>
              <a:ext cx="42667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  -I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–  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            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= 0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8CCA0CBE-7762-25A2-0325-E829D5D6C14C}"/>
                </a:ext>
              </a:extLst>
            </p:cNvPr>
            <p:cNvSpPr txBox="1"/>
            <p:nvPr/>
          </p:nvSpPr>
          <p:spPr>
            <a:xfrm>
              <a:off x="394459" y="1514400"/>
              <a:ext cx="79228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20I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 12I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                               – 24 = 0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3B713D0-23F5-5910-4CA0-CE3FCDFC1281}"/>
                </a:ext>
              </a:extLst>
            </p:cNvPr>
            <p:cNvSpPr txBox="1"/>
            <p:nvPr/>
          </p:nvSpPr>
          <p:spPr>
            <a:xfrm>
              <a:off x="1174953" y="2017010"/>
              <a:ext cx="5192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-12I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- 18I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   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+ 16I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                 = 0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37EB1A73-C1A7-703C-07C8-2CC6D05B7B44}"/>
                </a:ext>
              </a:extLst>
            </p:cNvPr>
            <p:cNvSpPr txBox="1"/>
            <p:nvPr/>
          </p:nvSpPr>
          <p:spPr>
            <a:xfrm>
              <a:off x="2988858" y="2519620"/>
              <a:ext cx="4785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-16I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- 24I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   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+ 30 = 0</a:t>
              </a:r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16540649-6CC8-E71F-DE98-013287E589CD}"/>
              </a:ext>
            </a:extLst>
          </p:cNvPr>
          <p:cNvSpPr txBox="1"/>
          <p:nvPr/>
        </p:nvSpPr>
        <p:spPr>
          <a:xfrm>
            <a:off x="573206" y="4216498"/>
            <a:ext cx="52973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Dejamos los términos independientes del lado derecho y del lado izquierdo todas las variables, quedando lo siguiente…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1C3058F0-2775-8F89-B504-E5A1BFC39D34}"/>
              </a:ext>
            </a:extLst>
          </p:cNvPr>
          <p:cNvGrpSpPr/>
          <p:nvPr/>
        </p:nvGrpSpPr>
        <p:grpSpPr>
          <a:xfrm>
            <a:off x="6321430" y="3760970"/>
            <a:ext cx="7922884" cy="2262826"/>
            <a:chOff x="394459" y="626126"/>
            <a:chExt cx="7922884" cy="2262826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39D52B2A-2398-377F-002E-0A45F45EC1D5}"/>
                </a:ext>
              </a:extLst>
            </p:cNvPr>
            <p:cNvSpPr txBox="1"/>
            <p:nvPr/>
          </p:nvSpPr>
          <p:spPr>
            <a:xfrm>
              <a:off x="394459" y="626126"/>
              <a:ext cx="597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–  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                       = 0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A01A2D0A-D3EF-C81E-6908-5970A57392D2}"/>
                </a:ext>
              </a:extLst>
            </p:cNvPr>
            <p:cNvSpPr txBox="1"/>
            <p:nvPr/>
          </p:nvSpPr>
          <p:spPr>
            <a:xfrm>
              <a:off x="1895539" y="1122585"/>
              <a:ext cx="42667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  -I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–  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   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= 0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2AB528C5-0845-F82A-5570-A94944DBFC5A}"/>
                </a:ext>
              </a:extLst>
            </p:cNvPr>
            <p:cNvSpPr txBox="1"/>
            <p:nvPr/>
          </p:nvSpPr>
          <p:spPr>
            <a:xfrm>
              <a:off x="394459" y="1514400"/>
              <a:ext cx="79228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20I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 12I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                                = 24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00FE960A-D516-1FE8-A70C-462DAC1AAFD5}"/>
                </a:ext>
              </a:extLst>
            </p:cNvPr>
            <p:cNvSpPr txBox="1"/>
            <p:nvPr/>
          </p:nvSpPr>
          <p:spPr>
            <a:xfrm>
              <a:off x="1174953" y="2017010"/>
              <a:ext cx="5192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-12I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- 18I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   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+ 16I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           = 0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E6103D46-6519-DC5D-D7A8-49D0423F6322}"/>
                </a:ext>
              </a:extLst>
            </p:cNvPr>
            <p:cNvSpPr txBox="1"/>
            <p:nvPr/>
          </p:nvSpPr>
          <p:spPr>
            <a:xfrm>
              <a:off x="2988858" y="2519620"/>
              <a:ext cx="4785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-16I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- 24I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   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= -30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0094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D8CF4E38-FCD3-E4F9-C624-D0DA3CF7C0CC}"/>
              </a:ext>
            </a:extLst>
          </p:cNvPr>
          <p:cNvSpPr/>
          <p:nvPr/>
        </p:nvSpPr>
        <p:spPr>
          <a:xfrm>
            <a:off x="394459" y="86631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5: Formamos un sistema de ecuaciones con las ecuaciones obtenidas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6540649-6CC8-E71F-DE98-013287E589CD}"/>
              </a:ext>
            </a:extLst>
          </p:cNvPr>
          <p:cNvSpPr txBox="1"/>
          <p:nvPr/>
        </p:nvSpPr>
        <p:spPr>
          <a:xfrm>
            <a:off x="347776" y="1065379"/>
            <a:ext cx="52973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Rellenamos las ecuaciones y donde falta una intensidad la colocamos con coeficiente cero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1C3058F0-2775-8F89-B504-E5A1BFC39D34}"/>
              </a:ext>
            </a:extLst>
          </p:cNvPr>
          <p:cNvGrpSpPr/>
          <p:nvPr/>
        </p:nvGrpSpPr>
        <p:grpSpPr>
          <a:xfrm>
            <a:off x="6096000" y="609851"/>
            <a:ext cx="7922884" cy="2145880"/>
            <a:chOff x="394459" y="626126"/>
            <a:chExt cx="7922884" cy="2145880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39D52B2A-2398-377F-002E-0A45F45EC1D5}"/>
                </a:ext>
              </a:extLst>
            </p:cNvPr>
            <p:cNvSpPr txBox="1"/>
            <p:nvPr/>
          </p:nvSpPr>
          <p:spPr>
            <a:xfrm>
              <a:off x="394459" y="626126"/>
              <a:ext cx="6814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–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= 0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A01A2D0A-D3EF-C81E-6908-5970A57392D2}"/>
                </a:ext>
              </a:extLst>
            </p:cNvPr>
            <p:cNvSpPr txBox="1"/>
            <p:nvPr/>
          </p:nvSpPr>
          <p:spPr>
            <a:xfrm>
              <a:off x="394459" y="1122585"/>
              <a:ext cx="5767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-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– 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   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= 0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2AB528C5-0845-F82A-5570-A94944DBFC5A}"/>
                </a:ext>
              </a:extLst>
            </p:cNvPr>
            <p:cNvSpPr txBox="1"/>
            <p:nvPr/>
          </p:nvSpPr>
          <p:spPr>
            <a:xfrm>
              <a:off x="394459" y="1514400"/>
              <a:ext cx="79228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20I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+12I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 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= 24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00FE960A-D516-1FE8-A70C-462DAC1AAFD5}"/>
                </a:ext>
              </a:extLst>
            </p:cNvPr>
            <p:cNvSpPr txBox="1"/>
            <p:nvPr/>
          </p:nvSpPr>
          <p:spPr>
            <a:xfrm>
              <a:off x="574452" y="1943139"/>
              <a:ext cx="5192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- 12I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- 18I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+ 16I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  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  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= 0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E6103D46-6519-DC5D-D7A8-49D0423F6322}"/>
                </a:ext>
              </a:extLst>
            </p:cNvPr>
            <p:cNvSpPr txBox="1"/>
            <p:nvPr/>
          </p:nvSpPr>
          <p:spPr>
            <a:xfrm>
              <a:off x="574452" y="2402674"/>
              <a:ext cx="4785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-  16I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-     24I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 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= -30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9040D9-2DDF-A8E3-D335-ED1A41F0B894}"/>
              </a:ext>
            </a:extLst>
          </p:cNvPr>
          <p:cNvSpPr txBox="1"/>
          <p:nvPr/>
        </p:nvSpPr>
        <p:spPr>
          <a:xfrm>
            <a:off x="347776" y="4520538"/>
            <a:ext cx="52973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Ya tenemos listo nuestro sistema de ecuaciones, que podemos resolver con cualquier método, como tenemos 5 variables y 5 ecuaciones lo más sencillo es aplicar gauss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B81AFBF5-87FD-D1E8-537C-01E215E2B5FD}"/>
              </a:ext>
            </a:extLst>
          </p:cNvPr>
          <p:cNvGrpSpPr/>
          <p:nvPr/>
        </p:nvGrpSpPr>
        <p:grpSpPr>
          <a:xfrm>
            <a:off x="6767015" y="3917604"/>
            <a:ext cx="7922884" cy="2145880"/>
            <a:chOff x="394459" y="626126"/>
            <a:chExt cx="7922884" cy="2145880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3A9B5B9-7452-EA34-6798-27701179504F}"/>
                </a:ext>
              </a:extLst>
            </p:cNvPr>
            <p:cNvSpPr txBox="1"/>
            <p:nvPr/>
          </p:nvSpPr>
          <p:spPr>
            <a:xfrm>
              <a:off x="394459" y="626126"/>
              <a:ext cx="68147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–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 = 0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BB9E5787-46B5-5E63-41BC-9ED6F261F2B9}"/>
                </a:ext>
              </a:extLst>
            </p:cNvPr>
            <p:cNvSpPr txBox="1"/>
            <p:nvPr/>
          </p:nvSpPr>
          <p:spPr>
            <a:xfrm>
              <a:off x="394459" y="1122585"/>
              <a:ext cx="5767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-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– 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   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   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= 0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B713BAA6-01A3-45BC-C805-B8841A5F6E6A}"/>
                </a:ext>
              </a:extLst>
            </p:cNvPr>
            <p:cNvSpPr txBox="1"/>
            <p:nvPr/>
          </p:nvSpPr>
          <p:spPr>
            <a:xfrm>
              <a:off x="394459" y="1514400"/>
              <a:ext cx="79228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20I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+12I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+ 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 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= 24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D7F5650E-F84C-5604-8A40-813197B41EBA}"/>
                </a:ext>
              </a:extLst>
            </p:cNvPr>
            <p:cNvSpPr txBox="1"/>
            <p:nvPr/>
          </p:nvSpPr>
          <p:spPr>
            <a:xfrm>
              <a:off x="574452" y="1943139"/>
              <a:ext cx="5192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- 12I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- 18I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+ 16I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  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  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= 0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B8DA7674-FA99-C86A-1937-B42C20A9233C}"/>
                </a:ext>
              </a:extLst>
            </p:cNvPr>
            <p:cNvSpPr txBox="1"/>
            <p:nvPr/>
          </p:nvSpPr>
          <p:spPr>
            <a:xfrm>
              <a:off x="574452" y="2402674"/>
              <a:ext cx="4785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+  0I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-  16I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-     24I</a:t>
              </a:r>
              <a:r>
                <a:rPr lang="es-NI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  </a:t>
              </a:r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= -30</a:t>
              </a:r>
            </a:p>
          </p:txBody>
        </p:sp>
      </p:grpSp>
      <p:sp>
        <p:nvSpPr>
          <p:cNvPr id="24" name="Abrir llave 23">
            <a:extLst>
              <a:ext uri="{FF2B5EF4-FFF2-40B4-BE49-F238E27FC236}">
                <a16:creationId xmlns:a16="http://schemas.microsoft.com/office/drawing/2014/main" id="{1354134C-1CF8-7C14-277A-F4997EBB0E6B}"/>
              </a:ext>
            </a:extLst>
          </p:cNvPr>
          <p:cNvSpPr/>
          <p:nvPr/>
        </p:nvSpPr>
        <p:spPr>
          <a:xfrm>
            <a:off x="6652443" y="3738296"/>
            <a:ext cx="165750" cy="2590549"/>
          </a:xfrm>
          <a:prstGeom prst="leftBrace">
            <a:avLst/>
          </a:prstGeom>
          <a:ln w="635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18979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D8CF4E38-FCD3-E4F9-C624-D0DA3CF7C0CC}"/>
              </a:ext>
            </a:extLst>
          </p:cNvPr>
          <p:cNvSpPr/>
          <p:nvPr/>
        </p:nvSpPr>
        <p:spPr>
          <a:xfrm>
            <a:off x="394459" y="86631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6: Resolvemos el sistema de ecuaciones por cualquier método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9040D9-2DDF-A8E3-D335-ED1A41F0B894}"/>
              </a:ext>
            </a:extLst>
          </p:cNvPr>
          <p:cNvSpPr txBox="1"/>
          <p:nvPr/>
        </p:nvSpPr>
        <p:spPr>
          <a:xfrm>
            <a:off x="538845" y="1108320"/>
            <a:ext cx="52973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Para aplicar el método de gauss primero debemos convertir el sistema de ecuaciones en una matriz, para ellos indicaremos el coeficiente de cada variable como parte de la matriz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D1858E3-0E38-09FB-260E-C11D72D1F7B9}"/>
              </a:ext>
            </a:extLst>
          </p:cNvPr>
          <p:cNvGrpSpPr/>
          <p:nvPr/>
        </p:nvGrpSpPr>
        <p:grpSpPr>
          <a:xfrm>
            <a:off x="6355791" y="722141"/>
            <a:ext cx="4815805" cy="2590549"/>
            <a:chOff x="6652443" y="3738296"/>
            <a:chExt cx="4815805" cy="2590549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B81AFBF5-87FD-D1E8-537C-01E215E2B5FD}"/>
                </a:ext>
              </a:extLst>
            </p:cNvPr>
            <p:cNvGrpSpPr/>
            <p:nvPr/>
          </p:nvGrpSpPr>
          <p:grpSpPr>
            <a:xfrm>
              <a:off x="6767015" y="3917604"/>
              <a:ext cx="4701233" cy="2145880"/>
              <a:chOff x="394459" y="626126"/>
              <a:chExt cx="4701233" cy="2145880"/>
            </a:xfrm>
          </p:grpSpPr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73A9B5B9-7452-EA34-6798-27701179504F}"/>
                  </a:ext>
                </a:extLst>
              </p:cNvPr>
              <p:cNvSpPr txBox="1"/>
              <p:nvPr/>
            </p:nvSpPr>
            <p:spPr>
              <a:xfrm>
                <a:off x="394459" y="626126"/>
                <a:ext cx="45742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 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1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–   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2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+    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3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+ 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4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+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5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 = 0</a:t>
                </a:r>
              </a:p>
            </p:txBody>
          </p:sp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B9E5787-46B5-5E63-41BC-9ED6F261F2B9}"/>
                  </a:ext>
                </a:extLst>
              </p:cNvPr>
              <p:cNvSpPr txBox="1"/>
              <p:nvPr/>
            </p:nvSpPr>
            <p:spPr>
              <a:xfrm>
                <a:off x="394459" y="1122585"/>
                <a:ext cx="45742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1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2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-    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3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–     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4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+     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5   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= 0</a:t>
                </a:r>
              </a:p>
            </p:txBody>
          </p:sp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B713BAA6-01A3-45BC-C805-B8841A5F6E6A}"/>
                  </a:ext>
                </a:extLst>
              </p:cNvPr>
              <p:cNvSpPr txBox="1"/>
              <p:nvPr/>
            </p:nvSpPr>
            <p:spPr>
              <a:xfrm>
                <a:off x="394459" y="1514400"/>
                <a:ext cx="45742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20I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1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+12I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2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3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+ 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4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 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5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= 24</a:t>
                </a:r>
              </a:p>
            </p:txBody>
          </p:sp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D7F5650E-F84C-5604-8A40-813197B41EBA}"/>
                  </a:ext>
                </a:extLst>
              </p:cNvPr>
              <p:cNvSpPr txBox="1"/>
              <p:nvPr/>
            </p:nvSpPr>
            <p:spPr>
              <a:xfrm>
                <a:off x="574452" y="1943139"/>
                <a:ext cx="42987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1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- 12I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2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- 18I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3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+ 16I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4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  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5  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= 0</a:t>
                </a:r>
              </a:p>
            </p:txBody>
          </p:sp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B8DA7674-FA99-C86A-1937-B42C20A9233C}"/>
                  </a:ext>
                </a:extLst>
              </p:cNvPr>
              <p:cNvSpPr txBox="1"/>
              <p:nvPr/>
            </p:nvSpPr>
            <p:spPr>
              <a:xfrm>
                <a:off x="574452" y="2402674"/>
                <a:ext cx="4521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1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2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3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-  16I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4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-     24I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5 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= -30</a:t>
                </a:r>
              </a:p>
            </p:txBody>
          </p:sp>
        </p:grpSp>
        <p:sp>
          <p:nvSpPr>
            <p:cNvPr id="24" name="Abrir llave 23">
              <a:extLst>
                <a:ext uri="{FF2B5EF4-FFF2-40B4-BE49-F238E27FC236}">
                  <a16:creationId xmlns:a16="http://schemas.microsoft.com/office/drawing/2014/main" id="{1354134C-1CF8-7C14-277A-F4997EBB0E6B}"/>
                </a:ext>
              </a:extLst>
            </p:cNvPr>
            <p:cNvSpPr/>
            <p:nvPr/>
          </p:nvSpPr>
          <p:spPr>
            <a:xfrm>
              <a:off x="6652443" y="3738296"/>
              <a:ext cx="165750" cy="2590549"/>
            </a:xfrm>
            <a:prstGeom prst="leftBrace">
              <a:avLst/>
            </a:prstGeom>
            <a:ln w="635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502E7FA6-F791-E002-A5AA-50DF3FB58023}"/>
              </a:ext>
            </a:extLst>
          </p:cNvPr>
          <p:cNvGrpSpPr/>
          <p:nvPr/>
        </p:nvGrpSpPr>
        <p:grpSpPr>
          <a:xfrm>
            <a:off x="495303" y="3489208"/>
            <a:ext cx="5340908" cy="1874068"/>
            <a:chOff x="495303" y="3429000"/>
            <a:chExt cx="5340908" cy="1754326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84DBB7BF-B488-1241-7BFB-55CDFE970EFE}"/>
                </a:ext>
              </a:extLst>
            </p:cNvPr>
            <p:cNvSpPr txBox="1"/>
            <p:nvPr/>
          </p:nvSpPr>
          <p:spPr>
            <a:xfrm>
              <a:off x="538845" y="3429000"/>
              <a:ext cx="529736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TI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1         -1         0         0         0           0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          0        -1        -1         1           0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20        12          0         0         0          24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       -12       -18       16         0           0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          0          0      -16      -24        -30</a:t>
              </a:r>
            </a:p>
          </p:txBody>
        </p:sp>
        <p:sp>
          <p:nvSpPr>
            <p:cNvPr id="5" name="Corchetes 4">
              <a:extLst>
                <a:ext uri="{FF2B5EF4-FFF2-40B4-BE49-F238E27FC236}">
                  <a16:creationId xmlns:a16="http://schemas.microsoft.com/office/drawing/2014/main" id="{4F787A0F-0BE3-10BD-E8FD-BE701CF32731}"/>
                </a:ext>
              </a:extLst>
            </p:cNvPr>
            <p:cNvSpPr/>
            <p:nvPr/>
          </p:nvSpPr>
          <p:spPr>
            <a:xfrm>
              <a:off x="495303" y="3768672"/>
              <a:ext cx="5297366" cy="1414653"/>
            </a:xfrm>
            <a:prstGeom prst="bracketPair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047FA7B7-946C-156E-A471-10A5326BF70C}"/>
              </a:ext>
            </a:extLst>
          </p:cNvPr>
          <p:cNvSpPr txBox="1"/>
          <p:nvPr/>
        </p:nvSpPr>
        <p:spPr>
          <a:xfrm>
            <a:off x="6096000" y="3431922"/>
            <a:ext cx="5535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dirty="0"/>
              <a:t>Recordemos que buscamos convertir la matriz en una matriz triangular superior, por ello lo mejor es acomodar las filas que lo favorezca, por ello intercambiaremos la fila 2 con la fila 3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801A05C-96D7-232D-3036-362653FBF3C9}"/>
              </a:ext>
            </a:extLst>
          </p:cNvPr>
          <p:cNvGrpSpPr/>
          <p:nvPr/>
        </p:nvGrpSpPr>
        <p:grpSpPr>
          <a:xfrm>
            <a:off x="6399333" y="4655940"/>
            <a:ext cx="5340908" cy="1874067"/>
            <a:chOff x="495303" y="3429000"/>
            <a:chExt cx="5340908" cy="1754325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413D59B9-A456-8BC3-B78A-FCFA3B270FC3}"/>
                </a:ext>
              </a:extLst>
            </p:cNvPr>
            <p:cNvSpPr txBox="1"/>
            <p:nvPr/>
          </p:nvSpPr>
          <p:spPr>
            <a:xfrm>
              <a:off x="538845" y="3429000"/>
              <a:ext cx="5297366" cy="1642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TI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1         -1         0         0         0           0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20        12          0         0         0          24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          0        -1        -1         1           0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       -12       -18       16         0           0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          0          0      -16      -24        -30</a:t>
              </a:r>
            </a:p>
          </p:txBody>
        </p:sp>
        <p:sp>
          <p:nvSpPr>
            <p:cNvPr id="25" name="Corchetes 24">
              <a:extLst>
                <a:ext uri="{FF2B5EF4-FFF2-40B4-BE49-F238E27FC236}">
                  <a16:creationId xmlns:a16="http://schemas.microsoft.com/office/drawing/2014/main" id="{EDDF40D1-26CD-B69E-D2F9-5C9C1E353D7B}"/>
                </a:ext>
              </a:extLst>
            </p:cNvPr>
            <p:cNvSpPr/>
            <p:nvPr/>
          </p:nvSpPr>
          <p:spPr>
            <a:xfrm>
              <a:off x="495303" y="3768672"/>
              <a:ext cx="5297366" cy="1414653"/>
            </a:xfrm>
            <a:prstGeom prst="bracketPair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</p:spTree>
    <p:extLst>
      <p:ext uri="{BB962C8B-B14F-4D97-AF65-F5344CB8AC3E}">
        <p14:creationId xmlns:p14="http://schemas.microsoft.com/office/powerpoint/2010/main" val="531554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D8CF4E38-FCD3-E4F9-C624-D0DA3CF7C0CC}"/>
              </a:ext>
            </a:extLst>
          </p:cNvPr>
          <p:cNvSpPr/>
          <p:nvPr/>
        </p:nvSpPr>
        <p:spPr>
          <a:xfrm>
            <a:off x="394459" y="86631"/>
            <a:ext cx="1140308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Paso 6: Resolvemos el sistema de ecuaciones por cualquier método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9040D9-2DDF-A8E3-D335-ED1A41F0B894}"/>
              </a:ext>
            </a:extLst>
          </p:cNvPr>
          <p:cNvSpPr txBox="1"/>
          <p:nvPr/>
        </p:nvSpPr>
        <p:spPr>
          <a:xfrm>
            <a:off x="538845" y="1108320"/>
            <a:ext cx="52973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sz="2000" dirty="0"/>
              <a:t>Para aplicar el método de gauss primero debemos convertir el sistema de ecuaciones en una matriz, para ellos indicaremos el coeficiente de cada variable como parte de la matriz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D1858E3-0E38-09FB-260E-C11D72D1F7B9}"/>
              </a:ext>
            </a:extLst>
          </p:cNvPr>
          <p:cNvGrpSpPr/>
          <p:nvPr/>
        </p:nvGrpSpPr>
        <p:grpSpPr>
          <a:xfrm>
            <a:off x="6355791" y="722141"/>
            <a:ext cx="4815805" cy="2590549"/>
            <a:chOff x="6652443" y="3738296"/>
            <a:chExt cx="4815805" cy="2590549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B81AFBF5-87FD-D1E8-537C-01E215E2B5FD}"/>
                </a:ext>
              </a:extLst>
            </p:cNvPr>
            <p:cNvGrpSpPr/>
            <p:nvPr/>
          </p:nvGrpSpPr>
          <p:grpSpPr>
            <a:xfrm>
              <a:off x="6767015" y="3917604"/>
              <a:ext cx="4701233" cy="2145880"/>
              <a:chOff x="394459" y="626126"/>
              <a:chExt cx="4701233" cy="2145880"/>
            </a:xfrm>
          </p:grpSpPr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73A9B5B9-7452-EA34-6798-27701179504F}"/>
                  </a:ext>
                </a:extLst>
              </p:cNvPr>
              <p:cNvSpPr txBox="1"/>
              <p:nvPr/>
            </p:nvSpPr>
            <p:spPr>
              <a:xfrm>
                <a:off x="394459" y="626126"/>
                <a:ext cx="45742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 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1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–   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2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+    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3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+ 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4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+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5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 = 0</a:t>
                </a:r>
              </a:p>
            </p:txBody>
          </p:sp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B9E5787-46B5-5E63-41BC-9ED6F261F2B9}"/>
                  </a:ext>
                </a:extLst>
              </p:cNvPr>
              <p:cNvSpPr txBox="1"/>
              <p:nvPr/>
            </p:nvSpPr>
            <p:spPr>
              <a:xfrm>
                <a:off x="394459" y="1122585"/>
                <a:ext cx="45742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1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2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-    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3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–     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4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+     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5   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= 0</a:t>
                </a:r>
              </a:p>
            </p:txBody>
          </p:sp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B713BAA6-01A3-45BC-C805-B8841A5F6E6A}"/>
                  </a:ext>
                </a:extLst>
              </p:cNvPr>
              <p:cNvSpPr txBox="1"/>
              <p:nvPr/>
            </p:nvSpPr>
            <p:spPr>
              <a:xfrm>
                <a:off x="394459" y="1514400"/>
                <a:ext cx="45742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20I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1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+12I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2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3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+ 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4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 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5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= 24</a:t>
                </a:r>
              </a:p>
            </p:txBody>
          </p:sp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D7F5650E-F84C-5604-8A40-813197B41EBA}"/>
                  </a:ext>
                </a:extLst>
              </p:cNvPr>
              <p:cNvSpPr txBox="1"/>
              <p:nvPr/>
            </p:nvSpPr>
            <p:spPr>
              <a:xfrm>
                <a:off x="574452" y="1943139"/>
                <a:ext cx="42987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1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- 12I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2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- 18I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3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+ 16I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4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  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5  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= 0</a:t>
                </a:r>
              </a:p>
            </p:txBody>
          </p:sp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B8DA7674-FA99-C86A-1937-B42C20A9233C}"/>
                  </a:ext>
                </a:extLst>
              </p:cNvPr>
              <p:cNvSpPr txBox="1"/>
              <p:nvPr/>
            </p:nvSpPr>
            <p:spPr>
              <a:xfrm>
                <a:off x="574452" y="2402674"/>
                <a:ext cx="45212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1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2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+  0I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3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-  16I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4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-     24I</a:t>
                </a:r>
                <a:r>
                  <a:rPr lang="es-NI" baseline="-25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5  </a:t>
                </a:r>
                <a:r>
                  <a:rPr lang="es-NI" dirty="0">
                    <a:latin typeface="Verdana" panose="020B0604030504040204" pitchFamily="34" charset="0"/>
                    <a:ea typeface="Verdana" panose="020B0604030504040204" pitchFamily="34" charset="0"/>
                  </a:rPr>
                  <a:t>= -30</a:t>
                </a:r>
              </a:p>
            </p:txBody>
          </p:sp>
        </p:grpSp>
        <p:sp>
          <p:nvSpPr>
            <p:cNvPr id="24" name="Abrir llave 23">
              <a:extLst>
                <a:ext uri="{FF2B5EF4-FFF2-40B4-BE49-F238E27FC236}">
                  <a16:creationId xmlns:a16="http://schemas.microsoft.com/office/drawing/2014/main" id="{1354134C-1CF8-7C14-277A-F4997EBB0E6B}"/>
                </a:ext>
              </a:extLst>
            </p:cNvPr>
            <p:cNvSpPr/>
            <p:nvPr/>
          </p:nvSpPr>
          <p:spPr>
            <a:xfrm>
              <a:off x="6652443" y="3738296"/>
              <a:ext cx="165750" cy="2590549"/>
            </a:xfrm>
            <a:prstGeom prst="leftBrace">
              <a:avLst/>
            </a:prstGeom>
            <a:ln w="635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502E7FA6-F791-E002-A5AA-50DF3FB58023}"/>
              </a:ext>
            </a:extLst>
          </p:cNvPr>
          <p:cNvGrpSpPr/>
          <p:nvPr/>
        </p:nvGrpSpPr>
        <p:grpSpPr>
          <a:xfrm>
            <a:off x="495303" y="3489208"/>
            <a:ext cx="5340908" cy="1874068"/>
            <a:chOff x="495303" y="3429000"/>
            <a:chExt cx="5340908" cy="1754326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84DBB7BF-B488-1241-7BFB-55CDFE970EFE}"/>
                </a:ext>
              </a:extLst>
            </p:cNvPr>
            <p:cNvSpPr txBox="1"/>
            <p:nvPr/>
          </p:nvSpPr>
          <p:spPr>
            <a:xfrm>
              <a:off x="538845" y="3429000"/>
              <a:ext cx="529736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TI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1         -1         0         0         0           0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          0        -1        -1         1           0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20        12          0         0         0          24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       -12       -18       16         0           0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          0          0      -16      -24        -30</a:t>
              </a:r>
            </a:p>
          </p:txBody>
        </p:sp>
        <p:sp>
          <p:nvSpPr>
            <p:cNvPr id="5" name="Corchetes 4">
              <a:extLst>
                <a:ext uri="{FF2B5EF4-FFF2-40B4-BE49-F238E27FC236}">
                  <a16:creationId xmlns:a16="http://schemas.microsoft.com/office/drawing/2014/main" id="{4F787A0F-0BE3-10BD-E8FD-BE701CF32731}"/>
                </a:ext>
              </a:extLst>
            </p:cNvPr>
            <p:cNvSpPr/>
            <p:nvPr/>
          </p:nvSpPr>
          <p:spPr>
            <a:xfrm>
              <a:off x="495303" y="3768672"/>
              <a:ext cx="5297366" cy="1414653"/>
            </a:xfrm>
            <a:prstGeom prst="bracketPair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047FA7B7-946C-156E-A471-10A5326BF70C}"/>
              </a:ext>
            </a:extLst>
          </p:cNvPr>
          <p:cNvSpPr txBox="1"/>
          <p:nvPr/>
        </p:nvSpPr>
        <p:spPr>
          <a:xfrm>
            <a:off x="6096000" y="3431922"/>
            <a:ext cx="5535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NI" dirty="0"/>
              <a:t>Recordemos que buscamos convertir la matriz en una matriz triangular superior, por ello lo mejor es acomodar las filas que lo favorezca, por ello intercambiaremos la fila 2 con la fila 3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801A05C-96D7-232D-3036-362653FBF3C9}"/>
              </a:ext>
            </a:extLst>
          </p:cNvPr>
          <p:cNvGrpSpPr/>
          <p:nvPr/>
        </p:nvGrpSpPr>
        <p:grpSpPr>
          <a:xfrm>
            <a:off x="6399333" y="4655940"/>
            <a:ext cx="5340908" cy="1874067"/>
            <a:chOff x="495303" y="3429000"/>
            <a:chExt cx="5340908" cy="1754325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413D59B9-A456-8BC3-B78A-FCFA3B270FC3}"/>
                </a:ext>
              </a:extLst>
            </p:cNvPr>
            <p:cNvSpPr txBox="1"/>
            <p:nvPr/>
          </p:nvSpPr>
          <p:spPr>
            <a:xfrm>
              <a:off x="538845" y="3429000"/>
              <a:ext cx="5297366" cy="1642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1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2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3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4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I</a:t>
              </a:r>
              <a:r>
                <a:rPr lang="es-NI" b="1" baseline="-25000" dirty="0">
                  <a:latin typeface="Verdana" panose="020B0604030504040204" pitchFamily="34" charset="0"/>
                  <a:ea typeface="Verdana" panose="020B0604030504040204" pitchFamily="34" charset="0"/>
                </a:rPr>
                <a:t>5</a:t>
              </a:r>
              <a:r>
                <a:rPr lang="es-NI" b="1" dirty="0">
                  <a:latin typeface="Verdana" panose="020B0604030504040204" pitchFamily="34" charset="0"/>
                  <a:ea typeface="Verdana" panose="020B0604030504040204" pitchFamily="34" charset="0"/>
                </a:rPr>
                <a:t>	TI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1         -1         0         0         0           0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20        12          0         0         0          24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          0        -1        -1         1           0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       -12       -18       16         0           0</a:t>
              </a:r>
            </a:p>
            <a:p>
              <a:pPr algn="just"/>
              <a:r>
                <a:rPr lang="es-NI" dirty="0">
                  <a:latin typeface="Verdana" panose="020B0604030504040204" pitchFamily="34" charset="0"/>
                  <a:ea typeface="Verdana" panose="020B0604030504040204" pitchFamily="34" charset="0"/>
                </a:rPr>
                <a:t>  0          0          0      -16      -24        -30</a:t>
              </a:r>
            </a:p>
          </p:txBody>
        </p:sp>
        <p:sp>
          <p:nvSpPr>
            <p:cNvPr id="25" name="Corchetes 24">
              <a:extLst>
                <a:ext uri="{FF2B5EF4-FFF2-40B4-BE49-F238E27FC236}">
                  <a16:creationId xmlns:a16="http://schemas.microsoft.com/office/drawing/2014/main" id="{EDDF40D1-26CD-B69E-D2F9-5C9C1E353D7B}"/>
                </a:ext>
              </a:extLst>
            </p:cNvPr>
            <p:cNvSpPr/>
            <p:nvPr/>
          </p:nvSpPr>
          <p:spPr>
            <a:xfrm>
              <a:off x="495303" y="3768672"/>
              <a:ext cx="5297366" cy="1414653"/>
            </a:xfrm>
            <a:prstGeom prst="bracketPair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</p:grpSp>
    </p:spTree>
    <p:extLst>
      <p:ext uri="{BB962C8B-B14F-4D97-AF65-F5344CB8AC3E}">
        <p14:creationId xmlns:p14="http://schemas.microsoft.com/office/powerpoint/2010/main" val="3288392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2318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2319</Words>
  <Application>Microsoft Office PowerPoint</Application>
  <PresentationFormat>Panorámica</PresentationFormat>
  <Paragraphs>291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4</cp:revision>
  <dcterms:created xsi:type="dcterms:W3CDTF">2022-09-09T15:47:18Z</dcterms:created>
  <dcterms:modified xsi:type="dcterms:W3CDTF">2022-09-10T03:48:35Z</dcterms:modified>
</cp:coreProperties>
</file>