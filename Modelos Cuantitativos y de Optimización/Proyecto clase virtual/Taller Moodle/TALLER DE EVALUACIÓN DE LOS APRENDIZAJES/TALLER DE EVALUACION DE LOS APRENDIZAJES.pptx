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9" r:id="rId2"/>
  </p:sldMasterIdLst>
  <p:notesMasterIdLst>
    <p:notesMasterId r:id="rId26"/>
  </p:notesMasterIdLst>
  <p:handoutMasterIdLst>
    <p:handoutMasterId r:id="rId27"/>
  </p:handoutMasterIdLst>
  <p:sldIdLst>
    <p:sldId id="265" r:id="rId3"/>
    <p:sldId id="307" r:id="rId4"/>
    <p:sldId id="308" r:id="rId5"/>
    <p:sldId id="327" r:id="rId6"/>
    <p:sldId id="309" r:id="rId7"/>
    <p:sldId id="315" r:id="rId8"/>
    <p:sldId id="316" r:id="rId9"/>
    <p:sldId id="317" r:id="rId10"/>
    <p:sldId id="318" r:id="rId11"/>
    <p:sldId id="319" r:id="rId12"/>
    <p:sldId id="323" r:id="rId13"/>
    <p:sldId id="324" r:id="rId14"/>
    <p:sldId id="328" r:id="rId15"/>
    <p:sldId id="329" r:id="rId16"/>
    <p:sldId id="325" r:id="rId17"/>
    <p:sldId id="326" r:id="rId18"/>
    <p:sldId id="310" r:id="rId19"/>
    <p:sldId id="320" r:id="rId20"/>
    <p:sldId id="321" r:id="rId21"/>
    <p:sldId id="322" r:id="rId22"/>
    <p:sldId id="311" r:id="rId23"/>
    <p:sldId id="312" r:id="rId24"/>
    <p:sldId id="313" r:id="rId2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-196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8E0DB-DFDD-4330-B623-67CFE037C970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NI"/>
        </a:p>
      </dgm:t>
    </dgm:pt>
    <dgm:pt modelId="{82E4B179-9414-4B8C-9F35-8E6E413E6FE6}">
      <dgm:prSet custT="1"/>
      <dgm:spPr/>
      <dgm:t>
        <a:bodyPr/>
        <a:lstStyle/>
        <a:p>
          <a:r>
            <a:rPr lang="es-NI" sz="2400" dirty="0"/>
            <a:t>¿Para qué hacemos evaluaciones a nuestros estudiantes?</a:t>
          </a:r>
        </a:p>
      </dgm:t>
    </dgm:pt>
    <dgm:pt modelId="{C299F716-EB68-44F1-BA0B-91C3365496C7}" type="parTrans" cxnId="{52340524-0421-4A7F-B2D7-A0BA519448E4}">
      <dgm:prSet/>
      <dgm:spPr/>
      <dgm:t>
        <a:bodyPr/>
        <a:lstStyle/>
        <a:p>
          <a:endParaRPr lang="es-NI"/>
        </a:p>
      </dgm:t>
    </dgm:pt>
    <dgm:pt modelId="{5C005877-4C67-446E-8DB3-32E18962DB19}" type="sibTrans" cxnId="{52340524-0421-4A7F-B2D7-A0BA519448E4}">
      <dgm:prSet/>
      <dgm:spPr/>
      <dgm:t>
        <a:bodyPr/>
        <a:lstStyle/>
        <a:p>
          <a:endParaRPr lang="es-NI"/>
        </a:p>
      </dgm:t>
    </dgm:pt>
    <dgm:pt modelId="{71A0EE05-3D8F-431E-8B02-E772102FE0D0}">
      <dgm:prSet/>
      <dgm:spPr/>
      <dgm:t>
        <a:bodyPr/>
        <a:lstStyle/>
        <a:p>
          <a:r>
            <a:rPr lang="es-NI" dirty="0"/>
            <a:t>¿Qué dice nuestro reglamento sobre las formas en que debemos evaluar los aprendizajes de nuestros estudiantes?</a:t>
          </a:r>
        </a:p>
      </dgm:t>
    </dgm:pt>
    <dgm:pt modelId="{EB1B375F-90E7-44C0-8157-FB07DA35535F}" type="parTrans" cxnId="{D27FC6F8-C3EE-42F8-94F1-6B6589737B23}">
      <dgm:prSet/>
      <dgm:spPr/>
      <dgm:t>
        <a:bodyPr/>
        <a:lstStyle/>
        <a:p>
          <a:endParaRPr lang="es-NI"/>
        </a:p>
      </dgm:t>
    </dgm:pt>
    <dgm:pt modelId="{1834FE02-85CE-4420-8EEC-3AD849BAAC47}" type="sibTrans" cxnId="{D27FC6F8-C3EE-42F8-94F1-6B6589737B23}">
      <dgm:prSet/>
      <dgm:spPr/>
      <dgm:t>
        <a:bodyPr/>
        <a:lstStyle/>
        <a:p>
          <a:endParaRPr lang="es-NI"/>
        </a:p>
      </dgm:t>
    </dgm:pt>
    <dgm:pt modelId="{823EEAD1-559D-49C6-B6BD-1AE84FB47836}">
      <dgm:prSet/>
      <dgm:spPr/>
      <dgm:t>
        <a:bodyPr/>
        <a:lstStyle/>
        <a:p>
          <a:r>
            <a:rPr lang="es-NI" dirty="0"/>
            <a:t>¿Estamos seguros de evaluar cumpliendo el reglamento aprobado en nuestra institución?</a:t>
          </a:r>
        </a:p>
      </dgm:t>
    </dgm:pt>
    <dgm:pt modelId="{1927EDDF-C808-4637-8C92-BCDAC288F79D}" type="parTrans" cxnId="{E53304A2-4AE3-46B5-B178-5BD58E0A9107}">
      <dgm:prSet/>
      <dgm:spPr/>
      <dgm:t>
        <a:bodyPr/>
        <a:lstStyle/>
        <a:p>
          <a:endParaRPr lang="es-NI"/>
        </a:p>
      </dgm:t>
    </dgm:pt>
    <dgm:pt modelId="{9A224C9D-6E02-4583-8521-6263C2D9E10B}" type="sibTrans" cxnId="{E53304A2-4AE3-46B5-B178-5BD58E0A9107}">
      <dgm:prSet/>
      <dgm:spPr/>
      <dgm:t>
        <a:bodyPr/>
        <a:lstStyle/>
        <a:p>
          <a:endParaRPr lang="es-NI"/>
        </a:p>
      </dgm:t>
    </dgm:pt>
    <dgm:pt modelId="{38286326-0AC9-45E9-8BC0-D93D23C0DD81}">
      <dgm:prSet/>
      <dgm:spPr/>
      <dgm:t>
        <a:bodyPr/>
        <a:lstStyle/>
        <a:p>
          <a:r>
            <a:rPr lang="es-NI" dirty="0"/>
            <a:t>¿Evaluamos conocimientos, actitudes y valores que han aprendido nuestros estudiantes? ¿Evaluamos de forma objetiva?</a:t>
          </a:r>
        </a:p>
      </dgm:t>
    </dgm:pt>
    <dgm:pt modelId="{5AFB9AE7-076E-4842-B688-7A92ACC5C233}" type="parTrans" cxnId="{DE38123F-54DE-4A03-A8F0-2205EDA09C1B}">
      <dgm:prSet/>
      <dgm:spPr/>
      <dgm:t>
        <a:bodyPr/>
        <a:lstStyle/>
        <a:p>
          <a:endParaRPr lang="es-NI"/>
        </a:p>
      </dgm:t>
    </dgm:pt>
    <dgm:pt modelId="{A41D28EE-C55A-438B-9378-684FEDE81FCF}" type="sibTrans" cxnId="{DE38123F-54DE-4A03-A8F0-2205EDA09C1B}">
      <dgm:prSet/>
      <dgm:spPr/>
      <dgm:t>
        <a:bodyPr/>
        <a:lstStyle/>
        <a:p>
          <a:endParaRPr lang="es-NI"/>
        </a:p>
      </dgm:t>
    </dgm:pt>
    <dgm:pt modelId="{3056BFA7-E325-439F-8996-D8817413E245}" type="pres">
      <dgm:prSet presAssocID="{8C58E0DB-DFDD-4330-B623-67CFE037C970}" presName="linear" presStyleCnt="0">
        <dgm:presLayoutVars>
          <dgm:animLvl val="lvl"/>
          <dgm:resizeHandles val="exact"/>
        </dgm:presLayoutVars>
      </dgm:prSet>
      <dgm:spPr/>
    </dgm:pt>
    <dgm:pt modelId="{3F80D7B6-2D69-411C-9D7C-6BCA864498CC}" type="pres">
      <dgm:prSet presAssocID="{82E4B179-9414-4B8C-9F35-8E6E413E6FE6}" presName="parentText" presStyleLbl="node1" presStyleIdx="0" presStyleCnt="4" custLinFactY="-21214" custLinFactNeighborY="-100000">
        <dgm:presLayoutVars>
          <dgm:chMax val="0"/>
          <dgm:bulletEnabled val="1"/>
        </dgm:presLayoutVars>
      </dgm:prSet>
      <dgm:spPr/>
    </dgm:pt>
    <dgm:pt modelId="{101F937C-0D7A-4DF5-B06E-6A59E1DB2BBE}" type="pres">
      <dgm:prSet presAssocID="{5C005877-4C67-446E-8DB3-32E18962DB19}" presName="spacer" presStyleCnt="0"/>
      <dgm:spPr/>
    </dgm:pt>
    <dgm:pt modelId="{93F3A1B9-2901-4F30-AFFE-F873504A17CB}" type="pres">
      <dgm:prSet presAssocID="{71A0EE05-3D8F-431E-8B02-E772102FE0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4EF43E-577F-4E96-9A2D-3D05D0425A1E}" type="pres">
      <dgm:prSet presAssocID="{1834FE02-85CE-4420-8EEC-3AD849BAAC47}" presName="spacer" presStyleCnt="0"/>
      <dgm:spPr/>
    </dgm:pt>
    <dgm:pt modelId="{970E680A-36BE-415A-BBFA-CCC4C72060A0}" type="pres">
      <dgm:prSet presAssocID="{823EEAD1-559D-49C6-B6BD-1AE84FB478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EE3243-0F95-41AB-9870-714CD20811AF}" type="pres">
      <dgm:prSet presAssocID="{9A224C9D-6E02-4583-8521-6263C2D9E10B}" presName="spacer" presStyleCnt="0"/>
      <dgm:spPr/>
    </dgm:pt>
    <dgm:pt modelId="{9E5735CD-9DA5-4123-92A8-6F590A1B0E13}" type="pres">
      <dgm:prSet presAssocID="{38286326-0AC9-45E9-8BC0-D93D23C0DD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094721-B648-4E03-8931-394607302EA7}" type="presOf" srcId="{823EEAD1-559D-49C6-B6BD-1AE84FB47836}" destId="{970E680A-36BE-415A-BBFA-CCC4C72060A0}" srcOrd="0" destOrd="0" presId="urn:microsoft.com/office/officeart/2005/8/layout/vList2"/>
    <dgm:cxn modelId="{52340524-0421-4A7F-B2D7-A0BA519448E4}" srcId="{8C58E0DB-DFDD-4330-B623-67CFE037C970}" destId="{82E4B179-9414-4B8C-9F35-8E6E413E6FE6}" srcOrd="0" destOrd="0" parTransId="{C299F716-EB68-44F1-BA0B-91C3365496C7}" sibTransId="{5C005877-4C67-446E-8DB3-32E18962DB19}"/>
    <dgm:cxn modelId="{DE38123F-54DE-4A03-A8F0-2205EDA09C1B}" srcId="{8C58E0DB-DFDD-4330-B623-67CFE037C970}" destId="{38286326-0AC9-45E9-8BC0-D93D23C0DD81}" srcOrd="3" destOrd="0" parTransId="{5AFB9AE7-076E-4842-B688-7A92ACC5C233}" sibTransId="{A41D28EE-C55A-438B-9378-684FEDE81FCF}"/>
    <dgm:cxn modelId="{7093DB5E-9813-4822-A03C-F896C222B370}" type="presOf" srcId="{38286326-0AC9-45E9-8BC0-D93D23C0DD81}" destId="{9E5735CD-9DA5-4123-92A8-6F590A1B0E13}" srcOrd="0" destOrd="0" presId="urn:microsoft.com/office/officeart/2005/8/layout/vList2"/>
    <dgm:cxn modelId="{B80C1E46-3573-41BF-9FCE-979DEBD2DCF4}" type="presOf" srcId="{82E4B179-9414-4B8C-9F35-8E6E413E6FE6}" destId="{3F80D7B6-2D69-411C-9D7C-6BCA864498CC}" srcOrd="0" destOrd="0" presId="urn:microsoft.com/office/officeart/2005/8/layout/vList2"/>
    <dgm:cxn modelId="{E53304A2-4AE3-46B5-B178-5BD58E0A9107}" srcId="{8C58E0DB-DFDD-4330-B623-67CFE037C970}" destId="{823EEAD1-559D-49C6-B6BD-1AE84FB47836}" srcOrd="2" destOrd="0" parTransId="{1927EDDF-C808-4637-8C92-BCDAC288F79D}" sibTransId="{9A224C9D-6E02-4583-8521-6263C2D9E10B}"/>
    <dgm:cxn modelId="{27B1EDC0-8018-4C1C-A014-2D3307B43EF3}" type="presOf" srcId="{8C58E0DB-DFDD-4330-B623-67CFE037C970}" destId="{3056BFA7-E325-439F-8996-D8817413E245}" srcOrd="0" destOrd="0" presId="urn:microsoft.com/office/officeart/2005/8/layout/vList2"/>
    <dgm:cxn modelId="{11DA1DC9-67A4-4162-B673-733B1E6A301C}" type="presOf" srcId="{71A0EE05-3D8F-431E-8B02-E772102FE0D0}" destId="{93F3A1B9-2901-4F30-AFFE-F873504A17CB}" srcOrd="0" destOrd="0" presId="urn:microsoft.com/office/officeart/2005/8/layout/vList2"/>
    <dgm:cxn modelId="{D27FC6F8-C3EE-42F8-94F1-6B6589737B23}" srcId="{8C58E0DB-DFDD-4330-B623-67CFE037C970}" destId="{71A0EE05-3D8F-431E-8B02-E772102FE0D0}" srcOrd="1" destOrd="0" parTransId="{EB1B375F-90E7-44C0-8157-FB07DA35535F}" sibTransId="{1834FE02-85CE-4420-8EEC-3AD849BAAC47}"/>
    <dgm:cxn modelId="{9FAC6B98-1676-4454-8F2A-00AB48B1F9E6}" type="presParOf" srcId="{3056BFA7-E325-439F-8996-D8817413E245}" destId="{3F80D7B6-2D69-411C-9D7C-6BCA864498CC}" srcOrd="0" destOrd="0" presId="urn:microsoft.com/office/officeart/2005/8/layout/vList2"/>
    <dgm:cxn modelId="{F7DF5146-7B71-4AAC-B86C-3FCF6C36EBAC}" type="presParOf" srcId="{3056BFA7-E325-439F-8996-D8817413E245}" destId="{101F937C-0D7A-4DF5-B06E-6A59E1DB2BBE}" srcOrd="1" destOrd="0" presId="urn:microsoft.com/office/officeart/2005/8/layout/vList2"/>
    <dgm:cxn modelId="{11090B03-AFB7-42B8-BB80-5E41C4E6ECEF}" type="presParOf" srcId="{3056BFA7-E325-439F-8996-D8817413E245}" destId="{93F3A1B9-2901-4F30-AFFE-F873504A17CB}" srcOrd="2" destOrd="0" presId="urn:microsoft.com/office/officeart/2005/8/layout/vList2"/>
    <dgm:cxn modelId="{321677CE-31A6-409A-8BD2-4A954EEF73B7}" type="presParOf" srcId="{3056BFA7-E325-439F-8996-D8817413E245}" destId="{214EF43E-577F-4E96-9A2D-3D05D0425A1E}" srcOrd="3" destOrd="0" presId="urn:microsoft.com/office/officeart/2005/8/layout/vList2"/>
    <dgm:cxn modelId="{EA2E4C20-C1A5-41CF-A9FC-7DF1AB709B9E}" type="presParOf" srcId="{3056BFA7-E325-439F-8996-D8817413E245}" destId="{970E680A-36BE-415A-BBFA-CCC4C72060A0}" srcOrd="4" destOrd="0" presId="urn:microsoft.com/office/officeart/2005/8/layout/vList2"/>
    <dgm:cxn modelId="{BA82A1DF-DD4C-492B-B4FB-164AB9B2639A}" type="presParOf" srcId="{3056BFA7-E325-439F-8996-D8817413E245}" destId="{65EE3243-0F95-41AB-9870-714CD20811AF}" srcOrd="5" destOrd="0" presId="urn:microsoft.com/office/officeart/2005/8/layout/vList2"/>
    <dgm:cxn modelId="{E6FF90CF-087D-485E-909D-618F11B1756E}" type="presParOf" srcId="{3056BFA7-E325-439F-8996-D8817413E245}" destId="{9E5735CD-9DA5-4123-92A8-6F590A1B0E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E75091-2031-421F-9858-282FBA2D99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NI"/>
        </a:p>
      </dgm:t>
    </dgm:pt>
    <dgm:pt modelId="{2974ABB9-9503-4AAC-8936-1EBF1672989C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1- Lo que dice nuestro reglamento sobre la evaluación de los aprendizajes.</a:t>
          </a:r>
        </a:p>
      </dgm:t>
    </dgm:pt>
    <dgm:pt modelId="{1B457C99-E2E2-4758-A376-F6267398D2E4}" type="parTrans" cxnId="{4AF3EAFE-6663-476F-85DE-A5AB54BAEA60}">
      <dgm:prSet/>
      <dgm:spPr/>
      <dgm:t>
        <a:bodyPr/>
        <a:lstStyle/>
        <a:p>
          <a:endParaRPr lang="es-NI"/>
        </a:p>
      </dgm:t>
    </dgm:pt>
    <dgm:pt modelId="{0D338BC0-3B94-417D-82CD-F009C7EA877B}" type="sibTrans" cxnId="{4AF3EAFE-6663-476F-85DE-A5AB54BAEA60}">
      <dgm:prSet/>
      <dgm:spPr/>
      <dgm:t>
        <a:bodyPr/>
        <a:lstStyle/>
        <a:p>
          <a:endParaRPr lang="es-NI"/>
        </a:p>
      </dgm:t>
    </dgm:pt>
    <dgm:pt modelId="{FBBB51AF-3957-4401-8892-A72B1C49CFCD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2- ¿Qué es lo que debe ser evaluado?</a:t>
          </a:r>
        </a:p>
      </dgm:t>
    </dgm:pt>
    <dgm:pt modelId="{A544D62E-A4BA-4A32-9ACD-7DC613678025}" type="parTrans" cxnId="{FE472984-60B4-439C-A00A-11B5C111DF6C}">
      <dgm:prSet/>
      <dgm:spPr/>
      <dgm:t>
        <a:bodyPr/>
        <a:lstStyle/>
        <a:p>
          <a:endParaRPr lang="es-NI"/>
        </a:p>
      </dgm:t>
    </dgm:pt>
    <dgm:pt modelId="{1497FD76-D9AE-4D55-99B2-F8CA112E3FB6}" type="sibTrans" cxnId="{FE472984-60B4-439C-A00A-11B5C111DF6C}">
      <dgm:prSet/>
      <dgm:spPr/>
      <dgm:t>
        <a:bodyPr/>
        <a:lstStyle/>
        <a:p>
          <a:endParaRPr lang="es-NI"/>
        </a:p>
      </dgm:t>
    </dgm:pt>
    <dgm:pt modelId="{F5E5469A-E9F1-41AF-985F-495CAFC808B7}" type="pres">
      <dgm:prSet presAssocID="{F3E75091-2031-421F-9858-282FBA2D997B}" presName="root" presStyleCnt="0">
        <dgm:presLayoutVars>
          <dgm:dir/>
          <dgm:resizeHandles val="exact"/>
        </dgm:presLayoutVars>
      </dgm:prSet>
      <dgm:spPr/>
    </dgm:pt>
    <dgm:pt modelId="{4CA0F799-2631-401B-9582-FF9D7F6A087C}" type="pres">
      <dgm:prSet presAssocID="{2974ABB9-9503-4AAC-8936-1EBF1672989C}" presName="compNode" presStyleCnt="0"/>
      <dgm:spPr/>
    </dgm:pt>
    <dgm:pt modelId="{D91988E6-1951-4EE6-A3E1-06B42451FF26}" type="pres">
      <dgm:prSet presAssocID="{2974ABB9-9503-4AAC-8936-1EBF1672989C}" presName="bgRect" presStyleLbl="bgShp" presStyleIdx="0" presStyleCnt="2"/>
      <dgm:spPr/>
    </dgm:pt>
    <dgm:pt modelId="{DC20E306-E08D-4EDD-990F-6D41F8841310}" type="pres">
      <dgm:prSet presAssocID="{2974ABB9-9503-4AAC-8936-1EBF167298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CA4E4F6-0C7B-43FA-9FD1-A52F284A0243}" type="pres">
      <dgm:prSet presAssocID="{2974ABB9-9503-4AAC-8936-1EBF1672989C}" presName="spaceRect" presStyleCnt="0"/>
      <dgm:spPr/>
    </dgm:pt>
    <dgm:pt modelId="{B7D8F23E-9A83-41CC-A0D2-06AA333EA08A}" type="pres">
      <dgm:prSet presAssocID="{2974ABB9-9503-4AAC-8936-1EBF1672989C}" presName="parTx" presStyleLbl="revTx" presStyleIdx="0" presStyleCnt="2">
        <dgm:presLayoutVars>
          <dgm:chMax val="0"/>
          <dgm:chPref val="0"/>
        </dgm:presLayoutVars>
      </dgm:prSet>
      <dgm:spPr/>
    </dgm:pt>
    <dgm:pt modelId="{1020AF32-572A-418A-8839-12A94148DE96}" type="pres">
      <dgm:prSet presAssocID="{0D338BC0-3B94-417D-82CD-F009C7EA877B}" presName="sibTrans" presStyleCnt="0"/>
      <dgm:spPr/>
    </dgm:pt>
    <dgm:pt modelId="{7116C28A-AB90-4517-ACDE-AA08E94AFAA5}" type="pres">
      <dgm:prSet presAssocID="{FBBB51AF-3957-4401-8892-A72B1C49CFCD}" presName="compNode" presStyleCnt="0"/>
      <dgm:spPr/>
    </dgm:pt>
    <dgm:pt modelId="{EC3131EC-DB2C-4B03-A9D5-77C8F41A4D6F}" type="pres">
      <dgm:prSet presAssocID="{FBBB51AF-3957-4401-8892-A72B1C49CFCD}" presName="bgRect" presStyleLbl="bgShp" presStyleIdx="1" presStyleCnt="2"/>
      <dgm:spPr/>
    </dgm:pt>
    <dgm:pt modelId="{3BC63455-B2C2-43B9-B9F6-FFE3ADFE8CE4}" type="pres">
      <dgm:prSet presAssocID="{FBBB51AF-3957-4401-8892-A72B1C49CFC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81AF1C2-93DA-4F94-94A6-7B190C0ADDE5}" type="pres">
      <dgm:prSet presAssocID="{FBBB51AF-3957-4401-8892-A72B1C49CFCD}" presName="spaceRect" presStyleCnt="0"/>
      <dgm:spPr/>
    </dgm:pt>
    <dgm:pt modelId="{A45CE3F0-9C45-4445-BE73-EEF102E24291}" type="pres">
      <dgm:prSet presAssocID="{FBBB51AF-3957-4401-8892-A72B1C49CFC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5F19C66-2082-44B6-8464-A12F673EAF47}" type="presOf" srcId="{FBBB51AF-3957-4401-8892-A72B1C49CFCD}" destId="{A45CE3F0-9C45-4445-BE73-EEF102E24291}" srcOrd="0" destOrd="0" presId="urn:microsoft.com/office/officeart/2018/2/layout/IconVerticalSolidList"/>
    <dgm:cxn modelId="{D2DEB54B-AD03-4D0B-AF37-E955FAB385AC}" type="presOf" srcId="{F3E75091-2031-421F-9858-282FBA2D997B}" destId="{F5E5469A-E9F1-41AF-985F-495CAFC808B7}" srcOrd="0" destOrd="0" presId="urn:microsoft.com/office/officeart/2018/2/layout/IconVerticalSolidList"/>
    <dgm:cxn modelId="{FE472984-60B4-439C-A00A-11B5C111DF6C}" srcId="{F3E75091-2031-421F-9858-282FBA2D997B}" destId="{FBBB51AF-3957-4401-8892-A72B1C49CFCD}" srcOrd="1" destOrd="0" parTransId="{A544D62E-A4BA-4A32-9ACD-7DC613678025}" sibTransId="{1497FD76-D9AE-4D55-99B2-F8CA112E3FB6}"/>
    <dgm:cxn modelId="{C434E7E3-E0BF-4E13-A999-6F5282B0C99B}" type="presOf" srcId="{2974ABB9-9503-4AAC-8936-1EBF1672989C}" destId="{B7D8F23E-9A83-41CC-A0D2-06AA333EA08A}" srcOrd="0" destOrd="0" presId="urn:microsoft.com/office/officeart/2018/2/layout/IconVerticalSolidList"/>
    <dgm:cxn modelId="{4AF3EAFE-6663-476F-85DE-A5AB54BAEA60}" srcId="{F3E75091-2031-421F-9858-282FBA2D997B}" destId="{2974ABB9-9503-4AAC-8936-1EBF1672989C}" srcOrd="0" destOrd="0" parTransId="{1B457C99-E2E2-4758-A376-F6267398D2E4}" sibTransId="{0D338BC0-3B94-417D-82CD-F009C7EA877B}"/>
    <dgm:cxn modelId="{A7CF9573-C66B-4D54-8186-ED8690351CB1}" type="presParOf" srcId="{F5E5469A-E9F1-41AF-985F-495CAFC808B7}" destId="{4CA0F799-2631-401B-9582-FF9D7F6A087C}" srcOrd="0" destOrd="0" presId="urn:microsoft.com/office/officeart/2018/2/layout/IconVerticalSolidList"/>
    <dgm:cxn modelId="{36AC7500-77AB-45C4-B40F-0263134E485E}" type="presParOf" srcId="{4CA0F799-2631-401B-9582-FF9D7F6A087C}" destId="{D91988E6-1951-4EE6-A3E1-06B42451FF26}" srcOrd="0" destOrd="0" presId="urn:microsoft.com/office/officeart/2018/2/layout/IconVerticalSolidList"/>
    <dgm:cxn modelId="{C7B8D60F-A055-4EB0-AF4D-23A0453AB199}" type="presParOf" srcId="{4CA0F799-2631-401B-9582-FF9D7F6A087C}" destId="{DC20E306-E08D-4EDD-990F-6D41F8841310}" srcOrd="1" destOrd="0" presId="urn:microsoft.com/office/officeart/2018/2/layout/IconVerticalSolidList"/>
    <dgm:cxn modelId="{EE49E746-FC29-4F0D-B107-6961D4A869D1}" type="presParOf" srcId="{4CA0F799-2631-401B-9582-FF9D7F6A087C}" destId="{DCA4E4F6-0C7B-43FA-9FD1-A52F284A0243}" srcOrd="2" destOrd="0" presId="urn:microsoft.com/office/officeart/2018/2/layout/IconVerticalSolidList"/>
    <dgm:cxn modelId="{4432D979-8DD0-4AD2-8B78-B1E5F5DD77CB}" type="presParOf" srcId="{4CA0F799-2631-401B-9582-FF9D7F6A087C}" destId="{B7D8F23E-9A83-41CC-A0D2-06AA333EA08A}" srcOrd="3" destOrd="0" presId="urn:microsoft.com/office/officeart/2018/2/layout/IconVerticalSolidList"/>
    <dgm:cxn modelId="{A3CEC99F-6E91-497E-A4DC-88C6AF46C53E}" type="presParOf" srcId="{F5E5469A-E9F1-41AF-985F-495CAFC808B7}" destId="{1020AF32-572A-418A-8839-12A94148DE96}" srcOrd="1" destOrd="0" presId="urn:microsoft.com/office/officeart/2018/2/layout/IconVerticalSolidList"/>
    <dgm:cxn modelId="{0FA53A26-AE60-4DC2-80E3-6A7BDEB22E92}" type="presParOf" srcId="{F5E5469A-E9F1-41AF-985F-495CAFC808B7}" destId="{7116C28A-AB90-4517-ACDE-AA08E94AFAA5}" srcOrd="2" destOrd="0" presId="urn:microsoft.com/office/officeart/2018/2/layout/IconVerticalSolidList"/>
    <dgm:cxn modelId="{48994AB6-D842-4B7E-9DD4-228105C77132}" type="presParOf" srcId="{7116C28A-AB90-4517-ACDE-AA08E94AFAA5}" destId="{EC3131EC-DB2C-4B03-A9D5-77C8F41A4D6F}" srcOrd="0" destOrd="0" presId="urn:microsoft.com/office/officeart/2018/2/layout/IconVerticalSolidList"/>
    <dgm:cxn modelId="{3DF8D4EE-A11C-4940-B37F-76883A92C4F2}" type="presParOf" srcId="{7116C28A-AB90-4517-ACDE-AA08E94AFAA5}" destId="{3BC63455-B2C2-43B9-B9F6-FFE3ADFE8CE4}" srcOrd="1" destOrd="0" presId="urn:microsoft.com/office/officeart/2018/2/layout/IconVerticalSolidList"/>
    <dgm:cxn modelId="{959A5E26-1707-418E-9A38-29FE633DC877}" type="presParOf" srcId="{7116C28A-AB90-4517-ACDE-AA08E94AFAA5}" destId="{281AF1C2-93DA-4F94-94A6-7B190C0ADDE5}" srcOrd="2" destOrd="0" presId="urn:microsoft.com/office/officeart/2018/2/layout/IconVerticalSolidList"/>
    <dgm:cxn modelId="{57AD7DCA-3273-486E-B680-D64F65A74E6E}" type="presParOf" srcId="{7116C28A-AB90-4517-ACDE-AA08E94AFAA5}" destId="{A45CE3F0-9C45-4445-BE73-EEF102E242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414320-92AC-496E-8C81-D4706F46C577}" type="doc">
      <dgm:prSet loTypeId="urn:microsoft.com/office/officeart/2005/8/layout/cycle2" loCatId="cycle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s-NI"/>
        </a:p>
      </dgm:t>
    </dgm:pt>
    <dgm:pt modelId="{0D615546-3EFB-4BC1-94C1-191383886B4E}">
      <dgm:prSet/>
      <dgm:spPr/>
      <dgm:t>
        <a:bodyPr/>
        <a:lstStyle/>
        <a:p>
          <a:r>
            <a:rPr lang="es-NI"/>
            <a:t>Conocimientos y habilidades vocacionales / técnicas</a:t>
          </a:r>
        </a:p>
      </dgm:t>
    </dgm:pt>
    <dgm:pt modelId="{CA568634-9EEC-4203-9DC5-ABBE19A297E6}" type="parTrans" cxnId="{55F8B360-F110-4D81-A805-BB943BECFD01}">
      <dgm:prSet/>
      <dgm:spPr/>
      <dgm:t>
        <a:bodyPr/>
        <a:lstStyle/>
        <a:p>
          <a:endParaRPr lang="es-NI"/>
        </a:p>
      </dgm:t>
    </dgm:pt>
    <dgm:pt modelId="{453CB493-8E63-4E17-B797-BAE9DF97927D}" type="sibTrans" cxnId="{55F8B360-F110-4D81-A805-BB943BECFD01}">
      <dgm:prSet/>
      <dgm:spPr/>
      <dgm:t>
        <a:bodyPr/>
        <a:lstStyle/>
        <a:p>
          <a:endParaRPr lang="es-NI"/>
        </a:p>
      </dgm:t>
    </dgm:pt>
    <dgm:pt modelId="{D016DCB4-EB2F-41DD-9997-33382D5748B4}">
      <dgm:prSet/>
      <dgm:spPr/>
      <dgm:t>
        <a:bodyPr/>
        <a:lstStyle/>
        <a:p>
          <a:r>
            <a:rPr lang="es-NI"/>
            <a:t>Conocimientos y habilidades comunes genéricas</a:t>
          </a:r>
        </a:p>
      </dgm:t>
    </dgm:pt>
    <dgm:pt modelId="{ABB43A56-5C80-498A-804F-A250F8393697}" type="parTrans" cxnId="{16F04332-BDEC-4C5D-9EB2-8EB1FE5B303B}">
      <dgm:prSet/>
      <dgm:spPr/>
      <dgm:t>
        <a:bodyPr/>
        <a:lstStyle/>
        <a:p>
          <a:endParaRPr lang="es-NI"/>
        </a:p>
      </dgm:t>
    </dgm:pt>
    <dgm:pt modelId="{042139AD-3B25-416F-9D4C-A9648669ECF8}" type="sibTrans" cxnId="{16F04332-BDEC-4C5D-9EB2-8EB1FE5B303B}">
      <dgm:prSet/>
      <dgm:spPr/>
      <dgm:t>
        <a:bodyPr/>
        <a:lstStyle/>
        <a:p>
          <a:endParaRPr lang="es-NI"/>
        </a:p>
      </dgm:t>
    </dgm:pt>
    <dgm:pt modelId="{BCB68AAF-C92E-4488-A9EB-777FD0502FAB}">
      <dgm:prSet/>
      <dgm:spPr/>
      <dgm:t>
        <a:bodyPr/>
        <a:lstStyle/>
        <a:p>
          <a:r>
            <a:rPr lang="es-NI"/>
            <a:t>Habilidades de empleabilidad</a:t>
          </a:r>
        </a:p>
      </dgm:t>
    </dgm:pt>
    <dgm:pt modelId="{7362629A-463A-478F-9A1E-78886CED28CE}" type="parTrans" cxnId="{055FA3F1-FC6F-47D2-9715-9868F935EB8B}">
      <dgm:prSet/>
      <dgm:spPr/>
      <dgm:t>
        <a:bodyPr/>
        <a:lstStyle/>
        <a:p>
          <a:endParaRPr lang="es-NI"/>
        </a:p>
      </dgm:t>
    </dgm:pt>
    <dgm:pt modelId="{E0BEDE7D-2323-40B0-A289-3D940A69AF7A}" type="sibTrans" cxnId="{055FA3F1-FC6F-47D2-9715-9868F935EB8B}">
      <dgm:prSet/>
      <dgm:spPr/>
      <dgm:t>
        <a:bodyPr/>
        <a:lstStyle/>
        <a:p>
          <a:endParaRPr lang="es-NI"/>
        </a:p>
      </dgm:t>
    </dgm:pt>
    <dgm:pt modelId="{B866E964-1A67-42A4-A5B3-7E4275C506AE}">
      <dgm:prSet/>
      <dgm:spPr/>
      <dgm:t>
        <a:bodyPr/>
        <a:lstStyle/>
        <a:p>
          <a:r>
            <a:rPr lang="es-NI"/>
            <a:t>Conductas del trabajador (actitudes)</a:t>
          </a:r>
        </a:p>
      </dgm:t>
    </dgm:pt>
    <dgm:pt modelId="{60C01D76-AFEB-4308-B6ED-EA3248564572}" type="parTrans" cxnId="{0A68758D-11F6-4E8A-9AEE-C8FD78BD7FC0}">
      <dgm:prSet/>
      <dgm:spPr/>
      <dgm:t>
        <a:bodyPr/>
        <a:lstStyle/>
        <a:p>
          <a:endParaRPr lang="es-NI"/>
        </a:p>
      </dgm:t>
    </dgm:pt>
    <dgm:pt modelId="{CB0905A5-05B4-499D-A38C-C818D0EE615E}" type="sibTrans" cxnId="{0A68758D-11F6-4E8A-9AEE-C8FD78BD7FC0}">
      <dgm:prSet/>
      <dgm:spPr/>
      <dgm:t>
        <a:bodyPr/>
        <a:lstStyle/>
        <a:p>
          <a:endParaRPr lang="es-NI"/>
        </a:p>
      </dgm:t>
    </dgm:pt>
    <dgm:pt modelId="{775758E0-7B4F-4E00-B2A1-2A88EFF11EE2}">
      <dgm:prSet/>
      <dgm:spPr/>
      <dgm:t>
        <a:bodyPr/>
        <a:lstStyle/>
        <a:p>
          <a:r>
            <a:rPr lang="es-NI"/>
            <a:t>Habilidades académicas básicas</a:t>
          </a:r>
        </a:p>
      </dgm:t>
    </dgm:pt>
    <dgm:pt modelId="{C1F0121D-5CB4-434F-803A-920AD9683A35}" type="parTrans" cxnId="{2BA60024-1873-4382-A8FF-88184B45A935}">
      <dgm:prSet/>
      <dgm:spPr/>
      <dgm:t>
        <a:bodyPr/>
        <a:lstStyle/>
        <a:p>
          <a:endParaRPr lang="es-NI"/>
        </a:p>
      </dgm:t>
    </dgm:pt>
    <dgm:pt modelId="{AC7745FE-E3BC-4EB9-B395-5C0031DF32F5}" type="sibTrans" cxnId="{2BA60024-1873-4382-A8FF-88184B45A935}">
      <dgm:prSet/>
      <dgm:spPr/>
      <dgm:t>
        <a:bodyPr/>
        <a:lstStyle/>
        <a:p>
          <a:endParaRPr lang="es-NI"/>
        </a:p>
      </dgm:t>
    </dgm:pt>
    <dgm:pt modelId="{2088EB86-2D60-448F-BD0A-5988E23087BD}" type="pres">
      <dgm:prSet presAssocID="{4D414320-92AC-496E-8C81-D4706F46C577}" presName="cycle" presStyleCnt="0">
        <dgm:presLayoutVars>
          <dgm:dir/>
          <dgm:resizeHandles val="exact"/>
        </dgm:presLayoutVars>
      </dgm:prSet>
      <dgm:spPr/>
    </dgm:pt>
    <dgm:pt modelId="{17C5CA37-27FE-44C9-BD98-5566EE3E2711}" type="pres">
      <dgm:prSet presAssocID="{0D615546-3EFB-4BC1-94C1-191383886B4E}" presName="node" presStyleLbl="node1" presStyleIdx="0" presStyleCnt="5">
        <dgm:presLayoutVars>
          <dgm:bulletEnabled val="1"/>
        </dgm:presLayoutVars>
      </dgm:prSet>
      <dgm:spPr/>
    </dgm:pt>
    <dgm:pt modelId="{12DF719D-6C81-46F0-A61C-FCC3C6BB9297}" type="pres">
      <dgm:prSet presAssocID="{453CB493-8E63-4E17-B797-BAE9DF97927D}" presName="sibTrans" presStyleLbl="sibTrans2D1" presStyleIdx="0" presStyleCnt="5"/>
      <dgm:spPr/>
    </dgm:pt>
    <dgm:pt modelId="{13BD2D47-9CB7-427F-84FC-9D4BE7EF1DD1}" type="pres">
      <dgm:prSet presAssocID="{453CB493-8E63-4E17-B797-BAE9DF97927D}" presName="connectorText" presStyleLbl="sibTrans2D1" presStyleIdx="0" presStyleCnt="5"/>
      <dgm:spPr/>
    </dgm:pt>
    <dgm:pt modelId="{F7EEBACA-6601-4311-9D84-5FA608B79356}" type="pres">
      <dgm:prSet presAssocID="{D016DCB4-EB2F-41DD-9997-33382D5748B4}" presName="node" presStyleLbl="node1" presStyleIdx="1" presStyleCnt="5">
        <dgm:presLayoutVars>
          <dgm:bulletEnabled val="1"/>
        </dgm:presLayoutVars>
      </dgm:prSet>
      <dgm:spPr/>
    </dgm:pt>
    <dgm:pt modelId="{36BFFE17-057E-4B74-B876-B64ABA7C70FC}" type="pres">
      <dgm:prSet presAssocID="{042139AD-3B25-416F-9D4C-A9648669ECF8}" presName="sibTrans" presStyleLbl="sibTrans2D1" presStyleIdx="1" presStyleCnt="5"/>
      <dgm:spPr/>
    </dgm:pt>
    <dgm:pt modelId="{7A6B52E7-EC3D-45F0-9BE8-3F1D24DA2498}" type="pres">
      <dgm:prSet presAssocID="{042139AD-3B25-416F-9D4C-A9648669ECF8}" presName="connectorText" presStyleLbl="sibTrans2D1" presStyleIdx="1" presStyleCnt="5"/>
      <dgm:spPr/>
    </dgm:pt>
    <dgm:pt modelId="{A21E8E7D-989C-4E15-9B30-4BA187E3FFDC}" type="pres">
      <dgm:prSet presAssocID="{BCB68AAF-C92E-4488-A9EB-777FD0502FAB}" presName="node" presStyleLbl="node1" presStyleIdx="2" presStyleCnt="5">
        <dgm:presLayoutVars>
          <dgm:bulletEnabled val="1"/>
        </dgm:presLayoutVars>
      </dgm:prSet>
      <dgm:spPr/>
    </dgm:pt>
    <dgm:pt modelId="{D9E6EF3B-A997-4947-B2E0-2E5F7FB03E15}" type="pres">
      <dgm:prSet presAssocID="{E0BEDE7D-2323-40B0-A289-3D940A69AF7A}" presName="sibTrans" presStyleLbl="sibTrans2D1" presStyleIdx="2" presStyleCnt="5"/>
      <dgm:spPr/>
    </dgm:pt>
    <dgm:pt modelId="{6197AB85-C4AD-4904-A5B6-107A2E51AD81}" type="pres">
      <dgm:prSet presAssocID="{E0BEDE7D-2323-40B0-A289-3D940A69AF7A}" presName="connectorText" presStyleLbl="sibTrans2D1" presStyleIdx="2" presStyleCnt="5"/>
      <dgm:spPr/>
    </dgm:pt>
    <dgm:pt modelId="{CE2F1BAA-A05F-43F1-B7BC-497B4FCEDF4C}" type="pres">
      <dgm:prSet presAssocID="{B866E964-1A67-42A4-A5B3-7E4275C506AE}" presName="node" presStyleLbl="node1" presStyleIdx="3" presStyleCnt="5">
        <dgm:presLayoutVars>
          <dgm:bulletEnabled val="1"/>
        </dgm:presLayoutVars>
      </dgm:prSet>
      <dgm:spPr/>
    </dgm:pt>
    <dgm:pt modelId="{66446C0B-BA92-4FF2-935A-04A7036FF923}" type="pres">
      <dgm:prSet presAssocID="{CB0905A5-05B4-499D-A38C-C818D0EE615E}" presName="sibTrans" presStyleLbl="sibTrans2D1" presStyleIdx="3" presStyleCnt="5"/>
      <dgm:spPr/>
    </dgm:pt>
    <dgm:pt modelId="{ABBE18EB-BF92-4C20-BF67-A4701490CB7D}" type="pres">
      <dgm:prSet presAssocID="{CB0905A5-05B4-499D-A38C-C818D0EE615E}" presName="connectorText" presStyleLbl="sibTrans2D1" presStyleIdx="3" presStyleCnt="5"/>
      <dgm:spPr/>
    </dgm:pt>
    <dgm:pt modelId="{F8311EBC-2C79-42E1-976C-E6EA491053EB}" type="pres">
      <dgm:prSet presAssocID="{775758E0-7B4F-4E00-B2A1-2A88EFF11EE2}" presName="node" presStyleLbl="node1" presStyleIdx="4" presStyleCnt="5">
        <dgm:presLayoutVars>
          <dgm:bulletEnabled val="1"/>
        </dgm:presLayoutVars>
      </dgm:prSet>
      <dgm:spPr/>
    </dgm:pt>
    <dgm:pt modelId="{B121D221-F20B-4FBE-8603-FEB56F25CBB8}" type="pres">
      <dgm:prSet presAssocID="{AC7745FE-E3BC-4EB9-B395-5C0031DF32F5}" presName="sibTrans" presStyleLbl="sibTrans2D1" presStyleIdx="4" presStyleCnt="5"/>
      <dgm:spPr/>
    </dgm:pt>
    <dgm:pt modelId="{64DEC0CE-3E36-47D9-A8F9-962BF461397D}" type="pres">
      <dgm:prSet presAssocID="{AC7745FE-E3BC-4EB9-B395-5C0031DF32F5}" presName="connectorText" presStyleLbl="sibTrans2D1" presStyleIdx="4" presStyleCnt="5"/>
      <dgm:spPr/>
    </dgm:pt>
  </dgm:ptLst>
  <dgm:cxnLst>
    <dgm:cxn modelId="{B0D2C903-614F-4E3B-9887-60BA38B11ACF}" type="presOf" srcId="{D016DCB4-EB2F-41DD-9997-33382D5748B4}" destId="{F7EEBACA-6601-4311-9D84-5FA608B79356}" srcOrd="0" destOrd="0" presId="urn:microsoft.com/office/officeart/2005/8/layout/cycle2"/>
    <dgm:cxn modelId="{15A98704-471D-4C3B-B3BD-0201F687868A}" type="presOf" srcId="{042139AD-3B25-416F-9D4C-A9648669ECF8}" destId="{7A6B52E7-EC3D-45F0-9BE8-3F1D24DA2498}" srcOrd="1" destOrd="0" presId="urn:microsoft.com/office/officeart/2005/8/layout/cycle2"/>
    <dgm:cxn modelId="{FEFBA105-8653-4A90-BDEE-A1C26183BD7D}" type="presOf" srcId="{B866E964-1A67-42A4-A5B3-7E4275C506AE}" destId="{CE2F1BAA-A05F-43F1-B7BC-497B4FCEDF4C}" srcOrd="0" destOrd="0" presId="urn:microsoft.com/office/officeart/2005/8/layout/cycle2"/>
    <dgm:cxn modelId="{6EC1D116-FC85-44DD-A002-0F70E09D25AC}" type="presOf" srcId="{775758E0-7B4F-4E00-B2A1-2A88EFF11EE2}" destId="{F8311EBC-2C79-42E1-976C-E6EA491053EB}" srcOrd="0" destOrd="0" presId="urn:microsoft.com/office/officeart/2005/8/layout/cycle2"/>
    <dgm:cxn modelId="{F267D117-18A8-4E71-8EE3-53D440F967CA}" type="presOf" srcId="{CB0905A5-05B4-499D-A38C-C818D0EE615E}" destId="{ABBE18EB-BF92-4C20-BF67-A4701490CB7D}" srcOrd="1" destOrd="0" presId="urn:microsoft.com/office/officeart/2005/8/layout/cycle2"/>
    <dgm:cxn modelId="{2BA60024-1873-4382-A8FF-88184B45A935}" srcId="{4D414320-92AC-496E-8C81-D4706F46C577}" destId="{775758E0-7B4F-4E00-B2A1-2A88EFF11EE2}" srcOrd="4" destOrd="0" parTransId="{C1F0121D-5CB4-434F-803A-920AD9683A35}" sibTransId="{AC7745FE-E3BC-4EB9-B395-5C0031DF32F5}"/>
    <dgm:cxn modelId="{DFC8872C-B664-4E4C-935A-A018195A96A5}" type="presOf" srcId="{042139AD-3B25-416F-9D4C-A9648669ECF8}" destId="{36BFFE17-057E-4B74-B876-B64ABA7C70FC}" srcOrd="0" destOrd="0" presId="urn:microsoft.com/office/officeart/2005/8/layout/cycle2"/>
    <dgm:cxn modelId="{E3D33430-8F27-4AE2-A829-EC4D577F0DA6}" type="presOf" srcId="{E0BEDE7D-2323-40B0-A289-3D940A69AF7A}" destId="{6197AB85-C4AD-4904-A5B6-107A2E51AD81}" srcOrd="1" destOrd="0" presId="urn:microsoft.com/office/officeart/2005/8/layout/cycle2"/>
    <dgm:cxn modelId="{16F04332-BDEC-4C5D-9EB2-8EB1FE5B303B}" srcId="{4D414320-92AC-496E-8C81-D4706F46C577}" destId="{D016DCB4-EB2F-41DD-9997-33382D5748B4}" srcOrd="1" destOrd="0" parTransId="{ABB43A56-5C80-498A-804F-A250F8393697}" sibTransId="{042139AD-3B25-416F-9D4C-A9648669ECF8}"/>
    <dgm:cxn modelId="{5C399435-018C-4DFD-B968-0E722E41ACF9}" type="presOf" srcId="{453CB493-8E63-4E17-B797-BAE9DF97927D}" destId="{13BD2D47-9CB7-427F-84FC-9D4BE7EF1DD1}" srcOrd="1" destOrd="0" presId="urn:microsoft.com/office/officeart/2005/8/layout/cycle2"/>
    <dgm:cxn modelId="{55F8B360-F110-4D81-A805-BB943BECFD01}" srcId="{4D414320-92AC-496E-8C81-D4706F46C577}" destId="{0D615546-3EFB-4BC1-94C1-191383886B4E}" srcOrd="0" destOrd="0" parTransId="{CA568634-9EEC-4203-9DC5-ABBE19A297E6}" sibTransId="{453CB493-8E63-4E17-B797-BAE9DF97927D}"/>
    <dgm:cxn modelId="{1CEEAA78-D237-4A69-803C-A213E97CA7D0}" type="presOf" srcId="{4D414320-92AC-496E-8C81-D4706F46C577}" destId="{2088EB86-2D60-448F-BD0A-5988E23087BD}" srcOrd="0" destOrd="0" presId="urn:microsoft.com/office/officeart/2005/8/layout/cycle2"/>
    <dgm:cxn modelId="{2A16A68A-833B-48D4-9DA2-B26E87EFE7BD}" type="presOf" srcId="{0D615546-3EFB-4BC1-94C1-191383886B4E}" destId="{17C5CA37-27FE-44C9-BD98-5566EE3E2711}" srcOrd="0" destOrd="0" presId="urn:microsoft.com/office/officeart/2005/8/layout/cycle2"/>
    <dgm:cxn modelId="{0A68758D-11F6-4E8A-9AEE-C8FD78BD7FC0}" srcId="{4D414320-92AC-496E-8C81-D4706F46C577}" destId="{B866E964-1A67-42A4-A5B3-7E4275C506AE}" srcOrd="3" destOrd="0" parTransId="{60C01D76-AFEB-4308-B6ED-EA3248564572}" sibTransId="{CB0905A5-05B4-499D-A38C-C818D0EE615E}"/>
    <dgm:cxn modelId="{81E31094-39B2-405D-B37F-DF46444846A3}" type="presOf" srcId="{453CB493-8E63-4E17-B797-BAE9DF97927D}" destId="{12DF719D-6C81-46F0-A61C-FCC3C6BB9297}" srcOrd="0" destOrd="0" presId="urn:microsoft.com/office/officeart/2005/8/layout/cycle2"/>
    <dgm:cxn modelId="{A8E771A2-23CD-4A47-82AA-482FE7777610}" type="presOf" srcId="{CB0905A5-05B4-499D-A38C-C818D0EE615E}" destId="{66446C0B-BA92-4FF2-935A-04A7036FF923}" srcOrd="0" destOrd="0" presId="urn:microsoft.com/office/officeart/2005/8/layout/cycle2"/>
    <dgm:cxn modelId="{37BFBAA2-D0F9-41F7-8A86-1E4CBEE64703}" type="presOf" srcId="{E0BEDE7D-2323-40B0-A289-3D940A69AF7A}" destId="{D9E6EF3B-A997-4947-B2E0-2E5F7FB03E15}" srcOrd="0" destOrd="0" presId="urn:microsoft.com/office/officeart/2005/8/layout/cycle2"/>
    <dgm:cxn modelId="{518E66B9-7999-4575-8815-D8EAB44B6340}" type="presOf" srcId="{BCB68AAF-C92E-4488-A9EB-777FD0502FAB}" destId="{A21E8E7D-989C-4E15-9B30-4BA187E3FFDC}" srcOrd="0" destOrd="0" presId="urn:microsoft.com/office/officeart/2005/8/layout/cycle2"/>
    <dgm:cxn modelId="{1C6962DD-A260-4F5E-9F8D-E9019B1ED654}" type="presOf" srcId="{AC7745FE-E3BC-4EB9-B395-5C0031DF32F5}" destId="{B121D221-F20B-4FBE-8603-FEB56F25CBB8}" srcOrd="0" destOrd="0" presId="urn:microsoft.com/office/officeart/2005/8/layout/cycle2"/>
    <dgm:cxn modelId="{055FA3F1-FC6F-47D2-9715-9868F935EB8B}" srcId="{4D414320-92AC-496E-8C81-D4706F46C577}" destId="{BCB68AAF-C92E-4488-A9EB-777FD0502FAB}" srcOrd="2" destOrd="0" parTransId="{7362629A-463A-478F-9A1E-78886CED28CE}" sibTransId="{E0BEDE7D-2323-40B0-A289-3D940A69AF7A}"/>
    <dgm:cxn modelId="{7B3D52F6-B7CC-424D-B299-E36026CA5586}" type="presOf" srcId="{AC7745FE-E3BC-4EB9-B395-5C0031DF32F5}" destId="{64DEC0CE-3E36-47D9-A8F9-962BF461397D}" srcOrd="1" destOrd="0" presId="urn:microsoft.com/office/officeart/2005/8/layout/cycle2"/>
    <dgm:cxn modelId="{E54C2055-FE1B-410F-80C7-536DC6703F6F}" type="presParOf" srcId="{2088EB86-2D60-448F-BD0A-5988E23087BD}" destId="{17C5CA37-27FE-44C9-BD98-5566EE3E2711}" srcOrd="0" destOrd="0" presId="urn:microsoft.com/office/officeart/2005/8/layout/cycle2"/>
    <dgm:cxn modelId="{6C77A64D-78E6-44DB-8DDA-17DF2DD0740E}" type="presParOf" srcId="{2088EB86-2D60-448F-BD0A-5988E23087BD}" destId="{12DF719D-6C81-46F0-A61C-FCC3C6BB9297}" srcOrd="1" destOrd="0" presId="urn:microsoft.com/office/officeart/2005/8/layout/cycle2"/>
    <dgm:cxn modelId="{BC2E2682-7725-4935-8B88-2148A8643364}" type="presParOf" srcId="{12DF719D-6C81-46F0-A61C-FCC3C6BB9297}" destId="{13BD2D47-9CB7-427F-84FC-9D4BE7EF1DD1}" srcOrd="0" destOrd="0" presId="urn:microsoft.com/office/officeart/2005/8/layout/cycle2"/>
    <dgm:cxn modelId="{AD5793BC-FC68-42CA-A776-957E3ECE7E7D}" type="presParOf" srcId="{2088EB86-2D60-448F-BD0A-5988E23087BD}" destId="{F7EEBACA-6601-4311-9D84-5FA608B79356}" srcOrd="2" destOrd="0" presId="urn:microsoft.com/office/officeart/2005/8/layout/cycle2"/>
    <dgm:cxn modelId="{89E6BE22-86B5-415C-AD22-1899C4399AD1}" type="presParOf" srcId="{2088EB86-2D60-448F-BD0A-5988E23087BD}" destId="{36BFFE17-057E-4B74-B876-B64ABA7C70FC}" srcOrd="3" destOrd="0" presId="urn:microsoft.com/office/officeart/2005/8/layout/cycle2"/>
    <dgm:cxn modelId="{0A52769B-57A1-4896-AF7D-C78C217E37B3}" type="presParOf" srcId="{36BFFE17-057E-4B74-B876-B64ABA7C70FC}" destId="{7A6B52E7-EC3D-45F0-9BE8-3F1D24DA2498}" srcOrd="0" destOrd="0" presId="urn:microsoft.com/office/officeart/2005/8/layout/cycle2"/>
    <dgm:cxn modelId="{5FBD863B-C86E-4AFC-B728-46D919DBDD92}" type="presParOf" srcId="{2088EB86-2D60-448F-BD0A-5988E23087BD}" destId="{A21E8E7D-989C-4E15-9B30-4BA187E3FFDC}" srcOrd="4" destOrd="0" presId="urn:microsoft.com/office/officeart/2005/8/layout/cycle2"/>
    <dgm:cxn modelId="{F6948E24-77F7-4F68-B0A2-983D25342A49}" type="presParOf" srcId="{2088EB86-2D60-448F-BD0A-5988E23087BD}" destId="{D9E6EF3B-A997-4947-B2E0-2E5F7FB03E15}" srcOrd="5" destOrd="0" presId="urn:microsoft.com/office/officeart/2005/8/layout/cycle2"/>
    <dgm:cxn modelId="{CAB04A4B-BA40-46B4-9C15-A5B3B40328F7}" type="presParOf" srcId="{D9E6EF3B-A997-4947-B2E0-2E5F7FB03E15}" destId="{6197AB85-C4AD-4904-A5B6-107A2E51AD81}" srcOrd="0" destOrd="0" presId="urn:microsoft.com/office/officeart/2005/8/layout/cycle2"/>
    <dgm:cxn modelId="{5DCCB100-C4B1-4013-A150-D8E123219280}" type="presParOf" srcId="{2088EB86-2D60-448F-BD0A-5988E23087BD}" destId="{CE2F1BAA-A05F-43F1-B7BC-497B4FCEDF4C}" srcOrd="6" destOrd="0" presId="urn:microsoft.com/office/officeart/2005/8/layout/cycle2"/>
    <dgm:cxn modelId="{674F8B9C-BC4E-4060-B0A4-A5FB7125E229}" type="presParOf" srcId="{2088EB86-2D60-448F-BD0A-5988E23087BD}" destId="{66446C0B-BA92-4FF2-935A-04A7036FF923}" srcOrd="7" destOrd="0" presId="urn:microsoft.com/office/officeart/2005/8/layout/cycle2"/>
    <dgm:cxn modelId="{28705C19-FA41-47BC-8687-086259096889}" type="presParOf" srcId="{66446C0B-BA92-4FF2-935A-04A7036FF923}" destId="{ABBE18EB-BF92-4C20-BF67-A4701490CB7D}" srcOrd="0" destOrd="0" presId="urn:microsoft.com/office/officeart/2005/8/layout/cycle2"/>
    <dgm:cxn modelId="{EF77F42B-207C-4516-80C1-B9A728541E2D}" type="presParOf" srcId="{2088EB86-2D60-448F-BD0A-5988E23087BD}" destId="{F8311EBC-2C79-42E1-976C-E6EA491053EB}" srcOrd="8" destOrd="0" presId="urn:microsoft.com/office/officeart/2005/8/layout/cycle2"/>
    <dgm:cxn modelId="{6F99C61A-418B-4BCE-93CC-6966D8E3BB34}" type="presParOf" srcId="{2088EB86-2D60-448F-BD0A-5988E23087BD}" destId="{B121D221-F20B-4FBE-8603-FEB56F25CBB8}" srcOrd="9" destOrd="0" presId="urn:microsoft.com/office/officeart/2005/8/layout/cycle2"/>
    <dgm:cxn modelId="{B743B61E-A7AE-4C84-A560-7BDA2A5FE95D}" type="presParOf" srcId="{B121D221-F20B-4FBE-8603-FEB56F25CBB8}" destId="{64DEC0CE-3E36-47D9-A8F9-962BF461397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3FDE19-40C7-4EB4-8021-39FB9001E7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NI"/>
        </a:p>
      </dgm:t>
    </dgm:pt>
    <dgm:pt modelId="{0F3A07F3-DF1B-4DE8-9A63-CFF3C3A0629A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Debemos evaluar el cumplimiento de los objetivos, tanto formativos como sumativos</a:t>
          </a:r>
        </a:p>
      </dgm:t>
    </dgm:pt>
    <dgm:pt modelId="{2BE3C881-489F-40BB-93B4-C3C617AB2203}" type="parTrans" cxnId="{0354003F-C073-4F49-8E74-69CDDC25613B}">
      <dgm:prSet/>
      <dgm:spPr/>
      <dgm:t>
        <a:bodyPr/>
        <a:lstStyle/>
        <a:p>
          <a:endParaRPr lang="es-NI"/>
        </a:p>
      </dgm:t>
    </dgm:pt>
    <dgm:pt modelId="{741E98BC-2290-4C1E-93FD-EC671FF542FA}" type="sibTrans" cxnId="{0354003F-C073-4F49-8E74-69CDDC25613B}">
      <dgm:prSet/>
      <dgm:spPr/>
      <dgm:t>
        <a:bodyPr/>
        <a:lstStyle/>
        <a:p>
          <a:endParaRPr lang="es-NI"/>
        </a:p>
      </dgm:t>
    </dgm:pt>
    <dgm:pt modelId="{6C9E2C24-CD22-465D-82B3-73AB7DC0C458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El estudiante debe saber que se espera de él, es decir que conocimientos, actitudes y valores debe poner en práctica para que nos permita realizar una evaluación objetiva.</a:t>
          </a:r>
        </a:p>
      </dgm:t>
    </dgm:pt>
    <dgm:pt modelId="{CFEAF6D1-202F-4B37-9451-DDC04B297500}" type="parTrans" cxnId="{2F4D20D5-6D7B-4D59-8AFE-4AD1F42A7BBF}">
      <dgm:prSet/>
      <dgm:spPr/>
      <dgm:t>
        <a:bodyPr/>
        <a:lstStyle/>
        <a:p>
          <a:endParaRPr lang="es-NI"/>
        </a:p>
      </dgm:t>
    </dgm:pt>
    <dgm:pt modelId="{ED437602-CDB3-4D2C-935B-035F9D66921C}" type="sibTrans" cxnId="{2F4D20D5-6D7B-4D59-8AFE-4AD1F42A7BBF}">
      <dgm:prSet/>
      <dgm:spPr/>
      <dgm:t>
        <a:bodyPr/>
        <a:lstStyle/>
        <a:p>
          <a:endParaRPr lang="es-NI"/>
        </a:p>
      </dgm:t>
    </dgm:pt>
    <dgm:pt modelId="{71E53784-E3D0-4584-BC4C-99BC4E2470ED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Todas las actividades didácticas deben tener objetivos e indicadores formativos y sumativos.</a:t>
          </a:r>
        </a:p>
      </dgm:t>
    </dgm:pt>
    <dgm:pt modelId="{2317EF63-5671-471E-9A24-C4D7FE95A0F0}" type="parTrans" cxnId="{63F73661-9023-4046-963B-2F276A96A038}">
      <dgm:prSet/>
      <dgm:spPr/>
      <dgm:t>
        <a:bodyPr/>
        <a:lstStyle/>
        <a:p>
          <a:endParaRPr lang="es-NI"/>
        </a:p>
      </dgm:t>
    </dgm:pt>
    <dgm:pt modelId="{393EEF12-A90B-4931-B9DD-330F2F816EB6}" type="sibTrans" cxnId="{63F73661-9023-4046-963B-2F276A96A038}">
      <dgm:prSet/>
      <dgm:spPr/>
      <dgm:t>
        <a:bodyPr/>
        <a:lstStyle/>
        <a:p>
          <a:endParaRPr lang="es-NI"/>
        </a:p>
      </dgm:t>
    </dgm:pt>
    <dgm:pt modelId="{0EF6CB1A-193D-4132-BD40-9D58D6880C61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La efectividad del aprendizaje es dependiente de la frecuencia de la retroalimentación positiva.</a:t>
          </a:r>
        </a:p>
      </dgm:t>
    </dgm:pt>
    <dgm:pt modelId="{C36C5EC9-0A18-4CB8-8532-27EBDA478C2F}" type="parTrans" cxnId="{7465BC61-D38D-4D28-A18C-D9E5EBEC260F}">
      <dgm:prSet/>
      <dgm:spPr/>
      <dgm:t>
        <a:bodyPr/>
        <a:lstStyle/>
        <a:p>
          <a:endParaRPr lang="es-NI"/>
        </a:p>
      </dgm:t>
    </dgm:pt>
    <dgm:pt modelId="{A9D2B542-1EE2-4158-80B9-AE07D79650EC}" type="sibTrans" cxnId="{7465BC61-D38D-4D28-A18C-D9E5EBEC260F}">
      <dgm:prSet/>
      <dgm:spPr/>
      <dgm:t>
        <a:bodyPr/>
        <a:lstStyle/>
        <a:p>
          <a:endParaRPr lang="es-NI"/>
        </a:p>
      </dgm:t>
    </dgm:pt>
    <dgm:pt modelId="{2F54A725-099F-4DE7-90C4-22E987038A65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La evaluación debe servir para motivar al estudiante, al permitirle saber como se medirá su desempeño y a determinar su propio progreso, como a identificar sus áreas fuertes y débiles.</a:t>
          </a:r>
        </a:p>
      </dgm:t>
    </dgm:pt>
    <dgm:pt modelId="{77415FF2-20FD-4E74-B6B6-C2D597B41C3B}" type="parTrans" cxnId="{D9F5D342-E184-48DD-B649-E8E517BCC3BA}">
      <dgm:prSet/>
      <dgm:spPr/>
      <dgm:t>
        <a:bodyPr/>
        <a:lstStyle/>
        <a:p>
          <a:endParaRPr lang="es-NI"/>
        </a:p>
      </dgm:t>
    </dgm:pt>
    <dgm:pt modelId="{79E3971F-01EB-458C-8D2B-5182E572EB11}" type="sibTrans" cxnId="{D9F5D342-E184-48DD-B649-E8E517BCC3BA}">
      <dgm:prSet/>
      <dgm:spPr/>
      <dgm:t>
        <a:bodyPr/>
        <a:lstStyle/>
        <a:p>
          <a:endParaRPr lang="es-NI"/>
        </a:p>
      </dgm:t>
    </dgm:pt>
    <dgm:pt modelId="{AFC5E7CF-F2BB-4F9D-A0FB-D0E2A1DDA26B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La evaluación sirve para que los profesores identifiquemos las áreas en las que nuestros estudiantes necesitan apoyo.</a:t>
          </a:r>
        </a:p>
      </dgm:t>
    </dgm:pt>
    <dgm:pt modelId="{2F0C9F9C-2EE5-4265-AB83-2D36330AD0FF}" type="parTrans" cxnId="{74D5997A-0138-4A4B-A1DC-3B0F45278446}">
      <dgm:prSet/>
      <dgm:spPr/>
      <dgm:t>
        <a:bodyPr/>
        <a:lstStyle/>
        <a:p>
          <a:endParaRPr lang="es-NI"/>
        </a:p>
      </dgm:t>
    </dgm:pt>
    <dgm:pt modelId="{48759E8A-FA84-425D-9EC5-5F77B80E0514}" type="sibTrans" cxnId="{74D5997A-0138-4A4B-A1DC-3B0F45278446}">
      <dgm:prSet/>
      <dgm:spPr/>
      <dgm:t>
        <a:bodyPr/>
        <a:lstStyle/>
        <a:p>
          <a:endParaRPr lang="es-NI"/>
        </a:p>
      </dgm:t>
    </dgm:pt>
    <dgm:pt modelId="{5E4DFF16-6ED1-4CD2-AAAC-B98590D91623}" type="pres">
      <dgm:prSet presAssocID="{183FDE19-40C7-4EB4-8021-39FB9001E77C}" presName="root" presStyleCnt="0">
        <dgm:presLayoutVars>
          <dgm:dir/>
          <dgm:resizeHandles val="exact"/>
        </dgm:presLayoutVars>
      </dgm:prSet>
      <dgm:spPr/>
    </dgm:pt>
    <dgm:pt modelId="{EC2E0527-F9B7-4716-9937-DE8C8955AEC9}" type="pres">
      <dgm:prSet presAssocID="{0F3A07F3-DF1B-4DE8-9A63-CFF3C3A0629A}" presName="compNode" presStyleCnt="0"/>
      <dgm:spPr/>
    </dgm:pt>
    <dgm:pt modelId="{9E8ABF23-A9BB-4392-A9D0-BA421B54CE68}" type="pres">
      <dgm:prSet presAssocID="{0F3A07F3-DF1B-4DE8-9A63-CFF3C3A0629A}" presName="bgRect" presStyleLbl="bgShp" presStyleIdx="0" presStyleCnt="6"/>
      <dgm:spPr/>
    </dgm:pt>
    <dgm:pt modelId="{57DBBBBE-7F40-430C-8475-B65D16CE10DC}" type="pres">
      <dgm:prSet presAssocID="{0F3A07F3-DF1B-4DE8-9A63-CFF3C3A0629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C259828-36D8-47CB-9F10-774353A3CCCF}" type="pres">
      <dgm:prSet presAssocID="{0F3A07F3-DF1B-4DE8-9A63-CFF3C3A0629A}" presName="spaceRect" presStyleCnt="0"/>
      <dgm:spPr/>
    </dgm:pt>
    <dgm:pt modelId="{C8179019-7DE8-4668-A157-A21B72081594}" type="pres">
      <dgm:prSet presAssocID="{0F3A07F3-DF1B-4DE8-9A63-CFF3C3A0629A}" presName="parTx" presStyleLbl="revTx" presStyleIdx="0" presStyleCnt="6">
        <dgm:presLayoutVars>
          <dgm:chMax val="0"/>
          <dgm:chPref val="0"/>
        </dgm:presLayoutVars>
      </dgm:prSet>
      <dgm:spPr/>
    </dgm:pt>
    <dgm:pt modelId="{990A2FF2-2CD2-4870-B89F-1CDDE878139E}" type="pres">
      <dgm:prSet presAssocID="{741E98BC-2290-4C1E-93FD-EC671FF542FA}" presName="sibTrans" presStyleCnt="0"/>
      <dgm:spPr/>
    </dgm:pt>
    <dgm:pt modelId="{FCB535E8-771C-452D-A821-1422D3D9FED2}" type="pres">
      <dgm:prSet presAssocID="{6C9E2C24-CD22-465D-82B3-73AB7DC0C458}" presName="compNode" presStyleCnt="0"/>
      <dgm:spPr/>
    </dgm:pt>
    <dgm:pt modelId="{770C9E01-0BAA-484C-9E5C-AE07E6DAD384}" type="pres">
      <dgm:prSet presAssocID="{6C9E2C24-CD22-465D-82B3-73AB7DC0C458}" presName="bgRect" presStyleLbl="bgShp" presStyleIdx="1" presStyleCnt="6"/>
      <dgm:spPr/>
    </dgm:pt>
    <dgm:pt modelId="{31CFE7BA-E467-4AAC-95C1-1974E0FA2891}" type="pres">
      <dgm:prSet presAssocID="{6C9E2C24-CD22-465D-82B3-73AB7DC0C45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95892BE-822B-42FE-9646-1602EC385E6A}" type="pres">
      <dgm:prSet presAssocID="{6C9E2C24-CD22-465D-82B3-73AB7DC0C458}" presName="spaceRect" presStyleCnt="0"/>
      <dgm:spPr/>
    </dgm:pt>
    <dgm:pt modelId="{920E844A-A389-4F5C-99A0-6B6A9BD38A96}" type="pres">
      <dgm:prSet presAssocID="{6C9E2C24-CD22-465D-82B3-73AB7DC0C458}" presName="parTx" presStyleLbl="revTx" presStyleIdx="1" presStyleCnt="6">
        <dgm:presLayoutVars>
          <dgm:chMax val="0"/>
          <dgm:chPref val="0"/>
        </dgm:presLayoutVars>
      </dgm:prSet>
      <dgm:spPr/>
    </dgm:pt>
    <dgm:pt modelId="{8D6DAE44-9186-41E3-86C2-640CF0E04B98}" type="pres">
      <dgm:prSet presAssocID="{ED437602-CDB3-4D2C-935B-035F9D66921C}" presName="sibTrans" presStyleCnt="0"/>
      <dgm:spPr/>
    </dgm:pt>
    <dgm:pt modelId="{EB6B8EB5-A6B2-495A-9013-CCCA87FF2425}" type="pres">
      <dgm:prSet presAssocID="{71E53784-E3D0-4584-BC4C-99BC4E2470ED}" presName="compNode" presStyleCnt="0"/>
      <dgm:spPr/>
    </dgm:pt>
    <dgm:pt modelId="{AD09D8C8-5E26-4015-B89A-86882CF36877}" type="pres">
      <dgm:prSet presAssocID="{71E53784-E3D0-4584-BC4C-99BC4E2470ED}" presName="bgRect" presStyleLbl="bgShp" presStyleIdx="2" presStyleCnt="6"/>
      <dgm:spPr/>
    </dgm:pt>
    <dgm:pt modelId="{8D914914-393D-4608-837B-667B299ED401}" type="pres">
      <dgm:prSet presAssocID="{71E53784-E3D0-4584-BC4C-99BC4E2470E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4883605-29D5-49B8-B7A3-F6355DE0A85D}" type="pres">
      <dgm:prSet presAssocID="{71E53784-E3D0-4584-BC4C-99BC4E2470ED}" presName="spaceRect" presStyleCnt="0"/>
      <dgm:spPr/>
    </dgm:pt>
    <dgm:pt modelId="{05D5EFE4-BF6C-4DD8-892B-54C0E55A2342}" type="pres">
      <dgm:prSet presAssocID="{71E53784-E3D0-4584-BC4C-99BC4E2470ED}" presName="parTx" presStyleLbl="revTx" presStyleIdx="2" presStyleCnt="6">
        <dgm:presLayoutVars>
          <dgm:chMax val="0"/>
          <dgm:chPref val="0"/>
        </dgm:presLayoutVars>
      </dgm:prSet>
      <dgm:spPr/>
    </dgm:pt>
    <dgm:pt modelId="{5B3549E2-8D00-44C9-9F41-11271885EBE6}" type="pres">
      <dgm:prSet presAssocID="{393EEF12-A90B-4931-B9DD-330F2F816EB6}" presName="sibTrans" presStyleCnt="0"/>
      <dgm:spPr/>
    </dgm:pt>
    <dgm:pt modelId="{A7F87210-D6A8-42F9-BD16-B8C62829A2F8}" type="pres">
      <dgm:prSet presAssocID="{0EF6CB1A-193D-4132-BD40-9D58D6880C61}" presName="compNode" presStyleCnt="0"/>
      <dgm:spPr/>
    </dgm:pt>
    <dgm:pt modelId="{73C7AAFC-5C5A-422B-84BF-3CDAC9EB4B0F}" type="pres">
      <dgm:prSet presAssocID="{0EF6CB1A-193D-4132-BD40-9D58D6880C61}" presName="bgRect" presStyleLbl="bgShp" presStyleIdx="3" presStyleCnt="6"/>
      <dgm:spPr/>
    </dgm:pt>
    <dgm:pt modelId="{F65299D2-CF5B-4406-8293-6894A0087F5F}" type="pres">
      <dgm:prSet presAssocID="{0EF6CB1A-193D-4132-BD40-9D58D6880C6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ountain"/>
        </a:ext>
      </dgm:extLst>
    </dgm:pt>
    <dgm:pt modelId="{943B3EFF-182B-4355-97C9-7EB35D316AED}" type="pres">
      <dgm:prSet presAssocID="{0EF6CB1A-193D-4132-BD40-9D58D6880C61}" presName="spaceRect" presStyleCnt="0"/>
      <dgm:spPr/>
    </dgm:pt>
    <dgm:pt modelId="{2859F69A-3E08-4769-A3DA-F83EDE782D37}" type="pres">
      <dgm:prSet presAssocID="{0EF6CB1A-193D-4132-BD40-9D58D6880C61}" presName="parTx" presStyleLbl="revTx" presStyleIdx="3" presStyleCnt="6">
        <dgm:presLayoutVars>
          <dgm:chMax val="0"/>
          <dgm:chPref val="0"/>
        </dgm:presLayoutVars>
      </dgm:prSet>
      <dgm:spPr/>
    </dgm:pt>
    <dgm:pt modelId="{1A274E06-ECC2-4508-B905-907637DDFCEA}" type="pres">
      <dgm:prSet presAssocID="{A9D2B542-1EE2-4158-80B9-AE07D79650EC}" presName="sibTrans" presStyleCnt="0"/>
      <dgm:spPr/>
    </dgm:pt>
    <dgm:pt modelId="{A2212453-F2E4-4E9E-B164-8B7570AE82D0}" type="pres">
      <dgm:prSet presAssocID="{2F54A725-099F-4DE7-90C4-22E987038A65}" presName="compNode" presStyleCnt="0"/>
      <dgm:spPr/>
    </dgm:pt>
    <dgm:pt modelId="{E41109F3-A68F-49CD-A35B-4B9E95A1A21B}" type="pres">
      <dgm:prSet presAssocID="{2F54A725-099F-4DE7-90C4-22E987038A65}" presName="bgRect" presStyleLbl="bgShp" presStyleIdx="4" presStyleCnt="6"/>
      <dgm:spPr/>
    </dgm:pt>
    <dgm:pt modelId="{FFE893AA-9097-49A3-B16F-A933FDBB5337}" type="pres">
      <dgm:prSet presAssocID="{2F54A725-099F-4DE7-90C4-22E987038A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2EE2A9EF-28CC-4884-8B31-1C35ABE5FCE5}" type="pres">
      <dgm:prSet presAssocID="{2F54A725-099F-4DE7-90C4-22E987038A65}" presName="spaceRect" presStyleCnt="0"/>
      <dgm:spPr/>
    </dgm:pt>
    <dgm:pt modelId="{60CD6046-6DA8-4CB5-B5FF-D1EEEE42A361}" type="pres">
      <dgm:prSet presAssocID="{2F54A725-099F-4DE7-90C4-22E987038A65}" presName="parTx" presStyleLbl="revTx" presStyleIdx="4" presStyleCnt="6">
        <dgm:presLayoutVars>
          <dgm:chMax val="0"/>
          <dgm:chPref val="0"/>
        </dgm:presLayoutVars>
      </dgm:prSet>
      <dgm:spPr/>
    </dgm:pt>
    <dgm:pt modelId="{931B96AB-CBA4-48EB-8864-EC958D21511A}" type="pres">
      <dgm:prSet presAssocID="{79E3971F-01EB-458C-8D2B-5182E572EB11}" presName="sibTrans" presStyleCnt="0"/>
      <dgm:spPr/>
    </dgm:pt>
    <dgm:pt modelId="{4A6CEA65-F729-4DD2-9684-87729B284328}" type="pres">
      <dgm:prSet presAssocID="{AFC5E7CF-F2BB-4F9D-A0FB-D0E2A1DDA26B}" presName="compNode" presStyleCnt="0"/>
      <dgm:spPr/>
    </dgm:pt>
    <dgm:pt modelId="{C75771D6-EF2A-47B5-B156-46347045E3EE}" type="pres">
      <dgm:prSet presAssocID="{AFC5E7CF-F2BB-4F9D-A0FB-D0E2A1DDA26B}" presName="bgRect" presStyleLbl="bgShp" presStyleIdx="5" presStyleCnt="6"/>
      <dgm:spPr/>
    </dgm:pt>
    <dgm:pt modelId="{DA33ACB0-C1E5-4178-A129-3683680F5DD2}" type="pres">
      <dgm:prSet presAssocID="{AFC5E7CF-F2BB-4F9D-A0FB-D0E2A1DDA26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3297E1-FD54-47B8-8843-87F0E452F593}" type="pres">
      <dgm:prSet presAssocID="{AFC5E7CF-F2BB-4F9D-A0FB-D0E2A1DDA26B}" presName="spaceRect" presStyleCnt="0"/>
      <dgm:spPr/>
    </dgm:pt>
    <dgm:pt modelId="{84DA49D5-686F-4A1A-B679-7553F0B475FA}" type="pres">
      <dgm:prSet presAssocID="{AFC5E7CF-F2BB-4F9D-A0FB-D0E2A1DDA26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FE1593A-F795-4C73-AD53-F9245C2CE5E4}" type="presOf" srcId="{6C9E2C24-CD22-465D-82B3-73AB7DC0C458}" destId="{920E844A-A389-4F5C-99A0-6B6A9BD38A96}" srcOrd="0" destOrd="0" presId="urn:microsoft.com/office/officeart/2018/2/layout/IconVerticalSolidList"/>
    <dgm:cxn modelId="{0354003F-C073-4F49-8E74-69CDDC25613B}" srcId="{183FDE19-40C7-4EB4-8021-39FB9001E77C}" destId="{0F3A07F3-DF1B-4DE8-9A63-CFF3C3A0629A}" srcOrd="0" destOrd="0" parTransId="{2BE3C881-489F-40BB-93B4-C3C617AB2203}" sibTransId="{741E98BC-2290-4C1E-93FD-EC671FF542FA}"/>
    <dgm:cxn modelId="{63F73661-9023-4046-963B-2F276A96A038}" srcId="{183FDE19-40C7-4EB4-8021-39FB9001E77C}" destId="{71E53784-E3D0-4584-BC4C-99BC4E2470ED}" srcOrd="2" destOrd="0" parTransId="{2317EF63-5671-471E-9A24-C4D7FE95A0F0}" sibTransId="{393EEF12-A90B-4931-B9DD-330F2F816EB6}"/>
    <dgm:cxn modelId="{7465BC61-D38D-4D28-A18C-D9E5EBEC260F}" srcId="{183FDE19-40C7-4EB4-8021-39FB9001E77C}" destId="{0EF6CB1A-193D-4132-BD40-9D58D6880C61}" srcOrd="3" destOrd="0" parTransId="{C36C5EC9-0A18-4CB8-8532-27EBDA478C2F}" sibTransId="{A9D2B542-1EE2-4158-80B9-AE07D79650EC}"/>
    <dgm:cxn modelId="{D9F5D342-E184-48DD-B649-E8E517BCC3BA}" srcId="{183FDE19-40C7-4EB4-8021-39FB9001E77C}" destId="{2F54A725-099F-4DE7-90C4-22E987038A65}" srcOrd="4" destOrd="0" parTransId="{77415FF2-20FD-4E74-B6B6-C2D597B41C3B}" sibTransId="{79E3971F-01EB-458C-8D2B-5182E572EB11}"/>
    <dgm:cxn modelId="{080FF16D-EEFA-497E-8DCB-6E8816B00030}" type="presOf" srcId="{0F3A07F3-DF1B-4DE8-9A63-CFF3C3A0629A}" destId="{C8179019-7DE8-4668-A157-A21B72081594}" srcOrd="0" destOrd="0" presId="urn:microsoft.com/office/officeart/2018/2/layout/IconVerticalSolidList"/>
    <dgm:cxn modelId="{74D5997A-0138-4A4B-A1DC-3B0F45278446}" srcId="{183FDE19-40C7-4EB4-8021-39FB9001E77C}" destId="{AFC5E7CF-F2BB-4F9D-A0FB-D0E2A1DDA26B}" srcOrd="5" destOrd="0" parTransId="{2F0C9F9C-2EE5-4265-AB83-2D36330AD0FF}" sibTransId="{48759E8A-FA84-425D-9EC5-5F77B80E0514}"/>
    <dgm:cxn modelId="{F73E7581-C836-46DD-A7F5-57CF6AC1B4E5}" type="presOf" srcId="{AFC5E7CF-F2BB-4F9D-A0FB-D0E2A1DDA26B}" destId="{84DA49D5-686F-4A1A-B679-7553F0B475FA}" srcOrd="0" destOrd="0" presId="urn:microsoft.com/office/officeart/2018/2/layout/IconVerticalSolidList"/>
    <dgm:cxn modelId="{1FB430B1-33C6-4457-AC1B-1A969E3966FF}" type="presOf" srcId="{2F54A725-099F-4DE7-90C4-22E987038A65}" destId="{60CD6046-6DA8-4CB5-B5FF-D1EEEE42A361}" srcOrd="0" destOrd="0" presId="urn:microsoft.com/office/officeart/2018/2/layout/IconVerticalSolidList"/>
    <dgm:cxn modelId="{2F4D20D5-6D7B-4D59-8AFE-4AD1F42A7BBF}" srcId="{183FDE19-40C7-4EB4-8021-39FB9001E77C}" destId="{6C9E2C24-CD22-465D-82B3-73AB7DC0C458}" srcOrd="1" destOrd="0" parTransId="{CFEAF6D1-202F-4B37-9451-DDC04B297500}" sibTransId="{ED437602-CDB3-4D2C-935B-035F9D66921C}"/>
    <dgm:cxn modelId="{D9E3FBEA-3FEA-40A1-842C-471354418369}" type="presOf" srcId="{71E53784-E3D0-4584-BC4C-99BC4E2470ED}" destId="{05D5EFE4-BF6C-4DD8-892B-54C0E55A2342}" srcOrd="0" destOrd="0" presId="urn:microsoft.com/office/officeart/2018/2/layout/IconVerticalSolidList"/>
    <dgm:cxn modelId="{D49E7AEE-0AB6-4BB6-B76C-D171360D5E0A}" type="presOf" srcId="{183FDE19-40C7-4EB4-8021-39FB9001E77C}" destId="{5E4DFF16-6ED1-4CD2-AAAC-B98590D91623}" srcOrd="0" destOrd="0" presId="urn:microsoft.com/office/officeart/2018/2/layout/IconVerticalSolidList"/>
    <dgm:cxn modelId="{064AA5FE-215C-4F93-8154-56C557AF6E85}" type="presOf" srcId="{0EF6CB1A-193D-4132-BD40-9D58D6880C61}" destId="{2859F69A-3E08-4769-A3DA-F83EDE782D37}" srcOrd="0" destOrd="0" presId="urn:microsoft.com/office/officeart/2018/2/layout/IconVerticalSolidList"/>
    <dgm:cxn modelId="{7A62B9A9-D4A0-4DCA-AAC4-FF7C33C2CF29}" type="presParOf" srcId="{5E4DFF16-6ED1-4CD2-AAAC-B98590D91623}" destId="{EC2E0527-F9B7-4716-9937-DE8C8955AEC9}" srcOrd="0" destOrd="0" presId="urn:microsoft.com/office/officeart/2018/2/layout/IconVerticalSolidList"/>
    <dgm:cxn modelId="{F93872F9-9F3B-4B15-B4CF-2702A117530C}" type="presParOf" srcId="{EC2E0527-F9B7-4716-9937-DE8C8955AEC9}" destId="{9E8ABF23-A9BB-4392-A9D0-BA421B54CE68}" srcOrd="0" destOrd="0" presId="urn:microsoft.com/office/officeart/2018/2/layout/IconVerticalSolidList"/>
    <dgm:cxn modelId="{127D3DF2-7D0C-44B9-8D64-C4677BE70DC9}" type="presParOf" srcId="{EC2E0527-F9B7-4716-9937-DE8C8955AEC9}" destId="{57DBBBBE-7F40-430C-8475-B65D16CE10DC}" srcOrd="1" destOrd="0" presId="urn:microsoft.com/office/officeart/2018/2/layout/IconVerticalSolidList"/>
    <dgm:cxn modelId="{634AF675-300E-490C-A4FD-AA861F3F0201}" type="presParOf" srcId="{EC2E0527-F9B7-4716-9937-DE8C8955AEC9}" destId="{2C259828-36D8-47CB-9F10-774353A3CCCF}" srcOrd="2" destOrd="0" presId="urn:microsoft.com/office/officeart/2018/2/layout/IconVerticalSolidList"/>
    <dgm:cxn modelId="{97E50B69-B130-41B8-898D-7A5DC7F570AC}" type="presParOf" srcId="{EC2E0527-F9B7-4716-9937-DE8C8955AEC9}" destId="{C8179019-7DE8-4668-A157-A21B72081594}" srcOrd="3" destOrd="0" presId="urn:microsoft.com/office/officeart/2018/2/layout/IconVerticalSolidList"/>
    <dgm:cxn modelId="{B0FE48FC-CE81-40F9-9AF6-73DCB58BD411}" type="presParOf" srcId="{5E4DFF16-6ED1-4CD2-AAAC-B98590D91623}" destId="{990A2FF2-2CD2-4870-B89F-1CDDE878139E}" srcOrd="1" destOrd="0" presId="urn:microsoft.com/office/officeart/2018/2/layout/IconVerticalSolidList"/>
    <dgm:cxn modelId="{C95A1A3F-EE46-4D2B-ACD9-0C784ACF373B}" type="presParOf" srcId="{5E4DFF16-6ED1-4CD2-AAAC-B98590D91623}" destId="{FCB535E8-771C-452D-A821-1422D3D9FED2}" srcOrd="2" destOrd="0" presId="urn:microsoft.com/office/officeart/2018/2/layout/IconVerticalSolidList"/>
    <dgm:cxn modelId="{486B57CD-8AEA-434D-82E0-C95CF7ED850C}" type="presParOf" srcId="{FCB535E8-771C-452D-A821-1422D3D9FED2}" destId="{770C9E01-0BAA-484C-9E5C-AE07E6DAD384}" srcOrd="0" destOrd="0" presId="urn:microsoft.com/office/officeart/2018/2/layout/IconVerticalSolidList"/>
    <dgm:cxn modelId="{A517327E-68AE-47C3-962B-404CFE0DB3C2}" type="presParOf" srcId="{FCB535E8-771C-452D-A821-1422D3D9FED2}" destId="{31CFE7BA-E467-4AAC-95C1-1974E0FA2891}" srcOrd="1" destOrd="0" presId="urn:microsoft.com/office/officeart/2018/2/layout/IconVerticalSolidList"/>
    <dgm:cxn modelId="{86CD83E4-D42D-4C32-B30B-5731CE80C9A4}" type="presParOf" srcId="{FCB535E8-771C-452D-A821-1422D3D9FED2}" destId="{F95892BE-822B-42FE-9646-1602EC385E6A}" srcOrd="2" destOrd="0" presId="urn:microsoft.com/office/officeart/2018/2/layout/IconVerticalSolidList"/>
    <dgm:cxn modelId="{A8D22FAB-DC7E-4185-B368-0E77696699C5}" type="presParOf" srcId="{FCB535E8-771C-452D-A821-1422D3D9FED2}" destId="{920E844A-A389-4F5C-99A0-6B6A9BD38A96}" srcOrd="3" destOrd="0" presId="urn:microsoft.com/office/officeart/2018/2/layout/IconVerticalSolidList"/>
    <dgm:cxn modelId="{88FA71EB-BC25-4A12-9660-37E1042534ED}" type="presParOf" srcId="{5E4DFF16-6ED1-4CD2-AAAC-B98590D91623}" destId="{8D6DAE44-9186-41E3-86C2-640CF0E04B98}" srcOrd="3" destOrd="0" presId="urn:microsoft.com/office/officeart/2018/2/layout/IconVerticalSolidList"/>
    <dgm:cxn modelId="{2AA01761-6097-431C-944B-3A4560266A46}" type="presParOf" srcId="{5E4DFF16-6ED1-4CD2-AAAC-B98590D91623}" destId="{EB6B8EB5-A6B2-495A-9013-CCCA87FF2425}" srcOrd="4" destOrd="0" presId="urn:microsoft.com/office/officeart/2018/2/layout/IconVerticalSolidList"/>
    <dgm:cxn modelId="{AB52D9DF-DE7E-4CBE-AE27-4AC7E204CF53}" type="presParOf" srcId="{EB6B8EB5-A6B2-495A-9013-CCCA87FF2425}" destId="{AD09D8C8-5E26-4015-B89A-86882CF36877}" srcOrd="0" destOrd="0" presId="urn:microsoft.com/office/officeart/2018/2/layout/IconVerticalSolidList"/>
    <dgm:cxn modelId="{FB5A7AFE-4FC5-46F4-AE80-810AD40F3E0B}" type="presParOf" srcId="{EB6B8EB5-A6B2-495A-9013-CCCA87FF2425}" destId="{8D914914-393D-4608-837B-667B299ED401}" srcOrd="1" destOrd="0" presId="urn:microsoft.com/office/officeart/2018/2/layout/IconVerticalSolidList"/>
    <dgm:cxn modelId="{DDA80721-A710-4B8F-BE9D-9F3097C88F6B}" type="presParOf" srcId="{EB6B8EB5-A6B2-495A-9013-CCCA87FF2425}" destId="{14883605-29D5-49B8-B7A3-F6355DE0A85D}" srcOrd="2" destOrd="0" presId="urn:microsoft.com/office/officeart/2018/2/layout/IconVerticalSolidList"/>
    <dgm:cxn modelId="{FAF2C455-C2E1-42FF-A4B5-44DBCCE8A40E}" type="presParOf" srcId="{EB6B8EB5-A6B2-495A-9013-CCCA87FF2425}" destId="{05D5EFE4-BF6C-4DD8-892B-54C0E55A2342}" srcOrd="3" destOrd="0" presId="urn:microsoft.com/office/officeart/2018/2/layout/IconVerticalSolidList"/>
    <dgm:cxn modelId="{5F2AF266-EFDA-49B9-B5CA-780FD14543CE}" type="presParOf" srcId="{5E4DFF16-6ED1-4CD2-AAAC-B98590D91623}" destId="{5B3549E2-8D00-44C9-9F41-11271885EBE6}" srcOrd="5" destOrd="0" presId="urn:microsoft.com/office/officeart/2018/2/layout/IconVerticalSolidList"/>
    <dgm:cxn modelId="{C0760972-3CE7-4566-AAB5-AA1F9F9FB135}" type="presParOf" srcId="{5E4DFF16-6ED1-4CD2-AAAC-B98590D91623}" destId="{A7F87210-D6A8-42F9-BD16-B8C62829A2F8}" srcOrd="6" destOrd="0" presId="urn:microsoft.com/office/officeart/2018/2/layout/IconVerticalSolidList"/>
    <dgm:cxn modelId="{F7929836-6D03-4A53-9344-CF9A7668B997}" type="presParOf" srcId="{A7F87210-D6A8-42F9-BD16-B8C62829A2F8}" destId="{73C7AAFC-5C5A-422B-84BF-3CDAC9EB4B0F}" srcOrd="0" destOrd="0" presId="urn:microsoft.com/office/officeart/2018/2/layout/IconVerticalSolidList"/>
    <dgm:cxn modelId="{A5AF355E-1530-4F8D-A9B0-9F835FA972AA}" type="presParOf" srcId="{A7F87210-D6A8-42F9-BD16-B8C62829A2F8}" destId="{F65299D2-CF5B-4406-8293-6894A0087F5F}" srcOrd="1" destOrd="0" presId="urn:microsoft.com/office/officeart/2018/2/layout/IconVerticalSolidList"/>
    <dgm:cxn modelId="{C7AD1B3D-1ED8-49D1-BF00-C2CAAB92F234}" type="presParOf" srcId="{A7F87210-D6A8-42F9-BD16-B8C62829A2F8}" destId="{943B3EFF-182B-4355-97C9-7EB35D316AED}" srcOrd="2" destOrd="0" presId="urn:microsoft.com/office/officeart/2018/2/layout/IconVerticalSolidList"/>
    <dgm:cxn modelId="{ADD37491-4216-4970-9C72-52352FE02DD3}" type="presParOf" srcId="{A7F87210-D6A8-42F9-BD16-B8C62829A2F8}" destId="{2859F69A-3E08-4769-A3DA-F83EDE782D37}" srcOrd="3" destOrd="0" presId="urn:microsoft.com/office/officeart/2018/2/layout/IconVerticalSolidList"/>
    <dgm:cxn modelId="{5C3BD469-453A-43FC-87B6-ADD37754A415}" type="presParOf" srcId="{5E4DFF16-6ED1-4CD2-AAAC-B98590D91623}" destId="{1A274E06-ECC2-4508-B905-907637DDFCEA}" srcOrd="7" destOrd="0" presId="urn:microsoft.com/office/officeart/2018/2/layout/IconVerticalSolidList"/>
    <dgm:cxn modelId="{446112C8-50E7-4D88-B882-D5AAEC2C83D5}" type="presParOf" srcId="{5E4DFF16-6ED1-4CD2-AAAC-B98590D91623}" destId="{A2212453-F2E4-4E9E-B164-8B7570AE82D0}" srcOrd="8" destOrd="0" presId="urn:microsoft.com/office/officeart/2018/2/layout/IconVerticalSolidList"/>
    <dgm:cxn modelId="{ADDB006F-5575-42FB-AA9B-CD010E3C00C3}" type="presParOf" srcId="{A2212453-F2E4-4E9E-B164-8B7570AE82D0}" destId="{E41109F3-A68F-49CD-A35B-4B9E95A1A21B}" srcOrd="0" destOrd="0" presId="urn:microsoft.com/office/officeart/2018/2/layout/IconVerticalSolidList"/>
    <dgm:cxn modelId="{C986196F-8EFF-4DB2-A60C-8D183CE43A66}" type="presParOf" srcId="{A2212453-F2E4-4E9E-B164-8B7570AE82D0}" destId="{FFE893AA-9097-49A3-B16F-A933FDBB5337}" srcOrd="1" destOrd="0" presId="urn:microsoft.com/office/officeart/2018/2/layout/IconVerticalSolidList"/>
    <dgm:cxn modelId="{7C63EFD7-1F81-45C0-A655-78E32583E6BC}" type="presParOf" srcId="{A2212453-F2E4-4E9E-B164-8B7570AE82D0}" destId="{2EE2A9EF-28CC-4884-8B31-1C35ABE5FCE5}" srcOrd="2" destOrd="0" presId="urn:microsoft.com/office/officeart/2018/2/layout/IconVerticalSolidList"/>
    <dgm:cxn modelId="{F3D13618-5902-40A6-9F8E-3DF925DD8565}" type="presParOf" srcId="{A2212453-F2E4-4E9E-B164-8B7570AE82D0}" destId="{60CD6046-6DA8-4CB5-B5FF-D1EEEE42A361}" srcOrd="3" destOrd="0" presId="urn:microsoft.com/office/officeart/2018/2/layout/IconVerticalSolidList"/>
    <dgm:cxn modelId="{4CF8894A-46F6-48B1-BC2E-93061439F8E8}" type="presParOf" srcId="{5E4DFF16-6ED1-4CD2-AAAC-B98590D91623}" destId="{931B96AB-CBA4-48EB-8864-EC958D21511A}" srcOrd="9" destOrd="0" presId="urn:microsoft.com/office/officeart/2018/2/layout/IconVerticalSolidList"/>
    <dgm:cxn modelId="{42BF7C9E-5800-47CC-BBCC-E16808BD5D97}" type="presParOf" srcId="{5E4DFF16-6ED1-4CD2-AAAC-B98590D91623}" destId="{4A6CEA65-F729-4DD2-9684-87729B284328}" srcOrd="10" destOrd="0" presId="urn:microsoft.com/office/officeart/2018/2/layout/IconVerticalSolidList"/>
    <dgm:cxn modelId="{240E0BBF-6C25-44E2-AC81-C6A7DD416652}" type="presParOf" srcId="{4A6CEA65-F729-4DD2-9684-87729B284328}" destId="{C75771D6-EF2A-47B5-B156-46347045E3EE}" srcOrd="0" destOrd="0" presId="urn:microsoft.com/office/officeart/2018/2/layout/IconVerticalSolidList"/>
    <dgm:cxn modelId="{B822FA44-47C6-46CD-B846-45D6E03558B5}" type="presParOf" srcId="{4A6CEA65-F729-4DD2-9684-87729B284328}" destId="{DA33ACB0-C1E5-4178-A129-3683680F5DD2}" srcOrd="1" destOrd="0" presId="urn:microsoft.com/office/officeart/2018/2/layout/IconVerticalSolidList"/>
    <dgm:cxn modelId="{C999138F-9D7B-4C35-927E-EFD56A156395}" type="presParOf" srcId="{4A6CEA65-F729-4DD2-9684-87729B284328}" destId="{DE3297E1-FD54-47B8-8843-87F0E452F593}" srcOrd="2" destOrd="0" presId="urn:microsoft.com/office/officeart/2018/2/layout/IconVerticalSolidList"/>
    <dgm:cxn modelId="{C99120DA-329C-4D83-AE42-3E79F97D9A93}" type="presParOf" srcId="{4A6CEA65-F729-4DD2-9684-87729B284328}" destId="{84DA49D5-686F-4A1A-B679-7553F0B475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0D7B6-2D69-411C-9D7C-6BCA864498CC}">
      <dsp:nvSpPr>
        <dsp:cNvPr id="0" name=""/>
        <dsp:cNvSpPr/>
      </dsp:nvSpPr>
      <dsp:spPr>
        <a:xfrm>
          <a:off x="0" y="138233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400" kern="1200" dirty="0"/>
            <a:t>¿Para qué hacemos evaluaciones a nuestros estudiantes?</a:t>
          </a:r>
        </a:p>
      </dsp:txBody>
      <dsp:txXfrm>
        <a:off x="41465" y="179698"/>
        <a:ext cx="7803770" cy="766490"/>
      </dsp:txXfrm>
    </dsp:sp>
    <dsp:sp modelId="{93F3A1B9-2901-4F30-AFFE-F873504A17CB}">
      <dsp:nvSpPr>
        <dsp:cNvPr id="0" name=""/>
        <dsp:cNvSpPr/>
      </dsp:nvSpPr>
      <dsp:spPr>
        <a:xfrm>
          <a:off x="0" y="129456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¿Qué dice nuestro reglamento sobre las formas en que debemos evaluar los aprendizajes de nuestros estudiantes?</a:t>
          </a:r>
        </a:p>
      </dsp:txBody>
      <dsp:txXfrm>
        <a:off x="41465" y="1336034"/>
        <a:ext cx="7803770" cy="766490"/>
      </dsp:txXfrm>
    </dsp:sp>
    <dsp:sp modelId="{970E680A-36BE-415A-BBFA-CCC4C72060A0}">
      <dsp:nvSpPr>
        <dsp:cNvPr id="0" name=""/>
        <dsp:cNvSpPr/>
      </dsp:nvSpPr>
      <dsp:spPr>
        <a:xfrm>
          <a:off x="0" y="220734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¿Estamos seguros de evaluar cumpliendo el reglamento aprobado en nuestra institución?</a:t>
          </a:r>
        </a:p>
      </dsp:txBody>
      <dsp:txXfrm>
        <a:off x="41465" y="2248814"/>
        <a:ext cx="7803770" cy="766490"/>
      </dsp:txXfrm>
    </dsp:sp>
    <dsp:sp modelId="{9E5735CD-9DA5-4123-92A8-6F590A1B0E13}">
      <dsp:nvSpPr>
        <dsp:cNvPr id="0" name=""/>
        <dsp:cNvSpPr/>
      </dsp:nvSpPr>
      <dsp:spPr>
        <a:xfrm>
          <a:off x="0" y="312012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¿Evaluamos conocimientos, actitudes y valores que han aprendido nuestros estudiantes? ¿Evaluamos de forma objetiva?</a:t>
          </a:r>
        </a:p>
      </dsp:txBody>
      <dsp:txXfrm>
        <a:off x="41465" y="3161594"/>
        <a:ext cx="7803770" cy="766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988E6-1951-4EE6-A3E1-06B42451FF26}">
      <dsp:nvSpPr>
        <dsp:cNvPr id="0" name=""/>
        <dsp:cNvSpPr/>
      </dsp:nvSpPr>
      <dsp:spPr>
        <a:xfrm>
          <a:off x="0" y="956381"/>
          <a:ext cx="48852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0E306-E08D-4EDD-990F-6D41F8841310}">
      <dsp:nvSpPr>
        <dsp:cNvPr id="0" name=""/>
        <dsp:cNvSpPr/>
      </dsp:nvSpPr>
      <dsp:spPr>
        <a:xfrm>
          <a:off x="534102" y="1353647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8F23E-9A83-41CC-A0D2-06AA333EA08A}">
      <dsp:nvSpPr>
        <dsp:cNvPr id="0" name=""/>
        <dsp:cNvSpPr/>
      </dsp:nvSpPr>
      <dsp:spPr>
        <a:xfrm>
          <a:off x="2039300" y="956381"/>
          <a:ext cx="2845902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300" kern="1200" dirty="0"/>
            <a:t>1- Lo que dice nuestro reglamento sobre la evaluación de los aprendizajes.</a:t>
          </a:r>
        </a:p>
      </dsp:txBody>
      <dsp:txXfrm>
        <a:off x="2039300" y="956381"/>
        <a:ext cx="2845902" cy="1765627"/>
      </dsp:txXfrm>
    </dsp:sp>
    <dsp:sp modelId="{EC3131EC-DB2C-4B03-A9D5-77C8F41A4D6F}">
      <dsp:nvSpPr>
        <dsp:cNvPr id="0" name=""/>
        <dsp:cNvSpPr/>
      </dsp:nvSpPr>
      <dsp:spPr>
        <a:xfrm>
          <a:off x="0" y="3163416"/>
          <a:ext cx="48852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63455-B2C2-43B9-B9F6-FFE3ADFE8CE4}">
      <dsp:nvSpPr>
        <dsp:cNvPr id="0" name=""/>
        <dsp:cNvSpPr/>
      </dsp:nvSpPr>
      <dsp:spPr>
        <a:xfrm>
          <a:off x="534102" y="3560682"/>
          <a:ext cx="971095" cy="9710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CE3F0-9C45-4445-BE73-EEF102E24291}">
      <dsp:nvSpPr>
        <dsp:cNvPr id="0" name=""/>
        <dsp:cNvSpPr/>
      </dsp:nvSpPr>
      <dsp:spPr>
        <a:xfrm>
          <a:off x="2039300" y="3163416"/>
          <a:ext cx="2845902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300" kern="1200" dirty="0"/>
            <a:t>2- ¿Qué es lo que debe ser evaluado?</a:t>
          </a:r>
        </a:p>
      </dsp:txBody>
      <dsp:txXfrm>
        <a:off x="2039300" y="3163416"/>
        <a:ext cx="2845902" cy="17656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5CA37-27FE-44C9-BD98-5566EE3E2711}">
      <dsp:nvSpPr>
        <dsp:cNvPr id="0" name=""/>
        <dsp:cNvSpPr/>
      </dsp:nvSpPr>
      <dsp:spPr>
        <a:xfrm>
          <a:off x="3361944" y="72"/>
          <a:ext cx="1516999" cy="151699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Conocimientos y habilidades vocacionales / técnicas</a:t>
          </a:r>
        </a:p>
      </dsp:txBody>
      <dsp:txXfrm>
        <a:off x="3584103" y="222231"/>
        <a:ext cx="1072681" cy="1072681"/>
      </dsp:txXfrm>
    </dsp:sp>
    <dsp:sp modelId="{12DF719D-6C81-46F0-A61C-FCC3C6BB9297}">
      <dsp:nvSpPr>
        <dsp:cNvPr id="0" name=""/>
        <dsp:cNvSpPr/>
      </dsp:nvSpPr>
      <dsp:spPr>
        <a:xfrm rot="2160000">
          <a:off x="4831237" y="116585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>
        <a:off x="4842818" y="1232610"/>
        <a:ext cx="282980" cy="307193"/>
      </dsp:txXfrm>
    </dsp:sp>
    <dsp:sp modelId="{F7EEBACA-6601-4311-9D84-5FA608B79356}">
      <dsp:nvSpPr>
        <dsp:cNvPr id="0" name=""/>
        <dsp:cNvSpPr/>
      </dsp:nvSpPr>
      <dsp:spPr>
        <a:xfrm>
          <a:off x="5206300" y="1340075"/>
          <a:ext cx="1516999" cy="151699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Conocimientos y habilidades comunes genéricas</a:t>
          </a:r>
        </a:p>
      </dsp:txBody>
      <dsp:txXfrm>
        <a:off x="5428459" y="1562234"/>
        <a:ext cx="1072681" cy="1072681"/>
      </dsp:txXfrm>
    </dsp:sp>
    <dsp:sp modelId="{36BFFE17-057E-4B74-B876-B64ABA7C70FC}">
      <dsp:nvSpPr>
        <dsp:cNvPr id="0" name=""/>
        <dsp:cNvSpPr/>
      </dsp:nvSpPr>
      <dsp:spPr>
        <a:xfrm rot="6480000">
          <a:off x="5413966" y="291578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5493343" y="2960511"/>
        <a:ext cx="282980" cy="307193"/>
      </dsp:txXfrm>
    </dsp:sp>
    <dsp:sp modelId="{A21E8E7D-989C-4E15-9B30-4BA187E3FFDC}">
      <dsp:nvSpPr>
        <dsp:cNvPr id="0" name=""/>
        <dsp:cNvSpPr/>
      </dsp:nvSpPr>
      <dsp:spPr>
        <a:xfrm>
          <a:off x="4501819" y="3508246"/>
          <a:ext cx="1516999" cy="151699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Habilidades de empleabilidad</a:t>
          </a:r>
        </a:p>
      </dsp:txBody>
      <dsp:txXfrm>
        <a:off x="4723978" y="3730405"/>
        <a:ext cx="1072681" cy="1072681"/>
      </dsp:txXfrm>
    </dsp:sp>
    <dsp:sp modelId="{D9E6EF3B-A997-4947-B2E0-2E5F7FB03E15}">
      <dsp:nvSpPr>
        <dsp:cNvPr id="0" name=""/>
        <dsp:cNvSpPr/>
      </dsp:nvSpPr>
      <dsp:spPr>
        <a:xfrm rot="10800000">
          <a:off x="3929757" y="4010752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4051034" y="4113149"/>
        <a:ext cx="282980" cy="307193"/>
      </dsp:txXfrm>
    </dsp:sp>
    <dsp:sp modelId="{CE2F1BAA-A05F-43F1-B7BC-497B4FCEDF4C}">
      <dsp:nvSpPr>
        <dsp:cNvPr id="0" name=""/>
        <dsp:cNvSpPr/>
      </dsp:nvSpPr>
      <dsp:spPr>
        <a:xfrm>
          <a:off x="2222069" y="3508246"/>
          <a:ext cx="1516999" cy="151699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Conductas del trabajador (actitudes)</a:t>
          </a:r>
        </a:p>
      </dsp:txBody>
      <dsp:txXfrm>
        <a:off x="2444228" y="3730405"/>
        <a:ext cx="1072681" cy="1072681"/>
      </dsp:txXfrm>
    </dsp:sp>
    <dsp:sp modelId="{66446C0B-BA92-4FF2-935A-04A7036FF923}">
      <dsp:nvSpPr>
        <dsp:cNvPr id="0" name=""/>
        <dsp:cNvSpPr/>
      </dsp:nvSpPr>
      <dsp:spPr>
        <a:xfrm rot="15120000">
          <a:off x="2429735" y="2937548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2509112" y="3097616"/>
        <a:ext cx="282980" cy="307193"/>
      </dsp:txXfrm>
    </dsp:sp>
    <dsp:sp modelId="{F8311EBC-2C79-42E1-976C-E6EA491053EB}">
      <dsp:nvSpPr>
        <dsp:cNvPr id="0" name=""/>
        <dsp:cNvSpPr/>
      </dsp:nvSpPr>
      <dsp:spPr>
        <a:xfrm>
          <a:off x="1517588" y="1340075"/>
          <a:ext cx="1516999" cy="151699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Habilidades académicas básicas</a:t>
          </a:r>
        </a:p>
      </dsp:txBody>
      <dsp:txXfrm>
        <a:off x="1739747" y="1562234"/>
        <a:ext cx="1072681" cy="1072681"/>
      </dsp:txXfrm>
    </dsp:sp>
    <dsp:sp modelId="{B121D221-F20B-4FBE-8603-FEB56F25CBB8}">
      <dsp:nvSpPr>
        <dsp:cNvPr id="0" name=""/>
        <dsp:cNvSpPr/>
      </dsp:nvSpPr>
      <dsp:spPr>
        <a:xfrm rot="19440000">
          <a:off x="2986881" y="117930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>
        <a:off x="2998462" y="1317344"/>
        <a:ext cx="282980" cy="3071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ABF23-A9BB-4392-A9D0-BA421B54CE68}">
      <dsp:nvSpPr>
        <dsp:cNvPr id="0" name=""/>
        <dsp:cNvSpPr/>
      </dsp:nvSpPr>
      <dsp:spPr>
        <a:xfrm>
          <a:off x="0" y="3860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BBBBE-7F40-430C-8475-B65D16CE10DC}">
      <dsp:nvSpPr>
        <dsp:cNvPr id="0" name=""/>
        <dsp:cNvSpPr/>
      </dsp:nvSpPr>
      <dsp:spPr>
        <a:xfrm>
          <a:off x="247512" y="187961"/>
          <a:ext cx="450463" cy="450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79019-7DE8-4668-A157-A21B72081594}">
      <dsp:nvSpPr>
        <dsp:cNvPr id="0" name=""/>
        <dsp:cNvSpPr/>
      </dsp:nvSpPr>
      <dsp:spPr>
        <a:xfrm>
          <a:off x="945489" y="3860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Debemos evaluar el cumplimiento de los objetivos, tanto formativos como sumativos</a:t>
          </a:r>
        </a:p>
      </dsp:txBody>
      <dsp:txXfrm>
        <a:off x="945489" y="3860"/>
        <a:ext cx="3357420" cy="819024"/>
      </dsp:txXfrm>
    </dsp:sp>
    <dsp:sp modelId="{770C9E01-0BAA-484C-9E5C-AE07E6DAD384}">
      <dsp:nvSpPr>
        <dsp:cNvPr id="0" name=""/>
        <dsp:cNvSpPr/>
      </dsp:nvSpPr>
      <dsp:spPr>
        <a:xfrm>
          <a:off x="0" y="1015596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FE7BA-E467-4AAC-95C1-1974E0FA2891}">
      <dsp:nvSpPr>
        <dsp:cNvPr id="0" name=""/>
        <dsp:cNvSpPr/>
      </dsp:nvSpPr>
      <dsp:spPr>
        <a:xfrm>
          <a:off x="247512" y="1199697"/>
          <a:ext cx="450463" cy="450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E844A-A389-4F5C-99A0-6B6A9BD38A96}">
      <dsp:nvSpPr>
        <dsp:cNvPr id="0" name=""/>
        <dsp:cNvSpPr/>
      </dsp:nvSpPr>
      <dsp:spPr>
        <a:xfrm>
          <a:off x="945489" y="1015596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El estudiante debe saber que se espera de él, es decir que conocimientos, actitudes y valores debe poner en práctica para que nos permita realizar una evaluación objetiva.</a:t>
          </a:r>
        </a:p>
      </dsp:txBody>
      <dsp:txXfrm>
        <a:off x="945489" y="1015596"/>
        <a:ext cx="3357420" cy="819024"/>
      </dsp:txXfrm>
    </dsp:sp>
    <dsp:sp modelId="{AD09D8C8-5E26-4015-B89A-86882CF36877}">
      <dsp:nvSpPr>
        <dsp:cNvPr id="0" name=""/>
        <dsp:cNvSpPr/>
      </dsp:nvSpPr>
      <dsp:spPr>
        <a:xfrm>
          <a:off x="0" y="2027332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14914-393D-4608-837B-667B299ED401}">
      <dsp:nvSpPr>
        <dsp:cNvPr id="0" name=""/>
        <dsp:cNvSpPr/>
      </dsp:nvSpPr>
      <dsp:spPr>
        <a:xfrm>
          <a:off x="247512" y="2211433"/>
          <a:ext cx="450463" cy="450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5EFE4-BF6C-4DD8-892B-54C0E55A2342}">
      <dsp:nvSpPr>
        <dsp:cNvPr id="0" name=""/>
        <dsp:cNvSpPr/>
      </dsp:nvSpPr>
      <dsp:spPr>
        <a:xfrm>
          <a:off x="945489" y="2027332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Todas las actividades didácticas deben tener objetivos e indicadores formativos y sumativos.</a:t>
          </a:r>
        </a:p>
      </dsp:txBody>
      <dsp:txXfrm>
        <a:off x="945489" y="2027332"/>
        <a:ext cx="3357420" cy="819024"/>
      </dsp:txXfrm>
    </dsp:sp>
    <dsp:sp modelId="{73C7AAFC-5C5A-422B-84BF-3CDAC9EB4B0F}">
      <dsp:nvSpPr>
        <dsp:cNvPr id="0" name=""/>
        <dsp:cNvSpPr/>
      </dsp:nvSpPr>
      <dsp:spPr>
        <a:xfrm>
          <a:off x="0" y="3039068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299D2-CF5B-4406-8293-6894A0087F5F}">
      <dsp:nvSpPr>
        <dsp:cNvPr id="0" name=""/>
        <dsp:cNvSpPr/>
      </dsp:nvSpPr>
      <dsp:spPr>
        <a:xfrm>
          <a:off x="247512" y="3223169"/>
          <a:ext cx="450463" cy="450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9F69A-3E08-4769-A3DA-F83EDE782D37}">
      <dsp:nvSpPr>
        <dsp:cNvPr id="0" name=""/>
        <dsp:cNvSpPr/>
      </dsp:nvSpPr>
      <dsp:spPr>
        <a:xfrm>
          <a:off x="945489" y="3039068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La efectividad del aprendizaje es dependiente de la frecuencia de la retroalimentación positiva.</a:t>
          </a:r>
        </a:p>
      </dsp:txBody>
      <dsp:txXfrm>
        <a:off x="945489" y="3039068"/>
        <a:ext cx="3357420" cy="819024"/>
      </dsp:txXfrm>
    </dsp:sp>
    <dsp:sp modelId="{E41109F3-A68F-49CD-A35B-4B9E95A1A21B}">
      <dsp:nvSpPr>
        <dsp:cNvPr id="0" name=""/>
        <dsp:cNvSpPr/>
      </dsp:nvSpPr>
      <dsp:spPr>
        <a:xfrm>
          <a:off x="0" y="4050804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893AA-9097-49A3-B16F-A933FDBB5337}">
      <dsp:nvSpPr>
        <dsp:cNvPr id="0" name=""/>
        <dsp:cNvSpPr/>
      </dsp:nvSpPr>
      <dsp:spPr>
        <a:xfrm>
          <a:off x="247512" y="4234905"/>
          <a:ext cx="450463" cy="450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D6046-6DA8-4CB5-B5FF-D1EEEE42A361}">
      <dsp:nvSpPr>
        <dsp:cNvPr id="0" name=""/>
        <dsp:cNvSpPr/>
      </dsp:nvSpPr>
      <dsp:spPr>
        <a:xfrm>
          <a:off x="945489" y="4050804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La evaluación debe servir para motivar al estudiante, al permitirle saber como se medirá su desempeño y a determinar su propio progreso, como a identificar sus áreas fuertes y débiles.</a:t>
          </a:r>
        </a:p>
      </dsp:txBody>
      <dsp:txXfrm>
        <a:off x="945489" y="4050804"/>
        <a:ext cx="3357420" cy="819024"/>
      </dsp:txXfrm>
    </dsp:sp>
    <dsp:sp modelId="{C75771D6-EF2A-47B5-B156-46347045E3EE}">
      <dsp:nvSpPr>
        <dsp:cNvPr id="0" name=""/>
        <dsp:cNvSpPr/>
      </dsp:nvSpPr>
      <dsp:spPr>
        <a:xfrm>
          <a:off x="0" y="5062540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3ACB0-C1E5-4178-A129-3683680F5DD2}">
      <dsp:nvSpPr>
        <dsp:cNvPr id="0" name=""/>
        <dsp:cNvSpPr/>
      </dsp:nvSpPr>
      <dsp:spPr>
        <a:xfrm>
          <a:off x="247512" y="5246641"/>
          <a:ext cx="450463" cy="4500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A49D5-686F-4A1A-B679-7553F0B475FA}">
      <dsp:nvSpPr>
        <dsp:cNvPr id="0" name=""/>
        <dsp:cNvSpPr/>
      </dsp:nvSpPr>
      <dsp:spPr>
        <a:xfrm>
          <a:off x="945489" y="5062540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La evaluación sirve para que los profesores identifiquemos las áreas en las que nuestros estudiantes necesitan apoyo.</a:t>
          </a:r>
        </a:p>
      </dsp:txBody>
      <dsp:txXfrm>
        <a:off x="945489" y="5062540"/>
        <a:ext cx="3357420" cy="819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2CD52-1CDA-4F59-BA4C-EF1A4887F9D2}" type="datetimeFigureOut">
              <a:rPr lang="es-NI" smtClean="0"/>
              <a:pPr/>
              <a:t>14/10/2019</a:t>
            </a:fld>
            <a:endParaRPr lang="es-NI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B0DD4-0740-43CE-BA22-100E81CBB81E}" type="slidenum">
              <a:rPr lang="es-NI" smtClean="0"/>
              <a:pPr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60735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C43C8-95B6-4B79-9968-62C7C82CEC40}" type="datetimeFigureOut">
              <a:rPr lang="es-NI" smtClean="0"/>
              <a:pPr/>
              <a:t>14/10/2019</a:t>
            </a:fld>
            <a:endParaRPr lang="es-NI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1852-7E99-423A-BB61-BB103ADF4236}" type="slidenum">
              <a:rPr lang="es-NI" smtClean="0"/>
              <a:pPr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3150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NI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1852-7E99-423A-BB61-BB103ADF4236}" type="slidenum">
              <a:rPr lang="es-NI" smtClean="0"/>
              <a:pPr/>
              <a:t>18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89094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916508" y="1265657"/>
            <a:ext cx="3351067" cy="979068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Notas adicionales pueden aparecer aquí en caso de ser necesarias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204788" y="1033882"/>
            <a:ext cx="3525837" cy="123825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sz="660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/>
            </a:pPr>
            <a:r>
              <a:rPr lang="is-IS" sz="6600" dirty="0">
                <a:solidFill>
                  <a:srgbClr val="FF0000"/>
                </a:solidFill>
                <a:latin typeface="EleganTech™" pitchFamily="2" charset="0"/>
                <a:ea typeface="ＭＳ Ｐゴシック" charset="-128"/>
              </a:rPr>
              <a:t>Índice</a:t>
            </a:r>
            <a:endParaRPr lang="en-US" sz="6600" dirty="0">
              <a:solidFill>
                <a:srgbClr val="FF0000"/>
              </a:solidFill>
              <a:latin typeface="EleganTech™" pitchFamily="2" charset="0"/>
              <a:ea typeface="ＭＳ Ｐゴシック" charset="-128"/>
            </a:endParaRPr>
          </a:p>
          <a:p>
            <a:pPr lvl="0"/>
            <a:endParaRPr lang="es-NI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2" hasCustomPrompt="1"/>
          </p:nvPr>
        </p:nvSpPr>
        <p:spPr>
          <a:xfrm>
            <a:off x="204788" y="3962400"/>
            <a:ext cx="3233737" cy="24034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EleganTech™" pitchFamily="2" charset="0"/>
              </a:defRPr>
            </a:lvl1pPr>
            <a:lvl2pPr>
              <a:buFont typeface="Arial" pitchFamily="34" charset="0"/>
              <a:buChar char="•"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</p:txBody>
      </p:sp>
      <p:sp>
        <p:nvSpPr>
          <p:cNvPr id="8" name="6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3900489" y="3962400"/>
            <a:ext cx="3205162" cy="24034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EleganTech™" pitchFamily="2" charset="0"/>
              </a:defRPr>
            </a:lvl1pPr>
            <a:lvl2pPr>
              <a:buFont typeface="Arial" pitchFamily="34" charset="0"/>
              <a:buChar char="•"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2075204"/>
            <a:ext cx="6183061" cy="24211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Frases o pensamientos</a:t>
            </a:r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9" y="4495800"/>
            <a:ext cx="3306762" cy="466725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Nombre de la fuente aquí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297876"/>
            <a:ext cx="6278311" cy="88665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Titulo de presentación</a:t>
            </a:r>
            <a:endParaRPr lang="en-U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184400"/>
            <a:ext cx="5516562" cy="758825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Sub-titulo si se necesita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495702"/>
            <a:ext cx="6752598" cy="16043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separador</a:t>
            </a:r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100263"/>
            <a:ext cx="6469062" cy="771525"/>
          </a:xfrm>
          <a:prstGeom prst="rect">
            <a:avLst/>
          </a:prstGeom>
        </p:spPr>
        <p:txBody>
          <a:bodyPr/>
          <a:lstStyle>
            <a:lvl1pPr>
              <a:buNone/>
              <a:defRPr sz="1600"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Sub-titulo deberán ser en este color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69888" y="2871788"/>
            <a:ext cx="6469062" cy="30241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s-NI" sz="13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>
              <a:buFont typeface="Arial" pitchFamily="34" charset="0"/>
              <a:buChar char="•"/>
              <a:defRPr sz="1100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  <a:p>
            <a:pPr lvl="1"/>
            <a:r>
              <a:rPr lang="es-ES" dirty="0"/>
              <a:t>Los puntos pueden aparecer aquí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75259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de texto en dos columnas</a:t>
            </a:r>
            <a:endParaRPr lang="en-U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276475"/>
            <a:ext cx="6752849" cy="3305175"/>
          </a:xfrm>
          <a:prstGeom prst="rect">
            <a:avLst/>
          </a:prstGeom>
        </p:spPr>
        <p:txBody>
          <a:bodyPr numCol="2"/>
          <a:lstStyle>
            <a:lvl1pPr marL="0" marR="0" indent="0" algn="just" defTabSz="4572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lang="es-NI" sz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dirty="0"/>
              <a:t>Este texto pretende mostrar la posición correcta y el tamaño del texto utilizado en esta  ubicación. </a:t>
            </a:r>
            <a:r>
              <a:rPr lang="es-ES" dirty="0"/>
              <a:t>El texto resaltado puede ser en </a:t>
            </a:r>
            <a:r>
              <a:rPr lang="es-ES" dirty="0" err="1"/>
              <a:t>bold</a:t>
            </a:r>
            <a:r>
              <a:rPr lang="es-ES" dirty="0"/>
              <a:t> rojo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bloque de texto</a:t>
            </a:r>
            <a:endParaRPr lang="en-U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238375"/>
            <a:ext cx="6985000" cy="43053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s-NI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>
              <a:buFont typeface="Arial" pitchFamily="34" charset="0"/>
              <a:buChar char="•"/>
              <a:defRPr sz="1100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sz="1200" dirty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  <a:cs typeface="+mj-cs"/>
              </a:rPr>
              <a:t>Este texto pretende mostrar la posición correcta y el tamaño del texto utilizado en esta  ubicación. El texto resaltado puede ser en rojo. Este texto pretende mostrar la posición correcta y el tamaño del texto utilizado en esta ubicación. El texto resaltado puede ser en rojo</a:t>
            </a:r>
          </a:p>
          <a:p>
            <a:pPr lvl="1"/>
            <a:r>
              <a:rPr lang="es-ES" dirty="0"/>
              <a:t>Sub puntos pueden ser así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imágenes con texto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370139" y="2273926"/>
            <a:ext cx="3238692" cy="36036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0"/>
          </p:nvPr>
        </p:nvSpPr>
        <p:spPr>
          <a:xfrm>
            <a:off x="4116264" y="2273926"/>
            <a:ext cx="3238692" cy="3603677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sz="24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69888" y="5876925"/>
            <a:ext cx="3238500" cy="8016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</p:txBody>
      </p:sp>
      <p:sp>
        <p:nvSpPr>
          <p:cNvPr id="10" name="8 Marcador de texto"/>
          <p:cNvSpPr>
            <a:spLocks noGrp="1"/>
          </p:cNvSpPr>
          <p:nvPr>
            <p:ph type="body" sz="quarter" idx="12" hasCustomPrompt="1"/>
          </p:nvPr>
        </p:nvSpPr>
        <p:spPr>
          <a:xfrm>
            <a:off x="4116264" y="5876925"/>
            <a:ext cx="3238500" cy="8016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0138" y="1043608"/>
            <a:ext cx="6908549" cy="43237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70139" y="5496547"/>
            <a:ext cx="6908548" cy="117261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1800"/>
              </a:lnSpc>
              <a:buNone/>
              <a:defRPr lang="es-NI" sz="1200" smtClean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  <a:endParaRPr lang="es-ES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314325"/>
            <a:ext cx="6726237" cy="609600"/>
          </a:xfrm>
          <a:prstGeom prst="rect">
            <a:avLst/>
          </a:prstGeom>
        </p:spPr>
        <p:txBody>
          <a:bodyPr/>
          <a:lstStyle>
            <a:lvl1pPr>
              <a:buNone/>
              <a:defRPr sz="260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ES" dirty="0"/>
              <a:t>Titular de Imagen</a:t>
            </a:r>
            <a:endParaRPr lang="es-N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85050" y="0"/>
            <a:ext cx="460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 txBox="1">
            <a:spLocks/>
          </p:cNvSpPr>
          <p:nvPr userDrawn="1"/>
        </p:nvSpPr>
        <p:spPr>
          <a:xfrm>
            <a:off x="369888" y="2395538"/>
            <a:ext cx="6985000" cy="405447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algn="just">
              <a:defRPr/>
            </a:pPr>
            <a:r>
              <a:rPr lang="es-NI" sz="1200" dirty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  <a:cs typeface="+mj-cs"/>
              </a:rPr>
              <a:t>Las  guías rojas mostradas en todo el documento determinan el limite que se tendrá que respetar para que ningún título o cuadro de texto invada el área de protección de la marca.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ea typeface="ＭＳ Ｐゴシック" charset="-128"/>
              <a:cs typeface="+mj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Limitantes y guías a respetar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30732-3D9D-414C-8CAC-65F7296B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9FC7A5-1D67-4EFF-B6C2-77EA83EC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B7530D-846E-4B42-8D2F-4ED248B5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D7ECF16-5872-4591-A551-F7E2B68DAE62}" type="datetime1">
              <a:rPr lang="en-US" smtClean="0"/>
              <a:t>10/14/2019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4984EF-F775-43D6-9C2E-57F7A9C5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s-NI"/>
              <a:t>El turismo generador de empleo y oportunidades para todos. Día del Turismo. Edelmira Morales. Sep.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ACA8F4-E1EF-43C8-9749-2F68B9F8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6E415FD-9E47-4847-B618-5821271C3E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4422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Titular de Presentación</a:t>
            </a:r>
            <a:endParaRPr lang="es-NI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86175" y="3048000"/>
            <a:ext cx="4686300" cy="885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Nombre de Expositor y fecha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 userDrawn="1"/>
        </p:nvSpPr>
        <p:spPr>
          <a:xfrm>
            <a:off x="0" y="0"/>
            <a:ext cx="123825" cy="19335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" name="2 Rectángulo"/>
          <p:cNvSpPr/>
          <p:nvPr userDrawn="1"/>
        </p:nvSpPr>
        <p:spPr>
          <a:xfrm>
            <a:off x="0" y="2124075"/>
            <a:ext cx="123825" cy="47339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1026" name="Picture 2" descr="C:\Users\Yamil\Desktop\logo-01.png"/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008" y="5758664"/>
            <a:ext cx="1501608" cy="97604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701" r:id="rId10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6600" kern="1200">
          <a:solidFill>
            <a:srgbClr val="FF0000"/>
          </a:solidFill>
          <a:latin typeface="EleganTech?"/>
          <a:ea typeface="ＭＳ Ｐゴシック" charset="-128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Calibri" pitchFamily="34" charset="0"/>
        <a:buAutoNum type="arabicPeriod"/>
        <a:defRPr sz="1400" kern="1200">
          <a:solidFill>
            <a:srgbClr val="595959"/>
          </a:solidFill>
          <a:latin typeface="EleganTech?"/>
          <a:ea typeface="ＭＳ Ｐゴシック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logo-01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938" y="259021"/>
            <a:ext cx="1867359" cy="1213783"/>
          </a:xfrm>
          <a:prstGeom prst="rect">
            <a:avLst/>
          </a:prstGeom>
        </p:spPr>
      </p:pic>
      <p:sp>
        <p:nvSpPr>
          <p:cNvPr id="4" name="3 Rectángulo"/>
          <p:cNvSpPr/>
          <p:nvPr userDrawn="1"/>
        </p:nvSpPr>
        <p:spPr>
          <a:xfrm>
            <a:off x="494615" y="4985535"/>
            <a:ext cx="45719" cy="42930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4 Rectángulo"/>
          <p:cNvSpPr/>
          <p:nvPr userDrawn="1"/>
        </p:nvSpPr>
        <p:spPr>
          <a:xfrm>
            <a:off x="494615" y="5472820"/>
            <a:ext cx="45719" cy="9836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5 Rectángulo"/>
          <p:cNvSpPr/>
          <p:nvPr userDrawn="1"/>
        </p:nvSpPr>
        <p:spPr>
          <a:xfrm>
            <a:off x="2147297" y="2781300"/>
            <a:ext cx="1453153" cy="666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7 Rectángulo"/>
          <p:cNvSpPr/>
          <p:nvPr userDrawn="1"/>
        </p:nvSpPr>
        <p:spPr>
          <a:xfrm>
            <a:off x="3752850" y="2781300"/>
            <a:ext cx="5191125" cy="666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686175" y="1472804"/>
            <a:ext cx="457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de Presentación</a:t>
            </a:r>
            <a:endParaRPr lang="es-NI" dirty="0"/>
          </a:p>
        </p:txBody>
      </p:sp>
      <p:sp>
        <p:nvSpPr>
          <p:cNvPr id="13" name="9 Marcador de título"/>
          <p:cNvSpPr txBox="1">
            <a:spLocks/>
          </p:cNvSpPr>
          <p:nvPr userDrawn="1"/>
        </p:nvSpPr>
        <p:spPr>
          <a:xfrm>
            <a:off x="581025" y="4985535"/>
            <a:ext cx="2295525" cy="16343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www.upoli.edu.ni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rurrivas@upoli.edu.ni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ingenieriarivas@upoli.edu.ni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Costado Sur, Villa Rubén Darío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Apartado Postal 3595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Teléfono: (505) 2289-7740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Fax: (505) 2249-9232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Managua - Nicaragua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NI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FF0000"/>
          </a:solidFill>
          <a:latin typeface="EleganTech™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100" kern="1200">
          <a:solidFill>
            <a:schemeClr val="tx1"/>
          </a:solidFill>
          <a:latin typeface="Eurostile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poli.edu.ni" TargetMode="Externa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2069452" y="1309403"/>
            <a:ext cx="6925612" cy="13064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NI" sz="2800" dirty="0">
                <a:latin typeface="Arial"/>
                <a:cs typeface="Arial"/>
              </a:rPr>
              <a:t>TALLER DE EVALUACION DE LOS APRENDIZAJES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2069452" y="2969435"/>
            <a:ext cx="6813947" cy="1639665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s-NI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María Edelmira Morales González. Especialista en Docencia universitaria</a:t>
            </a:r>
          </a:p>
          <a:p>
            <a:pPr>
              <a:lnSpc>
                <a:spcPct val="140000"/>
              </a:lnSpc>
            </a:pPr>
            <a:r>
              <a:rPr lang="es-NI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UPOLI</a:t>
            </a:r>
          </a:p>
        </p:txBody>
      </p:sp>
      <p:sp>
        <p:nvSpPr>
          <p:cNvPr id="7" name="4 CuadroTexto"/>
          <p:cNvSpPr txBox="1"/>
          <p:nvPr/>
        </p:nvSpPr>
        <p:spPr>
          <a:xfrm>
            <a:off x="647699" y="4983443"/>
            <a:ext cx="3376659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  <a:hlinkClick r:id="rId2"/>
              </a:rPr>
              <a:t>www.upoli.edu.ni</a:t>
            </a:r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turismo@upoli.edu.ni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Km 112 ½ carretera Panamericana  </a:t>
            </a: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San Félix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Teléfono: [505] 25633360</a:t>
            </a: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Rivas, Nicaragua.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A8F37E8-21C9-46C6-9255-E7FDBB1A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272"/>
            <a:ext cx="7886700" cy="1325563"/>
          </a:xfrm>
        </p:spPr>
        <p:txBody>
          <a:bodyPr/>
          <a:lstStyle/>
          <a:p>
            <a:r>
              <a:rPr lang="es-NI" sz="3600" dirty="0"/>
              <a:t>Reflexiones sobre las evaluaciones que aplicamos a nuestros estudiantes:</a:t>
            </a:r>
          </a:p>
        </p:txBody>
      </p:sp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DD343C99-C11A-4718-9C5A-48E2A365B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4471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E0CA37C-0E37-4351-9C33-C0C7CE4B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856" y="6290558"/>
            <a:ext cx="2057400" cy="365125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fld id="{FE261834-7274-4B9D-BBE7-04FA94C320D7}" type="datetime1">
              <a:rPr lang="en-US" smtClean="0">
                <a:solidFill>
                  <a:srgbClr val="FFFFFF"/>
                </a:solidFill>
              </a:rPr>
              <a:t>10/14/2019</a:t>
            </a:fld>
            <a:endParaRPr lang="es-NI">
              <a:solidFill>
                <a:srgbClr val="FFFFFF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AF212F-2DD1-41B1-8949-FB7C85EE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NI" sz="800">
                <a:solidFill>
                  <a:schemeClr val="tx1"/>
                </a:solidFill>
              </a:rPr>
              <a:t>El turismo generador de empleo y oportunidades para todos. Día del Turismo. Edelmira Morales. Sep. 2019</a:t>
            </a:r>
          </a:p>
        </p:txBody>
      </p:sp>
    </p:spTree>
    <p:extLst>
      <p:ext uri="{BB962C8B-B14F-4D97-AF65-F5344CB8AC3E}">
        <p14:creationId xmlns:p14="http://schemas.microsoft.com/office/powerpoint/2010/main" val="242908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1C2018-A487-4A9D-BDBE-F5BBD2C0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lang="es-NI" sz="4100">
                <a:solidFill>
                  <a:srgbClr val="FFFFFF"/>
                </a:solidFill>
              </a:rPr>
              <a:t>Contenido Sesión 1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14BCDCA-D749-4412-B762-451DA789E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054857"/>
              </p:ext>
            </p:extLst>
          </p:nvPr>
        </p:nvGraphicFramePr>
        <p:xfrm>
          <a:off x="3895725" y="470924"/>
          <a:ext cx="4885203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24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7929" cy="6858000"/>
          </a:xfrm>
          <a:prstGeom prst="rect">
            <a:avLst/>
          </a:prstGeom>
          <a:gradFill>
            <a:gsLst>
              <a:gs pos="0">
                <a:srgbClr val="E3411B">
                  <a:lumMod val="90000"/>
                </a:srgbClr>
              </a:gs>
              <a:gs pos="25000">
                <a:srgbClr val="E3411B">
                  <a:lumMod val="90000"/>
                </a:srgb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392014D-53C2-4CE6-83FD-ABD73053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2053641"/>
            <a:ext cx="2751871" cy="2760098"/>
          </a:xfrm>
        </p:spPr>
        <p:txBody>
          <a:bodyPr>
            <a:normAutofit/>
          </a:bodyPr>
          <a:lstStyle/>
          <a:p>
            <a:r>
              <a:rPr lang="es-NI" sz="51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3B25D-EA22-4C1A-8426-D2757346D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</p:spPr>
        <p:txBody>
          <a:bodyPr anchor="ctr">
            <a:normAutofit/>
          </a:bodyPr>
          <a:lstStyle/>
          <a:p>
            <a:r>
              <a:rPr lang="es-NI" sz="2100" dirty="0">
                <a:solidFill>
                  <a:srgbClr val="000000"/>
                </a:solidFill>
              </a:rPr>
              <a:t>Reconocer el sistema de evaluación adoptado por </a:t>
            </a:r>
            <a:r>
              <a:rPr lang="es-NI" sz="2100">
                <a:solidFill>
                  <a:srgbClr val="000000"/>
                </a:solidFill>
              </a:rPr>
              <a:t>Upoli</a:t>
            </a:r>
            <a:r>
              <a:rPr lang="es-NI" sz="2100" dirty="0">
                <a:solidFill>
                  <a:srgbClr val="000000"/>
                </a:solidFill>
              </a:rPr>
              <a:t> para ponerlo en practica en cada una de las sesiones de clases.</a:t>
            </a:r>
          </a:p>
          <a:p>
            <a:r>
              <a:rPr lang="es-NI" sz="2100" dirty="0">
                <a:solidFill>
                  <a:srgbClr val="000000"/>
                </a:solidFill>
              </a:rPr>
              <a:t>Aclarar dudas en cuanto a lo “que se debe evaluar” en cada asignatura, y sesión de clase.</a:t>
            </a:r>
          </a:p>
          <a:p>
            <a:pPr marL="0" indent="0">
              <a:buNone/>
            </a:pPr>
            <a:endParaRPr lang="es-NI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99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417AC-0256-471A-B900-64914C8A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4430"/>
          </a:xfrm>
        </p:spPr>
        <p:txBody>
          <a:bodyPr/>
          <a:lstStyle/>
          <a:p>
            <a:br>
              <a:rPr lang="es-NI" dirty="0"/>
            </a:br>
            <a:endParaRPr lang="es-NI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FB4EC-942B-43A9-AA1D-88199B74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8" y="1174044"/>
            <a:ext cx="8086372" cy="5318829"/>
          </a:xfrm>
        </p:spPr>
        <p:txBody>
          <a:bodyPr numCol="2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800" b="1" dirty="0"/>
              <a:t>Artículo 74.(</a:t>
            </a:r>
            <a:r>
              <a:rPr lang="es-NI" sz="1800" dirty="0"/>
              <a:t>RAE) La evaluación del aprendizaje es el proceso integral y sistemático en el cual se </a:t>
            </a:r>
            <a:r>
              <a:rPr lang="es-NI" sz="1800" b="1" dirty="0">
                <a:solidFill>
                  <a:srgbClr val="FF0000"/>
                </a:solidFill>
              </a:rPr>
              <a:t>valora la adquisición y asimilación de conocimientos, actitudes y valores contenidos en los programas de las asignaturas mediante evidencias de diversa índole.</a:t>
            </a:r>
            <a:r>
              <a:rPr lang="es-NI" sz="1800" dirty="0"/>
              <a:t> La evaluación se realizará a través de diferentes técnicas tales como: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Pruebas diagnósticas, parciales y finales, orales y escritas.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Trabajo individual o de equipo en clase.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 Trabajos de estudio independiente (fuera del aula): observaciones, investigaciones, carpetas, proyectos, reportes escritos, análisis crítico, entre otros. Podrán ser individuales o colectivos.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 Observación de los/las estudiantes por parte del/la docente.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Autoevaluación y coevaluación de los/las estudiantes.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Portafolio.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Foros, seminarios, ensayos, estudios de casos, simulación de casos. </a:t>
            </a:r>
          </a:p>
          <a:p>
            <a:pPr marL="0" indent="0">
              <a:buNone/>
            </a:pPr>
            <a:endParaRPr lang="es-NI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336EC4-DCDA-4F05-B737-B92136F93562}"/>
              </a:ext>
            </a:extLst>
          </p:cNvPr>
          <p:cNvSpPr/>
          <p:nvPr/>
        </p:nvSpPr>
        <p:spPr>
          <a:xfrm>
            <a:off x="903110" y="339176"/>
            <a:ext cx="73829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sz="2400" dirty="0">
                <a:solidFill>
                  <a:srgbClr val="FF0000"/>
                </a:solidFill>
              </a:rPr>
              <a:t>1- Lo que dice nuestro reglamento sobre  la evaluación de los aprendizajes</a:t>
            </a:r>
          </a:p>
        </p:txBody>
      </p:sp>
    </p:spTree>
    <p:extLst>
      <p:ext uri="{BB962C8B-B14F-4D97-AF65-F5344CB8AC3E}">
        <p14:creationId xmlns:p14="http://schemas.microsoft.com/office/powerpoint/2010/main" val="71866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6268-3167-4DEF-ABFA-136FB594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0444"/>
            <a:ext cx="7886700" cy="741185"/>
          </a:xfrm>
        </p:spPr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  <a:br>
              <a:rPr lang="es-NI" sz="3600" dirty="0"/>
            </a:br>
            <a:endParaRPr lang="es-NI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B76B09-CFFD-4D0C-9037-DE6CE83D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0"/>
            <a:ext cx="8097661" cy="4754563"/>
          </a:xfrm>
        </p:spPr>
        <p:txBody>
          <a:bodyPr/>
          <a:lstStyle/>
          <a:p>
            <a:pPr marL="0" indent="0">
              <a:buNone/>
            </a:pPr>
            <a:r>
              <a:rPr lang="es-NI" b="1" dirty="0"/>
              <a:t>Artículo 75. </a:t>
            </a:r>
            <a:r>
              <a:rPr lang="es-NI" dirty="0"/>
              <a:t>(RAE) Las formas de  evaluación  serán fija- das por el/la docente de cada asigna- tura, seminario o módulo, a través del sílabo correspondiente  y  presentado a los/las estudiantes el primer día de clases.  Esto  será  válido  para  todas las modalidades educativas. El/la estudiante podrá solicitar a las Escuelas y Recintos el sílabo correspondiente, asumiendo el costo. </a:t>
            </a:r>
          </a:p>
          <a:p>
            <a:pPr marL="0" indent="0">
              <a:buNone/>
            </a:pPr>
            <a:endParaRPr lang="es-NI" dirty="0"/>
          </a:p>
          <a:p>
            <a:pPr marL="0" indent="0">
              <a:buNone/>
            </a:pPr>
            <a:r>
              <a:rPr lang="es-NI" b="1" dirty="0"/>
              <a:t>Artículo 76. </a:t>
            </a:r>
            <a:r>
              <a:rPr lang="es-NI" dirty="0"/>
              <a:t>(RAE).  Los resultados de la evaluación se ex- presan a través de la siguiente escala de calificación:</a:t>
            </a:r>
          </a:p>
          <a:p>
            <a:pPr marL="0" indent="0">
              <a:buNone/>
            </a:pPr>
            <a:r>
              <a:rPr lang="es-NI" dirty="0"/>
              <a:t>	</a:t>
            </a:r>
            <a:r>
              <a:rPr lang="es-NI" b="1" dirty="0"/>
              <a:t>90-100         Excelente </a:t>
            </a:r>
          </a:p>
          <a:p>
            <a:pPr marL="0" indent="0">
              <a:buNone/>
            </a:pPr>
            <a:r>
              <a:rPr lang="es-NI" b="1" dirty="0"/>
              <a:t>	80-89           Muy Bueno </a:t>
            </a:r>
          </a:p>
          <a:p>
            <a:pPr marL="0" indent="0">
              <a:buNone/>
            </a:pPr>
            <a:r>
              <a:rPr lang="es-NI" b="1" dirty="0"/>
              <a:t>	70-79 	           Bueno </a:t>
            </a:r>
          </a:p>
          <a:p>
            <a:pPr marL="0" indent="0">
              <a:buNone/>
            </a:pPr>
            <a:r>
              <a:rPr lang="es-NI" b="1" dirty="0"/>
              <a:t>	60-69            Regular </a:t>
            </a:r>
          </a:p>
          <a:p>
            <a:pPr marL="0" indent="0">
              <a:buNone/>
            </a:pPr>
            <a:r>
              <a:rPr lang="es-NI" b="1" dirty="0"/>
              <a:t>	0-59              Reprobado </a:t>
            </a:r>
          </a:p>
          <a:p>
            <a:pPr marL="0" indent="0">
              <a:buNone/>
            </a:pPr>
            <a:r>
              <a:rPr lang="es-NI" b="1" dirty="0">
                <a:solidFill>
                  <a:srgbClr val="FF0000"/>
                </a:solidFill>
              </a:rPr>
              <a:t>La nota mínima para aprobar será de 60</a:t>
            </a:r>
            <a:r>
              <a:rPr lang="es-NI" dirty="0"/>
              <a:t>. </a:t>
            </a:r>
          </a:p>
          <a:p>
            <a:pPr marL="0" indent="0">
              <a:buNone/>
            </a:pPr>
            <a:r>
              <a:rPr lang="es-NI" b="1" dirty="0"/>
              <a:t>Artículo 77 </a:t>
            </a:r>
            <a:r>
              <a:rPr lang="es-NI" dirty="0"/>
              <a:t>La evaluación de las asignaturas que se implementará en las diversas modalidades educativas se clasificarán en: evaluación sistemática y evaluación parcial. </a:t>
            </a:r>
            <a:r>
              <a:rPr lang="es-NI" b="1" dirty="0"/>
              <a:t>Evaluación sistemática</a:t>
            </a:r>
            <a:r>
              <a:rPr lang="es-NI" dirty="0"/>
              <a:t>: Integra los resultados acumulados de las diversas pruebas o trabajos asignados por el/la docente. Se realiza antes de cada prueba parcial. </a:t>
            </a:r>
            <a:r>
              <a:rPr lang="es-NI" b="1" dirty="0"/>
              <a:t>Evaluación parcial</a:t>
            </a:r>
            <a:r>
              <a:rPr lang="es-NI" dirty="0"/>
              <a:t>: Se realiza mediante prueba oral, escrita, proyecto de curso, ensayo o cualquier actividad de evaluación establecida según las características de cada asignatura. A lo largo del ciclo académico se realizarán dos evaluaciones parciales. </a:t>
            </a:r>
          </a:p>
        </p:txBody>
      </p:sp>
    </p:spTree>
    <p:extLst>
      <p:ext uri="{BB962C8B-B14F-4D97-AF65-F5344CB8AC3E}">
        <p14:creationId xmlns:p14="http://schemas.microsoft.com/office/powerpoint/2010/main" val="3901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E208A-7382-4DF8-9011-C2BAE5B8F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758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NI" b="1" dirty="0"/>
              <a:t>Artículo 78 </a:t>
            </a:r>
            <a:r>
              <a:rPr lang="es-NI" dirty="0"/>
              <a:t>La calificación se realizará de la forma siguiente: Evaluación sistemática: El/la estudiante antes de cada evaluación parcial debe </a:t>
            </a:r>
            <a:r>
              <a:rPr lang="es-NI" b="1" dirty="0"/>
              <a:t>acumular 30 puntos</a:t>
            </a:r>
            <a:r>
              <a:rPr lang="es-NI" dirty="0"/>
              <a:t>. En </a:t>
            </a:r>
            <a:r>
              <a:rPr lang="es-NI" b="1" dirty="0"/>
              <a:t>total acumulará 60 </a:t>
            </a:r>
            <a:r>
              <a:rPr lang="es-NI" dirty="0"/>
              <a:t>puntos en concepto de evaluación sistemática. Evaluación parcial: El/la estudiante realizará dos pruebas parciales. En cada </a:t>
            </a:r>
            <a:r>
              <a:rPr lang="es-NI" b="1" dirty="0"/>
              <a:t>evaluación parcial debe acumular 20 puntos</a:t>
            </a:r>
            <a:r>
              <a:rPr lang="es-NI" dirty="0"/>
              <a:t>. En </a:t>
            </a:r>
            <a:r>
              <a:rPr lang="es-NI" b="1" dirty="0"/>
              <a:t>total acumulará 40 puntos en concepto de evaluación parcial. </a:t>
            </a:r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r>
              <a:rPr lang="es-NI" b="1" dirty="0"/>
              <a:t>Artículo 79 </a:t>
            </a:r>
            <a:r>
              <a:rPr lang="es-NI" dirty="0"/>
              <a:t>Los/las docentes deberán entregar los resultados de las evaluaciones sistemáticas y parciales con la calificación respectiva, en un plazo no mayor de 5 (cinco) días hábiles después de su aplicación. Una vez entregado los resulta- dos el/la docente debe analizarlo con los estudiantes a fin de que ellos reconozcan sus aciertos y errores y además se cumpla el principio de que la evaluación es parte del proceso enseñanza- aprendizaje. </a:t>
            </a:r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EDCB105-B866-4B63-995C-2ABA55C9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8370"/>
            <a:ext cx="7886700" cy="1002841"/>
          </a:xfrm>
        </p:spPr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  <a:br>
              <a:rPr lang="es-NI" sz="3600" dirty="0"/>
            </a:br>
            <a:endParaRPr lang="es-NI" sz="36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85E8D85C-DDFF-436C-AF25-9E0DA9752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22420"/>
              </p:ext>
            </p:extLst>
          </p:nvPr>
        </p:nvGraphicFramePr>
        <p:xfrm>
          <a:off x="745067" y="2977445"/>
          <a:ext cx="78867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56653541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0692201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58985947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55825331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595758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Evaluación sistemática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parcial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sistemática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parcial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Calificación final:</a:t>
                      </a:r>
                    </a:p>
                    <a:p>
                      <a:r>
                        <a:rPr lang="es-NI" dirty="0"/>
                        <a:t>Sumatoria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88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30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30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100 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2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2C7E8-0BCE-4112-9764-1FEE31A4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66EBD-BA6D-4CCC-8CA7-8872E34A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500" b="1" dirty="0"/>
              <a:t>Artículo 80 </a:t>
            </a:r>
            <a:r>
              <a:rPr lang="es-NI" sz="1500" dirty="0"/>
              <a:t>En los </a:t>
            </a:r>
            <a:r>
              <a:rPr lang="es-NI" sz="1500" b="1" dirty="0">
                <a:solidFill>
                  <a:srgbClr val="FF0000"/>
                </a:solidFill>
              </a:rPr>
              <a:t>casos de extravío </a:t>
            </a:r>
            <a:r>
              <a:rPr lang="es-NI" sz="1500" dirty="0"/>
              <a:t>de pruebas o trabajos susceptibles de calificación, cuya entrega esté debidamente comprobada, </a:t>
            </a:r>
            <a:r>
              <a:rPr lang="es-NI" sz="1500" dirty="0">
                <a:solidFill>
                  <a:srgbClr val="FF0000"/>
                </a:solidFill>
              </a:rPr>
              <a:t>el docente dará derecho a el/ la estudiante según sea el caso:</a:t>
            </a:r>
            <a:r>
              <a:rPr lang="es-NI" sz="1500" dirty="0"/>
              <a:t> a) Si la evaluación es sistemática el/la estudiante puede repetir la prueba o trabajo asignado, o aceptar la nota mínima. b) Si la evaluación fuera parcial (I o II) el/la docente deberá calificar tomando como referencia la nota de la evaluación sistemática. Los casos no previstos en este artículo serán resueltos por la Escuela o Recinto de común acuerdo con el/la docente y el/la estudiante, aplicando siempre la norma que más favorezca al estudiante. Sin perjuicio de lo anterior, el/la docente deberá notificar ante su instancia superior la ocurrencia de este hecho. </a:t>
            </a:r>
          </a:p>
          <a:p>
            <a:pPr marL="0" indent="0">
              <a:buNone/>
            </a:pPr>
            <a:endParaRPr lang="es-NI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500" b="1" dirty="0"/>
              <a:t>Artículo 81 </a:t>
            </a:r>
            <a:r>
              <a:rPr lang="es-NI" sz="1500" dirty="0"/>
              <a:t>Los/</a:t>
            </a:r>
            <a:r>
              <a:rPr lang="es-NI" sz="1500" dirty="0">
                <a:solidFill>
                  <a:srgbClr val="FF0000"/>
                </a:solidFill>
              </a:rPr>
              <a:t>las estudiantes deberán solicitar a el/la docente sus exámenes, trabajos de investigación, tareas u otros documentos que respalden sus calificaciones, conservándolos intactos durante un año, para ser presentados como prueba en caso de reclamo</a:t>
            </a:r>
            <a:r>
              <a:rPr lang="es-NI" sz="1500" dirty="0"/>
              <a:t>. De igual manera, el/la docente deberá conservar durante el mismo período los documentos no reclamados, para efectos de resolver solicitudes de revisión por parte de los/ las estudiantes. Para los efectos de este artículo, </a:t>
            </a:r>
            <a:r>
              <a:rPr lang="es-NI" sz="1500" dirty="0">
                <a:highlight>
                  <a:srgbClr val="FFFF00"/>
                </a:highlight>
              </a:rPr>
              <a:t>cuando la evaluación practicada sea oral, el/la docente deberá entregar a el/la evaluado/a un acta escrita en donde ratifique la nota obtenida</a:t>
            </a:r>
            <a:r>
              <a:rPr lang="es-NI" sz="1500" dirty="0"/>
              <a:t>. La Dirección de Registro Académico establecerá el formato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850593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BDE57-7A93-42B2-B803-DCF71AC4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1- 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819113-C3E8-4CB7-8BD8-D5D94376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600" dirty="0"/>
              <a:t>Artículo 82 Los/las estudiantes, al momento de recibir los resultados de sus evaluaciones realizadas, tendrán derecho a reclamar a el/la docente, si están en desacuerdo con los mismos. En caso de no  llegar a una solución docente-estudiante en cuanto a la calificación, el/la estudian- te podrá hacer uso de los recursos de revisión, reforma y apelación establecidos en el presente Reglamento. </a:t>
            </a:r>
          </a:p>
          <a:p>
            <a:pPr marL="0" indent="0">
              <a:buNone/>
            </a:pPr>
            <a:endParaRPr lang="es-NI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600" dirty="0"/>
              <a:t>Artículo 83 </a:t>
            </a:r>
            <a:r>
              <a:rPr lang="es-NI" sz="1600" dirty="0">
                <a:solidFill>
                  <a:srgbClr val="FF0000"/>
                </a:solidFill>
              </a:rPr>
              <a:t>Los estudiantes que reprueben en el ciclo académico vigente </a:t>
            </a:r>
            <a:r>
              <a:rPr lang="es-NI" sz="1600" dirty="0"/>
              <a:t>podrán optar por: a) EXAMEN DE RECUPERACIÓN O SEGUNDA CONVOCATORIA: es el que se realiza para dar a los/las estudiantes la oportunidad de demostrar el dominio de un curso que hayan reprobado al obtener la calificación final. Esta evaluación contempla todo el con- tenido del curso. Los/las estudiantes de la modalidad regular y por encuentro tendrán derecho a </a:t>
            </a:r>
            <a:r>
              <a:rPr lang="es-NI" sz="1600" dirty="0">
                <a:solidFill>
                  <a:srgbClr val="FF0000"/>
                </a:solidFill>
              </a:rPr>
              <a:t>realizar examen en no más de tres asignaturas reprobadas </a:t>
            </a:r>
            <a:r>
              <a:rPr lang="es-NI" sz="1600" dirty="0"/>
              <a:t>en cada semestre. Tendrán </a:t>
            </a:r>
            <a:r>
              <a:rPr lang="es-NI" sz="1600" dirty="0">
                <a:solidFill>
                  <a:srgbClr val="FF0000"/>
                </a:solidFill>
              </a:rPr>
              <a:t>derecho a realizar este examen los/las estudiantes que cumplan con el número de asistencias requeridas </a:t>
            </a:r>
            <a:r>
              <a:rPr lang="es-NI" sz="1600" dirty="0"/>
              <a:t>en el artículo 70 de este Reglamento y tengan reportada calificación acumulada mayor de cero. </a:t>
            </a:r>
          </a:p>
        </p:txBody>
      </p:sp>
    </p:spTree>
    <p:extLst>
      <p:ext uri="{BB962C8B-B14F-4D97-AF65-F5344CB8AC3E}">
        <p14:creationId xmlns:p14="http://schemas.microsoft.com/office/powerpoint/2010/main" val="87683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9E4BE-445F-4A18-A4C4-F55AA9C4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61CBA4-25B9-49A5-AE13-C166499BD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NI" sz="1600" dirty="0"/>
              <a:t>El/la </a:t>
            </a:r>
            <a:r>
              <a:rPr lang="es-NI" sz="1600" dirty="0">
                <a:solidFill>
                  <a:srgbClr val="0070C0"/>
                </a:solidFill>
              </a:rPr>
              <a:t>estudiante que se presenta a una evaluación  de   recuperación   pierde el puntaje acumulado anteriormente</a:t>
            </a:r>
            <a:r>
              <a:rPr lang="es-NI" sz="1600" dirty="0"/>
              <a:t>. Si aprueba el examen, </a:t>
            </a:r>
            <a:r>
              <a:rPr lang="es-NI" sz="1600" dirty="0">
                <a:solidFill>
                  <a:srgbClr val="C00000"/>
                </a:solidFill>
              </a:rPr>
              <a:t>la    calificación máxima que puede obtener será de 80 </a:t>
            </a:r>
            <a:r>
              <a:rPr lang="es-NI" sz="1600" dirty="0"/>
              <a:t>(ochenta). El/la estudiante que resultare reprobado/a en una evaluación de recuperación </a:t>
            </a:r>
            <a:r>
              <a:rPr lang="es-NI" sz="1600" dirty="0">
                <a:solidFill>
                  <a:srgbClr val="FF0000"/>
                </a:solidFill>
              </a:rPr>
              <a:t>tendrá derecho a inscribir la asignatura hasta 2 veces más</a:t>
            </a:r>
            <a:r>
              <a:rPr lang="es-NI" sz="1600" dirty="0"/>
              <a:t>. Si reprobare en las tres oportunidades, el decano/a de Escuela o director/a Recinto tomará acciones para revisar la situación del estudiante y dictaminará si continúa en la carrera (por causas excepcionales laborales, académicas o de enfermedad) o pierde el derecho a la misma.</a:t>
            </a:r>
          </a:p>
          <a:p>
            <a:pPr marL="0" indent="0">
              <a:buNone/>
            </a:pPr>
            <a:endParaRPr lang="es-NI" sz="1600" dirty="0"/>
          </a:p>
          <a:p>
            <a:pPr marL="0" indent="0">
              <a:buNone/>
            </a:pPr>
            <a:r>
              <a:rPr lang="es-NI" sz="1600" dirty="0"/>
              <a:t>b) EXAMEN DE REPOSICIÓN: </a:t>
            </a:r>
            <a:r>
              <a:rPr lang="es-NI" sz="1600" dirty="0">
                <a:solidFill>
                  <a:srgbClr val="FF0000"/>
                </a:solidFill>
              </a:rPr>
              <a:t>en caso de inasistencia a un examen parcial o de recuperación, a causa de maternidad o enfermedad grave debidamente comprobada mediante certificado médico, el/la estudiante tendrá derecho a ser examinado</a:t>
            </a:r>
            <a:r>
              <a:rPr lang="es-NI" sz="1600" dirty="0"/>
              <a:t>/a en una nueva fecha, que no podrá exceder de quince días a partir de aceptada la justificación. Cualquier caso de inasistencia a actividades de evaluación, por otras causas debidamente justificadas no contempladas en el párrafo anterior, se presentará ante la Decanatura de la Escuela o Dirección de Recinto, la que valorará cada caso. De realizarse </a:t>
            </a:r>
            <a:r>
              <a:rPr lang="es-NI" sz="1600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la reprogramación del examen, el/la estudiante pagará el arancel correspondiente. (15 dólares)</a:t>
            </a:r>
          </a:p>
          <a:p>
            <a:pPr marL="0" indent="0">
              <a:buNone/>
            </a:pP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236539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B39D-7A04-4CD0-A666-38AE2965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2- ¿Qué es lo que debe ser evaluado?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85E948F-1EBD-49E2-A125-224144BA2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60713"/>
              </p:ext>
            </p:extLst>
          </p:nvPr>
        </p:nvGraphicFramePr>
        <p:xfrm>
          <a:off x="485421" y="1467556"/>
          <a:ext cx="8240889" cy="5025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44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90DD63-00CE-429A-AA63-1008C9F6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lang="es-NI" sz="3600">
                <a:solidFill>
                  <a:srgbClr val="FFFFFF"/>
                </a:solidFill>
              </a:rPr>
              <a:t>Resumiendo . . .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A8B5EF0-DFFF-4D53-B46E-7479573D0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861429"/>
              </p:ext>
            </p:extLst>
          </p:nvPr>
        </p:nvGraphicFramePr>
        <p:xfrm>
          <a:off x="3895725" y="470924"/>
          <a:ext cx="4885203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177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9270B-962F-40A0-9C3E-3A43D45E7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4400" dirty="0"/>
              <a:t>Actividad de aprendizaje:</a:t>
            </a:r>
            <a:br>
              <a:rPr lang="es-NI" sz="4400" dirty="0"/>
            </a:br>
            <a:endParaRPr lang="es-NI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32451-D6F1-43DF-A6A7-24E189B1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NI" dirty="0"/>
              <a:t>Con el programa de la asignatura seleccionada completar la siguiente matriz:</a:t>
            </a:r>
          </a:p>
          <a:p>
            <a:pPr marL="0" indent="0">
              <a:buNone/>
            </a:pPr>
            <a:r>
              <a:rPr lang="es-NI" dirty="0"/>
              <a:t>MATRIZ DE OBJETIVOS SUMATIVOS Y FORMATIVOS, ESTRATEGIA DE ENSEÑANZA, INDICADORES E INSTRUMENTOS DE EVALUACIÓN.</a:t>
            </a:r>
          </a:p>
          <a:p>
            <a:pPr marL="0" indent="0">
              <a:buNone/>
            </a:pPr>
            <a:r>
              <a:rPr lang="es-NI" dirty="0"/>
              <a:t>NOMBRE DE LA ASIGNATURA _____________________________________________</a:t>
            </a:r>
          </a:p>
          <a:p>
            <a:pPr marL="0" indent="0">
              <a:buNone/>
            </a:pPr>
            <a:endParaRPr lang="es-NI" dirty="0"/>
          </a:p>
          <a:p>
            <a:pPr marL="0" indent="0">
              <a:buNone/>
            </a:pPr>
            <a:r>
              <a:rPr lang="es-NI" dirty="0"/>
              <a:t>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ABA6258-A2CA-4C2B-8C81-64922C70B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09474"/>
              </p:ext>
            </p:extLst>
          </p:nvPr>
        </p:nvGraphicFramePr>
        <p:xfrm>
          <a:off x="530578" y="2935111"/>
          <a:ext cx="8161867" cy="3376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241">
                  <a:extLst>
                    <a:ext uri="{9D8B030D-6E8A-4147-A177-3AD203B41FA5}">
                      <a16:colId xmlns:a16="http://schemas.microsoft.com/office/drawing/2014/main" val="2032879768"/>
                    </a:ext>
                  </a:extLst>
                </a:gridCol>
                <a:gridCol w="1292397">
                  <a:extLst>
                    <a:ext uri="{9D8B030D-6E8A-4147-A177-3AD203B41FA5}">
                      <a16:colId xmlns:a16="http://schemas.microsoft.com/office/drawing/2014/main" val="482609454"/>
                    </a:ext>
                  </a:extLst>
                </a:gridCol>
                <a:gridCol w="1234702">
                  <a:extLst>
                    <a:ext uri="{9D8B030D-6E8A-4147-A177-3AD203B41FA5}">
                      <a16:colId xmlns:a16="http://schemas.microsoft.com/office/drawing/2014/main" val="905829662"/>
                    </a:ext>
                  </a:extLst>
                </a:gridCol>
                <a:gridCol w="1511645">
                  <a:extLst>
                    <a:ext uri="{9D8B030D-6E8A-4147-A177-3AD203B41FA5}">
                      <a16:colId xmlns:a16="http://schemas.microsoft.com/office/drawing/2014/main" val="2063466543"/>
                    </a:ext>
                  </a:extLst>
                </a:gridCol>
                <a:gridCol w="1361634">
                  <a:extLst>
                    <a:ext uri="{9D8B030D-6E8A-4147-A177-3AD203B41FA5}">
                      <a16:colId xmlns:a16="http://schemas.microsoft.com/office/drawing/2014/main" val="1210506814"/>
                    </a:ext>
                  </a:extLst>
                </a:gridCol>
                <a:gridCol w="1515248">
                  <a:extLst>
                    <a:ext uri="{9D8B030D-6E8A-4147-A177-3AD203B41FA5}">
                      <a16:colId xmlns:a16="http://schemas.microsoft.com/office/drawing/2014/main" val="3031958769"/>
                    </a:ext>
                  </a:extLst>
                </a:gridCol>
              </a:tblGrid>
              <a:tr h="2058576">
                <a:tc>
                  <a:txBody>
                    <a:bodyPr/>
                    <a:lstStyle/>
                    <a:p>
                      <a:r>
                        <a:rPr lang="es-NI" dirty="0"/>
                        <a:t>No/</a:t>
                      </a:r>
                    </a:p>
                    <a:p>
                      <a:r>
                        <a:rPr lang="es-NI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Objetivo formativo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Objetivo Sumativo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Estrategia de enseñanza aprendizaje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Indicador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Instrumento de evaluación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30384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861356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668201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07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21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FC131-98F0-4454-964D-5B16CC91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7940"/>
          </a:xfrm>
        </p:spPr>
        <p:txBody>
          <a:bodyPr/>
          <a:lstStyle/>
          <a:p>
            <a:r>
              <a:rPr lang="es-NI" sz="2400" dirty="0"/>
              <a:t>Ejemplo de Guía de estudio en la que se incluyen indicadores sumativos y formativos: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7E147-D1CF-428F-B913-3EC0DD1E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NI" dirty="0"/>
              <a:t>VER ARCHIVO DE WORD</a:t>
            </a:r>
          </a:p>
          <a:p>
            <a:pPr marL="0" indent="0" algn="ctr">
              <a:buNone/>
            </a:pPr>
            <a:endParaRPr lang="es-NI" dirty="0"/>
          </a:p>
          <a:p>
            <a:pPr marL="0" indent="0" algn="ctr">
              <a:buNone/>
            </a:pPr>
            <a:r>
              <a:rPr lang="es-NI" dirty="0"/>
              <a:t>Guía de estudio Numero 1.</a:t>
            </a:r>
          </a:p>
        </p:txBody>
      </p:sp>
    </p:spTree>
    <p:extLst>
      <p:ext uri="{BB962C8B-B14F-4D97-AF65-F5344CB8AC3E}">
        <p14:creationId xmlns:p14="http://schemas.microsoft.com/office/powerpoint/2010/main" val="330955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15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A580C0-168F-4DA5-88C3-CAD8D433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2053641"/>
            <a:ext cx="2751871" cy="2760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NI" sz="3600" dirty="0">
                <a:solidFill>
                  <a:srgbClr val="FFFFFF"/>
                </a:solidFill>
              </a:rPr>
              <a:t>Sesión 2: Taller de evaluación de los aprendizajes.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A25472-7133-4747-B037-D0ADFA422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</p:spPr>
        <p:txBody>
          <a:bodyPr anchor="ctr">
            <a:normAutofit/>
          </a:bodyPr>
          <a:lstStyle/>
          <a:p>
            <a:r>
              <a:rPr lang="es-NI" sz="2100">
                <a:solidFill>
                  <a:srgbClr val="000000"/>
                </a:solidFill>
              </a:rPr>
              <a:t>Tipos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831436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7929" cy="6858000"/>
          </a:xfrm>
          <a:prstGeom prst="rect">
            <a:avLst/>
          </a:prstGeom>
          <a:gradFill>
            <a:gsLst>
              <a:gs pos="0">
                <a:schemeClr val="accent6">
                  <a:lumMod val="90000"/>
                </a:schemeClr>
              </a:gs>
              <a:gs pos="25000">
                <a:schemeClr val="accent6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78A691-767F-448A-BC74-C359D24C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2053641"/>
            <a:ext cx="2751871" cy="2760098"/>
          </a:xfrm>
        </p:spPr>
        <p:txBody>
          <a:bodyPr>
            <a:normAutofit fontScale="90000"/>
          </a:bodyPr>
          <a:lstStyle/>
          <a:p>
            <a:r>
              <a:rPr lang="es-NI" dirty="0">
                <a:solidFill>
                  <a:srgbClr val="FFFFFF"/>
                </a:solidFill>
              </a:rPr>
              <a:t>Fin de la sesión 1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D94EDEA-82AE-4D99-A50B-AE76A7DCC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25245" y="2053641"/>
            <a:ext cx="4102062" cy="308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26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C049E-1C5C-4932-970D-54DA0FF3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082"/>
            <a:ext cx="7465483" cy="797630"/>
          </a:xfrm>
        </p:spPr>
        <p:txBody>
          <a:bodyPr/>
          <a:lstStyle/>
          <a:p>
            <a:r>
              <a:rPr lang="es-NI" sz="4400" dirty="0"/>
              <a:t>Tipos de evaluación </a:t>
            </a:r>
            <a:br>
              <a:rPr lang="es-NI" sz="3600" dirty="0"/>
            </a:br>
            <a:endParaRPr lang="es-NI" sz="3600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FEEB453-9CFD-4AAE-8D64-FC073267E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53453"/>
              </p:ext>
            </p:extLst>
          </p:nvPr>
        </p:nvGraphicFramePr>
        <p:xfrm>
          <a:off x="628650" y="1154570"/>
          <a:ext cx="78867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350">
                  <a:extLst>
                    <a:ext uri="{9D8B030D-6E8A-4147-A177-3AD203B41FA5}">
                      <a16:colId xmlns:a16="http://schemas.microsoft.com/office/drawing/2014/main" val="130344376"/>
                    </a:ext>
                  </a:extLst>
                </a:gridCol>
                <a:gridCol w="2867378">
                  <a:extLst>
                    <a:ext uri="{9D8B030D-6E8A-4147-A177-3AD203B41FA5}">
                      <a16:colId xmlns:a16="http://schemas.microsoft.com/office/drawing/2014/main" val="4145081999"/>
                    </a:ext>
                  </a:extLst>
                </a:gridCol>
                <a:gridCol w="1794933">
                  <a:extLst>
                    <a:ext uri="{9D8B030D-6E8A-4147-A177-3AD203B41FA5}">
                      <a16:colId xmlns:a16="http://schemas.microsoft.com/office/drawing/2014/main" val="1291227947"/>
                    </a:ext>
                  </a:extLst>
                </a:gridCol>
                <a:gridCol w="1821039">
                  <a:extLst>
                    <a:ext uri="{9D8B030D-6E8A-4147-A177-3AD203B41FA5}">
                      <a16:colId xmlns:a16="http://schemas.microsoft.com/office/drawing/2014/main" val="2093329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Tipos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Concepto de los tipos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Diferencias entre los tipos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Aplicaciones de la evaluación en el proceso de enseñanza aprendizaje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936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NI" dirty="0"/>
                    </a:p>
                    <a:p>
                      <a:endParaRPr lang="es-NI" dirty="0"/>
                    </a:p>
                    <a:p>
                      <a:endParaRPr lang="es-NI" dirty="0"/>
                    </a:p>
                    <a:p>
                      <a:endParaRPr lang="es-NI" dirty="0"/>
                    </a:p>
                    <a:p>
                      <a:endParaRPr lang="es-NI" dirty="0"/>
                    </a:p>
                    <a:p>
                      <a:r>
                        <a:rPr lang="es-NI" dirty="0"/>
                        <a:t>Evaluación diagnóstica inicial: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Es la indagación  que se realiza al iniciar una nueva asignatura, módulo o tema, sirve para </a:t>
                      </a:r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conocer cuáles son los conocimientos previos </a:t>
                      </a:r>
                      <a:r>
                        <a:rPr lang="es-NI" dirty="0"/>
                        <a:t>que poseen los estudiantes del tema en cuestión, para emplear esos conocimientos para la toma de decisiones en el resto del proceso de enseñanza aprendizaje.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La evaluación diagnóstica es predictiva, sirve para </a:t>
                      </a:r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tomar decisiones en cuanto la forma en que debe de darse el proceso de enseñanza aprendizaje.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La evaluación diagnóstica </a:t>
                      </a:r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se aplica al inicio de cada tema, unidad de contenidos, modulo o asignatura.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43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720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8EB07-4AB3-4A88-8447-F316F07C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8" y="49038"/>
            <a:ext cx="7679972" cy="549274"/>
          </a:xfrm>
        </p:spPr>
        <p:txBody>
          <a:bodyPr/>
          <a:lstStyle/>
          <a:p>
            <a:r>
              <a:rPr lang="es-NI" sz="3600" dirty="0"/>
              <a:t>Tipos de evaluación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6477AEE-E3B1-4BAA-A19D-730734BA67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272946"/>
              </p:ext>
            </p:extLst>
          </p:nvPr>
        </p:nvGraphicFramePr>
        <p:xfrm>
          <a:off x="372535" y="801510"/>
          <a:ext cx="8263465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76">
                  <a:extLst>
                    <a:ext uri="{9D8B030D-6E8A-4147-A177-3AD203B41FA5}">
                      <a16:colId xmlns:a16="http://schemas.microsoft.com/office/drawing/2014/main" val="2755590816"/>
                    </a:ext>
                  </a:extLst>
                </a:gridCol>
                <a:gridCol w="2877657">
                  <a:extLst>
                    <a:ext uri="{9D8B030D-6E8A-4147-A177-3AD203B41FA5}">
                      <a16:colId xmlns:a16="http://schemas.microsoft.com/office/drawing/2014/main" val="2367945489"/>
                    </a:ext>
                  </a:extLst>
                </a:gridCol>
                <a:gridCol w="2065866">
                  <a:extLst>
                    <a:ext uri="{9D8B030D-6E8A-4147-A177-3AD203B41FA5}">
                      <a16:colId xmlns:a16="http://schemas.microsoft.com/office/drawing/2014/main" val="523344287"/>
                    </a:ext>
                  </a:extLst>
                </a:gridCol>
                <a:gridCol w="2065866">
                  <a:extLst>
                    <a:ext uri="{9D8B030D-6E8A-4147-A177-3AD203B41FA5}">
                      <a16:colId xmlns:a16="http://schemas.microsoft.com/office/drawing/2014/main" val="3940717438"/>
                    </a:ext>
                  </a:extLst>
                </a:gridCol>
              </a:tblGrid>
              <a:tr h="1529508">
                <a:tc>
                  <a:txBody>
                    <a:bodyPr/>
                    <a:lstStyle/>
                    <a:p>
                      <a:r>
                        <a:rPr lang="es-NI" sz="1600" dirty="0"/>
                        <a:t>Tipos de evaluación</a:t>
                      </a:r>
                    </a:p>
                    <a:p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Concepto de los tipos de Evaluación</a:t>
                      </a:r>
                    </a:p>
                    <a:p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Diferencias entre los tipos de Evaluación</a:t>
                      </a:r>
                    </a:p>
                    <a:p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Aplicaciones de la evaluación en el proceso de enseñanza aprendizaje</a:t>
                      </a:r>
                    </a:p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7411"/>
                  </a:ext>
                </a:extLst>
              </a:tr>
              <a:tr h="4526982">
                <a:tc>
                  <a:txBody>
                    <a:bodyPr/>
                    <a:lstStyle/>
                    <a:p>
                      <a:r>
                        <a:rPr lang="es-NI" dirty="0"/>
                        <a:t>Evaluación Formativa: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400" dirty="0"/>
                        <a:t>Acompaña el proceso de enseñanza aprendizaje, sus características son </a:t>
                      </a:r>
                      <a:r>
                        <a:rPr lang="es-NI" sz="1400" dirty="0">
                          <a:solidFill>
                            <a:srgbClr val="FF0000"/>
                          </a:solidFill>
                        </a:rPr>
                        <a:t>continuidad, permanencia, dinamismo y retroalimentación. </a:t>
                      </a:r>
                    </a:p>
                    <a:p>
                      <a:endParaRPr lang="es-NI" sz="14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s-NI" sz="1400" dirty="0"/>
                        <a:t>Tiene como finalidad regular el proceso de enseñanza aprendizaje para posibilitar que los medios de formación respondan a las características de los estudiantes.</a:t>
                      </a:r>
                    </a:p>
                    <a:p>
                      <a:endParaRPr lang="es-NI" sz="1400" dirty="0"/>
                    </a:p>
                    <a:p>
                      <a:r>
                        <a:rPr lang="es-NI" sz="1400" dirty="0"/>
                        <a:t> </a:t>
                      </a:r>
                      <a:r>
                        <a:rPr lang="es-NI" sz="1400" dirty="0">
                          <a:solidFill>
                            <a:srgbClr val="FF0000"/>
                          </a:solidFill>
                        </a:rPr>
                        <a:t>Sirve para detectar los puntos débiles del aprendizaje de los estudiantes.</a:t>
                      </a:r>
                    </a:p>
                    <a:p>
                      <a:endParaRPr lang="es-NI" sz="14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s-NI" sz="1400" dirty="0">
                          <a:solidFill>
                            <a:srgbClr val="FF0000"/>
                          </a:solidFill>
                        </a:rPr>
                        <a:t>Permite el desarrollo de las habilidades de reflexión, observación, análisis, pensamiento crítico y la capacidad de resolver problemas</a:t>
                      </a:r>
                      <a:endParaRPr lang="es-NI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400" dirty="0"/>
                        <a:t>Busca información sobre las representaciones mentales del estudiante y las estrategias que utiliza para llegar a un resultado determinado. Se centra mas en los procedimientos que en las tareas.</a:t>
                      </a:r>
                    </a:p>
                    <a:p>
                      <a:r>
                        <a:rPr lang="es-NI" sz="1400" dirty="0">
                          <a:solidFill>
                            <a:srgbClr val="FF0000"/>
                          </a:solidFill>
                        </a:rPr>
                        <a:t>Evalúa objetivos actitudinales es decir la puesta en práctica de valores que deberán  evidenciar los estudiantes durante el proceso de enseñanza </a:t>
                      </a:r>
                      <a:r>
                        <a:rPr lang="es-NI" sz="1400" dirty="0"/>
                        <a:t>aprendizaje y que les acompañarán durante su vida profesional (social y laboral)</a:t>
                      </a:r>
                    </a:p>
                    <a:p>
                      <a:endParaRPr lang="es-NI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400" dirty="0"/>
                        <a:t>Se aplica durante todo el proceso de enseñanza aprendizaje. </a:t>
                      </a:r>
                      <a:r>
                        <a:rPr lang="es-NI" sz="1400" dirty="0">
                          <a:solidFill>
                            <a:srgbClr val="FF0000"/>
                          </a:solidFill>
                        </a:rPr>
                        <a:t>Lo mas recomendable es que se evalúe cada sesión de clases y que siempre contengan objetivos e indicadores de evaluación formativ</a:t>
                      </a:r>
                      <a:r>
                        <a:rPr lang="es-NI" sz="1400" dirty="0"/>
                        <a:t>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72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76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1299B-8D01-4289-A22F-05FE2A85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135"/>
            <a:ext cx="6584950" cy="537984"/>
          </a:xfrm>
        </p:spPr>
        <p:txBody>
          <a:bodyPr/>
          <a:lstStyle/>
          <a:p>
            <a:r>
              <a:rPr lang="es-NI" sz="3600" dirty="0"/>
              <a:t>Tipos de evaluación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8EE5A7D1-9E33-4872-AB29-829A714F5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838559"/>
              </p:ext>
            </p:extLst>
          </p:nvPr>
        </p:nvGraphicFramePr>
        <p:xfrm>
          <a:off x="383822" y="1174045"/>
          <a:ext cx="8331200" cy="701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22">
                  <a:extLst>
                    <a:ext uri="{9D8B030D-6E8A-4147-A177-3AD203B41FA5}">
                      <a16:colId xmlns:a16="http://schemas.microsoft.com/office/drawing/2014/main" val="2803694537"/>
                    </a:ext>
                  </a:extLst>
                </a:gridCol>
                <a:gridCol w="2968978">
                  <a:extLst>
                    <a:ext uri="{9D8B030D-6E8A-4147-A177-3AD203B41FA5}">
                      <a16:colId xmlns:a16="http://schemas.microsoft.com/office/drawing/2014/main" val="3997120559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64979087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119428168"/>
                    </a:ext>
                  </a:extLst>
                </a:gridCol>
              </a:tblGrid>
              <a:tr h="1212790">
                <a:tc>
                  <a:txBody>
                    <a:bodyPr/>
                    <a:lstStyle/>
                    <a:p>
                      <a:r>
                        <a:rPr lang="es-NI" sz="1600" dirty="0"/>
                        <a:t>Tipos de evaluación</a:t>
                      </a:r>
                    </a:p>
                    <a:p>
                      <a:endParaRPr lang="es-NI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Concepto de los tipos de Evaluación</a:t>
                      </a:r>
                    </a:p>
                    <a:p>
                      <a:endParaRPr lang="es-NI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Diferencias entre los tipos de Evaluación</a:t>
                      </a:r>
                    </a:p>
                    <a:p>
                      <a:endParaRPr lang="es-NI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Aplicaciones de la evaluación en el proceso de enseñanza aprendizaje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926875"/>
                  </a:ext>
                </a:extLst>
              </a:tr>
              <a:tr h="5628276">
                <a:tc>
                  <a:txBody>
                    <a:bodyPr/>
                    <a:lstStyle/>
                    <a:p>
                      <a:r>
                        <a:rPr lang="es-NI" sz="1600" dirty="0"/>
                        <a:t>Evaluación sumativa: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Sirve para obtener información sobre el resultado alcanzado por los estudiantes al final de un proceso de enseñanza aprendizaje. </a:t>
                      </a:r>
                      <a:r>
                        <a:rPr lang="es-NI" sz="1600" dirty="0">
                          <a:solidFill>
                            <a:srgbClr val="FF0000"/>
                          </a:solidFill>
                        </a:rPr>
                        <a:t>Su función social es asegurar que las características de los estudiantes respondan a las exigencias del sistema</a:t>
                      </a:r>
                      <a:r>
                        <a:rPr lang="es-NI" sz="1600" dirty="0"/>
                        <a:t>. Esta evaluación concede importancia a la </a:t>
                      </a:r>
                      <a:r>
                        <a:rPr lang="es-NI" sz="1600" dirty="0">
                          <a:highlight>
                            <a:srgbClr val="00FF00"/>
                          </a:highlight>
                        </a:rPr>
                        <a:t>elaboración y aplicación de instrumentos que posibiliten contar con información confiable acerca del desempeño de los/las estudiantes y a partir de ahí tomar decisiones que sean apropiadas.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La evaluación sumativa evalúa el </a:t>
                      </a:r>
                      <a:r>
                        <a:rPr lang="es-NI" sz="1600" dirty="0">
                          <a:solidFill>
                            <a:srgbClr val="FF0000"/>
                          </a:solidFill>
                        </a:rPr>
                        <a:t>alcance de los conocimientos, adquiridos por los estudiantes, es decir valora el cumplimiento de objetivos conceptuales y procedimentales</a:t>
                      </a:r>
                      <a:r>
                        <a:rPr lang="es-NI" sz="1600" dirty="0"/>
                        <a:t>. </a:t>
                      </a:r>
                    </a:p>
                    <a:p>
                      <a:endParaRPr lang="es-NI" sz="1600" dirty="0"/>
                    </a:p>
                    <a:p>
                      <a:r>
                        <a:rPr lang="es-NI" sz="1600" dirty="0"/>
                        <a:t>Está centrada en la determinación de notas parciales o finales en la rendición de cuentas sobre los esfuerzos hechos y la valoración de objetivos mas complejos.</a:t>
                      </a:r>
                    </a:p>
                    <a:p>
                      <a:endParaRPr lang="es-NI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600" dirty="0"/>
                        <a:t>Es una evaluación terminal con miras a evaluar productos, lo que implica que se </a:t>
                      </a:r>
                      <a:r>
                        <a:rPr lang="es-NI" sz="1600" dirty="0">
                          <a:solidFill>
                            <a:srgbClr val="FF0000"/>
                          </a:solidFill>
                        </a:rPr>
                        <a:t>realiza cuando el estudiante evidencia conocimientos a través de la elaboración de un producto</a:t>
                      </a:r>
                      <a:r>
                        <a:rPr lang="es-NI" sz="1600" dirty="0"/>
                        <a:t>, es decir se realiza al final del proceso de enseñanza aprendizaje.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149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41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72477-0DA9-4637-AC30-A7DDD090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Contenido sesión 2-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970F52-0001-4AAC-BFC8-F6592834D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Tipos de instrumentos de evaluación sumativa y formativa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34529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8B89E-C9EA-4B85-A1D2-5AC5B425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Contenido sesión 3</a:t>
            </a:r>
            <a:br>
              <a:rPr lang="es-NI" sz="3600" dirty="0"/>
            </a:br>
            <a:endParaRPr lang="es-NI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59732-5F3D-42FF-97BA-D78B04F3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Modelos de evaluación formativa</a:t>
            </a:r>
          </a:p>
          <a:p>
            <a:r>
              <a:rPr lang="es-NI" dirty="0"/>
              <a:t>Modelos de evaluación sumativa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596370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35FEC-9710-4F70-B14A-3C2807A8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Recomendaciones finales: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7BE77-827D-4A4B-BEB7-DD8065712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El docente debe hacer a un lado sus creencias y percepciones; debe ser tolerante, justo y bajo ninguna circunstancia utilizar indicadores subjetivos difíciles de aplicar en los que su valoración y calificación sea condicionada por creencias de otra época. Por ejemplo, disminuir puntos en una evaluación sumativa porque el estudiante pertenece a una religión o partido político distinto al que pertenece el docente.</a:t>
            </a:r>
          </a:p>
          <a:p>
            <a:r>
              <a:rPr lang="es-NI" dirty="0"/>
              <a:t>La evaluación es un aspecto que debe ser permanente en el proceso de enseñanza-aprendizaje, ya que de esta manera se identifican los avances así como las áreas a mejorar. </a:t>
            </a:r>
          </a:p>
        </p:txBody>
      </p:sp>
    </p:spTree>
    <p:extLst>
      <p:ext uri="{BB962C8B-B14F-4D97-AF65-F5344CB8AC3E}">
        <p14:creationId xmlns:p14="http://schemas.microsoft.com/office/powerpoint/2010/main" val="311897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29C70-8387-44EC-938B-A4DA204C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BD165-5C75-4C7D-9332-C8E60E80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7438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2316</Words>
  <Application>Microsoft Office PowerPoint</Application>
  <PresentationFormat>Presentación en pantalla (4:3)</PresentationFormat>
  <Paragraphs>162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Calibri</vt:lpstr>
      <vt:lpstr>Cambria</vt:lpstr>
      <vt:lpstr>EleganTech?</vt:lpstr>
      <vt:lpstr>EleganTech™</vt:lpstr>
      <vt:lpstr>Eurostile</vt:lpstr>
      <vt:lpstr>Office Theme</vt:lpstr>
      <vt:lpstr>Diseño personalizado</vt:lpstr>
      <vt:lpstr>TALLER DE EVALUACION DE LOS APRENDIZAJES</vt:lpstr>
      <vt:lpstr>Reflexiones sobre las evaluaciones que aplicamos a nuestros estudiantes:</vt:lpstr>
      <vt:lpstr>Contenido Sesión 1</vt:lpstr>
      <vt:lpstr>Objetivos</vt:lpstr>
      <vt:lpstr> </vt:lpstr>
      <vt:lpstr>1- Lo que dice nuestro reglamento sobre  la evaluación de los aprendizajes </vt:lpstr>
      <vt:lpstr>1- Lo que dice nuestro reglamento sobre  la evaluación de los aprendizajes </vt:lpstr>
      <vt:lpstr>1- Lo que dice nuestro reglamento sobre  la evaluación de los aprendizajes</vt:lpstr>
      <vt:lpstr>1- Lo que dice nuestro reglamento sobre  la evaluación de los aprendizajes</vt:lpstr>
      <vt:lpstr>Lo que dice nuestro reglamento sobre  la evaluación de los aprendizajes</vt:lpstr>
      <vt:lpstr>2- ¿Qué es lo que debe ser evaluado?</vt:lpstr>
      <vt:lpstr>Resumiendo . . . </vt:lpstr>
      <vt:lpstr>Actividad de aprendizaje: </vt:lpstr>
      <vt:lpstr>Ejemplo de Guía de estudio en la que se incluyen indicadores sumativos y formativos: </vt:lpstr>
      <vt:lpstr>Sesión 2: Taller de evaluación de los aprendizajes.</vt:lpstr>
      <vt:lpstr>Fin de la sesión 1</vt:lpstr>
      <vt:lpstr>Tipos de evaluación  </vt:lpstr>
      <vt:lpstr>Tipos de evaluación </vt:lpstr>
      <vt:lpstr>Tipos de evaluación </vt:lpstr>
      <vt:lpstr>Contenido sesión 2- </vt:lpstr>
      <vt:lpstr>Contenido sesión 3 </vt:lpstr>
      <vt:lpstr>Recomendaciones finales: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EVALUACION DE LOS APRENDIZAJES</dc:title>
  <dc:creator>Maria Edelmira  Morales Gonzalez</dc:creator>
  <cp:lastModifiedBy>Maria Edelmira  Morales Gonzalez</cp:lastModifiedBy>
  <cp:revision>11</cp:revision>
  <dcterms:created xsi:type="dcterms:W3CDTF">2019-10-07T16:51:21Z</dcterms:created>
  <dcterms:modified xsi:type="dcterms:W3CDTF">2019-10-14T16:55:38Z</dcterms:modified>
</cp:coreProperties>
</file>