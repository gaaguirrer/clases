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9" r:id="rId2"/>
  </p:sldMasterIdLst>
  <p:notesMasterIdLst>
    <p:notesMasterId r:id="rId19"/>
  </p:notesMasterIdLst>
  <p:handoutMasterIdLst>
    <p:handoutMasterId r:id="rId20"/>
  </p:handoutMasterIdLst>
  <p:sldIdLst>
    <p:sldId id="265" r:id="rId3"/>
    <p:sldId id="307" r:id="rId4"/>
    <p:sldId id="325" r:id="rId5"/>
    <p:sldId id="326" r:id="rId6"/>
    <p:sldId id="328" r:id="rId7"/>
    <p:sldId id="329" r:id="rId8"/>
    <p:sldId id="330" r:id="rId9"/>
    <p:sldId id="331" r:id="rId10"/>
    <p:sldId id="332" r:id="rId11"/>
    <p:sldId id="333" r:id="rId12"/>
    <p:sldId id="310" r:id="rId13"/>
    <p:sldId id="320" r:id="rId14"/>
    <p:sldId id="321" r:id="rId15"/>
    <p:sldId id="312" r:id="rId16"/>
    <p:sldId id="313" r:id="rId17"/>
    <p:sldId id="334" r:id="rId1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5pPr>
    <a:lvl6pPr marL="2286000" algn="l" defTabSz="914400" rtl="0" eaLnBrk="1" latinLnBrk="0" hangingPunct="1">
      <a:defRPr kern="1200">
        <a:solidFill>
          <a:schemeClr val="tx1"/>
        </a:solidFill>
        <a:latin typeface="Cambria" pitchFamily="18" charset="0"/>
        <a:ea typeface="ＭＳ Ｐゴシック" pitchFamily="34" charset="-128"/>
        <a:cs typeface="+mn-cs"/>
      </a:defRPr>
    </a:lvl6pPr>
    <a:lvl7pPr marL="2743200" algn="l" defTabSz="914400" rtl="0" eaLnBrk="1" latinLnBrk="0" hangingPunct="1">
      <a:defRPr kern="1200">
        <a:solidFill>
          <a:schemeClr val="tx1"/>
        </a:solidFill>
        <a:latin typeface="Cambria" pitchFamily="18" charset="0"/>
        <a:ea typeface="ＭＳ Ｐゴシック" pitchFamily="34" charset="-128"/>
        <a:cs typeface="+mn-cs"/>
      </a:defRPr>
    </a:lvl7pPr>
    <a:lvl8pPr marL="3200400" algn="l" defTabSz="914400" rtl="0" eaLnBrk="1" latinLnBrk="0" hangingPunct="1">
      <a:defRPr kern="1200">
        <a:solidFill>
          <a:schemeClr val="tx1"/>
        </a:solidFill>
        <a:latin typeface="Cambria" pitchFamily="18" charset="0"/>
        <a:ea typeface="ＭＳ Ｐゴシック" pitchFamily="34" charset="-128"/>
        <a:cs typeface="+mn-cs"/>
      </a:defRPr>
    </a:lvl8pPr>
    <a:lvl9pPr marL="3657600" algn="l" defTabSz="914400" rtl="0" eaLnBrk="1" latinLnBrk="0" hangingPunct="1">
      <a:defRPr kern="1200">
        <a:solidFill>
          <a:schemeClr val="tx1"/>
        </a:solidFill>
        <a:latin typeface="Cambria" pitchFamily="18"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1152" y="8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1" d="100"/>
          <a:sy n="81" d="100"/>
        </p:scale>
        <p:origin x="-196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3A54AC-3F2C-4F04-B399-6A1980E7D573}" type="doc">
      <dgm:prSet loTypeId="urn:microsoft.com/office/officeart/2005/8/layout/hProcess9" loCatId="process" qsTypeId="urn:microsoft.com/office/officeart/2005/8/quickstyle/simple3" qsCatId="simple" csTypeId="urn:microsoft.com/office/officeart/2005/8/colors/colorful4" csCatId="colorful"/>
      <dgm:spPr/>
      <dgm:t>
        <a:bodyPr/>
        <a:lstStyle/>
        <a:p>
          <a:endParaRPr lang="es-NI"/>
        </a:p>
      </dgm:t>
    </dgm:pt>
    <dgm:pt modelId="{E2169DF4-5408-4837-A7E4-0DD32EE587DF}">
      <dgm:prSet/>
      <dgm:spPr/>
      <dgm:t>
        <a:bodyPr/>
        <a:lstStyle/>
        <a:p>
          <a:r>
            <a:rPr lang="es-NI"/>
            <a:t>¿ Qué aprendimos sobre la evaluación de los aprendizajes en la clase anterior?</a:t>
          </a:r>
        </a:p>
      </dgm:t>
    </dgm:pt>
    <dgm:pt modelId="{3FCE2AD0-A448-4BD7-8CF5-49799B0C6152}" type="parTrans" cxnId="{9B66EBD3-C577-4B28-A890-C30EB4F3DA21}">
      <dgm:prSet/>
      <dgm:spPr/>
      <dgm:t>
        <a:bodyPr/>
        <a:lstStyle/>
        <a:p>
          <a:endParaRPr lang="es-NI"/>
        </a:p>
      </dgm:t>
    </dgm:pt>
    <dgm:pt modelId="{7BC8EF96-2D18-4C83-9603-3473164342F4}" type="sibTrans" cxnId="{9B66EBD3-C577-4B28-A890-C30EB4F3DA21}">
      <dgm:prSet/>
      <dgm:spPr/>
      <dgm:t>
        <a:bodyPr/>
        <a:lstStyle/>
        <a:p>
          <a:endParaRPr lang="es-NI"/>
        </a:p>
      </dgm:t>
    </dgm:pt>
    <dgm:pt modelId="{BE0C8D81-A1DB-487C-8F69-23766DC3B936}">
      <dgm:prSet/>
      <dgm:spPr/>
      <dgm:t>
        <a:bodyPr/>
        <a:lstStyle/>
        <a:p>
          <a:r>
            <a:rPr lang="es-NI"/>
            <a:t>¿Qué emociones nos provoca el nuevo conocimiento?</a:t>
          </a:r>
        </a:p>
      </dgm:t>
    </dgm:pt>
    <dgm:pt modelId="{A49EDB77-E757-4282-92FD-2792F8B72B05}" type="parTrans" cxnId="{CB70051D-E2AC-4F96-AB09-2C48A1A07225}">
      <dgm:prSet/>
      <dgm:spPr/>
      <dgm:t>
        <a:bodyPr/>
        <a:lstStyle/>
        <a:p>
          <a:endParaRPr lang="es-NI"/>
        </a:p>
      </dgm:t>
    </dgm:pt>
    <dgm:pt modelId="{F797A1A5-EB96-43D7-96B9-7CC84A6B9FFA}" type="sibTrans" cxnId="{CB70051D-E2AC-4F96-AB09-2C48A1A07225}">
      <dgm:prSet/>
      <dgm:spPr/>
      <dgm:t>
        <a:bodyPr/>
        <a:lstStyle/>
        <a:p>
          <a:endParaRPr lang="es-NI"/>
        </a:p>
      </dgm:t>
    </dgm:pt>
    <dgm:pt modelId="{5F35420B-9B72-4BD9-8D7A-D607BB27A40E}">
      <dgm:prSet/>
      <dgm:spPr/>
      <dgm:t>
        <a:bodyPr/>
        <a:lstStyle/>
        <a:p>
          <a:r>
            <a:rPr lang="es-NI"/>
            <a:t>¿Cómo evidenciamos nuestra ética profesional al momento de evaluar los aprendizajes de nuestros estudiantes?</a:t>
          </a:r>
        </a:p>
      </dgm:t>
    </dgm:pt>
    <dgm:pt modelId="{4D84278F-4D78-4332-A72F-B8F109E82D25}" type="parTrans" cxnId="{E5B75E90-D396-44D2-AC3B-6D6C1B97382F}">
      <dgm:prSet/>
      <dgm:spPr/>
      <dgm:t>
        <a:bodyPr/>
        <a:lstStyle/>
        <a:p>
          <a:endParaRPr lang="es-NI"/>
        </a:p>
      </dgm:t>
    </dgm:pt>
    <dgm:pt modelId="{9C3CD94F-A36D-42AE-BC56-5703268FD7DC}" type="sibTrans" cxnId="{E5B75E90-D396-44D2-AC3B-6D6C1B97382F}">
      <dgm:prSet/>
      <dgm:spPr/>
      <dgm:t>
        <a:bodyPr/>
        <a:lstStyle/>
        <a:p>
          <a:endParaRPr lang="es-NI"/>
        </a:p>
      </dgm:t>
    </dgm:pt>
    <dgm:pt modelId="{95CF7E1F-5432-4BC9-AFF3-E9C1AB46710C}" type="pres">
      <dgm:prSet presAssocID="{DE3A54AC-3F2C-4F04-B399-6A1980E7D573}" presName="CompostProcess" presStyleCnt="0">
        <dgm:presLayoutVars>
          <dgm:dir/>
          <dgm:resizeHandles val="exact"/>
        </dgm:presLayoutVars>
      </dgm:prSet>
      <dgm:spPr/>
    </dgm:pt>
    <dgm:pt modelId="{44CC975B-9337-470C-89A3-A192DE44F1F9}" type="pres">
      <dgm:prSet presAssocID="{DE3A54AC-3F2C-4F04-B399-6A1980E7D573}" presName="arrow" presStyleLbl="bgShp" presStyleIdx="0" presStyleCnt="1"/>
      <dgm:spPr/>
    </dgm:pt>
    <dgm:pt modelId="{99A84A56-F4D2-4461-A337-1ACF6859EC25}" type="pres">
      <dgm:prSet presAssocID="{DE3A54AC-3F2C-4F04-B399-6A1980E7D573}" presName="linearProcess" presStyleCnt="0"/>
      <dgm:spPr/>
    </dgm:pt>
    <dgm:pt modelId="{AE6B04AB-89DA-44AD-A033-90C28E05704D}" type="pres">
      <dgm:prSet presAssocID="{E2169DF4-5408-4837-A7E4-0DD32EE587DF}" presName="textNode" presStyleLbl="node1" presStyleIdx="0" presStyleCnt="3">
        <dgm:presLayoutVars>
          <dgm:bulletEnabled val="1"/>
        </dgm:presLayoutVars>
      </dgm:prSet>
      <dgm:spPr/>
    </dgm:pt>
    <dgm:pt modelId="{35685BCB-063A-44A8-9DE3-50AD121712C8}" type="pres">
      <dgm:prSet presAssocID="{7BC8EF96-2D18-4C83-9603-3473164342F4}" presName="sibTrans" presStyleCnt="0"/>
      <dgm:spPr/>
    </dgm:pt>
    <dgm:pt modelId="{9AAFB456-75A5-4573-A736-F9D9E4BEA695}" type="pres">
      <dgm:prSet presAssocID="{BE0C8D81-A1DB-487C-8F69-23766DC3B936}" presName="textNode" presStyleLbl="node1" presStyleIdx="1" presStyleCnt="3">
        <dgm:presLayoutVars>
          <dgm:bulletEnabled val="1"/>
        </dgm:presLayoutVars>
      </dgm:prSet>
      <dgm:spPr/>
    </dgm:pt>
    <dgm:pt modelId="{62747516-72BC-46B8-89F4-3A548F469929}" type="pres">
      <dgm:prSet presAssocID="{F797A1A5-EB96-43D7-96B9-7CC84A6B9FFA}" presName="sibTrans" presStyleCnt="0"/>
      <dgm:spPr/>
    </dgm:pt>
    <dgm:pt modelId="{D6FF1F18-FCE8-4621-972A-6C1C5C5FF309}" type="pres">
      <dgm:prSet presAssocID="{5F35420B-9B72-4BD9-8D7A-D607BB27A40E}" presName="textNode" presStyleLbl="node1" presStyleIdx="2" presStyleCnt="3">
        <dgm:presLayoutVars>
          <dgm:bulletEnabled val="1"/>
        </dgm:presLayoutVars>
      </dgm:prSet>
      <dgm:spPr/>
    </dgm:pt>
  </dgm:ptLst>
  <dgm:cxnLst>
    <dgm:cxn modelId="{BC5CD20A-B658-4ECC-B739-0AB1C20BF466}" type="presOf" srcId="{BE0C8D81-A1DB-487C-8F69-23766DC3B936}" destId="{9AAFB456-75A5-4573-A736-F9D9E4BEA695}" srcOrd="0" destOrd="0" presId="urn:microsoft.com/office/officeart/2005/8/layout/hProcess9"/>
    <dgm:cxn modelId="{CB70051D-E2AC-4F96-AB09-2C48A1A07225}" srcId="{DE3A54AC-3F2C-4F04-B399-6A1980E7D573}" destId="{BE0C8D81-A1DB-487C-8F69-23766DC3B936}" srcOrd="1" destOrd="0" parTransId="{A49EDB77-E757-4282-92FD-2792F8B72B05}" sibTransId="{F797A1A5-EB96-43D7-96B9-7CC84A6B9FFA}"/>
    <dgm:cxn modelId="{E5B75E90-D396-44D2-AC3B-6D6C1B97382F}" srcId="{DE3A54AC-3F2C-4F04-B399-6A1980E7D573}" destId="{5F35420B-9B72-4BD9-8D7A-D607BB27A40E}" srcOrd="2" destOrd="0" parTransId="{4D84278F-4D78-4332-A72F-B8F109E82D25}" sibTransId="{9C3CD94F-A36D-42AE-BC56-5703268FD7DC}"/>
    <dgm:cxn modelId="{DBA8809B-DE21-42A6-ACCD-BAD82FDD2A1C}" type="presOf" srcId="{E2169DF4-5408-4837-A7E4-0DD32EE587DF}" destId="{AE6B04AB-89DA-44AD-A033-90C28E05704D}" srcOrd="0" destOrd="0" presId="urn:microsoft.com/office/officeart/2005/8/layout/hProcess9"/>
    <dgm:cxn modelId="{A7E54EAD-F578-472B-908B-ECE127F52EC5}" type="presOf" srcId="{DE3A54AC-3F2C-4F04-B399-6A1980E7D573}" destId="{95CF7E1F-5432-4BC9-AFF3-E9C1AB46710C}" srcOrd="0" destOrd="0" presId="urn:microsoft.com/office/officeart/2005/8/layout/hProcess9"/>
    <dgm:cxn modelId="{B1A13ED0-C0A5-4226-8D9D-A1406E238A27}" type="presOf" srcId="{5F35420B-9B72-4BD9-8D7A-D607BB27A40E}" destId="{D6FF1F18-FCE8-4621-972A-6C1C5C5FF309}" srcOrd="0" destOrd="0" presId="urn:microsoft.com/office/officeart/2005/8/layout/hProcess9"/>
    <dgm:cxn modelId="{9B66EBD3-C577-4B28-A890-C30EB4F3DA21}" srcId="{DE3A54AC-3F2C-4F04-B399-6A1980E7D573}" destId="{E2169DF4-5408-4837-A7E4-0DD32EE587DF}" srcOrd="0" destOrd="0" parTransId="{3FCE2AD0-A448-4BD7-8CF5-49799B0C6152}" sibTransId="{7BC8EF96-2D18-4C83-9603-3473164342F4}"/>
    <dgm:cxn modelId="{02194B82-8EFF-4B20-AD7C-B26821413F60}" type="presParOf" srcId="{95CF7E1F-5432-4BC9-AFF3-E9C1AB46710C}" destId="{44CC975B-9337-470C-89A3-A192DE44F1F9}" srcOrd="0" destOrd="0" presId="urn:microsoft.com/office/officeart/2005/8/layout/hProcess9"/>
    <dgm:cxn modelId="{0D684F1B-031D-4A7B-96A3-A4B6FF99CC77}" type="presParOf" srcId="{95CF7E1F-5432-4BC9-AFF3-E9C1AB46710C}" destId="{99A84A56-F4D2-4461-A337-1ACF6859EC25}" srcOrd="1" destOrd="0" presId="urn:microsoft.com/office/officeart/2005/8/layout/hProcess9"/>
    <dgm:cxn modelId="{7D55E014-03CF-4C3F-95D2-1360052C05F7}" type="presParOf" srcId="{99A84A56-F4D2-4461-A337-1ACF6859EC25}" destId="{AE6B04AB-89DA-44AD-A033-90C28E05704D}" srcOrd="0" destOrd="0" presId="urn:microsoft.com/office/officeart/2005/8/layout/hProcess9"/>
    <dgm:cxn modelId="{CFB920E6-7803-48F1-BDB6-C78ED91E37AA}" type="presParOf" srcId="{99A84A56-F4D2-4461-A337-1ACF6859EC25}" destId="{35685BCB-063A-44A8-9DE3-50AD121712C8}" srcOrd="1" destOrd="0" presId="urn:microsoft.com/office/officeart/2005/8/layout/hProcess9"/>
    <dgm:cxn modelId="{20699399-A604-4E48-8478-B5BDFA8E8B55}" type="presParOf" srcId="{99A84A56-F4D2-4461-A337-1ACF6859EC25}" destId="{9AAFB456-75A5-4573-A736-F9D9E4BEA695}" srcOrd="2" destOrd="0" presId="urn:microsoft.com/office/officeart/2005/8/layout/hProcess9"/>
    <dgm:cxn modelId="{7C08BC19-768F-4A5C-B72E-019C956E26AE}" type="presParOf" srcId="{99A84A56-F4D2-4461-A337-1ACF6859EC25}" destId="{62747516-72BC-46B8-89F4-3A548F469929}" srcOrd="3" destOrd="0" presId="urn:microsoft.com/office/officeart/2005/8/layout/hProcess9"/>
    <dgm:cxn modelId="{E3032EFE-FCCA-4943-B90B-EA41809A6845}" type="presParOf" srcId="{99A84A56-F4D2-4461-A337-1ACF6859EC25}" destId="{D6FF1F18-FCE8-4621-972A-6C1C5C5FF309}"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0ADEC4-D015-4498-B727-1972B99A04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2B79FD5-E55E-4B38-BEA5-05EA7E5E6761}">
      <dgm:prSet/>
      <dgm:spPr/>
      <dgm:t>
        <a:bodyPr/>
        <a:lstStyle/>
        <a:p>
          <a:r>
            <a:rPr lang="es-NI"/>
            <a:t>Recordemos que un objetivo general se busca alcanzar a largo plazo (por ejemplo la duración de una asignatura en una organización curricular).</a:t>
          </a:r>
          <a:endParaRPr lang="en-US"/>
        </a:p>
      </dgm:t>
    </dgm:pt>
    <dgm:pt modelId="{EBCBE6CA-A6F1-423B-999C-5223CA9DEF6D}" type="parTrans" cxnId="{AB3AFA51-A52E-4598-BAB4-A6922437A089}">
      <dgm:prSet/>
      <dgm:spPr/>
      <dgm:t>
        <a:bodyPr/>
        <a:lstStyle/>
        <a:p>
          <a:endParaRPr lang="en-US"/>
        </a:p>
      </dgm:t>
    </dgm:pt>
    <dgm:pt modelId="{10CD275E-8460-4943-B3DF-5D566DBFBFE7}" type="sibTrans" cxnId="{AB3AFA51-A52E-4598-BAB4-A6922437A089}">
      <dgm:prSet/>
      <dgm:spPr/>
      <dgm:t>
        <a:bodyPr/>
        <a:lstStyle/>
        <a:p>
          <a:endParaRPr lang="en-US"/>
        </a:p>
      </dgm:t>
    </dgm:pt>
    <dgm:pt modelId="{BEED5D90-00B0-4D64-9A1D-30479FF7A195}">
      <dgm:prSet/>
      <dgm:spPr/>
      <dgm:t>
        <a:bodyPr/>
        <a:lstStyle/>
        <a:p>
          <a:r>
            <a:rPr lang="es-NI"/>
            <a:t>Ejemplos de verbos para objetivos generales:</a:t>
          </a:r>
          <a:endParaRPr lang="en-US"/>
        </a:p>
      </dgm:t>
    </dgm:pt>
    <dgm:pt modelId="{ED377091-8E77-4A7F-AADC-08CE83B787A6}" type="parTrans" cxnId="{C2507831-00AB-4600-90F4-4EFB8E8EAEE6}">
      <dgm:prSet/>
      <dgm:spPr/>
      <dgm:t>
        <a:bodyPr/>
        <a:lstStyle/>
        <a:p>
          <a:endParaRPr lang="en-US"/>
        </a:p>
      </dgm:t>
    </dgm:pt>
    <dgm:pt modelId="{CF15C12F-8811-4002-8475-0EA742392B76}" type="sibTrans" cxnId="{C2507831-00AB-4600-90F4-4EFB8E8EAEE6}">
      <dgm:prSet/>
      <dgm:spPr/>
      <dgm:t>
        <a:bodyPr/>
        <a:lstStyle/>
        <a:p>
          <a:endParaRPr lang="en-US"/>
        </a:p>
      </dgm:t>
    </dgm:pt>
    <dgm:pt modelId="{0DC656A5-2CAF-489E-A615-555A931A8DB0}">
      <dgm:prSet/>
      <dgm:spPr/>
      <dgm:t>
        <a:bodyPr/>
        <a:lstStyle/>
        <a:p>
          <a:r>
            <a:rPr lang="es-NI"/>
            <a:t>Calcular, categorizar, comparar, compilar, comprender, concretar, contrastar, crear, definir, demostrar, desarrollar, describir, diagnosticar, discriminar, diseñar, efectuar, enumerar, establecer, evaluar, explicar, examinar, exponer, formular, fundamentar, generar, identificar, inferir, informar , mostrar, orientar, oponer, reconstruir, relatar, replicar, reproducir, revelar, planear, presentar, probar, producir, proponer, situar, tasar, trazar, valuar.</a:t>
          </a:r>
          <a:endParaRPr lang="en-US"/>
        </a:p>
      </dgm:t>
    </dgm:pt>
    <dgm:pt modelId="{5803E166-76C0-4A98-953E-40BC821E2029}" type="parTrans" cxnId="{E8D06764-291E-4A20-BBAD-5693972D3B09}">
      <dgm:prSet/>
      <dgm:spPr/>
      <dgm:t>
        <a:bodyPr/>
        <a:lstStyle/>
        <a:p>
          <a:endParaRPr lang="en-US"/>
        </a:p>
      </dgm:t>
    </dgm:pt>
    <dgm:pt modelId="{8053A6CC-FDBE-407C-AF2D-65786E493F06}" type="sibTrans" cxnId="{E8D06764-291E-4A20-BBAD-5693972D3B09}">
      <dgm:prSet/>
      <dgm:spPr/>
      <dgm:t>
        <a:bodyPr/>
        <a:lstStyle/>
        <a:p>
          <a:endParaRPr lang="en-US"/>
        </a:p>
      </dgm:t>
    </dgm:pt>
    <dgm:pt modelId="{40748396-5CEF-4080-89E0-A22D08B325B7}" type="pres">
      <dgm:prSet presAssocID="{0C0ADEC4-D015-4498-B727-1972B99A0491}" presName="root" presStyleCnt="0">
        <dgm:presLayoutVars>
          <dgm:dir/>
          <dgm:resizeHandles val="exact"/>
        </dgm:presLayoutVars>
      </dgm:prSet>
      <dgm:spPr/>
    </dgm:pt>
    <dgm:pt modelId="{D5163C22-1881-4400-94D9-8D7568DB128D}" type="pres">
      <dgm:prSet presAssocID="{52B79FD5-E55E-4B38-BEA5-05EA7E5E6761}" presName="compNode" presStyleCnt="0"/>
      <dgm:spPr/>
    </dgm:pt>
    <dgm:pt modelId="{5AEC5270-F187-433F-972E-A3322F7209DD}" type="pres">
      <dgm:prSet presAssocID="{52B79FD5-E55E-4B38-BEA5-05EA7E5E6761}" presName="bgRect" presStyleLbl="bgShp" presStyleIdx="0" presStyleCnt="3"/>
      <dgm:spPr/>
    </dgm:pt>
    <dgm:pt modelId="{42C0A09A-CD41-4488-BB08-2B43074A358D}" type="pres">
      <dgm:prSet presAssocID="{52B79FD5-E55E-4B38-BEA5-05EA7E5E676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9850D6AE-2576-4B5B-B372-0325E44871BF}" type="pres">
      <dgm:prSet presAssocID="{52B79FD5-E55E-4B38-BEA5-05EA7E5E6761}" presName="spaceRect" presStyleCnt="0"/>
      <dgm:spPr/>
    </dgm:pt>
    <dgm:pt modelId="{07DCE43B-DEB2-4CAC-B1F1-97641EBED662}" type="pres">
      <dgm:prSet presAssocID="{52B79FD5-E55E-4B38-BEA5-05EA7E5E6761}" presName="parTx" presStyleLbl="revTx" presStyleIdx="0" presStyleCnt="3">
        <dgm:presLayoutVars>
          <dgm:chMax val="0"/>
          <dgm:chPref val="0"/>
        </dgm:presLayoutVars>
      </dgm:prSet>
      <dgm:spPr/>
    </dgm:pt>
    <dgm:pt modelId="{A98E377A-AB4D-410C-BEF4-34761FF1C88D}" type="pres">
      <dgm:prSet presAssocID="{10CD275E-8460-4943-B3DF-5D566DBFBFE7}" presName="sibTrans" presStyleCnt="0"/>
      <dgm:spPr/>
    </dgm:pt>
    <dgm:pt modelId="{D15511C2-9058-4441-AD7D-93CDC0BCD7F2}" type="pres">
      <dgm:prSet presAssocID="{BEED5D90-00B0-4D64-9A1D-30479FF7A195}" presName="compNode" presStyleCnt="0"/>
      <dgm:spPr/>
    </dgm:pt>
    <dgm:pt modelId="{73FF7DC6-71A4-4BFF-94A1-A722E40D1B68}" type="pres">
      <dgm:prSet presAssocID="{BEED5D90-00B0-4D64-9A1D-30479FF7A195}" presName="bgRect" presStyleLbl="bgShp" presStyleIdx="1" presStyleCnt="3"/>
      <dgm:spPr/>
    </dgm:pt>
    <dgm:pt modelId="{848BC223-0D8D-4B27-B5C2-A9B7B39752EC}" type="pres">
      <dgm:prSet presAssocID="{BEED5D90-00B0-4D64-9A1D-30479FF7A19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B1222B2F-98C3-4187-8162-1919A0658C06}" type="pres">
      <dgm:prSet presAssocID="{BEED5D90-00B0-4D64-9A1D-30479FF7A195}" presName="spaceRect" presStyleCnt="0"/>
      <dgm:spPr/>
    </dgm:pt>
    <dgm:pt modelId="{04904A37-3E72-43AA-B65E-1F540E68EFA0}" type="pres">
      <dgm:prSet presAssocID="{BEED5D90-00B0-4D64-9A1D-30479FF7A195}" presName="parTx" presStyleLbl="revTx" presStyleIdx="1" presStyleCnt="3">
        <dgm:presLayoutVars>
          <dgm:chMax val="0"/>
          <dgm:chPref val="0"/>
        </dgm:presLayoutVars>
      </dgm:prSet>
      <dgm:spPr/>
    </dgm:pt>
    <dgm:pt modelId="{E1CEFBA0-3DF3-4FD2-9BBF-71BCD1CF5484}" type="pres">
      <dgm:prSet presAssocID="{CF15C12F-8811-4002-8475-0EA742392B76}" presName="sibTrans" presStyleCnt="0"/>
      <dgm:spPr/>
    </dgm:pt>
    <dgm:pt modelId="{40F66BA5-D0C8-4947-86BF-FD8949D4137F}" type="pres">
      <dgm:prSet presAssocID="{0DC656A5-2CAF-489E-A615-555A931A8DB0}" presName="compNode" presStyleCnt="0"/>
      <dgm:spPr/>
    </dgm:pt>
    <dgm:pt modelId="{520367ED-FA24-4F20-AD63-16BC558FAA6A}" type="pres">
      <dgm:prSet presAssocID="{0DC656A5-2CAF-489E-A615-555A931A8DB0}" presName="bgRect" presStyleLbl="bgShp" presStyleIdx="2" presStyleCnt="3"/>
      <dgm:spPr/>
    </dgm:pt>
    <dgm:pt modelId="{4D9E0C98-7F2F-4D73-BCA4-1C027ED42C91}" type="pres">
      <dgm:prSet presAssocID="{0DC656A5-2CAF-489E-A615-555A931A8DB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40BDAC60-582A-4D8F-9890-5C84B9164303}" type="pres">
      <dgm:prSet presAssocID="{0DC656A5-2CAF-489E-A615-555A931A8DB0}" presName="spaceRect" presStyleCnt="0"/>
      <dgm:spPr/>
    </dgm:pt>
    <dgm:pt modelId="{3DE62DDF-26B0-491C-870B-538B2575B9C8}" type="pres">
      <dgm:prSet presAssocID="{0DC656A5-2CAF-489E-A615-555A931A8DB0}" presName="parTx" presStyleLbl="revTx" presStyleIdx="2" presStyleCnt="3">
        <dgm:presLayoutVars>
          <dgm:chMax val="0"/>
          <dgm:chPref val="0"/>
        </dgm:presLayoutVars>
      </dgm:prSet>
      <dgm:spPr/>
    </dgm:pt>
  </dgm:ptLst>
  <dgm:cxnLst>
    <dgm:cxn modelId="{9C569E1C-ACCE-42C3-9ECA-AC7EFBF95A09}" type="presOf" srcId="{BEED5D90-00B0-4D64-9A1D-30479FF7A195}" destId="{04904A37-3E72-43AA-B65E-1F540E68EFA0}" srcOrd="0" destOrd="0" presId="urn:microsoft.com/office/officeart/2018/2/layout/IconVerticalSolidList"/>
    <dgm:cxn modelId="{C2507831-00AB-4600-90F4-4EFB8E8EAEE6}" srcId="{0C0ADEC4-D015-4498-B727-1972B99A0491}" destId="{BEED5D90-00B0-4D64-9A1D-30479FF7A195}" srcOrd="1" destOrd="0" parTransId="{ED377091-8E77-4A7F-AADC-08CE83B787A6}" sibTransId="{CF15C12F-8811-4002-8475-0EA742392B76}"/>
    <dgm:cxn modelId="{E8D06764-291E-4A20-BBAD-5693972D3B09}" srcId="{0C0ADEC4-D015-4498-B727-1972B99A0491}" destId="{0DC656A5-2CAF-489E-A615-555A931A8DB0}" srcOrd="2" destOrd="0" parTransId="{5803E166-76C0-4A98-953E-40BC821E2029}" sibTransId="{8053A6CC-FDBE-407C-AF2D-65786E493F06}"/>
    <dgm:cxn modelId="{AB3AFA51-A52E-4598-BAB4-A6922437A089}" srcId="{0C0ADEC4-D015-4498-B727-1972B99A0491}" destId="{52B79FD5-E55E-4B38-BEA5-05EA7E5E6761}" srcOrd="0" destOrd="0" parTransId="{EBCBE6CA-A6F1-423B-999C-5223CA9DEF6D}" sibTransId="{10CD275E-8460-4943-B3DF-5D566DBFBFE7}"/>
    <dgm:cxn modelId="{B12BDE8C-7FD8-4C91-AE21-7DC8A1B1052F}" type="presOf" srcId="{0C0ADEC4-D015-4498-B727-1972B99A0491}" destId="{40748396-5CEF-4080-89E0-A22D08B325B7}" srcOrd="0" destOrd="0" presId="urn:microsoft.com/office/officeart/2018/2/layout/IconVerticalSolidList"/>
    <dgm:cxn modelId="{A82D50CD-4C6D-48E1-9FB2-DF5E6E4959DF}" type="presOf" srcId="{52B79FD5-E55E-4B38-BEA5-05EA7E5E6761}" destId="{07DCE43B-DEB2-4CAC-B1F1-97641EBED662}" srcOrd="0" destOrd="0" presId="urn:microsoft.com/office/officeart/2018/2/layout/IconVerticalSolidList"/>
    <dgm:cxn modelId="{60066BFD-4831-4122-A25A-422EF13ACB8B}" type="presOf" srcId="{0DC656A5-2CAF-489E-A615-555A931A8DB0}" destId="{3DE62DDF-26B0-491C-870B-538B2575B9C8}" srcOrd="0" destOrd="0" presId="urn:microsoft.com/office/officeart/2018/2/layout/IconVerticalSolidList"/>
    <dgm:cxn modelId="{FC8E3FA8-88C6-49F8-983D-CB3C97B70EF5}" type="presParOf" srcId="{40748396-5CEF-4080-89E0-A22D08B325B7}" destId="{D5163C22-1881-4400-94D9-8D7568DB128D}" srcOrd="0" destOrd="0" presId="urn:microsoft.com/office/officeart/2018/2/layout/IconVerticalSolidList"/>
    <dgm:cxn modelId="{57EF18C8-7E73-4B85-A8DF-59367722E246}" type="presParOf" srcId="{D5163C22-1881-4400-94D9-8D7568DB128D}" destId="{5AEC5270-F187-433F-972E-A3322F7209DD}" srcOrd="0" destOrd="0" presId="urn:microsoft.com/office/officeart/2018/2/layout/IconVerticalSolidList"/>
    <dgm:cxn modelId="{54872F21-C8FD-4861-8187-8E3E2C76B3C5}" type="presParOf" srcId="{D5163C22-1881-4400-94D9-8D7568DB128D}" destId="{42C0A09A-CD41-4488-BB08-2B43074A358D}" srcOrd="1" destOrd="0" presId="urn:microsoft.com/office/officeart/2018/2/layout/IconVerticalSolidList"/>
    <dgm:cxn modelId="{BD2A6C33-BDE9-4FA3-8FE5-D9B95A3E64FD}" type="presParOf" srcId="{D5163C22-1881-4400-94D9-8D7568DB128D}" destId="{9850D6AE-2576-4B5B-B372-0325E44871BF}" srcOrd="2" destOrd="0" presId="urn:microsoft.com/office/officeart/2018/2/layout/IconVerticalSolidList"/>
    <dgm:cxn modelId="{B045A7B2-8C5E-4942-B57C-5FD144084A58}" type="presParOf" srcId="{D5163C22-1881-4400-94D9-8D7568DB128D}" destId="{07DCE43B-DEB2-4CAC-B1F1-97641EBED662}" srcOrd="3" destOrd="0" presId="urn:microsoft.com/office/officeart/2018/2/layout/IconVerticalSolidList"/>
    <dgm:cxn modelId="{88052AE2-481A-4B16-8ECF-A2C66C64E950}" type="presParOf" srcId="{40748396-5CEF-4080-89E0-A22D08B325B7}" destId="{A98E377A-AB4D-410C-BEF4-34761FF1C88D}" srcOrd="1" destOrd="0" presId="urn:microsoft.com/office/officeart/2018/2/layout/IconVerticalSolidList"/>
    <dgm:cxn modelId="{A32A78A7-67E4-4ADD-B169-4383E68C7922}" type="presParOf" srcId="{40748396-5CEF-4080-89E0-A22D08B325B7}" destId="{D15511C2-9058-4441-AD7D-93CDC0BCD7F2}" srcOrd="2" destOrd="0" presId="urn:microsoft.com/office/officeart/2018/2/layout/IconVerticalSolidList"/>
    <dgm:cxn modelId="{66C28458-C7E8-4735-848B-E9F0E024013D}" type="presParOf" srcId="{D15511C2-9058-4441-AD7D-93CDC0BCD7F2}" destId="{73FF7DC6-71A4-4BFF-94A1-A722E40D1B68}" srcOrd="0" destOrd="0" presId="urn:microsoft.com/office/officeart/2018/2/layout/IconVerticalSolidList"/>
    <dgm:cxn modelId="{AE29DC9E-8E5B-45EC-B4C4-A60625F4D391}" type="presParOf" srcId="{D15511C2-9058-4441-AD7D-93CDC0BCD7F2}" destId="{848BC223-0D8D-4B27-B5C2-A9B7B39752EC}" srcOrd="1" destOrd="0" presId="urn:microsoft.com/office/officeart/2018/2/layout/IconVerticalSolidList"/>
    <dgm:cxn modelId="{1A56AC77-2A08-4928-929B-64E7277AF7C9}" type="presParOf" srcId="{D15511C2-9058-4441-AD7D-93CDC0BCD7F2}" destId="{B1222B2F-98C3-4187-8162-1919A0658C06}" srcOrd="2" destOrd="0" presId="urn:microsoft.com/office/officeart/2018/2/layout/IconVerticalSolidList"/>
    <dgm:cxn modelId="{3B51314B-9845-4849-901B-DCC5EB53A6DF}" type="presParOf" srcId="{D15511C2-9058-4441-AD7D-93CDC0BCD7F2}" destId="{04904A37-3E72-43AA-B65E-1F540E68EFA0}" srcOrd="3" destOrd="0" presId="urn:microsoft.com/office/officeart/2018/2/layout/IconVerticalSolidList"/>
    <dgm:cxn modelId="{377A7486-4BD4-41C6-A0F1-0606ADFC3517}" type="presParOf" srcId="{40748396-5CEF-4080-89E0-A22D08B325B7}" destId="{E1CEFBA0-3DF3-4FD2-9BBF-71BCD1CF5484}" srcOrd="3" destOrd="0" presId="urn:microsoft.com/office/officeart/2018/2/layout/IconVerticalSolidList"/>
    <dgm:cxn modelId="{3C6BB3F3-461B-4FFE-ABD7-714687F17D35}" type="presParOf" srcId="{40748396-5CEF-4080-89E0-A22D08B325B7}" destId="{40F66BA5-D0C8-4947-86BF-FD8949D4137F}" srcOrd="4" destOrd="0" presId="urn:microsoft.com/office/officeart/2018/2/layout/IconVerticalSolidList"/>
    <dgm:cxn modelId="{04EC0413-E492-4A43-8D21-2AE9B12A98E4}" type="presParOf" srcId="{40F66BA5-D0C8-4947-86BF-FD8949D4137F}" destId="{520367ED-FA24-4F20-AD63-16BC558FAA6A}" srcOrd="0" destOrd="0" presId="urn:microsoft.com/office/officeart/2018/2/layout/IconVerticalSolidList"/>
    <dgm:cxn modelId="{A4B80247-374F-4295-8E9F-3DA95A4F5EA4}" type="presParOf" srcId="{40F66BA5-D0C8-4947-86BF-FD8949D4137F}" destId="{4D9E0C98-7F2F-4D73-BCA4-1C027ED42C91}" srcOrd="1" destOrd="0" presId="urn:microsoft.com/office/officeart/2018/2/layout/IconVerticalSolidList"/>
    <dgm:cxn modelId="{5AD6D27D-D6CC-4CA1-9BC1-B33E7534F892}" type="presParOf" srcId="{40F66BA5-D0C8-4947-86BF-FD8949D4137F}" destId="{40BDAC60-582A-4D8F-9890-5C84B9164303}" srcOrd="2" destOrd="0" presId="urn:microsoft.com/office/officeart/2018/2/layout/IconVerticalSolidList"/>
    <dgm:cxn modelId="{FBE28E49-4847-45D4-A089-73D0EC8B9F12}" type="presParOf" srcId="{40F66BA5-D0C8-4947-86BF-FD8949D4137F}" destId="{3DE62DDF-26B0-491C-870B-538B2575B9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135EA7-EBAE-4B05-A380-E3D385AFC03C}"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5AE828AB-FFF2-442E-A1B4-411EC1AEE42B}">
      <dgm:prSet/>
      <dgm:spPr/>
      <dgm:t>
        <a:bodyPr/>
        <a:lstStyle/>
        <a:p>
          <a:pPr>
            <a:lnSpc>
              <a:spcPct val="100000"/>
            </a:lnSpc>
          </a:pPr>
          <a:r>
            <a:rPr lang="es-NI"/>
            <a:t>Por su parte los objetivos específicos corresponden a intenciones educativas más concretas, por ejemplo a los de los planes de clase de una unidad didáctica.</a:t>
          </a:r>
          <a:endParaRPr lang="en-US"/>
        </a:p>
      </dgm:t>
    </dgm:pt>
    <dgm:pt modelId="{EB84473E-AAA9-4918-969B-7F62EC2ED231}" type="parTrans" cxnId="{0544AB85-9347-4AF7-A38D-C1337E3A22DA}">
      <dgm:prSet/>
      <dgm:spPr/>
      <dgm:t>
        <a:bodyPr/>
        <a:lstStyle/>
        <a:p>
          <a:endParaRPr lang="en-US"/>
        </a:p>
      </dgm:t>
    </dgm:pt>
    <dgm:pt modelId="{1B5BDCB4-0D1A-45F7-9DB1-CC9D1AA6C97F}" type="sibTrans" cxnId="{0544AB85-9347-4AF7-A38D-C1337E3A22DA}">
      <dgm:prSet/>
      <dgm:spPr/>
      <dgm:t>
        <a:bodyPr/>
        <a:lstStyle/>
        <a:p>
          <a:endParaRPr lang="en-US"/>
        </a:p>
      </dgm:t>
    </dgm:pt>
    <dgm:pt modelId="{8CF42637-A90F-4BDB-A961-5CE1842F08C8}">
      <dgm:prSet/>
      <dgm:spPr/>
      <dgm:t>
        <a:bodyPr/>
        <a:lstStyle/>
        <a:p>
          <a:pPr>
            <a:lnSpc>
              <a:spcPct val="100000"/>
            </a:lnSpc>
          </a:pPr>
          <a:r>
            <a:rPr lang="es-NI"/>
            <a:t>Ejemplos de verbos para objetivos específicos:</a:t>
          </a:r>
          <a:endParaRPr lang="en-US"/>
        </a:p>
      </dgm:t>
    </dgm:pt>
    <dgm:pt modelId="{8DBE3F6B-4866-4498-A4BA-6A9848BDECEC}" type="parTrans" cxnId="{1BDFCD67-28F7-4ED3-80A9-A9A2A6C8F9E3}">
      <dgm:prSet/>
      <dgm:spPr/>
      <dgm:t>
        <a:bodyPr/>
        <a:lstStyle/>
        <a:p>
          <a:endParaRPr lang="en-US"/>
        </a:p>
      </dgm:t>
    </dgm:pt>
    <dgm:pt modelId="{EDADAA4A-F5E6-4EF5-AF54-77974B0A7115}" type="sibTrans" cxnId="{1BDFCD67-28F7-4ED3-80A9-A9A2A6C8F9E3}">
      <dgm:prSet/>
      <dgm:spPr/>
      <dgm:t>
        <a:bodyPr/>
        <a:lstStyle/>
        <a:p>
          <a:endParaRPr lang="en-US"/>
        </a:p>
      </dgm:t>
    </dgm:pt>
    <dgm:pt modelId="{C9496C90-DCC9-483D-BD0D-6D940AE676E7}">
      <dgm:prSet/>
      <dgm:spPr/>
      <dgm:t>
        <a:bodyPr/>
        <a:lstStyle/>
        <a:p>
          <a:pPr>
            <a:lnSpc>
              <a:spcPct val="100000"/>
            </a:lnSpc>
          </a:pPr>
          <a:r>
            <a:rPr lang="es-NI"/>
            <a:t>Advertir, analizar, basar, calcular, calificar, categorizar, comparar, compartir, componer, conceptuar, considerar, contrastar, deducir, definir, demostrar, detallar, determinar, designar, descomponer, descubrir, diseñar, discriminar, distinguir, establecer, enunciar, enumerar, especificar, estimar, examinar, explicar, fraccionar, identificar, indicar, interpretar, justificar, mencionar, mostrar, operacionalizar, organizar, registrar, relacionar, resumir, seleccionar,, separar, sintetizar, sugerir.</a:t>
          </a:r>
          <a:endParaRPr lang="en-US"/>
        </a:p>
      </dgm:t>
    </dgm:pt>
    <dgm:pt modelId="{6BA97E9C-C1FC-4A21-864A-046667B62B7C}" type="parTrans" cxnId="{427B7169-41F8-40ED-B06C-53B092F9806A}">
      <dgm:prSet/>
      <dgm:spPr/>
      <dgm:t>
        <a:bodyPr/>
        <a:lstStyle/>
        <a:p>
          <a:endParaRPr lang="en-US"/>
        </a:p>
      </dgm:t>
    </dgm:pt>
    <dgm:pt modelId="{92E9F3B1-10CF-4090-A9A6-EF5363281CB5}" type="sibTrans" cxnId="{427B7169-41F8-40ED-B06C-53B092F9806A}">
      <dgm:prSet/>
      <dgm:spPr/>
      <dgm:t>
        <a:bodyPr/>
        <a:lstStyle/>
        <a:p>
          <a:endParaRPr lang="en-US"/>
        </a:p>
      </dgm:t>
    </dgm:pt>
    <dgm:pt modelId="{0ADD443C-3B8A-4312-9FA5-97AC62C1F9B0}" type="pres">
      <dgm:prSet presAssocID="{74135EA7-EBAE-4B05-A380-E3D385AFC03C}" presName="root" presStyleCnt="0">
        <dgm:presLayoutVars>
          <dgm:dir/>
          <dgm:resizeHandles val="exact"/>
        </dgm:presLayoutVars>
      </dgm:prSet>
      <dgm:spPr/>
    </dgm:pt>
    <dgm:pt modelId="{8F9FA919-6D5E-4F2D-BF26-298F2CFD5964}" type="pres">
      <dgm:prSet presAssocID="{5AE828AB-FFF2-442E-A1B4-411EC1AEE42B}" presName="compNode" presStyleCnt="0"/>
      <dgm:spPr/>
    </dgm:pt>
    <dgm:pt modelId="{62BCFD04-22E2-45AC-8A2D-92D188201E2C}" type="pres">
      <dgm:prSet presAssocID="{5AE828AB-FFF2-442E-A1B4-411EC1AEE42B}" presName="bgRect" presStyleLbl="bgShp" presStyleIdx="0" presStyleCnt="3"/>
      <dgm:spPr/>
    </dgm:pt>
    <dgm:pt modelId="{98358013-5532-4B07-B93A-B1C778A309DC}" type="pres">
      <dgm:prSet presAssocID="{5AE828AB-FFF2-442E-A1B4-411EC1AEE42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2C05E6EB-D6CE-494F-88FB-2070BABA19C5}" type="pres">
      <dgm:prSet presAssocID="{5AE828AB-FFF2-442E-A1B4-411EC1AEE42B}" presName="spaceRect" presStyleCnt="0"/>
      <dgm:spPr/>
    </dgm:pt>
    <dgm:pt modelId="{0B4437B9-2651-4898-9F41-A3B3C63A4136}" type="pres">
      <dgm:prSet presAssocID="{5AE828AB-FFF2-442E-A1B4-411EC1AEE42B}" presName="parTx" presStyleLbl="revTx" presStyleIdx="0" presStyleCnt="3">
        <dgm:presLayoutVars>
          <dgm:chMax val="0"/>
          <dgm:chPref val="0"/>
        </dgm:presLayoutVars>
      </dgm:prSet>
      <dgm:spPr/>
    </dgm:pt>
    <dgm:pt modelId="{1BB03BF5-60E1-4CAD-863B-1E8CFF449850}" type="pres">
      <dgm:prSet presAssocID="{1B5BDCB4-0D1A-45F7-9DB1-CC9D1AA6C97F}" presName="sibTrans" presStyleCnt="0"/>
      <dgm:spPr/>
    </dgm:pt>
    <dgm:pt modelId="{9C2525DA-4FD6-4598-9AC2-08353B74D8C9}" type="pres">
      <dgm:prSet presAssocID="{8CF42637-A90F-4BDB-A961-5CE1842F08C8}" presName="compNode" presStyleCnt="0"/>
      <dgm:spPr/>
    </dgm:pt>
    <dgm:pt modelId="{E11D74E9-2372-4A77-99B2-CF91042DE745}" type="pres">
      <dgm:prSet presAssocID="{8CF42637-A90F-4BDB-A961-5CE1842F08C8}" presName="bgRect" presStyleLbl="bgShp" presStyleIdx="1" presStyleCnt="3"/>
      <dgm:spPr/>
    </dgm:pt>
    <dgm:pt modelId="{A8141A46-EE2F-4D02-814C-74F49A619E37}" type="pres">
      <dgm:prSet presAssocID="{8CF42637-A90F-4BDB-A961-5CE1842F08C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2B4E2E56-63ED-4BF7-80D5-CFA907C83246}" type="pres">
      <dgm:prSet presAssocID="{8CF42637-A90F-4BDB-A961-5CE1842F08C8}" presName="spaceRect" presStyleCnt="0"/>
      <dgm:spPr/>
    </dgm:pt>
    <dgm:pt modelId="{95E07FA1-2628-4F8F-9625-5D1A5CC2083E}" type="pres">
      <dgm:prSet presAssocID="{8CF42637-A90F-4BDB-A961-5CE1842F08C8}" presName="parTx" presStyleLbl="revTx" presStyleIdx="1" presStyleCnt="3">
        <dgm:presLayoutVars>
          <dgm:chMax val="0"/>
          <dgm:chPref val="0"/>
        </dgm:presLayoutVars>
      </dgm:prSet>
      <dgm:spPr/>
    </dgm:pt>
    <dgm:pt modelId="{CC3DC62D-216D-4BB7-AC60-7B4BCF9F19F7}" type="pres">
      <dgm:prSet presAssocID="{EDADAA4A-F5E6-4EF5-AF54-77974B0A7115}" presName="sibTrans" presStyleCnt="0"/>
      <dgm:spPr/>
    </dgm:pt>
    <dgm:pt modelId="{39A4DEDE-9816-49C0-97EE-84159AAA1BB1}" type="pres">
      <dgm:prSet presAssocID="{C9496C90-DCC9-483D-BD0D-6D940AE676E7}" presName="compNode" presStyleCnt="0"/>
      <dgm:spPr/>
    </dgm:pt>
    <dgm:pt modelId="{35C15784-91C6-46AA-AD24-E9B2D29CAA79}" type="pres">
      <dgm:prSet presAssocID="{C9496C90-DCC9-483D-BD0D-6D940AE676E7}" presName="bgRect" presStyleLbl="bgShp" presStyleIdx="2" presStyleCnt="3"/>
      <dgm:spPr/>
    </dgm:pt>
    <dgm:pt modelId="{E1D19272-2DB8-4E87-81EA-0DBAD0581419}" type="pres">
      <dgm:prSet presAssocID="{C9496C90-DCC9-483D-BD0D-6D940AE676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sed Quotation Mark"/>
        </a:ext>
      </dgm:extLst>
    </dgm:pt>
    <dgm:pt modelId="{BD797FB7-9662-4A06-B727-FC3861489D4D}" type="pres">
      <dgm:prSet presAssocID="{C9496C90-DCC9-483D-BD0D-6D940AE676E7}" presName="spaceRect" presStyleCnt="0"/>
      <dgm:spPr/>
    </dgm:pt>
    <dgm:pt modelId="{AA2F7C9A-4116-406C-AD83-16BAA7D395CA}" type="pres">
      <dgm:prSet presAssocID="{C9496C90-DCC9-483D-BD0D-6D940AE676E7}" presName="parTx" presStyleLbl="revTx" presStyleIdx="2" presStyleCnt="3">
        <dgm:presLayoutVars>
          <dgm:chMax val="0"/>
          <dgm:chPref val="0"/>
        </dgm:presLayoutVars>
      </dgm:prSet>
      <dgm:spPr/>
    </dgm:pt>
  </dgm:ptLst>
  <dgm:cxnLst>
    <dgm:cxn modelId="{71EB1611-2003-4A7F-A0CB-AE01409BB142}" type="presOf" srcId="{74135EA7-EBAE-4B05-A380-E3D385AFC03C}" destId="{0ADD443C-3B8A-4312-9FA5-97AC62C1F9B0}" srcOrd="0" destOrd="0" presId="urn:microsoft.com/office/officeart/2018/2/layout/IconVerticalSolidList"/>
    <dgm:cxn modelId="{AAA3CD15-11FD-433B-8446-B3EBD49423B0}" type="presOf" srcId="{5AE828AB-FFF2-442E-A1B4-411EC1AEE42B}" destId="{0B4437B9-2651-4898-9F41-A3B3C63A4136}" srcOrd="0" destOrd="0" presId="urn:microsoft.com/office/officeart/2018/2/layout/IconVerticalSolidList"/>
    <dgm:cxn modelId="{C286E725-6BB2-4D98-B37F-AEAEF15D4B85}" type="presOf" srcId="{C9496C90-DCC9-483D-BD0D-6D940AE676E7}" destId="{AA2F7C9A-4116-406C-AD83-16BAA7D395CA}" srcOrd="0" destOrd="0" presId="urn:microsoft.com/office/officeart/2018/2/layout/IconVerticalSolidList"/>
    <dgm:cxn modelId="{1BDFCD67-28F7-4ED3-80A9-A9A2A6C8F9E3}" srcId="{74135EA7-EBAE-4B05-A380-E3D385AFC03C}" destId="{8CF42637-A90F-4BDB-A961-5CE1842F08C8}" srcOrd="1" destOrd="0" parTransId="{8DBE3F6B-4866-4498-A4BA-6A9848BDECEC}" sibTransId="{EDADAA4A-F5E6-4EF5-AF54-77974B0A7115}"/>
    <dgm:cxn modelId="{427B7169-41F8-40ED-B06C-53B092F9806A}" srcId="{74135EA7-EBAE-4B05-A380-E3D385AFC03C}" destId="{C9496C90-DCC9-483D-BD0D-6D940AE676E7}" srcOrd="2" destOrd="0" parTransId="{6BA97E9C-C1FC-4A21-864A-046667B62B7C}" sibTransId="{92E9F3B1-10CF-4090-A9A6-EF5363281CB5}"/>
    <dgm:cxn modelId="{0544AB85-9347-4AF7-A38D-C1337E3A22DA}" srcId="{74135EA7-EBAE-4B05-A380-E3D385AFC03C}" destId="{5AE828AB-FFF2-442E-A1B4-411EC1AEE42B}" srcOrd="0" destOrd="0" parTransId="{EB84473E-AAA9-4918-969B-7F62EC2ED231}" sibTransId="{1B5BDCB4-0D1A-45F7-9DB1-CC9D1AA6C97F}"/>
    <dgm:cxn modelId="{699C8DF7-38E9-4685-A8C7-8FC3623D24EA}" type="presOf" srcId="{8CF42637-A90F-4BDB-A961-5CE1842F08C8}" destId="{95E07FA1-2628-4F8F-9625-5D1A5CC2083E}" srcOrd="0" destOrd="0" presId="urn:microsoft.com/office/officeart/2018/2/layout/IconVerticalSolidList"/>
    <dgm:cxn modelId="{575B1660-7913-4B77-B308-9A8AE839B470}" type="presParOf" srcId="{0ADD443C-3B8A-4312-9FA5-97AC62C1F9B0}" destId="{8F9FA919-6D5E-4F2D-BF26-298F2CFD5964}" srcOrd="0" destOrd="0" presId="urn:microsoft.com/office/officeart/2018/2/layout/IconVerticalSolidList"/>
    <dgm:cxn modelId="{9D70C0FF-5020-47A8-B153-9CED09EF099C}" type="presParOf" srcId="{8F9FA919-6D5E-4F2D-BF26-298F2CFD5964}" destId="{62BCFD04-22E2-45AC-8A2D-92D188201E2C}" srcOrd="0" destOrd="0" presId="urn:microsoft.com/office/officeart/2018/2/layout/IconVerticalSolidList"/>
    <dgm:cxn modelId="{BD378382-05B9-4938-A0F1-7A5D99B15CFA}" type="presParOf" srcId="{8F9FA919-6D5E-4F2D-BF26-298F2CFD5964}" destId="{98358013-5532-4B07-B93A-B1C778A309DC}" srcOrd="1" destOrd="0" presId="urn:microsoft.com/office/officeart/2018/2/layout/IconVerticalSolidList"/>
    <dgm:cxn modelId="{E9576C10-15D6-4522-85D4-9529FC68834F}" type="presParOf" srcId="{8F9FA919-6D5E-4F2D-BF26-298F2CFD5964}" destId="{2C05E6EB-D6CE-494F-88FB-2070BABA19C5}" srcOrd="2" destOrd="0" presId="urn:microsoft.com/office/officeart/2018/2/layout/IconVerticalSolidList"/>
    <dgm:cxn modelId="{BDA473D9-2287-4B05-84E0-D44D9FF4F4B7}" type="presParOf" srcId="{8F9FA919-6D5E-4F2D-BF26-298F2CFD5964}" destId="{0B4437B9-2651-4898-9F41-A3B3C63A4136}" srcOrd="3" destOrd="0" presId="urn:microsoft.com/office/officeart/2018/2/layout/IconVerticalSolidList"/>
    <dgm:cxn modelId="{4F613890-217A-4C9F-92E9-1A143576AB80}" type="presParOf" srcId="{0ADD443C-3B8A-4312-9FA5-97AC62C1F9B0}" destId="{1BB03BF5-60E1-4CAD-863B-1E8CFF449850}" srcOrd="1" destOrd="0" presId="urn:microsoft.com/office/officeart/2018/2/layout/IconVerticalSolidList"/>
    <dgm:cxn modelId="{8DFD1F1D-67E6-42D9-A4D4-FEA2DF288E45}" type="presParOf" srcId="{0ADD443C-3B8A-4312-9FA5-97AC62C1F9B0}" destId="{9C2525DA-4FD6-4598-9AC2-08353B74D8C9}" srcOrd="2" destOrd="0" presId="urn:microsoft.com/office/officeart/2018/2/layout/IconVerticalSolidList"/>
    <dgm:cxn modelId="{ECBA6604-72F3-4699-8EAA-F7E95AEE3E33}" type="presParOf" srcId="{9C2525DA-4FD6-4598-9AC2-08353B74D8C9}" destId="{E11D74E9-2372-4A77-99B2-CF91042DE745}" srcOrd="0" destOrd="0" presId="urn:microsoft.com/office/officeart/2018/2/layout/IconVerticalSolidList"/>
    <dgm:cxn modelId="{FB66FE05-4E83-43A8-8A0E-1F46D6080B49}" type="presParOf" srcId="{9C2525DA-4FD6-4598-9AC2-08353B74D8C9}" destId="{A8141A46-EE2F-4D02-814C-74F49A619E37}" srcOrd="1" destOrd="0" presId="urn:microsoft.com/office/officeart/2018/2/layout/IconVerticalSolidList"/>
    <dgm:cxn modelId="{ED8893F2-3B49-4FBB-8402-DBA92ABEE00F}" type="presParOf" srcId="{9C2525DA-4FD6-4598-9AC2-08353B74D8C9}" destId="{2B4E2E56-63ED-4BF7-80D5-CFA907C83246}" srcOrd="2" destOrd="0" presId="urn:microsoft.com/office/officeart/2018/2/layout/IconVerticalSolidList"/>
    <dgm:cxn modelId="{E8A86578-8D65-40AC-AE9E-2409A198D0B3}" type="presParOf" srcId="{9C2525DA-4FD6-4598-9AC2-08353B74D8C9}" destId="{95E07FA1-2628-4F8F-9625-5D1A5CC2083E}" srcOrd="3" destOrd="0" presId="urn:microsoft.com/office/officeart/2018/2/layout/IconVerticalSolidList"/>
    <dgm:cxn modelId="{AEA3137C-FC18-4AC0-9C18-C971819775C4}" type="presParOf" srcId="{0ADD443C-3B8A-4312-9FA5-97AC62C1F9B0}" destId="{CC3DC62D-216D-4BB7-AC60-7B4BCF9F19F7}" srcOrd="3" destOrd="0" presId="urn:microsoft.com/office/officeart/2018/2/layout/IconVerticalSolidList"/>
    <dgm:cxn modelId="{7769AA9D-9F22-4C8F-A56A-FD8DC7C5D277}" type="presParOf" srcId="{0ADD443C-3B8A-4312-9FA5-97AC62C1F9B0}" destId="{39A4DEDE-9816-49C0-97EE-84159AAA1BB1}" srcOrd="4" destOrd="0" presId="urn:microsoft.com/office/officeart/2018/2/layout/IconVerticalSolidList"/>
    <dgm:cxn modelId="{1F5BDAE4-9318-4346-97CD-582817D1C527}" type="presParOf" srcId="{39A4DEDE-9816-49C0-97EE-84159AAA1BB1}" destId="{35C15784-91C6-46AA-AD24-E9B2D29CAA79}" srcOrd="0" destOrd="0" presId="urn:microsoft.com/office/officeart/2018/2/layout/IconVerticalSolidList"/>
    <dgm:cxn modelId="{CD9956D4-FEF3-45AB-B35C-B75C5C42A122}" type="presParOf" srcId="{39A4DEDE-9816-49C0-97EE-84159AAA1BB1}" destId="{E1D19272-2DB8-4E87-81EA-0DBAD0581419}" srcOrd="1" destOrd="0" presId="urn:microsoft.com/office/officeart/2018/2/layout/IconVerticalSolidList"/>
    <dgm:cxn modelId="{0A478BA7-B2E3-43EE-9CFA-6565D75800B8}" type="presParOf" srcId="{39A4DEDE-9816-49C0-97EE-84159AAA1BB1}" destId="{BD797FB7-9662-4A06-B727-FC3861489D4D}" srcOrd="2" destOrd="0" presId="urn:microsoft.com/office/officeart/2018/2/layout/IconVerticalSolidList"/>
    <dgm:cxn modelId="{2092AE87-BB43-4C1B-A1E7-8C6C4D25EEF5}" type="presParOf" srcId="{39A4DEDE-9816-49C0-97EE-84159AAA1BB1}" destId="{AA2F7C9A-4116-406C-AD83-16BAA7D395C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4B9490-BCD5-475B-A59F-88BD3569B68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296838C-DED1-411B-8CE1-02EB16A41BCF}">
      <dgm:prSet/>
      <dgm:spPr/>
      <dgm:t>
        <a:bodyPr/>
        <a:lstStyle/>
        <a:p>
          <a:r>
            <a:rPr lang="es-NI"/>
            <a:t>El docente debe hacer a un lado sus creencias y percepciones; debe ser tolerante, justo y bajo ninguna circunstancia utilizar indicadores subjetivos difíciles de aplicar en los que su valoración y calificación sea condicionada por creencias de otra época. </a:t>
          </a:r>
          <a:endParaRPr lang="en-US"/>
        </a:p>
      </dgm:t>
    </dgm:pt>
    <dgm:pt modelId="{26046A30-4E84-4A9D-BCE0-10CBDD08CFF3}" type="parTrans" cxnId="{684C4CD7-87D4-4646-997F-2B36494AB2FB}">
      <dgm:prSet/>
      <dgm:spPr/>
      <dgm:t>
        <a:bodyPr/>
        <a:lstStyle/>
        <a:p>
          <a:endParaRPr lang="en-US"/>
        </a:p>
      </dgm:t>
    </dgm:pt>
    <dgm:pt modelId="{E692B61A-F5DC-4ACE-9D95-4E9EF5D5566C}" type="sibTrans" cxnId="{684C4CD7-87D4-4646-997F-2B36494AB2FB}">
      <dgm:prSet/>
      <dgm:spPr/>
      <dgm:t>
        <a:bodyPr/>
        <a:lstStyle/>
        <a:p>
          <a:endParaRPr lang="en-US"/>
        </a:p>
      </dgm:t>
    </dgm:pt>
    <dgm:pt modelId="{F52931AC-6AC4-4490-8CDE-C89ACCB4EDD5}">
      <dgm:prSet/>
      <dgm:spPr/>
      <dgm:t>
        <a:bodyPr/>
        <a:lstStyle/>
        <a:p>
          <a:r>
            <a:rPr lang="es-NI"/>
            <a:t>La evaluación es un aspecto que debe ser permanente en el proceso de enseñanza-aprendizaje, ya que de esta manera se identifican los avances así como las áreas a mejorar. </a:t>
          </a:r>
          <a:endParaRPr lang="en-US"/>
        </a:p>
      </dgm:t>
    </dgm:pt>
    <dgm:pt modelId="{BDB868B9-368A-44C1-979C-64120A410AAB}" type="parTrans" cxnId="{3732D084-4B4A-400C-AE3D-6D4A177EFB00}">
      <dgm:prSet/>
      <dgm:spPr/>
      <dgm:t>
        <a:bodyPr/>
        <a:lstStyle/>
        <a:p>
          <a:endParaRPr lang="en-US"/>
        </a:p>
      </dgm:t>
    </dgm:pt>
    <dgm:pt modelId="{7C21DF25-5BC5-4C72-95BE-9001D46A1243}" type="sibTrans" cxnId="{3732D084-4B4A-400C-AE3D-6D4A177EFB00}">
      <dgm:prSet/>
      <dgm:spPr/>
      <dgm:t>
        <a:bodyPr/>
        <a:lstStyle/>
        <a:p>
          <a:endParaRPr lang="en-US"/>
        </a:p>
      </dgm:t>
    </dgm:pt>
    <dgm:pt modelId="{3B1ECBA2-FD94-436F-BF3B-F53723400E53}">
      <dgm:prSet/>
      <dgm:spPr/>
      <dgm:t>
        <a:bodyPr/>
        <a:lstStyle/>
        <a:p>
          <a:r>
            <a:rPr lang="es-NI"/>
            <a:t>Evite utilizar verbos poco claros: Es  recomendable no emplear verbos tales como entender, aprender, estudiar… ya que no es sencillo medirlos o evaluarlos.</a:t>
          </a:r>
          <a:endParaRPr lang="en-US"/>
        </a:p>
      </dgm:t>
    </dgm:pt>
    <dgm:pt modelId="{97380F06-ACD6-456F-A206-654516A85AE0}" type="parTrans" cxnId="{7EEAE4D6-1423-4D02-95F4-27B96AF02B7B}">
      <dgm:prSet/>
      <dgm:spPr/>
      <dgm:t>
        <a:bodyPr/>
        <a:lstStyle/>
        <a:p>
          <a:endParaRPr lang="en-US"/>
        </a:p>
      </dgm:t>
    </dgm:pt>
    <dgm:pt modelId="{048DA8AB-F200-40D6-8931-9C9B9767EADE}" type="sibTrans" cxnId="{7EEAE4D6-1423-4D02-95F4-27B96AF02B7B}">
      <dgm:prSet/>
      <dgm:spPr/>
      <dgm:t>
        <a:bodyPr/>
        <a:lstStyle/>
        <a:p>
          <a:endParaRPr lang="en-US"/>
        </a:p>
      </dgm:t>
    </dgm:pt>
    <dgm:pt modelId="{29B15365-5C44-4E7C-B1D3-21834AA45035}">
      <dgm:prSet/>
      <dgm:spPr/>
      <dgm:t>
        <a:bodyPr/>
        <a:lstStyle/>
        <a:p>
          <a:r>
            <a:rPr lang="es-NI"/>
            <a:t>Emplea un solo verbo por objetivo: Si se emplean dos verbos en un solo objetivo se dificulta su medición y evaluación.</a:t>
          </a:r>
          <a:endParaRPr lang="en-US"/>
        </a:p>
      </dgm:t>
    </dgm:pt>
    <dgm:pt modelId="{AE15F26B-D57C-477F-84E1-C6005460DA4D}" type="parTrans" cxnId="{C073FAA8-FD52-493A-A10C-EB58E540DAD4}">
      <dgm:prSet/>
      <dgm:spPr/>
      <dgm:t>
        <a:bodyPr/>
        <a:lstStyle/>
        <a:p>
          <a:endParaRPr lang="en-US"/>
        </a:p>
      </dgm:t>
    </dgm:pt>
    <dgm:pt modelId="{F9BD00AB-DB29-4968-AB89-282BB2AC8E33}" type="sibTrans" cxnId="{C073FAA8-FD52-493A-A10C-EB58E540DAD4}">
      <dgm:prSet/>
      <dgm:spPr/>
      <dgm:t>
        <a:bodyPr/>
        <a:lstStyle/>
        <a:p>
          <a:endParaRPr lang="en-US"/>
        </a:p>
      </dgm:t>
    </dgm:pt>
    <dgm:pt modelId="{A738487C-F942-4E19-B746-97FCDDE4CD89}" type="pres">
      <dgm:prSet presAssocID="{874B9490-BCD5-475B-A59F-88BD3569B682}" presName="root" presStyleCnt="0">
        <dgm:presLayoutVars>
          <dgm:dir/>
          <dgm:resizeHandles val="exact"/>
        </dgm:presLayoutVars>
      </dgm:prSet>
      <dgm:spPr/>
    </dgm:pt>
    <dgm:pt modelId="{8CE273DC-18E4-4466-AEE3-301B83906779}" type="pres">
      <dgm:prSet presAssocID="{5296838C-DED1-411B-8CE1-02EB16A41BCF}" presName="compNode" presStyleCnt="0"/>
      <dgm:spPr/>
    </dgm:pt>
    <dgm:pt modelId="{06726BD6-60A8-4DE4-B4CD-356A5498FDA6}" type="pres">
      <dgm:prSet presAssocID="{5296838C-DED1-411B-8CE1-02EB16A41BCF}" presName="bgRect" presStyleLbl="bgShp" presStyleIdx="0" presStyleCnt="4"/>
      <dgm:spPr/>
    </dgm:pt>
    <dgm:pt modelId="{A039B628-0347-49F9-8496-00E12B73649C}" type="pres">
      <dgm:prSet presAssocID="{5296838C-DED1-411B-8CE1-02EB16A41BC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6E165D83-5518-470B-B04E-CA4E2337B7D0}" type="pres">
      <dgm:prSet presAssocID="{5296838C-DED1-411B-8CE1-02EB16A41BCF}" presName="spaceRect" presStyleCnt="0"/>
      <dgm:spPr/>
    </dgm:pt>
    <dgm:pt modelId="{6D25537B-E1E0-44DB-B29A-7D0B7C424EA8}" type="pres">
      <dgm:prSet presAssocID="{5296838C-DED1-411B-8CE1-02EB16A41BCF}" presName="parTx" presStyleLbl="revTx" presStyleIdx="0" presStyleCnt="4">
        <dgm:presLayoutVars>
          <dgm:chMax val="0"/>
          <dgm:chPref val="0"/>
        </dgm:presLayoutVars>
      </dgm:prSet>
      <dgm:spPr/>
    </dgm:pt>
    <dgm:pt modelId="{E8278433-F16B-4D83-AB9F-E126E944D723}" type="pres">
      <dgm:prSet presAssocID="{E692B61A-F5DC-4ACE-9D95-4E9EF5D5566C}" presName="sibTrans" presStyleCnt="0"/>
      <dgm:spPr/>
    </dgm:pt>
    <dgm:pt modelId="{09C8376D-E740-486C-8662-D4AD0E7F7B03}" type="pres">
      <dgm:prSet presAssocID="{F52931AC-6AC4-4490-8CDE-C89ACCB4EDD5}" presName="compNode" presStyleCnt="0"/>
      <dgm:spPr/>
    </dgm:pt>
    <dgm:pt modelId="{384F5E86-01A7-48A5-B5BE-3AD9C466F67C}" type="pres">
      <dgm:prSet presAssocID="{F52931AC-6AC4-4490-8CDE-C89ACCB4EDD5}" presName="bgRect" presStyleLbl="bgShp" presStyleIdx="1" presStyleCnt="4"/>
      <dgm:spPr/>
    </dgm:pt>
    <dgm:pt modelId="{D21EFE58-183D-43B5-B9EE-C859DB2F5EBF}" type="pres">
      <dgm:prSet presAssocID="{F52931AC-6AC4-4490-8CDE-C89ACCB4EDD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F7FACEE8-56DF-4A53-B67D-C75E14E77E8D}" type="pres">
      <dgm:prSet presAssocID="{F52931AC-6AC4-4490-8CDE-C89ACCB4EDD5}" presName="spaceRect" presStyleCnt="0"/>
      <dgm:spPr/>
    </dgm:pt>
    <dgm:pt modelId="{2C89D90D-D1AA-4D5C-B281-08566EA4A266}" type="pres">
      <dgm:prSet presAssocID="{F52931AC-6AC4-4490-8CDE-C89ACCB4EDD5}" presName="parTx" presStyleLbl="revTx" presStyleIdx="1" presStyleCnt="4">
        <dgm:presLayoutVars>
          <dgm:chMax val="0"/>
          <dgm:chPref val="0"/>
        </dgm:presLayoutVars>
      </dgm:prSet>
      <dgm:spPr/>
    </dgm:pt>
    <dgm:pt modelId="{7CFFE04B-AB1E-4659-A7CF-8C7E237A1C73}" type="pres">
      <dgm:prSet presAssocID="{7C21DF25-5BC5-4C72-95BE-9001D46A1243}" presName="sibTrans" presStyleCnt="0"/>
      <dgm:spPr/>
    </dgm:pt>
    <dgm:pt modelId="{3E64BD26-5FD9-48A5-83A4-4C4CEBD75A85}" type="pres">
      <dgm:prSet presAssocID="{3B1ECBA2-FD94-436F-BF3B-F53723400E53}" presName="compNode" presStyleCnt="0"/>
      <dgm:spPr/>
    </dgm:pt>
    <dgm:pt modelId="{200BD866-278C-462E-AA32-29E13E20610C}" type="pres">
      <dgm:prSet presAssocID="{3B1ECBA2-FD94-436F-BF3B-F53723400E53}" presName="bgRect" presStyleLbl="bgShp" presStyleIdx="2" presStyleCnt="4"/>
      <dgm:spPr/>
    </dgm:pt>
    <dgm:pt modelId="{B8D59E9E-EF25-4CC4-97A9-A8E9E1442F59}" type="pres">
      <dgm:prSet presAssocID="{3B1ECBA2-FD94-436F-BF3B-F53723400E5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FED0BF0E-C0A5-418D-8DA9-025687442110}" type="pres">
      <dgm:prSet presAssocID="{3B1ECBA2-FD94-436F-BF3B-F53723400E53}" presName="spaceRect" presStyleCnt="0"/>
      <dgm:spPr/>
    </dgm:pt>
    <dgm:pt modelId="{4AF4E3A1-B555-4E9A-9110-AAFC487036D6}" type="pres">
      <dgm:prSet presAssocID="{3B1ECBA2-FD94-436F-BF3B-F53723400E53}" presName="parTx" presStyleLbl="revTx" presStyleIdx="2" presStyleCnt="4">
        <dgm:presLayoutVars>
          <dgm:chMax val="0"/>
          <dgm:chPref val="0"/>
        </dgm:presLayoutVars>
      </dgm:prSet>
      <dgm:spPr/>
    </dgm:pt>
    <dgm:pt modelId="{BA3F2DA5-268F-420F-8182-004A0EBB798C}" type="pres">
      <dgm:prSet presAssocID="{048DA8AB-F200-40D6-8931-9C9B9767EADE}" presName="sibTrans" presStyleCnt="0"/>
      <dgm:spPr/>
    </dgm:pt>
    <dgm:pt modelId="{4DCBB918-4020-4DE6-AC57-78121533AF7B}" type="pres">
      <dgm:prSet presAssocID="{29B15365-5C44-4E7C-B1D3-21834AA45035}" presName="compNode" presStyleCnt="0"/>
      <dgm:spPr/>
    </dgm:pt>
    <dgm:pt modelId="{493C6513-2E82-4814-8B73-1EFED7628E73}" type="pres">
      <dgm:prSet presAssocID="{29B15365-5C44-4E7C-B1D3-21834AA45035}" presName="bgRect" presStyleLbl="bgShp" presStyleIdx="3" presStyleCnt="4"/>
      <dgm:spPr/>
    </dgm:pt>
    <dgm:pt modelId="{7B99FF2D-D971-4305-90CA-8D18A0161871}" type="pres">
      <dgm:prSet presAssocID="{29B15365-5C44-4E7C-B1D3-21834AA4503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B23265A1-238C-432A-A421-77B595ECAB50}" type="pres">
      <dgm:prSet presAssocID="{29B15365-5C44-4E7C-B1D3-21834AA45035}" presName="spaceRect" presStyleCnt="0"/>
      <dgm:spPr/>
    </dgm:pt>
    <dgm:pt modelId="{382E6D96-EAEA-4FCB-B0CE-D0E7B21BBF92}" type="pres">
      <dgm:prSet presAssocID="{29B15365-5C44-4E7C-B1D3-21834AA45035}" presName="parTx" presStyleLbl="revTx" presStyleIdx="3" presStyleCnt="4">
        <dgm:presLayoutVars>
          <dgm:chMax val="0"/>
          <dgm:chPref val="0"/>
        </dgm:presLayoutVars>
      </dgm:prSet>
      <dgm:spPr/>
    </dgm:pt>
  </dgm:ptLst>
  <dgm:cxnLst>
    <dgm:cxn modelId="{6827DF06-1C64-4DEE-A29C-6BBB399E885D}" type="presOf" srcId="{29B15365-5C44-4E7C-B1D3-21834AA45035}" destId="{382E6D96-EAEA-4FCB-B0CE-D0E7B21BBF92}" srcOrd="0" destOrd="0" presId="urn:microsoft.com/office/officeart/2018/2/layout/IconVerticalSolidList"/>
    <dgm:cxn modelId="{7B69C810-0982-4FB2-B0AF-770B0719C5D0}" type="presOf" srcId="{5296838C-DED1-411B-8CE1-02EB16A41BCF}" destId="{6D25537B-E1E0-44DB-B29A-7D0B7C424EA8}" srcOrd="0" destOrd="0" presId="urn:microsoft.com/office/officeart/2018/2/layout/IconVerticalSolidList"/>
    <dgm:cxn modelId="{4201194A-4C34-4FB8-ABAF-E33880C89D5F}" type="presOf" srcId="{F52931AC-6AC4-4490-8CDE-C89ACCB4EDD5}" destId="{2C89D90D-D1AA-4D5C-B281-08566EA4A266}" srcOrd="0" destOrd="0" presId="urn:microsoft.com/office/officeart/2018/2/layout/IconVerticalSolidList"/>
    <dgm:cxn modelId="{097F8A6A-52DD-4E47-9C9E-00B1F195C8D0}" type="presOf" srcId="{874B9490-BCD5-475B-A59F-88BD3569B682}" destId="{A738487C-F942-4E19-B746-97FCDDE4CD89}" srcOrd="0" destOrd="0" presId="urn:microsoft.com/office/officeart/2018/2/layout/IconVerticalSolidList"/>
    <dgm:cxn modelId="{3732D084-4B4A-400C-AE3D-6D4A177EFB00}" srcId="{874B9490-BCD5-475B-A59F-88BD3569B682}" destId="{F52931AC-6AC4-4490-8CDE-C89ACCB4EDD5}" srcOrd="1" destOrd="0" parTransId="{BDB868B9-368A-44C1-979C-64120A410AAB}" sibTransId="{7C21DF25-5BC5-4C72-95BE-9001D46A1243}"/>
    <dgm:cxn modelId="{C073FAA8-FD52-493A-A10C-EB58E540DAD4}" srcId="{874B9490-BCD5-475B-A59F-88BD3569B682}" destId="{29B15365-5C44-4E7C-B1D3-21834AA45035}" srcOrd="3" destOrd="0" parTransId="{AE15F26B-D57C-477F-84E1-C6005460DA4D}" sibTransId="{F9BD00AB-DB29-4968-AB89-282BB2AC8E33}"/>
    <dgm:cxn modelId="{7EEAE4D6-1423-4D02-95F4-27B96AF02B7B}" srcId="{874B9490-BCD5-475B-A59F-88BD3569B682}" destId="{3B1ECBA2-FD94-436F-BF3B-F53723400E53}" srcOrd="2" destOrd="0" parTransId="{97380F06-ACD6-456F-A206-654516A85AE0}" sibTransId="{048DA8AB-F200-40D6-8931-9C9B9767EADE}"/>
    <dgm:cxn modelId="{684C4CD7-87D4-4646-997F-2B36494AB2FB}" srcId="{874B9490-BCD5-475B-A59F-88BD3569B682}" destId="{5296838C-DED1-411B-8CE1-02EB16A41BCF}" srcOrd="0" destOrd="0" parTransId="{26046A30-4E84-4A9D-BCE0-10CBDD08CFF3}" sibTransId="{E692B61A-F5DC-4ACE-9D95-4E9EF5D5566C}"/>
    <dgm:cxn modelId="{628413F8-4C15-4794-A4B5-5D5EF2C3E3E9}" type="presOf" srcId="{3B1ECBA2-FD94-436F-BF3B-F53723400E53}" destId="{4AF4E3A1-B555-4E9A-9110-AAFC487036D6}" srcOrd="0" destOrd="0" presId="urn:microsoft.com/office/officeart/2018/2/layout/IconVerticalSolidList"/>
    <dgm:cxn modelId="{5D006CE3-36EE-4352-A535-032F5C7E3FC0}" type="presParOf" srcId="{A738487C-F942-4E19-B746-97FCDDE4CD89}" destId="{8CE273DC-18E4-4466-AEE3-301B83906779}" srcOrd="0" destOrd="0" presId="urn:microsoft.com/office/officeart/2018/2/layout/IconVerticalSolidList"/>
    <dgm:cxn modelId="{504F22DB-B408-47C2-BB67-42D13F006C96}" type="presParOf" srcId="{8CE273DC-18E4-4466-AEE3-301B83906779}" destId="{06726BD6-60A8-4DE4-B4CD-356A5498FDA6}" srcOrd="0" destOrd="0" presId="urn:microsoft.com/office/officeart/2018/2/layout/IconVerticalSolidList"/>
    <dgm:cxn modelId="{33998F08-705D-4EDC-BEEC-207E4FDB8739}" type="presParOf" srcId="{8CE273DC-18E4-4466-AEE3-301B83906779}" destId="{A039B628-0347-49F9-8496-00E12B73649C}" srcOrd="1" destOrd="0" presId="urn:microsoft.com/office/officeart/2018/2/layout/IconVerticalSolidList"/>
    <dgm:cxn modelId="{AAA2F4E7-93A7-4241-8204-A31F4F05DFD3}" type="presParOf" srcId="{8CE273DC-18E4-4466-AEE3-301B83906779}" destId="{6E165D83-5518-470B-B04E-CA4E2337B7D0}" srcOrd="2" destOrd="0" presId="urn:microsoft.com/office/officeart/2018/2/layout/IconVerticalSolidList"/>
    <dgm:cxn modelId="{D69C4545-A159-4CC8-8D40-ABF226748BDA}" type="presParOf" srcId="{8CE273DC-18E4-4466-AEE3-301B83906779}" destId="{6D25537B-E1E0-44DB-B29A-7D0B7C424EA8}" srcOrd="3" destOrd="0" presId="urn:microsoft.com/office/officeart/2018/2/layout/IconVerticalSolidList"/>
    <dgm:cxn modelId="{DB640695-7228-41FD-BB22-14AE24F3A2E1}" type="presParOf" srcId="{A738487C-F942-4E19-B746-97FCDDE4CD89}" destId="{E8278433-F16B-4D83-AB9F-E126E944D723}" srcOrd="1" destOrd="0" presId="urn:microsoft.com/office/officeart/2018/2/layout/IconVerticalSolidList"/>
    <dgm:cxn modelId="{772EE572-93FE-48CF-A806-49EE3E01AEA5}" type="presParOf" srcId="{A738487C-F942-4E19-B746-97FCDDE4CD89}" destId="{09C8376D-E740-486C-8662-D4AD0E7F7B03}" srcOrd="2" destOrd="0" presId="urn:microsoft.com/office/officeart/2018/2/layout/IconVerticalSolidList"/>
    <dgm:cxn modelId="{C777E3E0-9872-4AE6-AB18-10DDBAB98E19}" type="presParOf" srcId="{09C8376D-E740-486C-8662-D4AD0E7F7B03}" destId="{384F5E86-01A7-48A5-B5BE-3AD9C466F67C}" srcOrd="0" destOrd="0" presId="urn:microsoft.com/office/officeart/2018/2/layout/IconVerticalSolidList"/>
    <dgm:cxn modelId="{6BFC5E12-2501-4DCA-BAE8-920E4DB1B954}" type="presParOf" srcId="{09C8376D-E740-486C-8662-D4AD0E7F7B03}" destId="{D21EFE58-183D-43B5-B9EE-C859DB2F5EBF}" srcOrd="1" destOrd="0" presId="urn:microsoft.com/office/officeart/2018/2/layout/IconVerticalSolidList"/>
    <dgm:cxn modelId="{AEF91070-604C-49E3-89FD-5FA11959FA2E}" type="presParOf" srcId="{09C8376D-E740-486C-8662-D4AD0E7F7B03}" destId="{F7FACEE8-56DF-4A53-B67D-C75E14E77E8D}" srcOrd="2" destOrd="0" presId="urn:microsoft.com/office/officeart/2018/2/layout/IconVerticalSolidList"/>
    <dgm:cxn modelId="{22873EFA-B047-4695-9DCC-135BF2120F6A}" type="presParOf" srcId="{09C8376D-E740-486C-8662-D4AD0E7F7B03}" destId="{2C89D90D-D1AA-4D5C-B281-08566EA4A266}" srcOrd="3" destOrd="0" presId="urn:microsoft.com/office/officeart/2018/2/layout/IconVerticalSolidList"/>
    <dgm:cxn modelId="{ACBFB6ED-5AF4-49D7-AF27-B7BB2BC9EF41}" type="presParOf" srcId="{A738487C-F942-4E19-B746-97FCDDE4CD89}" destId="{7CFFE04B-AB1E-4659-A7CF-8C7E237A1C73}" srcOrd="3" destOrd="0" presId="urn:microsoft.com/office/officeart/2018/2/layout/IconVerticalSolidList"/>
    <dgm:cxn modelId="{D4543A22-DC23-4B61-AA36-369982CF919B}" type="presParOf" srcId="{A738487C-F942-4E19-B746-97FCDDE4CD89}" destId="{3E64BD26-5FD9-48A5-83A4-4C4CEBD75A85}" srcOrd="4" destOrd="0" presId="urn:microsoft.com/office/officeart/2018/2/layout/IconVerticalSolidList"/>
    <dgm:cxn modelId="{811FEA71-010C-464E-8BBA-43BA5BB775EB}" type="presParOf" srcId="{3E64BD26-5FD9-48A5-83A4-4C4CEBD75A85}" destId="{200BD866-278C-462E-AA32-29E13E20610C}" srcOrd="0" destOrd="0" presId="urn:microsoft.com/office/officeart/2018/2/layout/IconVerticalSolidList"/>
    <dgm:cxn modelId="{1838C04F-561D-450C-B20D-07F4F3ACA427}" type="presParOf" srcId="{3E64BD26-5FD9-48A5-83A4-4C4CEBD75A85}" destId="{B8D59E9E-EF25-4CC4-97A9-A8E9E1442F59}" srcOrd="1" destOrd="0" presId="urn:microsoft.com/office/officeart/2018/2/layout/IconVerticalSolidList"/>
    <dgm:cxn modelId="{7981EF59-2636-489E-B74F-403719FF50E6}" type="presParOf" srcId="{3E64BD26-5FD9-48A5-83A4-4C4CEBD75A85}" destId="{FED0BF0E-C0A5-418D-8DA9-025687442110}" srcOrd="2" destOrd="0" presId="urn:microsoft.com/office/officeart/2018/2/layout/IconVerticalSolidList"/>
    <dgm:cxn modelId="{1C653219-3414-4574-974C-C5BCC1C55042}" type="presParOf" srcId="{3E64BD26-5FD9-48A5-83A4-4C4CEBD75A85}" destId="{4AF4E3A1-B555-4E9A-9110-AAFC487036D6}" srcOrd="3" destOrd="0" presId="urn:microsoft.com/office/officeart/2018/2/layout/IconVerticalSolidList"/>
    <dgm:cxn modelId="{765A016F-1051-4AD0-BD62-C54EDDE83E1A}" type="presParOf" srcId="{A738487C-F942-4E19-B746-97FCDDE4CD89}" destId="{BA3F2DA5-268F-420F-8182-004A0EBB798C}" srcOrd="5" destOrd="0" presId="urn:microsoft.com/office/officeart/2018/2/layout/IconVerticalSolidList"/>
    <dgm:cxn modelId="{E6CF30E3-F6D7-4D2C-AF1D-3FD6AF987998}" type="presParOf" srcId="{A738487C-F942-4E19-B746-97FCDDE4CD89}" destId="{4DCBB918-4020-4DE6-AC57-78121533AF7B}" srcOrd="6" destOrd="0" presId="urn:microsoft.com/office/officeart/2018/2/layout/IconVerticalSolidList"/>
    <dgm:cxn modelId="{F11E34DB-4E4A-4BBF-9ADE-145A4E010DE6}" type="presParOf" srcId="{4DCBB918-4020-4DE6-AC57-78121533AF7B}" destId="{493C6513-2E82-4814-8B73-1EFED7628E73}" srcOrd="0" destOrd="0" presId="urn:microsoft.com/office/officeart/2018/2/layout/IconVerticalSolidList"/>
    <dgm:cxn modelId="{31D91718-8466-4F3E-A2AB-4D960B0ACF63}" type="presParOf" srcId="{4DCBB918-4020-4DE6-AC57-78121533AF7B}" destId="{7B99FF2D-D971-4305-90CA-8D18A0161871}" srcOrd="1" destOrd="0" presId="urn:microsoft.com/office/officeart/2018/2/layout/IconVerticalSolidList"/>
    <dgm:cxn modelId="{725BDA71-A105-4A84-B0FF-FC56EEE7639E}" type="presParOf" srcId="{4DCBB918-4020-4DE6-AC57-78121533AF7B}" destId="{B23265A1-238C-432A-A421-77B595ECAB50}" srcOrd="2" destOrd="0" presId="urn:microsoft.com/office/officeart/2018/2/layout/IconVerticalSolidList"/>
    <dgm:cxn modelId="{B109963F-CA1E-4388-8E86-D61AC8A111E4}" type="presParOf" srcId="{4DCBB918-4020-4DE6-AC57-78121533AF7B}" destId="{382E6D96-EAEA-4FCB-B0CE-D0E7B21BBF9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6E3DF0-F519-4673-8714-A7A7AB4B1C70}" type="doc">
      <dgm:prSet loTypeId="urn:microsoft.com/office/officeart/2005/8/layout/vList2" loCatId="list" qsTypeId="urn:microsoft.com/office/officeart/2005/8/quickstyle/simple3" qsCatId="simple" csTypeId="urn:microsoft.com/office/officeart/2005/8/colors/colorful5" csCatId="colorful"/>
      <dgm:spPr/>
      <dgm:t>
        <a:bodyPr/>
        <a:lstStyle/>
        <a:p>
          <a:endParaRPr lang="es-NI"/>
        </a:p>
      </dgm:t>
    </dgm:pt>
    <dgm:pt modelId="{75261159-3DBA-4E64-ACCA-3CA25D919ABE}">
      <dgm:prSet/>
      <dgm:spPr/>
      <dgm:t>
        <a:bodyPr/>
        <a:lstStyle/>
        <a:p>
          <a:r>
            <a:rPr lang="es-NI"/>
            <a:t>Redacta los objetivos en orden lógico: Siempre debe ir primero el objetivo general y después los específicos.</a:t>
          </a:r>
        </a:p>
      </dgm:t>
    </dgm:pt>
    <dgm:pt modelId="{956FEB74-0A75-402E-9029-ECC8EE24BBAA}" type="parTrans" cxnId="{8812050C-413D-43A8-B796-8310E660FDDC}">
      <dgm:prSet/>
      <dgm:spPr/>
      <dgm:t>
        <a:bodyPr/>
        <a:lstStyle/>
        <a:p>
          <a:endParaRPr lang="es-NI"/>
        </a:p>
      </dgm:t>
    </dgm:pt>
    <dgm:pt modelId="{313F4AC3-AE60-45F9-ABE2-92B3C2D43BFE}" type="sibTrans" cxnId="{8812050C-413D-43A8-B796-8310E660FDDC}">
      <dgm:prSet/>
      <dgm:spPr/>
      <dgm:t>
        <a:bodyPr/>
        <a:lstStyle/>
        <a:p>
          <a:endParaRPr lang="es-NI"/>
        </a:p>
      </dgm:t>
    </dgm:pt>
    <dgm:pt modelId="{A2B39F24-301E-42F6-A2B1-AB9EBCA4F67D}">
      <dgm:prSet/>
      <dgm:spPr/>
      <dgm:t>
        <a:bodyPr/>
        <a:lstStyle/>
        <a:p>
          <a:r>
            <a:rPr lang="es-NI"/>
            <a:t>Otros aspectos a tomar en cuenta para la redacción de objetivos de aprendizaje: Los alumnos, los conocimientos previos, el contexto, que presenten un reto alcanzable y  que sean secuenciales</a:t>
          </a:r>
        </a:p>
      </dgm:t>
    </dgm:pt>
    <dgm:pt modelId="{F42731E9-251D-4160-83F0-E1560541567F}" type="parTrans" cxnId="{15C1AB62-6F26-45D4-8F24-EA5D199BD955}">
      <dgm:prSet/>
      <dgm:spPr/>
      <dgm:t>
        <a:bodyPr/>
        <a:lstStyle/>
        <a:p>
          <a:endParaRPr lang="es-NI"/>
        </a:p>
      </dgm:t>
    </dgm:pt>
    <dgm:pt modelId="{78590A37-18C5-4ED7-9F1B-481B1CA78549}" type="sibTrans" cxnId="{15C1AB62-6F26-45D4-8F24-EA5D199BD955}">
      <dgm:prSet/>
      <dgm:spPr/>
      <dgm:t>
        <a:bodyPr/>
        <a:lstStyle/>
        <a:p>
          <a:endParaRPr lang="es-NI"/>
        </a:p>
      </dgm:t>
    </dgm:pt>
    <dgm:pt modelId="{98C55894-D6ED-4090-B196-E41A60097ADC}">
      <dgm:prSet/>
      <dgm:spPr/>
      <dgm:t>
        <a:bodyPr/>
        <a:lstStyle/>
        <a:p>
          <a:r>
            <a:rPr lang="es-NI"/>
            <a:t>El redactar objetivos de aprendizaje es una tarea fundamental dentro del quehacer docente, por lo que es recomendable practicar de manera constante para adquirir experiencia, ayuda mucho si se realiza de manera colaborativa con otros maestros, ya que las ideas que surgen del trabajo colectivo enriquecen el resultado final.</a:t>
          </a:r>
        </a:p>
      </dgm:t>
    </dgm:pt>
    <dgm:pt modelId="{E10DA3E3-F474-4C80-9108-AB8FA22B9A2F}" type="parTrans" cxnId="{0F4A4F13-22B8-400F-B65D-04D4BD046294}">
      <dgm:prSet/>
      <dgm:spPr/>
      <dgm:t>
        <a:bodyPr/>
        <a:lstStyle/>
        <a:p>
          <a:endParaRPr lang="es-NI"/>
        </a:p>
      </dgm:t>
    </dgm:pt>
    <dgm:pt modelId="{9CCA4A22-7AD2-4CA7-AD52-E9468966C2EE}" type="sibTrans" cxnId="{0F4A4F13-22B8-400F-B65D-04D4BD046294}">
      <dgm:prSet/>
      <dgm:spPr/>
      <dgm:t>
        <a:bodyPr/>
        <a:lstStyle/>
        <a:p>
          <a:endParaRPr lang="es-NI"/>
        </a:p>
      </dgm:t>
    </dgm:pt>
    <dgm:pt modelId="{466E0EDB-F24D-49A4-8419-F773400C74D8}" type="pres">
      <dgm:prSet presAssocID="{DB6E3DF0-F519-4673-8714-A7A7AB4B1C70}" presName="linear" presStyleCnt="0">
        <dgm:presLayoutVars>
          <dgm:animLvl val="lvl"/>
          <dgm:resizeHandles val="exact"/>
        </dgm:presLayoutVars>
      </dgm:prSet>
      <dgm:spPr/>
    </dgm:pt>
    <dgm:pt modelId="{F210ACA8-24E3-4D96-B0B9-1452C3A76204}" type="pres">
      <dgm:prSet presAssocID="{75261159-3DBA-4E64-ACCA-3CA25D919ABE}" presName="parentText" presStyleLbl="node1" presStyleIdx="0" presStyleCnt="3">
        <dgm:presLayoutVars>
          <dgm:chMax val="0"/>
          <dgm:bulletEnabled val="1"/>
        </dgm:presLayoutVars>
      </dgm:prSet>
      <dgm:spPr/>
    </dgm:pt>
    <dgm:pt modelId="{13809F13-5C0A-4A1C-A00F-B0B5F4313939}" type="pres">
      <dgm:prSet presAssocID="{313F4AC3-AE60-45F9-ABE2-92B3C2D43BFE}" presName="spacer" presStyleCnt="0"/>
      <dgm:spPr/>
    </dgm:pt>
    <dgm:pt modelId="{EB870EB5-530F-46AD-9144-03C5911788C5}" type="pres">
      <dgm:prSet presAssocID="{A2B39F24-301E-42F6-A2B1-AB9EBCA4F67D}" presName="parentText" presStyleLbl="node1" presStyleIdx="1" presStyleCnt="3">
        <dgm:presLayoutVars>
          <dgm:chMax val="0"/>
          <dgm:bulletEnabled val="1"/>
        </dgm:presLayoutVars>
      </dgm:prSet>
      <dgm:spPr/>
    </dgm:pt>
    <dgm:pt modelId="{10A9552B-4102-4324-A763-70CB93FE439F}" type="pres">
      <dgm:prSet presAssocID="{78590A37-18C5-4ED7-9F1B-481B1CA78549}" presName="spacer" presStyleCnt="0"/>
      <dgm:spPr/>
    </dgm:pt>
    <dgm:pt modelId="{7DDFF8A5-0EBE-4BA4-B468-338E446A0DB2}" type="pres">
      <dgm:prSet presAssocID="{98C55894-D6ED-4090-B196-E41A60097ADC}" presName="parentText" presStyleLbl="node1" presStyleIdx="2" presStyleCnt="3">
        <dgm:presLayoutVars>
          <dgm:chMax val="0"/>
          <dgm:bulletEnabled val="1"/>
        </dgm:presLayoutVars>
      </dgm:prSet>
      <dgm:spPr/>
    </dgm:pt>
  </dgm:ptLst>
  <dgm:cxnLst>
    <dgm:cxn modelId="{8812050C-413D-43A8-B796-8310E660FDDC}" srcId="{DB6E3DF0-F519-4673-8714-A7A7AB4B1C70}" destId="{75261159-3DBA-4E64-ACCA-3CA25D919ABE}" srcOrd="0" destOrd="0" parTransId="{956FEB74-0A75-402E-9029-ECC8EE24BBAA}" sibTransId="{313F4AC3-AE60-45F9-ABE2-92B3C2D43BFE}"/>
    <dgm:cxn modelId="{0F4A4F13-22B8-400F-B65D-04D4BD046294}" srcId="{DB6E3DF0-F519-4673-8714-A7A7AB4B1C70}" destId="{98C55894-D6ED-4090-B196-E41A60097ADC}" srcOrd="2" destOrd="0" parTransId="{E10DA3E3-F474-4C80-9108-AB8FA22B9A2F}" sibTransId="{9CCA4A22-7AD2-4CA7-AD52-E9468966C2EE}"/>
    <dgm:cxn modelId="{15C1AB62-6F26-45D4-8F24-EA5D199BD955}" srcId="{DB6E3DF0-F519-4673-8714-A7A7AB4B1C70}" destId="{A2B39F24-301E-42F6-A2B1-AB9EBCA4F67D}" srcOrd="1" destOrd="0" parTransId="{F42731E9-251D-4160-83F0-E1560541567F}" sibTransId="{78590A37-18C5-4ED7-9F1B-481B1CA78549}"/>
    <dgm:cxn modelId="{3A13A44A-365A-4201-AE3D-5BA28B48BBEB}" type="presOf" srcId="{75261159-3DBA-4E64-ACCA-3CA25D919ABE}" destId="{F210ACA8-24E3-4D96-B0B9-1452C3A76204}" srcOrd="0" destOrd="0" presId="urn:microsoft.com/office/officeart/2005/8/layout/vList2"/>
    <dgm:cxn modelId="{62E7A24B-364B-4C5C-B7E9-03056D200648}" type="presOf" srcId="{DB6E3DF0-F519-4673-8714-A7A7AB4B1C70}" destId="{466E0EDB-F24D-49A4-8419-F773400C74D8}" srcOrd="0" destOrd="0" presId="urn:microsoft.com/office/officeart/2005/8/layout/vList2"/>
    <dgm:cxn modelId="{D30E5B9C-26B7-4B52-89F4-C24C710F2A4E}" type="presOf" srcId="{A2B39F24-301E-42F6-A2B1-AB9EBCA4F67D}" destId="{EB870EB5-530F-46AD-9144-03C5911788C5}" srcOrd="0" destOrd="0" presId="urn:microsoft.com/office/officeart/2005/8/layout/vList2"/>
    <dgm:cxn modelId="{E39DBFEA-5AC1-4B7C-8272-C8F94B9336EB}" type="presOf" srcId="{98C55894-D6ED-4090-B196-E41A60097ADC}" destId="{7DDFF8A5-0EBE-4BA4-B468-338E446A0DB2}" srcOrd="0" destOrd="0" presId="urn:microsoft.com/office/officeart/2005/8/layout/vList2"/>
    <dgm:cxn modelId="{C96C961A-9D61-4D13-9559-61EF8681CE92}" type="presParOf" srcId="{466E0EDB-F24D-49A4-8419-F773400C74D8}" destId="{F210ACA8-24E3-4D96-B0B9-1452C3A76204}" srcOrd="0" destOrd="0" presId="urn:microsoft.com/office/officeart/2005/8/layout/vList2"/>
    <dgm:cxn modelId="{4A1B4353-150E-4B63-A903-3836A695785E}" type="presParOf" srcId="{466E0EDB-F24D-49A4-8419-F773400C74D8}" destId="{13809F13-5C0A-4A1C-A00F-B0B5F4313939}" srcOrd="1" destOrd="0" presId="urn:microsoft.com/office/officeart/2005/8/layout/vList2"/>
    <dgm:cxn modelId="{27FC5BA8-CCEB-4386-80FF-15EC58676FE3}" type="presParOf" srcId="{466E0EDB-F24D-49A4-8419-F773400C74D8}" destId="{EB870EB5-530F-46AD-9144-03C5911788C5}" srcOrd="2" destOrd="0" presId="urn:microsoft.com/office/officeart/2005/8/layout/vList2"/>
    <dgm:cxn modelId="{5925AA01-4757-4119-AA2C-34F2DA16E6EB}" type="presParOf" srcId="{466E0EDB-F24D-49A4-8419-F773400C74D8}" destId="{10A9552B-4102-4324-A763-70CB93FE439F}" srcOrd="3" destOrd="0" presId="urn:microsoft.com/office/officeart/2005/8/layout/vList2"/>
    <dgm:cxn modelId="{B4519A91-B845-4F25-BE92-6F383D17D61D}" type="presParOf" srcId="{466E0EDB-F24D-49A4-8419-F773400C74D8}" destId="{7DDFF8A5-0EBE-4BA4-B468-338E446A0DB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CC975B-9337-470C-89A3-A192DE44F1F9}">
      <dsp:nvSpPr>
        <dsp:cNvPr id="0" name=""/>
        <dsp:cNvSpPr/>
      </dsp:nvSpPr>
      <dsp:spPr>
        <a:xfrm>
          <a:off x="591502" y="0"/>
          <a:ext cx="6703695" cy="4351338"/>
        </a:xfrm>
        <a:prstGeom prst="rightArrow">
          <a:avLst/>
        </a:prstGeom>
        <a:solidFill>
          <a:schemeClr val="accent4">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AE6B04AB-89DA-44AD-A033-90C28E05704D}">
      <dsp:nvSpPr>
        <dsp:cNvPr id="0" name=""/>
        <dsp:cNvSpPr/>
      </dsp:nvSpPr>
      <dsp:spPr>
        <a:xfrm>
          <a:off x="267254" y="1305401"/>
          <a:ext cx="2366010" cy="1740535"/>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NI" sz="1700" kern="1200"/>
            <a:t>¿ Qué aprendimos sobre la evaluación de los aprendizajes en la clase anterior?</a:t>
          </a:r>
        </a:p>
      </dsp:txBody>
      <dsp:txXfrm>
        <a:off x="352220" y="1390367"/>
        <a:ext cx="2196078" cy="1570603"/>
      </dsp:txXfrm>
    </dsp:sp>
    <dsp:sp modelId="{9AAFB456-75A5-4573-A736-F9D9E4BEA695}">
      <dsp:nvSpPr>
        <dsp:cNvPr id="0" name=""/>
        <dsp:cNvSpPr/>
      </dsp:nvSpPr>
      <dsp:spPr>
        <a:xfrm>
          <a:off x="2760344" y="1305401"/>
          <a:ext cx="2366010" cy="1740535"/>
        </a:xfrm>
        <a:prstGeom prst="roundRect">
          <a:avLst/>
        </a:prstGeom>
        <a:gradFill rotWithShape="0">
          <a:gsLst>
            <a:gs pos="0">
              <a:schemeClr val="accent4">
                <a:hueOff val="-2232385"/>
                <a:satOff val="13449"/>
                <a:lumOff val="1078"/>
                <a:alphaOff val="0"/>
                <a:tint val="50000"/>
                <a:satMod val="300000"/>
              </a:schemeClr>
            </a:gs>
            <a:gs pos="35000">
              <a:schemeClr val="accent4">
                <a:hueOff val="-2232385"/>
                <a:satOff val="13449"/>
                <a:lumOff val="1078"/>
                <a:alphaOff val="0"/>
                <a:tint val="37000"/>
                <a:satMod val="300000"/>
              </a:schemeClr>
            </a:gs>
            <a:gs pos="100000">
              <a:schemeClr val="accent4">
                <a:hueOff val="-2232385"/>
                <a:satOff val="13449"/>
                <a:lumOff val="107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NI" sz="1700" kern="1200"/>
            <a:t>¿Qué emociones nos provoca el nuevo conocimiento?</a:t>
          </a:r>
        </a:p>
      </dsp:txBody>
      <dsp:txXfrm>
        <a:off x="2845310" y="1390367"/>
        <a:ext cx="2196078" cy="1570603"/>
      </dsp:txXfrm>
    </dsp:sp>
    <dsp:sp modelId="{D6FF1F18-FCE8-4621-972A-6C1C5C5FF309}">
      <dsp:nvSpPr>
        <dsp:cNvPr id="0" name=""/>
        <dsp:cNvSpPr/>
      </dsp:nvSpPr>
      <dsp:spPr>
        <a:xfrm>
          <a:off x="5253435" y="1305401"/>
          <a:ext cx="2366010" cy="1740535"/>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NI" sz="1700" kern="1200"/>
            <a:t>¿Cómo evidenciamos nuestra ética profesional al momento de evaluar los aprendizajes de nuestros estudiantes?</a:t>
          </a:r>
        </a:p>
      </dsp:txBody>
      <dsp:txXfrm>
        <a:off x="5338401" y="1390367"/>
        <a:ext cx="2196078"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C5270-F187-433F-972E-A3322F7209DD}">
      <dsp:nvSpPr>
        <dsp:cNvPr id="0" name=""/>
        <dsp:cNvSpPr/>
      </dsp:nvSpPr>
      <dsp:spPr>
        <a:xfrm>
          <a:off x="0" y="4247"/>
          <a:ext cx="7886700" cy="12595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C0A09A-CD41-4488-BB08-2B43074A358D}">
      <dsp:nvSpPr>
        <dsp:cNvPr id="0" name=""/>
        <dsp:cNvSpPr/>
      </dsp:nvSpPr>
      <dsp:spPr>
        <a:xfrm>
          <a:off x="381027" y="287655"/>
          <a:ext cx="693454" cy="6927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DCE43B-DEB2-4CAC-B1F1-97641EBED662}">
      <dsp:nvSpPr>
        <dsp:cNvPr id="0" name=""/>
        <dsp:cNvSpPr/>
      </dsp:nvSpPr>
      <dsp:spPr>
        <a:xfrm>
          <a:off x="1455508" y="4247"/>
          <a:ext cx="6315437" cy="1260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37" tIns="133437" rIns="133437" bIns="133437" numCol="1" spcCol="1270" anchor="ctr" anchorCtr="0">
          <a:noAutofit/>
        </a:bodyPr>
        <a:lstStyle/>
        <a:p>
          <a:pPr marL="0" lvl="0" indent="0" algn="l" defTabSz="622300">
            <a:lnSpc>
              <a:spcPct val="90000"/>
            </a:lnSpc>
            <a:spcBef>
              <a:spcPct val="0"/>
            </a:spcBef>
            <a:spcAft>
              <a:spcPct val="35000"/>
            </a:spcAft>
            <a:buNone/>
          </a:pPr>
          <a:r>
            <a:rPr lang="es-NI" sz="1400" kern="1200"/>
            <a:t>Recordemos que un objetivo general se busca alcanzar a largo plazo (por ejemplo la duración de una asignatura en una organización curricular).</a:t>
          </a:r>
          <a:endParaRPr lang="en-US" sz="1400" kern="1200"/>
        </a:p>
      </dsp:txBody>
      <dsp:txXfrm>
        <a:off x="1455508" y="4247"/>
        <a:ext cx="6315437" cy="1260825"/>
      </dsp:txXfrm>
    </dsp:sp>
    <dsp:sp modelId="{73FF7DC6-71A4-4BFF-94A1-A722E40D1B68}">
      <dsp:nvSpPr>
        <dsp:cNvPr id="0" name=""/>
        <dsp:cNvSpPr/>
      </dsp:nvSpPr>
      <dsp:spPr>
        <a:xfrm>
          <a:off x="0" y="1545256"/>
          <a:ext cx="7886700" cy="12595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BC223-0D8D-4B27-B5C2-A9B7B39752EC}">
      <dsp:nvSpPr>
        <dsp:cNvPr id="0" name=""/>
        <dsp:cNvSpPr/>
      </dsp:nvSpPr>
      <dsp:spPr>
        <a:xfrm>
          <a:off x="381027" y="1828664"/>
          <a:ext cx="693454" cy="6927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904A37-3E72-43AA-B65E-1F540E68EFA0}">
      <dsp:nvSpPr>
        <dsp:cNvPr id="0" name=""/>
        <dsp:cNvSpPr/>
      </dsp:nvSpPr>
      <dsp:spPr>
        <a:xfrm>
          <a:off x="1455508" y="1545256"/>
          <a:ext cx="6315437" cy="1260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37" tIns="133437" rIns="133437" bIns="133437" numCol="1" spcCol="1270" anchor="ctr" anchorCtr="0">
          <a:noAutofit/>
        </a:bodyPr>
        <a:lstStyle/>
        <a:p>
          <a:pPr marL="0" lvl="0" indent="0" algn="l" defTabSz="622300">
            <a:lnSpc>
              <a:spcPct val="90000"/>
            </a:lnSpc>
            <a:spcBef>
              <a:spcPct val="0"/>
            </a:spcBef>
            <a:spcAft>
              <a:spcPct val="35000"/>
            </a:spcAft>
            <a:buNone/>
          </a:pPr>
          <a:r>
            <a:rPr lang="es-NI" sz="1400" kern="1200"/>
            <a:t>Ejemplos de verbos para objetivos generales:</a:t>
          </a:r>
          <a:endParaRPr lang="en-US" sz="1400" kern="1200"/>
        </a:p>
      </dsp:txBody>
      <dsp:txXfrm>
        <a:off x="1455508" y="1545256"/>
        <a:ext cx="6315437" cy="1260825"/>
      </dsp:txXfrm>
    </dsp:sp>
    <dsp:sp modelId="{520367ED-FA24-4F20-AD63-16BC558FAA6A}">
      <dsp:nvSpPr>
        <dsp:cNvPr id="0" name=""/>
        <dsp:cNvSpPr/>
      </dsp:nvSpPr>
      <dsp:spPr>
        <a:xfrm>
          <a:off x="0" y="3086265"/>
          <a:ext cx="7886700" cy="12595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9E0C98-7F2F-4D73-BCA4-1C027ED42C91}">
      <dsp:nvSpPr>
        <dsp:cNvPr id="0" name=""/>
        <dsp:cNvSpPr/>
      </dsp:nvSpPr>
      <dsp:spPr>
        <a:xfrm>
          <a:off x="381399" y="3369673"/>
          <a:ext cx="693454" cy="6927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E62DDF-26B0-491C-870B-538B2575B9C8}">
      <dsp:nvSpPr>
        <dsp:cNvPr id="0" name=""/>
        <dsp:cNvSpPr/>
      </dsp:nvSpPr>
      <dsp:spPr>
        <a:xfrm>
          <a:off x="1456253" y="3086265"/>
          <a:ext cx="6315437" cy="1260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37" tIns="133437" rIns="133437" bIns="133437" numCol="1" spcCol="1270" anchor="ctr" anchorCtr="0">
          <a:noAutofit/>
        </a:bodyPr>
        <a:lstStyle/>
        <a:p>
          <a:pPr marL="0" lvl="0" indent="0" algn="l" defTabSz="622300">
            <a:lnSpc>
              <a:spcPct val="90000"/>
            </a:lnSpc>
            <a:spcBef>
              <a:spcPct val="0"/>
            </a:spcBef>
            <a:spcAft>
              <a:spcPct val="35000"/>
            </a:spcAft>
            <a:buNone/>
          </a:pPr>
          <a:r>
            <a:rPr lang="es-NI" sz="1400" kern="1200"/>
            <a:t>Calcular, categorizar, comparar, compilar, comprender, concretar, contrastar, crear, definir, demostrar, desarrollar, describir, diagnosticar, discriminar, diseñar, efectuar, enumerar, establecer, evaluar, explicar, examinar, exponer, formular, fundamentar, generar, identificar, inferir, informar , mostrar, orientar, oponer, reconstruir, relatar, replicar, reproducir, revelar, planear, presentar, probar, producir, proponer, situar, tasar, trazar, valuar.</a:t>
          </a:r>
          <a:endParaRPr lang="en-US" sz="1400" kern="1200"/>
        </a:p>
      </dsp:txBody>
      <dsp:txXfrm>
        <a:off x="1456253" y="3086265"/>
        <a:ext cx="6315437" cy="12608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CFD04-22E2-45AC-8A2D-92D188201E2C}">
      <dsp:nvSpPr>
        <dsp:cNvPr id="0" name=""/>
        <dsp:cNvSpPr/>
      </dsp:nvSpPr>
      <dsp:spPr>
        <a:xfrm>
          <a:off x="0" y="2933"/>
          <a:ext cx="7886700" cy="11225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358013-5532-4B07-B93A-B1C778A309DC}">
      <dsp:nvSpPr>
        <dsp:cNvPr id="0" name=""/>
        <dsp:cNvSpPr/>
      </dsp:nvSpPr>
      <dsp:spPr>
        <a:xfrm>
          <a:off x="339584" y="255517"/>
          <a:ext cx="618029" cy="6174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4437B9-2651-4898-9F41-A3B3C63A4136}">
      <dsp:nvSpPr>
        <dsp:cNvPr id="0" name=""/>
        <dsp:cNvSpPr/>
      </dsp:nvSpPr>
      <dsp:spPr>
        <a:xfrm>
          <a:off x="1297197" y="2933"/>
          <a:ext cx="6174784" cy="1297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371" tIns="137371" rIns="137371" bIns="137371" numCol="1" spcCol="1270" anchor="ctr" anchorCtr="0">
          <a:noAutofit/>
        </a:bodyPr>
        <a:lstStyle/>
        <a:p>
          <a:pPr marL="0" lvl="0" indent="0" algn="l" defTabSz="622300">
            <a:lnSpc>
              <a:spcPct val="100000"/>
            </a:lnSpc>
            <a:spcBef>
              <a:spcPct val="0"/>
            </a:spcBef>
            <a:spcAft>
              <a:spcPct val="35000"/>
            </a:spcAft>
            <a:buNone/>
          </a:pPr>
          <a:r>
            <a:rPr lang="es-NI" sz="1400" kern="1200"/>
            <a:t>Por su parte los objetivos específicos corresponden a intenciones educativas más concretas, por ejemplo a los de los planes de clase de una unidad didáctica.</a:t>
          </a:r>
          <a:endParaRPr lang="en-US" sz="1400" kern="1200"/>
        </a:p>
      </dsp:txBody>
      <dsp:txXfrm>
        <a:off x="1297197" y="2933"/>
        <a:ext cx="6174784" cy="1297997"/>
      </dsp:txXfrm>
    </dsp:sp>
    <dsp:sp modelId="{E11D74E9-2372-4A77-99B2-CF91042DE745}">
      <dsp:nvSpPr>
        <dsp:cNvPr id="0" name=""/>
        <dsp:cNvSpPr/>
      </dsp:nvSpPr>
      <dsp:spPr>
        <a:xfrm>
          <a:off x="0" y="1526670"/>
          <a:ext cx="7886700" cy="11225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141A46-EE2F-4D02-814C-74F49A619E37}">
      <dsp:nvSpPr>
        <dsp:cNvPr id="0" name=""/>
        <dsp:cNvSpPr/>
      </dsp:nvSpPr>
      <dsp:spPr>
        <a:xfrm>
          <a:off x="339584" y="1779253"/>
          <a:ext cx="618029" cy="6174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E07FA1-2628-4F8F-9625-5D1A5CC2083E}">
      <dsp:nvSpPr>
        <dsp:cNvPr id="0" name=""/>
        <dsp:cNvSpPr/>
      </dsp:nvSpPr>
      <dsp:spPr>
        <a:xfrm>
          <a:off x="1297197" y="1526670"/>
          <a:ext cx="6174784" cy="1297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371" tIns="137371" rIns="137371" bIns="137371" numCol="1" spcCol="1270" anchor="ctr" anchorCtr="0">
          <a:noAutofit/>
        </a:bodyPr>
        <a:lstStyle/>
        <a:p>
          <a:pPr marL="0" lvl="0" indent="0" algn="l" defTabSz="622300">
            <a:lnSpc>
              <a:spcPct val="100000"/>
            </a:lnSpc>
            <a:spcBef>
              <a:spcPct val="0"/>
            </a:spcBef>
            <a:spcAft>
              <a:spcPct val="35000"/>
            </a:spcAft>
            <a:buNone/>
          </a:pPr>
          <a:r>
            <a:rPr lang="es-NI" sz="1400" kern="1200"/>
            <a:t>Ejemplos de verbos para objetivos específicos:</a:t>
          </a:r>
          <a:endParaRPr lang="en-US" sz="1400" kern="1200"/>
        </a:p>
      </dsp:txBody>
      <dsp:txXfrm>
        <a:off x="1297197" y="1526670"/>
        <a:ext cx="6174784" cy="1297997"/>
      </dsp:txXfrm>
    </dsp:sp>
    <dsp:sp modelId="{35C15784-91C6-46AA-AD24-E9B2D29CAA79}">
      <dsp:nvSpPr>
        <dsp:cNvPr id="0" name=""/>
        <dsp:cNvSpPr/>
      </dsp:nvSpPr>
      <dsp:spPr>
        <a:xfrm>
          <a:off x="0" y="3050406"/>
          <a:ext cx="7886700" cy="11225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D19272-2DB8-4E87-81EA-0DBAD0581419}">
      <dsp:nvSpPr>
        <dsp:cNvPr id="0" name=""/>
        <dsp:cNvSpPr/>
      </dsp:nvSpPr>
      <dsp:spPr>
        <a:xfrm>
          <a:off x="339916" y="3302989"/>
          <a:ext cx="618029" cy="6174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2F7C9A-4116-406C-AD83-16BAA7D395CA}">
      <dsp:nvSpPr>
        <dsp:cNvPr id="0" name=""/>
        <dsp:cNvSpPr/>
      </dsp:nvSpPr>
      <dsp:spPr>
        <a:xfrm>
          <a:off x="1297861" y="3050406"/>
          <a:ext cx="6174784" cy="1297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371" tIns="137371" rIns="137371" bIns="137371" numCol="1" spcCol="1270" anchor="ctr" anchorCtr="0">
          <a:noAutofit/>
        </a:bodyPr>
        <a:lstStyle/>
        <a:p>
          <a:pPr marL="0" lvl="0" indent="0" algn="l" defTabSz="622300">
            <a:lnSpc>
              <a:spcPct val="100000"/>
            </a:lnSpc>
            <a:spcBef>
              <a:spcPct val="0"/>
            </a:spcBef>
            <a:spcAft>
              <a:spcPct val="35000"/>
            </a:spcAft>
            <a:buNone/>
          </a:pPr>
          <a:r>
            <a:rPr lang="es-NI" sz="1400" kern="1200"/>
            <a:t>Advertir, analizar, basar, calcular, calificar, categorizar, comparar, compartir, componer, conceptuar, considerar, contrastar, deducir, definir, demostrar, detallar, determinar, designar, descomponer, descubrir, diseñar, discriminar, distinguir, establecer, enunciar, enumerar, especificar, estimar, examinar, explicar, fraccionar, identificar, indicar, interpretar, justificar, mencionar, mostrar, operacionalizar, organizar, registrar, relacionar, resumir, seleccionar,, separar, sintetizar, sugerir.</a:t>
          </a:r>
          <a:endParaRPr lang="en-US" sz="1400" kern="1200"/>
        </a:p>
      </dsp:txBody>
      <dsp:txXfrm>
        <a:off x="1297861" y="3050406"/>
        <a:ext cx="6174784" cy="12979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726BD6-60A8-4DE4-B4CD-356A5498FDA6}">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39B628-0347-49F9-8496-00E12B73649C}">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25537B-E1E0-44DB-B29A-7D0B7C424EA8}">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22300">
            <a:lnSpc>
              <a:spcPct val="90000"/>
            </a:lnSpc>
            <a:spcBef>
              <a:spcPct val="0"/>
            </a:spcBef>
            <a:spcAft>
              <a:spcPct val="35000"/>
            </a:spcAft>
            <a:buNone/>
          </a:pPr>
          <a:r>
            <a:rPr lang="es-NI" sz="1400" kern="1200"/>
            <a:t>El docente debe hacer a un lado sus creencias y percepciones; debe ser tolerante, justo y bajo ninguna circunstancia utilizar indicadores subjetivos difíciles de aplicar en los que su valoración y calificación sea condicionada por creencias de otra época. </a:t>
          </a:r>
          <a:endParaRPr lang="en-US" sz="1400" kern="1200"/>
        </a:p>
      </dsp:txBody>
      <dsp:txXfrm>
        <a:off x="1057183" y="1805"/>
        <a:ext cx="6829516" cy="915310"/>
      </dsp:txXfrm>
    </dsp:sp>
    <dsp:sp modelId="{384F5E86-01A7-48A5-B5BE-3AD9C466F67C}">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1EFE58-183D-43B5-B9EE-C859DB2F5EBF}">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89D90D-D1AA-4D5C-B281-08566EA4A266}">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22300">
            <a:lnSpc>
              <a:spcPct val="90000"/>
            </a:lnSpc>
            <a:spcBef>
              <a:spcPct val="0"/>
            </a:spcBef>
            <a:spcAft>
              <a:spcPct val="35000"/>
            </a:spcAft>
            <a:buNone/>
          </a:pPr>
          <a:r>
            <a:rPr lang="es-NI" sz="1400" kern="1200"/>
            <a:t>La evaluación es un aspecto que debe ser permanente en el proceso de enseñanza-aprendizaje, ya que de esta manera se identifican los avances así como las áreas a mejorar. </a:t>
          </a:r>
          <a:endParaRPr lang="en-US" sz="1400" kern="1200"/>
        </a:p>
      </dsp:txBody>
      <dsp:txXfrm>
        <a:off x="1057183" y="1145944"/>
        <a:ext cx="6829516" cy="915310"/>
      </dsp:txXfrm>
    </dsp:sp>
    <dsp:sp modelId="{200BD866-278C-462E-AA32-29E13E20610C}">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D59E9E-EF25-4CC4-97A9-A8E9E1442F59}">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F4E3A1-B555-4E9A-9110-AAFC487036D6}">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22300">
            <a:lnSpc>
              <a:spcPct val="90000"/>
            </a:lnSpc>
            <a:spcBef>
              <a:spcPct val="0"/>
            </a:spcBef>
            <a:spcAft>
              <a:spcPct val="35000"/>
            </a:spcAft>
            <a:buNone/>
          </a:pPr>
          <a:r>
            <a:rPr lang="es-NI" sz="1400" kern="1200"/>
            <a:t>Evite utilizar verbos poco claros: Es  recomendable no emplear verbos tales como entender, aprender, estudiar… ya que no es sencillo medirlos o evaluarlos.</a:t>
          </a:r>
          <a:endParaRPr lang="en-US" sz="1400" kern="1200"/>
        </a:p>
      </dsp:txBody>
      <dsp:txXfrm>
        <a:off x="1057183" y="2290082"/>
        <a:ext cx="6829516" cy="915310"/>
      </dsp:txXfrm>
    </dsp:sp>
    <dsp:sp modelId="{493C6513-2E82-4814-8B73-1EFED7628E73}">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99FF2D-D971-4305-90CA-8D18A0161871}">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2E6D96-EAEA-4FCB-B0CE-D0E7B21BBF92}">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22300">
            <a:lnSpc>
              <a:spcPct val="90000"/>
            </a:lnSpc>
            <a:spcBef>
              <a:spcPct val="0"/>
            </a:spcBef>
            <a:spcAft>
              <a:spcPct val="35000"/>
            </a:spcAft>
            <a:buNone/>
          </a:pPr>
          <a:r>
            <a:rPr lang="es-NI" sz="1400" kern="1200"/>
            <a:t>Emplea un solo verbo por objetivo: Si se emplean dos verbos en un solo objetivo se dificulta su medición y evaluación.</a:t>
          </a:r>
          <a:endParaRPr lang="en-US" sz="1400" kern="1200"/>
        </a:p>
      </dsp:txBody>
      <dsp:txXfrm>
        <a:off x="1057183" y="3434221"/>
        <a:ext cx="6829516" cy="915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0ACA8-24E3-4D96-B0B9-1452C3A76204}">
      <dsp:nvSpPr>
        <dsp:cNvPr id="0" name=""/>
        <dsp:cNvSpPr/>
      </dsp:nvSpPr>
      <dsp:spPr>
        <a:xfrm>
          <a:off x="0" y="392199"/>
          <a:ext cx="7886700" cy="1156339"/>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NI" sz="1700" kern="1200"/>
            <a:t>Redacta los objetivos en orden lógico: Siempre debe ir primero el objetivo general y después los específicos.</a:t>
          </a:r>
        </a:p>
      </dsp:txBody>
      <dsp:txXfrm>
        <a:off x="56448" y="448647"/>
        <a:ext cx="7773804" cy="1043443"/>
      </dsp:txXfrm>
    </dsp:sp>
    <dsp:sp modelId="{EB870EB5-530F-46AD-9144-03C5911788C5}">
      <dsp:nvSpPr>
        <dsp:cNvPr id="0" name=""/>
        <dsp:cNvSpPr/>
      </dsp:nvSpPr>
      <dsp:spPr>
        <a:xfrm>
          <a:off x="0" y="1597499"/>
          <a:ext cx="7886700" cy="1156339"/>
        </a:xfrm>
        <a:prstGeom prst="roundRect">
          <a:avLst/>
        </a:prstGeom>
        <a:gradFill rotWithShape="0">
          <a:gsLst>
            <a:gs pos="0">
              <a:schemeClr val="accent5">
                <a:hueOff val="-4966938"/>
                <a:satOff val="19906"/>
                <a:lumOff val="4314"/>
                <a:alphaOff val="0"/>
                <a:tint val="50000"/>
                <a:satMod val="300000"/>
              </a:schemeClr>
            </a:gs>
            <a:gs pos="35000">
              <a:schemeClr val="accent5">
                <a:hueOff val="-4966938"/>
                <a:satOff val="19906"/>
                <a:lumOff val="4314"/>
                <a:alphaOff val="0"/>
                <a:tint val="37000"/>
                <a:satMod val="300000"/>
              </a:schemeClr>
            </a:gs>
            <a:gs pos="100000">
              <a:schemeClr val="accent5">
                <a:hueOff val="-4966938"/>
                <a:satOff val="19906"/>
                <a:lumOff val="431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NI" sz="1700" kern="1200"/>
            <a:t>Otros aspectos a tomar en cuenta para la redacción de objetivos de aprendizaje: Los alumnos, los conocimientos previos, el contexto, que presenten un reto alcanzable y  que sean secuenciales</a:t>
          </a:r>
        </a:p>
      </dsp:txBody>
      <dsp:txXfrm>
        <a:off x="56448" y="1653947"/>
        <a:ext cx="7773804" cy="1043443"/>
      </dsp:txXfrm>
    </dsp:sp>
    <dsp:sp modelId="{7DDFF8A5-0EBE-4BA4-B468-338E446A0DB2}">
      <dsp:nvSpPr>
        <dsp:cNvPr id="0" name=""/>
        <dsp:cNvSpPr/>
      </dsp:nvSpPr>
      <dsp:spPr>
        <a:xfrm>
          <a:off x="0" y="2802798"/>
          <a:ext cx="7886700" cy="1156339"/>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NI" sz="1700" kern="1200"/>
            <a:t>El redactar objetivos de aprendizaje es una tarea fundamental dentro del quehacer docente, por lo que es recomendable practicar de manera constante para adquirir experiencia, ayuda mucho si se realiza de manera colaborativa con otros maestros, ya que las ideas que surgen del trabajo colectivo enriquecen el resultado final.</a:t>
          </a:r>
        </a:p>
      </dsp:txBody>
      <dsp:txXfrm>
        <a:off x="56448" y="2859246"/>
        <a:ext cx="7773804" cy="104344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NI"/>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F32CD52-1CDA-4F59-BA4C-EF1A4887F9D2}" type="datetimeFigureOut">
              <a:rPr lang="es-NI" smtClean="0"/>
              <a:pPr/>
              <a:t>21/10/2019</a:t>
            </a:fld>
            <a:endParaRPr lang="es-NI"/>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NI"/>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A6B0DD4-0740-43CE-BA22-100E81CBB81E}" type="slidenum">
              <a:rPr lang="es-NI" smtClean="0"/>
              <a:pPr/>
              <a:t>‹Nº›</a:t>
            </a:fld>
            <a:endParaRPr lang="es-NI"/>
          </a:p>
        </p:txBody>
      </p:sp>
    </p:spTree>
    <p:extLst>
      <p:ext uri="{BB962C8B-B14F-4D97-AF65-F5344CB8AC3E}">
        <p14:creationId xmlns:p14="http://schemas.microsoft.com/office/powerpoint/2010/main" val="3360735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NI"/>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0C43C8-95B6-4B79-9968-62C7C82CEC40}" type="datetimeFigureOut">
              <a:rPr lang="es-NI" smtClean="0"/>
              <a:pPr/>
              <a:t>21/10/2019</a:t>
            </a:fld>
            <a:endParaRPr lang="es-NI"/>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NI"/>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NI"/>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A41852-7E99-423A-BB61-BB103ADF4236}" type="slidenum">
              <a:rPr lang="es-NI" smtClean="0"/>
              <a:pPr/>
              <a:t>‹Nº›</a:t>
            </a:fld>
            <a:endParaRPr lang="es-NI"/>
          </a:p>
        </p:txBody>
      </p:sp>
    </p:spTree>
    <p:extLst>
      <p:ext uri="{BB962C8B-B14F-4D97-AF65-F5344CB8AC3E}">
        <p14:creationId xmlns:p14="http://schemas.microsoft.com/office/powerpoint/2010/main" val="731500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NI" dirty="0"/>
          </a:p>
        </p:txBody>
      </p:sp>
      <p:sp>
        <p:nvSpPr>
          <p:cNvPr id="4" name="Marcador de número de diapositiva 3"/>
          <p:cNvSpPr>
            <a:spLocks noGrp="1"/>
          </p:cNvSpPr>
          <p:nvPr>
            <p:ph type="sldNum" sz="quarter" idx="5"/>
          </p:nvPr>
        </p:nvSpPr>
        <p:spPr/>
        <p:txBody>
          <a:bodyPr/>
          <a:lstStyle/>
          <a:p>
            <a:fld id="{27A41852-7E99-423A-BB61-BB103ADF4236}" type="slidenum">
              <a:rPr lang="es-NI" smtClean="0"/>
              <a:pPr/>
              <a:t>12</a:t>
            </a:fld>
            <a:endParaRPr lang="es-NI"/>
          </a:p>
        </p:txBody>
      </p:sp>
    </p:spTree>
    <p:extLst>
      <p:ext uri="{BB962C8B-B14F-4D97-AF65-F5344CB8AC3E}">
        <p14:creationId xmlns:p14="http://schemas.microsoft.com/office/powerpoint/2010/main" val="2789094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11 Marcador de texto"/>
          <p:cNvSpPr>
            <a:spLocks noGrp="1"/>
          </p:cNvSpPr>
          <p:nvPr>
            <p:ph type="body" sz="quarter" idx="10" hasCustomPrompt="1"/>
          </p:nvPr>
        </p:nvSpPr>
        <p:spPr>
          <a:xfrm>
            <a:off x="3916508" y="1265657"/>
            <a:ext cx="3351067" cy="979068"/>
          </a:xfrm>
          <a:prstGeom prst="rect">
            <a:avLst/>
          </a:prstGeom>
        </p:spPr>
        <p:txBody>
          <a:bodyPr anchor="ctr"/>
          <a:lstStyle>
            <a:lvl1pPr marL="0" indent="0" algn="l">
              <a:buFontTx/>
              <a:buNone/>
              <a:defRPr baseline="0">
                <a:latin typeface="EleganTech™" pitchFamily="2" charset="0"/>
              </a:defRPr>
            </a:lvl1pPr>
          </a:lstStyle>
          <a:p>
            <a:pPr lvl="0"/>
            <a:r>
              <a:rPr lang="es-NI" dirty="0"/>
              <a:t>Notas adicionales pueden aparecer aquí en caso de ser necesarias</a:t>
            </a:r>
          </a:p>
        </p:txBody>
      </p:sp>
      <p:sp>
        <p:nvSpPr>
          <p:cNvPr id="14" name="13 Marcador de texto"/>
          <p:cNvSpPr>
            <a:spLocks noGrp="1"/>
          </p:cNvSpPr>
          <p:nvPr>
            <p:ph type="body" sz="quarter" idx="11" hasCustomPrompt="1"/>
          </p:nvPr>
        </p:nvSpPr>
        <p:spPr>
          <a:xfrm>
            <a:off x="204788" y="1033882"/>
            <a:ext cx="3525837" cy="1238250"/>
          </a:xfrm>
          <a:prstGeom prst="rect">
            <a:avLst/>
          </a:prstGeom>
        </p:spPr>
        <p:txBody>
          <a:bodyPr/>
          <a:lstStyle>
            <a:lvl1pPr marL="342900" marR="0" indent="-342900" algn="l" defTabSz="457200" rtl="0" eaLnBrk="0" fontAlgn="base" latinLnBrk="0" hangingPunct="0">
              <a:lnSpc>
                <a:spcPct val="100000"/>
              </a:lnSpc>
              <a:spcBef>
                <a:spcPct val="20000"/>
              </a:spcBef>
              <a:spcAft>
                <a:spcPct val="0"/>
              </a:spcAft>
              <a:buClr>
                <a:srgbClr val="FF0000"/>
              </a:buClr>
              <a:buSzTx/>
              <a:buFont typeface="Calibri" pitchFamily="34" charset="0"/>
              <a:buNone/>
              <a:tabLst/>
              <a:defRPr sz="6600">
                <a:solidFill>
                  <a:srgbClr val="FF0000"/>
                </a:solidFill>
                <a:latin typeface="EleganTech™" pitchFamily="2" charset="0"/>
              </a:defRPr>
            </a:lvl1pPr>
          </a:lstStyle>
          <a:p>
            <a:pPr marL="342900" marR="0" lvl="0" indent="-342900" algn="l" defTabSz="457200" rtl="0" eaLnBrk="0" fontAlgn="base" latinLnBrk="0" hangingPunct="0">
              <a:lnSpc>
                <a:spcPct val="100000"/>
              </a:lnSpc>
              <a:spcBef>
                <a:spcPct val="20000"/>
              </a:spcBef>
              <a:spcAft>
                <a:spcPct val="0"/>
              </a:spcAft>
              <a:buClr>
                <a:srgbClr val="FF0000"/>
              </a:buClr>
              <a:buSzTx/>
              <a:buFont typeface="Calibri" pitchFamily="34" charset="0"/>
              <a:buNone/>
              <a:tabLst/>
              <a:defRPr/>
            </a:pPr>
            <a:r>
              <a:rPr lang="is-IS" sz="6600" dirty="0">
                <a:solidFill>
                  <a:srgbClr val="FF0000"/>
                </a:solidFill>
                <a:latin typeface="EleganTech™" pitchFamily="2" charset="0"/>
                <a:ea typeface="ＭＳ Ｐゴシック" charset="-128"/>
              </a:rPr>
              <a:t>Índice</a:t>
            </a:r>
            <a:endParaRPr lang="en-US" sz="6600" dirty="0">
              <a:solidFill>
                <a:srgbClr val="FF0000"/>
              </a:solidFill>
              <a:latin typeface="EleganTech™" pitchFamily="2" charset="0"/>
              <a:ea typeface="ＭＳ Ｐゴシック" charset="-128"/>
            </a:endParaRPr>
          </a:p>
          <a:p>
            <a:pPr lvl="0"/>
            <a:endParaRPr lang="es-NI" dirty="0"/>
          </a:p>
        </p:txBody>
      </p:sp>
      <p:sp>
        <p:nvSpPr>
          <p:cNvPr id="7" name="6 Marcador de texto"/>
          <p:cNvSpPr>
            <a:spLocks noGrp="1"/>
          </p:cNvSpPr>
          <p:nvPr>
            <p:ph type="body" sz="quarter" idx="12" hasCustomPrompt="1"/>
          </p:nvPr>
        </p:nvSpPr>
        <p:spPr>
          <a:xfrm>
            <a:off x="204788" y="3962400"/>
            <a:ext cx="3233737" cy="2403475"/>
          </a:xfrm>
          <a:prstGeom prst="rect">
            <a:avLst/>
          </a:prstGeom>
        </p:spPr>
        <p:txBody>
          <a:bodyPr/>
          <a:lstStyle>
            <a:lvl1pPr>
              <a:defRPr baseline="0">
                <a:solidFill>
                  <a:schemeClr val="tx1">
                    <a:lumMod val="85000"/>
                    <a:lumOff val="15000"/>
                  </a:schemeClr>
                </a:solidFill>
                <a:latin typeface="EleganTech™" pitchFamily="2" charset="0"/>
              </a:defRPr>
            </a:lvl1pPr>
            <a:lvl2pPr>
              <a:buFont typeface="Arial" pitchFamily="34" charset="0"/>
              <a:buChar char="•"/>
              <a:defRPr sz="1200" baseline="0">
                <a:solidFill>
                  <a:schemeClr val="tx1">
                    <a:lumMod val="65000"/>
                    <a:lumOff val="35000"/>
                  </a:schemeClr>
                </a:solidFill>
                <a:latin typeface="EleganTech™" pitchFamily="2" charset="0"/>
              </a:defRPr>
            </a:lvl2pPr>
          </a:lstStyle>
          <a:p>
            <a:pPr lvl="0"/>
            <a:r>
              <a:rPr lang="es-ES" dirty="0"/>
              <a:t>Nombre de la sección aquí</a:t>
            </a:r>
          </a:p>
          <a:p>
            <a:pPr lvl="0"/>
            <a:r>
              <a:rPr lang="es-ES" dirty="0"/>
              <a:t>Nombre de la sección aquí</a:t>
            </a:r>
          </a:p>
          <a:p>
            <a:pPr lvl="0"/>
            <a:r>
              <a:rPr lang="es-ES" dirty="0"/>
              <a:t>Nombre de la sección aquí</a:t>
            </a:r>
          </a:p>
          <a:p>
            <a:pPr lvl="0"/>
            <a:r>
              <a:rPr lang="es-ES" dirty="0"/>
              <a:t>Nombre de la sección aquí</a:t>
            </a:r>
          </a:p>
          <a:p>
            <a:pPr lvl="1"/>
            <a:r>
              <a:rPr lang="es-ES" dirty="0"/>
              <a:t>Nombre de la sección aquí</a:t>
            </a:r>
          </a:p>
          <a:p>
            <a:pPr lvl="1"/>
            <a:r>
              <a:rPr lang="es-ES" dirty="0"/>
              <a:t>Nombre de la sección aquí</a:t>
            </a:r>
          </a:p>
          <a:p>
            <a:pPr lvl="1"/>
            <a:r>
              <a:rPr lang="es-ES" dirty="0"/>
              <a:t>Nombre de la sección aquí</a:t>
            </a:r>
          </a:p>
        </p:txBody>
      </p:sp>
      <p:sp>
        <p:nvSpPr>
          <p:cNvPr id="8" name="6 Marcador de texto"/>
          <p:cNvSpPr>
            <a:spLocks noGrp="1"/>
          </p:cNvSpPr>
          <p:nvPr>
            <p:ph type="body" sz="quarter" idx="13" hasCustomPrompt="1"/>
          </p:nvPr>
        </p:nvSpPr>
        <p:spPr>
          <a:xfrm>
            <a:off x="3900489" y="3962400"/>
            <a:ext cx="3205162" cy="2403475"/>
          </a:xfrm>
          <a:prstGeom prst="rect">
            <a:avLst/>
          </a:prstGeom>
        </p:spPr>
        <p:txBody>
          <a:bodyPr/>
          <a:lstStyle>
            <a:lvl1pPr>
              <a:defRPr baseline="0">
                <a:solidFill>
                  <a:schemeClr val="tx1">
                    <a:lumMod val="85000"/>
                    <a:lumOff val="15000"/>
                  </a:schemeClr>
                </a:solidFill>
                <a:latin typeface="EleganTech™" pitchFamily="2" charset="0"/>
              </a:defRPr>
            </a:lvl1pPr>
            <a:lvl2pPr>
              <a:buFont typeface="Arial" pitchFamily="34" charset="0"/>
              <a:buChar char="•"/>
              <a:defRPr sz="1200" baseline="0">
                <a:solidFill>
                  <a:schemeClr val="tx1">
                    <a:lumMod val="65000"/>
                    <a:lumOff val="35000"/>
                  </a:schemeClr>
                </a:solidFill>
                <a:latin typeface="EleganTech™" pitchFamily="2" charset="0"/>
              </a:defRPr>
            </a:lvl2pPr>
          </a:lstStyle>
          <a:p>
            <a:pPr lvl="0"/>
            <a:r>
              <a:rPr lang="es-ES" dirty="0"/>
              <a:t>Nombre de la sección aquí</a:t>
            </a:r>
          </a:p>
          <a:p>
            <a:pPr lvl="0"/>
            <a:r>
              <a:rPr lang="es-ES" dirty="0"/>
              <a:t>Nombre de la sección aquí</a:t>
            </a:r>
          </a:p>
          <a:p>
            <a:pPr lvl="0"/>
            <a:r>
              <a:rPr lang="es-ES" dirty="0"/>
              <a:t>Nombre de la sección aquí</a:t>
            </a:r>
          </a:p>
          <a:p>
            <a:pPr lvl="0"/>
            <a:r>
              <a:rPr lang="es-ES" dirty="0"/>
              <a:t>Nombre de la sección aquí</a:t>
            </a:r>
          </a:p>
          <a:p>
            <a:pPr lvl="1"/>
            <a:r>
              <a:rPr lang="es-ES" dirty="0"/>
              <a:t>Nombre de la sección aquí</a:t>
            </a:r>
          </a:p>
          <a:p>
            <a:pPr lvl="1"/>
            <a:r>
              <a:rPr lang="es-ES" dirty="0"/>
              <a:t>Nombre de la sección aquí</a:t>
            </a:r>
          </a:p>
          <a:p>
            <a:pPr lvl="1"/>
            <a:r>
              <a:rPr lang="es-ES" dirty="0"/>
              <a:t>Nombre de la sección aquí</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70139" y="2075204"/>
            <a:ext cx="6183061" cy="2421199"/>
          </a:xfrm>
          <a:prstGeom prst="rect">
            <a:avLst/>
          </a:prstGeom>
        </p:spPr>
        <p:txBody>
          <a:bodyPr/>
          <a:lstStyle>
            <a:lvl1pPr>
              <a:lnSpc>
                <a:spcPct val="150000"/>
              </a:lnSpc>
              <a:defRPr sz="3200" baseline="0">
                <a:solidFill>
                  <a:schemeClr val="tx1">
                    <a:lumMod val="65000"/>
                    <a:lumOff val="35000"/>
                  </a:schemeClr>
                </a:solidFill>
                <a:latin typeface="EleganTech™" pitchFamily="2" charset="0"/>
              </a:defRPr>
            </a:lvl1pPr>
          </a:lstStyle>
          <a:p>
            <a:r>
              <a:rPr lang="es-ES" dirty="0"/>
              <a:t>Frases o pensamientos</a:t>
            </a:r>
            <a:endParaRPr lang="en-US" dirty="0"/>
          </a:p>
        </p:txBody>
      </p:sp>
      <p:sp>
        <p:nvSpPr>
          <p:cNvPr id="6" name="5 Marcador de texto"/>
          <p:cNvSpPr>
            <a:spLocks noGrp="1"/>
          </p:cNvSpPr>
          <p:nvPr>
            <p:ph type="body" sz="quarter" idx="10" hasCustomPrompt="1"/>
          </p:nvPr>
        </p:nvSpPr>
        <p:spPr>
          <a:xfrm>
            <a:off x="369889" y="4495800"/>
            <a:ext cx="3306762" cy="466725"/>
          </a:xfrm>
          <a:prstGeom prst="rect">
            <a:avLst/>
          </a:prstGeom>
        </p:spPr>
        <p:txBody>
          <a:bodyPr/>
          <a:lstStyle>
            <a:lvl1pPr>
              <a:buNone/>
              <a:defRPr baseline="0">
                <a:solidFill>
                  <a:srgbClr val="FF0000"/>
                </a:solidFill>
                <a:latin typeface="EleganTech™" pitchFamily="2" charset="0"/>
              </a:defRPr>
            </a:lvl1pPr>
          </a:lstStyle>
          <a:p>
            <a:pPr lvl="0"/>
            <a:r>
              <a:rPr lang="es-NI" dirty="0"/>
              <a:t>Nombre de la fuente aquí</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70139" y="1297876"/>
            <a:ext cx="6278311" cy="886657"/>
          </a:xfrm>
          <a:prstGeom prst="rect">
            <a:avLst/>
          </a:prstGeom>
        </p:spPr>
        <p:txBody>
          <a:bodyPr/>
          <a:lstStyle>
            <a:lvl1pPr>
              <a:lnSpc>
                <a:spcPct val="150000"/>
              </a:lnSpc>
              <a:defRPr sz="3200" baseline="0">
                <a:solidFill>
                  <a:srgbClr val="FF0000"/>
                </a:solidFill>
                <a:latin typeface="EleganTech™" pitchFamily="2" charset="0"/>
              </a:defRPr>
            </a:lvl1pPr>
          </a:lstStyle>
          <a:p>
            <a:r>
              <a:rPr lang="es-ES" dirty="0"/>
              <a:t>Titulo de presentación</a:t>
            </a:r>
            <a:endParaRPr lang="en-US" dirty="0"/>
          </a:p>
        </p:txBody>
      </p:sp>
      <p:sp>
        <p:nvSpPr>
          <p:cNvPr id="5" name="4 Marcador de texto"/>
          <p:cNvSpPr>
            <a:spLocks noGrp="1"/>
          </p:cNvSpPr>
          <p:nvPr>
            <p:ph type="body" sz="quarter" idx="10" hasCustomPrompt="1"/>
          </p:nvPr>
        </p:nvSpPr>
        <p:spPr>
          <a:xfrm>
            <a:off x="369888" y="2184400"/>
            <a:ext cx="5516562" cy="758825"/>
          </a:xfrm>
          <a:prstGeom prst="rect">
            <a:avLst/>
          </a:prstGeom>
        </p:spPr>
        <p:txBody>
          <a:bodyPr/>
          <a:lstStyle>
            <a:lvl1pPr>
              <a:buNone/>
              <a:defRPr baseline="0">
                <a:solidFill>
                  <a:schemeClr val="tx1">
                    <a:lumMod val="65000"/>
                    <a:lumOff val="35000"/>
                  </a:schemeClr>
                </a:solidFill>
                <a:latin typeface="EleganTech™" pitchFamily="2" charset="0"/>
              </a:defRPr>
            </a:lvl1pPr>
          </a:lstStyle>
          <a:p>
            <a:pPr lvl="0"/>
            <a:r>
              <a:rPr lang="es-NI" dirty="0"/>
              <a:t>Sub-titulo si se necesita</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370139" y="495702"/>
            <a:ext cx="6752598" cy="1604350"/>
          </a:xfrm>
          <a:prstGeom prst="rect">
            <a:avLst/>
          </a:prstGeom>
        </p:spPr>
        <p:txBody>
          <a:bodyPr/>
          <a:lstStyle>
            <a:lvl1pPr>
              <a:lnSpc>
                <a:spcPct val="150000"/>
              </a:lnSpc>
              <a:defRPr sz="2800" baseline="0">
                <a:solidFill>
                  <a:srgbClr val="FF0000"/>
                </a:solidFill>
                <a:latin typeface="EleganTech™" pitchFamily="2" charset="0"/>
              </a:defRPr>
            </a:lvl1pPr>
          </a:lstStyle>
          <a:p>
            <a:r>
              <a:rPr lang="es-ES" dirty="0"/>
              <a:t>Titular separador</a:t>
            </a:r>
            <a:endParaRPr lang="en-US" dirty="0"/>
          </a:p>
        </p:txBody>
      </p:sp>
      <p:sp>
        <p:nvSpPr>
          <p:cNvPr id="6" name="5 Marcador de texto"/>
          <p:cNvSpPr>
            <a:spLocks noGrp="1"/>
          </p:cNvSpPr>
          <p:nvPr>
            <p:ph type="body" sz="quarter" idx="10" hasCustomPrompt="1"/>
          </p:nvPr>
        </p:nvSpPr>
        <p:spPr>
          <a:xfrm>
            <a:off x="369888" y="2100263"/>
            <a:ext cx="6469062" cy="771525"/>
          </a:xfrm>
          <a:prstGeom prst="rect">
            <a:avLst/>
          </a:prstGeom>
        </p:spPr>
        <p:txBody>
          <a:bodyPr/>
          <a:lstStyle>
            <a:lvl1pPr>
              <a:buNone/>
              <a:defRPr sz="1600" baseline="0">
                <a:latin typeface="EleganTech™" pitchFamily="2" charset="0"/>
              </a:defRPr>
            </a:lvl1pPr>
          </a:lstStyle>
          <a:p>
            <a:pPr lvl="0"/>
            <a:r>
              <a:rPr lang="es-NI" dirty="0"/>
              <a:t>Sub-titulo deberán ser en este color</a:t>
            </a:r>
          </a:p>
        </p:txBody>
      </p:sp>
      <p:sp>
        <p:nvSpPr>
          <p:cNvPr id="7" name="6 Marcador de texto"/>
          <p:cNvSpPr>
            <a:spLocks noGrp="1"/>
          </p:cNvSpPr>
          <p:nvPr>
            <p:ph type="body" sz="quarter" idx="11" hasCustomPrompt="1"/>
          </p:nvPr>
        </p:nvSpPr>
        <p:spPr>
          <a:xfrm>
            <a:off x="369888" y="2871788"/>
            <a:ext cx="6469062" cy="3024187"/>
          </a:xfrm>
          <a:prstGeom prst="rect">
            <a:avLst/>
          </a:prstGeom>
        </p:spPr>
        <p:txBody>
          <a:bodyPr/>
          <a:lstStyle>
            <a:lvl1pPr marL="0" indent="0">
              <a:lnSpc>
                <a:spcPct val="150000"/>
              </a:lnSpc>
              <a:buNone/>
              <a:defRPr lang="es-NI" sz="1300" smtClean="0">
                <a:solidFill>
                  <a:schemeClr val="tx1">
                    <a:lumMod val="65000"/>
                    <a:lumOff val="35000"/>
                  </a:schemeClr>
                </a:solidFill>
                <a:latin typeface="EleganTech™" pitchFamily="2" charset="0"/>
                <a:ea typeface="ＭＳ Ｐゴシック" charset="-128"/>
              </a:defRPr>
            </a:lvl1pPr>
            <a:lvl2pPr>
              <a:buFont typeface="Arial" pitchFamily="34" charset="0"/>
              <a:buChar char="•"/>
              <a:defRPr sz="1100">
                <a:solidFill>
                  <a:srgbClr val="FF0000"/>
                </a:solidFill>
                <a:latin typeface="EleganTech™" pitchFamily="2" charset="0"/>
              </a:defRPr>
            </a:lvl2pPr>
          </a:lstStyle>
          <a:p>
            <a:pPr lvl="0"/>
            <a:r>
              <a:rPr lang="es-NI" dirty="0"/>
              <a:t>Este texto pretende mostrar la posición correcta y el tamaño del texto utilizado en esta  ubicación.</a:t>
            </a:r>
          </a:p>
          <a:p>
            <a:pPr lvl="1"/>
            <a:r>
              <a:rPr lang="es-ES" dirty="0"/>
              <a:t>Los puntos pueden aparecer aquí</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70139" y="1456901"/>
            <a:ext cx="6752598" cy="620378"/>
          </a:xfrm>
          <a:prstGeom prst="rect">
            <a:avLst/>
          </a:prstGeom>
        </p:spPr>
        <p:txBody>
          <a:bodyPr/>
          <a:lstStyle>
            <a:lvl1pPr>
              <a:lnSpc>
                <a:spcPct val="150000"/>
              </a:lnSpc>
              <a:defRPr sz="2400" baseline="0">
                <a:solidFill>
                  <a:srgbClr val="FF0000"/>
                </a:solidFill>
                <a:latin typeface="EleganTech™" pitchFamily="2" charset="0"/>
              </a:defRPr>
            </a:lvl1pPr>
          </a:lstStyle>
          <a:p>
            <a:r>
              <a:rPr lang="es-ES" dirty="0"/>
              <a:t>Titular de texto en dos columnas</a:t>
            </a:r>
            <a:endParaRPr lang="en-US" dirty="0"/>
          </a:p>
        </p:txBody>
      </p:sp>
      <p:sp>
        <p:nvSpPr>
          <p:cNvPr id="8" name="7 Marcador de texto"/>
          <p:cNvSpPr>
            <a:spLocks noGrp="1"/>
          </p:cNvSpPr>
          <p:nvPr>
            <p:ph type="body" sz="quarter" idx="10" hasCustomPrompt="1"/>
          </p:nvPr>
        </p:nvSpPr>
        <p:spPr>
          <a:xfrm>
            <a:off x="369888" y="2276475"/>
            <a:ext cx="6752849" cy="3305175"/>
          </a:xfrm>
          <a:prstGeom prst="rect">
            <a:avLst/>
          </a:prstGeom>
        </p:spPr>
        <p:txBody>
          <a:bodyPr numCol="2"/>
          <a:lstStyle>
            <a:lvl1pPr marL="0" marR="0" indent="0" algn="just" defTabSz="457200" rtl="0" eaLnBrk="0" fontAlgn="base" latinLnBrk="0" hangingPunct="0">
              <a:lnSpc>
                <a:spcPct val="150000"/>
              </a:lnSpc>
              <a:spcBef>
                <a:spcPct val="20000"/>
              </a:spcBef>
              <a:spcAft>
                <a:spcPct val="0"/>
              </a:spcAft>
              <a:buClr>
                <a:srgbClr val="FF0000"/>
              </a:buClr>
              <a:buSzTx/>
              <a:buFont typeface="Calibri" pitchFamily="34" charset="0"/>
              <a:buNone/>
              <a:tabLst/>
              <a:defRPr lang="es-NI" sz="1200" baseline="0" smtClean="0">
                <a:solidFill>
                  <a:schemeClr val="tx1">
                    <a:lumMod val="65000"/>
                    <a:lumOff val="35000"/>
                  </a:schemeClr>
                </a:solidFill>
                <a:latin typeface="EleganTech™" pitchFamily="2" charset="0"/>
                <a:ea typeface="ＭＳ Ｐゴシック" charset="-128"/>
              </a:defRPr>
            </a:lvl1pPr>
            <a:lvl2pPr marL="0" marR="0" indent="0" algn="l" defTabSz="457200" rtl="0" eaLnBrk="0" fontAlgn="base" latinLnBrk="0" hangingPunct="0">
              <a:lnSpc>
                <a:spcPct val="100000"/>
              </a:lnSpc>
              <a:spcBef>
                <a:spcPct val="20000"/>
              </a:spcBef>
              <a:spcAft>
                <a:spcPct val="0"/>
              </a:spcAft>
              <a:buClrTx/>
              <a:buSzTx/>
              <a:buFont typeface="Arial" pitchFamily="34" charset="0"/>
              <a:buNone/>
              <a:tabLst/>
              <a:defRPr sz="1200" b="1">
                <a:solidFill>
                  <a:srgbClr val="FF0000"/>
                </a:solidFill>
                <a:latin typeface="EleganTech™" pitchFamily="2" charset="0"/>
              </a:defRPr>
            </a:lvl2pPr>
          </a:lstStyle>
          <a:p>
            <a:pPr lvl="0"/>
            <a:r>
              <a:rPr lang="es-NI" dirty="0"/>
              <a:t>Este texto pretende mostrar la posición correcta y el tamaño del texto utilizado en esta  ubicación. </a:t>
            </a:r>
            <a:r>
              <a:rPr lang="es-ES" dirty="0"/>
              <a:t>El texto resaltado puede ser en </a:t>
            </a:r>
            <a:r>
              <a:rPr lang="es-ES" dirty="0" err="1"/>
              <a:t>bold</a:t>
            </a:r>
            <a:r>
              <a:rPr lang="es-ES" dirty="0"/>
              <a:t> rojo</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0139" y="1456901"/>
            <a:ext cx="6984818" cy="620378"/>
          </a:xfrm>
          <a:prstGeom prst="rect">
            <a:avLst/>
          </a:prstGeom>
        </p:spPr>
        <p:txBody>
          <a:bodyPr/>
          <a:lstStyle>
            <a:lvl1pPr>
              <a:lnSpc>
                <a:spcPct val="150000"/>
              </a:lnSpc>
              <a:defRPr sz="2250" baseline="0">
                <a:solidFill>
                  <a:srgbClr val="FF0000"/>
                </a:solidFill>
                <a:latin typeface="EleganTech™" pitchFamily="2" charset="0"/>
              </a:defRPr>
            </a:lvl1pPr>
          </a:lstStyle>
          <a:p>
            <a:r>
              <a:rPr lang="es-ES" dirty="0"/>
              <a:t>Titular bloque de texto</a:t>
            </a:r>
            <a:endParaRPr lang="en-US" dirty="0"/>
          </a:p>
        </p:txBody>
      </p:sp>
      <p:sp>
        <p:nvSpPr>
          <p:cNvPr id="5" name="4 Marcador de texto"/>
          <p:cNvSpPr>
            <a:spLocks noGrp="1"/>
          </p:cNvSpPr>
          <p:nvPr>
            <p:ph type="body" sz="quarter" idx="10" hasCustomPrompt="1"/>
          </p:nvPr>
        </p:nvSpPr>
        <p:spPr>
          <a:xfrm>
            <a:off x="369888" y="2238375"/>
            <a:ext cx="6985000" cy="4305300"/>
          </a:xfrm>
          <a:prstGeom prst="rect">
            <a:avLst/>
          </a:prstGeom>
        </p:spPr>
        <p:txBody>
          <a:bodyPr/>
          <a:lstStyle>
            <a:lvl1pPr marL="0" indent="0" algn="just">
              <a:lnSpc>
                <a:spcPct val="150000"/>
              </a:lnSpc>
              <a:buNone/>
              <a:defRPr lang="es-NI" sz="1400" smtClean="0">
                <a:solidFill>
                  <a:schemeClr val="tx1">
                    <a:lumMod val="65000"/>
                    <a:lumOff val="35000"/>
                  </a:schemeClr>
                </a:solidFill>
                <a:latin typeface="EleganTech™" pitchFamily="2" charset="0"/>
                <a:ea typeface="ＭＳ Ｐゴシック" charset="-128"/>
              </a:defRPr>
            </a:lvl1pPr>
            <a:lvl2pPr>
              <a:buFont typeface="Arial" pitchFamily="34" charset="0"/>
              <a:buChar char="•"/>
              <a:defRPr sz="1100">
                <a:solidFill>
                  <a:srgbClr val="FF0000"/>
                </a:solidFill>
                <a:latin typeface="EleganTech™" pitchFamily="2" charset="0"/>
              </a:defRPr>
            </a:lvl2pPr>
          </a:lstStyle>
          <a:p>
            <a:pPr lvl="0"/>
            <a:r>
              <a:rPr lang="es-NI" sz="1200" dirty="0">
                <a:solidFill>
                  <a:schemeClr val="tx1">
                    <a:lumMod val="65000"/>
                    <a:lumOff val="35000"/>
                  </a:schemeClr>
                </a:solidFill>
                <a:ea typeface="ＭＳ Ｐゴシック" charset="-128"/>
                <a:cs typeface="+mj-cs"/>
              </a:rPr>
              <a:t>Este texto pretende mostrar la posición correcta y el tamaño del texto utilizado en esta  ubicación. El texto resaltado puede ser en rojo. Este texto pretende mostrar la posición correcta y el tamaño del texto utilizado en esta ubicación. El texto resaltado puede ser en rojo</a:t>
            </a:r>
          </a:p>
          <a:p>
            <a:pPr lvl="1"/>
            <a:r>
              <a:rPr lang="es-ES" dirty="0"/>
              <a:t>Sub puntos pueden ser así</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370139" y="1456901"/>
            <a:ext cx="6984818" cy="620378"/>
          </a:xfrm>
          <a:prstGeom prst="rect">
            <a:avLst/>
          </a:prstGeom>
        </p:spPr>
        <p:txBody>
          <a:bodyPr/>
          <a:lstStyle>
            <a:lvl1pPr>
              <a:lnSpc>
                <a:spcPct val="150000"/>
              </a:lnSpc>
              <a:defRPr sz="2250" baseline="0">
                <a:solidFill>
                  <a:srgbClr val="FF0000"/>
                </a:solidFill>
                <a:latin typeface="EleganTech™" pitchFamily="2" charset="0"/>
              </a:defRPr>
            </a:lvl1pPr>
          </a:lstStyle>
          <a:p>
            <a:r>
              <a:rPr lang="es-ES" dirty="0"/>
              <a:t>Titular imágenes con texto</a:t>
            </a:r>
            <a:endParaRPr lang="en-US" dirty="0"/>
          </a:p>
        </p:txBody>
      </p:sp>
      <p:sp>
        <p:nvSpPr>
          <p:cNvPr id="13" name="Picture Placeholder 2"/>
          <p:cNvSpPr>
            <a:spLocks noGrp="1"/>
          </p:cNvSpPr>
          <p:nvPr>
            <p:ph type="pic" idx="1"/>
          </p:nvPr>
        </p:nvSpPr>
        <p:spPr>
          <a:xfrm>
            <a:off x="370139" y="2273926"/>
            <a:ext cx="3238692" cy="3603677"/>
          </a:xfrm>
          <a:prstGeom prst="rect">
            <a:avLst/>
          </a:prstGeom>
        </p:spPr>
        <p:txBody>
          <a:bodyPr/>
          <a:lstStyle>
            <a:lvl1pPr marL="0" indent="0">
              <a:buNone/>
              <a:defRPr sz="2400">
                <a:latin typeface="EleganTech™"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dirty="0"/>
              <a:t>Haga clic en el icono para agregar una imagen</a:t>
            </a:r>
            <a:endParaRPr lang="en-US" noProof="0" dirty="0"/>
          </a:p>
        </p:txBody>
      </p:sp>
      <p:sp>
        <p:nvSpPr>
          <p:cNvPr id="14" name="Picture Placeholder 2"/>
          <p:cNvSpPr>
            <a:spLocks noGrp="1"/>
          </p:cNvSpPr>
          <p:nvPr>
            <p:ph type="pic" idx="10"/>
          </p:nvPr>
        </p:nvSpPr>
        <p:spPr>
          <a:xfrm>
            <a:off x="4116264" y="2273926"/>
            <a:ext cx="3238692" cy="3603677"/>
          </a:xfrm>
          <a:prstGeom prst="rect">
            <a:avLst/>
          </a:prstGeom>
        </p:spPr>
        <p:txBody>
          <a:bodyPr/>
          <a:lstStyle>
            <a:lvl1pPr marL="0" marR="0" indent="0" algn="l" defTabSz="457200" rtl="0" eaLnBrk="1" fontAlgn="base" latinLnBrk="0" hangingPunct="1">
              <a:lnSpc>
                <a:spcPct val="100000"/>
              </a:lnSpc>
              <a:spcBef>
                <a:spcPct val="20000"/>
              </a:spcBef>
              <a:spcAft>
                <a:spcPct val="0"/>
              </a:spcAft>
              <a:buClr>
                <a:srgbClr val="FF0000"/>
              </a:buClr>
              <a:buSzTx/>
              <a:buFont typeface="Calibri" pitchFamily="34" charset="0"/>
              <a:buNone/>
              <a:tabLst/>
              <a:defRPr sz="2400">
                <a:latin typeface="EleganTech™"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9" name="8 Marcador de texto"/>
          <p:cNvSpPr>
            <a:spLocks noGrp="1"/>
          </p:cNvSpPr>
          <p:nvPr>
            <p:ph type="body" sz="quarter" idx="11" hasCustomPrompt="1"/>
          </p:nvPr>
        </p:nvSpPr>
        <p:spPr>
          <a:xfrm>
            <a:off x="369888" y="5876925"/>
            <a:ext cx="3238500" cy="801688"/>
          </a:xfrm>
          <a:prstGeom prst="rect">
            <a:avLst/>
          </a:prstGeom>
        </p:spPr>
        <p:txBody>
          <a:bodyPr/>
          <a:lstStyle>
            <a:lvl1pPr marL="0" indent="0" algn="just">
              <a:lnSpc>
                <a:spcPct val="150000"/>
              </a:lnSpc>
              <a:buNone/>
              <a:defRPr lang="en-US" sz="1000" smtClean="0">
                <a:solidFill>
                  <a:schemeClr val="tx1">
                    <a:lumMod val="65000"/>
                    <a:lumOff val="35000"/>
                  </a:schemeClr>
                </a:solidFill>
                <a:latin typeface="EleganTech™" pitchFamily="2" charset="0"/>
                <a:ea typeface="ＭＳ Ｐゴシック" charset="-128"/>
              </a:defRPr>
            </a:lvl1pPr>
          </a:lstStyle>
          <a:p>
            <a:pPr lvl="0"/>
            <a:r>
              <a:rPr lang="es-NI" dirty="0"/>
              <a:t>Este texto pretende mostrar la posición correcta y el tamaño del texto utilizado en esta  ubicación.</a:t>
            </a:r>
          </a:p>
        </p:txBody>
      </p:sp>
      <p:sp>
        <p:nvSpPr>
          <p:cNvPr id="10" name="8 Marcador de texto"/>
          <p:cNvSpPr>
            <a:spLocks noGrp="1"/>
          </p:cNvSpPr>
          <p:nvPr>
            <p:ph type="body" sz="quarter" idx="12" hasCustomPrompt="1"/>
          </p:nvPr>
        </p:nvSpPr>
        <p:spPr>
          <a:xfrm>
            <a:off x="4116264" y="5876925"/>
            <a:ext cx="3238500" cy="801688"/>
          </a:xfrm>
          <a:prstGeom prst="rect">
            <a:avLst/>
          </a:prstGeom>
        </p:spPr>
        <p:txBody>
          <a:bodyPr/>
          <a:lstStyle>
            <a:lvl1pPr marL="0" indent="0" algn="just">
              <a:lnSpc>
                <a:spcPct val="150000"/>
              </a:lnSpc>
              <a:buNone/>
              <a:defRPr lang="en-US" sz="1000" smtClean="0">
                <a:solidFill>
                  <a:schemeClr val="tx1">
                    <a:lumMod val="65000"/>
                    <a:lumOff val="35000"/>
                  </a:schemeClr>
                </a:solidFill>
                <a:latin typeface="EleganTech™" pitchFamily="2" charset="0"/>
                <a:ea typeface="ＭＳ Ｐゴシック" charset="-128"/>
              </a:defRPr>
            </a:lvl1pPr>
          </a:lstStyle>
          <a:p>
            <a:pPr lvl="0"/>
            <a:r>
              <a:rPr lang="es-NI" dirty="0"/>
              <a:t>Este texto pretende mostrar la posición correcta y el tamaño del texto utilizado en esta  ubicación.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70138" y="1043608"/>
            <a:ext cx="6908549" cy="4323729"/>
          </a:xfrm>
          <a:prstGeom prst="rect">
            <a:avLst/>
          </a:prstGeom>
        </p:spPr>
        <p:txBody>
          <a:bodyPr/>
          <a:lstStyle>
            <a:lvl1pPr marL="0" indent="0">
              <a:buNone/>
              <a:defRPr sz="3200">
                <a:latin typeface="EleganTech™"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hasCustomPrompt="1"/>
          </p:nvPr>
        </p:nvSpPr>
        <p:spPr>
          <a:xfrm>
            <a:off x="370139" y="5496547"/>
            <a:ext cx="6908548" cy="1172610"/>
          </a:xfrm>
          <a:prstGeom prst="rect">
            <a:avLst/>
          </a:prstGeom>
        </p:spPr>
        <p:txBody>
          <a:bodyPr/>
          <a:lstStyle>
            <a:lvl1pPr marL="0" indent="0" algn="just">
              <a:lnSpc>
                <a:spcPts val="1800"/>
              </a:lnSpc>
              <a:buNone/>
              <a:defRPr lang="es-NI" sz="1200" smtClean="0">
                <a:solidFill>
                  <a:schemeClr val="tx1">
                    <a:lumMod val="65000"/>
                    <a:lumOff val="35000"/>
                  </a:schemeClr>
                </a:solidFill>
                <a:ea typeface="ＭＳ Ｐゴシック"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NI" dirty="0"/>
              <a:t>Este texto pretende mostrar la posición correcta y el tamaño del texto utilizado en esta  ubicación.</a:t>
            </a:r>
            <a:endParaRPr lang="es-ES" dirty="0"/>
          </a:p>
        </p:txBody>
      </p:sp>
      <p:sp>
        <p:nvSpPr>
          <p:cNvPr id="7" name="6 Marcador de texto"/>
          <p:cNvSpPr>
            <a:spLocks noGrp="1"/>
          </p:cNvSpPr>
          <p:nvPr>
            <p:ph type="body" sz="quarter" idx="10" hasCustomPrompt="1"/>
          </p:nvPr>
        </p:nvSpPr>
        <p:spPr>
          <a:xfrm>
            <a:off x="369888" y="314325"/>
            <a:ext cx="6726237" cy="609600"/>
          </a:xfrm>
          <a:prstGeom prst="rect">
            <a:avLst/>
          </a:prstGeom>
        </p:spPr>
        <p:txBody>
          <a:bodyPr/>
          <a:lstStyle>
            <a:lvl1pPr>
              <a:buNone/>
              <a:defRPr sz="2600">
                <a:solidFill>
                  <a:srgbClr val="FF0000"/>
                </a:solidFill>
                <a:latin typeface="EleganTech™" pitchFamily="2" charset="0"/>
              </a:defRPr>
            </a:lvl1pPr>
          </a:lstStyle>
          <a:p>
            <a:pPr lvl="0"/>
            <a:r>
              <a:rPr lang="es-ES" dirty="0"/>
              <a:t>Titular de Imagen</a:t>
            </a:r>
            <a:endParaRPr lang="es-NI"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3" name="Picture 2"/>
          <p:cNvPicPr>
            <a:picLocks noChangeAspect="1" noChangeArrowheads="1"/>
          </p:cNvPicPr>
          <p:nvPr userDrawn="1"/>
        </p:nvPicPr>
        <p:blipFill>
          <a:blip r:embed="rId2"/>
          <a:srcRect/>
          <a:stretch>
            <a:fillRect/>
          </a:stretch>
        </p:blipFill>
        <p:spPr bwMode="auto">
          <a:xfrm>
            <a:off x="7385050" y="0"/>
            <a:ext cx="46038" cy="6858000"/>
          </a:xfrm>
          <a:prstGeom prst="rect">
            <a:avLst/>
          </a:prstGeom>
          <a:noFill/>
          <a:ln w="9525">
            <a:noFill/>
            <a:miter lim="800000"/>
            <a:headEnd/>
            <a:tailEnd/>
          </a:ln>
        </p:spPr>
      </p:pic>
      <p:sp>
        <p:nvSpPr>
          <p:cNvPr id="4" name="Title 1"/>
          <p:cNvSpPr txBox="1">
            <a:spLocks/>
          </p:cNvSpPr>
          <p:nvPr userDrawn="1"/>
        </p:nvSpPr>
        <p:spPr>
          <a:xfrm>
            <a:off x="369888" y="2395538"/>
            <a:ext cx="6985000" cy="4054475"/>
          </a:xfrm>
          <a:prstGeom prst="rect">
            <a:avLst/>
          </a:prstGeom>
        </p:spPr>
        <p:txBody>
          <a:bodyPr/>
          <a:lstStyle>
            <a:lvl1pPr>
              <a:lnSpc>
                <a:spcPct val="150000"/>
              </a:lnSpc>
              <a:defRPr sz="2400" baseline="0">
                <a:solidFill>
                  <a:srgbClr val="FF0000"/>
                </a:solidFill>
                <a:latin typeface="EleganTech™" pitchFamily="2" charset="0"/>
              </a:defRPr>
            </a:lvl1pPr>
          </a:lstStyle>
          <a:p>
            <a:pPr algn="just">
              <a:defRPr/>
            </a:pPr>
            <a:r>
              <a:rPr lang="es-NI" sz="1200" dirty="0">
                <a:solidFill>
                  <a:schemeClr val="tx1">
                    <a:lumMod val="65000"/>
                    <a:lumOff val="35000"/>
                  </a:schemeClr>
                </a:solidFill>
                <a:ea typeface="ＭＳ Ｐゴシック" charset="-128"/>
                <a:cs typeface="+mj-cs"/>
              </a:rPr>
              <a:t>Las  guías rojas mostradas en todo el documento determinan el limite que se tendrá que respetar para que ningún título o cuadro de texto invada el área de protección de la marca.</a:t>
            </a:r>
            <a:endParaRPr lang="en-US" sz="1200" dirty="0">
              <a:solidFill>
                <a:schemeClr val="tx1">
                  <a:lumMod val="65000"/>
                  <a:lumOff val="35000"/>
                </a:schemeClr>
              </a:solidFill>
              <a:ea typeface="ＭＳ Ｐゴシック" charset="-128"/>
              <a:cs typeface="+mj-cs"/>
            </a:endParaRPr>
          </a:p>
        </p:txBody>
      </p:sp>
      <p:sp>
        <p:nvSpPr>
          <p:cNvPr id="8" name="Title 1"/>
          <p:cNvSpPr>
            <a:spLocks noGrp="1"/>
          </p:cNvSpPr>
          <p:nvPr>
            <p:ph type="ctrTitle" hasCustomPrompt="1"/>
          </p:nvPr>
        </p:nvSpPr>
        <p:spPr>
          <a:xfrm>
            <a:off x="370139" y="1456901"/>
            <a:ext cx="6984818" cy="620378"/>
          </a:xfrm>
          <a:prstGeom prst="rect">
            <a:avLst/>
          </a:prstGeom>
        </p:spPr>
        <p:txBody>
          <a:bodyPr/>
          <a:lstStyle>
            <a:lvl1pPr>
              <a:lnSpc>
                <a:spcPct val="150000"/>
              </a:lnSpc>
              <a:defRPr sz="2250" baseline="0">
                <a:solidFill>
                  <a:srgbClr val="FF0000"/>
                </a:solidFill>
                <a:latin typeface="EleganTech™" pitchFamily="2" charset="0"/>
              </a:defRPr>
            </a:lvl1pPr>
          </a:lstStyle>
          <a:p>
            <a:r>
              <a:rPr lang="es-ES" dirty="0"/>
              <a:t>Limitantes y guías a respetar</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D30732-3D9D-414C-8CAC-65F7296B27EF}"/>
              </a:ext>
            </a:extLst>
          </p:cNvPr>
          <p:cNvSpPr>
            <a:spLocks noGrp="1"/>
          </p:cNvSpPr>
          <p:nvPr>
            <p:ph type="title"/>
          </p:nvPr>
        </p:nvSpPr>
        <p:spPr>
          <a:xfrm>
            <a:off x="628650" y="365126"/>
            <a:ext cx="7886700" cy="1325563"/>
          </a:xfrm>
          <a:prstGeom prst="rect">
            <a:avLst/>
          </a:prstGeom>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29FC7A5-1D67-4EFF-B6C2-77EA83EC9C11}"/>
              </a:ext>
            </a:extLst>
          </p:cNvPr>
          <p:cNvSpPr>
            <a:spLocks noGrp="1"/>
          </p:cNvSpPr>
          <p:nvPr>
            <p:ph idx="1"/>
          </p:nvPr>
        </p:nvSpPr>
        <p:spPr>
          <a:xfrm>
            <a:off x="628650" y="1825625"/>
            <a:ext cx="78867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8EB7530D-846E-4B42-8D2F-4ED248B5E8FC}"/>
              </a:ext>
            </a:extLst>
          </p:cNvPr>
          <p:cNvSpPr>
            <a:spLocks noGrp="1"/>
          </p:cNvSpPr>
          <p:nvPr>
            <p:ph type="dt" sz="half" idx="10"/>
          </p:nvPr>
        </p:nvSpPr>
        <p:spPr>
          <a:xfrm>
            <a:off x="628650" y="6356351"/>
            <a:ext cx="2057400" cy="365125"/>
          </a:xfrm>
          <a:prstGeom prst="rect">
            <a:avLst/>
          </a:prstGeom>
        </p:spPr>
        <p:txBody>
          <a:bodyPr/>
          <a:lstStyle/>
          <a:p>
            <a:fld id="{82C87F33-8BC1-4251-B298-44C71F90B17A}" type="datetime1">
              <a:rPr lang="en-US" smtClean="0"/>
              <a:t>10/21/2019</a:t>
            </a:fld>
            <a:endParaRPr lang="es-NI"/>
          </a:p>
        </p:txBody>
      </p:sp>
      <p:sp>
        <p:nvSpPr>
          <p:cNvPr id="5" name="Marcador de pie de página 4">
            <a:extLst>
              <a:ext uri="{FF2B5EF4-FFF2-40B4-BE49-F238E27FC236}">
                <a16:creationId xmlns:a16="http://schemas.microsoft.com/office/drawing/2014/main" id="{5D4984EF-F775-43D6-9C2E-57F7A9C5B369}"/>
              </a:ext>
            </a:extLst>
          </p:cNvPr>
          <p:cNvSpPr>
            <a:spLocks noGrp="1"/>
          </p:cNvSpPr>
          <p:nvPr>
            <p:ph type="ftr" sz="quarter" idx="11"/>
          </p:nvPr>
        </p:nvSpPr>
        <p:spPr>
          <a:xfrm>
            <a:off x="3028950" y="6356351"/>
            <a:ext cx="3086100" cy="365125"/>
          </a:xfrm>
          <a:prstGeom prst="rect">
            <a:avLst/>
          </a:prstGeom>
        </p:spPr>
        <p:txBody>
          <a:bodyPr/>
          <a:lstStyle/>
          <a:p>
            <a:endParaRPr lang="es-NI"/>
          </a:p>
        </p:txBody>
      </p:sp>
      <p:sp>
        <p:nvSpPr>
          <p:cNvPr id="6" name="Marcador de número de diapositiva 5">
            <a:extLst>
              <a:ext uri="{FF2B5EF4-FFF2-40B4-BE49-F238E27FC236}">
                <a16:creationId xmlns:a16="http://schemas.microsoft.com/office/drawing/2014/main" id="{70ACA8F4-E1EF-43C8-9749-2F68B9F8DE2C}"/>
              </a:ext>
            </a:extLst>
          </p:cNvPr>
          <p:cNvSpPr>
            <a:spLocks noGrp="1"/>
          </p:cNvSpPr>
          <p:nvPr>
            <p:ph type="sldNum" sz="quarter" idx="12"/>
          </p:nvPr>
        </p:nvSpPr>
        <p:spPr>
          <a:xfrm>
            <a:off x="6457950" y="6356351"/>
            <a:ext cx="2057400" cy="365125"/>
          </a:xfrm>
          <a:prstGeom prst="rect">
            <a:avLst/>
          </a:prstGeom>
        </p:spPr>
        <p:txBody>
          <a:bodyPr/>
          <a:lstStyle/>
          <a:p>
            <a:fld id="{16E415FD-9E47-4847-B618-5821271C3E49}" type="slidenum">
              <a:rPr lang="es-NI" smtClean="0"/>
              <a:t>‹Nº›</a:t>
            </a:fld>
            <a:endParaRPr lang="es-NI"/>
          </a:p>
        </p:txBody>
      </p:sp>
    </p:spTree>
    <p:extLst>
      <p:ext uri="{BB962C8B-B14F-4D97-AF65-F5344CB8AC3E}">
        <p14:creationId xmlns:p14="http://schemas.microsoft.com/office/powerpoint/2010/main" val="3244224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hasCustomPrompt="1"/>
          </p:nvPr>
        </p:nvSpPr>
        <p:spPr/>
        <p:txBody>
          <a:bodyPr/>
          <a:lstStyle>
            <a:lvl1pPr>
              <a:defRPr/>
            </a:lvl1pPr>
          </a:lstStyle>
          <a:p>
            <a:r>
              <a:rPr lang="es-ES" dirty="0"/>
              <a:t>Titular de Presentación</a:t>
            </a:r>
            <a:endParaRPr lang="es-NI" dirty="0"/>
          </a:p>
        </p:txBody>
      </p:sp>
      <p:sp>
        <p:nvSpPr>
          <p:cNvPr id="6" name="5 Marcador de texto"/>
          <p:cNvSpPr>
            <a:spLocks noGrp="1"/>
          </p:cNvSpPr>
          <p:nvPr>
            <p:ph type="body" sz="quarter" idx="10" hasCustomPrompt="1"/>
          </p:nvPr>
        </p:nvSpPr>
        <p:spPr>
          <a:xfrm>
            <a:off x="3686175" y="3048000"/>
            <a:ext cx="4686300" cy="885825"/>
          </a:xfrm>
          <a:prstGeom prst="rect">
            <a:avLst/>
          </a:prstGeom>
        </p:spPr>
        <p:txBody>
          <a:bodyPr>
            <a:normAutofit/>
          </a:bodyPr>
          <a:lstStyle>
            <a:lvl1pPr>
              <a:defRPr sz="1100" baseline="0">
                <a:latin typeface="EleganTech™" pitchFamily="2" charset="0"/>
              </a:defRPr>
            </a:lvl1pPr>
          </a:lstStyle>
          <a:p>
            <a:pPr lvl="0"/>
            <a:r>
              <a:rPr lang="es-NI" dirty="0"/>
              <a:t>Nombre de Expositor y fecha</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Rectángulo"/>
          <p:cNvSpPr/>
          <p:nvPr userDrawn="1"/>
        </p:nvSpPr>
        <p:spPr>
          <a:xfrm>
            <a:off x="0" y="0"/>
            <a:ext cx="123825" cy="193357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NI"/>
          </a:p>
        </p:txBody>
      </p:sp>
      <p:sp>
        <p:nvSpPr>
          <p:cNvPr id="3" name="2 Rectángulo"/>
          <p:cNvSpPr/>
          <p:nvPr userDrawn="1"/>
        </p:nvSpPr>
        <p:spPr>
          <a:xfrm>
            <a:off x="0" y="2124075"/>
            <a:ext cx="123825" cy="473392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NI"/>
          </a:p>
        </p:txBody>
      </p:sp>
      <p:pic>
        <p:nvPicPr>
          <p:cNvPr id="1026" name="Picture 2" descr="C:\Users\Yamil\Desktop\logo-01.png"/>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7478008" y="5758664"/>
            <a:ext cx="1501608" cy="976045"/>
          </a:xfrm>
          <a:prstGeom prst="rect">
            <a:avLst/>
          </a:prstGeom>
          <a:noFill/>
        </p:spPr>
      </p:pic>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701" r:id="rId10"/>
  </p:sldLayoutIdLst>
  <p:hf hdr="0" ftr="0"/>
  <p:txStyles>
    <p:titleStyle>
      <a:lvl1pPr algn="l" defTabSz="457200" rtl="0" eaLnBrk="0" fontAlgn="base" hangingPunct="0">
        <a:spcBef>
          <a:spcPct val="0"/>
        </a:spcBef>
        <a:spcAft>
          <a:spcPct val="0"/>
        </a:spcAft>
        <a:defRPr sz="6600" kern="1200">
          <a:solidFill>
            <a:srgbClr val="FF0000"/>
          </a:solidFill>
          <a:latin typeface="EleganTech?"/>
          <a:ea typeface="ＭＳ Ｐゴシック" charset="-128"/>
          <a:cs typeface="+mj-cs"/>
        </a:defRPr>
      </a:lvl1pPr>
      <a:lvl2pPr algn="l" defTabSz="457200" rtl="0" eaLnBrk="0" fontAlgn="base" hangingPunct="0">
        <a:spcBef>
          <a:spcPct val="0"/>
        </a:spcBef>
        <a:spcAft>
          <a:spcPct val="0"/>
        </a:spcAft>
        <a:defRPr sz="6600">
          <a:solidFill>
            <a:srgbClr val="FF0000"/>
          </a:solidFill>
          <a:latin typeface="EleganTech?" charset="0"/>
          <a:ea typeface="ＭＳ Ｐゴシック" charset="-128"/>
        </a:defRPr>
      </a:lvl2pPr>
      <a:lvl3pPr algn="l" defTabSz="457200" rtl="0" eaLnBrk="0" fontAlgn="base" hangingPunct="0">
        <a:spcBef>
          <a:spcPct val="0"/>
        </a:spcBef>
        <a:spcAft>
          <a:spcPct val="0"/>
        </a:spcAft>
        <a:defRPr sz="6600">
          <a:solidFill>
            <a:srgbClr val="FF0000"/>
          </a:solidFill>
          <a:latin typeface="EleganTech?" charset="0"/>
          <a:ea typeface="ＭＳ Ｐゴシック" charset="-128"/>
        </a:defRPr>
      </a:lvl3pPr>
      <a:lvl4pPr algn="l" defTabSz="457200" rtl="0" eaLnBrk="0" fontAlgn="base" hangingPunct="0">
        <a:spcBef>
          <a:spcPct val="0"/>
        </a:spcBef>
        <a:spcAft>
          <a:spcPct val="0"/>
        </a:spcAft>
        <a:defRPr sz="6600">
          <a:solidFill>
            <a:srgbClr val="FF0000"/>
          </a:solidFill>
          <a:latin typeface="EleganTech?" charset="0"/>
          <a:ea typeface="ＭＳ Ｐゴシック" charset="-128"/>
        </a:defRPr>
      </a:lvl4pPr>
      <a:lvl5pPr algn="l" defTabSz="457200" rtl="0" eaLnBrk="0" fontAlgn="base" hangingPunct="0">
        <a:spcBef>
          <a:spcPct val="0"/>
        </a:spcBef>
        <a:spcAft>
          <a:spcPct val="0"/>
        </a:spcAft>
        <a:defRPr sz="6600">
          <a:solidFill>
            <a:srgbClr val="FF0000"/>
          </a:solidFill>
          <a:latin typeface="EleganTech?" charset="0"/>
          <a:ea typeface="ＭＳ Ｐゴシック" charset="-128"/>
        </a:defRPr>
      </a:lvl5pPr>
      <a:lvl6pPr marL="457200" algn="l" defTabSz="457200" rtl="0" fontAlgn="base">
        <a:spcBef>
          <a:spcPct val="0"/>
        </a:spcBef>
        <a:spcAft>
          <a:spcPct val="0"/>
        </a:spcAft>
        <a:defRPr sz="6600">
          <a:solidFill>
            <a:srgbClr val="FF0000"/>
          </a:solidFill>
          <a:latin typeface="EleganTech?" charset="0"/>
          <a:ea typeface="ＭＳ Ｐゴシック" charset="-128"/>
        </a:defRPr>
      </a:lvl6pPr>
      <a:lvl7pPr marL="914400" algn="l" defTabSz="457200" rtl="0" fontAlgn="base">
        <a:spcBef>
          <a:spcPct val="0"/>
        </a:spcBef>
        <a:spcAft>
          <a:spcPct val="0"/>
        </a:spcAft>
        <a:defRPr sz="6600">
          <a:solidFill>
            <a:srgbClr val="FF0000"/>
          </a:solidFill>
          <a:latin typeface="EleganTech?" charset="0"/>
          <a:ea typeface="ＭＳ Ｐゴシック" charset="-128"/>
        </a:defRPr>
      </a:lvl7pPr>
      <a:lvl8pPr marL="1371600" algn="l" defTabSz="457200" rtl="0" fontAlgn="base">
        <a:spcBef>
          <a:spcPct val="0"/>
        </a:spcBef>
        <a:spcAft>
          <a:spcPct val="0"/>
        </a:spcAft>
        <a:defRPr sz="6600">
          <a:solidFill>
            <a:srgbClr val="FF0000"/>
          </a:solidFill>
          <a:latin typeface="EleganTech?" charset="0"/>
          <a:ea typeface="ＭＳ Ｐゴシック" charset="-128"/>
        </a:defRPr>
      </a:lvl8pPr>
      <a:lvl9pPr marL="1828800" algn="l" defTabSz="457200" rtl="0" fontAlgn="base">
        <a:spcBef>
          <a:spcPct val="0"/>
        </a:spcBef>
        <a:spcAft>
          <a:spcPct val="0"/>
        </a:spcAft>
        <a:defRPr sz="6600">
          <a:solidFill>
            <a:srgbClr val="FF0000"/>
          </a:solidFill>
          <a:latin typeface="EleganTech?" charset="0"/>
          <a:ea typeface="ＭＳ Ｐゴシック" charset="-128"/>
        </a:defRPr>
      </a:lvl9pPr>
    </p:titleStyle>
    <p:bodyStyle>
      <a:lvl1pPr marL="342900" indent="-342900" algn="l" defTabSz="457200" rtl="0" eaLnBrk="0" fontAlgn="base" hangingPunct="0">
        <a:spcBef>
          <a:spcPct val="20000"/>
        </a:spcBef>
        <a:spcAft>
          <a:spcPct val="0"/>
        </a:spcAft>
        <a:buClr>
          <a:srgbClr val="FF0000"/>
        </a:buClr>
        <a:buFont typeface="Calibri" pitchFamily="34" charset="0"/>
        <a:buAutoNum type="arabicPeriod"/>
        <a:defRPr sz="1400" kern="1200">
          <a:solidFill>
            <a:srgbClr val="595959"/>
          </a:solidFill>
          <a:latin typeface="EleganTech?"/>
          <a:ea typeface="ＭＳ Ｐゴシック"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6 Imagen" descr="logo-01.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79938" y="259021"/>
            <a:ext cx="1867359" cy="1213783"/>
          </a:xfrm>
          <a:prstGeom prst="rect">
            <a:avLst/>
          </a:prstGeom>
        </p:spPr>
      </p:pic>
      <p:sp>
        <p:nvSpPr>
          <p:cNvPr id="4" name="3 Rectángulo"/>
          <p:cNvSpPr/>
          <p:nvPr userDrawn="1"/>
        </p:nvSpPr>
        <p:spPr>
          <a:xfrm>
            <a:off x="494615" y="4985535"/>
            <a:ext cx="45719" cy="429303"/>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4 Rectángulo"/>
          <p:cNvSpPr/>
          <p:nvPr userDrawn="1"/>
        </p:nvSpPr>
        <p:spPr>
          <a:xfrm>
            <a:off x="494615" y="5472820"/>
            <a:ext cx="45719" cy="983639"/>
          </a:xfrm>
          <a:prstGeom prst="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5 Rectángulo"/>
          <p:cNvSpPr/>
          <p:nvPr userDrawn="1"/>
        </p:nvSpPr>
        <p:spPr>
          <a:xfrm>
            <a:off x="2147297" y="2781300"/>
            <a:ext cx="1453153" cy="66675"/>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7 Rectángulo"/>
          <p:cNvSpPr/>
          <p:nvPr userDrawn="1"/>
        </p:nvSpPr>
        <p:spPr>
          <a:xfrm>
            <a:off x="3752850" y="2781300"/>
            <a:ext cx="5191125" cy="66675"/>
          </a:xfrm>
          <a:prstGeom prst="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9 Marcador de título"/>
          <p:cNvSpPr>
            <a:spLocks noGrp="1"/>
          </p:cNvSpPr>
          <p:nvPr>
            <p:ph type="title"/>
          </p:nvPr>
        </p:nvSpPr>
        <p:spPr>
          <a:xfrm>
            <a:off x="3686175" y="1472804"/>
            <a:ext cx="4572000" cy="1143000"/>
          </a:xfrm>
          <a:prstGeom prst="rect">
            <a:avLst/>
          </a:prstGeom>
        </p:spPr>
        <p:txBody>
          <a:bodyPr vert="horz" lIns="91440" tIns="45720" rIns="91440" bIns="45720" rtlCol="0" anchor="ctr">
            <a:normAutofit/>
          </a:bodyPr>
          <a:lstStyle/>
          <a:p>
            <a:r>
              <a:rPr lang="es-ES" dirty="0"/>
              <a:t>Titular de Presentación</a:t>
            </a:r>
            <a:endParaRPr lang="es-NI" dirty="0"/>
          </a:p>
        </p:txBody>
      </p:sp>
      <p:sp>
        <p:nvSpPr>
          <p:cNvPr id="13" name="9 Marcador de título"/>
          <p:cNvSpPr txBox="1">
            <a:spLocks/>
          </p:cNvSpPr>
          <p:nvPr userDrawn="1"/>
        </p:nvSpPr>
        <p:spPr>
          <a:xfrm>
            <a:off x="581025" y="4985535"/>
            <a:ext cx="2295525" cy="1634340"/>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rgbClr val="FFFFFF"/>
                </a:solidFill>
                <a:effectLst/>
                <a:uLnTx/>
                <a:uFillTx/>
                <a:latin typeface="Eurostile" pitchFamily="34" charset="0"/>
                <a:ea typeface="+mj-ea"/>
                <a:cs typeface="+mj-cs"/>
              </a:rPr>
              <a:t>www.upoli.edu.ni</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rgbClr val="FFFFFF"/>
                </a:solidFill>
                <a:effectLst/>
                <a:uLnTx/>
                <a:uFillTx/>
                <a:latin typeface="Eurostile" pitchFamily="34" charset="0"/>
                <a:ea typeface="+mj-ea"/>
                <a:cs typeface="+mj-cs"/>
              </a:rPr>
              <a:t>rurrivas@upoli.edu.ni</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err="1">
                <a:ln>
                  <a:noFill/>
                </a:ln>
                <a:solidFill>
                  <a:schemeClr val="bg1"/>
                </a:solidFill>
                <a:effectLst/>
                <a:uLnTx/>
                <a:uFillTx/>
                <a:latin typeface="Eurostile" pitchFamily="34" charset="0"/>
                <a:ea typeface="+mj-ea"/>
                <a:cs typeface="+mj-cs"/>
              </a:rPr>
              <a:t>ingenieriarivas@upoli.edu.ni</a:t>
            </a:r>
            <a:endPar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Costado Sur, Villa Rubén Darío</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Apartado Postal 3595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Teléfono: (505) 2289-7740</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Fax: (505) 2249-9232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Managua - Nicaragua</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s-NI" sz="1100" b="0" i="0" u="none" strike="noStrike" kern="1200" cap="none" spc="0" normalizeH="0" baseline="0" noProof="0" dirty="0">
              <a:ln>
                <a:noFill/>
              </a:ln>
              <a:solidFill>
                <a:schemeClr val="bg1"/>
              </a:solidFill>
              <a:effectLst/>
              <a:uLnTx/>
              <a:uFillTx/>
              <a:latin typeface="Eurostile" pitchFamily="34" charset="0"/>
              <a:ea typeface="+mj-ea"/>
              <a:cs typeface="+mj-cs"/>
            </a:endParaRPr>
          </a:p>
        </p:txBody>
      </p:sp>
    </p:spTree>
  </p:cSld>
  <p:clrMap bg1="lt1" tx1="dk1" bg2="lt2" tx2="dk2" accent1="accent1" accent2="accent2" accent3="accent3" accent4="accent4" accent5="accent5" accent6="accent6" hlink="hlink" folHlink="folHlink"/>
  <p:sldLayoutIdLst>
    <p:sldLayoutId id="2147483700" r:id="rId1"/>
  </p:sldLayoutIdLst>
  <p:hf hdr="0" ftr="0"/>
  <p:txStyles>
    <p:titleStyle>
      <a:lvl1pPr algn="l" defTabSz="914400" rtl="0" eaLnBrk="1" latinLnBrk="0" hangingPunct="1">
        <a:spcBef>
          <a:spcPct val="0"/>
        </a:spcBef>
        <a:buNone/>
        <a:defRPr sz="3200" kern="1200">
          <a:solidFill>
            <a:srgbClr val="FF0000"/>
          </a:solidFill>
          <a:latin typeface="EleganTech™" pitchFamily="2" charset="0"/>
          <a:ea typeface="+mj-ea"/>
          <a:cs typeface="+mj-cs"/>
        </a:defRPr>
      </a:lvl1pPr>
    </p:titleStyle>
    <p:bodyStyle>
      <a:lvl1pPr marL="0" indent="0" algn="l" defTabSz="914400" rtl="0" eaLnBrk="1" latinLnBrk="0" hangingPunct="1">
        <a:spcBef>
          <a:spcPct val="20000"/>
        </a:spcBef>
        <a:buFont typeface="Arial" pitchFamily="34" charset="0"/>
        <a:buNone/>
        <a:defRPr sz="1100" kern="1200">
          <a:solidFill>
            <a:schemeClr val="tx1"/>
          </a:solidFill>
          <a:latin typeface="Eurostile"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upoli.edu.ni" TargetMode="Externa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2069452" y="1309403"/>
            <a:ext cx="6925612" cy="1306401"/>
          </a:xfrm>
        </p:spPr>
        <p:txBody>
          <a:bodyPr>
            <a:noAutofit/>
          </a:bodyPr>
          <a:lstStyle/>
          <a:p>
            <a:pPr>
              <a:lnSpc>
                <a:spcPct val="150000"/>
              </a:lnSpc>
            </a:pPr>
            <a:r>
              <a:rPr lang="es-NI" sz="2800" dirty="0">
                <a:latin typeface="Arial"/>
                <a:cs typeface="Arial"/>
              </a:rPr>
              <a:t>TALLER DE EVALUACION DE LOS APRENDIZAJES (sesión 2)</a:t>
            </a:r>
          </a:p>
        </p:txBody>
      </p:sp>
      <p:sp>
        <p:nvSpPr>
          <p:cNvPr id="4" name="3 Marcador de texto"/>
          <p:cNvSpPr>
            <a:spLocks noGrp="1"/>
          </p:cNvSpPr>
          <p:nvPr>
            <p:ph type="body" sz="quarter" idx="10"/>
          </p:nvPr>
        </p:nvSpPr>
        <p:spPr>
          <a:xfrm>
            <a:off x="2069452" y="2969435"/>
            <a:ext cx="6813947" cy="1639665"/>
          </a:xfrm>
        </p:spPr>
        <p:txBody>
          <a:bodyPr>
            <a:noAutofit/>
          </a:bodyPr>
          <a:lstStyle/>
          <a:p>
            <a:pPr>
              <a:lnSpc>
                <a:spcPct val="140000"/>
              </a:lnSpc>
            </a:pPr>
            <a:r>
              <a:rPr lang="es-NI" sz="2800" dirty="0">
                <a:solidFill>
                  <a:schemeClr val="tx1">
                    <a:lumMod val="65000"/>
                    <a:lumOff val="35000"/>
                  </a:schemeClr>
                </a:solidFill>
                <a:latin typeface="Arial"/>
                <a:cs typeface="Arial"/>
              </a:rPr>
              <a:t>María Edelmira Morales González. Especialista en Docencia universitaria</a:t>
            </a:r>
          </a:p>
          <a:p>
            <a:pPr>
              <a:lnSpc>
                <a:spcPct val="140000"/>
              </a:lnSpc>
            </a:pPr>
            <a:r>
              <a:rPr lang="es-NI" sz="2800" dirty="0">
                <a:solidFill>
                  <a:schemeClr val="tx1">
                    <a:lumMod val="65000"/>
                    <a:lumOff val="35000"/>
                  </a:schemeClr>
                </a:solidFill>
                <a:latin typeface="Arial"/>
                <a:cs typeface="Arial"/>
              </a:rPr>
              <a:t>UPOLI</a:t>
            </a:r>
          </a:p>
        </p:txBody>
      </p:sp>
      <p:sp>
        <p:nvSpPr>
          <p:cNvPr id="7" name="4 CuadroTexto"/>
          <p:cNvSpPr txBox="1"/>
          <p:nvPr/>
        </p:nvSpPr>
        <p:spPr>
          <a:xfrm>
            <a:off x="647699" y="4983443"/>
            <a:ext cx="3376659" cy="1785104"/>
          </a:xfrm>
          <a:prstGeom prst="rect">
            <a:avLst/>
          </a:prstGeom>
          <a:solidFill>
            <a:schemeClr val="bg1"/>
          </a:solidFill>
        </p:spPr>
        <p:txBody>
          <a:bodyPr wrap="square" rtlCol="0">
            <a:spAutoFit/>
          </a:bodyPr>
          <a:lstStyle/>
          <a:p>
            <a:r>
              <a:rPr lang="es-NI" sz="1100" dirty="0">
                <a:solidFill>
                  <a:schemeClr val="tx1">
                    <a:lumMod val="65000"/>
                    <a:lumOff val="35000"/>
                  </a:schemeClr>
                </a:solidFill>
                <a:latin typeface="Eurostile" pitchFamily="34" charset="0"/>
                <a:hlinkClick r:id="rId2"/>
              </a:rPr>
              <a:t>www.upoli.edu.ni</a:t>
            </a:r>
            <a:endParaRPr lang="es-NI" sz="1100" dirty="0">
              <a:solidFill>
                <a:schemeClr val="tx1">
                  <a:lumMod val="65000"/>
                  <a:lumOff val="35000"/>
                </a:schemeClr>
              </a:solidFill>
              <a:latin typeface="Eurostile" pitchFamily="34" charset="0"/>
            </a:endParaRPr>
          </a:p>
          <a:p>
            <a:r>
              <a:rPr lang="es-NI" sz="1100" dirty="0">
                <a:solidFill>
                  <a:schemeClr val="tx1">
                    <a:lumMod val="65000"/>
                    <a:lumOff val="35000"/>
                  </a:schemeClr>
                </a:solidFill>
                <a:latin typeface="Eurostile" pitchFamily="34" charset="0"/>
              </a:rPr>
              <a:t>turismo@upoli.edu.ni</a:t>
            </a:r>
          </a:p>
          <a:p>
            <a:endParaRPr lang="es-NI" sz="1100" dirty="0">
              <a:solidFill>
                <a:schemeClr val="tx1">
                  <a:lumMod val="65000"/>
                  <a:lumOff val="35000"/>
                </a:schemeClr>
              </a:solidFill>
              <a:latin typeface="Eurostile" pitchFamily="34" charset="0"/>
            </a:endParaRPr>
          </a:p>
          <a:p>
            <a:r>
              <a:rPr lang="es-NI" sz="1100" dirty="0">
                <a:solidFill>
                  <a:schemeClr val="tx1">
                    <a:lumMod val="65000"/>
                    <a:lumOff val="35000"/>
                  </a:schemeClr>
                </a:solidFill>
                <a:latin typeface="Eurostile" pitchFamily="34" charset="0"/>
              </a:rPr>
              <a:t>Km 112 ½ carretera Panamericana  </a:t>
            </a:r>
          </a:p>
          <a:p>
            <a:r>
              <a:rPr lang="es-NI" sz="1100" dirty="0">
                <a:solidFill>
                  <a:schemeClr val="tx1">
                    <a:lumMod val="65000"/>
                    <a:lumOff val="35000"/>
                  </a:schemeClr>
                </a:solidFill>
                <a:latin typeface="Eurostile" pitchFamily="34" charset="0"/>
              </a:rPr>
              <a:t>San Félix</a:t>
            </a:r>
          </a:p>
          <a:p>
            <a:endParaRPr lang="es-NI" sz="1100" dirty="0">
              <a:solidFill>
                <a:schemeClr val="tx1">
                  <a:lumMod val="65000"/>
                  <a:lumOff val="35000"/>
                </a:schemeClr>
              </a:solidFill>
              <a:latin typeface="Eurostile" pitchFamily="34" charset="0"/>
            </a:endParaRPr>
          </a:p>
          <a:p>
            <a:r>
              <a:rPr lang="es-NI" sz="1100" dirty="0">
                <a:solidFill>
                  <a:schemeClr val="tx1">
                    <a:lumMod val="65000"/>
                    <a:lumOff val="35000"/>
                  </a:schemeClr>
                </a:solidFill>
                <a:latin typeface="Eurostile" pitchFamily="34" charset="0"/>
              </a:rPr>
              <a:t>Teléfono: [505] 25633360</a:t>
            </a:r>
          </a:p>
          <a:p>
            <a:r>
              <a:rPr lang="es-NI" sz="1100" dirty="0">
                <a:solidFill>
                  <a:schemeClr val="tx1">
                    <a:lumMod val="65000"/>
                    <a:lumOff val="35000"/>
                  </a:schemeClr>
                </a:solidFill>
                <a:latin typeface="Eurostile" pitchFamily="34" charset="0"/>
              </a:rPr>
              <a:t>Rivas, Nicaragua.</a:t>
            </a:r>
          </a:p>
          <a:p>
            <a:endParaRPr lang="es-NI" sz="1100" dirty="0">
              <a:solidFill>
                <a:schemeClr val="tx1">
                  <a:lumMod val="65000"/>
                  <a:lumOff val="35000"/>
                </a:schemeClr>
              </a:solidFill>
              <a:latin typeface="Eurostile" pitchFamily="34" charset="0"/>
            </a:endParaRPr>
          </a:p>
          <a:p>
            <a:endParaRPr lang="es-NI" sz="1100" dirty="0">
              <a:solidFill>
                <a:schemeClr val="tx1">
                  <a:lumMod val="65000"/>
                  <a:lumOff val="35000"/>
                </a:schemeClr>
              </a:solidFill>
              <a:latin typeface="Eurostile"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CA8F37E8-21C9-46C6-9255-E7FDBB1A27A7}"/>
              </a:ext>
            </a:extLst>
          </p:cNvPr>
          <p:cNvSpPr>
            <a:spLocks noGrp="1"/>
          </p:cNvSpPr>
          <p:nvPr>
            <p:ph type="title"/>
          </p:nvPr>
        </p:nvSpPr>
        <p:spPr>
          <a:xfrm>
            <a:off x="628650" y="174272"/>
            <a:ext cx="7886700" cy="1325563"/>
          </a:xfrm>
        </p:spPr>
        <p:txBody>
          <a:bodyPr/>
          <a:lstStyle/>
          <a:p>
            <a:r>
              <a:rPr lang="es-NI" sz="3600" dirty="0"/>
              <a:t>Reflexiones sobre las evaluaciones que aplicamos a nuestros estudiantes:</a:t>
            </a:r>
          </a:p>
        </p:txBody>
      </p:sp>
      <p:sp>
        <p:nvSpPr>
          <p:cNvPr id="6" name="Marcador de fecha 5">
            <a:extLst>
              <a:ext uri="{FF2B5EF4-FFF2-40B4-BE49-F238E27FC236}">
                <a16:creationId xmlns:a16="http://schemas.microsoft.com/office/drawing/2014/main" id="{7E0CA37C-0E37-4351-9C33-C0C7CE4B24B0}"/>
              </a:ext>
            </a:extLst>
          </p:cNvPr>
          <p:cNvSpPr>
            <a:spLocks noGrp="1"/>
          </p:cNvSpPr>
          <p:nvPr>
            <p:ph type="dt" sz="half" idx="10"/>
          </p:nvPr>
        </p:nvSpPr>
        <p:spPr>
          <a:xfrm>
            <a:off x="692856" y="6290558"/>
            <a:ext cx="2057400" cy="365125"/>
          </a:xfrm>
        </p:spPr>
        <p:txBody>
          <a:bodyPr>
            <a:normAutofit lnSpcReduction="10000"/>
          </a:bodyPr>
          <a:lstStyle/>
          <a:p>
            <a:pPr>
              <a:spcAft>
                <a:spcPts val="600"/>
              </a:spcAft>
            </a:pPr>
            <a:fld id="{8EB2F652-C79D-499F-855A-604140EB2E80}" type="datetime1">
              <a:rPr lang="en-US" smtClean="0">
                <a:solidFill>
                  <a:srgbClr val="FFFFFF"/>
                </a:solidFill>
              </a:rPr>
              <a:t>10/21/2019</a:t>
            </a:fld>
            <a:endParaRPr lang="es-NI">
              <a:solidFill>
                <a:srgbClr val="FFFFFF"/>
              </a:solidFill>
            </a:endParaRPr>
          </a:p>
        </p:txBody>
      </p:sp>
      <p:graphicFrame>
        <p:nvGraphicFramePr>
          <p:cNvPr id="7" name="Marcador de contenido 6">
            <a:extLst>
              <a:ext uri="{FF2B5EF4-FFF2-40B4-BE49-F238E27FC236}">
                <a16:creationId xmlns:a16="http://schemas.microsoft.com/office/drawing/2014/main" id="{3395740F-94DA-43D9-A235-C4C9854E41EE}"/>
              </a:ext>
            </a:extLst>
          </p:cNvPr>
          <p:cNvGraphicFramePr>
            <a:graphicFrameLocks noGrp="1"/>
          </p:cNvGraphicFramePr>
          <p:nvPr>
            <p:ph idx="1"/>
            <p:extLst>
              <p:ext uri="{D42A27DB-BD31-4B8C-83A1-F6EECF244321}">
                <p14:modId xmlns:p14="http://schemas.microsoft.com/office/powerpoint/2010/main" val="316980441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Marcador de número de diapositiva 8">
            <a:extLst>
              <a:ext uri="{FF2B5EF4-FFF2-40B4-BE49-F238E27FC236}">
                <a16:creationId xmlns:a16="http://schemas.microsoft.com/office/drawing/2014/main" id="{0AD4B20A-9BBE-42C8-A9E9-489872C4CD4F}"/>
              </a:ext>
            </a:extLst>
          </p:cNvPr>
          <p:cNvSpPr>
            <a:spLocks noGrp="1"/>
          </p:cNvSpPr>
          <p:nvPr>
            <p:ph type="sldNum" sz="quarter" idx="12"/>
          </p:nvPr>
        </p:nvSpPr>
        <p:spPr/>
        <p:txBody>
          <a:bodyPr/>
          <a:lstStyle/>
          <a:p>
            <a:fld id="{16E415FD-9E47-4847-B618-5821271C3E49}" type="slidenum">
              <a:rPr lang="es-NI" smtClean="0"/>
              <a:t>2</a:t>
            </a:fld>
            <a:endParaRPr lang="es-NI"/>
          </a:p>
        </p:txBody>
      </p:sp>
    </p:spTree>
    <p:extLst>
      <p:ext uri="{BB962C8B-B14F-4D97-AF65-F5344CB8AC3E}">
        <p14:creationId xmlns:p14="http://schemas.microsoft.com/office/powerpoint/2010/main" val="2429082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ítulo 1">
            <a:extLst>
              <a:ext uri="{FF2B5EF4-FFF2-40B4-BE49-F238E27FC236}">
                <a16:creationId xmlns:a16="http://schemas.microsoft.com/office/drawing/2014/main" id="{F4A580C0-168F-4DA5-88C3-CAD8D4332E5C}"/>
              </a:ext>
            </a:extLst>
          </p:cNvPr>
          <p:cNvSpPr>
            <a:spLocks noGrp="1"/>
          </p:cNvSpPr>
          <p:nvPr>
            <p:ph type="title"/>
          </p:nvPr>
        </p:nvSpPr>
        <p:spPr>
          <a:xfrm>
            <a:off x="395111" y="2053641"/>
            <a:ext cx="2836819" cy="3240848"/>
          </a:xfrm>
        </p:spPr>
        <p:txBody>
          <a:bodyPr>
            <a:normAutofit fontScale="90000"/>
          </a:bodyPr>
          <a:lstStyle/>
          <a:p>
            <a:pPr>
              <a:lnSpc>
                <a:spcPct val="90000"/>
              </a:lnSpc>
            </a:pPr>
            <a:r>
              <a:rPr lang="es-NI" sz="3600" dirty="0">
                <a:solidFill>
                  <a:srgbClr val="FFFFFF"/>
                </a:solidFill>
              </a:rPr>
              <a:t>Sesión 2: Taller de evaluación de los aprendizajes.</a:t>
            </a:r>
            <a:br>
              <a:rPr lang="es-NI" sz="3600" dirty="0">
                <a:solidFill>
                  <a:srgbClr val="FFFFFF"/>
                </a:solidFill>
              </a:rPr>
            </a:br>
            <a:r>
              <a:rPr lang="es-NI" sz="3600" dirty="0">
                <a:solidFill>
                  <a:srgbClr val="FFFFFF"/>
                </a:solidFill>
              </a:rPr>
              <a:t>Tema:</a:t>
            </a:r>
            <a:br>
              <a:rPr lang="es-NI" sz="3600" dirty="0">
                <a:solidFill>
                  <a:srgbClr val="FFFFFF"/>
                </a:solidFill>
              </a:rPr>
            </a:br>
            <a:r>
              <a:rPr lang="es-NI" sz="3600" dirty="0">
                <a:solidFill>
                  <a:srgbClr val="FFFFFF"/>
                </a:solidFill>
              </a:rPr>
              <a:t>Tipos de evaluación</a:t>
            </a:r>
          </a:p>
        </p:txBody>
      </p:sp>
      <p:sp>
        <p:nvSpPr>
          <p:cNvPr id="3" name="Marcador de contenido 2">
            <a:extLst>
              <a:ext uri="{FF2B5EF4-FFF2-40B4-BE49-F238E27FC236}">
                <a16:creationId xmlns:a16="http://schemas.microsoft.com/office/drawing/2014/main" id="{3CA25472-7133-4747-B037-D0ADFA422C09}"/>
              </a:ext>
            </a:extLst>
          </p:cNvPr>
          <p:cNvSpPr>
            <a:spLocks noGrp="1"/>
          </p:cNvSpPr>
          <p:nvPr>
            <p:ph idx="1"/>
          </p:nvPr>
        </p:nvSpPr>
        <p:spPr>
          <a:xfrm>
            <a:off x="4567930" y="801866"/>
            <a:ext cx="3979563" cy="5230634"/>
          </a:xfrm>
        </p:spPr>
        <p:txBody>
          <a:bodyPr anchor="ctr">
            <a:normAutofit/>
          </a:bodyPr>
          <a:lstStyle/>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r>
              <a:rPr lang="es-NI" sz="2100" dirty="0">
                <a:solidFill>
                  <a:srgbClr val="000000"/>
                </a:solidFill>
              </a:rPr>
              <a:t>Objetivo:</a:t>
            </a:r>
          </a:p>
          <a:p>
            <a:pPr marL="0" indent="0">
              <a:buNone/>
            </a:pPr>
            <a:endParaRPr lang="es-NI" sz="2100" dirty="0">
              <a:solidFill>
                <a:srgbClr val="000000"/>
              </a:solidFill>
            </a:endParaRPr>
          </a:p>
          <a:p>
            <a:pPr marL="0" indent="0">
              <a:buNone/>
            </a:pPr>
            <a:r>
              <a:rPr lang="es-NI" sz="2100" dirty="0">
                <a:solidFill>
                  <a:srgbClr val="000000"/>
                </a:solidFill>
              </a:rPr>
              <a:t>Que los estudiantes del curso reconozcan la importancia de diseñar instrumentos de evaluación  de forma integral y objetiva, a través de la aplicación tanto del reglamento académico estudiantil como de los tipos de evaluación contenido en los programas de asignatura.</a:t>
            </a:r>
          </a:p>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endParaRPr lang="es-NI" sz="2100" dirty="0">
              <a:solidFill>
                <a:srgbClr val="000000"/>
              </a:solidFill>
            </a:endParaRPr>
          </a:p>
          <a:p>
            <a:pPr marL="0" indent="0">
              <a:buNone/>
            </a:pPr>
            <a:endParaRPr lang="es-NI" sz="2100" dirty="0">
              <a:solidFill>
                <a:srgbClr val="000000"/>
              </a:solidFill>
            </a:endParaRPr>
          </a:p>
        </p:txBody>
      </p:sp>
      <p:sp>
        <p:nvSpPr>
          <p:cNvPr id="4" name="Marcador de fecha 3">
            <a:extLst>
              <a:ext uri="{FF2B5EF4-FFF2-40B4-BE49-F238E27FC236}">
                <a16:creationId xmlns:a16="http://schemas.microsoft.com/office/drawing/2014/main" id="{D008B92D-B85A-4898-B992-37EAD36DD5E5}"/>
              </a:ext>
            </a:extLst>
          </p:cNvPr>
          <p:cNvSpPr>
            <a:spLocks noGrp="1"/>
          </p:cNvSpPr>
          <p:nvPr>
            <p:ph type="dt" sz="half" idx="10"/>
          </p:nvPr>
        </p:nvSpPr>
        <p:spPr/>
        <p:txBody>
          <a:bodyPr/>
          <a:lstStyle/>
          <a:p>
            <a:fld id="{2424659F-94B5-49AD-AF9E-BBDC5A71A8C9}" type="datetime1">
              <a:rPr lang="en-US" smtClean="0"/>
              <a:t>10/21/2019</a:t>
            </a:fld>
            <a:endParaRPr lang="es-NI"/>
          </a:p>
        </p:txBody>
      </p:sp>
      <p:sp>
        <p:nvSpPr>
          <p:cNvPr id="5" name="Marcador de número de diapositiva 4">
            <a:extLst>
              <a:ext uri="{FF2B5EF4-FFF2-40B4-BE49-F238E27FC236}">
                <a16:creationId xmlns:a16="http://schemas.microsoft.com/office/drawing/2014/main" id="{B82D8A3E-D0B5-43F9-9CD4-76DF38611CD8}"/>
              </a:ext>
            </a:extLst>
          </p:cNvPr>
          <p:cNvSpPr>
            <a:spLocks noGrp="1"/>
          </p:cNvSpPr>
          <p:nvPr>
            <p:ph type="sldNum" sz="quarter" idx="12"/>
          </p:nvPr>
        </p:nvSpPr>
        <p:spPr/>
        <p:txBody>
          <a:bodyPr/>
          <a:lstStyle/>
          <a:p>
            <a:fld id="{16E415FD-9E47-4847-B618-5821271C3E49}" type="slidenum">
              <a:rPr lang="es-NI" smtClean="0"/>
              <a:t>3</a:t>
            </a:fld>
            <a:endParaRPr lang="es-NI"/>
          </a:p>
        </p:txBody>
      </p:sp>
    </p:spTree>
    <p:extLst>
      <p:ext uri="{BB962C8B-B14F-4D97-AF65-F5344CB8AC3E}">
        <p14:creationId xmlns:p14="http://schemas.microsoft.com/office/powerpoint/2010/main" val="831436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21057F-9621-459A-959E-973918B7BAA3}"/>
              </a:ext>
            </a:extLst>
          </p:cNvPr>
          <p:cNvSpPr>
            <a:spLocks noGrp="1"/>
          </p:cNvSpPr>
          <p:nvPr>
            <p:ph type="title"/>
          </p:nvPr>
        </p:nvSpPr>
        <p:spPr/>
        <p:txBody>
          <a:bodyPr/>
          <a:lstStyle/>
          <a:p>
            <a:r>
              <a:rPr lang="es-NI" sz="3200" dirty="0"/>
              <a:t>Antes de hablar de tipos de evaluación, es necesario hablar de objetivos de aprendizaje</a:t>
            </a:r>
          </a:p>
        </p:txBody>
      </p:sp>
      <p:sp>
        <p:nvSpPr>
          <p:cNvPr id="3" name="Marcador de contenido 2">
            <a:extLst>
              <a:ext uri="{FF2B5EF4-FFF2-40B4-BE49-F238E27FC236}">
                <a16:creationId xmlns:a16="http://schemas.microsoft.com/office/drawing/2014/main" id="{9692D311-8311-4BEA-B966-CFEFCE7ACC8F}"/>
              </a:ext>
            </a:extLst>
          </p:cNvPr>
          <p:cNvSpPr>
            <a:spLocks noGrp="1"/>
          </p:cNvSpPr>
          <p:nvPr>
            <p:ph idx="1"/>
          </p:nvPr>
        </p:nvSpPr>
        <p:spPr/>
        <p:txBody>
          <a:bodyPr/>
          <a:lstStyle/>
          <a:p>
            <a:pPr marL="285750" indent="-285750">
              <a:buFont typeface="Arial" panose="020B0604020202020204" pitchFamily="34" charset="0"/>
              <a:buChar char="•"/>
            </a:pPr>
            <a:r>
              <a:rPr lang="es-NI" sz="1800" dirty="0">
                <a:solidFill>
                  <a:srgbClr val="FF0000"/>
                </a:solidFill>
              </a:rPr>
              <a:t>¿Qué es un objetivo de aprendizaje? </a:t>
            </a:r>
            <a:r>
              <a:rPr lang="es-NI" sz="1800" dirty="0"/>
              <a:t>Se trata de una afirmación que expresa de manera clara lo que el alumno o participante debe demostrar al terminar una etapa o periodo de aprendizaje. Esto como consecuencia de ciertas actividades didácticas, dichas afirmaciones deben ser observables, medibles y evaluables.</a:t>
            </a:r>
          </a:p>
          <a:p>
            <a:pPr marL="285750" indent="-285750">
              <a:buFont typeface="Arial" panose="020B0604020202020204" pitchFamily="34" charset="0"/>
              <a:buChar char="•"/>
            </a:pPr>
            <a:r>
              <a:rPr lang="es-NI" sz="1800" dirty="0">
                <a:solidFill>
                  <a:srgbClr val="FF0000"/>
                </a:solidFill>
              </a:rPr>
              <a:t>Tipos de Objetivos</a:t>
            </a:r>
          </a:p>
          <a:p>
            <a:pPr marL="0" indent="0">
              <a:buNone/>
            </a:pPr>
            <a:r>
              <a:rPr lang="es-NI" sz="1800" dirty="0"/>
              <a:t>	</a:t>
            </a:r>
            <a:r>
              <a:rPr lang="es-NI" sz="1800" dirty="0">
                <a:solidFill>
                  <a:srgbClr val="FF0000"/>
                </a:solidFill>
              </a:rPr>
              <a:t>Objetivos generales</a:t>
            </a:r>
            <a:r>
              <a:rPr lang="es-NI" sz="1800" dirty="0"/>
              <a:t>: Se trata de las intenciones educativas de un plan de estudios, de una asignatura o de un proyecto curricular. Se buscan alcanzar a largo plazo, su cumplimiento está en función del tiempo de duración de la carrera o de la asignatura dentro de la estructura y organización curricular.</a:t>
            </a:r>
          </a:p>
          <a:p>
            <a:pPr marL="0" indent="0">
              <a:buNone/>
            </a:pPr>
            <a:r>
              <a:rPr lang="es-NI" sz="1800" dirty="0"/>
              <a:t>	</a:t>
            </a:r>
            <a:r>
              <a:rPr lang="es-NI" sz="1800" dirty="0">
                <a:solidFill>
                  <a:srgbClr val="FF0000"/>
                </a:solidFill>
              </a:rPr>
              <a:t>Objetivos específicos</a:t>
            </a:r>
            <a:r>
              <a:rPr lang="es-NI" sz="1800" dirty="0"/>
              <a:t>: En ellos existe un mayor grado de concreción de las intenciones educativas,  corresponden por ejemplo a los de las clases de cada unidad didáctica;  por lo que  su cumplimiento debe conducir al logro de los objetivos del plan de estudios.</a:t>
            </a:r>
          </a:p>
          <a:p>
            <a:pPr marL="285750" indent="-285750">
              <a:buFont typeface="Arial" panose="020B0604020202020204" pitchFamily="34" charset="0"/>
              <a:buChar char="•"/>
            </a:pPr>
            <a:r>
              <a:rPr lang="es-NI" sz="1800" dirty="0">
                <a:solidFill>
                  <a:srgbClr val="FF0000"/>
                </a:solidFill>
              </a:rPr>
              <a:t>La Taxonomía de Bloom en el diseño de objetivos</a:t>
            </a:r>
          </a:p>
          <a:p>
            <a:pPr marL="400050" lvl="1" indent="0">
              <a:buNone/>
            </a:pPr>
            <a:endParaRPr lang="es-NI" dirty="0"/>
          </a:p>
        </p:txBody>
      </p:sp>
      <p:sp>
        <p:nvSpPr>
          <p:cNvPr id="4" name="Marcador de fecha 3">
            <a:extLst>
              <a:ext uri="{FF2B5EF4-FFF2-40B4-BE49-F238E27FC236}">
                <a16:creationId xmlns:a16="http://schemas.microsoft.com/office/drawing/2014/main" id="{EAADE599-B793-44AD-9F57-785EFF6CD740}"/>
              </a:ext>
            </a:extLst>
          </p:cNvPr>
          <p:cNvSpPr>
            <a:spLocks noGrp="1"/>
          </p:cNvSpPr>
          <p:nvPr>
            <p:ph type="dt" sz="half" idx="10"/>
          </p:nvPr>
        </p:nvSpPr>
        <p:spPr/>
        <p:txBody>
          <a:bodyPr/>
          <a:lstStyle/>
          <a:p>
            <a:fld id="{82C87F33-8BC1-4251-B298-44C71F90B17A}" type="datetime1">
              <a:rPr lang="en-US" smtClean="0"/>
              <a:t>10/21/2019</a:t>
            </a:fld>
            <a:endParaRPr lang="es-NI"/>
          </a:p>
        </p:txBody>
      </p:sp>
      <p:sp>
        <p:nvSpPr>
          <p:cNvPr id="5" name="Marcador de número de diapositiva 4">
            <a:extLst>
              <a:ext uri="{FF2B5EF4-FFF2-40B4-BE49-F238E27FC236}">
                <a16:creationId xmlns:a16="http://schemas.microsoft.com/office/drawing/2014/main" id="{566DAD1F-5A17-489D-B8AB-77933C6816B0}"/>
              </a:ext>
            </a:extLst>
          </p:cNvPr>
          <p:cNvSpPr>
            <a:spLocks noGrp="1"/>
          </p:cNvSpPr>
          <p:nvPr>
            <p:ph type="sldNum" sz="quarter" idx="12"/>
          </p:nvPr>
        </p:nvSpPr>
        <p:spPr/>
        <p:txBody>
          <a:bodyPr/>
          <a:lstStyle/>
          <a:p>
            <a:fld id="{16E415FD-9E47-4847-B618-5821271C3E49}" type="slidenum">
              <a:rPr lang="es-NI" smtClean="0"/>
              <a:t>4</a:t>
            </a:fld>
            <a:endParaRPr lang="es-NI"/>
          </a:p>
        </p:txBody>
      </p:sp>
    </p:spTree>
    <p:extLst>
      <p:ext uri="{BB962C8B-B14F-4D97-AF65-F5344CB8AC3E}">
        <p14:creationId xmlns:p14="http://schemas.microsoft.com/office/powerpoint/2010/main" val="4225236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29D3EC-BAA4-4011-B6ED-F16D0811F10B}"/>
              </a:ext>
            </a:extLst>
          </p:cNvPr>
          <p:cNvSpPr>
            <a:spLocks noGrp="1"/>
          </p:cNvSpPr>
          <p:nvPr>
            <p:ph type="title"/>
          </p:nvPr>
        </p:nvSpPr>
        <p:spPr>
          <a:xfrm>
            <a:off x="628650" y="174273"/>
            <a:ext cx="7886700" cy="1067506"/>
          </a:xfrm>
        </p:spPr>
        <p:txBody>
          <a:bodyPr/>
          <a:lstStyle/>
          <a:p>
            <a:endParaRPr lang="es-NI" sz="3600" dirty="0"/>
          </a:p>
        </p:txBody>
      </p:sp>
      <p:graphicFrame>
        <p:nvGraphicFramePr>
          <p:cNvPr id="6" name="Tabla 6">
            <a:extLst>
              <a:ext uri="{FF2B5EF4-FFF2-40B4-BE49-F238E27FC236}">
                <a16:creationId xmlns:a16="http://schemas.microsoft.com/office/drawing/2014/main" id="{D841DF79-2417-4E11-A4FA-D6C7334B4093}"/>
              </a:ext>
            </a:extLst>
          </p:cNvPr>
          <p:cNvGraphicFramePr>
            <a:graphicFrameLocks noGrp="1"/>
          </p:cNvGraphicFramePr>
          <p:nvPr>
            <p:ph idx="1"/>
            <p:extLst>
              <p:ext uri="{D42A27DB-BD31-4B8C-83A1-F6EECF244321}">
                <p14:modId xmlns:p14="http://schemas.microsoft.com/office/powerpoint/2010/main" val="3749594922"/>
              </p:ext>
            </p:extLst>
          </p:nvPr>
        </p:nvGraphicFramePr>
        <p:xfrm>
          <a:off x="378178" y="1241779"/>
          <a:ext cx="8387644" cy="5235551"/>
        </p:xfrm>
        <a:graphic>
          <a:graphicData uri="http://schemas.openxmlformats.org/drawingml/2006/table">
            <a:tbl>
              <a:tblPr firstRow="1" bandRow="1">
                <a:tableStyleId>{21E4AEA4-8DFA-4A89-87EB-49C32662AFE0}</a:tableStyleId>
              </a:tblPr>
              <a:tblGrid>
                <a:gridCol w="1516500">
                  <a:extLst>
                    <a:ext uri="{9D8B030D-6E8A-4147-A177-3AD203B41FA5}">
                      <a16:colId xmlns:a16="http://schemas.microsoft.com/office/drawing/2014/main" val="4211431036"/>
                    </a:ext>
                  </a:extLst>
                </a:gridCol>
                <a:gridCol w="3202255">
                  <a:extLst>
                    <a:ext uri="{9D8B030D-6E8A-4147-A177-3AD203B41FA5}">
                      <a16:colId xmlns:a16="http://schemas.microsoft.com/office/drawing/2014/main" val="1695172883"/>
                    </a:ext>
                  </a:extLst>
                </a:gridCol>
                <a:gridCol w="3668889">
                  <a:extLst>
                    <a:ext uri="{9D8B030D-6E8A-4147-A177-3AD203B41FA5}">
                      <a16:colId xmlns:a16="http://schemas.microsoft.com/office/drawing/2014/main" val="1351437562"/>
                    </a:ext>
                  </a:extLst>
                </a:gridCol>
              </a:tblGrid>
              <a:tr h="808315">
                <a:tc>
                  <a:txBody>
                    <a:bodyPr/>
                    <a:lstStyle/>
                    <a:p>
                      <a:pPr algn="ctr"/>
                      <a:r>
                        <a:rPr lang="es-NI" dirty="0"/>
                        <a:t>Nivel</a:t>
                      </a:r>
                    </a:p>
                  </a:txBody>
                  <a:tcPr/>
                </a:tc>
                <a:tc>
                  <a:txBody>
                    <a:bodyPr/>
                    <a:lstStyle/>
                    <a:p>
                      <a:pPr algn="ctr"/>
                      <a:r>
                        <a:rPr lang="es-NI" dirty="0"/>
                        <a:t>¿A qué se refiere?</a:t>
                      </a:r>
                    </a:p>
                  </a:txBody>
                  <a:tcPr/>
                </a:tc>
                <a:tc>
                  <a:txBody>
                    <a:bodyPr/>
                    <a:lstStyle/>
                    <a:p>
                      <a:pPr algn="ctr"/>
                      <a:r>
                        <a:rPr lang="es-NI" dirty="0"/>
                        <a:t>Verbos que se puedan aplicar</a:t>
                      </a:r>
                    </a:p>
                  </a:txBody>
                  <a:tcPr/>
                </a:tc>
                <a:extLst>
                  <a:ext uri="{0D108BD9-81ED-4DB2-BD59-A6C34878D82A}">
                    <a16:rowId xmlns:a16="http://schemas.microsoft.com/office/drawing/2014/main" val="1726674533"/>
                  </a:ext>
                </a:extLst>
              </a:tr>
              <a:tr h="1501156">
                <a:tc>
                  <a:txBody>
                    <a:bodyPr/>
                    <a:lstStyle/>
                    <a:p>
                      <a:pPr algn="just"/>
                      <a:r>
                        <a:rPr lang="es-NI" dirty="0"/>
                        <a:t>Nivel 1: Recordar</a:t>
                      </a:r>
                    </a:p>
                  </a:txBody>
                  <a:tcPr/>
                </a:tc>
                <a:tc>
                  <a:txBody>
                    <a:bodyPr/>
                    <a:lstStyle/>
                    <a:p>
                      <a:pPr algn="just"/>
                      <a:r>
                        <a:rPr lang="es-NI" dirty="0"/>
                        <a:t>Recuperar, rememorar o reconocer un conocimiento que está en la memoria</a:t>
                      </a:r>
                    </a:p>
                  </a:txBody>
                  <a:tcPr/>
                </a:tc>
                <a:tc>
                  <a:txBody>
                    <a:bodyPr/>
                    <a:lstStyle/>
                    <a:p>
                      <a:pPr algn="just"/>
                      <a:r>
                        <a:rPr lang="es-NI" dirty="0"/>
                        <a:t>Anunciar, bosquejar, citar, contar, copiar, definir, deletrear, decir, encontrar, enlistar, escoger, escribir, etiquetar.</a:t>
                      </a:r>
                    </a:p>
                  </a:txBody>
                  <a:tcPr/>
                </a:tc>
                <a:extLst>
                  <a:ext uri="{0D108BD9-81ED-4DB2-BD59-A6C34878D82A}">
                    <a16:rowId xmlns:a16="http://schemas.microsoft.com/office/drawing/2014/main" val="396054563"/>
                  </a:ext>
                </a:extLst>
              </a:tr>
              <a:tr h="468310">
                <a:tc>
                  <a:txBody>
                    <a:bodyPr/>
                    <a:lstStyle/>
                    <a:p>
                      <a:pPr algn="just"/>
                      <a:r>
                        <a:rPr lang="es-NI" dirty="0"/>
                        <a:t>Nivel: 2 Comprender</a:t>
                      </a:r>
                    </a:p>
                  </a:txBody>
                  <a:tcPr/>
                </a:tc>
                <a:tc>
                  <a:txBody>
                    <a:bodyPr/>
                    <a:lstStyle/>
                    <a:p>
                      <a:pPr algn="just"/>
                      <a:r>
                        <a:rPr lang="es-NI" dirty="0"/>
                        <a:t>Construir significado a partir de diferentes tipos de funciones, sean estas escritas o gráficas.</a:t>
                      </a:r>
                    </a:p>
                  </a:txBody>
                  <a:tcPr/>
                </a:tc>
                <a:tc>
                  <a:txBody>
                    <a:bodyPr/>
                    <a:lstStyle/>
                    <a:p>
                      <a:pPr algn="just"/>
                      <a:r>
                        <a:rPr lang="es-NI" dirty="0"/>
                        <a:t>Clasificar, comparar, contrastar, convertir, ejemplificar, describir, discutir, distinguir, explicar, expresar, identificar, ilustrar, relacionar.</a:t>
                      </a:r>
                    </a:p>
                  </a:txBody>
                  <a:tcPr/>
                </a:tc>
                <a:extLst>
                  <a:ext uri="{0D108BD9-81ED-4DB2-BD59-A6C34878D82A}">
                    <a16:rowId xmlns:a16="http://schemas.microsoft.com/office/drawing/2014/main" val="3506460380"/>
                  </a:ext>
                </a:extLst>
              </a:tr>
              <a:tr h="468310">
                <a:tc>
                  <a:txBody>
                    <a:bodyPr/>
                    <a:lstStyle/>
                    <a:p>
                      <a:pPr algn="just"/>
                      <a:r>
                        <a:rPr lang="es-NI" dirty="0"/>
                        <a:t>Nivel: 3 Aplicar</a:t>
                      </a:r>
                    </a:p>
                  </a:txBody>
                  <a:tcPr/>
                </a:tc>
                <a:tc>
                  <a:txBody>
                    <a:bodyPr/>
                    <a:lstStyle/>
                    <a:p>
                      <a:pPr algn="just"/>
                      <a:r>
                        <a:rPr lang="es-NI" dirty="0"/>
                        <a:t> Llevar a cabo o utilizar un procedimiento durante el desarrollo de una representación o de una implementación.</a:t>
                      </a:r>
                    </a:p>
                  </a:txBody>
                  <a:tcPr/>
                </a:tc>
                <a:tc>
                  <a:txBody>
                    <a:bodyPr/>
                    <a:lstStyle/>
                    <a:p>
                      <a:pPr algn="just"/>
                      <a:r>
                        <a:rPr lang="es-NI" dirty="0"/>
                        <a:t> Calcular, cambiar, comprobar, aplicar, computar, contrastar, construir, convertir, demostrar, desarrollar, dibujar, dramatizar, ejemplificar.</a:t>
                      </a:r>
                    </a:p>
                  </a:txBody>
                  <a:tcPr/>
                </a:tc>
                <a:extLst>
                  <a:ext uri="{0D108BD9-81ED-4DB2-BD59-A6C34878D82A}">
                    <a16:rowId xmlns:a16="http://schemas.microsoft.com/office/drawing/2014/main" val="180980342"/>
                  </a:ext>
                </a:extLst>
              </a:tr>
            </a:tbl>
          </a:graphicData>
        </a:graphic>
      </p:graphicFrame>
      <p:sp>
        <p:nvSpPr>
          <p:cNvPr id="4" name="Marcador de fecha 3">
            <a:extLst>
              <a:ext uri="{FF2B5EF4-FFF2-40B4-BE49-F238E27FC236}">
                <a16:creationId xmlns:a16="http://schemas.microsoft.com/office/drawing/2014/main" id="{239A3241-7614-42AC-82BF-6CE8BC04029F}"/>
              </a:ext>
            </a:extLst>
          </p:cNvPr>
          <p:cNvSpPr>
            <a:spLocks noGrp="1"/>
          </p:cNvSpPr>
          <p:nvPr>
            <p:ph type="dt" sz="half" idx="10"/>
          </p:nvPr>
        </p:nvSpPr>
        <p:spPr/>
        <p:txBody>
          <a:bodyPr/>
          <a:lstStyle/>
          <a:p>
            <a:fld id="{82C87F33-8BC1-4251-B298-44C71F90B17A}" type="datetime1">
              <a:rPr lang="en-US" smtClean="0"/>
              <a:t>10/21/2019</a:t>
            </a:fld>
            <a:endParaRPr lang="es-NI" dirty="0"/>
          </a:p>
        </p:txBody>
      </p:sp>
      <p:sp>
        <p:nvSpPr>
          <p:cNvPr id="5" name="Marcador de número de diapositiva 4">
            <a:extLst>
              <a:ext uri="{FF2B5EF4-FFF2-40B4-BE49-F238E27FC236}">
                <a16:creationId xmlns:a16="http://schemas.microsoft.com/office/drawing/2014/main" id="{F22B18D6-5A27-4E0B-B0D4-C820209635C8}"/>
              </a:ext>
            </a:extLst>
          </p:cNvPr>
          <p:cNvSpPr>
            <a:spLocks noGrp="1"/>
          </p:cNvSpPr>
          <p:nvPr>
            <p:ph type="sldNum" sz="quarter" idx="12"/>
          </p:nvPr>
        </p:nvSpPr>
        <p:spPr/>
        <p:txBody>
          <a:bodyPr/>
          <a:lstStyle/>
          <a:p>
            <a:fld id="{16E415FD-9E47-4847-B618-5821271C3E49}" type="slidenum">
              <a:rPr lang="es-NI" smtClean="0"/>
              <a:t>5</a:t>
            </a:fld>
            <a:endParaRPr lang="es-NI"/>
          </a:p>
        </p:txBody>
      </p:sp>
    </p:spTree>
    <p:extLst>
      <p:ext uri="{BB962C8B-B14F-4D97-AF65-F5344CB8AC3E}">
        <p14:creationId xmlns:p14="http://schemas.microsoft.com/office/powerpoint/2010/main" val="3330405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4FAA3A-B685-4A5E-880F-378F1F267CB2}"/>
              </a:ext>
            </a:extLst>
          </p:cNvPr>
          <p:cNvSpPr>
            <a:spLocks noGrp="1"/>
          </p:cNvSpPr>
          <p:nvPr>
            <p:ph type="title"/>
          </p:nvPr>
        </p:nvSpPr>
        <p:spPr>
          <a:xfrm>
            <a:off x="1230489" y="185562"/>
            <a:ext cx="7284860" cy="578380"/>
          </a:xfrm>
        </p:spPr>
        <p:txBody>
          <a:bodyPr/>
          <a:lstStyle/>
          <a:p>
            <a:r>
              <a:rPr lang="es-NI" sz="2800" dirty="0"/>
              <a:t>Taxonomía de Bloom en el diseño de objetivos</a:t>
            </a:r>
          </a:p>
        </p:txBody>
      </p:sp>
      <p:graphicFrame>
        <p:nvGraphicFramePr>
          <p:cNvPr id="6" name="Tabla 6">
            <a:extLst>
              <a:ext uri="{FF2B5EF4-FFF2-40B4-BE49-F238E27FC236}">
                <a16:creationId xmlns:a16="http://schemas.microsoft.com/office/drawing/2014/main" id="{B2298383-8A59-4D4D-91B1-C494EA9C6A00}"/>
              </a:ext>
            </a:extLst>
          </p:cNvPr>
          <p:cNvGraphicFramePr>
            <a:graphicFrameLocks noGrp="1"/>
          </p:cNvGraphicFramePr>
          <p:nvPr>
            <p:ph idx="1"/>
            <p:extLst>
              <p:ext uri="{D42A27DB-BD31-4B8C-83A1-F6EECF244321}">
                <p14:modId xmlns:p14="http://schemas.microsoft.com/office/powerpoint/2010/main" val="3347228827"/>
              </p:ext>
            </p:extLst>
          </p:nvPr>
        </p:nvGraphicFramePr>
        <p:xfrm>
          <a:off x="628650" y="880533"/>
          <a:ext cx="8266994" cy="5459307"/>
        </p:xfrm>
        <a:graphic>
          <a:graphicData uri="http://schemas.openxmlformats.org/drawingml/2006/table">
            <a:tbl>
              <a:tblPr firstRow="1" bandRow="1">
                <a:tableStyleId>{5C22544A-7EE6-4342-B048-85BDC9FD1C3A}</a:tableStyleId>
              </a:tblPr>
              <a:tblGrid>
                <a:gridCol w="1455489">
                  <a:extLst>
                    <a:ext uri="{9D8B030D-6E8A-4147-A177-3AD203B41FA5}">
                      <a16:colId xmlns:a16="http://schemas.microsoft.com/office/drawing/2014/main" val="2242734401"/>
                    </a:ext>
                  </a:extLst>
                </a:gridCol>
                <a:gridCol w="3561804">
                  <a:extLst>
                    <a:ext uri="{9D8B030D-6E8A-4147-A177-3AD203B41FA5}">
                      <a16:colId xmlns:a16="http://schemas.microsoft.com/office/drawing/2014/main" val="2073366962"/>
                    </a:ext>
                  </a:extLst>
                </a:gridCol>
                <a:gridCol w="3249701">
                  <a:extLst>
                    <a:ext uri="{9D8B030D-6E8A-4147-A177-3AD203B41FA5}">
                      <a16:colId xmlns:a16="http://schemas.microsoft.com/office/drawing/2014/main" val="862622995"/>
                    </a:ext>
                  </a:extLst>
                </a:gridCol>
              </a:tblGrid>
              <a:tr h="743946">
                <a:tc>
                  <a:txBody>
                    <a:bodyPr/>
                    <a:lstStyle/>
                    <a:p>
                      <a:pPr algn="ctr"/>
                      <a:r>
                        <a:rPr lang="es-NI" dirty="0"/>
                        <a:t>Nivel</a:t>
                      </a:r>
                    </a:p>
                  </a:txBody>
                  <a:tcPr/>
                </a:tc>
                <a:tc>
                  <a:txBody>
                    <a:bodyPr/>
                    <a:lstStyle/>
                    <a:p>
                      <a:pPr algn="ctr"/>
                      <a:r>
                        <a:rPr lang="es-NI" dirty="0"/>
                        <a:t>¿ A qué se refiere?</a:t>
                      </a:r>
                    </a:p>
                  </a:txBody>
                  <a:tcPr/>
                </a:tc>
                <a:tc>
                  <a:txBody>
                    <a:bodyPr/>
                    <a:lstStyle/>
                    <a:p>
                      <a:pPr algn="ctr"/>
                      <a:r>
                        <a:rPr lang="es-NI" dirty="0"/>
                        <a:t>Verbos que se pueden aplicar</a:t>
                      </a:r>
                    </a:p>
                  </a:txBody>
                  <a:tcPr/>
                </a:tc>
                <a:extLst>
                  <a:ext uri="{0D108BD9-81ED-4DB2-BD59-A6C34878D82A}">
                    <a16:rowId xmlns:a16="http://schemas.microsoft.com/office/drawing/2014/main" val="3247527976"/>
                  </a:ext>
                </a:extLst>
              </a:tr>
              <a:tr h="2044410">
                <a:tc>
                  <a:txBody>
                    <a:bodyPr/>
                    <a:lstStyle/>
                    <a:p>
                      <a:r>
                        <a:rPr lang="es-NI" dirty="0"/>
                        <a:t>Nivel: 4 Analizar</a:t>
                      </a:r>
                    </a:p>
                  </a:txBody>
                  <a:tcPr/>
                </a:tc>
                <a:tc>
                  <a:txBody>
                    <a:bodyPr/>
                    <a:lstStyle/>
                    <a:p>
                      <a:r>
                        <a:rPr lang="es-NI" dirty="0"/>
                        <a:t>Descomponer en partes materiales o conceptuales y determinar cómo estas se relacionan o se interrelacionan, entre sí, con una estructura completa, o con un propósito determinado.</a:t>
                      </a:r>
                    </a:p>
                  </a:txBody>
                  <a:tcPr/>
                </a:tc>
                <a:tc>
                  <a:txBody>
                    <a:bodyPr/>
                    <a:lstStyle/>
                    <a:p>
                      <a:r>
                        <a:rPr lang="es-NI" dirty="0"/>
                        <a:t>Asociar, asumir, calcular, categorizar, analizar, clasificar, comparar, componer, concluir, contrastar, cuestionar, criticar, descubrir.</a:t>
                      </a:r>
                    </a:p>
                  </a:txBody>
                  <a:tcPr/>
                </a:tc>
                <a:extLst>
                  <a:ext uri="{0D108BD9-81ED-4DB2-BD59-A6C34878D82A}">
                    <a16:rowId xmlns:a16="http://schemas.microsoft.com/office/drawing/2014/main" val="2957524796"/>
                  </a:ext>
                </a:extLst>
              </a:tr>
              <a:tr h="1207911">
                <a:tc>
                  <a:txBody>
                    <a:bodyPr/>
                    <a:lstStyle/>
                    <a:p>
                      <a:r>
                        <a:rPr lang="es-NI" dirty="0"/>
                        <a:t>Nivel: 5 Evaluar</a:t>
                      </a:r>
                    </a:p>
                  </a:txBody>
                  <a:tcPr/>
                </a:tc>
                <a:tc>
                  <a:txBody>
                    <a:bodyPr/>
                    <a:lstStyle/>
                    <a:p>
                      <a:r>
                        <a:rPr lang="es-NI" dirty="0"/>
                        <a:t>Hacer juicios en base a criterios y estándares utilizando la comprobación y la crítica.</a:t>
                      </a:r>
                    </a:p>
                  </a:txBody>
                  <a:tcPr/>
                </a:tc>
                <a:tc>
                  <a:txBody>
                    <a:bodyPr/>
                    <a:lstStyle/>
                    <a:p>
                      <a:r>
                        <a:rPr lang="es-NI" dirty="0"/>
                        <a:t>Medir, evaluar, opinar, premiar, debatir, comparar, percibir, probar, juzgar, justificar, valorar, defender, apoyar.</a:t>
                      </a:r>
                    </a:p>
                  </a:txBody>
                  <a:tcPr/>
                </a:tc>
                <a:extLst>
                  <a:ext uri="{0D108BD9-81ED-4DB2-BD59-A6C34878D82A}">
                    <a16:rowId xmlns:a16="http://schemas.microsoft.com/office/drawing/2014/main" val="182454295"/>
                  </a:ext>
                </a:extLst>
              </a:tr>
              <a:tr h="431016">
                <a:tc>
                  <a:txBody>
                    <a:bodyPr/>
                    <a:lstStyle/>
                    <a:p>
                      <a:r>
                        <a:rPr lang="es-NI" dirty="0"/>
                        <a:t>Nivel: 6 Crear</a:t>
                      </a:r>
                    </a:p>
                  </a:txBody>
                  <a:tcPr/>
                </a:tc>
                <a:tc>
                  <a:txBody>
                    <a:bodyPr/>
                    <a:lstStyle/>
                    <a:p>
                      <a:r>
                        <a:rPr lang="es-NI" dirty="0"/>
                        <a:t>Juntar los elementos para formar un todo coherente y funcional; generar, planear o producir para reorganizar elementos en un nuevo patrón o escritura</a:t>
                      </a:r>
                    </a:p>
                  </a:txBody>
                  <a:tcPr/>
                </a:tc>
                <a:tc>
                  <a:txBody>
                    <a:bodyPr/>
                    <a:lstStyle/>
                    <a:p>
                      <a:r>
                        <a:rPr lang="es-NI" dirty="0"/>
                        <a:t>Adaptar, añadir, construir, cambiar, diseñar, originar, modelar, proponer, visualizar, descubrir, crear, desarrollar, simplificar.</a:t>
                      </a:r>
                    </a:p>
                  </a:txBody>
                  <a:tcPr/>
                </a:tc>
                <a:extLst>
                  <a:ext uri="{0D108BD9-81ED-4DB2-BD59-A6C34878D82A}">
                    <a16:rowId xmlns:a16="http://schemas.microsoft.com/office/drawing/2014/main" val="159758702"/>
                  </a:ext>
                </a:extLst>
              </a:tr>
            </a:tbl>
          </a:graphicData>
        </a:graphic>
      </p:graphicFrame>
      <p:sp>
        <p:nvSpPr>
          <p:cNvPr id="4" name="Marcador de fecha 3">
            <a:extLst>
              <a:ext uri="{FF2B5EF4-FFF2-40B4-BE49-F238E27FC236}">
                <a16:creationId xmlns:a16="http://schemas.microsoft.com/office/drawing/2014/main" id="{30CB0F43-EFFD-407D-92B7-FAE1B7F11B56}"/>
              </a:ext>
            </a:extLst>
          </p:cNvPr>
          <p:cNvSpPr>
            <a:spLocks noGrp="1"/>
          </p:cNvSpPr>
          <p:nvPr>
            <p:ph type="dt" sz="half" idx="10"/>
          </p:nvPr>
        </p:nvSpPr>
        <p:spPr/>
        <p:txBody>
          <a:bodyPr/>
          <a:lstStyle/>
          <a:p>
            <a:fld id="{82C87F33-8BC1-4251-B298-44C71F90B17A}" type="datetime1">
              <a:rPr lang="en-US" smtClean="0"/>
              <a:t>10/21/2019</a:t>
            </a:fld>
            <a:endParaRPr lang="es-NI"/>
          </a:p>
        </p:txBody>
      </p:sp>
      <p:sp>
        <p:nvSpPr>
          <p:cNvPr id="5" name="Marcador de número de diapositiva 4">
            <a:extLst>
              <a:ext uri="{FF2B5EF4-FFF2-40B4-BE49-F238E27FC236}">
                <a16:creationId xmlns:a16="http://schemas.microsoft.com/office/drawing/2014/main" id="{F02CB6DF-EA43-40C0-B080-66A1C882C072}"/>
              </a:ext>
            </a:extLst>
          </p:cNvPr>
          <p:cNvSpPr>
            <a:spLocks noGrp="1"/>
          </p:cNvSpPr>
          <p:nvPr>
            <p:ph type="sldNum" sz="quarter" idx="12"/>
          </p:nvPr>
        </p:nvSpPr>
        <p:spPr/>
        <p:txBody>
          <a:bodyPr/>
          <a:lstStyle/>
          <a:p>
            <a:fld id="{16E415FD-9E47-4847-B618-5821271C3E49}" type="slidenum">
              <a:rPr lang="es-NI" smtClean="0"/>
              <a:t>6</a:t>
            </a:fld>
            <a:endParaRPr lang="es-NI"/>
          </a:p>
        </p:txBody>
      </p:sp>
    </p:spTree>
    <p:extLst>
      <p:ext uri="{BB962C8B-B14F-4D97-AF65-F5344CB8AC3E}">
        <p14:creationId xmlns:p14="http://schemas.microsoft.com/office/powerpoint/2010/main" val="3989392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DF593-2CDD-4606-903D-BD09B7192C08}"/>
              </a:ext>
            </a:extLst>
          </p:cNvPr>
          <p:cNvSpPr>
            <a:spLocks noGrp="1"/>
          </p:cNvSpPr>
          <p:nvPr>
            <p:ph type="title"/>
          </p:nvPr>
        </p:nvSpPr>
        <p:spPr>
          <a:xfrm>
            <a:off x="628650" y="365126"/>
            <a:ext cx="7886700" cy="1325563"/>
          </a:xfrm>
          <a:prstGeom prst="rect">
            <a:avLst/>
          </a:prstGeom>
        </p:spPr>
        <p:txBody>
          <a:bodyPr>
            <a:normAutofit/>
          </a:bodyPr>
          <a:lstStyle/>
          <a:p>
            <a:pPr>
              <a:lnSpc>
                <a:spcPct val="90000"/>
              </a:lnSpc>
            </a:pPr>
            <a:r>
              <a:rPr lang="es-NI" sz="4100" dirty="0"/>
              <a:t>¿Qué verbos emplear para diseñar objetivos generales?</a:t>
            </a:r>
          </a:p>
        </p:txBody>
      </p:sp>
      <p:sp>
        <p:nvSpPr>
          <p:cNvPr id="4" name="Marcador de fecha 3">
            <a:extLst>
              <a:ext uri="{FF2B5EF4-FFF2-40B4-BE49-F238E27FC236}">
                <a16:creationId xmlns:a16="http://schemas.microsoft.com/office/drawing/2014/main" id="{28962F50-78B0-4C1C-B231-2F6200767741}"/>
              </a:ext>
            </a:extLst>
          </p:cNvPr>
          <p:cNvSpPr>
            <a:spLocks noGrp="1"/>
          </p:cNvSpPr>
          <p:nvPr>
            <p:ph type="dt" sz="half" idx="10"/>
          </p:nvPr>
        </p:nvSpPr>
        <p:spPr>
          <a:xfrm>
            <a:off x="628650" y="6356351"/>
            <a:ext cx="2057400" cy="365125"/>
          </a:xfrm>
          <a:prstGeom prst="rect">
            <a:avLst/>
          </a:prstGeom>
        </p:spPr>
        <p:txBody>
          <a:bodyPr>
            <a:normAutofit/>
          </a:bodyPr>
          <a:lstStyle/>
          <a:p>
            <a:pPr>
              <a:lnSpc>
                <a:spcPct val="90000"/>
              </a:lnSpc>
              <a:spcAft>
                <a:spcPts val="600"/>
              </a:spcAft>
            </a:pPr>
            <a:fld id="{82C87F33-8BC1-4251-B298-44C71F90B17A}" type="datetime1">
              <a:rPr lang="en-US" smtClean="0"/>
              <a:pPr>
                <a:lnSpc>
                  <a:spcPct val="90000"/>
                </a:lnSpc>
                <a:spcAft>
                  <a:spcPts val="600"/>
                </a:spcAft>
              </a:pPr>
              <a:t>10/21/2019</a:t>
            </a:fld>
            <a:endParaRPr lang="es-NI"/>
          </a:p>
        </p:txBody>
      </p:sp>
      <p:sp>
        <p:nvSpPr>
          <p:cNvPr id="5" name="Marcador de número de diapositiva 4">
            <a:extLst>
              <a:ext uri="{FF2B5EF4-FFF2-40B4-BE49-F238E27FC236}">
                <a16:creationId xmlns:a16="http://schemas.microsoft.com/office/drawing/2014/main" id="{D423F04B-A190-46BC-9B29-C441197B0590}"/>
              </a:ext>
            </a:extLst>
          </p:cNvPr>
          <p:cNvSpPr>
            <a:spLocks noGrp="1"/>
          </p:cNvSpPr>
          <p:nvPr>
            <p:ph type="sldNum" sz="quarter" idx="12"/>
          </p:nvPr>
        </p:nvSpPr>
        <p:spPr>
          <a:xfrm>
            <a:off x="6457950" y="6356351"/>
            <a:ext cx="2057400" cy="365125"/>
          </a:xfrm>
          <a:prstGeom prst="rect">
            <a:avLst/>
          </a:prstGeom>
        </p:spPr>
        <p:txBody>
          <a:bodyPr>
            <a:normAutofit/>
          </a:bodyPr>
          <a:lstStyle/>
          <a:p>
            <a:pPr>
              <a:lnSpc>
                <a:spcPct val="90000"/>
              </a:lnSpc>
              <a:spcAft>
                <a:spcPts val="600"/>
              </a:spcAft>
            </a:pPr>
            <a:fld id="{16E415FD-9E47-4847-B618-5821271C3E49}" type="slidenum">
              <a:rPr lang="es-NI" smtClean="0"/>
              <a:pPr>
                <a:lnSpc>
                  <a:spcPct val="90000"/>
                </a:lnSpc>
                <a:spcAft>
                  <a:spcPts val="600"/>
                </a:spcAft>
              </a:pPr>
              <a:t>7</a:t>
            </a:fld>
            <a:endParaRPr lang="es-NI"/>
          </a:p>
        </p:txBody>
      </p:sp>
      <p:graphicFrame>
        <p:nvGraphicFramePr>
          <p:cNvPr id="7" name="Marcador de contenido 2">
            <a:extLst>
              <a:ext uri="{FF2B5EF4-FFF2-40B4-BE49-F238E27FC236}">
                <a16:creationId xmlns:a16="http://schemas.microsoft.com/office/drawing/2014/main" id="{AA291FE6-2683-4C04-8859-DE2E9CAA7A98}"/>
              </a:ext>
            </a:extLst>
          </p:cNvPr>
          <p:cNvGraphicFramePr>
            <a:graphicFrameLocks noGrp="1"/>
          </p:cNvGraphicFramePr>
          <p:nvPr>
            <p:ph idx="1"/>
            <p:extLst>
              <p:ext uri="{D42A27DB-BD31-4B8C-83A1-F6EECF244321}">
                <p14:modId xmlns:p14="http://schemas.microsoft.com/office/powerpoint/2010/main" val="86375030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732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31DF66-ECC9-4FE9-9D10-757680A9A4FE}"/>
              </a:ext>
            </a:extLst>
          </p:cNvPr>
          <p:cNvSpPr>
            <a:spLocks noGrp="1"/>
          </p:cNvSpPr>
          <p:nvPr>
            <p:ph type="title"/>
          </p:nvPr>
        </p:nvSpPr>
        <p:spPr>
          <a:xfrm>
            <a:off x="628650" y="365126"/>
            <a:ext cx="7886700" cy="1325563"/>
          </a:xfrm>
          <a:prstGeom prst="rect">
            <a:avLst/>
          </a:prstGeom>
        </p:spPr>
        <p:txBody>
          <a:bodyPr>
            <a:normAutofit/>
          </a:bodyPr>
          <a:lstStyle/>
          <a:p>
            <a:pPr>
              <a:lnSpc>
                <a:spcPct val="90000"/>
              </a:lnSpc>
            </a:pPr>
            <a:r>
              <a:rPr lang="es-NI" sz="4100" dirty="0"/>
              <a:t>¿Qué verbos emplear para diseñar objetivos específicos?</a:t>
            </a:r>
          </a:p>
        </p:txBody>
      </p:sp>
      <p:sp>
        <p:nvSpPr>
          <p:cNvPr id="4" name="Marcador de fecha 3">
            <a:extLst>
              <a:ext uri="{FF2B5EF4-FFF2-40B4-BE49-F238E27FC236}">
                <a16:creationId xmlns:a16="http://schemas.microsoft.com/office/drawing/2014/main" id="{A8E6448D-4D27-4944-A5C5-C1900EF60064}"/>
              </a:ext>
            </a:extLst>
          </p:cNvPr>
          <p:cNvSpPr>
            <a:spLocks noGrp="1"/>
          </p:cNvSpPr>
          <p:nvPr>
            <p:ph type="dt" sz="half" idx="10"/>
          </p:nvPr>
        </p:nvSpPr>
        <p:spPr>
          <a:xfrm>
            <a:off x="628650" y="6356351"/>
            <a:ext cx="2057400" cy="365125"/>
          </a:xfrm>
          <a:prstGeom prst="rect">
            <a:avLst/>
          </a:prstGeom>
        </p:spPr>
        <p:txBody>
          <a:bodyPr>
            <a:normAutofit/>
          </a:bodyPr>
          <a:lstStyle/>
          <a:p>
            <a:pPr>
              <a:lnSpc>
                <a:spcPct val="90000"/>
              </a:lnSpc>
              <a:spcAft>
                <a:spcPts val="600"/>
              </a:spcAft>
            </a:pPr>
            <a:fld id="{82C87F33-8BC1-4251-B298-44C71F90B17A}" type="datetime1">
              <a:rPr lang="en-US" smtClean="0"/>
              <a:pPr>
                <a:lnSpc>
                  <a:spcPct val="90000"/>
                </a:lnSpc>
                <a:spcAft>
                  <a:spcPts val="600"/>
                </a:spcAft>
              </a:pPr>
              <a:t>10/21/2019</a:t>
            </a:fld>
            <a:endParaRPr lang="es-NI"/>
          </a:p>
        </p:txBody>
      </p:sp>
      <p:sp>
        <p:nvSpPr>
          <p:cNvPr id="5" name="Marcador de número de diapositiva 4">
            <a:extLst>
              <a:ext uri="{FF2B5EF4-FFF2-40B4-BE49-F238E27FC236}">
                <a16:creationId xmlns:a16="http://schemas.microsoft.com/office/drawing/2014/main" id="{B5863EDB-2E2A-4A89-9453-8E6E05D7FA4B}"/>
              </a:ext>
            </a:extLst>
          </p:cNvPr>
          <p:cNvSpPr>
            <a:spLocks noGrp="1"/>
          </p:cNvSpPr>
          <p:nvPr>
            <p:ph type="sldNum" sz="quarter" idx="12"/>
          </p:nvPr>
        </p:nvSpPr>
        <p:spPr>
          <a:xfrm>
            <a:off x="6457950" y="6356351"/>
            <a:ext cx="2057400" cy="365125"/>
          </a:xfrm>
          <a:prstGeom prst="rect">
            <a:avLst/>
          </a:prstGeom>
        </p:spPr>
        <p:txBody>
          <a:bodyPr>
            <a:normAutofit/>
          </a:bodyPr>
          <a:lstStyle/>
          <a:p>
            <a:pPr>
              <a:lnSpc>
                <a:spcPct val="90000"/>
              </a:lnSpc>
              <a:spcAft>
                <a:spcPts val="600"/>
              </a:spcAft>
            </a:pPr>
            <a:fld id="{16E415FD-9E47-4847-B618-5821271C3E49}" type="slidenum">
              <a:rPr lang="es-NI" smtClean="0"/>
              <a:pPr>
                <a:lnSpc>
                  <a:spcPct val="90000"/>
                </a:lnSpc>
                <a:spcAft>
                  <a:spcPts val="600"/>
                </a:spcAft>
              </a:pPr>
              <a:t>8</a:t>
            </a:fld>
            <a:endParaRPr lang="es-NI"/>
          </a:p>
        </p:txBody>
      </p:sp>
      <p:graphicFrame>
        <p:nvGraphicFramePr>
          <p:cNvPr id="7" name="Marcador de contenido 2">
            <a:extLst>
              <a:ext uri="{FF2B5EF4-FFF2-40B4-BE49-F238E27FC236}">
                <a16:creationId xmlns:a16="http://schemas.microsoft.com/office/drawing/2014/main" id="{FC7D40F1-8785-4357-946A-9685B869FD0C}"/>
              </a:ext>
            </a:extLst>
          </p:cNvPr>
          <p:cNvGraphicFramePr>
            <a:graphicFrameLocks noGrp="1"/>
          </p:cNvGraphicFramePr>
          <p:nvPr>
            <p:ph idx="1"/>
            <p:extLst>
              <p:ext uri="{D42A27DB-BD31-4B8C-83A1-F6EECF244321}">
                <p14:modId xmlns:p14="http://schemas.microsoft.com/office/powerpoint/2010/main" val="31696463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9736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84A15F-F225-4EBB-9D30-38033AB90A4B}"/>
              </a:ext>
            </a:extLst>
          </p:cNvPr>
          <p:cNvSpPr>
            <a:spLocks noGrp="1"/>
          </p:cNvSpPr>
          <p:nvPr>
            <p:ph type="title"/>
          </p:nvPr>
        </p:nvSpPr>
        <p:spPr>
          <a:xfrm>
            <a:off x="628650" y="357721"/>
            <a:ext cx="7886700" cy="1181452"/>
          </a:xfrm>
        </p:spPr>
        <p:txBody>
          <a:bodyPr/>
          <a:lstStyle/>
          <a:p>
            <a:r>
              <a:rPr lang="es-NI" sz="3600" dirty="0"/>
              <a:t>¿Cómo redactar objetivos de aprendizaje?</a:t>
            </a:r>
          </a:p>
        </p:txBody>
      </p:sp>
      <p:sp>
        <p:nvSpPr>
          <p:cNvPr id="3" name="Marcador de contenido 2">
            <a:extLst>
              <a:ext uri="{FF2B5EF4-FFF2-40B4-BE49-F238E27FC236}">
                <a16:creationId xmlns:a16="http://schemas.microsoft.com/office/drawing/2014/main" id="{417C1CF0-48DE-4BAE-89AC-D6C27AEDDB8A}"/>
              </a:ext>
            </a:extLst>
          </p:cNvPr>
          <p:cNvSpPr>
            <a:spLocks noGrp="1"/>
          </p:cNvSpPr>
          <p:nvPr>
            <p:ph idx="1"/>
          </p:nvPr>
        </p:nvSpPr>
        <p:spPr/>
        <p:txBody>
          <a:bodyPr/>
          <a:lstStyle/>
          <a:p>
            <a:pPr marL="0" indent="0">
              <a:buNone/>
            </a:pPr>
            <a:r>
              <a:rPr lang="es-NI" sz="2000" dirty="0"/>
              <a:t>Es necesario señalar que no existe una sola fórmula para redactar objetivos de aprendizaje, de igual manera, es preciso practicar de manera constante, ya que la experiencia nos dará confianza y pericia.</a:t>
            </a:r>
          </a:p>
          <a:p>
            <a:pPr marL="0" indent="0">
              <a:buNone/>
            </a:pPr>
            <a:r>
              <a:rPr lang="es-NI" sz="2000" dirty="0"/>
              <a:t>He aquí una síntesis de los elementos que, acorde a los expertos, debemos considerar para redactar objetivos de aprendizaje:</a:t>
            </a:r>
          </a:p>
          <a:p>
            <a:pPr marL="0" indent="0">
              <a:buNone/>
            </a:pPr>
            <a:endParaRPr lang="es-NI" sz="2000" dirty="0"/>
          </a:p>
          <a:p>
            <a:pPr marL="285750" indent="-285750">
              <a:buFont typeface="Arial" panose="020B0604020202020204" pitchFamily="34" charset="0"/>
              <a:buChar char="•"/>
            </a:pPr>
            <a:r>
              <a:rPr lang="es-NI" sz="2000" dirty="0"/>
              <a:t>Verbo : Nos indica la acción; debe ser medible y claro.</a:t>
            </a:r>
          </a:p>
          <a:p>
            <a:pPr marL="285750" indent="-285750">
              <a:buFont typeface="Arial" panose="020B0604020202020204" pitchFamily="34" charset="0"/>
              <a:buChar char="•"/>
            </a:pPr>
            <a:r>
              <a:rPr lang="es-NI" sz="2000" dirty="0"/>
              <a:t>Contenido o tema: Se refiere al área de logro.</a:t>
            </a:r>
          </a:p>
          <a:p>
            <a:pPr marL="285750" indent="-285750">
              <a:buFont typeface="Arial" panose="020B0604020202020204" pitchFamily="34" charset="0"/>
              <a:buChar char="•"/>
            </a:pPr>
            <a:r>
              <a:rPr lang="es-NI" sz="2000" dirty="0"/>
              <a:t>Criterio: Es un indicador de logro, se plantea tomando en cuenta el nivel que deseamos que los alumnos o participantes alcancen.  </a:t>
            </a:r>
          </a:p>
          <a:p>
            <a:pPr marL="285750" indent="-285750">
              <a:buFont typeface="Arial" panose="020B0604020202020204" pitchFamily="34" charset="0"/>
              <a:buChar char="•"/>
            </a:pPr>
            <a:r>
              <a:rPr lang="es-NI" sz="2000" dirty="0"/>
              <a:t>Cómo: Señala, a través de qué, o mediante qué se va a alcanzar el objetivo.</a:t>
            </a:r>
          </a:p>
        </p:txBody>
      </p:sp>
      <p:sp>
        <p:nvSpPr>
          <p:cNvPr id="4" name="Marcador de fecha 3">
            <a:extLst>
              <a:ext uri="{FF2B5EF4-FFF2-40B4-BE49-F238E27FC236}">
                <a16:creationId xmlns:a16="http://schemas.microsoft.com/office/drawing/2014/main" id="{C7544BA5-1B6C-41A6-B5F0-D6D5DB562914}"/>
              </a:ext>
            </a:extLst>
          </p:cNvPr>
          <p:cNvSpPr>
            <a:spLocks noGrp="1"/>
          </p:cNvSpPr>
          <p:nvPr>
            <p:ph type="dt" sz="half" idx="10"/>
          </p:nvPr>
        </p:nvSpPr>
        <p:spPr/>
        <p:txBody>
          <a:bodyPr/>
          <a:lstStyle/>
          <a:p>
            <a:fld id="{82C87F33-8BC1-4251-B298-44C71F90B17A}" type="datetime1">
              <a:rPr lang="en-US" smtClean="0"/>
              <a:t>10/21/2019</a:t>
            </a:fld>
            <a:endParaRPr lang="es-NI"/>
          </a:p>
        </p:txBody>
      </p:sp>
      <p:sp>
        <p:nvSpPr>
          <p:cNvPr id="5" name="Marcador de número de diapositiva 4">
            <a:extLst>
              <a:ext uri="{FF2B5EF4-FFF2-40B4-BE49-F238E27FC236}">
                <a16:creationId xmlns:a16="http://schemas.microsoft.com/office/drawing/2014/main" id="{2AB388E4-216A-49A3-9EF6-9A24591BA0C4}"/>
              </a:ext>
            </a:extLst>
          </p:cNvPr>
          <p:cNvSpPr>
            <a:spLocks noGrp="1"/>
          </p:cNvSpPr>
          <p:nvPr>
            <p:ph type="sldNum" sz="quarter" idx="12"/>
          </p:nvPr>
        </p:nvSpPr>
        <p:spPr/>
        <p:txBody>
          <a:bodyPr/>
          <a:lstStyle/>
          <a:p>
            <a:fld id="{16E415FD-9E47-4847-B618-5821271C3E49}" type="slidenum">
              <a:rPr lang="es-NI" smtClean="0"/>
              <a:t>9</a:t>
            </a:fld>
            <a:endParaRPr lang="es-NI"/>
          </a:p>
        </p:txBody>
      </p:sp>
    </p:spTree>
    <p:extLst>
      <p:ext uri="{BB962C8B-B14F-4D97-AF65-F5344CB8AC3E}">
        <p14:creationId xmlns:p14="http://schemas.microsoft.com/office/powerpoint/2010/main" val="2154413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9292F9-9C51-4CD4-A6C3-071EE27D3E5C}"/>
              </a:ext>
            </a:extLst>
          </p:cNvPr>
          <p:cNvSpPr>
            <a:spLocks noGrp="1"/>
          </p:cNvSpPr>
          <p:nvPr>
            <p:ph type="title"/>
          </p:nvPr>
        </p:nvSpPr>
        <p:spPr>
          <a:xfrm>
            <a:off x="628650" y="322094"/>
            <a:ext cx="7886700" cy="613123"/>
          </a:xfrm>
        </p:spPr>
        <p:txBody>
          <a:bodyPr/>
          <a:lstStyle/>
          <a:p>
            <a:r>
              <a:rPr lang="es-NI" sz="2800" dirty="0"/>
              <a:t>Ejemplo: guía para redactar objetivos de aprendizaje</a:t>
            </a:r>
          </a:p>
        </p:txBody>
      </p:sp>
      <p:graphicFrame>
        <p:nvGraphicFramePr>
          <p:cNvPr id="6" name="Tabla 6">
            <a:extLst>
              <a:ext uri="{FF2B5EF4-FFF2-40B4-BE49-F238E27FC236}">
                <a16:creationId xmlns:a16="http://schemas.microsoft.com/office/drawing/2014/main" id="{F5B2B2BB-3F57-4F24-83CA-9EBDF0947809}"/>
              </a:ext>
            </a:extLst>
          </p:cNvPr>
          <p:cNvGraphicFramePr>
            <a:graphicFrameLocks noGrp="1"/>
          </p:cNvGraphicFramePr>
          <p:nvPr>
            <p:ph idx="1"/>
            <p:extLst>
              <p:ext uri="{D42A27DB-BD31-4B8C-83A1-F6EECF244321}">
                <p14:modId xmlns:p14="http://schemas.microsoft.com/office/powerpoint/2010/main" val="3224272138"/>
              </p:ext>
            </p:extLst>
          </p:nvPr>
        </p:nvGraphicFramePr>
        <p:xfrm>
          <a:off x="474133" y="1374069"/>
          <a:ext cx="8229599" cy="4853805"/>
        </p:xfrm>
        <a:graphic>
          <a:graphicData uri="http://schemas.openxmlformats.org/drawingml/2006/table">
            <a:tbl>
              <a:tblPr firstRow="1" bandRow="1">
                <a:tableStyleId>{00A15C55-8517-42AA-B614-E9B94910E393}</a:tableStyleId>
              </a:tblPr>
              <a:tblGrid>
                <a:gridCol w="1309511">
                  <a:extLst>
                    <a:ext uri="{9D8B030D-6E8A-4147-A177-3AD203B41FA5}">
                      <a16:colId xmlns:a16="http://schemas.microsoft.com/office/drawing/2014/main" val="3434179205"/>
                    </a:ext>
                  </a:extLst>
                </a:gridCol>
                <a:gridCol w="2805288">
                  <a:extLst>
                    <a:ext uri="{9D8B030D-6E8A-4147-A177-3AD203B41FA5}">
                      <a16:colId xmlns:a16="http://schemas.microsoft.com/office/drawing/2014/main" val="2478429162"/>
                    </a:ext>
                  </a:extLst>
                </a:gridCol>
                <a:gridCol w="2057400">
                  <a:extLst>
                    <a:ext uri="{9D8B030D-6E8A-4147-A177-3AD203B41FA5}">
                      <a16:colId xmlns:a16="http://schemas.microsoft.com/office/drawing/2014/main" val="1497329710"/>
                    </a:ext>
                  </a:extLst>
                </a:gridCol>
                <a:gridCol w="2057400">
                  <a:extLst>
                    <a:ext uri="{9D8B030D-6E8A-4147-A177-3AD203B41FA5}">
                      <a16:colId xmlns:a16="http://schemas.microsoft.com/office/drawing/2014/main" val="2569566514"/>
                    </a:ext>
                  </a:extLst>
                </a:gridCol>
              </a:tblGrid>
              <a:tr h="738498">
                <a:tc>
                  <a:txBody>
                    <a:bodyPr/>
                    <a:lstStyle/>
                    <a:p>
                      <a:pPr algn="ctr"/>
                      <a:r>
                        <a:rPr lang="es-NI" dirty="0"/>
                        <a:t>Verbo </a:t>
                      </a:r>
                    </a:p>
                    <a:p>
                      <a:pPr algn="ctr"/>
                      <a:r>
                        <a:rPr lang="es-NI" sz="1400" dirty="0"/>
                        <a:t>(acción)</a:t>
                      </a:r>
                    </a:p>
                  </a:txBody>
                  <a:tcPr/>
                </a:tc>
                <a:tc>
                  <a:txBody>
                    <a:bodyPr/>
                    <a:lstStyle/>
                    <a:p>
                      <a:pPr algn="ctr"/>
                      <a:r>
                        <a:rPr lang="es-NI" dirty="0"/>
                        <a:t>Contenido o tema </a:t>
                      </a:r>
                      <a:r>
                        <a:rPr lang="es-NI" sz="1400" dirty="0"/>
                        <a:t>(área de logro)</a:t>
                      </a:r>
                    </a:p>
                  </a:txBody>
                  <a:tcPr/>
                </a:tc>
                <a:tc>
                  <a:txBody>
                    <a:bodyPr/>
                    <a:lstStyle/>
                    <a:p>
                      <a:pPr algn="ctr"/>
                      <a:r>
                        <a:rPr lang="es-NI" dirty="0"/>
                        <a:t>Criterio</a:t>
                      </a:r>
                    </a:p>
                    <a:p>
                      <a:pPr algn="ctr"/>
                      <a:r>
                        <a:rPr lang="es-NI" sz="1400" dirty="0"/>
                        <a:t>(indicador de evaluación)</a:t>
                      </a:r>
                    </a:p>
                    <a:p>
                      <a:pPr algn="ctr"/>
                      <a:endParaRPr lang="es-NI" sz="1400" dirty="0"/>
                    </a:p>
                  </a:txBody>
                  <a:tcPr/>
                </a:tc>
                <a:tc>
                  <a:txBody>
                    <a:bodyPr/>
                    <a:lstStyle/>
                    <a:p>
                      <a:pPr algn="ctr"/>
                      <a:r>
                        <a:rPr lang="es-NI" dirty="0"/>
                        <a:t>Cómo</a:t>
                      </a:r>
                    </a:p>
                    <a:p>
                      <a:pPr algn="ctr"/>
                      <a:r>
                        <a:rPr lang="es-NI" sz="1400" dirty="0"/>
                        <a:t>(mediante qué)</a:t>
                      </a:r>
                    </a:p>
                    <a:p>
                      <a:pPr algn="ctr"/>
                      <a:r>
                        <a:rPr lang="es-NI" sz="1400" dirty="0"/>
                        <a:t>Instrumento de evaluación.</a:t>
                      </a:r>
                    </a:p>
                  </a:txBody>
                  <a:tcPr/>
                </a:tc>
                <a:extLst>
                  <a:ext uri="{0D108BD9-81ED-4DB2-BD59-A6C34878D82A}">
                    <a16:rowId xmlns:a16="http://schemas.microsoft.com/office/drawing/2014/main" val="1886925219"/>
                  </a:ext>
                </a:extLst>
              </a:tr>
              <a:tr h="1865680">
                <a:tc>
                  <a:txBody>
                    <a:bodyPr/>
                    <a:lstStyle/>
                    <a:p>
                      <a:r>
                        <a:rPr lang="es-NI" dirty="0"/>
                        <a:t>Compara</a:t>
                      </a:r>
                    </a:p>
                  </a:txBody>
                  <a:tcPr/>
                </a:tc>
                <a:tc>
                  <a:txBody>
                    <a:bodyPr/>
                    <a:lstStyle/>
                    <a:p>
                      <a:r>
                        <a:rPr lang="es-NI" dirty="0"/>
                        <a:t>Los aspectos positivos y negativos que trajeron los viajes de Colón a América</a:t>
                      </a:r>
                    </a:p>
                  </a:txBody>
                  <a:tcPr/>
                </a:tc>
                <a:tc>
                  <a:txBody>
                    <a:bodyPr/>
                    <a:lstStyle/>
                    <a:p>
                      <a:r>
                        <a:rPr lang="es-NI" dirty="0"/>
                        <a:t>con argumentos documentados</a:t>
                      </a:r>
                    </a:p>
                  </a:txBody>
                  <a:tcPr/>
                </a:tc>
                <a:tc>
                  <a:txBody>
                    <a:bodyPr/>
                    <a:lstStyle/>
                    <a:p>
                      <a:r>
                        <a:rPr lang="es-NI" dirty="0"/>
                        <a:t>mediante un debate</a:t>
                      </a:r>
                    </a:p>
                  </a:txBody>
                  <a:tcPr/>
                </a:tc>
                <a:extLst>
                  <a:ext uri="{0D108BD9-81ED-4DB2-BD59-A6C34878D82A}">
                    <a16:rowId xmlns:a16="http://schemas.microsoft.com/office/drawing/2014/main" val="3356433124"/>
                  </a:ext>
                </a:extLst>
              </a:tr>
              <a:tr h="816235">
                <a:tc>
                  <a:txBody>
                    <a:bodyPr/>
                    <a:lstStyle/>
                    <a:p>
                      <a:r>
                        <a:rPr lang="es-NI" dirty="0"/>
                        <a:t>Analiza</a:t>
                      </a:r>
                    </a:p>
                  </a:txBody>
                  <a:tcPr/>
                </a:tc>
                <a:tc>
                  <a:txBody>
                    <a:bodyPr/>
                    <a:lstStyle/>
                    <a:p>
                      <a:r>
                        <a:rPr lang="es-NI" dirty="0"/>
                        <a:t>La estructura de un texto instructivo</a:t>
                      </a:r>
                    </a:p>
                  </a:txBody>
                  <a:tcPr/>
                </a:tc>
                <a:tc>
                  <a:txBody>
                    <a:bodyPr/>
                    <a:lstStyle/>
                    <a:p>
                      <a:r>
                        <a:rPr lang="es-NI" dirty="0"/>
                        <a:t>con fluidez y disposición</a:t>
                      </a:r>
                    </a:p>
                  </a:txBody>
                  <a:tcPr/>
                </a:tc>
                <a:tc>
                  <a:txBody>
                    <a:bodyPr/>
                    <a:lstStyle/>
                    <a:p>
                      <a:r>
                        <a:rPr lang="es-NI" dirty="0"/>
                        <a:t>a través de una exposición</a:t>
                      </a:r>
                    </a:p>
                  </a:txBody>
                  <a:tcPr/>
                </a:tc>
                <a:extLst>
                  <a:ext uri="{0D108BD9-81ED-4DB2-BD59-A6C34878D82A}">
                    <a16:rowId xmlns:a16="http://schemas.microsoft.com/office/drawing/2014/main" val="766348765"/>
                  </a:ext>
                </a:extLst>
              </a:tr>
              <a:tr h="1166050">
                <a:tc>
                  <a:txBody>
                    <a:bodyPr/>
                    <a:lstStyle/>
                    <a:p>
                      <a:r>
                        <a:rPr lang="es-NI" dirty="0"/>
                        <a:t>Explica</a:t>
                      </a:r>
                    </a:p>
                  </a:txBody>
                  <a:tcPr/>
                </a:tc>
                <a:tc>
                  <a:txBody>
                    <a:bodyPr/>
                    <a:lstStyle/>
                    <a:p>
                      <a:r>
                        <a:rPr lang="es-NI" dirty="0"/>
                        <a:t>Las características y componentes del sistema solar </a:t>
                      </a:r>
                    </a:p>
                  </a:txBody>
                  <a:tcPr/>
                </a:tc>
                <a:tc>
                  <a:txBody>
                    <a:bodyPr/>
                    <a:lstStyle/>
                    <a:p>
                      <a:r>
                        <a:rPr lang="es-NI" dirty="0"/>
                        <a:t>con claridad</a:t>
                      </a:r>
                    </a:p>
                  </a:txBody>
                  <a:tcPr/>
                </a:tc>
                <a:tc>
                  <a:txBody>
                    <a:bodyPr/>
                    <a:lstStyle/>
                    <a:p>
                      <a:r>
                        <a:rPr lang="es-NI" dirty="0"/>
                        <a:t>mediante la presentación de una maqueta</a:t>
                      </a:r>
                    </a:p>
                  </a:txBody>
                  <a:tcPr/>
                </a:tc>
                <a:extLst>
                  <a:ext uri="{0D108BD9-81ED-4DB2-BD59-A6C34878D82A}">
                    <a16:rowId xmlns:a16="http://schemas.microsoft.com/office/drawing/2014/main" val="1913162143"/>
                  </a:ext>
                </a:extLst>
              </a:tr>
            </a:tbl>
          </a:graphicData>
        </a:graphic>
      </p:graphicFrame>
      <p:sp>
        <p:nvSpPr>
          <p:cNvPr id="4" name="Marcador de fecha 3">
            <a:extLst>
              <a:ext uri="{FF2B5EF4-FFF2-40B4-BE49-F238E27FC236}">
                <a16:creationId xmlns:a16="http://schemas.microsoft.com/office/drawing/2014/main" id="{05DC273F-6358-40EC-BB20-EDDA8EAF113B}"/>
              </a:ext>
            </a:extLst>
          </p:cNvPr>
          <p:cNvSpPr>
            <a:spLocks noGrp="1"/>
          </p:cNvSpPr>
          <p:nvPr>
            <p:ph type="dt" sz="half" idx="10"/>
          </p:nvPr>
        </p:nvSpPr>
        <p:spPr/>
        <p:txBody>
          <a:bodyPr/>
          <a:lstStyle/>
          <a:p>
            <a:fld id="{82C87F33-8BC1-4251-B298-44C71F90B17A}" type="datetime1">
              <a:rPr lang="en-US" smtClean="0"/>
              <a:t>10/21/2019</a:t>
            </a:fld>
            <a:endParaRPr lang="es-NI"/>
          </a:p>
        </p:txBody>
      </p:sp>
      <p:sp>
        <p:nvSpPr>
          <p:cNvPr id="5" name="Marcador de número de diapositiva 4">
            <a:extLst>
              <a:ext uri="{FF2B5EF4-FFF2-40B4-BE49-F238E27FC236}">
                <a16:creationId xmlns:a16="http://schemas.microsoft.com/office/drawing/2014/main" id="{46C355B9-07E0-411A-8F74-542BC70FD094}"/>
              </a:ext>
            </a:extLst>
          </p:cNvPr>
          <p:cNvSpPr>
            <a:spLocks noGrp="1"/>
          </p:cNvSpPr>
          <p:nvPr>
            <p:ph type="sldNum" sz="quarter" idx="12"/>
          </p:nvPr>
        </p:nvSpPr>
        <p:spPr/>
        <p:txBody>
          <a:bodyPr/>
          <a:lstStyle/>
          <a:p>
            <a:fld id="{16E415FD-9E47-4847-B618-5821271C3E49}" type="slidenum">
              <a:rPr lang="es-NI" smtClean="0"/>
              <a:t>10</a:t>
            </a:fld>
            <a:endParaRPr lang="es-NI"/>
          </a:p>
        </p:txBody>
      </p:sp>
    </p:spTree>
    <p:extLst>
      <p:ext uri="{BB962C8B-B14F-4D97-AF65-F5344CB8AC3E}">
        <p14:creationId xmlns:p14="http://schemas.microsoft.com/office/powerpoint/2010/main" val="102165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2C049E-1C5C-4932-970D-54DA0FF3D22B}"/>
              </a:ext>
            </a:extLst>
          </p:cNvPr>
          <p:cNvSpPr>
            <a:spLocks noGrp="1"/>
          </p:cNvSpPr>
          <p:nvPr>
            <p:ph type="title"/>
          </p:nvPr>
        </p:nvSpPr>
        <p:spPr>
          <a:xfrm>
            <a:off x="628650" y="207082"/>
            <a:ext cx="7465483" cy="797630"/>
          </a:xfrm>
        </p:spPr>
        <p:txBody>
          <a:bodyPr/>
          <a:lstStyle/>
          <a:p>
            <a:r>
              <a:rPr lang="es-NI" sz="4400" dirty="0"/>
              <a:t>Tipos de evaluación </a:t>
            </a:r>
            <a:br>
              <a:rPr lang="es-NI" sz="3600" dirty="0"/>
            </a:br>
            <a:endParaRPr lang="es-NI" sz="3600" dirty="0"/>
          </a:p>
        </p:txBody>
      </p:sp>
      <p:graphicFrame>
        <p:nvGraphicFramePr>
          <p:cNvPr id="4" name="Tabla 4">
            <a:extLst>
              <a:ext uri="{FF2B5EF4-FFF2-40B4-BE49-F238E27FC236}">
                <a16:creationId xmlns:a16="http://schemas.microsoft.com/office/drawing/2014/main" id="{6FEEB453-9CFD-4AAE-8D64-FC073267E6C1}"/>
              </a:ext>
            </a:extLst>
          </p:cNvPr>
          <p:cNvGraphicFramePr>
            <a:graphicFrameLocks noGrp="1"/>
          </p:cNvGraphicFramePr>
          <p:nvPr>
            <p:ph idx="1"/>
            <p:extLst>
              <p:ext uri="{D42A27DB-BD31-4B8C-83A1-F6EECF244321}">
                <p14:modId xmlns:p14="http://schemas.microsoft.com/office/powerpoint/2010/main" val="332653453"/>
              </p:ext>
            </p:extLst>
          </p:nvPr>
        </p:nvGraphicFramePr>
        <p:xfrm>
          <a:off x="628650" y="1154570"/>
          <a:ext cx="7886700" cy="5120640"/>
        </p:xfrm>
        <a:graphic>
          <a:graphicData uri="http://schemas.openxmlformats.org/drawingml/2006/table">
            <a:tbl>
              <a:tblPr firstRow="1" bandRow="1">
                <a:tableStyleId>{5C22544A-7EE6-4342-B048-85BDC9FD1C3A}</a:tableStyleId>
              </a:tblPr>
              <a:tblGrid>
                <a:gridCol w="1403350">
                  <a:extLst>
                    <a:ext uri="{9D8B030D-6E8A-4147-A177-3AD203B41FA5}">
                      <a16:colId xmlns:a16="http://schemas.microsoft.com/office/drawing/2014/main" val="130344376"/>
                    </a:ext>
                  </a:extLst>
                </a:gridCol>
                <a:gridCol w="2867378">
                  <a:extLst>
                    <a:ext uri="{9D8B030D-6E8A-4147-A177-3AD203B41FA5}">
                      <a16:colId xmlns:a16="http://schemas.microsoft.com/office/drawing/2014/main" val="4145081999"/>
                    </a:ext>
                  </a:extLst>
                </a:gridCol>
                <a:gridCol w="1794933">
                  <a:extLst>
                    <a:ext uri="{9D8B030D-6E8A-4147-A177-3AD203B41FA5}">
                      <a16:colId xmlns:a16="http://schemas.microsoft.com/office/drawing/2014/main" val="1291227947"/>
                    </a:ext>
                  </a:extLst>
                </a:gridCol>
                <a:gridCol w="1821039">
                  <a:extLst>
                    <a:ext uri="{9D8B030D-6E8A-4147-A177-3AD203B41FA5}">
                      <a16:colId xmlns:a16="http://schemas.microsoft.com/office/drawing/2014/main" val="2093329248"/>
                    </a:ext>
                  </a:extLst>
                </a:gridCol>
              </a:tblGrid>
              <a:tr h="370840">
                <a:tc>
                  <a:txBody>
                    <a:bodyPr/>
                    <a:lstStyle/>
                    <a:p>
                      <a:r>
                        <a:rPr lang="es-NI" dirty="0"/>
                        <a:t>Tipos de evaluación</a:t>
                      </a:r>
                    </a:p>
                  </a:txBody>
                  <a:tcPr/>
                </a:tc>
                <a:tc>
                  <a:txBody>
                    <a:bodyPr/>
                    <a:lstStyle/>
                    <a:p>
                      <a:r>
                        <a:rPr lang="es-NI" dirty="0"/>
                        <a:t>Concepto de los tipos de Evaluación</a:t>
                      </a:r>
                    </a:p>
                  </a:txBody>
                  <a:tcPr/>
                </a:tc>
                <a:tc>
                  <a:txBody>
                    <a:bodyPr/>
                    <a:lstStyle/>
                    <a:p>
                      <a:r>
                        <a:rPr lang="es-NI" dirty="0"/>
                        <a:t>Diferencias entre los tipos de Evaluación</a:t>
                      </a:r>
                    </a:p>
                  </a:txBody>
                  <a:tcPr/>
                </a:tc>
                <a:tc>
                  <a:txBody>
                    <a:bodyPr/>
                    <a:lstStyle/>
                    <a:p>
                      <a:r>
                        <a:rPr lang="es-NI" dirty="0"/>
                        <a:t>Aplicaciones de la evaluación en el proceso de enseñanza aprendizaje</a:t>
                      </a:r>
                    </a:p>
                  </a:txBody>
                  <a:tcPr/>
                </a:tc>
                <a:extLst>
                  <a:ext uri="{0D108BD9-81ED-4DB2-BD59-A6C34878D82A}">
                    <a16:rowId xmlns:a16="http://schemas.microsoft.com/office/drawing/2014/main" val="2512936959"/>
                  </a:ext>
                </a:extLst>
              </a:tr>
              <a:tr h="370840">
                <a:tc>
                  <a:txBody>
                    <a:bodyPr/>
                    <a:lstStyle/>
                    <a:p>
                      <a:endParaRPr lang="es-NI" dirty="0"/>
                    </a:p>
                    <a:p>
                      <a:endParaRPr lang="es-NI" dirty="0"/>
                    </a:p>
                    <a:p>
                      <a:endParaRPr lang="es-NI" dirty="0"/>
                    </a:p>
                    <a:p>
                      <a:endParaRPr lang="es-NI" dirty="0"/>
                    </a:p>
                    <a:p>
                      <a:endParaRPr lang="es-NI" dirty="0"/>
                    </a:p>
                    <a:p>
                      <a:r>
                        <a:rPr lang="es-NI" dirty="0"/>
                        <a:t>Evaluación diagnóstica inicial:</a:t>
                      </a:r>
                    </a:p>
                  </a:txBody>
                  <a:tcPr/>
                </a:tc>
                <a:tc>
                  <a:txBody>
                    <a:bodyPr/>
                    <a:lstStyle/>
                    <a:p>
                      <a:r>
                        <a:rPr lang="es-NI" dirty="0"/>
                        <a:t>Es la indagación  que se realiza al iniciar una nueva asignatura, módulo o tema, sirve para </a:t>
                      </a:r>
                      <a:r>
                        <a:rPr lang="es-NI" dirty="0">
                          <a:solidFill>
                            <a:srgbClr val="FF0000"/>
                          </a:solidFill>
                        </a:rPr>
                        <a:t>conocer cuáles son los conocimientos previos </a:t>
                      </a:r>
                      <a:r>
                        <a:rPr lang="es-NI" dirty="0"/>
                        <a:t>que poseen los estudiantes del tema en cuestión, para emplear esos conocimientos para la toma de decisiones en el resto del proceso de enseñanza aprendizaje.</a:t>
                      </a:r>
                    </a:p>
                  </a:txBody>
                  <a:tcPr/>
                </a:tc>
                <a:tc>
                  <a:txBody>
                    <a:bodyPr/>
                    <a:lstStyle/>
                    <a:p>
                      <a:r>
                        <a:rPr lang="es-NI" dirty="0"/>
                        <a:t>La evaluación diagnóstica es predictiva, sirve para </a:t>
                      </a:r>
                      <a:r>
                        <a:rPr lang="es-NI" dirty="0">
                          <a:solidFill>
                            <a:srgbClr val="FF0000"/>
                          </a:solidFill>
                        </a:rPr>
                        <a:t>tomar decisiones en cuanto la forma en que debe de darse el proceso de enseñanza aprendizaje. </a:t>
                      </a:r>
                    </a:p>
                  </a:txBody>
                  <a:tcPr/>
                </a:tc>
                <a:tc>
                  <a:txBody>
                    <a:bodyPr/>
                    <a:lstStyle/>
                    <a:p>
                      <a:r>
                        <a:rPr lang="es-NI" dirty="0"/>
                        <a:t>La evaluación diagnóstica </a:t>
                      </a:r>
                      <a:r>
                        <a:rPr lang="es-NI" dirty="0">
                          <a:solidFill>
                            <a:srgbClr val="FF0000"/>
                          </a:solidFill>
                        </a:rPr>
                        <a:t>se aplica al inicio de cada tema, unidad de contenidos, modulo o asignatura.</a:t>
                      </a:r>
                    </a:p>
                  </a:txBody>
                  <a:tcPr/>
                </a:tc>
                <a:extLst>
                  <a:ext uri="{0D108BD9-81ED-4DB2-BD59-A6C34878D82A}">
                    <a16:rowId xmlns:a16="http://schemas.microsoft.com/office/drawing/2014/main" val="1283343209"/>
                  </a:ext>
                </a:extLst>
              </a:tr>
            </a:tbl>
          </a:graphicData>
        </a:graphic>
      </p:graphicFrame>
      <p:sp>
        <p:nvSpPr>
          <p:cNvPr id="3" name="Marcador de fecha 2">
            <a:extLst>
              <a:ext uri="{FF2B5EF4-FFF2-40B4-BE49-F238E27FC236}">
                <a16:creationId xmlns:a16="http://schemas.microsoft.com/office/drawing/2014/main" id="{E3BA155C-ADD8-4E89-87A1-FED0BB889767}"/>
              </a:ext>
            </a:extLst>
          </p:cNvPr>
          <p:cNvSpPr>
            <a:spLocks noGrp="1"/>
          </p:cNvSpPr>
          <p:nvPr>
            <p:ph type="dt" sz="half" idx="10"/>
          </p:nvPr>
        </p:nvSpPr>
        <p:spPr/>
        <p:txBody>
          <a:bodyPr/>
          <a:lstStyle/>
          <a:p>
            <a:fld id="{7172EF8E-3C20-4154-8D09-C3AB98C20F79}" type="datetime1">
              <a:rPr lang="en-US" smtClean="0"/>
              <a:t>10/21/2019</a:t>
            </a:fld>
            <a:endParaRPr lang="es-NI"/>
          </a:p>
        </p:txBody>
      </p:sp>
      <p:sp>
        <p:nvSpPr>
          <p:cNvPr id="5" name="Marcador de número de diapositiva 4">
            <a:extLst>
              <a:ext uri="{FF2B5EF4-FFF2-40B4-BE49-F238E27FC236}">
                <a16:creationId xmlns:a16="http://schemas.microsoft.com/office/drawing/2014/main" id="{2BF062E8-A509-4F57-92E7-CE8C108E5BED}"/>
              </a:ext>
            </a:extLst>
          </p:cNvPr>
          <p:cNvSpPr>
            <a:spLocks noGrp="1"/>
          </p:cNvSpPr>
          <p:nvPr>
            <p:ph type="sldNum" sz="quarter" idx="12"/>
          </p:nvPr>
        </p:nvSpPr>
        <p:spPr/>
        <p:txBody>
          <a:bodyPr/>
          <a:lstStyle/>
          <a:p>
            <a:fld id="{16E415FD-9E47-4847-B618-5821271C3E49}" type="slidenum">
              <a:rPr lang="es-NI" smtClean="0"/>
              <a:t>11</a:t>
            </a:fld>
            <a:endParaRPr lang="es-NI"/>
          </a:p>
        </p:txBody>
      </p:sp>
    </p:spTree>
    <p:extLst>
      <p:ext uri="{BB962C8B-B14F-4D97-AF65-F5344CB8AC3E}">
        <p14:creationId xmlns:p14="http://schemas.microsoft.com/office/powerpoint/2010/main" val="1590720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8EB07-4AB3-4A88-8447-F316F07C6F1D}"/>
              </a:ext>
            </a:extLst>
          </p:cNvPr>
          <p:cNvSpPr>
            <a:spLocks noGrp="1"/>
          </p:cNvSpPr>
          <p:nvPr>
            <p:ph type="title"/>
          </p:nvPr>
        </p:nvSpPr>
        <p:spPr>
          <a:xfrm>
            <a:off x="835378" y="49038"/>
            <a:ext cx="7679972" cy="549274"/>
          </a:xfrm>
        </p:spPr>
        <p:txBody>
          <a:bodyPr/>
          <a:lstStyle/>
          <a:p>
            <a:r>
              <a:rPr lang="es-NI" sz="3600" dirty="0"/>
              <a:t>Tipos de evaluación </a:t>
            </a:r>
          </a:p>
        </p:txBody>
      </p:sp>
      <p:graphicFrame>
        <p:nvGraphicFramePr>
          <p:cNvPr id="4" name="Tabla 4">
            <a:extLst>
              <a:ext uri="{FF2B5EF4-FFF2-40B4-BE49-F238E27FC236}">
                <a16:creationId xmlns:a16="http://schemas.microsoft.com/office/drawing/2014/main" id="{E6477AEE-E3B1-4BAA-A19D-730734BA6750}"/>
              </a:ext>
            </a:extLst>
          </p:cNvPr>
          <p:cNvGraphicFramePr>
            <a:graphicFrameLocks noGrp="1"/>
          </p:cNvGraphicFramePr>
          <p:nvPr>
            <p:ph idx="1"/>
            <p:extLst>
              <p:ext uri="{D42A27DB-BD31-4B8C-83A1-F6EECF244321}">
                <p14:modId xmlns:p14="http://schemas.microsoft.com/office/powerpoint/2010/main" val="2222193716"/>
              </p:ext>
            </p:extLst>
          </p:nvPr>
        </p:nvGraphicFramePr>
        <p:xfrm>
          <a:off x="372535" y="801510"/>
          <a:ext cx="8263465" cy="6156960"/>
        </p:xfrm>
        <a:graphic>
          <a:graphicData uri="http://schemas.openxmlformats.org/drawingml/2006/table">
            <a:tbl>
              <a:tblPr firstRow="1" bandRow="1">
                <a:tableStyleId>{5C22544A-7EE6-4342-B048-85BDC9FD1C3A}</a:tableStyleId>
              </a:tblPr>
              <a:tblGrid>
                <a:gridCol w="1254076">
                  <a:extLst>
                    <a:ext uri="{9D8B030D-6E8A-4147-A177-3AD203B41FA5}">
                      <a16:colId xmlns:a16="http://schemas.microsoft.com/office/drawing/2014/main" val="2755590816"/>
                    </a:ext>
                  </a:extLst>
                </a:gridCol>
                <a:gridCol w="2877657">
                  <a:extLst>
                    <a:ext uri="{9D8B030D-6E8A-4147-A177-3AD203B41FA5}">
                      <a16:colId xmlns:a16="http://schemas.microsoft.com/office/drawing/2014/main" val="2367945489"/>
                    </a:ext>
                  </a:extLst>
                </a:gridCol>
                <a:gridCol w="2065866">
                  <a:extLst>
                    <a:ext uri="{9D8B030D-6E8A-4147-A177-3AD203B41FA5}">
                      <a16:colId xmlns:a16="http://schemas.microsoft.com/office/drawing/2014/main" val="523344287"/>
                    </a:ext>
                  </a:extLst>
                </a:gridCol>
                <a:gridCol w="2065866">
                  <a:extLst>
                    <a:ext uri="{9D8B030D-6E8A-4147-A177-3AD203B41FA5}">
                      <a16:colId xmlns:a16="http://schemas.microsoft.com/office/drawing/2014/main" val="3940717438"/>
                    </a:ext>
                  </a:extLst>
                </a:gridCol>
              </a:tblGrid>
              <a:tr h="989901">
                <a:tc>
                  <a:txBody>
                    <a:bodyPr/>
                    <a:lstStyle/>
                    <a:p>
                      <a:r>
                        <a:rPr lang="es-NI" sz="1600" dirty="0"/>
                        <a:t>Tipos de evaluación</a:t>
                      </a:r>
                    </a:p>
                    <a:p>
                      <a:endParaRPr lang="es-NI" dirty="0"/>
                    </a:p>
                  </a:txBody>
                  <a:tcPr/>
                </a:tc>
                <a:tc>
                  <a:txBody>
                    <a:bodyPr/>
                    <a:lstStyle/>
                    <a:p>
                      <a:r>
                        <a:rPr lang="es-NI" sz="1600" dirty="0"/>
                        <a:t>Concepto de los tipos de Evaluación</a:t>
                      </a:r>
                    </a:p>
                    <a:p>
                      <a:endParaRPr lang="es-NI" dirty="0"/>
                    </a:p>
                  </a:txBody>
                  <a:tcPr/>
                </a:tc>
                <a:tc>
                  <a:txBody>
                    <a:bodyPr/>
                    <a:lstStyle/>
                    <a:p>
                      <a:r>
                        <a:rPr lang="es-NI" sz="1600" dirty="0"/>
                        <a:t>Diferencias entre los tipos de Evaluación</a:t>
                      </a:r>
                    </a:p>
                    <a:p>
                      <a:endParaRPr lang="es-NI" dirty="0"/>
                    </a:p>
                  </a:txBody>
                  <a:tcPr/>
                </a:tc>
                <a:tc>
                  <a:txBody>
                    <a:bodyPr/>
                    <a:lstStyle/>
                    <a:p>
                      <a:r>
                        <a:rPr lang="es-NI" sz="1600" dirty="0"/>
                        <a:t>Aplicaciones de la evaluación en el proceso de enseñanza aprendizaje</a:t>
                      </a:r>
                    </a:p>
                    <a:p>
                      <a:endParaRPr lang="es-NI" dirty="0"/>
                    </a:p>
                  </a:txBody>
                  <a:tcPr/>
                </a:tc>
                <a:extLst>
                  <a:ext uri="{0D108BD9-81ED-4DB2-BD59-A6C34878D82A}">
                    <a16:rowId xmlns:a16="http://schemas.microsoft.com/office/drawing/2014/main" val="58397411"/>
                  </a:ext>
                </a:extLst>
              </a:tr>
              <a:tr h="4387001">
                <a:tc>
                  <a:txBody>
                    <a:bodyPr/>
                    <a:lstStyle/>
                    <a:p>
                      <a:r>
                        <a:rPr lang="es-NI" dirty="0"/>
                        <a:t>Evaluación Formativa:</a:t>
                      </a:r>
                    </a:p>
                  </a:txBody>
                  <a:tcPr/>
                </a:tc>
                <a:tc>
                  <a:txBody>
                    <a:bodyPr/>
                    <a:lstStyle/>
                    <a:p>
                      <a:r>
                        <a:rPr lang="es-NI" sz="1400" dirty="0"/>
                        <a:t>Acompaña el proceso de enseñanza aprendizaje, sus características son </a:t>
                      </a:r>
                      <a:r>
                        <a:rPr lang="es-NI" sz="1400" dirty="0">
                          <a:solidFill>
                            <a:srgbClr val="FF0000"/>
                          </a:solidFill>
                        </a:rPr>
                        <a:t>continuidad, permanencia, dinamismo y retroalimentación. </a:t>
                      </a:r>
                    </a:p>
                    <a:p>
                      <a:endParaRPr lang="es-NI" sz="1400" dirty="0">
                        <a:solidFill>
                          <a:srgbClr val="FF0000"/>
                        </a:solidFill>
                      </a:endParaRPr>
                    </a:p>
                    <a:p>
                      <a:r>
                        <a:rPr lang="es-NI" sz="1400" dirty="0"/>
                        <a:t>Tiene como finalidad regular el proceso de enseñanza aprendizaje para posibilitar que los medios de formación respondan a las características de los estudiantes.</a:t>
                      </a:r>
                    </a:p>
                    <a:p>
                      <a:endParaRPr lang="es-NI" sz="1400" dirty="0"/>
                    </a:p>
                    <a:p>
                      <a:r>
                        <a:rPr lang="es-NI" sz="1400" dirty="0"/>
                        <a:t> </a:t>
                      </a:r>
                      <a:r>
                        <a:rPr lang="es-NI" sz="1400" dirty="0">
                          <a:solidFill>
                            <a:srgbClr val="FF0000"/>
                          </a:solidFill>
                        </a:rPr>
                        <a:t>Sirve para detectar los puntos débiles del aprendizaje de los estudiantes.</a:t>
                      </a:r>
                    </a:p>
                    <a:p>
                      <a:endParaRPr lang="es-NI" sz="1400" dirty="0">
                        <a:solidFill>
                          <a:srgbClr val="FF0000"/>
                        </a:solidFill>
                      </a:endParaRPr>
                    </a:p>
                    <a:p>
                      <a:r>
                        <a:rPr lang="es-NI" sz="1400" dirty="0">
                          <a:solidFill>
                            <a:srgbClr val="FF0000"/>
                          </a:solidFill>
                        </a:rPr>
                        <a:t>Permite el desarrollo de las habilidades de reflexión, observación, análisis, pensamiento crítico y la capacidad de resolver problemas</a:t>
                      </a:r>
                      <a:endParaRPr lang="es-NI" sz="1400" dirty="0">
                        <a:solidFill>
                          <a:schemeClr val="tx1"/>
                        </a:solidFill>
                      </a:endParaRPr>
                    </a:p>
                  </a:txBody>
                  <a:tcPr/>
                </a:tc>
                <a:tc>
                  <a:txBody>
                    <a:bodyPr/>
                    <a:lstStyle/>
                    <a:p>
                      <a:r>
                        <a:rPr lang="es-NI" sz="1400" dirty="0"/>
                        <a:t>Busca información sobre las representaciones mentales del estudiante y las estrategias que utiliza para llegar a un resultado determinado. Se centra mas en los procedimientos que en las tareas.</a:t>
                      </a:r>
                    </a:p>
                    <a:p>
                      <a:r>
                        <a:rPr lang="es-NI" sz="1400" dirty="0">
                          <a:solidFill>
                            <a:srgbClr val="FF0000"/>
                          </a:solidFill>
                        </a:rPr>
                        <a:t>Evalúa objetivos actitudinales es decir la puesta en práctica de valores que deberán  evidenciar los estudiantes durante el proceso de enseñanza </a:t>
                      </a:r>
                      <a:r>
                        <a:rPr lang="es-NI" sz="1400" dirty="0"/>
                        <a:t>aprendizaje y que les acompañarán durante su vida profesional (social y laboral)</a:t>
                      </a:r>
                    </a:p>
                    <a:p>
                      <a:endParaRPr lang="es-NI" sz="1400" dirty="0"/>
                    </a:p>
                  </a:txBody>
                  <a:tcPr/>
                </a:tc>
                <a:tc>
                  <a:txBody>
                    <a:bodyPr/>
                    <a:lstStyle/>
                    <a:p>
                      <a:r>
                        <a:rPr lang="es-NI" sz="1400" dirty="0"/>
                        <a:t>Se aplica durante todo el proceso de enseñanza aprendizaje. </a:t>
                      </a:r>
                      <a:r>
                        <a:rPr lang="es-NI" sz="1400" dirty="0">
                          <a:solidFill>
                            <a:srgbClr val="FF0000"/>
                          </a:solidFill>
                        </a:rPr>
                        <a:t>Lo mas recomendable es que se evalúe cada sesión de clases y que siempre contengan objetivos e indicadores de evaluación formativ</a:t>
                      </a:r>
                      <a:r>
                        <a:rPr lang="es-NI" sz="1400" dirty="0"/>
                        <a:t>a.</a:t>
                      </a:r>
                    </a:p>
                  </a:txBody>
                  <a:tcPr/>
                </a:tc>
                <a:extLst>
                  <a:ext uri="{0D108BD9-81ED-4DB2-BD59-A6C34878D82A}">
                    <a16:rowId xmlns:a16="http://schemas.microsoft.com/office/drawing/2014/main" val="387772846"/>
                  </a:ext>
                </a:extLst>
              </a:tr>
            </a:tbl>
          </a:graphicData>
        </a:graphic>
      </p:graphicFrame>
      <p:sp>
        <p:nvSpPr>
          <p:cNvPr id="3" name="Marcador de fecha 2">
            <a:extLst>
              <a:ext uri="{FF2B5EF4-FFF2-40B4-BE49-F238E27FC236}">
                <a16:creationId xmlns:a16="http://schemas.microsoft.com/office/drawing/2014/main" id="{886A852E-F063-4265-AF88-D1F84A1ED39F}"/>
              </a:ext>
            </a:extLst>
          </p:cNvPr>
          <p:cNvSpPr>
            <a:spLocks noGrp="1"/>
          </p:cNvSpPr>
          <p:nvPr>
            <p:ph type="dt" sz="half" idx="10"/>
          </p:nvPr>
        </p:nvSpPr>
        <p:spPr/>
        <p:txBody>
          <a:bodyPr/>
          <a:lstStyle/>
          <a:p>
            <a:fld id="{F60B7CEE-515B-4419-8761-141A4BC42034}" type="datetime1">
              <a:rPr lang="en-US" smtClean="0"/>
              <a:t>10/21/2019</a:t>
            </a:fld>
            <a:endParaRPr lang="es-NI"/>
          </a:p>
        </p:txBody>
      </p:sp>
      <p:sp>
        <p:nvSpPr>
          <p:cNvPr id="5" name="Marcador de número de diapositiva 4">
            <a:extLst>
              <a:ext uri="{FF2B5EF4-FFF2-40B4-BE49-F238E27FC236}">
                <a16:creationId xmlns:a16="http://schemas.microsoft.com/office/drawing/2014/main" id="{CC7FC4C7-F58E-43FE-BF9C-15B8C8052FAC}"/>
              </a:ext>
            </a:extLst>
          </p:cNvPr>
          <p:cNvSpPr>
            <a:spLocks noGrp="1"/>
          </p:cNvSpPr>
          <p:nvPr>
            <p:ph type="sldNum" sz="quarter" idx="12"/>
          </p:nvPr>
        </p:nvSpPr>
        <p:spPr/>
        <p:txBody>
          <a:bodyPr/>
          <a:lstStyle/>
          <a:p>
            <a:fld id="{16E415FD-9E47-4847-B618-5821271C3E49}" type="slidenum">
              <a:rPr lang="es-NI" smtClean="0"/>
              <a:t>12</a:t>
            </a:fld>
            <a:endParaRPr lang="es-NI"/>
          </a:p>
        </p:txBody>
      </p:sp>
    </p:spTree>
    <p:extLst>
      <p:ext uri="{BB962C8B-B14F-4D97-AF65-F5344CB8AC3E}">
        <p14:creationId xmlns:p14="http://schemas.microsoft.com/office/powerpoint/2010/main" val="4196760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1299B-8D01-4289-A22F-05FE2A85F609}"/>
              </a:ext>
            </a:extLst>
          </p:cNvPr>
          <p:cNvSpPr>
            <a:spLocks noGrp="1"/>
          </p:cNvSpPr>
          <p:nvPr>
            <p:ph type="title"/>
          </p:nvPr>
        </p:nvSpPr>
        <p:spPr>
          <a:xfrm>
            <a:off x="628650" y="96135"/>
            <a:ext cx="6584950" cy="537984"/>
          </a:xfrm>
        </p:spPr>
        <p:txBody>
          <a:bodyPr/>
          <a:lstStyle/>
          <a:p>
            <a:r>
              <a:rPr lang="es-NI" sz="3600" dirty="0"/>
              <a:t>Tipos de evaluación </a:t>
            </a:r>
          </a:p>
        </p:txBody>
      </p:sp>
      <p:graphicFrame>
        <p:nvGraphicFramePr>
          <p:cNvPr id="4" name="Tabla 4">
            <a:extLst>
              <a:ext uri="{FF2B5EF4-FFF2-40B4-BE49-F238E27FC236}">
                <a16:creationId xmlns:a16="http://schemas.microsoft.com/office/drawing/2014/main" id="{8EE5A7D1-9E33-4872-AB29-829A714F59E5}"/>
              </a:ext>
            </a:extLst>
          </p:cNvPr>
          <p:cNvGraphicFramePr>
            <a:graphicFrameLocks noGrp="1"/>
          </p:cNvGraphicFramePr>
          <p:nvPr>
            <p:ph idx="1"/>
            <p:extLst>
              <p:ext uri="{D42A27DB-BD31-4B8C-83A1-F6EECF244321}">
                <p14:modId xmlns:p14="http://schemas.microsoft.com/office/powerpoint/2010/main" val="4290823731"/>
              </p:ext>
            </p:extLst>
          </p:nvPr>
        </p:nvGraphicFramePr>
        <p:xfrm>
          <a:off x="846666" y="808673"/>
          <a:ext cx="7586135" cy="5730240"/>
        </p:xfrm>
        <a:graphic>
          <a:graphicData uri="http://schemas.openxmlformats.org/drawingml/2006/table">
            <a:tbl>
              <a:tblPr firstRow="1" bandRow="1">
                <a:tableStyleId>{5C22544A-7EE6-4342-B048-85BDC9FD1C3A}</a:tableStyleId>
              </a:tblPr>
              <a:tblGrid>
                <a:gridCol w="1089607">
                  <a:extLst>
                    <a:ext uri="{9D8B030D-6E8A-4147-A177-3AD203B41FA5}">
                      <a16:colId xmlns:a16="http://schemas.microsoft.com/office/drawing/2014/main" val="2803694537"/>
                    </a:ext>
                  </a:extLst>
                </a:gridCol>
                <a:gridCol w="2703460">
                  <a:extLst>
                    <a:ext uri="{9D8B030D-6E8A-4147-A177-3AD203B41FA5}">
                      <a16:colId xmlns:a16="http://schemas.microsoft.com/office/drawing/2014/main" val="3997120559"/>
                    </a:ext>
                  </a:extLst>
                </a:gridCol>
                <a:gridCol w="1896534">
                  <a:extLst>
                    <a:ext uri="{9D8B030D-6E8A-4147-A177-3AD203B41FA5}">
                      <a16:colId xmlns:a16="http://schemas.microsoft.com/office/drawing/2014/main" val="2649790871"/>
                    </a:ext>
                  </a:extLst>
                </a:gridCol>
                <a:gridCol w="1896534">
                  <a:extLst>
                    <a:ext uri="{9D8B030D-6E8A-4147-A177-3AD203B41FA5}">
                      <a16:colId xmlns:a16="http://schemas.microsoft.com/office/drawing/2014/main" val="4119428168"/>
                    </a:ext>
                  </a:extLst>
                </a:gridCol>
              </a:tblGrid>
              <a:tr h="1028762">
                <a:tc>
                  <a:txBody>
                    <a:bodyPr/>
                    <a:lstStyle/>
                    <a:p>
                      <a:r>
                        <a:rPr lang="es-NI" sz="1400" dirty="0"/>
                        <a:t>Tipos de evaluación</a:t>
                      </a:r>
                    </a:p>
                    <a:p>
                      <a:endParaRPr lang="es-NI" sz="1400" dirty="0"/>
                    </a:p>
                  </a:txBody>
                  <a:tcPr/>
                </a:tc>
                <a:tc>
                  <a:txBody>
                    <a:bodyPr/>
                    <a:lstStyle/>
                    <a:p>
                      <a:r>
                        <a:rPr lang="es-NI" sz="1400" dirty="0"/>
                        <a:t>Concepto de los tipos de Evaluación</a:t>
                      </a:r>
                    </a:p>
                    <a:p>
                      <a:endParaRPr lang="es-NI" sz="1400" dirty="0"/>
                    </a:p>
                  </a:txBody>
                  <a:tcPr/>
                </a:tc>
                <a:tc>
                  <a:txBody>
                    <a:bodyPr/>
                    <a:lstStyle/>
                    <a:p>
                      <a:r>
                        <a:rPr lang="es-NI" sz="1400" dirty="0"/>
                        <a:t>Diferencias entre los tipos de Evaluación</a:t>
                      </a:r>
                    </a:p>
                    <a:p>
                      <a:endParaRPr lang="es-NI" sz="1400" dirty="0"/>
                    </a:p>
                  </a:txBody>
                  <a:tcPr/>
                </a:tc>
                <a:tc>
                  <a:txBody>
                    <a:bodyPr/>
                    <a:lstStyle/>
                    <a:p>
                      <a:r>
                        <a:rPr lang="es-NI" sz="1400" dirty="0"/>
                        <a:t>Aplicaciones de la evaluación en el proceso de enseñanza aprendizaje</a:t>
                      </a:r>
                    </a:p>
                  </a:txBody>
                  <a:tcPr/>
                </a:tc>
                <a:extLst>
                  <a:ext uri="{0D108BD9-81ED-4DB2-BD59-A6C34878D82A}">
                    <a16:rowId xmlns:a16="http://schemas.microsoft.com/office/drawing/2014/main" val="1151926875"/>
                  </a:ext>
                </a:extLst>
              </a:tr>
              <a:tr h="4153544">
                <a:tc>
                  <a:txBody>
                    <a:bodyPr/>
                    <a:lstStyle/>
                    <a:p>
                      <a:r>
                        <a:rPr lang="es-NI" sz="1400" dirty="0"/>
                        <a:t>Evaluación sumativa:</a:t>
                      </a:r>
                    </a:p>
                  </a:txBody>
                  <a:tcPr/>
                </a:tc>
                <a:tc>
                  <a:txBody>
                    <a:bodyPr/>
                    <a:lstStyle/>
                    <a:p>
                      <a:r>
                        <a:rPr lang="es-NI" sz="1400" dirty="0"/>
                        <a:t>Sirve para obtener información sobre el resultado alcanzado por los estudiantes al final de un proceso de enseñanza aprendizaje. </a:t>
                      </a:r>
                      <a:r>
                        <a:rPr lang="es-NI" sz="1400" dirty="0">
                          <a:solidFill>
                            <a:srgbClr val="FF0000"/>
                          </a:solidFill>
                        </a:rPr>
                        <a:t>Su función social es asegurar que las características de los estudiantes respondan a las exigencias del sistema</a:t>
                      </a:r>
                      <a:r>
                        <a:rPr lang="es-NI" sz="1400" dirty="0"/>
                        <a:t>. Esta evaluación concede importancia a la </a:t>
                      </a:r>
                      <a:r>
                        <a:rPr lang="es-NI" sz="1400" dirty="0">
                          <a:highlight>
                            <a:srgbClr val="00FF00"/>
                          </a:highlight>
                        </a:rPr>
                        <a:t>elaboración y aplicación de instrumentos que posibiliten contar con información confiable acerca del desempeño de los/las estudiantes y a partir de ahí tomar decisiones que sean apropiadas.</a:t>
                      </a:r>
                    </a:p>
                  </a:txBody>
                  <a:tcPr/>
                </a:tc>
                <a:tc>
                  <a:txBody>
                    <a:bodyPr/>
                    <a:lstStyle/>
                    <a:p>
                      <a:r>
                        <a:rPr lang="es-NI" sz="1400" dirty="0"/>
                        <a:t>La evaluación sumativa evalúa el </a:t>
                      </a:r>
                      <a:r>
                        <a:rPr lang="es-NI" sz="1400" dirty="0">
                          <a:solidFill>
                            <a:srgbClr val="FF0000"/>
                          </a:solidFill>
                        </a:rPr>
                        <a:t>alcance de los conocimientos, adquiridos por los estudiantes, es decir valora el cumplimiento de objetivos conceptuales y procedimentales</a:t>
                      </a:r>
                      <a:r>
                        <a:rPr lang="es-NI" sz="1400" dirty="0"/>
                        <a:t>. </a:t>
                      </a:r>
                    </a:p>
                    <a:p>
                      <a:r>
                        <a:rPr lang="es-NI" sz="1400" dirty="0"/>
                        <a:t>Está centrada en la determinación de notas parciales o finales en la rendición de cuentas sobre los esfuerzos hechos y la valoración de objetivos mas complejos.</a:t>
                      </a:r>
                    </a:p>
                    <a:p>
                      <a:endParaRPr lang="es-NI" sz="1400" dirty="0"/>
                    </a:p>
                  </a:txBody>
                  <a:tcPr/>
                </a:tc>
                <a:tc>
                  <a:txBody>
                    <a:bodyPr/>
                    <a:lstStyle/>
                    <a:p>
                      <a:r>
                        <a:rPr lang="es-NI" sz="1400" dirty="0"/>
                        <a:t>Es una evaluación terminal con miras a evaluar productos, lo que implica que se </a:t>
                      </a:r>
                      <a:r>
                        <a:rPr lang="es-NI" sz="1400" dirty="0">
                          <a:solidFill>
                            <a:srgbClr val="FF0000"/>
                          </a:solidFill>
                        </a:rPr>
                        <a:t>realiza cuando el estudiante evidencia conocimientos a través de la elaboración de un producto</a:t>
                      </a:r>
                      <a:r>
                        <a:rPr lang="es-NI" sz="1400" dirty="0"/>
                        <a:t>, es decir se realiza al final del proceso de enseñanza aprendizaje.</a:t>
                      </a:r>
                    </a:p>
                  </a:txBody>
                  <a:tcPr/>
                </a:tc>
                <a:extLst>
                  <a:ext uri="{0D108BD9-81ED-4DB2-BD59-A6C34878D82A}">
                    <a16:rowId xmlns:a16="http://schemas.microsoft.com/office/drawing/2014/main" val="1841149374"/>
                  </a:ext>
                </a:extLst>
              </a:tr>
            </a:tbl>
          </a:graphicData>
        </a:graphic>
      </p:graphicFrame>
      <p:sp>
        <p:nvSpPr>
          <p:cNvPr id="3" name="Marcador de fecha 2">
            <a:extLst>
              <a:ext uri="{FF2B5EF4-FFF2-40B4-BE49-F238E27FC236}">
                <a16:creationId xmlns:a16="http://schemas.microsoft.com/office/drawing/2014/main" id="{77CEA0B1-8C11-40F1-9463-0E0258A92947}"/>
              </a:ext>
            </a:extLst>
          </p:cNvPr>
          <p:cNvSpPr>
            <a:spLocks noGrp="1"/>
          </p:cNvSpPr>
          <p:nvPr>
            <p:ph type="dt" sz="half" idx="10"/>
          </p:nvPr>
        </p:nvSpPr>
        <p:spPr/>
        <p:txBody>
          <a:bodyPr/>
          <a:lstStyle/>
          <a:p>
            <a:fld id="{F8B469B6-5058-4BAF-8158-828B3F594470}" type="datetime1">
              <a:rPr lang="en-US" smtClean="0"/>
              <a:t>10/21/2019</a:t>
            </a:fld>
            <a:endParaRPr lang="es-NI"/>
          </a:p>
        </p:txBody>
      </p:sp>
      <p:sp>
        <p:nvSpPr>
          <p:cNvPr id="5" name="Marcador de número de diapositiva 4">
            <a:extLst>
              <a:ext uri="{FF2B5EF4-FFF2-40B4-BE49-F238E27FC236}">
                <a16:creationId xmlns:a16="http://schemas.microsoft.com/office/drawing/2014/main" id="{C3283A2E-875A-46C3-80A8-8C61A6DFF38E}"/>
              </a:ext>
            </a:extLst>
          </p:cNvPr>
          <p:cNvSpPr>
            <a:spLocks noGrp="1"/>
          </p:cNvSpPr>
          <p:nvPr>
            <p:ph type="sldNum" sz="quarter" idx="12"/>
          </p:nvPr>
        </p:nvSpPr>
        <p:spPr/>
        <p:txBody>
          <a:bodyPr/>
          <a:lstStyle/>
          <a:p>
            <a:fld id="{16E415FD-9E47-4847-B618-5821271C3E49}" type="slidenum">
              <a:rPr lang="es-NI" smtClean="0"/>
              <a:t>13</a:t>
            </a:fld>
            <a:endParaRPr lang="es-NI"/>
          </a:p>
        </p:txBody>
      </p:sp>
    </p:spTree>
    <p:extLst>
      <p:ext uri="{BB962C8B-B14F-4D97-AF65-F5344CB8AC3E}">
        <p14:creationId xmlns:p14="http://schemas.microsoft.com/office/powerpoint/2010/main" val="78941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35FEC-9710-4F70-B14A-3C2807A81939}"/>
              </a:ext>
            </a:extLst>
          </p:cNvPr>
          <p:cNvSpPr>
            <a:spLocks noGrp="1"/>
          </p:cNvSpPr>
          <p:nvPr>
            <p:ph type="title"/>
          </p:nvPr>
        </p:nvSpPr>
        <p:spPr>
          <a:xfrm>
            <a:off x="628650" y="365126"/>
            <a:ext cx="7886700" cy="1325563"/>
          </a:xfrm>
          <a:prstGeom prst="rect">
            <a:avLst/>
          </a:prstGeom>
        </p:spPr>
        <p:txBody>
          <a:bodyPr>
            <a:normAutofit/>
          </a:bodyPr>
          <a:lstStyle/>
          <a:p>
            <a:pPr>
              <a:lnSpc>
                <a:spcPct val="90000"/>
              </a:lnSpc>
            </a:pPr>
            <a:r>
              <a:rPr lang="es-NI" sz="5600"/>
              <a:t>Recomendaciones finales:</a:t>
            </a:r>
          </a:p>
        </p:txBody>
      </p:sp>
      <p:sp>
        <p:nvSpPr>
          <p:cNvPr id="4" name="Marcador de fecha 3">
            <a:extLst>
              <a:ext uri="{FF2B5EF4-FFF2-40B4-BE49-F238E27FC236}">
                <a16:creationId xmlns:a16="http://schemas.microsoft.com/office/drawing/2014/main" id="{110414F7-13ED-4146-AEF6-B179A5270E2A}"/>
              </a:ext>
            </a:extLst>
          </p:cNvPr>
          <p:cNvSpPr>
            <a:spLocks noGrp="1"/>
          </p:cNvSpPr>
          <p:nvPr>
            <p:ph type="dt" sz="half" idx="10"/>
          </p:nvPr>
        </p:nvSpPr>
        <p:spPr>
          <a:xfrm>
            <a:off x="628650" y="6356351"/>
            <a:ext cx="2057400" cy="365125"/>
          </a:xfrm>
          <a:prstGeom prst="rect">
            <a:avLst/>
          </a:prstGeom>
        </p:spPr>
        <p:txBody>
          <a:bodyPr>
            <a:normAutofit/>
          </a:bodyPr>
          <a:lstStyle/>
          <a:p>
            <a:pPr>
              <a:lnSpc>
                <a:spcPct val="90000"/>
              </a:lnSpc>
              <a:spcAft>
                <a:spcPts val="600"/>
              </a:spcAft>
            </a:pPr>
            <a:fld id="{0A69E59A-52D2-4F5D-99B3-E7D5075CDC79}" type="datetime1">
              <a:rPr lang="en-US" smtClean="0"/>
              <a:pPr>
                <a:lnSpc>
                  <a:spcPct val="90000"/>
                </a:lnSpc>
                <a:spcAft>
                  <a:spcPts val="600"/>
                </a:spcAft>
              </a:pPr>
              <a:t>10/21/2019</a:t>
            </a:fld>
            <a:endParaRPr lang="es-NI"/>
          </a:p>
        </p:txBody>
      </p:sp>
      <p:sp>
        <p:nvSpPr>
          <p:cNvPr id="5" name="Marcador de número de diapositiva 4">
            <a:extLst>
              <a:ext uri="{FF2B5EF4-FFF2-40B4-BE49-F238E27FC236}">
                <a16:creationId xmlns:a16="http://schemas.microsoft.com/office/drawing/2014/main" id="{85128828-1C32-4509-BB69-FD6ECB1A5333}"/>
              </a:ext>
            </a:extLst>
          </p:cNvPr>
          <p:cNvSpPr>
            <a:spLocks noGrp="1"/>
          </p:cNvSpPr>
          <p:nvPr>
            <p:ph type="sldNum" sz="quarter" idx="12"/>
          </p:nvPr>
        </p:nvSpPr>
        <p:spPr>
          <a:xfrm>
            <a:off x="6457950" y="6356351"/>
            <a:ext cx="2057400" cy="365125"/>
          </a:xfrm>
          <a:prstGeom prst="rect">
            <a:avLst/>
          </a:prstGeom>
        </p:spPr>
        <p:txBody>
          <a:bodyPr>
            <a:normAutofit/>
          </a:bodyPr>
          <a:lstStyle/>
          <a:p>
            <a:pPr>
              <a:lnSpc>
                <a:spcPct val="90000"/>
              </a:lnSpc>
              <a:spcAft>
                <a:spcPts val="600"/>
              </a:spcAft>
            </a:pPr>
            <a:fld id="{16E415FD-9E47-4847-B618-5821271C3E49}" type="slidenum">
              <a:rPr lang="es-NI" smtClean="0"/>
              <a:pPr>
                <a:lnSpc>
                  <a:spcPct val="90000"/>
                </a:lnSpc>
                <a:spcAft>
                  <a:spcPts val="600"/>
                </a:spcAft>
              </a:pPr>
              <a:t>14</a:t>
            </a:fld>
            <a:endParaRPr lang="es-NI"/>
          </a:p>
        </p:txBody>
      </p:sp>
      <p:graphicFrame>
        <p:nvGraphicFramePr>
          <p:cNvPr id="7" name="Marcador de contenido 2">
            <a:extLst>
              <a:ext uri="{FF2B5EF4-FFF2-40B4-BE49-F238E27FC236}">
                <a16:creationId xmlns:a16="http://schemas.microsoft.com/office/drawing/2014/main" id="{B4980CA7-B183-4586-A1AC-F7A9D2A31193}"/>
              </a:ext>
            </a:extLst>
          </p:cNvPr>
          <p:cNvGraphicFramePr>
            <a:graphicFrameLocks noGrp="1"/>
          </p:cNvGraphicFramePr>
          <p:nvPr>
            <p:ph idx="1"/>
            <p:extLst>
              <p:ext uri="{D42A27DB-BD31-4B8C-83A1-F6EECF244321}">
                <p14:modId xmlns:p14="http://schemas.microsoft.com/office/powerpoint/2010/main" val="383326017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897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029C70-8387-44EC-938B-A4DA204CD91F}"/>
              </a:ext>
            </a:extLst>
          </p:cNvPr>
          <p:cNvSpPr>
            <a:spLocks noGrp="1"/>
          </p:cNvSpPr>
          <p:nvPr>
            <p:ph type="title"/>
          </p:nvPr>
        </p:nvSpPr>
        <p:spPr>
          <a:xfrm>
            <a:off x="628650" y="365127"/>
            <a:ext cx="7886700" cy="707318"/>
          </a:xfrm>
        </p:spPr>
        <p:txBody>
          <a:bodyPr/>
          <a:lstStyle/>
          <a:p>
            <a:r>
              <a:rPr lang="es-NI" sz="3200" dirty="0"/>
              <a:t>Recomendaciones finales:</a:t>
            </a:r>
          </a:p>
        </p:txBody>
      </p:sp>
      <p:graphicFrame>
        <p:nvGraphicFramePr>
          <p:cNvPr id="6" name="Marcador de contenido 5">
            <a:extLst>
              <a:ext uri="{FF2B5EF4-FFF2-40B4-BE49-F238E27FC236}">
                <a16:creationId xmlns:a16="http://schemas.microsoft.com/office/drawing/2014/main" id="{5CC0E6A9-B6FF-4F43-A649-0D5BAC005C7F}"/>
              </a:ext>
            </a:extLst>
          </p:cNvPr>
          <p:cNvGraphicFramePr>
            <a:graphicFrameLocks noGrp="1"/>
          </p:cNvGraphicFramePr>
          <p:nvPr>
            <p:ph idx="1"/>
            <p:extLst>
              <p:ext uri="{D42A27DB-BD31-4B8C-83A1-F6EECF244321}">
                <p14:modId xmlns:p14="http://schemas.microsoft.com/office/powerpoint/2010/main" val="314286013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fecha 3">
            <a:extLst>
              <a:ext uri="{FF2B5EF4-FFF2-40B4-BE49-F238E27FC236}">
                <a16:creationId xmlns:a16="http://schemas.microsoft.com/office/drawing/2014/main" id="{5B22F68E-29DC-4540-930B-46B51E1DDB78}"/>
              </a:ext>
            </a:extLst>
          </p:cNvPr>
          <p:cNvSpPr>
            <a:spLocks noGrp="1"/>
          </p:cNvSpPr>
          <p:nvPr>
            <p:ph type="dt" sz="half" idx="10"/>
          </p:nvPr>
        </p:nvSpPr>
        <p:spPr/>
        <p:txBody>
          <a:bodyPr/>
          <a:lstStyle/>
          <a:p>
            <a:fld id="{D58825E9-014A-4260-81C8-8405333A31A6}" type="datetime1">
              <a:rPr lang="en-US" smtClean="0"/>
              <a:t>10/21/2019</a:t>
            </a:fld>
            <a:endParaRPr lang="es-NI"/>
          </a:p>
        </p:txBody>
      </p:sp>
      <p:sp>
        <p:nvSpPr>
          <p:cNvPr id="5" name="Marcador de número de diapositiva 4">
            <a:extLst>
              <a:ext uri="{FF2B5EF4-FFF2-40B4-BE49-F238E27FC236}">
                <a16:creationId xmlns:a16="http://schemas.microsoft.com/office/drawing/2014/main" id="{97DC1DDC-9E43-45E3-AEAE-EB1C3ADA908B}"/>
              </a:ext>
            </a:extLst>
          </p:cNvPr>
          <p:cNvSpPr>
            <a:spLocks noGrp="1"/>
          </p:cNvSpPr>
          <p:nvPr>
            <p:ph type="sldNum" sz="quarter" idx="12"/>
          </p:nvPr>
        </p:nvSpPr>
        <p:spPr/>
        <p:txBody>
          <a:bodyPr/>
          <a:lstStyle/>
          <a:p>
            <a:fld id="{16E415FD-9E47-4847-B618-5821271C3E49}" type="slidenum">
              <a:rPr lang="es-NI" smtClean="0"/>
              <a:t>15</a:t>
            </a:fld>
            <a:endParaRPr lang="es-NI"/>
          </a:p>
        </p:txBody>
      </p:sp>
    </p:spTree>
    <p:extLst>
      <p:ext uri="{BB962C8B-B14F-4D97-AF65-F5344CB8AC3E}">
        <p14:creationId xmlns:p14="http://schemas.microsoft.com/office/powerpoint/2010/main" val="1574386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94D19F-384E-4E2A-9423-CDAA98D207C5}"/>
              </a:ext>
            </a:extLst>
          </p:cNvPr>
          <p:cNvSpPr>
            <a:spLocks noGrp="1"/>
          </p:cNvSpPr>
          <p:nvPr>
            <p:ph type="title"/>
          </p:nvPr>
        </p:nvSpPr>
        <p:spPr/>
        <p:txBody>
          <a:bodyPr/>
          <a:lstStyle/>
          <a:p>
            <a:r>
              <a:rPr lang="es-NI" sz="3200" dirty="0"/>
              <a:t>Actividad de aprendizaje: Matriz de objetivos, contenidos, criterios (indicador de evaluación), estrategia-instrumento </a:t>
            </a:r>
          </a:p>
        </p:txBody>
      </p:sp>
      <p:graphicFrame>
        <p:nvGraphicFramePr>
          <p:cNvPr id="6" name="Tabla 6">
            <a:extLst>
              <a:ext uri="{FF2B5EF4-FFF2-40B4-BE49-F238E27FC236}">
                <a16:creationId xmlns:a16="http://schemas.microsoft.com/office/drawing/2014/main" id="{61932777-2E38-4981-A341-9015987CB270}"/>
              </a:ext>
            </a:extLst>
          </p:cNvPr>
          <p:cNvGraphicFramePr>
            <a:graphicFrameLocks noGrp="1"/>
          </p:cNvGraphicFramePr>
          <p:nvPr>
            <p:ph idx="1"/>
            <p:extLst>
              <p:ext uri="{D42A27DB-BD31-4B8C-83A1-F6EECF244321}">
                <p14:modId xmlns:p14="http://schemas.microsoft.com/office/powerpoint/2010/main" val="470477945"/>
              </p:ext>
            </p:extLst>
          </p:nvPr>
        </p:nvGraphicFramePr>
        <p:xfrm>
          <a:off x="628650" y="1825625"/>
          <a:ext cx="7886700" cy="3042920"/>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1345695244"/>
                    </a:ext>
                  </a:extLst>
                </a:gridCol>
                <a:gridCol w="1577340">
                  <a:extLst>
                    <a:ext uri="{9D8B030D-6E8A-4147-A177-3AD203B41FA5}">
                      <a16:colId xmlns:a16="http://schemas.microsoft.com/office/drawing/2014/main" val="1507782120"/>
                    </a:ext>
                  </a:extLst>
                </a:gridCol>
                <a:gridCol w="1577340">
                  <a:extLst>
                    <a:ext uri="{9D8B030D-6E8A-4147-A177-3AD203B41FA5}">
                      <a16:colId xmlns:a16="http://schemas.microsoft.com/office/drawing/2014/main" val="957249836"/>
                    </a:ext>
                  </a:extLst>
                </a:gridCol>
                <a:gridCol w="1577340">
                  <a:extLst>
                    <a:ext uri="{9D8B030D-6E8A-4147-A177-3AD203B41FA5}">
                      <a16:colId xmlns:a16="http://schemas.microsoft.com/office/drawing/2014/main" val="716568810"/>
                    </a:ext>
                  </a:extLst>
                </a:gridCol>
                <a:gridCol w="1577340">
                  <a:extLst>
                    <a:ext uri="{9D8B030D-6E8A-4147-A177-3AD203B41FA5}">
                      <a16:colId xmlns:a16="http://schemas.microsoft.com/office/drawing/2014/main" val="3572910699"/>
                    </a:ext>
                  </a:extLst>
                </a:gridCol>
              </a:tblGrid>
              <a:tr h="370840">
                <a:tc>
                  <a:txBody>
                    <a:bodyPr/>
                    <a:lstStyle/>
                    <a:p>
                      <a:r>
                        <a:rPr lang="es-NI" dirty="0"/>
                        <a:t>No/Nombre de la unidad</a:t>
                      </a:r>
                    </a:p>
                  </a:txBody>
                  <a:tcPr/>
                </a:tc>
                <a:tc>
                  <a:txBody>
                    <a:bodyPr/>
                    <a:lstStyle/>
                    <a:p>
                      <a:r>
                        <a:rPr lang="es-NI" dirty="0"/>
                        <a:t>Verbo del objetivo</a:t>
                      </a:r>
                    </a:p>
                  </a:txBody>
                  <a:tcPr/>
                </a:tc>
                <a:tc>
                  <a:txBody>
                    <a:bodyPr/>
                    <a:lstStyle/>
                    <a:p>
                      <a:r>
                        <a:rPr lang="es-NI" dirty="0"/>
                        <a:t>Contenidos o temas </a:t>
                      </a:r>
                    </a:p>
                  </a:txBody>
                  <a:tcPr/>
                </a:tc>
                <a:tc>
                  <a:txBody>
                    <a:bodyPr/>
                    <a:lstStyle/>
                    <a:p>
                      <a:r>
                        <a:rPr lang="es-NI" dirty="0"/>
                        <a:t>Criterios de evaluación</a:t>
                      </a:r>
                    </a:p>
                  </a:txBody>
                  <a:tcPr/>
                </a:tc>
                <a:tc>
                  <a:txBody>
                    <a:bodyPr/>
                    <a:lstStyle/>
                    <a:p>
                      <a:r>
                        <a:rPr lang="es-NI" dirty="0"/>
                        <a:t>Estrategia/instrumento de evaluación</a:t>
                      </a:r>
                    </a:p>
                  </a:txBody>
                  <a:tcPr/>
                </a:tc>
                <a:extLst>
                  <a:ext uri="{0D108BD9-81ED-4DB2-BD59-A6C34878D82A}">
                    <a16:rowId xmlns:a16="http://schemas.microsoft.com/office/drawing/2014/main" val="3451340994"/>
                  </a:ext>
                </a:extLst>
              </a:tr>
              <a:tr h="370840">
                <a:tc>
                  <a:txBody>
                    <a:bodyPr/>
                    <a:lstStyle/>
                    <a:p>
                      <a:endParaRPr lang="es-NI" dirty="0"/>
                    </a:p>
                  </a:txBody>
                  <a:tcPr/>
                </a:tc>
                <a:tc>
                  <a:txBody>
                    <a:bodyPr/>
                    <a:lstStyle/>
                    <a:p>
                      <a:endParaRPr lang="es-NI"/>
                    </a:p>
                  </a:txBody>
                  <a:tcPr/>
                </a:tc>
                <a:tc>
                  <a:txBody>
                    <a:bodyPr/>
                    <a:lstStyle/>
                    <a:p>
                      <a:endParaRPr lang="es-NI"/>
                    </a:p>
                  </a:txBody>
                  <a:tcPr/>
                </a:tc>
                <a:tc>
                  <a:txBody>
                    <a:bodyPr/>
                    <a:lstStyle/>
                    <a:p>
                      <a:endParaRPr lang="es-NI"/>
                    </a:p>
                  </a:txBody>
                  <a:tcPr/>
                </a:tc>
                <a:tc>
                  <a:txBody>
                    <a:bodyPr/>
                    <a:lstStyle/>
                    <a:p>
                      <a:endParaRPr lang="es-NI"/>
                    </a:p>
                  </a:txBody>
                  <a:tcPr/>
                </a:tc>
                <a:extLst>
                  <a:ext uri="{0D108BD9-81ED-4DB2-BD59-A6C34878D82A}">
                    <a16:rowId xmlns:a16="http://schemas.microsoft.com/office/drawing/2014/main" val="3031144083"/>
                  </a:ext>
                </a:extLst>
              </a:tr>
              <a:tr h="370840">
                <a:tc>
                  <a:txBody>
                    <a:bodyPr/>
                    <a:lstStyle/>
                    <a:p>
                      <a:endParaRPr lang="es-NI" dirty="0"/>
                    </a:p>
                  </a:txBody>
                  <a:tcPr/>
                </a:tc>
                <a:tc>
                  <a:txBody>
                    <a:bodyPr/>
                    <a:lstStyle/>
                    <a:p>
                      <a:endParaRPr lang="es-NI"/>
                    </a:p>
                  </a:txBody>
                  <a:tcPr/>
                </a:tc>
                <a:tc>
                  <a:txBody>
                    <a:bodyPr/>
                    <a:lstStyle/>
                    <a:p>
                      <a:endParaRPr lang="es-NI"/>
                    </a:p>
                  </a:txBody>
                  <a:tcPr/>
                </a:tc>
                <a:tc>
                  <a:txBody>
                    <a:bodyPr/>
                    <a:lstStyle/>
                    <a:p>
                      <a:endParaRPr lang="es-NI"/>
                    </a:p>
                  </a:txBody>
                  <a:tcPr/>
                </a:tc>
                <a:tc>
                  <a:txBody>
                    <a:bodyPr/>
                    <a:lstStyle/>
                    <a:p>
                      <a:endParaRPr lang="es-NI" dirty="0"/>
                    </a:p>
                  </a:txBody>
                  <a:tcPr/>
                </a:tc>
                <a:extLst>
                  <a:ext uri="{0D108BD9-81ED-4DB2-BD59-A6C34878D82A}">
                    <a16:rowId xmlns:a16="http://schemas.microsoft.com/office/drawing/2014/main" val="1527418834"/>
                  </a:ext>
                </a:extLst>
              </a:tr>
              <a:tr h="370840">
                <a:tc>
                  <a:txBody>
                    <a:bodyPr/>
                    <a:lstStyle/>
                    <a:p>
                      <a:endParaRPr lang="es-NI" dirty="0"/>
                    </a:p>
                  </a:txBody>
                  <a:tcPr/>
                </a:tc>
                <a:tc>
                  <a:txBody>
                    <a:bodyPr/>
                    <a:lstStyle/>
                    <a:p>
                      <a:endParaRPr lang="es-NI"/>
                    </a:p>
                  </a:txBody>
                  <a:tcPr/>
                </a:tc>
                <a:tc>
                  <a:txBody>
                    <a:bodyPr/>
                    <a:lstStyle/>
                    <a:p>
                      <a:endParaRPr lang="es-NI"/>
                    </a:p>
                  </a:txBody>
                  <a:tcPr/>
                </a:tc>
                <a:tc>
                  <a:txBody>
                    <a:bodyPr/>
                    <a:lstStyle/>
                    <a:p>
                      <a:endParaRPr lang="es-NI"/>
                    </a:p>
                  </a:txBody>
                  <a:tcPr/>
                </a:tc>
                <a:tc>
                  <a:txBody>
                    <a:bodyPr/>
                    <a:lstStyle/>
                    <a:p>
                      <a:endParaRPr lang="es-NI" dirty="0"/>
                    </a:p>
                  </a:txBody>
                  <a:tcPr/>
                </a:tc>
                <a:extLst>
                  <a:ext uri="{0D108BD9-81ED-4DB2-BD59-A6C34878D82A}">
                    <a16:rowId xmlns:a16="http://schemas.microsoft.com/office/drawing/2014/main" val="501439255"/>
                  </a:ext>
                </a:extLst>
              </a:tr>
              <a:tr h="370840">
                <a:tc>
                  <a:txBody>
                    <a:bodyPr/>
                    <a:lstStyle/>
                    <a:p>
                      <a:endParaRPr lang="es-NI" dirty="0"/>
                    </a:p>
                  </a:txBody>
                  <a:tcPr/>
                </a:tc>
                <a:tc>
                  <a:txBody>
                    <a:bodyPr/>
                    <a:lstStyle/>
                    <a:p>
                      <a:endParaRPr lang="es-NI"/>
                    </a:p>
                  </a:txBody>
                  <a:tcPr/>
                </a:tc>
                <a:tc>
                  <a:txBody>
                    <a:bodyPr/>
                    <a:lstStyle/>
                    <a:p>
                      <a:endParaRPr lang="es-NI"/>
                    </a:p>
                  </a:txBody>
                  <a:tcPr/>
                </a:tc>
                <a:tc>
                  <a:txBody>
                    <a:bodyPr/>
                    <a:lstStyle/>
                    <a:p>
                      <a:endParaRPr lang="es-NI"/>
                    </a:p>
                  </a:txBody>
                  <a:tcPr/>
                </a:tc>
                <a:tc>
                  <a:txBody>
                    <a:bodyPr/>
                    <a:lstStyle/>
                    <a:p>
                      <a:endParaRPr lang="es-NI" dirty="0"/>
                    </a:p>
                  </a:txBody>
                  <a:tcPr/>
                </a:tc>
                <a:extLst>
                  <a:ext uri="{0D108BD9-81ED-4DB2-BD59-A6C34878D82A}">
                    <a16:rowId xmlns:a16="http://schemas.microsoft.com/office/drawing/2014/main" val="55562214"/>
                  </a:ext>
                </a:extLst>
              </a:tr>
              <a:tr h="370840">
                <a:tc>
                  <a:txBody>
                    <a:bodyPr/>
                    <a:lstStyle/>
                    <a:p>
                      <a:endParaRPr lang="es-NI"/>
                    </a:p>
                  </a:txBody>
                  <a:tcPr/>
                </a:tc>
                <a:tc>
                  <a:txBody>
                    <a:bodyPr/>
                    <a:lstStyle/>
                    <a:p>
                      <a:endParaRPr lang="es-NI"/>
                    </a:p>
                  </a:txBody>
                  <a:tcPr/>
                </a:tc>
                <a:tc>
                  <a:txBody>
                    <a:bodyPr/>
                    <a:lstStyle/>
                    <a:p>
                      <a:endParaRPr lang="es-NI"/>
                    </a:p>
                  </a:txBody>
                  <a:tcPr/>
                </a:tc>
                <a:tc>
                  <a:txBody>
                    <a:bodyPr/>
                    <a:lstStyle/>
                    <a:p>
                      <a:endParaRPr lang="es-NI"/>
                    </a:p>
                  </a:txBody>
                  <a:tcPr/>
                </a:tc>
                <a:tc>
                  <a:txBody>
                    <a:bodyPr/>
                    <a:lstStyle/>
                    <a:p>
                      <a:endParaRPr lang="es-NI" dirty="0"/>
                    </a:p>
                  </a:txBody>
                  <a:tcPr/>
                </a:tc>
                <a:extLst>
                  <a:ext uri="{0D108BD9-81ED-4DB2-BD59-A6C34878D82A}">
                    <a16:rowId xmlns:a16="http://schemas.microsoft.com/office/drawing/2014/main" val="1660295467"/>
                  </a:ext>
                </a:extLst>
              </a:tr>
            </a:tbl>
          </a:graphicData>
        </a:graphic>
      </p:graphicFrame>
      <p:sp>
        <p:nvSpPr>
          <p:cNvPr id="4" name="Marcador de fecha 3">
            <a:extLst>
              <a:ext uri="{FF2B5EF4-FFF2-40B4-BE49-F238E27FC236}">
                <a16:creationId xmlns:a16="http://schemas.microsoft.com/office/drawing/2014/main" id="{BF28E89F-8A3E-413F-BF0D-E4CC60A43FFD}"/>
              </a:ext>
            </a:extLst>
          </p:cNvPr>
          <p:cNvSpPr>
            <a:spLocks noGrp="1"/>
          </p:cNvSpPr>
          <p:nvPr>
            <p:ph type="dt" sz="half" idx="10"/>
          </p:nvPr>
        </p:nvSpPr>
        <p:spPr/>
        <p:txBody>
          <a:bodyPr/>
          <a:lstStyle/>
          <a:p>
            <a:fld id="{82C87F33-8BC1-4251-B298-44C71F90B17A}" type="datetime1">
              <a:rPr lang="en-US" smtClean="0"/>
              <a:t>10/21/2019</a:t>
            </a:fld>
            <a:endParaRPr lang="es-NI"/>
          </a:p>
        </p:txBody>
      </p:sp>
      <p:sp>
        <p:nvSpPr>
          <p:cNvPr id="5" name="Marcador de número de diapositiva 4">
            <a:extLst>
              <a:ext uri="{FF2B5EF4-FFF2-40B4-BE49-F238E27FC236}">
                <a16:creationId xmlns:a16="http://schemas.microsoft.com/office/drawing/2014/main" id="{5456B5F8-6C9F-480D-B424-CA5109933CDB}"/>
              </a:ext>
            </a:extLst>
          </p:cNvPr>
          <p:cNvSpPr>
            <a:spLocks noGrp="1"/>
          </p:cNvSpPr>
          <p:nvPr>
            <p:ph type="sldNum" sz="quarter" idx="12"/>
          </p:nvPr>
        </p:nvSpPr>
        <p:spPr/>
        <p:txBody>
          <a:bodyPr/>
          <a:lstStyle/>
          <a:p>
            <a:fld id="{16E415FD-9E47-4847-B618-5821271C3E49}" type="slidenum">
              <a:rPr lang="es-NI" smtClean="0"/>
              <a:t>16</a:t>
            </a:fld>
            <a:endParaRPr lang="es-NI"/>
          </a:p>
        </p:txBody>
      </p:sp>
    </p:spTree>
    <p:extLst>
      <p:ext uri="{BB962C8B-B14F-4D97-AF65-F5344CB8AC3E}">
        <p14:creationId xmlns:p14="http://schemas.microsoft.com/office/powerpoint/2010/main" val="3486088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ＭＳ 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ＭＳ Ｐ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1874</Words>
  <Application>Microsoft Office PowerPoint</Application>
  <PresentationFormat>Presentación en pantalla (4:3)</PresentationFormat>
  <Paragraphs>181</Paragraphs>
  <Slides>16</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16</vt:i4>
      </vt:variant>
    </vt:vector>
  </HeadingPairs>
  <TitlesOfParts>
    <vt:vector size="24" baseType="lpstr">
      <vt:lpstr>Arial</vt:lpstr>
      <vt:lpstr>Calibri</vt:lpstr>
      <vt:lpstr>Cambria</vt:lpstr>
      <vt:lpstr>EleganTech?</vt:lpstr>
      <vt:lpstr>EleganTech™</vt:lpstr>
      <vt:lpstr>Eurostile</vt:lpstr>
      <vt:lpstr>Office Theme</vt:lpstr>
      <vt:lpstr>Diseño personalizado</vt:lpstr>
      <vt:lpstr>TALLER DE EVALUACION DE LOS APRENDIZAJES (sesión 2)</vt:lpstr>
      <vt:lpstr>Reflexiones sobre las evaluaciones que aplicamos a nuestros estudiantes:</vt:lpstr>
      <vt:lpstr>Sesión 2: Taller de evaluación de los aprendizajes. Tema: Tipos de evaluación</vt:lpstr>
      <vt:lpstr>Antes de hablar de tipos de evaluación, es necesario hablar de objetivos de aprendizaje</vt:lpstr>
      <vt:lpstr>Presentación de PowerPoint</vt:lpstr>
      <vt:lpstr>Taxonomía de Bloom en el diseño de objetivos</vt:lpstr>
      <vt:lpstr>¿Qué verbos emplear para diseñar objetivos generales?</vt:lpstr>
      <vt:lpstr>¿Qué verbos emplear para diseñar objetivos específicos?</vt:lpstr>
      <vt:lpstr>¿Cómo redactar objetivos de aprendizaje?</vt:lpstr>
      <vt:lpstr>Ejemplo: guía para redactar objetivos de aprendizaje</vt:lpstr>
      <vt:lpstr>Tipos de evaluación  </vt:lpstr>
      <vt:lpstr>Tipos de evaluación </vt:lpstr>
      <vt:lpstr>Tipos de evaluación </vt:lpstr>
      <vt:lpstr>Recomendaciones finales:</vt:lpstr>
      <vt:lpstr>Recomendaciones finales:</vt:lpstr>
      <vt:lpstr>Actividad de aprendizaje: Matriz de objetivos, contenidos, criterios (indicador de evaluación), estrategia-instrumento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DE EVALUACION DE LOS APRENDIZAJES (sesión 2)</dc:title>
  <dc:creator>Maria Edelmira  Morales Gonzalez</dc:creator>
  <cp:lastModifiedBy>Maria Edelmira  Morales Gonzalez</cp:lastModifiedBy>
  <cp:revision>2</cp:revision>
  <dcterms:created xsi:type="dcterms:W3CDTF">2019-10-21T21:12:14Z</dcterms:created>
  <dcterms:modified xsi:type="dcterms:W3CDTF">2019-10-21T21:24:21Z</dcterms:modified>
</cp:coreProperties>
</file>