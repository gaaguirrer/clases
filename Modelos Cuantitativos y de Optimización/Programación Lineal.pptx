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7" r:id="rId11"/>
    <p:sldId id="266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s-N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34EF"/>
    <a:srgbClr val="007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5FD328-4717-4B11-AFFD-F53134AEA436}" v="5" dt="2025-09-10T19:55:17.28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Estilo temático 1 - Énfasis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 showGuides="1">
      <p:cViewPr varScale="1">
        <p:scale>
          <a:sx n="78" d="100"/>
          <a:sy n="78" d="100"/>
        </p:scale>
        <p:origin x="77" y="86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illermo AntonioAguirre" userId="42908199-65f4-4d4a-8e05-6e659ccb82ce" providerId="ADAL" clId="{7FFDD690-C89F-48BE-ADB8-2E4EEA2D9395}"/>
    <pc:docChg chg="undo custSel modSld">
      <pc:chgData name="Guillermo AntonioAguirre" userId="42908199-65f4-4d4a-8e05-6e659ccb82ce" providerId="ADAL" clId="{7FFDD690-C89F-48BE-ADB8-2E4EEA2D9395}" dt="2025-09-10T19:56:00.351" v="260" actId="207"/>
      <pc:docMkLst>
        <pc:docMk/>
      </pc:docMkLst>
      <pc:sldChg chg="addSp delSp modSp mod">
        <pc:chgData name="Guillermo AntonioAguirre" userId="42908199-65f4-4d4a-8e05-6e659ccb82ce" providerId="ADAL" clId="{7FFDD690-C89F-48BE-ADB8-2E4EEA2D9395}" dt="2025-09-10T19:52:35.068" v="87" actId="21"/>
        <pc:sldMkLst>
          <pc:docMk/>
          <pc:sldMk cId="1839480686" sldId="261"/>
        </pc:sldMkLst>
        <pc:spChg chg="add del mod">
          <ac:chgData name="Guillermo AntonioAguirre" userId="42908199-65f4-4d4a-8e05-6e659ccb82ce" providerId="ADAL" clId="{7FFDD690-C89F-48BE-ADB8-2E4EEA2D9395}" dt="2025-09-10T19:52:35.068" v="87" actId="21"/>
          <ac:spMkLst>
            <pc:docMk/>
            <pc:sldMk cId="1839480686" sldId="261"/>
            <ac:spMk id="2" creationId="{53DB686B-2E04-316C-3AA3-31385F4D3A46}"/>
          </ac:spMkLst>
        </pc:spChg>
      </pc:sldChg>
      <pc:sldChg chg="addSp delSp modSp mod">
        <pc:chgData name="Guillermo AntonioAguirre" userId="42908199-65f4-4d4a-8e05-6e659ccb82ce" providerId="ADAL" clId="{7FFDD690-C89F-48BE-ADB8-2E4EEA2D9395}" dt="2025-09-10T19:53:18.643" v="145" actId="21"/>
        <pc:sldMkLst>
          <pc:docMk/>
          <pc:sldMk cId="1767712936" sldId="262"/>
        </pc:sldMkLst>
        <pc:spChg chg="add del mod">
          <ac:chgData name="Guillermo AntonioAguirre" userId="42908199-65f4-4d4a-8e05-6e659ccb82ce" providerId="ADAL" clId="{7FFDD690-C89F-48BE-ADB8-2E4EEA2D9395}" dt="2025-09-10T19:53:18.643" v="145" actId="21"/>
          <ac:spMkLst>
            <pc:docMk/>
            <pc:sldMk cId="1767712936" sldId="262"/>
            <ac:spMk id="3" creationId="{53DB686B-2E04-316C-3AA3-31385F4D3A46}"/>
          </ac:spMkLst>
        </pc:spChg>
      </pc:sldChg>
      <pc:sldChg chg="addSp delSp modSp mod">
        <pc:chgData name="Guillermo AntonioAguirre" userId="42908199-65f4-4d4a-8e05-6e659ccb82ce" providerId="ADAL" clId="{7FFDD690-C89F-48BE-ADB8-2E4EEA2D9395}" dt="2025-09-10T19:56:00.351" v="260" actId="207"/>
        <pc:sldMkLst>
          <pc:docMk/>
          <pc:sldMk cId="1936281310" sldId="263"/>
        </pc:sldMkLst>
        <pc:spChg chg="add del mod">
          <ac:chgData name="Guillermo AntonioAguirre" userId="42908199-65f4-4d4a-8e05-6e659ccb82ce" providerId="ADAL" clId="{7FFDD690-C89F-48BE-ADB8-2E4EEA2D9395}" dt="2025-09-10T19:53:45.255" v="147" actId="478"/>
          <ac:spMkLst>
            <pc:docMk/>
            <pc:sldMk cId="1936281310" sldId="263"/>
            <ac:spMk id="3" creationId="{53DB686B-2E04-316C-3AA3-31385F4D3A46}"/>
          </ac:spMkLst>
        </pc:spChg>
        <pc:spChg chg="add mod">
          <ac:chgData name="Guillermo AntonioAguirre" userId="42908199-65f4-4d4a-8e05-6e659ccb82ce" providerId="ADAL" clId="{7FFDD690-C89F-48BE-ADB8-2E4EEA2D9395}" dt="2025-09-10T19:56:00.351" v="260" actId="207"/>
          <ac:spMkLst>
            <pc:docMk/>
            <pc:sldMk cId="1936281310" sldId="263"/>
            <ac:spMk id="4" creationId="{D9E7BD43-AC1F-7B61-4C08-84F2243C2F0B}"/>
          </ac:spMkLst>
        </pc:spChg>
        <pc:spChg chg="mod">
          <ac:chgData name="Guillermo AntonioAguirre" userId="42908199-65f4-4d4a-8e05-6e659ccb82ce" providerId="ADAL" clId="{7FFDD690-C89F-48BE-ADB8-2E4EEA2D9395}" dt="2025-09-10T19:55:05.907" v="157" actId="207"/>
          <ac:spMkLst>
            <pc:docMk/>
            <pc:sldMk cId="1936281310" sldId="263"/>
            <ac:spMk id="22" creationId="{0A034727-6DA2-45B4-BD0F-1DE779B7283B}"/>
          </ac:spMkLst>
        </pc:spChg>
      </pc:sldChg>
    </pc:docChg>
  </pc:docChgLst>
  <pc:docChgLst>
    <pc:chgData name="Guillermo AntonioAguirre" userId="42908199-65f4-4d4a-8e05-6e659ccb82ce" providerId="ADAL" clId="{88FFDC7D-A937-4233-8779-B023345A650B}"/>
    <pc:docChg chg="custSel modSld">
      <pc:chgData name="Guillermo AntonioAguirre" userId="42908199-65f4-4d4a-8e05-6e659ccb82ce" providerId="ADAL" clId="{88FFDC7D-A937-4233-8779-B023345A650B}" dt="2023-06-13T04:47:47.136" v="7" actId="313"/>
      <pc:docMkLst>
        <pc:docMk/>
      </pc:docMkLst>
      <pc:sldChg chg="modSp mod">
        <pc:chgData name="Guillermo AntonioAguirre" userId="42908199-65f4-4d4a-8e05-6e659ccb82ce" providerId="ADAL" clId="{88FFDC7D-A937-4233-8779-B023345A650B}" dt="2023-06-13T01:57:44.413" v="2" actId="1076"/>
        <pc:sldMkLst>
          <pc:docMk/>
          <pc:sldMk cId="1936281310" sldId="263"/>
        </pc:sldMkLst>
      </pc:sldChg>
      <pc:sldChg chg="modSp mod">
        <pc:chgData name="Guillermo AntonioAguirre" userId="42908199-65f4-4d4a-8e05-6e659ccb82ce" providerId="ADAL" clId="{88FFDC7D-A937-4233-8779-B023345A650B}" dt="2023-06-13T02:00:23.370" v="3" actId="20577"/>
        <pc:sldMkLst>
          <pc:docMk/>
          <pc:sldMk cId="2571451166" sldId="267"/>
        </pc:sldMkLst>
      </pc:sldChg>
      <pc:sldChg chg="modSp mod">
        <pc:chgData name="Guillermo AntonioAguirre" userId="42908199-65f4-4d4a-8e05-6e659ccb82ce" providerId="ADAL" clId="{88FFDC7D-A937-4233-8779-B023345A650B}" dt="2023-06-13T04:47:47.136" v="7" actId="313"/>
        <pc:sldMkLst>
          <pc:docMk/>
          <pc:sldMk cId="107738941" sldId="26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CB60C5-5CEF-4807-8CC2-49800D94E9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CB6D02C-ACCB-4565-9875-19A7A9B9C9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E0C172B-3A64-465C-9E91-91EECC320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9A720-34B3-49DE-9D5B-1D314894F68C}" type="datetimeFigureOut">
              <a:rPr lang="es-NI" smtClean="0"/>
              <a:t>10/9/2025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6AC8571-759B-4E0F-8401-C43A1FAEE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FF45823-2214-44F6-BBBF-6B66974AD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834FD-B8B8-4940-B5BB-05E1B1295464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5322447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FE02EE-2A62-4F83-8CE2-6BDB82577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1995E77-7639-43E1-BD5F-07B7B9AEF4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E639564-E26C-4BD5-BA3B-7D775247B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9A720-34B3-49DE-9D5B-1D314894F68C}" type="datetimeFigureOut">
              <a:rPr lang="es-NI" smtClean="0"/>
              <a:t>10/9/2025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D328578-5A2E-44B8-8904-4FEE7FC66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9F75F99-C7A7-4C47-B8FA-370FD2D1A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834FD-B8B8-4940-B5BB-05E1B1295464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5542580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EB8765-5BF9-4429-8F9C-0D13EE865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612DEA3-ADF2-4412-B958-DB483C4FFF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322DE0A-E167-4549-A8FC-CA3BFC50D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9A720-34B3-49DE-9D5B-1D314894F68C}" type="datetimeFigureOut">
              <a:rPr lang="es-NI" smtClean="0"/>
              <a:t>10/9/2025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55620C9-BC80-491A-B4BE-A61F753CE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3E2C59B-F0C0-4404-9FA7-E0486A15A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834FD-B8B8-4940-B5BB-05E1B1295464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664496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696DAE-385C-4958-8363-0D948449F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4600DD5-E4BE-4019-86B7-E5D61D0EE1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E0C6529-63A9-4599-A2D7-2CF5862126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63B8B52-7C95-4C9F-8913-38D79D9B4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9A720-34B3-49DE-9D5B-1D314894F68C}" type="datetimeFigureOut">
              <a:rPr lang="es-NI" smtClean="0"/>
              <a:t>10/9/2025</a:t>
            </a:fld>
            <a:endParaRPr lang="es-NI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7B5CB61-1F8D-4A97-88F0-4D341AE02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020FD00-D6B5-4CD5-8BF3-51F8967F0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834FD-B8B8-4940-B5BB-05E1B1295464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125894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1597CE-A680-4BD5-A32B-4B02604C3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62585E2-08B1-4210-9689-0A76033622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77B230B-B2C3-4634-8650-C55C3F67A6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28DC737-94E5-4C94-AAE0-6B600894DB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871E457-78DE-4D70-8C65-2A2F455F84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FC46D4B-6FFF-4752-A301-F5B21CADA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9A720-34B3-49DE-9D5B-1D314894F68C}" type="datetimeFigureOut">
              <a:rPr lang="es-NI" smtClean="0"/>
              <a:t>10/9/2025</a:t>
            </a:fld>
            <a:endParaRPr lang="es-NI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F1778DB-5228-496D-B145-8950454C6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285D95E-912C-4F44-B845-84F1D2ACC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834FD-B8B8-4940-B5BB-05E1B1295464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8241003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998196-0785-4C5F-B1B2-DEC8B7A91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DABD9B6-348F-4559-932A-97BA56586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9A720-34B3-49DE-9D5B-1D314894F68C}" type="datetimeFigureOut">
              <a:rPr lang="es-NI" smtClean="0"/>
              <a:t>10/9/2025</a:t>
            </a:fld>
            <a:endParaRPr lang="es-NI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1F05A1A-F27F-40B8-9B25-0C82425E6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709C590-AFE4-4601-9451-5A30FF191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834FD-B8B8-4940-B5BB-05E1B1295464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7930152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E639A73-6A96-44B5-9D1F-2EA344499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9A720-34B3-49DE-9D5B-1D314894F68C}" type="datetimeFigureOut">
              <a:rPr lang="es-NI" smtClean="0"/>
              <a:t>10/9/2025</a:t>
            </a:fld>
            <a:endParaRPr lang="es-NI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C6E607D-669A-4F4C-9A75-7F932CF2F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39972E4-9B75-450D-B43D-9BA6F6696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834FD-B8B8-4940-B5BB-05E1B1295464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6110822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8B2693-9331-4B16-BAFF-B8A1D2EEB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234F407-CE4C-48EE-8F41-39785B3CE8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F3D5387-3FCA-42DB-B9A6-E4AD3CAFE1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804457F-215A-427A-8CE5-95948CFB2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9A720-34B3-49DE-9D5B-1D314894F68C}" type="datetimeFigureOut">
              <a:rPr lang="es-NI" smtClean="0"/>
              <a:t>10/9/2025</a:t>
            </a:fld>
            <a:endParaRPr lang="es-NI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66B24D2-3192-4F0B-9C81-CF194BA24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99EE617-0D47-457D-828D-5CF7CB7B4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834FD-B8B8-4940-B5BB-05E1B1295464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7124081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0CF11A-10C7-4526-83B8-4D041FE7E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11D36BC-9E13-4CB3-A83A-8DE617FD0A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NI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3E9FFB7-D522-411B-B9D5-28825F17B5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5DD5735-DAA3-4F86-A9E4-21AC92472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9A720-34B3-49DE-9D5B-1D314894F68C}" type="datetimeFigureOut">
              <a:rPr lang="es-NI" smtClean="0"/>
              <a:t>10/9/2025</a:t>
            </a:fld>
            <a:endParaRPr lang="es-NI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0DA091D-9F6B-42DE-9BBC-8EA43C5B3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54DE73F-8618-43C7-A070-00B392E50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834FD-B8B8-4940-B5BB-05E1B1295464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718964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8C8ED7-0980-4702-B100-E675316CE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A3E6B03-15AB-428F-98FE-9352504138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A5436BA-5D7F-42D1-A39B-B90382B7D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9A720-34B3-49DE-9D5B-1D314894F68C}" type="datetimeFigureOut">
              <a:rPr lang="es-NI" smtClean="0"/>
              <a:t>10/9/2025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6CD9783-7D67-4513-87DF-1D37E620E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A181C71-E58A-4588-A28A-6A8AFF564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834FD-B8B8-4940-B5BB-05E1B1295464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1950619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4E048DC-7CA0-49ED-A2C6-B7468DD05C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5BB4B26-9FEB-417D-9D42-4B27752B8C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0A1025E-DE43-49B8-87FA-9E9C13649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9A720-34B3-49DE-9D5B-1D314894F68C}" type="datetimeFigureOut">
              <a:rPr lang="es-NI" smtClean="0"/>
              <a:t>10/9/2025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1228F86-19CF-4D07-A9E4-6390AF688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1C878A0-392C-4870-8034-7E34E53CE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834FD-B8B8-4940-B5BB-05E1B1295464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2290661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A220785-93F9-48F8-909A-D6DE1FD93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2945A12-48D3-438A-9ACE-E251598507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C0C9A81-1C39-4038-8C96-D3C812BEEE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B9A720-34B3-49DE-9D5B-1D314894F68C}" type="datetimeFigureOut">
              <a:rPr lang="es-NI" smtClean="0"/>
              <a:t>10/9/2025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71CF98A-263C-4B27-A3EE-E5129E04E5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972B7EC-ECA0-47E8-B0FF-90C5F952FB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C834FD-B8B8-4940-B5BB-05E1B1295464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9501440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N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54D8B9D9-FA43-48EB-90FB-C8A4BDDD2999}"/>
              </a:ext>
            </a:extLst>
          </p:cNvPr>
          <p:cNvSpPr txBox="1"/>
          <p:nvPr/>
        </p:nvSpPr>
        <p:spPr>
          <a:xfrm>
            <a:off x="352697" y="692331"/>
            <a:ext cx="1145612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NI" sz="2400" dirty="0">
                <a:latin typeface="Verdana" panose="020B0604030504040204" pitchFamily="34" charset="0"/>
                <a:ea typeface="Verdana" panose="020B0604030504040204" pitchFamily="34" charset="0"/>
              </a:rPr>
              <a:t>Un negocio se dedica a la fabricación de sillas y mesas , para fabricar cada uno se consume una determinada cantidad de recursos en los departamentos de corte y ensamble.  Los recursos están en horas hombre y son 120 horas para corte y 90 para ensamble. Cada unidad fabricada ofrece la siguiente ganancia a la empresa 50 dólares para mesas y 80 dólares para sillas</a:t>
            </a:r>
          </a:p>
        </p:txBody>
      </p:sp>
      <p:graphicFrame>
        <p:nvGraphicFramePr>
          <p:cNvPr id="5" name="Tabla 5">
            <a:extLst>
              <a:ext uri="{FF2B5EF4-FFF2-40B4-BE49-F238E27FC236}">
                <a16:creationId xmlns:a16="http://schemas.microsoft.com/office/drawing/2014/main" id="{790BAADA-6172-484A-BB41-C2DBA8F593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3194087"/>
              </p:ext>
            </p:extLst>
          </p:nvPr>
        </p:nvGraphicFramePr>
        <p:xfrm>
          <a:off x="1914434" y="4076820"/>
          <a:ext cx="8128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46917249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88448376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15202061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1401676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Proceso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 err="1"/>
                        <a:t>hrsxmesa</a:t>
                      </a:r>
                      <a:endParaRPr lang="es-NI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 err="1"/>
                        <a:t>hrsxsilla</a:t>
                      </a:r>
                      <a:endParaRPr lang="es-NI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Horas disponibles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8648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NI" dirty="0"/>
                        <a:t>Corte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NI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NI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NI" dirty="0"/>
                        <a:t>120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07699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NI" dirty="0"/>
                        <a:t>ensamblado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NI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NI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NI" dirty="0"/>
                        <a:t>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04634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NI" dirty="0"/>
                        <a:t>Ganancia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NI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NI" dirty="0"/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NI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8577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77714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a 5">
            <a:extLst>
              <a:ext uri="{FF2B5EF4-FFF2-40B4-BE49-F238E27FC236}">
                <a16:creationId xmlns:a16="http://schemas.microsoft.com/office/drawing/2014/main" id="{790BAADA-6172-484A-BB41-C2DBA8F593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1421439"/>
              </p:ext>
            </p:extLst>
          </p:nvPr>
        </p:nvGraphicFramePr>
        <p:xfrm>
          <a:off x="1940560" y="589037"/>
          <a:ext cx="8128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46917249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88448376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15202061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1401676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Proceso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 err="1"/>
                        <a:t>hrsxmesa</a:t>
                      </a:r>
                      <a:endParaRPr lang="es-NI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 err="1"/>
                        <a:t>hrsxsilla</a:t>
                      </a:r>
                      <a:endParaRPr lang="es-NI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Horas disponibles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8648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NI" dirty="0"/>
                        <a:t>Corte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NI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NI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NI" dirty="0"/>
                        <a:t>120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07699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NI" dirty="0"/>
                        <a:t>ensamblado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NI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NI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NI" dirty="0"/>
                        <a:t>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04634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NI" dirty="0"/>
                        <a:t>Ganancia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NI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NI" dirty="0"/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NI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857700"/>
                  </a:ext>
                </a:extLst>
              </a:tr>
            </a:tbl>
          </a:graphicData>
        </a:graphic>
      </p:graphicFrame>
      <p:sp>
        <p:nvSpPr>
          <p:cNvPr id="2" name="CuadroTexto 1">
            <a:extLst>
              <a:ext uri="{FF2B5EF4-FFF2-40B4-BE49-F238E27FC236}">
                <a16:creationId xmlns:a16="http://schemas.microsoft.com/office/drawing/2014/main" id="{2CE5731C-A6A4-450E-9D3B-191E7900EA92}"/>
              </a:ext>
            </a:extLst>
          </p:cNvPr>
          <p:cNvSpPr txBox="1"/>
          <p:nvPr/>
        </p:nvSpPr>
        <p:spPr>
          <a:xfrm>
            <a:off x="1242908" y="2560320"/>
            <a:ext cx="457006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sz="2400" b="1" dirty="0"/>
              <a:t>Variables de decisión</a:t>
            </a:r>
          </a:p>
          <a:p>
            <a:endParaRPr lang="es-NI" sz="2400" dirty="0"/>
          </a:p>
          <a:p>
            <a:r>
              <a:rPr lang="es-NI" sz="2400" dirty="0"/>
              <a:t>	X</a:t>
            </a:r>
            <a:r>
              <a:rPr lang="es-NI" sz="2400" baseline="-25000" dirty="0"/>
              <a:t>1</a:t>
            </a:r>
            <a:r>
              <a:rPr lang="es-NI" sz="2400" dirty="0"/>
              <a:t>= Cantidad de mesas</a:t>
            </a:r>
            <a:endParaRPr lang="es-NI" sz="2400" baseline="-25000" dirty="0"/>
          </a:p>
          <a:p>
            <a:r>
              <a:rPr lang="es-NI" sz="2400" dirty="0"/>
              <a:t>	X</a:t>
            </a:r>
            <a:r>
              <a:rPr lang="es-NI" sz="2400" baseline="-25000" dirty="0"/>
              <a:t>2</a:t>
            </a:r>
            <a:r>
              <a:rPr lang="es-NI" sz="2400" dirty="0"/>
              <a:t>= Cantidad de sillas</a:t>
            </a:r>
          </a:p>
          <a:p>
            <a:endParaRPr lang="es-NI" sz="2400" dirty="0"/>
          </a:p>
          <a:p>
            <a:r>
              <a:rPr lang="es-NI" sz="2400" b="1" dirty="0"/>
              <a:t>Función Objetivo</a:t>
            </a:r>
          </a:p>
          <a:p>
            <a:endParaRPr lang="es-NI" sz="2400" dirty="0"/>
          </a:p>
          <a:p>
            <a:r>
              <a:rPr lang="es-NI" sz="2400" dirty="0"/>
              <a:t>	Z = Ganancias</a:t>
            </a:r>
          </a:p>
          <a:p>
            <a:r>
              <a:rPr lang="es-NI" sz="2400" dirty="0"/>
              <a:t>	Z= 50 X</a:t>
            </a:r>
            <a:r>
              <a:rPr lang="es-NI" sz="2400" baseline="-25000" dirty="0"/>
              <a:t>1</a:t>
            </a:r>
            <a:r>
              <a:rPr lang="es-NI" sz="2400" dirty="0"/>
              <a:t> + 80 X</a:t>
            </a:r>
            <a:r>
              <a:rPr lang="es-NI" sz="2400" baseline="-25000" dirty="0"/>
              <a:t>2</a:t>
            </a:r>
            <a:endParaRPr lang="es-NI" sz="2400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27549D4-3B14-4993-B54B-680C95A7A42D}"/>
              </a:ext>
            </a:extLst>
          </p:cNvPr>
          <p:cNvSpPr txBox="1"/>
          <p:nvPr/>
        </p:nvSpPr>
        <p:spPr>
          <a:xfrm>
            <a:off x="6202440" y="2560320"/>
            <a:ext cx="457006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sz="2400" b="1" dirty="0"/>
              <a:t>Restricciones</a:t>
            </a:r>
          </a:p>
          <a:p>
            <a:endParaRPr lang="es-NI" sz="2400" dirty="0"/>
          </a:p>
          <a:p>
            <a:r>
              <a:rPr lang="es-NI" sz="2400" dirty="0"/>
              <a:t>	Consumo &lt;= disponible</a:t>
            </a:r>
          </a:p>
          <a:p>
            <a:endParaRPr lang="es-NI" sz="2400" dirty="0"/>
          </a:p>
          <a:p>
            <a:r>
              <a:rPr lang="es-NI" sz="2400" dirty="0"/>
              <a:t>	X</a:t>
            </a:r>
            <a:r>
              <a:rPr lang="es-NI" sz="2400" baseline="-25000" dirty="0"/>
              <a:t>1</a:t>
            </a:r>
            <a:r>
              <a:rPr lang="es-NI" sz="2400" dirty="0"/>
              <a:t> + 2X</a:t>
            </a:r>
            <a:r>
              <a:rPr lang="es-NI" sz="2400" baseline="-25000" dirty="0"/>
              <a:t>2 </a:t>
            </a:r>
            <a:r>
              <a:rPr lang="es-NI" sz="2400" dirty="0"/>
              <a:t>&lt;= 120</a:t>
            </a:r>
          </a:p>
          <a:p>
            <a:r>
              <a:rPr lang="es-NI" sz="2400" dirty="0"/>
              <a:t>	X</a:t>
            </a:r>
            <a:r>
              <a:rPr lang="es-NI" sz="2400" baseline="-25000" dirty="0"/>
              <a:t>1</a:t>
            </a:r>
            <a:r>
              <a:rPr lang="es-NI" sz="2400" dirty="0"/>
              <a:t> + X</a:t>
            </a:r>
            <a:r>
              <a:rPr lang="es-NI" sz="2400" baseline="-25000" dirty="0"/>
              <a:t>2 </a:t>
            </a:r>
            <a:r>
              <a:rPr lang="es-NI" sz="2400" dirty="0"/>
              <a:t>&lt;= 90</a:t>
            </a:r>
          </a:p>
          <a:p>
            <a:endParaRPr lang="es-NI" sz="2400" dirty="0"/>
          </a:p>
        </p:txBody>
      </p:sp>
    </p:spTree>
    <p:extLst>
      <p:ext uri="{BB962C8B-B14F-4D97-AF65-F5344CB8AC3E}">
        <p14:creationId xmlns:p14="http://schemas.microsoft.com/office/powerpoint/2010/main" val="37696648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227549D4-3B14-4993-B54B-680C95A7A42D}"/>
              </a:ext>
            </a:extLst>
          </p:cNvPr>
          <p:cNvSpPr txBox="1"/>
          <p:nvPr/>
        </p:nvSpPr>
        <p:spPr>
          <a:xfrm>
            <a:off x="2802534" y="1905506"/>
            <a:ext cx="658693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sz="2400" dirty="0"/>
              <a:t>Para X</a:t>
            </a:r>
            <a:r>
              <a:rPr lang="es-NI" sz="2400" baseline="-25000" dirty="0"/>
              <a:t>1</a:t>
            </a:r>
            <a:r>
              <a:rPr lang="es-NI" sz="2400" dirty="0"/>
              <a:t>=0				Para X</a:t>
            </a:r>
            <a:r>
              <a:rPr lang="es-NI" sz="2400" baseline="-25000" dirty="0"/>
              <a:t>2</a:t>
            </a:r>
            <a:r>
              <a:rPr lang="es-NI" sz="2400" dirty="0"/>
              <a:t>=0</a:t>
            </a:r>
          </a:p>
          <a:p>
            <a:endParaRPr lang="es-NI" sz="2400" dirty="0"/>
          </a:p>
          <a:p>
            <a:r>
              <a:rPr lang="es-NI" sz="2400" dirty="0"/>
              <a:t>X</a:t>
            </a:r>
            <a:r>
              <a:rPr lang="es-NI" sz="2400" baseline="-25000" dirty="0"/>
              <a:t>1</a:t>
            </a:r>
            <a:r>
              <a:rPr lang="es-NI" sz="2400" dirty="0"/>
              <a:t> + 2X</a:t>
            </a:r>
            <a:r>
              <a:rPr lang="es-NI" sz="2400" baseline="-25000" dirty="0"/>
              <a:t>2 </a:t>
            </a:r>
            <a:r>
              <a:rPr lang="es-NI" sz="2400" dirty="0"/>
              <a:t>= 120				X</a:t>
            </a:r>
            <a:r>
              <a:rPr lang="es-NI" sz="2400" baseline="-25000" dirty="0"/>
              <a:t>1</a:t>
            </a:r>
            <a:r>
              <a:rPr lang="es-NI" sz="2400" dirty="0"/>
              <a:t> + 2X</a:t>
            </a:r>
            <a:r>
              <a:rPr lang="es-NI" sz="2400" baseline="-25000" dirty="0"/>
              <a:t>2 </a:t>
            </a:r>
            <a:r>
              <a:rPr lang="es-NI" sz="2400" dirty="0"/>
              <a:t>= 120</a:t>
            </a:r>
          </a:p>
          <a:p>
            <a:r>
              <a:rPr lang="es-NI" sz="2400" dirty="0"/>
              <a:t>0 + 2X</a:t>
            </a:r>
            <a:r>
              <a:rPr lang="es-NI" sz="2400" baseline="-25000" dirty="0"/>
              <a:t>2 </a:t>
            </a:r>
            <a:r>
              <a:rPr lang="es-NI" sz="2400" dirty="0"/>
              <a:t>= 120				X</a:t>
            </a:r>
            <a:r>
              <a:rPr lang="es-NI" sz="2400" baseline="-25000" dirty="0"/>
              <a:t>1</a:t>
            </a:r>
            <a:r>
              <a:rPr lang="es-NI" sz="2400" dirty="0"/>
              <a:t> + 2(0)</a:t>
            </a:r>
            <a:r>
              <a:rPr lang="es-NI" sz="2400" baseline="-25000" dirty="0"/>
              <a:t> </a:t>
            </a:r>
            <a:r>
              <a:rPr lang="es-NI" sz="2400" dirty="0"/>
              <a:t>= 120</a:t>
            </a:r>
          </a:p>
          <a:p>
            <a:r>
              <a:rPr lang="es-NI" sz="2400" dirty="0"/>
              <a:t>2X</a:t>
            </a:r>
            <a:r>
              <a:rPr lang="es-NI" sz="2400" baseline="-25000" dirty="0"/>
              <a:t>2 </a:t>
            </a:r>
            <a:r>
              <a:rPr lang="es-NI" sz="2400" dirty="0"/>
              <a:t>= 120				X</a:t>
            </a:r>
            <a:r>
              <a:rPr lang="es-NI" sz="2400" baseline="-25000" dirty="0"/>
              <a:t>1</a:t>
            </a:r>
            <a:r>
              <a:rPr lang="es-NI" sz="2400" dirty="0"/>
              <a:t> + 2(0)</a:t>
            </a:r>
            <a:r>
              <a:rPr lang="es-NI" sz="2400" baseline="-25000" dirty="0"/>
              <a:t> </a:t>
            </a:r>
            <a:r>
              <a:rPr lang="es-NI" sz="2400" dirty="0"/>
              <a:t>= 120</a:t>
            </a:r>
          </a:p>
          <a:p>
            <a:r>
              <a:rPr lang="es-NI" sz="2400" dirty="0"/>
              <a:t>X</a:t>
            </a:r>
            <a:r>
              <a:rPr lang="es-NI" sz="2400" baseline="-25000" dirty="0"/>
              <a:t>2 </a:t>
            </a:r>
            <a:r>
              <a:rPr lang="es-NI" sz="2400" dirty="0"/>
              <a:t>= 120/2				X</a:t>
            </a:r>
            <a:r>
              <a:rPr lang="es-NI" sz="2400" baseline="-25000" dirty="0"/>
              <a:t>1</a:t>
            </a:r>
            <a:r>
              <a:rPr lang="es-NI" sz="2400" dirty="0"/>
              <a:t> + 0</a:t>
            </a:r>
            <a:r>
              <a:rPr lang="es-NI" sz="2400" baseline="-25000" dirty="0"/>
              <a:t> </a:t>
            </a:r>
            <a:r>
              <a:rPr lang="es-NI" sz="2400" dirty="0"/>
              <a:t>= 120</a:t>
            </a:r>
          </a:p>
          <a:p>
            <a:r>
              <a:rPr lang="es-NI" sz="2400" dirty="0"/>
              <a:t>X</a:t>
            </a:r>
            <a:r>
              <a:rPr lang="es-NI" sz="2400" baseline="-25000" dirty="0"/>
              <a:t>2 </a:t>
            </a:r>
            <a:r>
              <a:rPr lang="es-NI" sz="2400" dirty="0"/>
              <a:t>= 60					X</a:t>
            </a:r>
            <a:r>
              <a:rPr lang="es-NI" sz="2400" baseline="-25000" dirty="0"/>
              <a:t>1</a:t>
            </a:r>
            <a:r>
              <a:rPr lang="es-NI" sz="2400" dirty="0"/>
              <a:t> = 120</a:t>
            </a:r>
          </a:p>
          <a:p>
            <a:r>
              <a:rPr lang="es-NI" sz="2400" dirty="0"/>
              <a:t>PO1(0,60)				PO2(120,0) 	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8143278-17E0-4629-99D0-E59620EF0125}"/>
              </a:ext>
            </a:extLst>
          </p:cNvPr>
          <p:cNvSpPr txBox="1"/>
          <p:nvPr/>
        </p:nvSpPr>
        <p:spPr>
          <a:xfrm>
            <a:off x="4566861" y="298182"/>
            <a:ext cx="30582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sz="3600" dirty="0"/>
              <a:t>Método gráfico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2760E84-84F5-4B65-8BE3-D1D95CA70040}"/>
              </a:ext>
            </a:extLst>
          </p:cNvPr>
          <p:cNvSpPr txBox="1"/>
          <p:nvPr/>
        </p:nvSpPr>
        <p:spPr>
          <a:xfrm>
            <a:off x="2867231" y="1110956"/>
            <a:ext cx="6457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sz="2400" dirty="0"/>
              <a:t>Hacemos cero las variables en la primera ecuación</a:t>
            </a:r>
          </a:p>
        </p:txBody>
      </p:sp>
    </p:spTree>
    <p:extLst>
      <p:ext uri="{BB962C8B-B14F-4D97-AF65-F5344CB8AC3E}">
        <p14:creationId xmlns:p14="http://schemas.microsoft.com/office/powerpoint/2010/main" val="6634514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227549D4-3B14-4993-B54B-680C95A7A42D}"/>
              </a:ext>
            </a:extLst>
          </p:cNvPr>
          <p:cNvSpPr txBox="1"/>
          <p:nvPr/>
        </p:nvSpPr>
        <p:spPr>
          <a:xfrm>
            <a:off x="3409877" y="1938331"/>
            <a:ext cx="537224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sz="2400" dirty="0"/>
              <a:t>Para X</a:t>
            </a:r>
            <a:r>
              <a:rPr lang="es-NI" sz="2400" baseline="-25000" dirty="0"/>
              <a:t>1</a:t>
            </a:r>
            <a:r>
              <a:rPr lang="es-NI" sz="2400" dirty="0"/>
              <a:t>=0			Para X</a:t>
            </a:r>
            <a:r>
              <a:rPr lang="es-NI" sz="2400" baseline="-25000" dirty="0"/>
              <a:t>2</a:t>
            </a:r>
            <a:r>
              <a:rPr lang="es-NI" sz="2400" dirty="0"/>
              <a:t>=0</a:t>
            </a:r>
          </a:p>
          <a:p>
            <a:endParaRPr lang="es-NI" sz="2400" dirty="0"/>
          </a:p>
          <a:p>
            <a:r>
              <a:rPr lang="es-NI" sz="2400" dirty="0"/>
              <a:t>X</a:t>
            </a:r>
            <a:r>
              <a:rPr lang="es-NI" sz="2400" baseline="-25000" dirty="0"/>
              <a:t>1</a:t>
            </a:r>
            <a:r>
              <a:rPr lang="es-NI" sz="2400" dirty="0"/>
              <a:t> + X</a:t>
            </a:r>
            <a:r>
              <a:rPr lang="es-NI" sz="2400" baseline="-25000" dirty="0"/>
              <a:t>2 </a:t>
            </a:r>
            <a:r>
              <a:rPr lang="es-NI" sz="2400" dirty="0"/>
              <a:t>= 90			X</a:t>
            </a:r>
            <a:r>
              <a:rPr lang="es-NI" sz="2400" baseline="-25000" dirty="0"/>
              <a:t>1</a:t>
            </a:r>
            <a:r>
              <a:rPr lang="es-NI" sz="2400" dirty="0"/>
              <a:t> + X</a:t>
            </a:r>
            <a:r>
              <a:rPr lang="es-NI" sz="2400" baseline="-25000" dirty="0"/>
              <a:t>2 </a:t>
            </a:r>
            <a:r>
              <a:rPr lang="es-NI" sz="2400" dirty="0"/>
              <a:t>= 90</a:t>
            </a:r>
          </a:p>
          <a:p>
            <a:r>
              <a:rPr lang="es-NI" sz="2400" dirty="0"/>
              <a:t>0 + X</a:t>
            </a:r>
            <a:r>
              <a:rPr lang="es-NI" sz="2400" baseline="-25000" dirty="0"/>
              <a:t>2 </a:t>
            </a:r>
            <a:r>
              <a:rPr lang="es-NI" sz="2400" dirty="0"/>
              <a:t>= 90			X</a:t>
            </a:r>
            <a:r>
              <a:rPr lang="es-NI" sz="2400" baseline="-25000" dirty="0"/>
              <a:t>1</a:t>
            </a:r>
            <a:r>
              <a:rPr lang="es-NI" sz="2400" dirty="0"/>
              <a:t> + 0</a:t>
            </a:r>
            <a:r>
              <a:rPr lang="es-NI" sz="2400" baseline="-25000" dirty="0"/>
              <a:t> </a:t>
            </a:r>
            <a:r>
              <a:rPr lang="es-NI" sz="2400" dirty="0"/>
              <a:t>= 90</a:t>
            </a:r>
          </a:p>
          <a:p>
            <a:r>
              <a:rPr lang="es-NI" sz="2400" dirty="0"/>
              <a:t>X</a:t>
            </a:r>
            <a:r>
              <a:rPr lang="es-NI" sz="2400" baseline="-25000" dirty="0"/>
              <a:t>2 </a:t>
            </a:r>
            <a:r>
              <a:rPr lang="es-NI" sz="2400" dirty="0"/>
              <a:t>= 90				X</a:t>
            </a:r>
            <a:r>
              <a:rPr lang="es-NI" sz="2400" baseline="-25000" dirty="0"/>
              <a:t>1</a:t>
            </a:r>
            <a:r>
              <a:rPr lang="es-NI" sz="2400" dirty="0"/>
              <a:t> </a:t>
            </a:r>
            <a:r>
              <a:rPr lang="es-NI" sz="2400" baseline="-25000" dirty="0"/>
              <a:t> </a:t>
            </a:r>
            <a:r>
              <a:rPr lang="es-NI" sz="2400" dirty="0"/>
              <a:t>= 90</a:t>
            </a:r>
          </a:p>
          <a:p>
            <a:r>
              <a:rPr lang="es-NI" sz="2400" dirty="0"/>
              <a:t>PO3(0,90)			PO4(90,0) 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8143278-17E0-4629-99D0-E59620EF0125}"/>
              </a:ext>
            </a:extLst>
          </p:cNvPr>
          <p:cNvSpPr txBox="1"/>
          <p:nvPr/>
        </p:nvSpPr>
        <p:spPr>
          <a:xfrm>
            <a:off x="4566863" y="316939"/>
            <a:ext cx="30582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sz="3600" dirty="0"/>
              <a:t>Método gráfico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2760E84-84F5-4B65-8BE3-D1D95CA70040}"/>
              </a:ext>
            </a:extLst>
          </p:cNvPr>
          <p:cNvSpPr txBox="1"/>
          <p:nvPr/>
        </p:nvSpPr>
        <p:spPr>
          <a:xfrm>
            <a:off x="2867231" y="1110956"/>
            <a:ext cx="65215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sz="2400" dirty="0"/>
              <a:t>Hacemos cero las variables en la segunda ecuación</a:t>
            </a:r>
          </a:p>
        </p:txBody>
      </p:sp>
    </p:spTree>
    <p:extLst>
      <p:ext uri="{BB962C8B-B14F-4D97-AF65-F5344CB8AC3E}">
        <p14:creationId xmlns:p14="http://schemas.microsoft.com/office/powerpoint/2010/main" val="33820486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95D223A7-DF52-4A90-B132-67E99425A4AF}"/>
              </a:ext>
            </a:extLst>
          </p:cNvPr>
          <p:cNvSpPr txBox="1"/>
          <p:nvPr/>
        </p:nvSpPr>
        <p:spPr>
          <a:xfrm>
            <a:off x="1842185" y="396709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dirty="0"/>
              <a:t>30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BBEE1912-2F45-4E82-8689-EDCA8E0B943A}"/>
              </a:ext>
            </a:extLst>
          </p:cNvPr>
          <p:cNvSpPr txBox="1"/>
          <p:nvPr/>
        </p:nvSpPr>
        <p:spPr>
          <a:xfrm>
            <a:off x="1842185" y="324433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dirty="0"/>
              <a:t>60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7FB062FD-55CD-4974-85EC-C1CD12A3EC07}"/>
              </a:ext>
            </a:extLst>
          </p:cNvPr>
          <p:cNvSpPr txBox="1"/>
          <p:nvPr/>
        </p:nvSpPr>
        <p:spPr>
          <a:xfrm>
            <a:off x="1842185" y="252157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dirty="0"/>
              <a:t>90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C2E063C1-42EC-4502-B912-A3751859321A}"/>
              </a:ext>
            </a:extLst>
          </p:cNvPr>
          <p:cNvSpPr txBox="1"/>
          <p:nvPr/>
        </p:nvSpPr>
        <p:spPr>
          <a:xfrm>
            <a:off x="1783675" y="1798822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dirty="0"/>
              <a:t>120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F1AF1E6D-2329-4647-A1DE-ABB0E213E399}"/>
              </a:ext>
            </a:extLst>
          </p:cNvPr>
          <p:cNvSpPr txBox="1"/>
          <p:nvPr/>
        </p:nvSpPr>
        <p:spPr>
          <a:xfrm>
            <a:off x="3035595" y="497639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dirty="0"/>
              <a:t>30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946684BF-8547-436A-A327-E79C91CA0E89}"/>
              </a:ext>
            </a:extLst>
          </p:cNvPr>
          <p:cNvSpPr txBox="1"/>
          <p:nvPr/>
        </p:nvSpPr>
        <p:spPr>
          <a:xfrm>
            <a:off x="3776492" y="497639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dirty="0"/>
              <a:t>60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02183A0F-9FC3-4106-9A66-8D0C6CA4B29A}"/>
              </a:ext>
            </a:extLst>
          </p:cNvPr>
          <p:cNvSpPr txBox="1"/>
          <p:nvPr/>
        </p:nvSpPr>
        <p:spPr>
          <a:xfrm>
            <a:off x="4489253" y="497639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dirty="0"/>
              <a:t>90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E6FC97ED-6024-45A3-A72E-711B809A6ECD}"/>
              </a:ext>
            </a:extLst>
          </p:cNvPr>
          <p:cNvSpPr txBox="1"/>
          <p:nvPr/>
        </p:nvSpPr>
        <p:spPr>
          <a:xfrm>
            <a:off x="5172239" y="4952273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dirty="0"/>
              <a:t>120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0A034727-6DA2-45B4-BD0F-1DE779B7283B}"/>
              </a:ext>
            </a:extLst>
          </p:cNvPr>
          <p:cNvSpPr/>
          <p:nvPr/>
        </p:nvSpPr>
        <p:spPr>
          <a:xfrm>
            <a:off x="8912718" y="6168404"/>
            <a:ext cx="31151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NI" b="1" dirty="0"/>
              <a:t>R1 </a:t>
            </a:r>
            <a:r>
              <a:rPr lang="es-NI" b="1" dirty="0">
                <a:solidFill>
                  <a:srgbClr val="FF0000"/>
                </a:solidFill>
              </a:rPr>
              <a:t>PO1</a:t>
            </a:r>
            <a:r>
              <a:rPr lang="es-NI" b="1" dirty="0"/>
              <a:t>(0,60) 	</a:t>
            </a:r>
            <a:r>
              <a:rPr lang="es-NI" b="1" dirty="0">
                <a:solidFill>
                  <a:srgbClr val="00B050"/>
                </a:solidFill>
              </a:rPr>
              <a:t>PO2</a:t>
            </a:r>
            <a:r>
              <a:rPr lang="es-NI" b="1" dirty="0"/>
              <a:t>(120,0) </a:t>
            </a:r>
          </a:p>
          <a:p>
            <a:r>
              <a:rPr lang="es-NI" b="1" dirty="0"/>
              <a:t>R2 </a:t>
            </a:r>
            <a:r>
              <a:rPr lang="es-NI" b="1" dirty="0">
                <a:solidFill>
                  <a:srgbClr val="7030A0"/>
                </a:solidFill>
              </a:rPr>
              <a:t>PO3</a:t>
            </a:r>
            <a:r>
              <a:rPr lang="es-NI" b="1" dirty="0"/>
              <a:t>(0,90) 	</a:t>
            </a:r>
            <a:r>
              <a:rPr lang="es-NI" b="1" dirty="0">
                <a:solidFill>
                  <a:srgbClr val="0070C0"/>
                </a:solidFill>
              </a:rPr>
              <a:t>PO4</a:t>
            </a:r>
            <a:r>
              <a:rPr lang="es-NI" b="1" dirty="0"/>
              <a:t>(90,0)</a:t>
            </a:r>
          </a:p>
        </p:txBody>
      </p:sp>
      <p:grpSp>
        <p:nvGrpSpPr>
          <p:cNvPr id="27" name="Grupo 26">
            <a:extLst>
              <a:ext uri="{FF2B5EF4-FFF2-40B4-BE49-F238E27FC236}">
                <a16:creationId xmlns:a16="http://schemas.microsoft.com/office/drawing/2014/main" id="{E3597527-2D4C-4716-B551-9A8D3D3BA4E8}"/>
              </a:ext>
            </a:extLst>
          </p:cNvPr>
          <p:cNvGrpSpPr/>
          <p:nvPr/>
        </p:nvGrpSpPr>
        <p:grpSpPr>
          <a:xfrm>
            <a:off x="2051537" y="168812"/>
            <a:ext cx="7289409" cy="5176911"/>
            <a:chOff x="2051537" y="168812"/>
            <a:chExt cx="7289409" cy="5176911"/>
          </a:xfrm>
        </p:grpSpPr>
        <p:grpSp>
          <p:nvGrpSpPr>
            <p:cNvPr id="13" name="Grupo 12">
              <a:extLst>
                <a:ext uri="{FF2B5EF4-FFF2-40B4-BE49-F238E27FC236}">
                  <a16:creationId xmlns:a16="http://schemas.microsoft.com/office/drawing/2014/main" id="{54F9D835-2F6F-44F0-B5AF-A46BA33F774A}"/>
                </a:ext>
              </a:extLst>
            </p:cNvPr>
            <p:cNvGrpSpPr/>
            <p:nvPr/>
          </p:nvGrpSpPr>
          <p:grpSpPr>
            <a:xfrm>
              <a:off x="2051537" y="168812"/>
              <a:ext cx="7289409" cy="5176911"/>
              <a:chOff x="1995267" y="590843"/>
              <a:chExt cx="7289409" cy="5176911"/>
            </a:xfrm>
          </p:grpSpPr>
          <p:cxnSp>
            <p:nvCxnSpPr>
              <p:cNvPr id="10" name="Conector recto de flecha 9">
                <a:extLst>
                  <a:ext uri="{FF2B5EF4-FFF2-40B4-BE49-F238E27FC236}">
                    <a16:creationId xmlns:a16="http://schemas.microsoft.com/office/drawing/2014/main" id="{FAC4C11D-6E89-4AFB-A4E8-62F772BBF5F1}"/>
                  </a:ext>
                </a:extLst>
              </p:cNvPr>
              <p:cNvCxnSpPr/>
              <p:nvPr/>
            </p:nvCxnSpPr>
            <p:spPr>
              <a:xfrm>
                <a:off x="2419643" y="590843"/>
                <a:ext cx="0" cy="5176911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Conector recto de flecha 10">
                <a:extLst>
                  <a:ext uri="{FF2B5EF4-FFF2-40B4-BE49-F238E27FC236}">
                    <a16:creationId xmlns:a16="http://schemas.microsoft.com/office/drawing/2014/main" id="{9B00B62F-ECC2-4AD1-B392-6AEAF59735F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995267" y="5329310"/>
                <a:ext cx="7289409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" name="Elipse 22">
              <a:extLst>
                <a:ext uri="{FF2B5EF4-FFF2-40B4-BE49-F238E27FC236}">
                  <a16:creationId xmlns:a16="http://schemas.microsoft.com/office/drawing/2014/main" id="{1594C763-0F72-42A4-864F-8BDA2E4F35DE}"/>
                </a:ext>
              </a:extLst>
            </p:cNvPr>
            <p:cNvSpPr/>
            <p:nvPr/>
          </p:nvSpPr>
          <p:spPr>
            <a:xfrm>
              <a:off x="2383790" y="3336668"/>
              <a:ext cx="209339" cy="184663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NI"/>
            </a:p>
          </p:txBody>
        </p:sp>
        <p:sp>
          <p:nvSpPr>
            <p:cNvPr id="24" name="Elipse 23">
              <a:extLst>
                <a:ext uri="{FF2B5EF4-FFF2-40B4-BE49-F238E27FC236}">
                  <a16:creationId xmlns:a16="http://schemas.microsoft.com/office/drawing/2014/main" id="{2B67F9E1-4F23-46EB-B3BF-B018262BB149}"/>
                </a:ext>
              </a:extLst>
            </p:cNvPr>
            <p:cNvSpPr/>
            <p:nvPr/>
          </p:nvSpPr>
          <p:spPr>
            <a:xfrm>
              <a:off x="5335431" y="4837445"/>
              <a:ext cx="209339" cy="184663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NI"/>
            </a:p>
          </p:txBody>
        </p:sp>
        <p:sp>
          <p:nvSpPr>
            <p:cNvPr id="25" name="Elipse 24">
              <a:extLst>
                <a:ext uri="{FF2B5EF4-FFF2-40B4-BE49-F238E27FC236}">
                  <a16:creationId xmlns:a16="http://schemas.microsoft.com/office/drawing/2014/main" id="{45D5BA58-1770-443E-B1D1-237018C28988}"/>
                </a:ext>
              </a:extLst>
            </p:cNvPr>
            <p:cNvSpPr/>
            <p:nvPr/>
          </p:nvSpPr>
          <p:spPr>
            <a:xfrm>
              <a:off x="2383790" y="2664935"/>
              <a:ext cx="209339" cy="184663"/>
            </a:xfrm>
            <a:prstGeom prst="ellips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NI"/>
            </a:p>
          </p:txBody>
        </p:sp>
        <p:sp>
          <p:nvSpPr>
            <p:cNvPr id="26" name="Elipse 25">
              <a:extLst>
                <a:ext uri="{FF2B5EF4-FFF2-40B4-BE49-F238E27FC236}">
                  <a16:creationId xmlns:a16="http://schemas.microsoft.com/office/drawing/2014/main" id="{68456794-C604-45D1-99DD-690E25A57119}"/>
                </a:ext>
              </a:extLst>
            </p:cNvPr>
            <p:cNvSpPr/>
            <p:nvPr/>
          </p:nvSpPr>
          <p:spPr>
            <a:xfrm>
              <a:off x="4593935" y="4819864"/>
              <a:ext cx="209339" cy="184663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NI"/>
            </a:p>
          </p:txBody>
        </p:sp>
      </p:grp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0E476CAB-1A1C-4898-A8C3-B66DCCC0808A}"/>
              </a:ext>
            </a:extLst>
          </p:cNvPr>
          <p:cNvCxnSpPr>
            <a:cxnSpLocks/>
            <a:stCxn id="23" idx="6"/>
            <a:endCxn id="24" idx="1"/>
          </p:cNvCxnSpPr>
          <p:nvPr/>
        </p:nvCxnSpPr>
        <p:spPr>
          <a:xfrm>
            <a:off x="2593129" y="3429000"/>
            <a:ext cx="2772959" cy="143548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31">
            <a:extLst>
              <a:ext uri="{FF2B5EF4-FFF2-40B4-BE49-F238E27FC236}">
                <a16:creationId xmlns:a16="http://schemas.microsoft.com/office/drawing/2014/main" id="{7E98E5A5-52CB-4104-B277-87838F56010D}"/>
              </a:ext>
            </a:extLst>
          </p:cNvPr>
          <p:cNvCxnSpPr>
            <a:cxnSpLocks/>
            <a:stCxn id="25" idx="5"/>
            <a:endCxn id="26" idx="1"/>
          </p:cNvCxnSpPr>
          <p:nvPr/>
        </p:nvCxnSpPr>
        <p:spPr>
          <a:xfrm>
            <a:off x="2562472" y="2822555"/>
            <a:ext cx="2062120" cy="202435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CuadroTexto 35">
            <a:extLst>
              <a:ext uri="{FF2B5EF4-FFF2-40B4-BE49-F238E27FC236}">
                <a16:creationId xmlns:a16="http://schemas.microsoft.com/office/drawing/2014/main" id="{D70FA2A0-42AA-4920-9905-CFE07773B356}"/>
              </a:ext>
            </a:extLst>
          </p:cNvPr>
          <p:cNvSpPr txBox="1"/>
          <p:nvPr/>
        </p:nvSpPr>
        <p:spPr>
          <a:xfrm>
            <a:off x="4566863" y="316939"/>
            <a:ext cx="30582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sz="3600" dirty="0"/>
              <a:t>Método gráfico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887A25C3-4979-4A0E-B874-7AEEAEE64E51}"/>
              </a:ext>
            </a:extLst>
          </p:cNvPr>
          <p:cNvSpPr txBox="1"/>
          <p:nvPr/>
        </p:nvSpPr>
        <p:spPr>
          <a:xfrm>
            <a:off x="7303418" y="2026052"/>
            <a:ext cx="22990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sz="3600" dirty="0"/>
              <a:t>Graficamos</a:t>
            </a:r>
          </a:p>
        </p:txBody>
      </p:sp>
    </p:spTree>
    <p:extLst>
      <p:ext uri="{BB962C8B-B14F-4D97-AF65-F5344CB8AC3E}">
        <p14:creationId xmlns:p14="http://schemas.microsoft.com/office/powerpoint/2010/main" val="18394806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95D223A7-DF52-4A90-B132-67E99425A4AF}"/>
              </a:ext>
            </a:extLst>
          </p:cNvPr>
          <p:cNvSpPr txBox="1"/>
          <p:nvPr/>
        </p:nvSpPr>
        <p:spPr>
          <a:xfrm>
            <a:off x="1842185" y="396709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dirty="0"/>
              <a:t>30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BBEE1912-2F45-4E82-8689-EDCA8E0B943A}"/>
              </a:ext>
            </a:extLst>
          </p:cNvPr>
          <p:cNvSpPr txBox="1"/>
          <p:nvPr/>
        </p:nvSpPr>
        <p:spPr>
          <a:xfrm>
            <a:off x="1842185" y="324433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dirty="0"/>
              <a:t>60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7FB062FD-55CD-4974-85EC-C1CD12A3EC07}"/>
              </a:ext>
            </a:extLst>
          </p:cNvPr>
          <p:cNvSpPr txBox="1"/>
          <p:nvPr/>
        </p:nvSpPr>
        <p:spPr>
          <a:xfrm>
            <a:off x="1842185" y="252157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dirty="0"/>
              <a:t>90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C2E063C1-42EC-4502-B912-A3751859321A}"/>
              </a:ext>
            </a:extLst>
          </p:cNvPr>
          <p:cNvSpPr txBox="1"/>
          <p:nvPr/>
        </p:nvSpPr>
        <p:spPr>
          <a:xfrm>
            <a:off x="1783675" y="1798822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dirty="0"/>
              <a:t>120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F1AF1E6D-2329-4647-A1DE-ABB0E213E399}"/>
              </a:ext>
            </a:extLst>
          </p:cNvPr>
          <p:cNvSpPr txBox="1"/>
          <p:nvPr/>
        </p:nvSpPr>
        <p:spPr>
          <a:xfrm>
            <a:off x="3035595" y="497639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dirty="0"/>
              <a:t>30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946684BF-8547-436A-A327-E79C91CA0E89}"/>
              </a:ext>
            </a:extLst>
          </p:cNvPr>
          <p:cNvSpPr txBox="1"/>
          <p:nvPr/>
        </p:nvSpPr>
        <p:spPr>
          <a:xfrm>
            <a:off x="3776492" y="497639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dirty="0"/>
              <a:t>60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02183A0F-9FC3-4106-9A66-8D0C6CA4B29A}"/>
              </a:ext>
            </a:extLst>
          </p:cNvPr>
          <p:cNvSpPr txBox="1"/>
          <p:nvPr/>
        </p:nvSpPr>
        <p:spPr>
          <a:xfrm>
            <a:off x="4489253" y="497639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dirty="0"/>
              <a:t>90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E6FC97ED-6024-45A3-A72E-711B809A6ECD}"/>
              </a:ext>
            </a:extLst>
          </p:cNvPr>
          <p:cNvSpPr txBox="1"/>
          <p:nvPr/>
        </p:nvSpPr>
        <p:spPr>
          <a:xfrm>
            <a:off x="5172239" y="4952273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dirty="0"/>
              <a:t>120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0A034727-6DA2-45B4-BD0F-1DE779B7283B}"/>
              </a:ext>
            </a:extLst>
          </p:cNvPr>
          <p:cNvSpPr/>
          <p:nvPr/>
        </p:nvSpPr>
        <p:spPr>
          <a:xfrm>
            <a:off x="8912718" y="6168404"/>
            <a:ext cx="31151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NI" b="1" dirty="0"/>
              <a:t>R1 </a:t>
            </a:r>
            <a:r>
              <a:rPr lang="es-NI" b="1" dirty="0">
                <a:solidFill>
                  <a:srgbClr val="FF0000"/>
                </a:solidFill>
              </a:rPr>
              <a:t>PO1</a:t>
            </a:r>
            <a:r>
              <a:rPr lang="es-NI" b="1" dirty="0"/>
              <a:t>(0,60) 	</a:t>
            </a:r>
            <a:r>
              <a:rPr lang="es-NI" b="1" dirty="0">
                <a:solidFill>
                  <a:srgbClr val="00B050"/>
                </a:solidFill>
              </a:rPr>
              <a:t>PO2</a:t>
            </a:r>
            <a:r>
              <a:rPr lang="es-NI" b="1" dirty="0"/>
              <a:t>(120,0) </a:t>
            </a:r>
          </a:p>
          <a:p>
            <a:r>
              <a:rPr lang="es-NI" b="1" dirty="0"/>
              <a:t>R2 </a:t>
            </a:r>
            <a:r>
              <a:rPr lang="es-NI" b="1" dirty="0">
                <a:solidFill>
                  <a:srgbClr val="7030A0"/>
                </a:solidFill>
              </a:rPr>
              <a:t>PO3</a:t>
            </a:r>
            <a:r>
              <a:rPr lang="es-NI" b="1" dirty="0"/>
              <a:t>(0,90) 	</a:t>
            </a:r>
            <a:r>
              <a:rPr lang="es-NI" b="1" dirty="0">
                <a:solidFill>
                  <a:srgbClr val="0070C0"/>
                </a:solidFill>
              </a:rPr>
              <a:t>PO4</a:t>
            </a:r>
            <a:r>
              <a:rPr lang="es-NI" b="1" dirty="0"/>
              <a:t>(90,0)</a:t>
            </a:r>
          </a:p>
        </p:txBody>
      </p:sp>
      <p:grpSp>
        <p:nvGrpSpPr>
          <p:cNvPr id="27" name="Grupo 26">
            <a:extLst>
              <a:ext uri="{FF2B5EF4-FFF2-40B4-BE49-F238E27FC236}">
                <a16:creationId xmlns:a16="http://schemas.microsoft.com/office/drawing/2014/main" id="{E3597527-2D4C-4716-B551-9A8D3D3BA4E8}"/>
              </a:ext>
            </a:extLst>
          </p:cNvPr>
          <p:cNvGrpSpPr/>
          <p:nvPr/>
        </p:nvGrpSpPr>
        <p:grpSpPr>
          <a:xfrm>
            <a:off x="2051537" y="168812"/>
            <a:ext cx="7289409" cy="5176911"/>
            <a:chOff x="2051537" y="168812"/>
            <a:chExt cx="7289409" cy="5176911"/>
          </a:xfrm>
        </p:grpSpPr>
        <p:grpSp>
          <p:nvGrpSpPr>
            <p:cNvPr id="13" name="Grupo 12">
              <a:extLst>
                <a:ext uri="{FF2B5EF4-FFF2-40B4-BE49-F238E27FC236}">
                  <a16:creationId xmlns:a16="http://schemas.microsoft.com/office/drawing/2014/main" id="{54F9D835-2F6F-44F0-B5AF-A46BA33F774A}"/>
                </a:ext>
              </a:extLst>
            </p:cNvPr>
            <p:cNvGrpSpPr/>
            <p:nvPr/>
          </p:nvGrpSpPr>
          <p:grpSpPr>
            <a:xfrm>
              <a:off x="2051537" y="168812"/>
              <a:ext cx="7289409" cy="5176911"/>
              <a:chOff x="1995267" y="590843"/>
              <a:chExt cx="7289409" cy="5176911"/>
            </a:xfrm>
          </p:grpSpPr>
          <p:cxnSp>
            <p:nvCxnSpPr>
              <p:cNvPr id="10" name="Conector recto de flecha 9">
                <a:extLst>
                  <a:ext uri="{FF2B5EF4-FFF2-40B4-BE49-F238E27FC236}">
                    <a16:creationId xmlns:a16="http://schemas.microsoft.com/office/drawing/2014/main" id="{FAC4C11D-6E89-4AFB-A4E8-62F772BBF5F1}"/>
                  </a:ext>
                </a:extLst>
              </p:cNvPr>
              <p:cNvCxnSpPr/>
              <p:nvPr/>
            </p:nvCxnSpPr>
            <p:spPr>
              <a:xfrm>
                <a:off x="2419643" y="590843"/>
                <a:ext cx="0" cy="5176911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Conector recto de flecha 10">
                <a:extLst>
                  <a:ext uri="{FF2B5EF4-FFF2-40B4-BE49-F238E27FC236}">
                    <a16:creationId xmlns:a16="http://schemas.microsoft.com/office/drawing/2014/main" id="{9B00B62F-ECC2-4AD1-B392-6AEAF59735F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995267" y="5329310"/>
                <a:ext cx="7289409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" name="Elipse 22">
              <a:extLst>
                <a:ext uri="{FF2B5EF4-FFF2-40B4-BE49-F238E27FC236}">
                  <a16:creationId xmlns:a16="http://schemas.microsoft.com/office/drawing/2014/main" id="{1594C763-0F72-42A4-864F-8BDA2E4F35DE}"/>
                </a:ext>
              </a:extLst>
            </p:cNvPr>
            <p:cNvSpPr/>
            <p:nvPr/>
          </p:nvSpPr>
          <p:spPr>
            <a:xfrm>
              <a:off x="2383790" y="3336668"/>
              <a:ext cx="209339" cy="184663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NI"/>
            </a:p>
          </p:txBody>
        </p:sp>
        <p:sp>
          <p:nvSpPr>
            <p:cNvPr id="24" name="Elipse 23">
              <a:extLst>
                <a:ext uri="{FF2B5EF4-FFF2-40B4-BE49-F238E27FC236}">
                  <a16:creationId xmlns:a16="http://schemas.microsoft.com/office/drawing/2014/main" id="{2B67F9E1-4F23-46EB-B3BF-B018262BB149}"/>
                </a:ext>
              </a:extLst>
            </p:cNvPr>
            <p:cNvSpPr/>
            <p:nvPr/>
          </p:nvSpPr>
          <p:spPr>
            <a:xfrm>
              <a:off x="5335431" y="4837445"/>
              <a:ext cx="209339" cy="184663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NI"/>
            </a:p>
          </p:txBody>
        </p:sp>
        <p:sp>
          <p:nvSpPr>
            <p:cNvPr id="25" name="Elipse 24">
              <a:extLst>
                <a:ext uri="{FF2B5EF4-FFF2-40B4-BE49-F238E27FC236}">
                  <a16:creationId xmlns:a16="http://schemas.microsoft.com/office/drawing/2014/main" id="{45D5BA58-1770-443E-B1D1-237018C28988}"/>
                </a:ext>
              </a:extLst>
            </p:cNvPr>
            <p:cNvSpPr/>
            <p:nvPr/>
          </p:nvSpPr>
          <p:spPr>
            <a:xfrm>
              <a:off x="2383790" y="2664935"/>
              <a:ext cx="209339" cy="184663"/>
            </a:xfrm>
            <a:prstGeom prst="ellips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NI"/>
            </a:p>
          </p:txBody>
        </p:sp>
        <p:sp>
          <p:nvSpPr>
            <p:cNvPr id="26" name="Elipse 25">
              <a:extLst>
                <a:ext uri="{FF2B5EF4-FFF2-40B4-BE49-F238E27FC236}">
                  <a16:creationId xmlns:a16="http://schemas.microsoft.com/office/drawing/2014/main" id="{68456794-C604-45D1-99DD-690E25A57119}"/>
                </a:ext>
              </a:extLst>
            </p:cNvPr>
            <p:cNvSpPr/>
            <p:nvPr/>
          </p:nvSpPr>
          <p:spPr>
            <a:xfrm>
              <a:off x="4593935" y="4819864"/>
              <a:ext cx="209339" cy="184663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NI"/>
            </a:p>
          </p:txBody>
        </p:sp>
      </p:grp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0E476CAB-1A1C-4898-A8C3-B66DCCC0808A}"/>
              </a:ext>
            </a:extLst>
          </p:cNvPr>
          <p:cNvCxnSpPr>
            <a:cxnSpLocks/>
            <a:stCxn id="23" idx="6"/>
            <a:endCxn id="24" idx="1"/>
          </p:cNvCxnSpPr>
          <p:nvPr/>
        </p:nvCxnSpPr>
        <p:spPr>
          <a:xfrm>
            <a:off x="2593129" y="3429000"/>
            <a:ext cx="2772959" cy="143548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31">
            <a:extLst>
              <a:ext uri="{FF2B5EF4-FFF2-40B4-BE49-F238E27FC236}">
                <a16:creationId xmlns:a16="http://schemas.microsoft.com/office/drawing/2014/main" id="{7E98E5A5-52CB-4104-B277-87838F56010D}"/>
              </a:ext>
            </a:extLst>
          </p:cNvPr>
          <p:cNvCxnSpPr>
            <a:cxnSpLocks/>
            <a:stCxn id="25" idx="5"/>
            <a:endCxn id="26" idx="1"/>
          </p:cNvCxnSpPr>
          <p:nvPr/>
        </p:nvCxnSpPr>
        <p:spPr>
          <a:xfrm>
            <a:off x="2562472" y="2822555"/>
            <a:ext cx="2062120" cy="202435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CuadroTexto 35">
            <a:extLst>
              <a:ext uri="{FF2B5EF4-FFF2-40B4-BE49-F238E27FC236}">
                <a16:creationId xmlns:a16="http://schemas.microsoft.com/office/drawing/2014/main" id="{D70FA2A0-42AA-4920-9905-CFE07773B356}"/>
              </a:ext>
            </a:extLst>
          </p:cNvPr>
          <p:cNvSpPr txBox="1"/>
          <p:nvPr/>
        </p:nvSpPr>
        <p:spPr>
          <a:xfrm>
            <a:off x="4566863" y="316939"/>
            <a:ext cx="30582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sz="3600" dirty="0"/>
              <a:t>Método gráfico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887A25C3-4979-4A0E-B874-7AEEAEE64E51}"/>
              </a:ext>
            </a:extLst>
          </p:cNvPr>
          <p:cNvSpPr txBox="1"/>
          <p:nvPr/>
        </p:nvSpPr>
        <p:spPr>
          <a:xfrm>
            <a:off x="8098071" y="1350556"/>
            <a:ext cx="29591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sz="3600" dirty="0"/>
              <a:t>Establecemos la zona factible</a:t>
            </a:r>
          </a:p>
        </p:txBody>
      </p:sp>
      <p:sp>
        <p:nvSpPr>
          <p:cNvPr id="2" name="Forma libre: forma 1" descr="Zona Factible">
            <a:extLst>
              <a:ext uri="{FF2B5EF4-FFF2-40B4-BE49-F238E27FC236}">
                <a16:creationId xmlns:a16="http://schemas.microsoft.com/office/drawing/2014/main" id="{E953C48F-E308-485E-97E4-F510E7416056}"/>
              </a:ext>
            </a:extLst>
          </p:cNvPr>
          <p:cNvSpPr/>
          <p:nvPr/>
        </p:nvSpPr>
        <p:spPr>
          <a:xfrm>
            <a:off x="2447778" y="3416938"/>
            <a:ext cx="2124222" cy="1472760"/>
          </a:xfrm>
          <a:custGeom>
            <a:avLst/>
            <a:gdLst>
              <a:gd name="connsiteX0" fmla="*/ 0 w 2124222"/>
              <a:gd name="connsiteY0" fmla="*/ 0 h 1434904"/>
              <a:gd name="connsiteX1" fmla="*/ 1322364 w 2124222"/>
              <a:gd name="connsiteY1" fmla="*/ 590843 h 1434904"/>
              <a:gd name="connsiteX2" fmla="*/ 2124222 w 2124222"/>
              <a:gd name="connsiteY2" fmla="*/ 1420837 h 1434904"/>
              <a:gd name="connsiteX3" fmla="*/ 42204 w 2124222"/>
              <a:gd name="connsiteY3" fmla="*/ 1434904 h 1434904"/>
              <a:gd name="connsiteX4" fmla="*/ 56271 w 2124222"/>
              <a:gd name="connsiteY4" fmla="*/ 42203 h 1434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24222" h="1434904">
                <a:moveTo>
                  <a:pt x="0" y="0"/>
                </a:moveTo>
                <a:lnTo>
                  <a:pt x="1322364" y="590843"/>
                </a:lnTo>
                <a:lnTo>
                  <a:pt x="2124222" y="1420837"/>
                </a:lnTo>
                <a:lnTo>
                  <a:pt x="42204" y="1434904"/>
                </a:lnTo>
                <a:lnTo>
                  <a:pt x="56271" y="42203"/>
                </a:lnTo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NI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Zona Factible</a:t>
            </a:r>
          </a:p>
        </p:txBody>
      </p:sp>
    </p:spTree>
    <p:extLst>
      <p:ext uri="{BB962C8B-B14F-4D97-AF65-F5344CB8AC3E}">
        <p14:creationId xmlns:p14="http://schemas.microsoft.com/office/powerpoint/2010/main" val="17677129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95D223A7-DF52-4A90-B132-67E99425A4AF}"/>
              </a:ext>
            </a:extLst>
          </p:cNvPr>
          <p:cNvSpPr txBox="1"/>
          <p:nvPr/>
        </p:nvSpPr>
        <p:spPr>
          <a:xfrm>
            <a:off x="1842185" y="396709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dirty="0"/>
              <a:t>30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BBEE1912-2F45-4E82-8689-EDCA8E0B943A}"/>
              </a:ext>
            </a:extLst>
          </p:cNvPr>
          <p:cNvSpPr txBox="1"/>
          <p:nvPr/>
        </p:nvSpPr>
        <p:spPr>
          <a:xfrm>
            <a:off x="1842185" y="324433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dirty="0"/>
              <a:t>60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7FB062FD-55CD-4974-85EC-C1CD12A3EC07}"/>
              </a:ext>
            </a:extLst>
          </p:cNvPr>
          <p:cNvSpPr txBox="1"/>
          <p:nvPr/>
        </p:nvSpPr>
        <p:spPr>
          <a:xfrm>
            <a:off x="1842185" y="252157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dirty="0"/>
              <a:t>90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C2E063C1-42EC-4502-B912-A3751859321A}"/>
              </a:ext>
            </a:extLst>
          </p:cNvPr>
          <p:cNvSpPr txBox="1"/>
          <p:nvPr/>
        </p:nvSpPr>
        <p:spPr>
          <a:xfrm>
            <a:off x="1783675" y="1798822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dirty="0"/>
              <a:t>120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F1AF1E6D-2329-4647-A1DE-ABB0E213E399}"/>
              </a:ext>
            </a:extLst>
          </p:cNvPr>
          <p:cNvSpPr txBox="1"/>
          <p:nvPr/>
        </p:nvSpPr>
        <p:spPr>
          <a:xfrm>
            <a:off x="2988915" y="497639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dirty="0"/>
              <a:t>30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946684BF-8547-436A-A327-E79C91CA0E89}"/>
              </a:ext>
            </a:extLst>
          </p:cNvPr>
          <p:cNvSpPr txBox="1"/>
          <p:nvPr/>
        </p:nvSpPr>
        <p:spPr>
          <a:xfrm>
            <a:off x="3627938" y="496440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dirty="0"/>
              <a:t>60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02183A0F-9FC3-4106-9A66-8D0C6CA4B29A}"/>
              </a:ext>
            </a:extLst>
          </p:cNvPr>
          <p:cNvSpPr txBox="1"/>
          <p:nvPr/>
        </p:nvSpPr>
        <p:spPr>
          <a:xfrm>
            <a:off x="4400088" y="497639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dirty="0"/>
              <a:t>90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E6FC97ED-6024-45A3-A72E-711B809A6ECD}"/>
              </a:ext>
            </a:extLst>
          </p:cNvPr>
          <p:cNvSpPr txBox="1"/>
          <p:nvPr/>
        </p:nvSpPr>
        <p:spPr>
          <a:xfrm>
            <a:off x="5172239" y="4952273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dirty="0"/>
              <a:t>120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0A034727-6DA2-45B4-BD0F-1DE779B7283B}"/>
              </a:ext>
            </a:extLst>
          </p:cNvPr>
          <p:cNvSpPr/>
          <p:nvPr/>
        </p:nvSpPr>
        <p:spPr>
          <a:xfrm>
            <a:off x="9467781" y="5345723"/>
            <a:ext cx="204601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NI" b="1" dirty="0">
                <a:solidFill>
                  <a:srgbClr val="FF0000"/>
                </a:solidFill>
              </a:rPr>
              <a:t>V1</a:t>
            </a:r>
            <a:r>
              <a:rPr lang="es-NI" b="1" dirty="0"/>
              <a:t>(0,60) 	</a:t>
            </a:r>
            <a:r>
              <a:rPr lang="es-NI" b="1" dirty="0">
                <a:solidFill>
                  <a:srgbClr val="F834EF"/>
                </a:solidFill>
              </a:rPr>
              <a:t>V2</a:t>
            </a:r>
            <a:r>
              <a:rPr lang="es-NI" b="1" dirty="0"/>
              <a:t>(60,30) </a:t>
            </a:r>
          </a:p>
          <a:p>
            <a:r>
              <a:rPr lang="es-NI" b="1" dirty="0">
                <a:solidFill>
                  <a:srgbClr val="0070C0"/>
                </a:solidFill>
              </a:rPr>
              <a:t>V3</a:t>
            </a:r>
            <a:r>
              <a:rPr lang="es-NI" b="1" dirty="0"/>
              <a:t>(90,0) 	V4(0,0)</a:t>
            </a:r>
          </a:p>
        </p:txBody>
      </p:sp>
      <p:grpSp>
        <p:nvGrpSpPr>
          <p:cNvPr id="27" name="Grupo 26">
            <a:extLst>
              <a:ext uri="{FF2B5EF4-FFF2-40B4-BE49-F238E27FC236}">
                <a16:creationId xmlns:a16="http://schemas.microsoft.com/office/drawing/2014/main" id="{E3597527-2D4C-4716-B551-9A8D3D3BA4E8}"/>
              </a:ext>
            </a:extLst>
          </p:cNvPr>
          <p:cNvGrpSpPr/>
          <p:nvPr/>
        </p:nvGrpSpPr>
        <p:grpSpPr>
          <a:xfrm>
            <a:off x="2051537" y="168812"/>
            <a:ext cx="7289409" cy="5176911"/>
            <a:chOff x="2051537" y="168812"/>
            <a:chExt cx="7289409" cy="5176911"/>
          </a:xfrm>
        </p:grpSpPr>
        <p:grpSp>
          <p:nvGrpSpPr>
            <p:cNvPr id="13" name="Grupo 12">
              <a:extLst>
                <a:ext uri="{FF2B5EF4-FFF2-40B4-BE49-F238E27FC236}">
                  <a16:creationId xmlns:a16="http://schemas.microsoft.com/office/drawing/2014/main" id="{54F9D835-2F6F-44F0-B5AF-A46BA33F774A}"/>
                </a:ext>
              </a:extLst>
            </p:cNvPr>
            <p:cNvGrpSpPr/>
            <p:nvPr/>
          </p:nvGrpSpPr>
          <p:grpSpPr>
            <a:xfrm>
              <a:off x="2051537" y="168812"/>
              <a:ext cx="7289409" cy="5176911"/>
              <a:chOff x="1995267" y="590843"/>
              <a:chExt cx="7289409" cy="5176911"/>
            </a:xfrm>
          </p:grpSpPr>
          <p:cxnSp>
            <p:nvCxnSpPr>
              <p:cNvPr id="10" name="Conector recto de flecha 9">
                <a:extLst>
                  <a:ext uri="{FF2B5EF4-FFF2-40B4-BE49-F238E27FC236}">
                    <a16:creationId xmlns:a16="http://schemas.microsoft.com/office/drawing/2014/main" id="{FAC4C11D-6E89-4AFB-A4E8-62F772BBF5F1}"/>
                  </a:ext>
                </a:extLst>
              </p:cNvPr>
              <p:cNvCxnSpPr/>
              <p:nvPr/>
            </p:nvCxnSpPr>
            <p:spPr>
              <a:xfrm>
                <a:off x="2419643" y="590843"/>
                <a:ext cx="0" cy="5176911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Conector recto de flecha 10">
                <a:extLst>
                  <a:ext uri="{FF2B5EF4-FFF2-40B4-BE49-F238E27FC236}">
                    <a16:creationId xmlns:a16="http://schemas.microsoft.com/office/drawing/2014/main" id="{9B00B62F-ECC2-4AD1-B392-6AEAF59735F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995267" y="5329310"/>
                <a:ext cx="7289409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" name="Elipse 22">
              <a:extLst>
                <a:ext uri="{FF2B5EF4-FFF2-40B4-BE49-F238E27FC236}">
                  <a16:creationId xmlns:a16="http://schemas.microsoft.com/office/drawing/2014/main" id="{1594C763-0F72-42A4-864F-8BDA2E4F35DE}"/>
                </a:ext>
              </a:extLst>
            </p:cNvPr>
            <p:cNvSpPr/>
            <p:nvPr/>
          </p:nvSpPr>
          <p:spPr>
            <a:xfrm>
              <a:off x="2383790" y="3336668"/>
              <a:ext cx="209339" cy="184663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NI"/>
            </a:p>
          </p:txBody>
        </p:sp>
        <p:sp>
          <p:nvSpPr>
            <p:cNvPr id="24" name="Elipse 23">
              <a:extLst>
                <a:ext uri="{FF2B5EF4-FFF2-40B4-BE49-F238E27FC236}">
                  <a16:creationId xmlns:a16="http://schemas.microsoft.com/office/drawing/2014/main" id="{2B67F9E1-4F23-46EB-B3BF-B018262BB149}"/>
                </a:ext>
              </a:extLst>
            </p:cNvPr>
            <p:cNvSpPr/>
            <p:nvPr/>
          </p:nvSpPr>
          <p:spPr>
            <a:xfrm>
              <a:off x="5350567" y="4864488"/>
              <a:ext cx="209339" cy="184663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NI"/>
            </a:p>
          </p:txBody>
        </p:sp>
        <p:sp>
          <p:nvSpPr>
            <p:cNvPr id="25" name="Elipse 24">
              <a:extLst>
                <a:ext uri="{FF2B5EF4-FFF2-40B4-BE49-F238E27FC236}">
                  <a16:creationId xmlns:a16="http://schemas.microsoft.com/office/drawing/2014/main" id="{45D5BA58-1770-443E-B1D1-237018C28988}"/>
                </a:ext>
              </a:extLst>
            </p:cNvPr>
            <p:cNvSpPr/>
            <p:nvPr/>
          </p:nvSpPr>
          <p:spPr>
            <a:xfrm>
              <a:off x="2383790" y="2664935"/>
              <a:ext cx="209339" cy="184663"/>
            </a:xfrm>
            <a:prstGeom prst="ellips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NI"/>
            </a:p>
          </p:txBody>
        </p:sp>
        <p:sp>
          <p:nvSpPr>
            <p:cNvPr id="26" name="Elipse 25">
              <a:extLst>
                <a:ext uri="{FF2B5EF4-FFF2-40B4-BE49-F238E27FC236}">
                  <a16:creationId xmlns:a16="http://schemas.microsoft.com/office/drawing/2014/main" id="{68456794-C604-45D1-99DD-690E25A57119}"/>
                </a:ext>
              </a:extLst>
            </p:cNvPr>
            <p:cNvSpPr/>
            <p:nvPr/>
          </p:nvSpPr>
          <p:spPr>
            <a:xfrm>
              <a:off x="4593935" y="4819864"/>
              <a:ext cx="209339" cy="184663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NI"/>
            </a:p>
          </p:txBody>
        </p:sp>
      </p:grp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0E476CAB-1A1C-4898-A8C3-B66DCCC0808A}"/>
              </a:ext>
            </a:extLst>
          </p:cNvPr>
          <p:cNvCxnSpPr>
            <a:cxnSpLocks/>
            <a:stCxn id="23" idx="6"/>
            <a:endCxn id="24" idx="1"/>
          </p:cNvCxnSpPr>
          <p:nvPr/>
        </p:nvCxnSpPr>
        <p:spPr>
          <a:xfrm>
            <a:off x="2593129" y="3429000"/>
            <a:ext cx="2788095" cy="146253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31">
            <a:extLst>
              <a:ext uri="{FF2B5EF4-FFF2-40B4-BE49-F238E27FC236}">
                <a16:creationId xmlns:a16="http://schemas.microsoft.com/office/drawing/2014/main" id="{7E98E5A5-52CB-4104-B277-87838F56010D}"/>
              </a:ext>
            </a:extLst>
          </p:cNvPr>
          <p:cNvCxnSpPr>
            <a:cxnSpLocks/>
            <a:stCxn id="25" idx="5"/>
            <a:endCxn id="26" idx="1"/>
          </p:cNvCxnSpPr>
          <p:nvPr/>
        </p:nvCxnSpPr>
        <p:spPr>
          <a:xfrm>
            <a:off x="2562472" y="2822555"/>
            <a:ext cx="2062120" cy="202435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CuadroTexto 35">
            <a:extLst>
              <a:ext uri="{FF2B5EF4-FFF2-40B4-BE49-F238E27FC236}">
                <a16:creationId xmlns:a16="http://schemas.microsoft.com/office/drawing/2014/main" id="{D70FA2A0-42AA-4920-9905-CFE07773B356}"/>
              </a:ext>
            </a:extLst>
          </p:cNvPr>
          <p:cNvSpPr txBox="1"/>
          <p:nvPr/>
        </p:nvSpPr>
        <p:spPr>
          <a:xfrm>
            <a:off x="4566863" y="316939"/>
            <a:ext cx="30582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sz="3600" dirty="0"/>
              <a:t>Método gráfico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887A25C3-4979-4A0E-B874-7AEEAEE64E51}"/>
              </a:ext>
            </a:extLst>
          </p:cNvPr>
          <p:cNvSpPr txBox="1"/>
          <p:nvPr/>
        </p:nvSpPr>
        <p:spPr>
          <a:xfrm>
            <a:off x="7751746" y="1213007"/>
            <a:ext cx="343207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sz="3600" dirty="0"/>
              <a:t>Encontramos los pares ordenados de los vértices del polígono</a:t>
            </a:r>
          </a:p>
        </p:txBody>
      </p:sp>
      <p:sp>
        <p:nvSpPr>
          <p:cNvPr id="2" name="Forma libre: forma 1" descr="Zona Factible">
            <a:extLst>
              <a:ext uri="{FF2B5EF4-FFF2-40B4-BE49-F238E27FC236}">
                <a16:creationId xmlns:a16="http://schemas.microsoft.com/office/drawing/2014/main" id="{E953C48F-E308-485E-97E4-F510E7416056}"/>
              </a:ext>
            </a:extLst>
          </p:cNvPr>
          <p:cNvSpPr/>
          <p:nvPr/>
        </p:nvSpPr>
        <p:spPr>
          <a:xfrm>
            <a:off x="2447778" y="3416938"/>
            <a:ext cx="2124222" cy="1472760"/>
          </a:xfrm>
          <a:custGeom>
            <a:avLst/>
            <a:gdLst>
              <a:gd name="connsiteX0" fmla="*/ 0 w 2124222"/>
              <a:gd name="connsiteY0" fmla="*/ 0 h 1434904"/>
              <a:gd name="connsiteX1" fmla="*/ 1322364 w 2124222"/>
              <a:gd name="connsiteY1" fmla="*/ 590843 h 1434904"/>
              <a:gd name="connsiteX2" fmla="*/ 2124222 w 2124222"/>
              <a:gd name="connsiteY2" fmla="*/ 1420837 h 1434904"/>
              <a:gd name="connsiteX3" fmla="*/ 42204 w 2124222"/>
              <a:gd name="connsiteY3" fmla="*/ 1434904 h 1434904"/>
              <a:gd name="connsiteX4" fmla="*/ 56271 w 2124222"/>
              <a:gd name="connsiteY4" fmla="*/ 42203 h 1434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24222" h="1434904">
                <a:moveTo>
                  <a:pt x="0" y="0"/>
                </a:moveTo>
                <a:lnTo>
                  <a:pt x="1322364" y="590843"/>
                </a:lnTo>
                <a:lnTo>
                  <a:pt x="2124222" y="1420837"/>
                </a:lnTo>
                <a:lnTo>
                  <a:pt x="42204" y="1434904"/>
                </a:lnTo>
                <a:lnTo>
                  <a:pt x="56271" y="42203"/>
                </a:lnTo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NI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Zona Factible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D9E7BD43-AC1F-7B61-4C08-84F2243C2F0B}"/>
              </a:ext>
            </a:extLst>
          </p:cNvPr>
          <p:cNvSpPr/>
          <p:nvPr/>
        </p:nvSpPr>
        <p:spPr>
          <a:xfrm>
            <a:off x="3722972" y="3936019"/>
            <a:ext cx="209339" cy="184663"/>
          </a:xfrm>
          <a:prstGeom prst="ellipse">
            <a:avLst/>
          </a:prstGeom>
          <a:solidFill>
            <a:srgbClr val="F834E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>
              <a:solidFill>
                <a:srgbClr val="F834E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62813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A3270DF0-3C73-4173-B7D3-C443514D9F8F}"/>
              </a:ext>
            </a:extLst>
          </p:cNvPr>
          <p:cNvSpPr/>
          <p:nvPr/>
        </p:nvSpPr>
        <p:spPr>
          <a:xfrm>
            <a:off x="2579077" y="576775"/>
            <a:ext cx="703384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NI" sz="2400" dirty="0"/>
              <a:t>Creamos una nueva tabla con los vértices obtenidos y determinamos el valor de z en cada caso</a:t>
            </a:r>
          </a:p>
          <a:p>
            <a:pPr algn="ctr"/>
            <a:endParaRPr lang="es-NI" sz="2400" dirty="0"/>
          </a:p>
          <a:p>
            <a:r>
              <a:rPr lang="es-NI" sz="2400" b="1" dirty="0">
                <a:solidFill>
                  <a:srgbClr val="FF0000"/>
                </a:solidFill>
              </a:rPr>
              <a:t>V1</a:t>
            </a:r>
            <a:r>
              <a:rPr lang="es-NI" sz="2400" b="1" dirty="0"/>
              <a:t>(0,60)	</a:t>
            </a:r>
            <a:r>
              <a:rPr lang="es-NI" sz="2400" b="1" dirty="0">
                <a:solidFill>
                  <a:srgbClr val="00B050"/>
                </a:solidFill>
              </a:rPr>
              <a:t>V2</a:t>
            </a:r>
            <a:r>
              <a:rPr lang="es-NI" sz="2400" b="1" dirty="0"/>
              <a:t>(60,30) 	</a:t>
            </a:r>
            <a:r>
              <a:rPr lang="es-NI" sz="2400" b="1" dirty="0">
                <a:solidFill>
                  <a:srgbClr val="7030A0"/>
                </a:solidFill>
              </a:rPr>
              <a:t>V3</a:t>
            </a:r>
            <a:r>
              <a:rPr lang="es-NI" sz="2400" b="1" dirty="0"/>
              <a:t>(90,0) 	</a:t>
            </a:r>
            <a:r>
              <a:rPr lang="es-NI" sz="2400" b="1" dirty="0">
                <a:solidFill>
                  <a:srgbClr val="0070C0"/>
                </a:solidFill>
              </a:rPr>
              <a:t>V4</a:t>
            </a:r>
            <a:r>
              <a:rPr lang="es-NI" sz="2400" b="1" dirty="0"/>
              <a:t>(0,0)</a:t>
            </a:r>
          </a:p>
        </p:txBody>
      </p:sp>
      <p:graphicFrame>
        <p:nvGraphicFramePr>
          <p:cNvPr id="5" name="Tabla 5">
            <a:extLst>
              <a:ext uri="{FF2B5EF4-FFF2-40B4-BE49-F238E27FC236}">
                <a16:creationId xmlns:a16="http://schemas.microsoft.com/office/drawing/2014/main" id="{9F992E19-34B3-4643-B43D-26DFB29CB9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881917"/>
              </p:ext>
            </p:extLst>
          </p:nvPr>
        </p:nvGraphicFramePr>
        <p:xfrm>
          <a:off x="3699803" y="3429000"/>
          <a:ext cx="6147581" cy="2127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4286">
                  <a:extLst>
                    <a:ext uri="{9D8B030D-6E8A-4147-A177-3AD203B41FA5}">
                      <a16:colId xmlns:a16="http://schemas.microsoft.com/office/drawing/2014/main" val="1202998542"/>
                    </a:ext>
                  </a:extLst>
                </a:gridCol>
                <a:gridCol w="714545">
                  <a:extLst>
                    <a:ext uri="{9D8B030D-6E8A-4147-A177-3AD203B41FA5}">
                      <a16:colId xmlns:a16="http://schemas.microsoft.com/office/drawing/2014/main" val="2261701532"/>
                    </a:ext>
                  </a:extLst>
                </a:gridCol>
                <a:gridCol w="712857">
                  <a:extLst>
                    <a:ext uri="{9D8B030D-6E8A-4147-A177-3AD203B41FA5}">
                      <a16:colId xmlns:a16="http://schemas.microsoft.com/office/drawing/2014/main" val="1061247631"/>
                    </a:ext>
                  </a:extLst>
                </a:gridCol>
                <a:gridCol w="3525893">
                  <a:extLst>
                    <a:ext uri="{9D8B030D-6E8A-4147-A177-3AD203B41FA5}">
                      <a16:colId xmlns:a16="http://schemas.microsoft.com/office/drawing/2014/main" val="493410054"/>
                    </a:ext>
                  </a:extLst>
                </a:gridCol>
              </a:tblGrid>
              <a:tr h="425548"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Vértice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1800" dirty="0"/>
                        <a:t>X</a:t>
                      </a:r>
                      <a:r>
                        <a:rPr lang="es-NI" sz="1800" baseline="-25000" dirty="0"/>
                        <a:t>1</a:t>
                      </a:r>
                      <a:endParaRPr lang="es-NI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1800" dirty="0"/>
                        <a:t>X</a:t>
                      </a:r>
                      <a:r>
                        <a:rPr lang="es-NI" sz="1800" baseline="-25000" dirty="0"/>
                        <a:t>2</a:t>
                      </a:r>
                      <a:endParaRPr lang="es-NI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3975354"/>
                  </a:ext>
                </a:extLst>
              </a:tr>
              <a:tr h="425548">
                <a:tc>
                  <a:txBody>
                    <a:bodyPr/>
                    <a:lstStyle/>
                    <a:p>
                      <a:r>
                        <a:rPr lang="es-NI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NI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NI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NI" sz="1800" dirty="0"/>
                        <a:t>50 (0) + 80 (60) = 4800</a:t>
                      </a:r>
                      <a:endParaRPr lang="es-NI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1908576"/>
                  </a:ext>
                </a:extLst>
              </a:tr>
              <a:tr h="425548">
                <a:tc>
                  <a:txBody>
                    <a:bodyPr/>
                    <a:lstStyle/>
                    <a:p>
                      <a:r>
                        <a:rPr lang="es-NI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NI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NI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NI" sz="1800" dirty="0"/>
                        <a:t>50 (60) + 80 (30) = 5400</a:t>
                      </a:r>
                      <a:endParaRPr lang="es-NI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3013927"/>
                  </a:ext>
                </a:extLst>
              </a:tr>
              <a:tr h="425548">
                <a:tc>
                  <a:txBody>
                    <a:bodyPr/>
                    <a:lstStyle/>
                    <a:p>
                      <a:r>
                        <a:rPr lang="es-NI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NI" dirty="0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NI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NI" sz="1800" dirty="0"/>
                        <a:t>50 (90) + 80 (0) = 4500</a:t>
                      </a:r>
                      <a:endParaRPr lang="es-NI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8502376"/>
                  </a:ext>
                </a:extLst>
              </a:tr>
              <a:tr h="425548">
                <a:tc>
                  <a:txBody>
                    <a:bodyPr/>
                    <a:lstStyle/>
                    <a:p>
                      <a:r>
                        <a:rPr lang="es-NI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NI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NI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NI" sz="1800" dirty="0"/>
                        <a:t>50 (0) + 80 (0) = 0</a:t>
                      </a:r>
                      <a:endParaRPr lang="es-NI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7874318"/>
                  </a:ext>
                </a:extLst>
              </a:tr>
            </a:tbl>
          </a:graphicData>
        </a:graphic>
      </p:graphicFrame>
      <p:sp>
        <p:nvSpPr>
          <p:cNvPr id="7" name="Rectángulo 6">
            <a:extLst>
              <a:ext uri="{FF2B5EF4-FFF2-40B4-BE49-F238E27FC236}">
                <a16:creationId xmlns:a16="http://schemas.microsoft.com/office/drawing/2014/main" id="{2586FF47-91F5-4ADD-898F-41C04EB1A770}"/>
              </a:ext>
            </a:extLst>
          </p:cNvPr>
          <p:cNvSpPr/>
          <p:nvPr/>
        </p:nvSpPr>
        <p:spPr>
          <a:xfrm>
            <a:off x="3699803" y="2556885"/>
            <a:ext cx="479239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NI" sz="2400" b="1" dirty="0"/>
              <a:t>Función Objetivo -&gt; </a:t>
            </a:r>
            <a:r>
              <a:rPr lang="es-NI" sz="2400" dirty="0"/>
              <a:t>Z= 50 X</a:t>
            </a:r>
            <a:r>
              <a:rPr lang="es-NI" sz="2400" baseline="-25000" dirty="0"/>
              <a:t>1</a:t>
            </a:r>
            <a:r>
              <a:rPr lang="es-NI" sz="2400" dirty="0"/>
              <a:t> + 80 X</a:t>
            </a:r>
            <a:r>
              <a:rPr lang="es-NI" sz="2400" baseline="-25000" dirty="0"/>
              <a:t>2</a:t>
            </a:r>
            <a:endParaRPr lang="es-NI" sz="2400" dirty="0"/>
          </a:p>
        </p:txBody>
      </p:sp>
    </p:spTree>
    <p:extLst>
      <p:ext uri="{BB962C8B-B14F-4D97-AF65-F5344CB8AC3E}">
        <p14:creationId xmlns:p14="http://schemas.microsoft.com/office/powerpoint/2010/main" val="7041064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A3270DF0-3C73-4173-B7D3-C443514D9F8F}"/>
              </a:ext>
            </a:extLst>
          </p:cNvPr>
          <p:cNvSpPr/>
          <p:nvPr/>
        </p:nvSpPr>
        <p:spPr>
          <a:xfrm>
            <a:off x="2579076" y="576775"/>
            <a:ext cx="746525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NI" sz="2400" dirty="0"/>
              <a:t>Usando los resultados obtenidos de la tabla seleccionamos el mayor y así encontramos los valores que se nos piden</a:t>
            </a:r>
            <a:endParaRPr lang="es-NI" sz="2400" b="1" dirty="0"/>
          </a:p>
        </p:txBody>
      </p:sp>
      <p:graphicFrame>
        <p:nvGraphicFramePr>
          <p:cNvPr id="5" name="Tabla 5">
            <a:extLst>
              <a:ext uri="{FF2B5EF4-FFF2-40B4-BE49-F238E27FC236}">
                <a16:creationId xmlns:a16="http://schemas.microsoft.com/office/drawing/2014/main" id="{9F992E19-34B3-4643-B43D-26DFB29CB9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655693"/>
              </p:ext>
            </p:extLst>
          </p:nvPr>
        </p:nvGraphicFramePr>
        <p:xfrm>
          <a:off x="3022209" y="1600200"/>
          <a:ext cx="6147581" cy="2127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4286">
                  <a:extLst>
                    <a:ext uri="{9D8B030D-6E8A-4147-A177-3AD203B41FA5}">
                      <a16:colId xmlns:a16="http://schemas.microsoft.com/office/drawing/2014/main" val="1202998542"/>
                    </a:ext>
                  </a:extLst>
                </a:gridCol>
                <a:gridCol w="714545">
                  <a:extLst>
                    <a:ext uri="{9D8B030D-6E8A-4147-A177-3AD203B41FA5}">
                      <a16:colId xmlns:a16="http://schemas.microsoft.com/office/drawing/2014/main" val="2261701532"/>
                    </a:ext>
                  </a:extLst>
                </a:gridCol>
                <a:gridCol w="712857">
                  <a:extLst>
                    <a:ext uri="{9D8B030D-6E8A-4147-A177-3AD203B41FA5}">
                      <a16:colId xmlns:a16="http://schemas.microsoft.com/office/drawing/2014/main" val="1061247631"/>
                    </a:ext>
                  </a:extLst>
                </a:gridCol>
                <a:gridCol w="3525893">
                  <a:extLst>
                    <a:ext uri="{9D8B030D-6E8A-4147-A177-3AD203B41FA5}">
                      <a16:colId xmlns:a16="http://schemas.microsoft.com/office/drawing/2014/main" val="493410054"/>
                    </a:ext>
                  </a:extLst>
                </a:gridCol>
              </a:tblGrid>
              <a:tr h="425548"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Vértice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1800" dirty="0"/>
                        <a:t>X</a:t>
                      </a:r>
                      <a:r>
                        <a:rPr lang="es-NI" sz="1800" baseline="-25000" dirty="0"/>
                        <a:t>1</a:t>
                      </a:r>
                      <a:endParaRPr lang="es-NI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1800" dirty="0"/>
                        <a:t>X</a:t>
                      </a:r>
                      <a:r>
                        <a:rPr lang="es-NI" sz="1800" baseline="-25000" dirty="0"/>
                        <a:t>2</a:t>
                      </a:r>
                      <a:endParaRPr lang="es-NI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3975354"/>
                  </a:ext>
                </a:extLst>
              </a:tr>
              <a:tr h="425548">
                <a:tc>
                  <a:txBody>
                    <a:bodyPr/>
                    <a:lstStyle/>
                    <a:p>
                      <a:r>
                        <a:rPr lang="es-NI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NI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NI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NI" sz="1800" dirty="0"/>
                        <a:t>50 (0) + 80 (60) = 4800</a:t>
                      </a:r>
                      <a:endParaRPr lang="es-NI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1908576"/>
                  </a:ext>
                </a:extLst>
              </a:tr>
              <a:tr h="425548">
                <a:tc>
                  <a:txBody>
                    <a:bodyPr/>
                    <a:lstStyle/>
                    <a:p>
                      <a:r>
                        <a:rPr lang="es-NI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NI" b="1" dirty="0">
                          <a:solidFill>
                            <a:srgbClr val="FF0000"/>
                          </a:solidFill>
                        </a:rP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NI" b="1" dirty="0">
                          <a:solidFill>
                            <a:srgbClr val="FF0000"/>
                          </a:solidFill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NI" sz="1800" b="1" dirty="0">
                          <a:solidFill>
                            <a:srgbClr val="FF0000"/>
                          </a:solidFill>
                        </a:rPr>
                        <a:t>50 (60) + 80 (30) = 5400</a:t>
                      </a:r>
                      <a:endParaRPr lang="es-NI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3013927"/>
                  </a:ext>
                </a:extLst>
              </a:tr>
              <a:tr h="425548">
                <a:tc>
                  <a:txBody>
                    <a:bodyPr/>
                    <a:lstStyle/>
                    <a:p>
                      <a:r>
                        <a:rPr lang="es-NI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NI" dirty="0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NI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NI" sz="1800" dirty="0"/>
                        <a:t>50 (90) + 80 (0) = 4500</a:t>
                      </a:r>
                      <a:endParaRPr lang="es-NI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8502376"/>
                  </a:ext>
                </a:extLst>
              </a:tr>
              <a:tr h="425548">
                <a:tc>
                  <a:txBody>
                    <a:bodyPr/>
                    <a:lstStyle/>
                    <a:p>
                      <a:r>
                        <a:rPr lang="es-NI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NI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NI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NI" sz="1800" dirty="0"/>
                        <a:t>50 (0) + 80 (0) = 0</a:t>
                      </a:r>
                      <a:endParaRPr lang="es-NI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7874318"/>
                  </a:ext>
                </a:extLst>
              </a:tr>
            </a:tbl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04420D2E-DDE3-427C-883A-821705144516}"/>
              </a:ext>
            </a:extLst>
          </p:cNvPr>
          <p:cNvSpPr txBox="1"/>
          <p:nvPr/>
        </p:nvSpPr>
        <p:spPr>
          <a:xfrm>
            <a:off x="4948310" y="4103638"/>
            <a:ext cx="229537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sz="2400" b="1" dirty="0"/>
              <a:t>Respuesta</a:t>
            </a:r>
          </a:p>
          <a:p>
            <a:endParaRPr lang="es-NI" sz="2400" dirty="0"/>
          </a:p>
          <a:p>
            <a:r>
              <a:rPr lang="es-NI" sz="2400" dirty="0"/>
              <a:t>X</a:t>
            </a:r>
            <a:r>
              <a:rPr lang="es-NI" sz="2400" baseline="-25000" dirty="0"/>
              <a:t>1</a:t>
            </a:r>
            <a:r>
              <a:rPr lang="es-NI" sz="2400" dirty="0"/>
              <a:t>= 60 mesas</a:t>
            </a:r>
            <a:endParaRPr lang="es-NI" sz="2400" baseline="-25000" dirty="0"/>
          </a:p>
          <a:p>
            <a:r>
              <a:rPr lang="es-NI" sz="2400" dirty="0"/>
              <a:t>X</a:t>
            </a:r>
            <a:r>
              <a:rPr lang="es-NI" sz="2400" baseline="-25000" dirty="0"/>
              <a:t>2</a:t>
            </a:r>
            <a:r>
              <a:rPr lang="es-NI" sz="2400" dirty="0"/>
              <a:t>= 30 sillas</a:t>
            </a:r>
          </a:p>
          <a:p>
            <a:endParaRPr lang="es-NI" sz="2400" dirty="0"/>
          </a:p>
          <a:p>
            <a:r>
              <a:rPr lang="es-NI" sz="2400" dirty="0"/>
              <a:t>Z = 5400 Dólares</a:t>
            </a:r>
          </a:p>
        </p:txBody>
      </p:sp>
    </p:spTree>
    <p:extLst>
      <p:ext uri="{BB962C8B-B14F-4D97-AF65-F5344CB8AC3E}">
        <p14:creationId xmlns:p14="http://schemas.microsoft.com/office/powerpoint/2010/main" val="5511490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a 5">
            <a:extLst>
              <a:ext uri="{FF2B5EF4-FFF2-40B4-BE49-F238E27FC236}">
                <a16:creationId xmlns:a16="http://schemas.microsoft.com/office/drawing/2014/main" id="{790BAADA-6172-484A-BB41-C2DBA8F593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0465384"/>
              </p:ext>
            </p:extLst>
          </p:nvPr>
        </p:nvGraphicFramePr>
        <p:xfrm>
          <a:off x="1927497" y="881360"/>
          <a:ext cx="8128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46917249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88448376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15202061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1401676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Proceso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 err="1"/>
                        <a:t>hrsxmesa</a:t>
                      </a:r>
                      <a:endParaRPr lang="es-NI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 err="1"/>
                        <a:t>hrsxsilla</a:t>
                      </a:r>
                      <a:endParaRPr lang="es-NI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Horas disponibles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8648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NI" dirty="0"/>
                        <a:t>Corte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NI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NI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NI" dirty="0"/>
                        <a:t>120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07699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NI" dirty="0"/>
                        <a:t>ensamblado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NI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NI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NI" dirty="0"/>
                        <a:t>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04634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NI" dirty="0"/>
                        <a:t>Ganancia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NI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NI" dirty="0"/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NI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857700"/>
                  </a:ext>
                </a:extLst>
              </a:tr>
            </a:tbl>
          </a:graphicData>
        </a:graphic>
      </p:graphicFrame>
      <p:sp>
        <p:nvSpPr>
          <p:cNvPr id="2" name="CuadroTexto 1">
            <a:extLst>
              <a:ext uri="{FF2B5EF4-FFF2-40B4-BE49-F238E27FC236}">
                <a16:creationId xmlns:a16="http://schemas.microsoft.com/office/drawing/2014/main" id="{2CE5731C-A6A4-450E-9D3B-191E7900EA92}"/>
              </a:ext>
            </a:extLst>
          </p:cNvPr>
          <p:cNvSpPr txBox="1"/>
          <p:nvPr/>
        </p:nvSpPr>
        <p:spPr>
          <a:xfrm>
            <a:off x="1242908" y="2560320"/>
            <a:ext cx="457006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sz="2400" b="1" dirty="0"/>
              <a:t>Variables de decisión</a:t>
            </a:r>
          </a:p>
          <a:p>
            <a:endParaRPr lang="es-NI" sz="2400" dirty="0"/>
          </a:p>
          <a:p>
            <a:r>
              <a:rPr lang="es-NI" sz="2400" dirty="0"/>
              <a:t>	X</a:t>
            </a:r>
            <a:r>
              <a:rPr lang="es-NI" sz="2400" baseline="-25000" dirty="0"/>
              <a:t>1</a:t>
            </a:r>
            <a:r>
              <a:rPr lang="es-NI" sz="2400" dirty="0"/>
              <a:t>= Cantidad de mesas</a:t>
            </a:r>
            <a:endParaRPr lang="es-NI" sz="2400" baseline="-25000" dirty="0"/>
          </a:p>
          <a:p>
            <a:r>
              <a:rPr lang="es-NI" sz="2400" dirty="0"/>
              <a:t>	X</a:t>
            </a:r>
            <a:r>
              <a:rPr lang="es-NI" sz="2400" baseline="-25000" dirty="0"/>
              <a:t>2</a:t>
            </a:r>
            <a:r>
              <a:rPr lang="es-NI" sz="2400" dirty="0"/>
              <a:t>= Cantidad de sillas</a:t>
            </a:r>
          </a:p>
          <a:p>
            <a:endParaRPr lang="es-NI" sz="2400" dirty="0"/>
          </a:p>
          <a:p>
            <a:r>
              <a:rPr lang="es-NI" sz="2400" b="1" dirty="0"/>
              <a:t>Función Objetivo</a:t>
            </a:r>
          </a:p>
          <a:p>
            <a:endParaRPr lang="es-NI" sz="2400" dirty="0"/>
          </a:p>
          <a:p>
            <a:r>
              <a:rPr lang="es-NI" sz="2400" dirty="0"/>
              <a:t>	Z = Ganancias</a:t>
            </a:r>
          </a:p>
          <a:p>
            <a:r>
              <a:rPr lang="es-NI" sz="2400" dirty="0"/>
              <a:t>	Z= 50 X</a:t>
            </a:r>
            <a:r>
              <a:rPr lang="es-NI" sz="2400" baseline="-25000" dirty="0"/>
              <a:t>1</a:t>
            </a:r>
            <a:r>
              <a:rPr lang="es-NI" sz="2400" dirty="0"/>
              <a:t> + 80 X</a:t>
            </a:r>
            <a:r>
              <a:rPr lang="es-NI" sz="2400" baseline="-25000" dirty="0"/>
              <a:t>2</a:t>
            </a:r>
            <a:endParaRPr lang="es-NI" sz="2400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27549D4-3B14-4993-B54B-680C95A7A42D}"/>
              </a:ext>
            </a:extLst>
          </p:cNvPr>
          <p:cNvSpPr txBox="1"/>
          <p:nvPr/>
        </p:nvSpPr>
        <p:spPr>
          <a:xfrm>
            <a:off x="6202440" y="2560320"/>
            <a:ext cx="457006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sz="2400" b="1" dirty="0"/>
              <a:t>Restricciones</a:t>
            </a:r>
          </a:p>
          <a:p>
            <a:endParaRPr lang="es-NI" sz="2400" dirty="0"/>
          </a:p>
          <a:p>
            <a:r>
              <a:rPr lang="es-NI" sz="2400" dirty="0"/>
              <a:t>	Consumo &lt;= disponible</a:t>
            </a:r>
          </a:p>
          <a:p>
            <a:endParaRPr lang="es-NI" sz="2400" dirty="0"/>
          </a:p>
          <a:p>
            <a:r>
              <a:rPr lang="es-NI" sz="2400" dirty="0"/>
              <a:t>	X</a:t>
            </a:r>
            <a:r>
              <a:rPr lang="es-NI" sz="2400" baseline="-25000" dirty="0"/>
              <a:t>1</a:t>
            </a:r>
            <a:r>
              <a:rPr lang="es-NI" sz="2400" dirty="0"/>
              <a:t> + 2X</a:t>
            </a:r>
            <a:r>
              <a:rPr lang="es-NI" sz="2400" baseline="-25000" dirty="0"/>
              <a:t>2 </a:t>
            </a:r>
            <a:r>
              <a:rPr lang="es-NI" sz="2400" dirty="0"/>
              <a:t>&lt;= 120</a:t>
            </a:r>
          </a:p>
          <a:p>
            <a:r>
              <a:rPr lang="es-NI" sz="2400" dirty="0"/>
              <a:t>	X</a:t>
            </a:r>
            <a:r>
              <a:rPr lang="es-NI" sz="2400" baseline="-25000" dirty="0"/>
              <a:t>1</a:t>
            </a:r>
            <a:r>
              <a:rPr lang="es-NI" sz="2400" dirty="0"/>
              <a:t> + X</a:t>
            </a:r>
            <a:r>
              <a:rPr lang="es-NI" sz="2400" baseline="-25000" dirty="0"/>
              <a:t>2 </a:t>
            </a:r>
            <a:r>
              <a:rPr lang="es-NI" sz="2400" dirty="0"/>
              <a:t>&lt;= 90</a:t>
            </a:r>
          </a:p>
          <a:p>
            <a:r>
              <a:rPr lang="es-NI" sz="2400" dirty="0"/>
              <a:t>	X</a:t>
            </a:r>
            <a:r>
              <a:rPr lang="es-NI" sz="2400" baseline="-25000" dirty="0"/>
              <a:t>1</a:t>
            </a:r>
            <a:r>
              <a:rPr lang="es-NI" sz="2400" dirty="0"/>
              <a:t> , X</a:t>
            </a:r>
            <a:r>
              <a:rPr lang="es-NI" sz="2400" baseline="-25000" dirty="0"/>
              <a:t>2</a:t>
            </a:r>
            <a:r>
              <a:rPr lang="es-NI" sz="2400" dirty="0"/>
              <a:t>&gt;=0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56D6DBC-C792-4E60-8581-FEEBF0274D06}"/>
              </a:ext>
            </a:extLst>
          </p:cNvPr>
          <p:cNvSpPr txBox="1"/>
          <p:nvPr/>
        </p:nvSpPr>
        <p:spPr>
          <a:xfrm>
            <a:off x="4473376" y="235029"/>
            <a:ext cx="32452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sz="3600" dirty="0"/>
              <a:t>Método Simplex</a:t>
            </a:r>
          </a:p>
        </p:txBody>
      </p:sp>
    </p:spTree>
    <p:extLst>
      <p:ext uri="{BB962C8B-B14F-4D97-AF65-F5344CB8AC3E}">
        <p14:creationId xmlns:p14="http://schemas.microsoft.com/office/powerpoint/2010/main" val="25714511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1EBC240F-1C09-47F0-9919-A949E90CBD11}"/>
              </a:ext>
            </a:extLst>
          </p:cNvPr>
          <p:cNvSpPr txBox="1"/>
          <p:nvPr/>
        </p:nvSpPr>
        <p:spPr>
          <a:xfrm>
            <a:off x="4566863" y="316939"/>
            <a:ext cx="32452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sz="3600" dirty="0"/>
              <a:t>Método Simplex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5B0F98F-1EBB-4B3F-81D0-C7D48A7CD60D}"/>
              </a:ext>
            </a:extLst>
          </p:cNvPr>
          <p:cNvSpPr/>
          <p:nvPr/>
        </p:nvSpPr>
        <p:spPr>
          <a:xfrm>
            <a:off x="6795515" y="1270197"/>
            <a:ext cx="309073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NI" dirty="0"/>
              <a:t>Z - 50 X</a:t>
            </a:r>
            <a:r>
              <a:rPr lang="es-NI" baseline="-25000" dirty="0"/>
              <a:t>1</a:t>
            </a:r>
            <a:r>
              <a:rPr lang="es-NI" dirty="0"/>
              <a:t> - 80 X</a:t>
            </a:r>
            <a:r>
              <a:rPr lang="es-NI" baseline="-25000" dirty="0"/>
              <a:t>2 	</a:t>
            </a:r>
            <a:r>
              <a:rPr lang="es-NI" dirty="0"/>
              <a:t>= 0</a:t>
            </a:r>
          </a:p>
          <a:p>
            <a:r>
              <a:rPr lang="es-NI" dirty="0"/>
              <a:t>           X</a:t>
            </a:r>
            <a:r>
              <a:rPr lang="es-NI" baseline="-25000" dirty="0"/>
              <a:t>1</a:t>
            </a:r>
            <a:r>
              <a:rPr lang="es-NI" dirty="0"/>
              <a:t> + 2X</a:t>
            </a:r>
            <a:r>
              <a:rPr lang="es-NI" baseline="-25000" dirty="0"/>
              <a:t>2 	</a:t>
            </a:r>
            <a:r>
              <a:rPr lang="es-NI" dirty="0"/>
              <a:t>&lt;= 120</a:t>
            </a:r>
          </a:p>
          <a:p>
            <a:r>
              <a:rPr lang="es-NI" dirty="0"/>
              <a:t>           X</a:t>
            </a:r>
            <a:r>
              <a:rPr lang="es-NI" baseline="-25000" dirty="0"/>
              <a:t>1</a:t>
            </a:r>
            <a:r>
              <a:rPr lang="es-NI" dirty="0"/>
              <a:t> + X</a:t>
            </a:r>
            <a:r>
              <a:rPr lang="es-NI" baseline="-25000" dirty="0"/>
              <a:t>2 	</a:t>
            </a:r>
            <a:r>
              <a:rPr lang="es-NI" dirty="0"/>
              <a:t>&lt;= 90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22BCF71-9E55-4108-A3C8-E5709147C185}"/>
              </a:ext>
            </a:extLst>
          </p:cNvPr>
          <p:cNvSpPr txBox="1"/>
          <p:nvPr/>
        </p:nvSpPr>
        <p:spPr>
          <a:xfrm>
            <a:off x="1280161" y="1009775"/>
            <a:ext cx="38927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b="1" dirty="0"/>
              <a:t>1. Despejamos la Función objetivo</a:t>
            </a:r>
          </a:p>
          <a:p>
            <a:r>
              <a:rPr lang="es-NI" dirty="0"/>
              <a:t>	Z - 50 X</a:t>
            </a:r>
            <a:r>
              <a:rPr lang="es-NI" baseline="-25000" dirty="0"/>
              <a:t>1</a:t>
            </a:r>
            <a:r>
              <a:rPr lang="es-NI" dirty="0"/>
              <a:t> - 80 X</a:t>
            </a:r>
            <a:r>
              <a:rPr lang="es-NI" baseline="-25000" dirty="0"/>
              <a:t>2 </a:t>
            </a:r>
            <a:r>
              <a:rPr lang="es-NI" dirty="0"/>
              <a:t>= 0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3CFBE5C-6C31-47D2-9E1D-D1A4081D2F36}"/>
              </a:ext>
            </a:extLst>
          </p:cNvPr>
          <p:cNvSpPr txBox="1"/>
          <p:nvPr/>
        </p:nvSpPr>
        <p:spPr>
          <a:xfrm>
            <a:off x="6189486" y="963608"/>
            <a:ext cx="40364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b="1" dirty="0"/>
              <a:t>2. Ordenamos nuestras ecuaciones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33CE2D6-BE0A-4479-B8E0-C8060962F883}"/>
              </a:ext>
            </a:extLst>
          </p:cNvPr>
          <p:cNvSpPr txBox="1"/>
          <p:nvPr/>
        </p:nvSpPr>
        <p:spPr>
          <a:xfrm>
            <a:off x="1280161" y="2344850"/>
            <a:ext cx="82785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b="1" dirty="0"/>
              <a:t>3. Convertimos las desigualdades en igualdades agregando una variable de holgura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358B5B43-E372-4679-BFA4-C61CBB7A92E3}"/>
              </a:ext>
            </a:extLst>
          </p:cNvPr>
          <p:cNvSpPr/>
          <p:nvPr/>
        </p:nvSpPr>
        <p:spPr>
          <a:xfrm>
            <a:off x="2082153" y="2714182"/>
            <a:ext cx="309073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NI" dirty="0"/>
              <a:t>Z - 50 X</a:t>
            </a:r>
            <a:r>
              <a:rPr lang="es-NI" baseline="-25000" dirty="0"/>
              <a:t>1</a:t>
            </a:r>
            <a:r>
              <a:rPr lang="es-NI" dirty="0"/>
              <a:t> - 80 X</a:t>
            </a:r>
            <a:r>
              <a:rPr lang="es-NI" baseline="-25000" dirty="0"/>
              <a:t>2 	   </a:t>
            </a:r>
            <a:r>
              <a:rPr lang="es-NI" dirty="0"/>
              <a:t>= 0</a:t>
            </a:r>
          </a:p>
          <a:p>
            <a:r>
              <a:rPr lang="es-NI" dirty="0"/>
              <a:t>           X</a:t>
            </a:r>
            <a:r>
              <a:rPr lang="es-NI" baseline="-25000" dirty="0"/>
              <a:t>1</a:t>
            </a:r>
            <a:r>
              <a:rPr lang="es-NI" dirty="0"/>
              <a:t> + 2X</a:t>
            </a:r>
            <a:r>
              <a:rPr lang="es-NI" baseline="-25000" dirty="0"/>
              <a:t>2 </a:t>
            </a:r>
            <a:r>
              <a:rPr lang="es-NI" dirty="0"/>
              <a:t>+S</a:t>
            </a:r>
            <a:r>
              <a:rPr lang="es-NI" baseline="-25000" dirty="0"/>
              <a:t>1	   </a:t>
            </a:r>
            <a:r>
              <a:rPr lang="es-NI" dirty="0"/>
              <a:t>= 120</a:t>
            </a:r>
          </a:p>
          <a:p>
            <a:r>
              <a:rPr lang="es-NI" dirty="0"/>
              <a:t>           X</a:t>
            </a:r>
            <a:r>
              <a:rPr lang="es-NI" baseline="-25000" dirty="0"/>
              <a:t>1</a:t>
            </a:r>
            <a:r>
              <a:rPr lang="es-NI" dirty="0"/>
              <a:t> + X</a:t>
            </a:r>
            <a:r>
              <a:rPr lang="es-NI" baseline="-25000" dirty="0"/>
              <a:t>2           </a:t>
            </a:r>
            <a:r>
              <a:rPr lang="es-NI" dirty="0"/>
              <a:t>+S</a:t>
            </a:r>
            <a:r>
              <a:rPr lang="es-NI" baseline="-25000" dirty="0"/>
              <a:t>2  </a:t>
            </a:r>
            <a:r>
              <a:rPr lang="es-NI" dirty="0"/>
              <a:t>= 90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5C827E3D-61A7-4F3D-B657-4E2A051795BB}"/>
              </a:ext>
            </a:extLst>
          </p:cNvPr>
          <p:cNvSpPr txBox="1"/>
          <p:nvPr/>
        </p:nvSpPr>
        <p:spPr>
          <a:xfrm>
            <a:off x="1280160" y="3726430"/>
            <a:ext cx="9470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b="1" dirty="0"/>
              <a:t>4. Construimos nuestra matriz simplex usando los coeficientes de las ecuaciones del paso anterior</a:t>
            </a:r>
          </a:p>
        </p:txBody>
      </p:sp>
      <p:graphicFrame>
        <p:nvGraphicFramePr>
          <p:cNvPr id="11" name="Tabla 11">
            <a:extLst>
              <a:ext uri="{FF2B5EF4-FFF2-40B4-BE49-F238E27FC236}">
                <a16:creationId xmlns:a16="http://schemas.microsoft.com/office/drawing/2014/main" id="{633B9132-3B7D-4953-91BA-DF00392CD0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3516530"/>
              </p:ext>
            </p:extLst>
          </p:nvPr>
        </p:nvGraphicFramePr>
        <p:xfrm>
          <a:off x="2031999" y="4365992"/>
          <a:ext cx="8128002" cy="1483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3473159978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33101581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0750584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03827602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51491300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4235014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NI" b="1" dirty="0"/>
                        <a:t>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b="1" dirty="0"/>
                        <a:t> X</a:t>
                      </a:r>
                      <a:r>
                        <a:rPr lang="es-NI" b="1" baseline="-25000" dirty="0"/>
                        <a:t>1</a:t>
                      </a:r>
                      <a:r>
                        <a:rPr lang="es-NI" b="1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b="1" dirty="0"/>
                        <a:t>X</a:t>
                      </a:r>
                      <a:r>
                        <a:rPr lang="es-NI" b="1" baseline="-25000" dirty="0"/>
                        <a:t>2 </a:t>
                      </a:r>
                      <a:endParaRPr lang="es-NI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b="1" dirty="0"/>
                        <a:t>S</a:t>
                      </a:r>
                      <a:r>
                        <a:rPr lang="es-NI" b="1" baseline="-25000" dirty="0"/>
                        <a:t>1</a:t>
                      </a:r>
                      <a:endParaRPr lang="es-NI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b="1" dirty="0"/>
                        <a:t>S</a:t>
                      </a:r>
                      <a:r>
                        <a:rPr lang="es-NI" b="1" baseline="-25000" dirty="0"/>
                        <a:t>2</a:t>
                      </a:r>
                      <a:endParaRPr lang="es-NI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b="1" dirty="0"/>
                        <a:t>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88995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-50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-80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77499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120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2427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82603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79133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4CA65349-CD5F-4763-8B8B-713FB71C44D5}"/>
              </a:ext>
            </a:extLst>
          </p:cNvPr>
          <p:cNvSpPr txBox="1"/>
          <p:nvPr/>
        </p:nvSpPr>
        <p:spPr>
          <a:xfrm>
            <a:off x="4473376" y="330001"/>
            <a:ext cx="32452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sz="3600" dirty="0"/>
              <a:t>Método Simplex</a:t>
            </a:r>
          </a:p>
        </p:txBody>
      </p:sp>
      <p:graphicFrame>
        <p:nvGraphicFramePr>
          <p:cNvPr id="5" name="Tabla 11">
            <a:extLst>
              <a:ext uri="{FF2B5EF4-FFF2-40B4-BE49-F238E27FC236}">
                <a16:creationId xmlns:a16="http://schemas.microsoft.com/office/drawing/2014/main" id="{C973208B-E353-4B95-B21B-3432616E0B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9772740"/>
              </p:ext>
            </p:extLst>
          </p:nvPr>
        </p:nvGraphicFramePr>
        <p:xfrm>
          <a:off x="751838" y="1812336"/>
          <a:ext cx="4630059" cy="148336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789578">
                  <a:extLst>
                    <a:ext uri="{9D8B030D-6E8A-4147-A177-3AD203B41FA5}">
                      <a16:colId xmlns:a16="http://schemas.microsoft.com/office/drawing/2014/main" val="3473159978"/>
                    </a:ext>
                  </a:extLst>
                </a:gridCol>
                <a:gridCol w="653143">
                  <a:extLst>
                    <a:ext uri="{9D8B030D-6E8A-4147-A177-3AD203B41FA5}">
                      <a16:colId xmlns:a16="http://schemas.microsoft.com/office/drawing/2014/main" val="1331015816"/>
                    </a:ext>
                  </a:extLst>
                </a:gridCol>
                <a:gridCol w="796835">
                  <a:extLst>
                    <a:ext uri="{9D8B030D-6E8A-4147-A177-3AD203B41FA5}">
                      <a16:colId xmlns:a16="http://schemas.microsoft.com/office/drawing/2014/main" val="30750584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038276021"/>
                    </a:ext>
                  </a:extLst>
                </a:gridCol>
                <a:gridCol w="679268">
                  <a:extLst>
                    <a:ext uri="{9D8B030D-6E8A-4147-A177-3AD203B41FA5}">
                      <a16:colId xmlns:a16="http://schemas.microsoft.com/office/drawing/2014/main" val="514913000"/>
                    </a:ext>
                  </a:extLst>
                </a:gridCol>
                <a:gridCol w="796835">
                  <a:extLst>
                    <a:ext uri="{9D8B030D-6E8A-4147-A177-3AD203B41FA5}">
                      <a16:colId xmlns:a16="http://schemas.microsoft.com/office/drawing/2014/main" val="14235014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Z</a:t>
                      </a:r>
                      <a:endParaRPr lang="es-NI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 X</a:t>
                      </a:r>
                      <a:r>
                        <a:rPr lang="es-NI" baseline="-25000" dirty="0"/>
                        <a:t>1</a:t>
                      </a:r>
                      <a:r>
                        <a:rPr lang="es-NI" dirty="0"/>
                        <a:t> </a:t>
                      </a:r>
                      <a:endParaRPr lang="es-NI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X</a:t>
                      </a:r>
                      <a:r>
                        <a:rPr lang="es-NI" baseline="-25000" dirty="0"/>
                        <a:t>2 </a:t>
                      </a:r>
                      <a:endParaRPr lang="es-NI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S</a:t>
                      </a:r>
                      <a:r>
                        <a:rPr lang="es-NI" baseline="-25000" dirty="0"/>
                        <a:t>1</a:t>
                      </a:r>
                      <a:endParaRPr lang="es-NI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S</a:t>
                      </a:r>
                      <a:r>
                        <a:rPr lang="es-NI" baseline="-25000" dirty="0"/>
                        <a:t>2</a:t>
                      </a:r>
                      <a:endParaRPr lang="es-NI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R</a:t>
                      </a:r>
                      <a:endParaRPr lang="es-NI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88995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-50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-80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77499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120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2427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8260321"/>
                  </a:ext>
                </a:extLst>
              </a:tr>
            </a:tbl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A145BBE2-B5BB-42D5-8BBA-142E38294680}"/>
              </a:ext>
            </a:extLst>
          </p:cNvPr>
          <p:cNvSpPr txBox="1"/>
          <p:nvPr/>
        </p:nvSpPr>
        <p:spPr>
          <a:xfrm>
            <a:off x="751838" y="842622"/>
            <a:ext cx="38404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b="1" dirty="0"/>
              <a:t>5. Identificamos la columna pivote, la más negativa en la función objetivo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FDA2326C-5DD3-48C9-AF43-054C885BD67D}"/>
              </a:ext>
            </a:extLst>
          </p:cNvPr>
          <p:cNvSpPr/>
          <p:nvPr/>
        </p:nvSpPr>
        <p:spPr>
          <a:xfrm>
            <a:off x="2299063" y="1812336"/>
            <a:ext cx="587828" cy="1483360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599F54A-C3A9-4B8F-948F-D9D34DBB2A4F}"/>
              </a:ext>
            </a:extLst>
          </p:cNvPr>
          <p:cNvSpPr txBox="1"/>
          <p:nvPr/>
        </p:nvSpPr>
        <p:spPr>
          <a:xfrm>
            <a:off x="6096001" y="852123"/>
            <a:ext cx="59740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b="1" dirty="0"/>
              <a:t>6. Identificamos la fila pivote</a:t>
            </a:r>
            <a:r>
              <a:rPr lang="es-NI" b="1"/>
              <a:t>, “R” </a:t>
            </a:r>
            <a:r>
              <a:rPr lang="es-NI" b="1" dirty="0"/>
              <a:t>en la fila de cada restricción entre el número correspondiente en la columna pivote y elegimos el menor para identificar la fila pivote</a:t>
            </a:r>
          </a:p>
        </p:txBody>
      </p:sp>
      <p:graphicFrame>
        <p:nvGraphicFramePr>
          <p:cNvPr id="9" name="Tabla 11">
            <a:extLst>
              <a:ext uri="{FF2B5EF4-FFF2-40B4-BE49-F238E27FC236}">
                <a16:creationId xmlns:a16="http://schemas.microsoft.com/office/drawing/2014/main" id="{2DD0D7D7-3D94-42FB-97ED-493A66D5C7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249784"/>
              </p:ext>
            </p:extLst>
          </p:nvPr>
        </p:nvGraphicFramePr>
        <p:xfrm>
          <a:off x="6264028" y="1812336"/>
          <a:ext cx="4630059" cy="148336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789578">
                  <a:extLst>
                    <a:ext uri="{9D8B030D-6E8A-4147-A177-3AD203B41FA5}">
                      <a16:colId xmlns:a16="http://schemas.microsoft.com/office/drawing/2014/main" val="3473159978"/>
                    </a:ext>
                  </a:extLst>
                </a:gridCol>
                <a:gridCol w="653143">
                  <a:extLst>
                    <a:ext uri="{9D8B030D-6E8A-4147-A177-3AD203B41FA5}">
                      <a16:colId xmlns:a16="http://schemas.microsoft.com/office/drawing/2014/main" val="1331015816"/>
                    </a:ext>
                  </a:extLst>
                </a:gridCol>
                <a:gridCol w="796835">
                  <a:extLst>
                    <a:ext uri="{9D8B030D-6E8A-4147-A177-3AD203B41FA5}">
                      <a16:colId xmlns:a16="http://schemas.microsoft.com/office/drawing/2014/main" val="30750584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038276021"/>
                    </a:ext>
                  </a:extLst>
                </a:gridCol>
                <a:gridCol w="679268">
                  <a:extLst>
                    <a:ext uri="{9D8B030D-6E8A-4147-A177-3AD203B41FA5}">
                      <a16:colId xmlns:a16="http://schemas.microsoft.com/office/drawing/2014/main" val="514913000"/>
                    </a:ext>
                  </a:extLst>
                </a:gridCol>
                <a:gridCol w="796835">
                  <a:extLst>
                    <a:ext uri="{9D8B030D-6E8A-4147-A177-3AD203B41FA5}">
                      <a16:colId xmlns:a16="http://schemas.microsoft.com/office/drawing/2014/main" val="14235014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Z</a:t>
                      </a:r>
                      <a:endParaRPr lang="es-NI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 X</a:t>
                      </a:r>
                      <a:r>
                        <a:rPr lang="es-NI" baseline="-25000" dirty="0"/>
                        <a:t>1</a:t>
                      </a:r>
                      <a:r>
                        <a:rPr lang="es-NI" dirty="0"/>
                        <a:t> </a:t>
                      </a:r>
                      <a:endParaRPr lang="es-NI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X</a:t>
                      </a:r>
                      <a:r>
                        <a:rPr lang="es-NI" baseline="-25000" dirty="0"/>
                        <a:t>2 </a:t>
                      </a:r>
                      <a:endParaRPr lang="es-NI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S</a:t>
                      </a:r>
                      <a:r>
                        <a:rPr lang="es-NI" baseline="-25000" dirty="0"/>
                        <a:t>1</a:t>
                      </a:r>
                      <a:endParaRPr lang="es-NI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S</a:t>
                      </a:r>
                      <a:r>
                        <a:rPr lang="es-NI" baseline="-25000" dirty="0"/>
                        <a:t>2</a:t>
                      </a:r>
                      <a:endParaRPr lang="es-NI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R</a:t>
                      </a:r>
                      <a:endParaRPr lang="es-NI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88995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-50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-80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77499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120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2427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8260321"/>
                  </a:ext>
                </a:extLst>
              </a:tr>
            </a:tbl>
          </a:graphicData>
        </a:graphic>
      </p:graphicFrame>
      <p:sp>
        <p:nvSpPr>
          <p:cNvPr id="10" name="Elipse 9">
            <a:extLst>
              <a:ext uri="{FF2B5EF4-FFF2-40B4-BE49-F238E27FC236}">
                <a16:creationId xmlns:a16="http://schemas.microsoft.com/office/drawing/2014/main" id="{721E35ED-645F-4CD0-B36A-A13FCC2B19C7}"/>
              </a:ext>
            </a:extLst>
          </p:cNvPr>
          <p:cNvSpPr/>
          <p:nvPr/>
        </p:nvSpPr>
        <p:spPr>
          <a:xfrm>
            <a:off x="7839389" y="1812336"/>
            <a:ext cx="587828" cy="1483360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1D6B38FC-FF6C-4B8E-A74E-2610637FC1D1}"/>
              </a:ext>
            </a:extLst>
          </p:cNvPr>
          <p:cNvSpPr txBox="1"/>
          <p:nvPr/>
        </p:nvSpPr>
        <p:spPr>
          <a:xfrm>
            <a:off x="10872317" y="2564957"/>
            <a:ext cx="119776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dirty="0"/>
              <a:t>120/</a:t>
            </a:r>
            <a:r>
              <a:rPr lang="es-NI" dirty="0">
                <a:solidFill>
                  <a:srgbClr val="FF0000"/>
                </a:solidFill>
              </a:rPr>
              <a:t>2</a:t>
            </a:r>
            <a:r>
              <a:rPr lang="es-NI" dirty="0"/>
              <a:t> = 60</a:t>
            </a:r>
          </a:p>
          <a:p>
            <a:endParaRPr lang="es-NI" sz="800" dirty="0"/>
          </a:p>
          <a:p>
            <a:r>
              <a:rPr lang="es-NI" dirty="0"/>
              <a:t>90/</a:t>
            </a:r>
            <a:r>
              <a:rPr lang="es-NI" dirty="0">
                <a:solidFill>
                  <a:srgbClr val="FF0000"/>
                </a:solidFill>
              </a:rPr>
              <a:t>1</a:t>
            </a:r>
            <a:r>
              <a:rPr lang="es-NI" dirty="0"/>
              <a:t> =90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8E00627E-1551-47C6-A128-544BD3035ABC}"/>
              </a:ext>
            </a:extLst>
          </p:cNvPr>
          <p:cNvSpPr/>
          <p:nvPr/>
        </p:nvSpPr>
        <p:spPr>
          <a:xfrm rot="16200000">
            <a:off x="8398498" y="430488"/>
            <a:ext cx="361124" cy="4630059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8895CDD8-10D5-4E1E-999B-7B548ED4D6FD}"/>
              </a:ext>
            </a:extLst>
          </p:cNvPr>
          <p:cNvSpPr txBox="1"/>
          <p:nvPr/>
        </p:nvSpPr>
        <p:spPr>
          <a:xfrm>
            <a:off x="751838" y="3465513"/>
            <a:ext cx="53441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b="1" dirty="0"/>
              <a:t>7. Identificamos el elemento pivote como aquel que está en donde se interceptan la columna pivote y la fila pivote</a:t>
            </a:r>
          </a:p>
        </p:txBody>
      </p:sp>
      <p:graphicFrame>
        <p:nvGraphicFramePr>
          <p:cNvPr id="14" name="Tabla 11">
            <a:extLst>
              <a:ext uri="{FF2B5EF4-FFF2-40B4-BE49-F238E27FC236}">
                <a16:creationId xmlns:a16="http://schemas.microsoft.com/office/drawing/2014/main" id="{09A83513-B9D3-4948-85B6-2F2BD96F7A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6179771"/>
              </p:ext>
            </p:extLst>
          </p:nvPr>
        </p:nvGraphicFramePr>
        <p:xfrm>
          <a:off x="571861" y="4595543"/>
          <a:ext cx="4630059" cy="148336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789578">
                  <a:extLst>
                    <a:ext uri="{9D8B030D-6E8A-4147-A177-3AD203B41FA5}">
                      <a16:colId xmlns:a16="http://schemas.microsoft.com/office/drawing/2014/main" val="3473159978"/>
                    </a:ext>
                  </a:extLst>
                </a:gridCol>
                <a:gridCol w="653143">
                  <a:extLst>
                    <a:ext uri="{9D8B030D-6E8A-4147-A177-3AD203B41FA5}">
                      <a16:colId xmlns:a16="http://schemas.microsoft.com/office/drawing/2014/main" val="1331015816"/>
                    </a:ext>
                  </a:extLst>
                </a:gridCol>
                <a:gridCol w="796835">
                  <a:extLst>
                    <a:ext uri="{9D8B030D-6E8A-4147-A177-3AD203B41FA5}">
                      <a16:colId xmlns:a16="http://schemas.microsoft.com/office/drawing/2014/main" val="30750584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038276021"/>
                    </a:ext>
                  </a:extLst>
                </a:gridCol>
                <a:gridCol w="679268">
                  <a:extLst>
                    <a:ext uri="{9D8B030D-6E8A-4147-A177-3AD203B41FA5}">
                      <a16:colId xmlns:a16="http://schemas.microsoft.com/office/drawing/2014/main" val="514913000"/>
                    </a:ext>
                  </a:extLst>
                </a:gridCol>
                <a:gridCol w="796835">
                  <a:extLst>
                    <a:ext uri="{9D8B030D-6E8A-4147-A177-3AD203B41FA5}">
                      <a16:colId xmlns:a16="http://schemas.microsoft.com/office/drawing/2014/main" val="14235014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Z</a:t>
                      </a:r>
                      <a:endParaRPr lang="es-NI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 X</a:t>
                      </a:r>
                      <a:r>
                        <a:rPr lang="es-NI" baseline="-25000" dirty="0"/>
                        <a:t>1</a:t>
                      </a:r>
                      <a:r>
                        <a:rPr lang="es-NI" dirty="0"/>
                        <a:t> </a:t>
                      </a:r>
                      <a:endParaRPr lang="es-NI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X</a:t>
                      </a:r>
                      <a:r>
                        <a:rPr lang="es-NI" baseline="-25000" dirty="0"/>
                        <a:t>2 </a:t>
                      </a:r>
                      <a:endParaRPr lang="es-NI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S</a:t>
                      </a:r>
                      <a:r>
                        <a:rPr lang="es-NI" baseline="-25000" dirty="0"/>
                        <a:t>1</a:t>
                      </a:r>
                      <a:endParaRPr lang="es-NI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S</a:t>
                      </a:r>
                      <a:r>
                        <a:rPr lang="es-NI" baseline="-25000" dirty="0"/>
                        <a:t>2</a:t>
                      </a:r>
                      <a:endParaRPr lang="es-NI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R</a:t>
                      </a:r>
                      <a:endParaRPr lang="es-NI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88995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-50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-80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77499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120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2427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8260321"/>
                  </a:ext>
                </a:extLst>
              </a:tr>
            </a:tbl>
          </a:graphicData>
        </a:graphic>
      </p:graphicFrame>
      <p:sp>
        <p:nvSpPr>
          <p:cNvPr id="16" name="Elipse 15">
            <a:extLst>
              <a:ext uri="{FF2B5EF4-FFF2-40B4-BE49-F238E27FC236}">
                <a16:creationId xmlns:a16="http://schemas.microsoft.com/office/drawing/2014/main" id="{50D8132D-6C10-4902-927B-6C1F93502B63}"/>
              </a:ext>
            </a:extLst>
          </p:cNvPr>
          <p:cNvSpPr/>
          <p:nvPr/>
        </p:nvSpPr>
        <p:spPr>
          <a:xfrm>
            <a:off x="2180492" y="5337223"/>
            <a:ext cx="407963" cy="351467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C57FD6FA-C7D4-4952-A754-59B3852F0DCC}"/>
              </a:ext>
            </a:extLst>
          </p:cNvPr>
          <p:cNvSpPr txBox="1"/>
          <p:nvPr/>
        </p:nvSpPr>
        <p:spPr>
          <a:xfrm>
            <a:off x="6248400" y="3476959"/>
            <a:ext cx="53441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b="1" dirty="0"/>
              <a:t>8. Encontramos una manera algebraica de convertir el elemento pivote en 1 y se la aplicamos a toda la fila </a:t>
            </a:r>
          </a:p>
        </p:txBody>
      </p:sp>
      <p:graphicFrame>
        <p:nvGraphicFramePr>
          <p:cNvPr id="19" name="Tabla 11">
            <a:extLst>
              <a:ext uri="{FF2B5EF4-FFF2-40B4-BE49-F238E27FC236}">
                <a16:creationId xmlns:a16="http://schemas.microsoft.com/office/drawing/2014/main" id="{6F624848-FD4A-477C-AED9-1962261E04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700330"/>
              </p:ext>
            </p:extLst>
          </p:nvPr>
        </p:nvGraphicFramePr>
        <p:xfrm>
          <a:off x="6365405" y="4522517"/>
          <a:ext cx="4630059" cy="148336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789578">
                  <a:extLst>
                    <a:ext uri="{9D8B030D-6E8A-4147-A177-3AD203B41FA5}">
                      <a16:colId xmlns:a16="http://schemas.microsoft.com/office/drawing/2014/main" val="3473159978"/>
                    </a:ext>
                  </a:extLst>
                </a:gridCol>
                <a:gridCol w="653143">
                  <a:extLst>
                    <a:ext uri="{9D8B030D-6E8A-4147-A177-3AD203B41FA5}">
                      <a16:colId xmlns:a16="http://schemas.microsoft.com/office/drawing/2014/main" val="1331015816"/>
                    </a:ext>
                  </a:extLst>
                </a:gridCol>
                <a:gridCol w="796835">
                  <a:extLst>
                    <a:ext uri="{9D8B030D-6E8A-4147-A177-3AD203B41FA5}">
                      <a16:colId xmlns:a16="http://schemas.microsoft.com/office/drawing/2014/main" val="30750584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038276021"/>
                    </a:ext>
                  </a:extLst>
                </a:gridCol>
                <a:gridCol w="679268">
                  <a:extLst>
                    <a:ext uri="{9D8B030D-6E8A-4147-A177-3AD203B41FA5}">
                      <a16:colId xmlns:a16="http://schemas.microsoft.com/office/drawing/2014/main" val="514913000"/>
                    </a:ext>
                  </a:extLst>
                </a:gridCol>
                <a:gridCol w="796835">
                  <a:extLst>
                    <a:ext uri="{9D8B030D-6E8A-4147-A177-3AD203B41FA5}">
                      <a16:colId xmlns:a16="http://schemas.microsoft.com/office/drawing/2014/main" val="14235014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Z</a:t>
                      </a:r>
                      <a:endParaRPr lang="es-NI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 X</a:t>
                      </a:r>
                      <a:r>
                        <a:rPr lang="es-NI" baseline="-25000" dirty="0"/>
                        <a:t>1</a:t>
                      </a:r>
                      <a:r>
                        <a:rPr lang="es-NI" dirty="0"/>
                        <a:t> </a:t>
                      </a:r>
                      <a:endParaRPr lang="es-NI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X</a:t>
                      </a:r>
                      <a:r>
                        <a:rPr lang="es-NI" baseline="-25000" dirty="0"/>
                        <a:t>2 </a:t>
                      </a:r>
                      <a:endParaRPr lang="es-NI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S</a:t>
                      </a:r>
                      <a:r>
                        <a:rPr lang="es-NI" baseline="-25000" dirty="0"/>
                        <a:t>1</a:t>
                      </a:r>
                      <a:endParaRPr lang="es-NI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S</a:t>
                      </a:r>
                      <a:r>
                        <a:rPr lang="es-NI" baseline="-25000" dirty="0"/>
                        <a:t>2</a:t>
                      </a:r>
                      <a:endParaRPr lang="es-NI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R</a:t>
                      </a:r>
                      <a:endParaRPr lang="es-NI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88995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-50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-80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77499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120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2427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8260321"/>
                  </a:ext>
                </a:extLst>
              </a:tr>
            </a:tbl>
          </a:graphicData>
        </a:graphic>
      </p:graphicFrame>
      <p:sp>
        <p:nvSpPr>
          <p:cNvPr id="20" name="CuadroTexto 19">
            <a:extLst>
              <a:ext uri="{FF2B5EF4-FFF2-40B4-BE49-F238E27FC236}">
                <a16:creationId xmlns:a16="http://schemas.microsoft.com/office/drawing/2014/main" id="{20993793-3BD8-44D6-95F7-AEA1AAC9AB1A}"/>
              </a:ext>
            </a:extLst>
          </p:cNvPr>
          <p:cNvSpPr txBox="1"/>
          <p:nvPr/>
        </p:nvSpPr>
        <p:spPr>
          <a:xfrm>
            <a:off x="11021257" y="5224607"/>
            <a:ext cx="61427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dirty="0"/>
              <a:t>F2/</a:t>
            </a:r>
            <a:r>
              <a:rPr lang="es-NI" dirty="0">
                <a:solidFill>
                  <a:srgbClr val="FF0000"/>
                </a:solidFill>
              </a:rPr>
              <a:t>2</a:t>
            </a:r>
            <a:endParaRPr lang="es-NI" dirty="0"/>
          </a:p>
          <a:p>
            <a:endParaRPr lang="es-NI" sz="800" dirty="0"/>
          </a:p>
        </p:txBody>
      </p:sp>
    </p:spTree>
    <p:extLst>
      <p:ext uri="{BB962C8B-B14F-4D97-AF65-F5344CB8AC3E}">
        <p14:creationId xmlns:p14="http://schemas.microsoft.com/office/powerpoint/2010/main" val="1077389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4CA65349-CD5F-4763-8B8B-713FB71C44D5}"/>
              </a:ext>
            </a:extLst>
          </p:cNvPr>
          <p:cNvSpPr txBox="1"/>
          <p:nvPr/>
        </p:nvSpPr>
        <p:spPr>
          <a:xfrm>
            <a:off x="4473376" y="330001"/>
            <a:ext cx="32452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sz="3600" dirty="0"/>
              <a:t>Método Simplex</a:t>
            </a:r>
          </a:p>
        </p:txBody>
      </p:sp>
      <p:graphicFrame>
        <p:nvGraphicFramePr>
          <p:cNvPr id="5" name="Tabla 11">
            <a:extLst>
              <a:ext uri="{FF2B5EF4-FFF2-40B4-BE49-F238E27FC236}">
                <a16:creationId xmlns:a16="http://schemas.microsoft.com/office/drawing/2014/main" id="{C973208B-E353-4B95-B21B-3432616E0B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4375132"/>
              </p:ext>
            </p:extLst>
          </p:nvPr>
        </p:nvGraphicFramePr>
        <p:xfrm>
          <a:off x="1108889" y="1791833"/>
          <a:ext cx="4630059" cy="148336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789578">
                  <a:extLst>
                    <a:ext uri="{9D8B030D-6E8A-4147-A177-3AD203B41FA5}">
                      <a16:colId xmlns:a16="http://schemas.microsoft.com/office/drawing/2014/main" val="3473159978"/>
                    </a:ext>
                  </a:extLst>
                </a:gridCol>
                <a:gridCol w="653143">
                  <a:extLst>
                    <a:ext uri="{9D8B030D-6E8A-4147-A177-3AD203B41FA5}">
                      <a16:colId xmlns:a16="http://schemas.microsoft.com/office/drawing/2014/main" val="1331015816"/>
                    </a:ext>
                  </a:extLst>
                </a:gridCol>
                <a:gridCol w="796835">
                  <a:extLst>
                    <a:ext uri="{9D8B030D-6E8A-4147-A177-3AD203B41FA5}">
                      <a16:colId xmlns:a16="http://schemas.microsoft.com/office/drawing/2014/main" val="30750584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038276021"/>
                    </a:ext>
                  </a:extLst>
                </a:gridCol>
                <a:gridCol w="679268">
                  <a:extLst>
                    <a:ext uri="{9D8B030D-6E8A-4147-A177-3AD203B41FA5}">
                      <a16:colId xmlns:a16="http://schemas.microsoft.com/office/drawing/2014/main" val="514913000"/>
                    </a:ext>
                  </a:extLst>
                </a:gridCol>
                <a:gridCol w="796835">
                  <a:extLst>
                    <a:ext uri="{9D8B030D-6E8A-4147-A177-3AD203B41FA5}">
                      <a16:colId xmlns:a16="http://schemas.microsoft.com/office/drawing/2014/main" val="14235014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Z</a:t>
                      </a:r>
                      <a:endParaRPr lang="es-NI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 X</a:t>
                      </a:r>
                      <a:r>
                        <a:rPr lang="es-NI" baseline="-25000" dirty="0"/>
                        <a:t>1</a:t>
                      </a:r>
                      <a:r>
                        <a:rPr lang="es-NI" dirty="0"/>
                        <a:t> </a:t>
                      </a:r>
                      <a:endParaRPr lang="es-NI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X</a:t>
                      </a:r>
                      <a:r>
                        <a:rPr lang="es-NI" baseline="-25000" dirty="0"/>
                        <a:t>2 </a:t>
                      </a:r>
                      <a:endParaRPr lang="es-NI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S</a:t>
                      </a:r>
                      <a:r>
                        <a:rPr lang="es-NI" baseline="-25000" dirty="0"/>
                        <a:t>1</a:t>
                      </a:r>
                      <a:endParaRPr lang="es-NI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S</a:t>
                      </a:r>
                      <a:r>
                        <a:rPr lang="es-NI" baseline="-25000" dirty="0"/>
                        <a:t>2</a:t>
                      </a:r>
                      <a:endParaRPr lang="es-NI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R</a:t>
                      </a:r>
                      <a:endParaRPr lang="es-NI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88995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-50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-80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77499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1/2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1/2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2427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8260321"/>
                  </a:ext>
                </a:extLst>
              </a:tr>
            </a:tbl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A145BBE2-B5BB-42D5-8BBA-142E38294680}"/>
              </a:ext>
            </a:extLst>
          </p:cNvPr>
          <p:cNvSpPr txBox="1"/>
          <p:nvPr/>
        </p:nvSpPr>
        <p:spPr>
          <a:xfrm>
            <a:off x="751838" y="842622"/>
            <a:ext cx="3840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b="1" dirty="0"/>
              <a:t>Tabla resultado del paso 8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599F54A-C3A9-4B8F-948F-D9D34DBB2A4F}"/>
              </a:ext>
            </a:extLst>
          </p:cNvPr>
          <p:cNvSpPr txBox="1"/>
          <p:nvPr/>
        </p:nvSpPr>
        <p:spPr>
          <a:xfrm>
            <a:off x="6095999" y="852123"/>
            <a:ext cx="59740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sz="1600" b="1" dirty="0"/>
              <a:t>9. Identificamos un número que sumado algebraicamente al número encima/debajo del elemento pivote resulte cero, lo multiplicamos por la fila pivote y le sumamos la fila correspondiente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1D6B38FC-FF6C-4B8E-A74E-2610637FC1D1}"/>
              </a:ext>
            </a:extLst>
          </p:cNvPr>
          <p:cNvSpPr txBox="1"/>
          <p:nvPr/>
        </p:nvSpPr>
        <p:spPr>
          <a:xfrm>
            <a:off x="10813829" y="2136420"/>
            <a:ext cx="979755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dirty="0"/>
              <a:t>80F2+F1</a:t>
            </a:r>
          </a:p>
          <a:p>
            <a:endParaRPr lang="es-NI" sz="800" dirty="0"/>
          </a:p>
          <a:p>
            <a:endParaRPr lang="es-NI" sz="800" dirty="0"/>
          </a:p>
          <a:p>
            <a:endParaRPr lang="es-NI" sz="800" dirty="0"/>
          </a:p>
          <a:p>
            <a:endParaRPr lang="es-NI" sz="800" dirty="0"/>
          </a:p>
          <a:p>
            <a:r>
              <a:rPr lang="es-NI" dirty="0"/>
              <a:t>-1F2+F3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8895CDD8-10D5-4E1E-999B-7B548ED4D6FD}"/>
              </a:ext>
            </a:extLst>
          </p:cNvPr>
          <p:cNvSpPr txBox="1"/>
          <p:nvPr/>
        </p:nvSpPr>
        <p:spPr>
          <a:xfrm>
            <a:off x="394786" y="3753958"/>
            <a:ext cx="5344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b="1" dirty="0"/>
              <a:t>Tabla resultado del paso 9</a:t>
            </a:r>
          </a:p>
        </p:txBody>
      </p:sp>
      <p:graphicFrame>
        <p:nvGraphicFramePr>
          <p:cNvPr id="14" name="Tabla 11">
            <a:extLst>
              <a:ext uri="{FF2B5EF4-FFF2-40B4-BE49-F238E27FC236}">
                <a16:creationId xmlns:a16="http://schemas.microsoft.com/office/drawing/2014/main" id="{09A83513-B9D3-4948-85B6-2F2BD96F7A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9896545"/>
              </p:ext>
            </p:extLst>
          </p:nvPr>
        </p:nvGraphicFramePr>
        <p:xfrm>
          <a:off x="571861" y="4287141"/>
          <a:ext cx="4630059" cy="148336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789578">
                  <a:extLst>
                    <a:ext uri="{9D8B030D-6E8A-4147-A177-3AD203B41FA5}">
                      <a16:colId xmlns:a16="http://schemas.microsoft.com/office/drawing/2014/main" val="3473159978"/>
                    </a:ext>
                  </a:extLst>
                </a:gridCol>
                <a:gridCol w="653143">
                  <a:extLst>
                    <a:ext uri="{9D8B030D-6E8A-4147-A177-3AD203B41FA5}">
                      <a16:colId xmlns:a16="http://schemas.microsoft.com/office/drawing/2014/main" val="1331015816"/>
                    </a:ext>
                  </a:extLst>
                </a:gridCol>
                <a:gridCol w="796835">
                  <a:extLst>
                    <a:ext uri="{9D8B030D-6E8A-4147-A177-3AD203B41FA5}">
                      <a16:colId xmlns:a16="http://schemas.microsoft.com/office/drawing/2014/main" val="30750584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038276021"/>
                    </a:ext>
                  </a:extLst>
                </a:gridCol>
                <a:gridCol w="679268">
                  <a:extLst>
                    <a:ext uri="{9D8B030D-6E8A-4147-A177-3AD203B41FA5}">
                      <a16:colId xmlns:a16="http://schemas.microsoft.com/office/drawing/2014/main" val="514913000"/>
                    </a:ext>
                  </a:extLst>
                </a:gridCol>
                <a:gridCol w="796835">
                  <a:extLst>
                    <a:ext uri="{9D8B030D-6E8A-4147-A177-3AD203B41FA5}">
                      <a16:colId xmlns:a16="http://schemas.microsoft.com/office/drawing/2014/main" val="14235014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Z</a:t>
                      </a:r>
                      <a:endParaRPr lang="es-NI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 X</a:t>
                      </a:r>
                      <a:r>
                        <a:rPr lang="es-NI" baseline="-25000" dirty="0"/>
                        <a:t>1</a:t>
                      </a:r>
                      <a:r>
                        <a:rPr lang="es-NI" dirty="0"/>
                        <a:t> </a:t>
                      </a:r>
                      <a:endParaRPr lang="es-NI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X</a:t>
                      </a:r>
                      <a:r>
                        <a:rPr lang="es-NI" baseline="-25000" dirty="0"/>
                        <a:t>2 </a:t>
                      </a:r>
                      <a:endParaRPr lang="es-NI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S</a:t>
                      </a:r>
                      <a:r>
                        <a:rPr lang="es-NI" baseline="-25000" dirty="0"/>
                        <a:t>1</a:t>
                      </a:r>
                      <a:endParaRPr lang="es-NI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S</a:t>
                      </a:r>
                      <a:r>
                        <a:rPr lang="es-NI" baseline="-25000" dirty="0"/>
                        <a:t>2</a:t>
                      </a:r>
                      <a:endParaRPr lang="es-NI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R</a:t>
                      </a:r>
                      <a:endParaRPr lang="es-NI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88995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4800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77499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1/2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1/2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2427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1/2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-1/2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8260321"/>
                  </a:ext>
                </a:extLst>
              </a:tr>
            </a:tbl>
          </a:graphicData>
        </a:graphic>
      </p:graphicFrame>
      <p:sp>
        <p:nvSpPr>
          <p:cNvPr id="20" name="CuadroTexto 19">
            <a:extLst>
              <a:ext uri="{FF2B5EF4-FFF2-40B4-BE49-F238E27FC236}">
                <a16:creationId xmlns:a16="http://schemas.microsoft.com/office/drawing/2014/main" id="{20993793-3BD8-44D6-95F7-AEA1AAC9AB1A}"/>
              </a:ext>
            </a:extLst>
          </p:cNvPr>
          <p:cNvSpPr txBox="1"/>
          <p:nvPr/>
        </p:nvSpPr>
        <p:spPr>
          <a:xfrm>
            <a:off x="10887566" y="5022703"/>
            <a:ext cx="1298753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dirty="0"/>
              <a:t>60/</a:t>
            </a:r>
            <a:r>
              <a:rPr lang="es-NI" dirty="0">
                <a:solidFill>
                  <a:srgbClr val="FF0000"/>
                </a:solidFill>
              </a:rPr>
              <a:t>1/2=120</a:t>
            </a:r>
          </a:p>
          <a:p>
            <a:endParaRPr lang="es-NI" sz="800" dirty="0">
              <a:solidFill>
                <a:srgbClr val="FF0000"/>
              </a:solidFill>
            </a:endParaRPr>
          </a:p>
          <a:p>
            <a:r>
              <a:rPr lang="es-NI" dirty="0"/>
              <a:t>30/</a:t>
            </a:r>
            <a:r>
              <a:rPr lang="es-NI" dirty="0">
                <a:solidFill>
                  <a:srgbClr val="FF0000"/>
                </a:solidFill>
              </a:rPr>
              <a:t>1/2=60</a:t>
            </a:r>
            <a:endParaRPr lang="es-NI" dirty="0"/>
          </a:p>
          <a:p>
            <a:endParaRPr lang="es-NI" sz="800" dirty="0"/>
          </a:p>
        </p:txBody>
      </p:sp>
      <p:graphicFrame>
        <p:nvGraphicFramePr>
          <p:cNvPr id="18" name="Tabla 11">
            <a:extLst>
              <a:ext uri="{FF2B5EF4-FFF2-40B4-BE49-F238E27FC236}">
                <a16:creationId xmlns:a16="http://schemas.microsoft.com/office/drawing/2014/main" id="{BED87F97-E0C4-4CB1-991E-CD732F652E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2283166"/>
              </p:ext>
            </p:extLst>
          </p:nvPr>
        </p:nvGraphicFramePr>
        <p:xfrm>
          <a:off x="6248400" y="1810561"/>
          <a:ext cx="4630059" cy="148336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789578">
                  <a:extLst>
                    <a:ext uri="{9D8B030D-6E8A-4147-A177-3AD203B41FA5}">
                      <a16:colId xmlns:a16="http://schemas.microsoft.com/office/drawing/2014/main" val="3473159978"/>
                    </a:ext>
                  </a:extLst>
                </a:gridCol>
                <a:gridCol w="653143">
                  <a:extLst>
                    <a:ext uri="{9D8B030D-6E8A-4147-A177-3AD203B41FA5}">
                      <a16:colId xmlns:a16="http://schemas.microsoft.com/office/drawing/2014/main" val="1331015816"/>
                    </a:ext>
                  </a:extLst>
                </a:gridCol>
                <a:gridCol w="796835">
                  <a:extLst>
                    <a:ext uri="{9D8B030D-6E8A-4147-A177-3AD203B41FA5}">
                      <a16:colId xmlns:a16="http://schemas.microsoft.com/office/drawing/2014/main" val="30750584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038276021"/>
                    </a:ext>
                  </a:extLst>
                </a:gridCol>
                <a:gridCol w="679268">
                  <a:extLst>
                    <a:ext uri="{9D8B030D-6E8A-4147-A177-3AD203B41FA5}">
                      <a16:colId xmlns:a16="http://schemas.microsoft.com/office/drawing/2014/main" val="514913000"/>
                    </a:ext>
                  </a:extLst>
                </a:gridCol>
                <a:gridCol w="796835">
                  <a:extLst>
                    <a:ext uri="{9D8B030D-6E8A-4147-A177-3AD203B41FA5}">
                      <a16:colId xmlns:a16="http://schemas.microsoft.com/office/drawing/2014/main" val="14235014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Z</a:t>
                      </a:r>
                      <a:endParaRPr lang="es-NI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 X</a:t>
                      </a:r>
                      <a:r>
                        <a:rPr lang="es-NI" baseline="-25000" dirty="0"/>
                        <a:t>1</a:t>
                      </a:r>
                      <a:r>
                        <a:rPr lang="es-NI" dirty="0"/>
                        <a:t> </a:t>
                      </a:r>
                      <a:endParaRPr lang="es-NI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X</a:t>
                      </a:r>
                      <a:r>
                        <a:rPr lang="es-NI" baseline="-25000" dirty="0"/>
                        <a:t>2 </a:t>
                      </a:r>
                      <a:endParaRPr lang="es-NI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S</a:t>
                      </a:r>
                      <a:r>
                        <a:rPr lang="es-NI" baseline="-25000" dirty="0"/>
                        <a:t>1</a:t>
                      </a:r>
                      <a:endParaRPr lang="es-NI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S</a:t>
                      </a:r>
                      <a:r>
                        <a:rPr lang="es-NI" baseline="-25000" dirty="0"/>
                        <a:t>2</a:t>
                      </a:r>
                      <a:endParaRPr lang="es-NI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R</a:t>
                      </a:r>
                      <a:endParaRPr lang="es-NI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88995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-50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-80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77499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1/2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1/2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2427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8260321"/>
                  </a:ext>
                </a:extLst>
              </a:tr>
            </a:tbl>
          </a:graphicData>
        </a:graphic>
      </p:graphicFrame>
      <p:sp>
        <p:nvSpPr>
          <p:cNvPr id="21" name="CuadroTexto 20">
            <a:extLst>
              <a:ext uri="{FF2B5EF4-FFF2-40B4-BE49-F238E27FC236}">
                <a16:creationId xmlns:a16="http://schemas.microsoft.com/office/drawing/2014/main" id="{2E79ED2E-B3AF-4A3D-9E62-FDE4652814CA}"/>
              </a:ext>
            </a:extLst>
          </p:cNvPr>
          <p:cNvSpPr txBox="1"/>
          <p:nvPr/>
        </p:nvSpPr>
        <p:spPr>
          <a:xfrm>
            <a:off x="701405" y="2164772"/>
            <a:ext cx="407484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dirty="0">
                <a:solidFill>
                  <a:srgbClr val="FF0000"/>
                </a:solidFill>
              </a:rPr>
              <a:t>F1</a:t>
            </a:r>
          </a:p>
          <a:p>
            <a:endParaRPr lang="es-NI" sz="800" b="1" dirty="0">
              <a:solidFill>
                <a:srgbClr val="FF0000"/>
              </a:solidFill>
            </a:endParaRPr>
          </a:p>
          <a:p>
            <a:r>
              <a:rPr lang="es-NI" b="1" dirty="0">
                <a:solidFill>
                  <a:srgbClr val="FF0000"/>
                </a:solidFill>
              </a:rPr>
              <a:t>F2</a:t>
            </a:r>
          </a:p>
          <a:p>
            <a:endParaRPr lang="es-NI" sz="800" b="1" dirty="0">
              <a:solidFill>
                <a:srgbClr val="FF0000"/>
              </a:solidFill>
            </a:endParaRPr>
          </a:p>
          <a:p>
            <a:r>
              <a:rPr lang="es-NI" b="1" dirty="0">
                <a:solidFill>
                  <a:srgbClr val="FF0000"/>
                </a:solidFill>
              </a:rPr>
              <a:t>F3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DE0376D-E6D0-4065-9526-265B910F483C}"/>
              </a:ext>
            </a:extLst>
          </p:cNvPr>
          <p:cNvSpPr/>
          <p:nvPr/>
        </p:nvSpPr>
        <p:spPr>
          <a:xfrm>
            <a:off x="512350" y="5882100"/>
            <a:ext cx="558364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NI" b="1" dirty="0"/>
              <a:t>Al llegar a este punto </a:t>
            </a:r>
            <a:r>
              <a:rPr lang="es-NI" dirty="0"/>
              <a:t>X</a:t>
            </a:r>
            <a:r>
              <a:rPr lang="es-NI" baseline="-25000" dirty="0"/>
              <a:t>1 </a:t>
            </a:r>
            <a:r>
              <a:rPr lang="es-NI" b="1" dirty="0"/>
              <a:t>y </a:t>
            </a:r>
            <a:r>
              <a:rPr lang="es-NI" dirty="0"/>
              <a:t>X</a:t>
            </a:r>
            <a:r>
              <a:rPr lang="es-NI" baseline="-25000" dirty="0"/>
              <a:t>2</a:t>
            </a:r>
            <a:r>
              <a:rPr lang="es-NI" b="1" dirty="0"/>
              <a:t> de la función objetivo deben ser mayores o iguales a cero, de lo contrario se debe repetir el procedimiento desde el paso 5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3C0BABC0-AC2F-4969-B899-F52A6CBAE8CE}"/>
              </a:ext>
            </a:extLst>
          </p:cNvPr>
          <p:cNvSpPr txBox="1"/>
          <p:nvPr/>
        </p:nvSpPr>
        <p:spPr>
          <a:xfrm>
            <a:off x="6438537" y="3575690"/>
            <a:ext cx="38404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b="1" dirty="0"/>
              <a:t>5. Identificamos la columna pivote, la más negativa en la función objetivo</a:t>
            </a:r>
          </a:p>
        </p:txBody>
      </p:sp>
      <p:graphicFrame>
        <p:nvGraphicFramePr>
          <p:cNvPr id="23" name="Tabla 11">
            <a:extLst>
              <a:ext uri="{FF2B5EF4-FFF2-40B4-BE49-F238E27FC236}">
                <a16:creationId xmlns:a16="http://schemas.microsoft.com/office/drawing/2014/main" id="{D83B89DE-4A63-4318-9EE0-D66D9E3E3D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365032"/>
              </p:ext>
            </p:extLst>
          </p:nvPr>
        </p:nvGraphicFramePr>
        <p:xfrm>
          <a:off x="6248400" y="4287141"/>
          <a:ext cx="4630059" cy="148336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789578">
                  <a:extLst>
                    <a:ext uri="{9D8B030D-6E8A-4147-A177-3AD203B41FA5}">
                      <a16:colId xmlns:a16="http://schemas.microsoft.com/office/drawing/2014/main" val="3473159978"/>
                    </a:ext>
                  </a:extLst>
                </a:gridCol>
                <a:gridCol w="653143">
                  <a:extLst>
                    <a:ext uri="{9D8B030D-6E8A-4147-A177-3AD203B41FA5}">
                      <a16:colId xmlns:a16="http://schemas.microsoft.com/office/drawing/2014/main" val="1331015816"/>
                    </a:ext>
                  </a:extLst>
                </a:gridCol>
                <a:gridCol w="796835">
                  <a:extLst>
                    <a:ext uri="{9D8B030D-6E8A-4147-A177-3AD203B41FA5}">
                      <a16:colId xmlns:a16="http://schemas.microsoft.com/office/drawing/2014/main" val="30750584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038276021"/>
                    </a:ext>
                  </a:extLst>
                </a:gridCol>
                <a:gridCol w="679268">
                  <a:extLst>
                    <a:ext uri="{9D8B030D-6E8A-4147-A177-3AD203B41FA5}">
                      <a16:colId xmlns:a16="http://schemas.microsoft.com/office/drawing/2014/main" val="514913000"/>
                    </a:ext>
                  </a:extLst>
                </a:gridCol>
                <a:gridCol w="796835">
                  <a:extLst>
                    <a:ext uri="{9D8B030D-6E8A-4147-A177-3AD203B41FA5}">
                      <a16:colId xmlns:a16="http://schemas.microsoft.com/office/drawing/2014/main" val="14235014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Z</a:t>
                      </a:r>
                      <a:endParaRPr lang="es-NI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 X</a:t>
                      </a:r>
                      <a:r>
                        <a:rPr lang="es-NI" baseline="-25000" dirty="0"/>
                        <a:t>1</a:t>
                      </a:r>
                      <a:r>
                        <a:rPr lang="es-NI" dirty="0"/>
                        <a:t> </a:t>
                      </a:r>
                      <a:endParaRPr lang="es-NI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X</a:t>
                      </a:r>
                      <a:r>
                        <a:rPr lang="es-NI" baseline="-25000" dirty="0"/>
                        <a:t>2 </a:t>
                      </a:r>
                      <a:endParaRPr lang="es-NI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S</a:t>
                      </a:r>
                      <a:r>
                        <a:rPr lang="es-NI" baseline="-25000" dirty="0"/>
                        <a:t>1</a:t>
                      </a:r>
                      <a:endParaRPr lang="es-NI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S</a:t>
                      </a:r>
                      <a:r>
                        <a:rPr lang="es-NI" baseline="-25000" dirty="0"/>
                        <a:t>2</a:t>
                      </a:r>
                      <a:endParaRPr lang="es-NI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R</a:t>
                      </a:r>
                      <a:endParaRPr lang="es-NI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88995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4800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77499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1/2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1/2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2427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1/2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-1/2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8260321"/>
                  </a:ext>
                </a:extLst>
              </a:tr>
            </a:tbl>
          </a:graphicData>
        </a:graphic>
      </p:graphicFrame>
      <p:sp>
        <p:nvSpPr>
          <p:cNvPr id="24" name="Elipse 23">
            <a:extLst>
              <a:ext uri="{FF2B5EF4-FFF2-40B4-BE49-F238E27FC236}">
                <a16:creationId xmlns:a16="http://schemas.microsoft.com/office/drawing/2014/main" id="{2A63933B-156D-4711-BB3E-809DE57F6AE8}"/>
              </a:ext>
            </a:extLst>
          </p:cNvPr>
          <p:cNvSpPr/>
          <p:nvPr/>
        </p:nvSpPr>
        <p:spPr>
          <a:xfrm>
            <a:off x="6990082" y="4281023"/>
            <a:ext cx="587828" cy="1483360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FA659110-D6B0-4BBB-A414-FA5B2A394DE7}"/>
              </a:ext>
            </a:extLst>
          </p:cNvPr>
          <p:cNvSpPr/>
          <p:nvPr/>
        </p:nvSpPr>
        <p:spPr>
          <a:xfrm rot="16200000">
            <a:off x="8391975" y="3281027"/>
            <a:ext cx="361124" cy="4630059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2646535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4CA65349-CD5F-4763-8B8B-713FB71C44D5}"/>
              </a:ext>
            </a:extLst>
          </p:cNvPr>
          <p:cNvSpPr txBox="1"/>
          <p:nvPr/>
        </p:nvSpPr>
        <p:spPr>
          <a:xfrm>
            <a:off x="4473376" y="330001"/>
            <a:ext cx="32452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sz="3600" dirty="0"/>
              <a:t>Método Simplex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C57FD6FA-C7D4-4952-A754-59B3852F0DCC}"/>
              </a:ext>
            </a:extLst>
          </p:cNvPr>
          <p:cNvSpPr txBox="1"/>
          <p:nvPr/>
        </p:nvSpPr>
        <p:spPr>
          <a:xfrm>
            <a:off x="631371" y="980188"/>
            <a:ext cx="53441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b="1" dirty="0"/>
              <a:t>8. Encontramos una manera algebraica de convertir el elemento pivote en 1 y se la aplicamos a toda la fila 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20993793-3BD8-44D6-95F7-AEA1AAC9AB1A}"/>
              </a:ext>
            </a:extLst>
          </p:cNvPr>
          <p:cNvSpPr txBox="1"/>
          <p:nvPr/>
        </p:nvSpPr>
        <p:spPr>
          <a:xfrm>
            <a:off x="5335614" y="2768789"/>
            <a:ext cx="639919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dirty="0"/>
              <a:t>F3*</a:t>
            </a:r>
            <a:r>
              <a:rPr lang="es-NI" dirty="0">
                <a:solidFill>
                  <a:srgbClr val="FF0000"/>
                </a:solidFill>
              </a:rPr>
              <a:t>2</a:t>
            </a:r>
            <a:endParaRPr lang="es-NI" dirty="0"/>
          </a:p>
          <a:p>
            <a:endParaRPr lang="es-NI" sz="800" dirty="0"/>
          </a:p>
        </p:txBody>
      </p:sp>
      <p:graphicFrame>
        <p:nvGraphicFramePr>
          <p:cNvPr id="18" name="Tabla 11">
            <a:extLst>
              <a:ext uri="{FF2B5EF4-FFF2-40B4-BE49-F238E27FC236}">
                <a16:creationId xmlns:a16="http://schemas.microsoft.com/office/drawing/2014/main" id="{D023393B-523D-4576-9CB1-B3BE78B0A6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8889298"/>
              </p:ext>
            </p:extLst>
          </p:nvPr>
        </p:nvGraphicFramePr>
        <p:xfrm>
          <a:off x="765916" y="1626519"/>
          <a:ext cx="4630059" cy="148336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789578">
                  <a:extLst>
                    <a:ext uri="{9D8B030D-6E8A-4147-A177-3AD203B41FA5}">
                      <a16:colId xmlns:a16="http://schemas.microsoft.com/office/drawing/2014/main" val="3473159978"/>
                    </a:ext>
                  </a:extLst>
                </a:gridCol>
                <a:gridCol w="653143">
                  <a:extLst>
                    <a:ext uri="{9D8B030D-6E8A-4147-A177-3AD203B41FA5}">
                      <a16:colId xmlns:a16="http://schemas.microsoft.com/office/drawing/2014/main" val="1331015816"/>
                    </a:ext>
                  </a:extLst>
                </a:gridCol>
                <a:gridCol w="796835">
                  <a:extLst>
                    <a:ext uri="{9D8B030D-6E8A-4147-A177-3AD203B41FA5}">
                      <a16:colId xmlns:a16="http://schemas.microsoft.com/office/drawing/2014/main" val="30750584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038276021"/>
                    </a:ext>
                  </a:extLst>
                </a:gridCol>
                <a:gridCol w="679268">
                  <a:extLst>
                    <a:ext uri="{9D8B030D-6E8A-4147-A177-3AD203B41FA5}">
                      <a16:colId xmlns:a16="http://schemas.microsoft.com/office/drawing/2014/main" val="514913000"/>
                    </a:ext>
                  </a:extLst>
                </a:gridCol>
                <a:gridCol w="796835">
                  <a:extLst>
                    <a:ext uri="{9D8B030D-6E8A-4147-A177-3AD203B41FA5}">
                      <a16:colId xmlns:a16="http://schemas.microsoft.com/office/drawing/2014/main" val="14235014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Z</a:t>
                      </a:r>
                      <a:endParaRPr lang="es-NI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 X</a:t>
                      </a:r>
                      <a:r>
                        <a:rPr lang="es-NI" baseline="-25000" dirty="0"/>
                        <a:t>1</a:t>
                      </a:r>
                      <a:r>
                        <a:rPr lang="es-NI" dirty="0"/>
                        <a:t> </a:t>
                      </a:r>
                      <a:endParaRPr lang="es-NI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X</a:t>
                      </a:r>
                      <a:r>
                        <a:rPr lang="es-NI" baseline="-25000" dirty="0"/>
                        <a:t>2 </a:t>
                      </a:r>
                      <a:endParaRPr lang="es-NI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S</a:t>
                      </a:r>
                      <a:r>
                        <a:rPr lang="es-NI" baseline="-25000" dirty="0"/>
                        <a:t>1</a:t>
                      </a:r>
                      <a:endParaRPr lang="es-NI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S</a:t>
                      </a:r>
                      <a:r>
                        <a:rPr lang="es-NI" baseline="-25000" dirty="0"/>
                        <a:t>2</a:t>
                      </a:r>
                      <a:endParaRPr lang="es-NI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R</a:t>
                      </a:r>
                      <a:endParaRPr lang="es-NI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88995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4800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77499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1/2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1/2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2427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1/2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-1/2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8260321"/>
                  </a:ext>
                </a:extLst>
              </a:tr>
            </a:tbl>
          </a:graphicData>
        </a:graphic>
      </p:graphicFrame>
      <p:graphicFrame>
        <p:nvGraphicFramePr>
          <p:cNvPr id="21" name="Tabla 11">
            <a:extLst>
              <a:ext uri="{FF2B5EF4-FFF2-40B4-BE49-F238E27FC236}">
                <a16:creationId xmlns:a16="http://schemas.microsoft.com/office/drawing/2014/main" id="{C9F1D7A4-E082-4296-9425-A78692A158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4776598"/>
              </p:ext>
            </p:extLst>
          </p:nvPr>
        </p:nvGraphicFramePr>
        <p:xfrm>
          <a:off x="6613722" y="1626519"/>
          <a:ext cx="4630059" cy="148336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789578">
                  <a:extLst>
                    <a:ext uri="{9D8B030D-6E8A-4147-A177-3AD203B41FA5}">
                      <a16:colId xmlns:a16="http://schemas.microsoft.com/office/drawing/2014/main" val="3473159978"/>
                    </a:ext>
                  </a:extLst>
                </a:gridCol>
                <a:gridCol w="653143">
                  <a:extLst>
                    <a:ext uri="{9D8B030D-6E8A-4147-A177-3AD203B41FA5}">
                      <a16:colId xmlns:a16="http://schemas.microsoft.com/office/drawing/2014/main" val="1331015816"/>
                    </a:ext>
                  </a:extLst>
                </a:gridCol>
                <a:gridCol w="796835">
                  <a:extLst>
                    <a:ext uri="{9D8B030D-6E8A-4147-A177-3AD203B41FA5}">
                      <a16:colId xmlns:a16="http://schemas.microsoft.com/office/drawing/2014/main" val="30750584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038276021"/>
                    </a:ext>
                  </a:extLst>
                </a:gridCol>
                <a:gridCol w="679268">
                  <a:extLst>
                    <a:ext uri="{9D8B030D-6E8A-4147-A177-3AD203B41FA5}">
                      <a16:colId xmlns:a16="http://schemas.microsoft.com/office/drawing/2014/main" val="514913000"/>
                    </a:ext>
                  </a:extLst>
                </a:gridCol>
                <a:gridCol w="796835">
                  <a:extLst>
                    <a:ext uri="{9D8B030D-6E8A-4147-A177-3AD203B41FA5}">
                      <a16:colId xmlns:a16="http://schemas.microsoft.com/office/drawing/2014/main" val="14235014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Z</a:t>
                      </a:r>
                      <a:endParaRPr lang="es-NI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 X</a:t>
                      </a:r>
                      <a:r>
                        <a:rPr lang="es-NI" baseline="-25000" dirty="0"/>
                        <a:t>1</a:t>
                      </a:r>
                      <a:r>
                        <a:rPr lang="es-NI" dirty="0"/>
                        <a:t> </a:t>
                      </a:r>
                      <a:endParaRPr lang="es-NI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X</a:t>
                      </a:r>
                      <a:r>
                        <a:rPr lang="es-NI" baseline="-25000" dirty="0"/>
                        <a:t>2 </a:t>
                      </a:r>
                      <a:endParaRPr lang="es-NI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S</a:t>
                      </a:r>
                      <a:r>
                        <a:rPr lang="es-NI" baseline="-25000" dirty="0"/>
                        <a:t>1</a:t>
                      </a:r>
                      <a:endParaRPr lang="es-NI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S</a:t>
                      </a:r>
                      <a:r>
                        <a:rPr lang="es-NI" baseline="-25000" dirty="0"/>
                        <a:t>2</a:t>
                      </a:r>
                      <a:endParaRPr lang="es-NI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R</a:t>
                      </a:r>
                      <a:endParaRPr lang="es-NI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88995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4800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77499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1/2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1/2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2427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8260321"/>
                  </a:ext>
                </a:extLst>
              </a:tr>
            </a:tbl>
          </a:graphicData>
        </a:graphic>
      </p:graphicFrame>
      <p:sp>
        <p:nvSpPr>
          <p:cNvPr id="22" name="CuadroTexto 21">
            <a:extLst>
              <a:ext uri="{FF2B5EF4-FFF2-40B4-BE49-F238E27FC236}">
                <a16:creationId xmlns:a16="http://schemas.microsoft.com/office/drawing/2014/main" id="{389356A9-3281-4C69-835D-80114D00DEAD}"/>
              </a:ext>
            </a:extLst>
          </p:cNvPr>
          <p:cNvSpPr txBox="1"/>
          <p:nvPr/>
        </p:nvSpPr>
        <p:spPr>
          <a:xfrm>
            <a:off x="159582" y="3596769"/>
            <a:ext cx="59740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sz="1600" b="1" dirty="0"/>
              <a:t>9. Identificamos un número que sumado algebraicamente al número encima/debajo del elemento pivote resulte cero, lo multiplicamos por la fila pivote y le sumamos la fila correspondiente</a:t>
            </a:r>
          </a:p>
        </p:txBody>
      </p:sp>
      <p:graphicFrame>
        <p:nvGraphicFramePr>
          <p:cNvPr id="23" name="Tabla 11">
            <a:extLst>
              <a:ext uri="{FF2B5EF4-FFF2-40B4-BE49-F238E27FC236}">
                <a16:creationId xmlns:a16="http://schemas.microsoft.com/office/drawing/2014/main" id="{C755ED7F-471A-41CA-AC64-C40D39966E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4305006"/>
              </p:ext>
            </p:extLst>
          </p:nvPr>
        </p:nvGraphicFramePr>
        <p:xfrm>
          <a:off x="391447" y="4665811"/>
          <a:ext cx="4630059" cy="148336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789578">
                  <a:extLst>
                    <a:ext uri="{9D8B030D-6E8A-4147-A177-3AD203B41FA5}">
                      <a16:colId xmlns:a16="http://schemas.microsoft.com/office/drawing/2014/main" val="3473159978"/>
                    </a:ext>
                  </a:extLst>
                </a:gridCol>
                <a:gridCol w="653143">
                  <a:extLst>
                    <a:ext uri="{9D8B030D-6E8A-4147-A177-3AD203B41FA5}">
                      <a16:colId xmlns:a16="http://schemas.microsoft.com/office/drawing/2014/main" val="1331015816"/>
                    </a:ext>
                  </a:extLst>
                </a:gridCol>
                <a:gridCol w="796835">
                  <a:extLst>
                    <a:ext uri="{9D8B030D-6E8A-4147-A177-3AD203B41FA5}">
                      <a16:colId xmlns:a16="http://schemas.microsoft.com/office/drawing/2014/main" val="30750584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038276021"/>
                    </a:ext>
                  </a:extLst>
                </a:gridCol>
                <a:gridCol w="679268">
                  <a:extLst>
                    <a:ext uri="{9D8B030D-6E8A-4147-A177-3AD203B41FA5}">
                      <a16:colId xmlns:a16="http://schemas.microsoft.com/office/drawing/2014/main" val="514913000"/>
                    </a:ext>
                  </a:extLst>
                </a:gridCol>
                <a:gridCol w="796835">
                  <a:extLst>
                    <a:ext uri="{9D8B030D-6E8A-4147-A177-3AD203B41FA5}">
                      <a16:colId xmlns:a16="http://schemas.microsoft.com/office/drawing/2014/main" val="14235014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Z</a:t>
                      </a:r>
                      <a:endParaRPr lang="es-NI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 X</a:t>
                      </a:r>
                      <a:r>
                        <a:rPr lang="es-NI" baseline="-25000" dirty="0"/>
                        <a:t>1</a:t>
                      </a:r>
                      <a:r>
                        <a:rPr lang="es-NI" dirty="0"/>
                        <a:t> </a:t>
                      </a:r>
                      <a:endParaRPr lang="es-NI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X</a:t>
                      </a:r>
                      <a:r>
                        <a:rPr lang="es-NI" baseline="-25000" dirty="0"/>
                        <a:t>2 </a:t>
                      </a:r>
                      <a:endParaRPr lang="es-NI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S</a:t>
                      </a:r>
                      <a:r>
                        <a:rPr lang="es-NI" baseline="-25000" dirty="0"/>
                        <a:t>1</a:t>
                      </a:r>
                      <a:endParaRPr lang="es-NI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S</a:t>
                      </a:r>
                      <a:r>
                        <a:rPr lang="es-NI" baseline="-25000" dirty="0"/>
                        <a:t>2</a:t>
                      </a:r>
                      <a:endParaRPr lang="es-NI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R</a:t>
                      </a:r>
                      <a:endParaRPr lang="es-NI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88995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4800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77499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1/2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1/2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2427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8260321"/>
                  </a:ext>
                </a:extLst>
              </a:tr>
            </a:tbl>
          </a:graphicData>
        </a:graphic>
      </p:graphicFrame>
      <p:sp>
        <p:nvSpPr>
          <p:cNvPr id="24" name="CuadroTexto 23">
            <a:extLst>
              <a:ext uri="{FF2B5EF4-FFF2-40B4-BE49-F238E27FC236}">
                <a16:creationId xmlns:a16="http://schemas.microsoft.com/office/drawing/2014/main" id="{61CC0532-569D-46C7-8EFF-42771343F0E0}"/>
              </a:ext>
            </a:extLst>
          </p:cNvPr>
          <p:cNvSpPr txBox="1"/>
          <p:nvPr/>
        </p:nvSpPr>
        <p:spPr>
          <a:xfrm>
            <a:off x="4995778" y="5078807"/>
            <a:ext cx="11400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dirty="0"/>
              <a:t>10F3+F1</a:t>
            </a:r>
            <a:endParaRPr lang="es-NI" sz="800" dirty="0"/>
          </a:p>
          <a:p>
            <a:r>
              <a:rPr lang="es-NI" dirty="0"/>
              <a:t>-1/2F3+F2</a:t>
            </a:r>
          </a:p>
        </p:txBody>
      </p:sp>
      <p:graphicFrame>
        <p:nvGraphicFramePr>
          <p:cNvPr id="25" name="Tabla 11">
            <a:extLst>
              <a:ext uri="{FF2B5EF4-FFF2-40B4-BE49-F238E27FC236}">
                <a16:creationId xmlns:a16="http://schemas.microsoft.com/office/drawing/2014/main" id="{D3C020F0-C841-49C2-8A66-CAC43F29A8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5071709"/>
              </p:ext>
            </p:extLst>
          </p:nvPr>
        </p:nvGraphicFramePr>
        <p:xfrm>
          <a:off x="6613721" y="4595857"/>
          <a:ext cx="4630059" cy="148336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789578">
                  <a:extLst>
                    <a:ext uri="{9D8B030D-6E8A-4147-A177-3AD203B41FA5}">
                      <a16:colId xmlns:a16="http://schemas.microsoft.com/office/drawing/2014/main" val="3473159978"/>
                    </a:ext>
                  </a:extLst>
                </a:gridCol>
                <a:gridCol w="653143">
                  <a:extLst>
                    <a:ext uri="{9D8B030D-6E8A-4147-A177-3AD203B41FA5}">
                      <a16:colId xmlns:a16="http://schemas.microsoft.com/office/drawing/2014/main" val="1331015816"/>
                    </a:ext>
                  </a:extLst>
                </a:gridCol>
                <a:gridCol w="796835">
                  <a:extLst>
                    <a:ext uri="{9D8B030D-6E8A-4147-A177-3AD203B41FA5}">
                      <a16:colId xmlns:a16="http://schemas.microsoft.com/office/drawing/2014/main" val="30750584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038276021"/>
                    </a:ext>
                  </a:extLst>
                </a:gridCol>
                <a:gridCol w="679268">
                  <a:extLst>
                    <a:ext uri="{9D8B030D-6E8A-4147-A177-3AD203B41FA5}">
                      <a16:colId xmlns:a16="http://schemas.microsoft.com/office/drawing/2014/main" val="514913000"/>
                    </a:ext>
                  </a:extLst>
                </a:gridCol>
                <a:gridCol w="796835">
                  <a:extLst>
                    <a:ext uri="{9D8B030D-6E8A-4147-A177-3AD203B41FA5}">
                      <a16:colId xmlns:a16="http://schemas.microsoft.com/office/drawing/2014/main" val="14235014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Z</a:t>
                      </a:r>
                      <a:endParaRPr lang="es-NI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 X</a:t>
                      </a:r>
                      <a:r>
                        <a:rPr lang="es-NI" baseline="-25000" dirty="0"/>
                        <a:t>1</a:t>
                      </a:r>
                      <a:r>
                        <a:rPr lang="es-NI" dirty="0"/>
                        <a:t> </a:t>
                      </a:r>
                      <a:endParaRPr lang="es-NI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X</a:t>
                      </a:r>
                      <a:r>
                        <a:rPr lang="es-NI" baseline="-25000" dirty="0"/>
                        <a:t>2 </a:t>
                      </a:r>
                      <a:endParaRPr lang="es-NI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S</a:t>
                      </a:r>
                      <a:r>
                        <a:rPr lang="es-NI" baseline="-25000" dirty="0"/>
                        <a:t>1</a:t>
                      </a:r>
                      <a:endParaRPr lang="es-NI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S</a:t>
                      </a:r>
                      <a:r>
                        <a:rPr lang="es-NI" baseline="-25000" dirty="0"/>
                        <a:t>2</a:t>
                      </a:r>
                      <a:endParaRPr lang="es-NI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R</a:t>
                      </a:r>
                      <a:endParaRPr lang="es-NI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88995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5400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77499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2427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82603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04347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DA1CE2D2-2BCE-4391-BEC0-3606FCAC5ED1}"/>
              </a:ext>
            </a:extLst>
          </p:cNvPr>
          <p:cNvSpPr txBox="1"/>
          <p:nvPr/>
        </p:nvSpPr>
        <p:spPr>
          <a:xfrm>
            <a:off x="1525842" y="1347376"/>
            <a:ext cx="229537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sz="2400" b="1" dirty="0"/>
              <a:t>Respuesta</a:t>
            </a:r>
          </a:p>
          <a:p>
            <a:endParaRPr lang="es-NI" sz="2400" b="1" dirty="0"/>
          </a:p>
          <a:p>
            <a:r>
              <a:rPr lang="es-NI" sz="2400" dirty="0"/>
              <a:t>Z = 5400 Dólares</a:t>
            </a:r>
          </a:p>
          <a:p>
            <a:r>
              <a:rPr lang="es-NI" sz="2400" dirty="0"/>
              <a:t>X</a:t>
            </a:r>
            <a:r>
              <a:rPr lang="es-NI" sz="2400" baseline="-25000" dirty="0"/>
              <a:t>1</a:t>
            </a:r>
            <a:r>
              <a:rPr lang="es-NI" sz="2400" dirty="0"/>
              <a:t>= 60 mesas</a:t>
            </a:r>
            <a:endParaRPr lang="es-NI" sz="2400" baseline="-25000" dirty="0"/>
          </a:p>
          <a:p>
            <a:r>
              <a:rPr lang="es-NI" sz="2400" dirty="0"/>
              <a:t>X</a:t>
            </a:r>
            <a:r>
              <a:rPr lang="es-NI" sz="2400" baseline="-25000" dirty="0"/>
              <a:t>2</a:t>
            </a:r>
            <a:r>
              <a:rPr lang="es-NI" sz="2400" dirty="0"/>
              <a:t>= 30 sillas</a:t>
            </a:r>
          </a:p>
          <a:p>
            <a:endParaRPr lang="es-NI" sz="2400" dirty="0"/>
          </a:p>
        </p:txBody>
      </p:sp>
    </p:spTree>
    <p:extLst>
      <p:ext uri="{BB962C8B-B14F-4D97-AF65-F5344CB8AC3E}">
        <p14:creationId xmlns:p14="http://schemas.microsoft.com/office/powerpoint/2010/main" val="241863355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400</TotalTime>
  <Words>1367</Words>
  <Application>Microsoft Office PowerPoint</Application>
  <PresentationFormat>Panorámica</PresentationFormat>
  <Paragraphs>549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Verdana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Guillermo AntonioAguirre</dc:creator>
  <cp:lastModifiedBy>Guillermo AntonioAguirre</cp:lastModifiedBy>
  <cp:revision>26</cp:revision>
  <dcterms:created xsi:type="dcterms:W3CDTF">2020-05-16T10:54:44Z</dcterms:created>
  <dcterms:modified xsi:type="dcterms:W3CDTF">2025-09-10T19:56:11Z</dcterms:modified>
</cp:coreProperties>
</file>