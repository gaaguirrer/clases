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1" r:id="rId10"/>
    <p:sldId id="266" r:id="rId11"/>
    <p:sldId id="267" r:id="rId12"/>
    <p:sldId id="265" r:id="rId13"/>
    <p:sldId id="268" r:id="rId14"/>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9" d="100"/>
          <a:sy n="79" d="100"/>
        </p:scale>
        <p:origin x="773"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7FFDD690-C89F-48BE-ADB8-2E4EEA2D9395}"/>
    <pc:docChg chg="modSld">
      <pc:chgData name="Guillermo AntonioAguirre" userId="42908199-65f4-4d4a-8e05-6e659ccb82ce" providerId="ADAL" clId="{7FFDD690-C89F-48BE-ADB8-2E4EEA2D9395}" dt="2025-11-01T21:32:37.961" v="23" actId="20577"/>
      <pc:docMkLst>
        <pc:docMk/>
      </pc:docMkLst>
      <pc:sldChg chg="modSp mod">
        <pc:chgData name="Guillermo AntonioAguirre" userId="42908199-65f4-4d4a-8e05-6e659ccb82ce" providerId="ADAL" clId="{7FFDD690-C89F-48BE-ADB8-2E4EEA2D9395}" dt="2025-11-01T21:31:32.922" v="17" actId="20577"/>
        <pc:sldMkLst>
          <pc:docMk/>
          <pc:sldMk cId="2860556250" sldId="261"/>
        </pc:sldMkLst>
        <pc:graphicFrameChg chg="modGraphic">
          <ac:chgData name="Guillermo AntonioAguirre" userId="42908199-65f4-4d4a-8e05-6e659ccb82ce" providerId="ADAL" clId="{7FFDD690-C89F-48BE-ADB8-2E4EEA2D9395}" dt="2025-11-01T21:31:32.922" v="17" actId="20577"/>
          <ac:graphicFrameMkLst>
            <pc:docMk/>
            <pc:sldMk cId="2860556250" sldId="261"/>
            <ac:graphicFrameMk id="14" creationId="{490957A0-06AB-4F17-A7D8-F6A4684385DE}"/>
          </ac:graphicFrameMkLst>
        </pc:graphicFrameChg>
      </pc:sldChg>
      <pc:sldChg chg="modSp mod">
        <pc:chgData name="Guillermo AntonioAguirre" userId="42908199-65f4-4d4a-8e05-6e659ccb82ce" providerId="ADAL" clId="{7FFDD690-C89F-48BE-ADB8-2E4EEA2D9395}" dt="2025-11-01T21:30:37.568" v="3" actId="20577"/>
        <pc:sldMkLst>
          <pc:docMk/>
          <pc:sldMk cId="391454911" sldId="263"/>
        </pc:sldMkLst>
        <pc:graphicFrameChg chg="modGraphic">
          <ac:chgData name="Guillermo AntonioAguirre" userId="42908199-65f4-4d4a-8e05-6e659ccb82ce" providerId="ADAL" clId="{7FFDD690-C89F-48BE-ADB8-2E4EEA2D9395}" dt="2025-11-01T21:30:37.568" v="3" actId="20577"/>
          <ac:graphicFrameMkLst>
            <pc:docMk/>
            <pc:sldMk cId="391454911" sldId="263"/>
            <ac:graphicFrameMk id="11" creationId="{544C0C38-DFD7-4BF3-A018-80D5D3BE3E07}"/>
          </ac:graphicFrameMkLst>
        </pc:graphicFrameChg>
      </pc:sldChg>
      <pc:sldChg chg="modSp mod">
        <pc:chgData name="Guillermo AntonioAguirre" userId="42908199-65f4-4d4a-8e05-6e659ccb82ce" providerId="ADAL" clId="{7FFDD690-C89F-48BE-ADB8-2E4EEA2D9395}" dt="2025-11-01T21:30:50.554" v="11" actId="20577"/>
        <pc:sldMkLst>
          <pc:docMk/>
          <pc:sldMk cId="1152879468" sldId="266"/>
        </pc:sldMkLst>
        <pc:graphicFrameChg chg="modGraphic">
          <ac:chgData name="Guillermo AntonioAguirre" userId="42908199-65f4-4d4a-8e05-6e659ccb82ce" providerId="ADAL" clId="{7FFDD690-C89F-48BE-ADB8-2E4EEA2D9395}" dt="2025-11-01T21:30:50.554" v="11" actId="20577"/>
          <ac:graphicFrameMkLst>
            <pc:docMk/>
            <pc:sldMk cId="1152879468" sldId="266"/>
            <ac:graphicFrameMk id="14" creationId="{490957A0-06AB-4F17-A7D8-F6A4684385DE}"/>
          </ac:graphicFrameMkLst>
        </pc:graphicFrameChg>
      </pc:sldChg>
      <pc:sldChg chg="modSp mod">
        <pc:chgData name="Guillermo AntonioAguirre" userId="42908199-65f4-4d4a-8e05-6e659ccb82ce" providerId="ADAL" clId="{7FFDD690-C89F-48BE-ADB8-2E4EEA2D9395}" dt="2025-11-01T21:32:37.961" v="23" actId="20577"/>
        <pc:sldMkLst>
          <pc:docMk/>
          <pc:sldMk cId="4256638705" sldId="267"/>
        </pc:sldMkLst>
        <pc:graphicFrameChg chg="modGraphic">
          <ac:chgData name="Guillermo AntonioAguirre" userId="42908199-65f4-4d4a-8e05-6e659ccb82ce" providerId="ADAL" clId="{7FFDD690-C89F-48BE-ADB8-2E4EEA2D9395}" dt="2025-11-01T21:32:37.961" v="23" actId="20577"/>
          <ac:graphicFrameMkLst>
            <pc:docMk/>
            <pc:sldMk cId="4256638705" sldId="267"/>
            <ac:graphicFrameMk id="14" creationId="{490957A0-06AB-4F17-A7D8-F6A4684385DE}"/>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6164FC-60ED-4568-B1BA-1A5A5F5E441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4654DB44-BFE8-42BD-AAE1-F025702BFF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871485CC-8436-4AAD-8C33-B24FB32E2F20}"/>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5" name="Marcador de pie de página 4">
            <a:extLst>
              <a:ext uri="{FF2B5EF4-FFF2-40B4-BE49-F238E27FC236}">
                <a16:creationId xmlns:a16="http://schemas.microsoft.com/office/drawing/2014/main" id="{CB6A2345-16D6-4523-9534-1FBCAA6F3C6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12BEABD4-5E46-47CA-AE63-7BFDD69C8815}"/>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122388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0F8A5C-B1B7-4114-A43F-A85B6EC0C74E}"/>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F9FF59DF-C383-404F-BA4C-FBEC452DA1C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C70E772B-6323-4166-B5A2-398DC35B4C2F}"/>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5" name="Marcador de pie de página 4">
            <a:extLst>
              <a:ext uri="{FF2B5EF4-FFF2-40B4-BE49-F238E27FC236}">
                <a16:creationId xmlns:a16="http://schemas.microsoft.com/office/drawing/2014/main" id="{03C5778E-3431-4A59-87A5-00F25174391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E9CA6A9-2C1C-408D-BCB0-557555D69644}"/>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2294009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BB92A5-C5A3-407E-B8E7-1E1E5D32DF1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A01260E2-69AC-4DDF-AA09-F94CA47BC4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537970C-EDEA-475D-A6C7-239AC2F38B8A}"/>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5" name="Marcador de pie de página 4">
            <a:extLst>
              <a:ext uri="{FF2B5EF4-FFF2-40B4-BE49-F238E27FC236}">
                <a16:creationId xmlns:a16="http://schemas.microsoft.com/office/drawing/2014/main" id="{DA3A4AD0-A6E6-4F3E-BAE3-F40807BC4620}"/>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EC840CB2-7C0F-4004-90A1-A687DE789967}"/>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147155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0A25AC-D576-42C4-B765-267FC40A0884}"/>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22986F04-4FE4-4F1D-998E-71508D98AFE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D60A1DB8-0C35-4383-ABE0-346CE4AD395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88FB3CD2-F59C-4021-8C1B-8A18E445AE18}"/>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6" name="Marcador de pie de página 5">
            <a:extLst>
              <a:ext uri="{FF2B5EF4-FFF2-40B4-BE49-F238E27FC236}">
                <a16:creationId xmlns:a16="http://schemas.microsoft.com/office/drawing/2014/main" id="{A17BED6D-BD77-4D9A-9311-4374D7F61203}"/>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B8C4593D-A36A-4EFB-A71F-B92DF4FC21F5}"/>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2460140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20EC63-B109-485A-AB64-4234A7B8DE8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8B0BB64B-E714-4056-A31E-AAD4A034E3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1B07439-EF75-4538-A776-1A6666DB87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7FCC8295-8270-43E6-9B0F-41D5B19585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ECE201B-CCAF-489B-8A86-297B5316DBD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216DED28-A459-42CB-8A00-08883902E3C2}"/>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8" name="Marcador de pie de página 7">
            <a:extLst>
              <a:ext uri="{FF2B5EF4-FFF2-40B4-BE49-F238E27FC236}">
                <a16:creationId xmlns:a16="http://schemas.microsoft.com/office/drawing/2014/main" id="{510617B0-BFF8-497C-A30F-1626F352BE6F}"/>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C5AB4337-4728-4968-81C9-C229CD374231}"/>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3767481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FD3FEC-76EB-4870-9E9A-09F9182034BC}"/>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C2AADE7B-E7AB-4E4F-990A-B60978D771D6}"/>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4" name="Marcador de pie de página 3">
            <a:extLst>
              <a:ext uri="{FF2B5EF4-FFF2-40B4-BE49-F238E27FC236}">
                <a16:creationId xmlns:a16="http://schemas.microsoft.com/office/drawing/2014/main" id="{23F8A452-093F-4C47-B4BE-63C5F2A72353}"/>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BB67148A-5FEA-4947-B9C2-336036704B95}"/>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2838742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DB25124-2B19-45D1-A385-94BE08885A98}"/>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3" name="Marcador de pie de página 2">
            <a:extLst>
              <a:ext uri="{FF2B5EF4-FFF2-40B4-BE49-F238E27FC236}">
                <a16:creationId xmlns:a16="http://schemas.microsoft.com/office/drawing/2014/main" id="{3CE7F63D-2B17-4766-9E86-EF23BFB619EE}"/>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12581879-F89D-4C11-A9E9-083F9BDB6121}"/>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361585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F4A935-A0B8-46D6-88EB-4B838B1CCAC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6E468CB4-B027-46E5-B707-E83D74514A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76F6694C-3174-48D0-AA85-B32220ACBF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D5D531F-E676-403F-8952-75D999CD4C3B}"/>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6" name="Marcador de pie de página 5">
            <a:extLst>
              <a:ext uri="{FF2B5EF4-FFF2-40B4-BE49-F238E27FC236}">
                <a16:creationId xmlns:a16="http://schemas.microsoft.com/office/drawing/2014/main" id="{E55C66EE-685D-413A-8DF9-82A1E8C02FD9}"/>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9AB128E8-198D-4205-A760-1F0E34C92C2C}"/>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209192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F05E9-ACE3-4104-8436-9AD0CA48EF0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BDEF8180-75DC-4FF6-AA45-04E341C7C3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FD65804C-2111-4420-8DEA-48915A9999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202399-9964-4BDC-822D-0281F1A4156F}"/>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6" name="Marcador de pie de página 5">
            <a:extLst>
              <a:ext uri="{FF2B5EF4-FFF2-40B4-BE49-F238E27FC236}">
                <a16:creationId xmlns:a16="http://schemas.microsoft.com/office/drawing/2014/main" id="{A52F461C-6A4E-4CB2-B948-50CD2FDA5C27}"/>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C4DE62F9-454A-4B05-B77F-66DA2A569A05}"/>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4035876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6C368-FD35-4DD8-B8B5-D8835EC79EA5}"/>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88096678-581F-471E-BCF4-BCD579F6EBA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E91BE989-2E89-4393-8EAE-49F30A9D11E5}"/>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5" name="Marcador de pie de página 4">
            <a:extLst>
              <a:ext uri="{FF2B5EF4-FFF2-40B4-BE49-F238E27FC236}">
                <a16:creationId xmlns:a16="http://schemas.microsoft.com/office/drawing/2014/main" id="{455CB6CA-7119-4BC0-B8AE-C67C5DF1395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39BB4010-5D58-4EB7-9590-B15DDB262584}"/>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307370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77AC3A9-1567-4116-B454-6830E5BA219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4C72A4C4-E99C-4889-AFD8-E335B6A4AA5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14C7317E-453E-42DF-AAEC-9F1F87987A06}"/>
              </a:ext>
            </a:extLst>
          </p:cNvPr>
          <p:cNvSpPr>
            <a:spLocks noGrp="1"/>
          </p:cNvSpPr>
          <p:nvPr>
            <p:ph type="dt" sz="half" idx="10"/>
          </p:nvPr>
        </p:nvSpPr>
        <p:spPr/>
        <p:txBody>
          <a:bodyPr/>
          <a:lstStyle/>
          <a:p>
            <a:fld id="{03AF1862-7AA8-4472-A220-D41F5D4CC4F2}" type="datetimeFigureOut">
              <a:rPr lang="es-NI" smtClean="0"/>
              <a:t>1/11/2025</a:t>
            </a:fld>
            <a:endParaRPr lang="es-NI"/>
          </a:p>
        </p:txBody>
      </p:sp>
      <p:sp>
        <p:nvSpPr>
          <p:cNvPr id="5" name="Marcador de pie de página 4">
            <a:extLst>
              <a:ext uri="{FF2B5EF4-FFF2-40B4-BE49-F238E27FC236}">
                <a16:creationId xmlns:a16="http://schemas.microsoft.com/office/drawing/2014/main" id="{E1A69858-3307-4DF4-A7C3-EC611D3A7FD0}"/>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2AD9020C-71B5-49CE-878A-125DBE754907}"/>
              </a:ext>
            </a:extLst>
          </p:cNvPr>
          <p:cNvSpPr>
            <a:spLocks noGrp="1"/>
          </p:cNvSpPr>
          <p:nvPr>
            <p:ph type="sldNum" sz="quarter" idx="12"/>
          </p:nvPr>
        </p:nvSpPr>
        <p:spPr/>
        <p:txBody>
          <a:bodyPr/>
          <a:lstStyle/>
          <a:p>
            <a:fld id="{A8B7A7B9-15AD-4C83-BED3-403336861F90}" type="slidenum">
              <a:rPr lang="es-NI" smtClean="0"/>
              <a:t>‹Nº›</a:t>
            </a:fld>
            <a:endParaRPr lang="es-NI"/>
          </a:p>
        </p:txBody>
      </p:sp>
    </p:spTree>
    <p:extLst>
      <p:ext uri="{BB962C8B-B14F-4D97-AF65-F5344CB8AC3E}">
        <p14:creationId xmlns:p14="http://schemas.microsoft.com/office/powerpoint/2010/main" val="2945106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B9B62DD-C94B-4CBA-AE29-83C5ED9EBE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C3309C9F-4F4A-40D7-A39D-DEC63C8721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94EA8402-122A-4158-8F43-7C4FB223F6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AF1862-7AA8-4472-A220-D41F5D4CC4F2}" type="datetimeFigureOut">
              <a:rPr lang="es-NI" smtClean="0"/>
              <a:t>1/11/2025</a:t>
            </a:fld>
            <a:endParaRPr lang="es-NI"/>
          </a:p>
        </p:txBody>
      </p:sp>
      <p:sp>
        <p:nvSpPr>
          <p:cNvPr id="5" name="Marcador de pie de página 4">
            <a:extLst>
              <a:ext uri="{FF2B5EF4-FFF2-40B4-BE49-F238E27FC236}">
                <a16:creationId xmlns:a16="http://schemas.microsoft.com/office/drawing/2014/main" id="{585625B8-2067-4FA3-B569-432A1A561A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88855730-81D2-4273-9C83-9170AEBC10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B7A7B9-15AD-4C83-BED3-403336861F90}" type="slidenum">
              <a:rPr lang="es-NI" smtClean="0"/>
              <a:t>‹Nº›</a:t>
            </a:fld>
            <a:endParaRPr lang="es-NI"/>
          </a:p>
        </p:txBody>
      </p:sp>
    </p:spTree>
    <p:extLst>
      <p:ext uri="{BB962C8B-B14F-4D97-AF65-F5344CB8AC3E}">
        <p14:creationId xmlns:p14="http://schemas.microsoft.com/office/powerpoint/2010/main" val="2158025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A014826-CAB5-41FC-94EF-1AC242D75B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5445" y="643466"/>
            <a:ext cx="10221109"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544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CD3918F-F039-4BCB-9A70-F367388CACFB}"/>
              </a:ext>
            </a:extLst>
          </p:cNvPr>
          <p:cNvSpPr/>
          <p:nvPr/>
        </p:nvSpPr>
        <p:spPr>
          <a:xfrm>
            <a:off x="335280" y="151179"/>
            <a:ext cx="11521440" cy="6555641"/>
          </a:xfrm>
          <a:prstGeom prst="rect">
            <a:avLst/>
          </a:prstGeom>
        </p:spPr>
        <p:txBody>
          <a:bodyPr wrap="square">
            <a:spAutoFit/>
          </a:bodyPr>
          <a:lstStyle/>
          <a:p>
            <a:r>
              <a:rPr lang="es-ES" sz="2800" b="1" dirty="0">
                <a:latin typeface="Verdana" panose="020B0604030504040204" pitchFamily="34" charset="0"/>
                <a:ea typeface="Verdana" panose="020B0604030504040204" pitchFamily="34" charset="0"/>
              </a:rPr>
              <a:t>Tiempo optimista (a): </a:t>
            </a:r>
            <a:r>
              <a:rPr lang="es-ES" sz="2800" dirty="0">
                <a:latin typeface="Verdana" panose="020B0604030504040204" pitchFamily="34" charset="0"/>
                <a:ea typeface="Verdana" panose="020B0604030504040204" pitchFamily="34" charset="0"/>
              </a:rPr>
              <a:t>Duración que ocurre cuando el desarrollo de la actividad transcurre de forma perfecta. En la práctica suele acudirse al tiempo récord de desarrollo de una actividad, es decir, el mínimo tiempo en que una actividad de esas características haya sido ejecutada.</a:t>
            </a:r>
          </a:p>
          <a:p>
            <a:endParaRPr lang="es-ES" sz="2800" dirty="0">
              <a:latin typeface="Verdana" panose="020B0604030504040204" pitchFamily="34" charset="0"/>
              <a:ea typeface="Verdana" panose="020B0604030504040204" pitchFamily="34" charset="0"/>
            </a:endParaRPr>
          </a:p>
          <a:p>
            <a:r>
              <a:rPr lang="es-ES" sz="2800" b="1" dirty="0">
                <a:latin typeface="Verdana" panose="020B0604030504040204" pitchFamily="34" charset="0"/>
                <a:ea typeface="Verdana" panose="020B0604030504040204" pitchFamily="34" charset="0"/>
              </a:rPr>
              <a:t>Tiempo más probable (m): </a:t>
            </a:r>
            <a:r>
              <a:rPr lang="es-ES" sz="2800" dirty="0">
                <a:latin typeface="Verdana" panose="020B0604030504040204" pitchFamily="34" charset="0"/>
                <a:ea typeface="Verdana" panose="020B0604030504040204" pitchFamily="34" charset="0"/>
              </a:rPr>
              <a:t>Duración que ocurre cuando el desarrollo de la actividad transcurre de forma normal. En la práctica suele tomarse como el tiempo más frecuente de ejecución de una actividad de iguales características.</a:t>
            </a:r>
          </a:p>
          <a:p>
            <a:endParaRPr lang="es-ES" sz="2800" dirty="0">
              <a:latin typeface="Verdana" panose="020B0604030504040204" pitchFamily="34" charset="0"/>
              <a:ea typeface="Verdana" panose="020B0604030504040204" pitchFamily="34" charset="0"/>
            </a:endParaRPr>
          </a:p>
          <a:p>
            <a:r>
              <a:rPr lang="es-ES" sz="2800" b="1" dirty="0">
                <a:latin typeface="Verdana" panose="020B0604030504040204" pitchFamily="34" charset="0"/>
                <a:ea typeface="Verdana" panose="020B0604030504040204" pitchFamily="34" charset="0"/>
              </a:rPr>
              <a:t>Tiempo pesimista (b): </a:t>
            </a:r>
            <a:r>
              <a:rPr lang="es-ES" sz="2800" dirty="0">
                <a:latin typeface="Verdana" panose="020B0604030504040204" pitchFamily="34" charset="0"/>
                <a:ea typeface="Verdana" panose="020B0604030504040204" pitchFamily="34" charset="0"/>
              </a:rPr>
              <a:t>Duración que ocurre cuando el desarrollo de la actividad transcurre de forma deficiente, o cuando se materializan los riesgos de ejecución de la actividad.</a:t>
            </a:r>
            <a:endParaRPr lang="es-NI" sz="2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76451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FB04490-D3D3-4A5E-8F93-560CFCD9A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078" y="4292918"/>
            <a:ext cx="3771523" cy="15808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AA5B364-702F-4792-A940-8322CD7C5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6971" y="4428309"/>
            <a:ext cx="5195374" cy="144548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B3D3D3EE-B014-4AB2-BE53-B25D3B2B6F2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189839" y="245181"/>
            <a:ext cx="5511524" cy="3004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041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358BA2-8BB3-489F-9628-9918DE5960A3}"/>
              </a:ext>
            </a:extLst>
          </p:cNvPr>
          <p:cNvSpPr>
            <a:spLocks noChangeArrowheads="1"/>
          </p:cNvSpPr>
          <p:nvPr/>
        </p:nvSpPr>
        <p:spPr bwMode="auto">
          <a:xfrm>
            <a:off x="233082" y="272501"/>
            <a:ext cx="11725835" cy="43088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NI" altLang="es-NI" sz="2000" b="0" i="0" u="none" strike="noStrike" cap="none" normalizeH="0" baseline="0" dirty="0">
                <a:ln>
                  <a:noFill/>
                </a:ln>
                <a:solidFill>
                  <a:srgbClr val="2C2F34"/>
                </a:solidFill>
                <a:effectLst/>
                <a:latin typeface="Verdana" panose="020B0604030504040204" pitchFamily="34" charset="0"/>
                <a:ea typeface="Verdana" panose="020B0604030504040204" pitchFamily="34" charset="0"/>
              </a:rPr>
              <a:t>Además de calcular el tiempo estimado, deberá calcularse la varianza de cada actividad. El cálculo de esta medida de dispersión se utiliza para determinar la incertidumbre de que se termine el proyecto de acuerdo al programa. Para efectos del algoritmo PERT, el cálculo de la varianza se hará a partir de sus estimaciones tal cómo se muestra a continuación:</a:t>
            </a:r>
          </a:p>
          <a:p>
            <a:pPr marL="0" marR="0" lvl="0" indent="0" algn="l" defTabSz="914400" rtl="0" eaLnBrk="0" fontAlgn="base" latinLnBrk="0" hangingPunct="0">
              <a:lnSpc>
                <a:spcPct val="100000"/>
              </a:lnSpc>
              <a:spcBef>
                <a:spcPct val="0"/>
              </a:spcBef>
              <a:spcAft>
                <a:spcPct val="0"/>
              </a:spcAft>
              <a:buClrTx/>
              <a:buSzTx/>
              <a:buFontTx/>
              <a:buNone/>
              <a:tabLst/>
            </a:pPr>
            <a:endParaRPr lang="es-NI" altLang="es-NI" sz="2000" dirty="0">
              <a:solidFill>
                <a:srgbClr val="2C2F34"/>
              </a:solidFill>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NI" altLang="es-NI" sz="2000" b="0" i="0" u="none" strike="noStrike" cap="none" normalizeH="0" baseline="0" dirty="0">
              <a:ln>
                <a:noFill/>
              </a:ln>
              <a:solidFill>
                <a:srgbClr val="2C2F34"/>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NI" altLang="es-NI" sz="2000" dirty="0">
              <a:solidFill>
                <a:srgbClr val="2C2F34"/>
              </a:solidFill>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NI" altLang="es-NI" sz="2000" b="0" i="0" u="none" strike="noStrike" cap="none" normalizeH="0" baseline="0" dirty="0">
              <a:ln>
                <a:noFill/>
              </a:ln>
              <a:solidFill>
                <a:srgbClr val="2C2F34"/>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NI" altLang="es-NI" sz="2000" dirty="0">
              <a:solidFill>
                <a:srgbClr val="2C2F34"/>
              </a:solidFill>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NI" altLang="es-NI" sz="2000" b="0"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NI" altLang="es-NI" sz="2000" b="0" i="0" u="none" strike="noStrike" cap="none" normalizeH="0" baseline="0" dirty="0">
                <a:ln>
                  <a:noFill/>
                </a:ln>
                <a:solidFill>
                  <a:srgbClr val="2C2F34"/>
                </a:solidFill>
                <a:effectLst/>
                <a:latin typeface="Verdana" panose="020B0604030504040204" pitchFamily="34" charset="0"/>
                <a:ea typeface="Verdana" panose="020B060403050404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NI" altLang="es-NI" sz="2000" b="0" i="0" u="none" strike="noStrike" cap="none" normalizeH="0" baseline="0" dirty="0">
                <a:ln>
                  <a:noFill/>
                </a:ln>
                <a:solidFill>
                  <a:srgbClr val="2C2F34"/>
                </a:solidFill>
                <a:effectLst/>
                <a:latin typeface="Verdana" panose="020B0604030504040204" pitchFamily="34" charset="0"/>
                <a:ea typeface="Verdana" panose="020B0604030504040204" pitchFamily="34" charset="0"/>
              </a:rPr>
              <a:t>El cálculo de la varianza deberá hacerse entonces para cada actividad. Por ejemplo para la actividad A:</a:t>
            </a:r>
            <a:endParaRPr kumimoji="0" lang="es-NI" altLang="es-NI" sz="2000" b="0"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NI" altLang="es-NI" sz="2000" b="0" i="0" u="none" strike="noStrike" cap="none" normalizeH="0" baseline="0" dirty="0">
                <a:ln>
                  <a:noFill/>
                </a:ln>
                <a:solidFill>
                  <a:srgbClr val="2C2F34"/>
                </a:solidFill>
                <a:effectLst/>
                <a:latin typeface="Verdana" panose="020B0604030504040204" pitchFamily="34" charset="0"/>
                <a:ea typeface="Verdana" panose="020B0604030504040204" pitchFamily="34" charset="0"/>
              </a:rPr>
              <a:t>                    </a:t>
            </a:r>
            <a:endParaRPr kumimoji="0" lang="es-NI" altLang="es-NI" sz="2000" b="0"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p:txBody>
      </p:sp>
      <p:pic>
        <p:nvPicPr>
          <p:cNvPr id="4098" name="Picture 2">
            <a:extLst>
              <a:ext uri="{FF2B5EF4-FFF2-40B4-BE49-F238E27FC236}">
                <a16:creationId xmlns:a16="http://schemas.microsoft.com/office/drawing/2014/main" id="{AD05BBE9-2AF4-4D82-AE3B-54DDD7EA9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8788" y="1696215"/>
            <a:ext cx="5754422" cy="1461443"/>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a:extLst>
              <a:ext uri="{FF2B5EF4-FFF2-40B4-BE49-F238E27FC236}">
                <a16:creationId xmlns:a16="http://schemas.microsoft.com/office/drawing/2014/main" id="{53513843-3C3F-4E1D-B3FA-3E6EDE16F3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1752" y="4849312"/>
            <a:ext cx="4065651" cy="1277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147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750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3E33327E-95D9-481F-B3AC-6D0914862B3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828079"/>
            <a:ext cx="10905066" cy="5201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217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iagrama de red - Bryan Salazar López">
            <a:extLst>
              <a:ext uri="{FF2B5EF4-FFF2-40B4-BE49-F238E27FC236}">
                <a16:creationId xmlns:a16="http://schemas.microsoft.com/office/drawing/2014/main" id="{43E4D81A-9C21-4359-9F77-E9ADCD2E4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275250"/>
            <a:ext cx="10905066" cy="430750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4095A10D-850C-4679-AE73-B3EBA30F5916}"/>
              </a:ext>
            </a:extLst>
          </p:cNvPr>
          <p:cNvSpPr/>
          <p:nvPr/>
        </p:nvSpPr>
        <p:spPr>
          <a:xfrm>
            <a:off x="6640301" y="795190"/>
            <a:ext cx="4991459" cy="1815882"/>
          </a:xfrm>
          <a:prstGeom prst="rect">
            <a:avLst/>
          </a:prstGeom>
          <a:noFill/>
        </p:spPr>
        <p:txBody>
          <a:bodyPr wrap="square" lIns="91440" tIns="45720" rIns="91440" bIns="45720">
            <a:spAutoFit/>
          </a:bodyPr>
          <a:lstStyle/>
          <a:p>
            <a:pPr algn="ctr"/>
            <a:r>
              <a:rPr lang="es-ES" sz="2800" dirty="0">
                <a:ln w="0"/>
                <a:effectLst>
                  <a:outerShdw blurRad="38100" dist="19050" dir="2700000" algn="tl" rotWithShape="0">
                    <a:schemeClr val="dk1">
                      <a:alpha val="40000"/>
                    </a:schemeClr>
                  </a:outerShdw>
                </a:effectLst>
              </a:rPr>
              <a:t>Se colocan las tareas según como están ordenadas en la tabla, teniendo en cuenta las tareas predecesoras</a:t>
            </a:r>
            <a:endParaRPr lang="es-ES" sz="2800" b="0" cap="none" spc="0" dirty="0">
              <a:ln w="0"/>
              <a:solidFill>
                <a:schemeClr val="tx1"/>
              </a:solidFill>
              <a:effectLst>
                <a:outerShdw blurRad="38100" dist="19050" dir="2700000" algn="tl" rotWithShape="0">
                  <a:schemeClr val="dk1">
                    <a:alpha val="40000"/>
                  </a:schemeClr>
                </a:outerShdw>
              </a:effectLst>
            </a:endParaRPr>
          </a:p>
        </p:txBody>
      </p:sp>
      <p:sp>
        <p:nvSpPr>
          <p:cNvPr id="32" name="Rectángulo 31">
            <a:extLst>
              <a:ext uri="{FF2B5EF4-FFF2-40B4-BE49-F238E27FC236}">
                <a16:creationId xmlns:a16="http://schemas.microsoft.com/office/drawing/2014/main" id="{FC5E69B0-7E56-434F-BD56-E468CC0E158A}"/>
              </a:ext>
            </a:extLst>
          </p:cNvPr>
          <p:cNvSpPr/>
          <p:nvPr/>
        </p:nvSpPr>
        <p:spPr>
          <a:xfrm>
            <a:off x="6640301" y="4300716"/>
            <a:ext cx="4991459" cy="1815882"/>
          </a:xfrm>
          <a:prstGeom prst="rect">
            <a:avLst/>
          </a:prstGeom>
          <a:noFill/>
        </p:spPr>
        <p:txBody>
          <a:bodyPr wrap="square" lIns="91440" tIns="45720" rIns="91440" bIns="45720">
            <a:spAutoFit/>
          </a:bodyPr>
          <a:lstStyle/>
          <a:p>
            <a:pPr algn="ctr"/>
            <a:r>
              <a:rPr lang="es-ES" sz="2800" dirty="0">
                <a:ln w="0"/>
                <a:effectLst>
                  <a:outerShdw blurRad="38100" dist="19050" dir="2700000" algn="tl" rotWithShape="0">
                    <a:schemeClr val="dk1">
                      <a:alpha val="40000"/>
                    </a:schemeClr>
                  </a:outerShdw>
                </a:effectLst>
              </a:rPr>
              <a:t>Se coloca el tiempo estimado en las tareas que van sobre las flechas, luego calculamos la ruta crítica</a:t>
            </a:r>
            <a:endParaRPr lang="es-ES" sz="2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22374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iagrama de red - Bryan Salazar López">
            <a:extLst>
              <a:ext uri="{FF2B5EF4-FFF2-40B4-BE49-F238E27FC236}">
                <a16:creationId xmlns:a16="http://schemas.microsoft.com/office/drawing/2014/main" id="{43E4D81A-9C21-4359-9F77-E9ADCD2E4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275250"/>
            <a:ext cx="10905066" cy="430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a 4">
            <a:extLst>
              <a:ext uri="{FF2B5EF4-FFF2-40B4-BE49-F238E27FC236}">
                <a16:creationId xmlns:a16="http://schemas.microsoft.com/office/drawing/2014/main" id="{968F9D08-5082-4085-B243-1375DF01FD25}"/>
              </a:ext>
            </a:extLst>
          </p:cNvPr>
          <p:cNvGraphicFramePr>
            <a:graphicFrameLocks noGrp="1"/>
          </p:cNvGraphicFramePr>
          <p:nvPr/>
        </p:nvGraphicFramePr>
        <p:xfrm>
          <a:off x="7981417" y="533570"/>
          <a:ext cx="3650343" cy="741680"/>
        </p:xfrm>
        <a:graphic>
          <a:graphicData uri="http://schemas.openxmlformats.org/drawingml/2006/table">
            <a:tbl>
              <a:tblPr firstRow="1" bandRow="1">
                <a:tableStyleId>{5C22544A-7EE6-4342-B048-85BDC9FD1C3A}</a:tableStyleId>
              </a:tblPr>
              <a:tblGrid>
                <a:gridCol w="1730103">
                  <a:extLst>
                    <a:ext uri="{9D8B030D-6E8A-4147-A177-3AD203B41FA5}">
                      <a16:colId xmlns:a16="http://schemas.microsoft.com/office/drawing/2014/main" val="4031563130"/>
                    </a:ext>
                  </a:extLst>
                </a:gridCol>
                <a:gridCol w="1920240">
                  <a:extLst>
                    <a:ext uri="{9D8B030D-6E8A-4147-A177-3AD203B41FA5}">
                      <a16:colId xmlns:a16="http://schemas.microsoft.com/office/drawing/2014/main" val="2237093618"/>
                    </a:ext>
                  </a:extLst>
                </a:gridCol>
              </a:tblGrid>
              <a:tr h="370840">
                <a:tc>
                  <a:txBody>
                    <a:bodyPr/>
                    <a:lstStyle/>
                    <a:p>
                      <a:r>
                        <a:rPr lang="es-NI" dirty="0"/>
                        <a:t>Inicio Temprano</a:t>
                      </a:r>
                    </a:p>
                  </a:txBody>
                  <a:tcPr/>
                </a:tc>
                <a:tc>
                  <a:txBody>
                    <a:bodyPr/>
                    <a:lstStyle/>
                    <a:p>
                      <a:r>
                        <a:rPr lang="es-NI" dirty="0"/>
                        <a:t>Fin temprano</a:t>
                      </a:r>
                    </a:p>
                  </a:txBody>
                  <a:tcPr/>
                </a:tc>
                <a:extLst>
                  <a:ext uri="{0D108BD9-81ED-4DB2-BD59-A6C34878D82A}">
                    <a16:rowId xmlns:a16="http://schemas.microsoft.com/office/drawing/2014/main" val="3436060984"/>
                  </a:ext>
                </a:extLst>
              </a:tr>
              <a:tr h="370840">
                <a:tc>
                  <a:txBody>
                    <a:bodyPr/>
                    <a:lstStyle/>
                    <a:p>
                      <a:r>
                        <a:rPr lang="es-NI" dirty="0"/>
                        <a:t>Inicio tardío</a:t>
                      </a:r>
                    </a:p>
                  </a:txBody>
                  <a:tcPr/>
                </a:tc>
                <a:tc>
                  <a:txBody>
                    <a:bodyPr/>
                    <a:lstStyle/>
                    <a:p>
                      <a:r>
                        <a:rPr lang="es-NI" dirty="0"/>
                        <a:t>Fin tardío</a:t>
                      </a:r>
                    </a:p>
                  </a:txBody>
                  <a:tcPr/>
                </a:tc>
                <a:extLst>
                  <a:ext uri="{0D108BD9-81ED-4DB2-BD59-A6C34878D82A}">
                    <a16:rowId xmlns:a16="http://schemas.microsoft.com/office/drawing/2014/main" val="1050811903"/>
                  </a:ext>
                </a:extLst>
              </a:tr>
            </a:tbl>
          </a:graphicData>
        </a:graphic>
      </p:graphicFrame>
      <p:graphicFrame>
        <p:nvGraphicFramePr>
          <p:cNvPr id="11" name="Tabla 4">
            <a:extLst>
              <a:ext uri="{FF2B5EF4-FFF2-40B4-BE49-F238E27FC236}">
                <a16:creationId xmlns:a16="http://schemas.microsoft.com/office/drawing/2014/main" id="{544C0C38-DFD7-4BF3-A018-80D5D3BE3E07}"/>
              </a:ext>
            </a:extLst>
          </p:cNvPr>
          <p:cNvGraphicFramePr>
            <a:graphicFrameLocks noGrp="1"/>
          </p:cNvGraphicFramePr>
          <p:nvPr>
            <p:extLst>
              <p:ext uri="{D42A27DB-BD31-4B8C-83A1-F6EECF244321}">
                <p14:modId xmlns:p14="http://schemas.microsoft.com/office/powerpoint/2010/main" val="1593483221"/>
              </p:ext>
            </p:extLst>
          </p:nvPr>
        </p:nvGraphicFramePr>
        <p:xfrm>
          <a:off x="643467" y="1554651"/>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31" name="Tabla 4">
            <a:extLst>
              <a:ext uri="{FF2B5EF4-FFF2-40B4-BE49-F238E27FC236}">
                <a16:creationId xmlns:a16="http://schemas.microsoft.com/office/drawing/2014/main" id="{D9D51B44-494B-41F7-9079-52FEB382E5F7}"/>
              </a:ext>
            </a:extLst>
          </p:cNvPr>
          <p:cNvGraphicFramePr>
            <a:graphicFrameLocks noGrp="1"/>
          </p:cNvGraphicFramePr>
          <p:nvPr/>
        </p:nvGraphicFramePr>
        <p:xfrm>
          <a:off x="650705" y="441106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sp>
        <p:nvSpPr>
          <p:cNvPr id="2" name="Rectángulo 1">
            <a:extLst>
              <a:ext uri="{FF2B5EF4-FFF2-40B4-BE49-F238E27FC236}">
                <a16:creationId xmlns:a16="http://schemas.microsoft.com/office/drawing/2014/main" id="{4095A10D-850C-4679-AE73-B3EBA30F5916}"/>
              </a:ext>
            </a:extLst>
          </p:cNvPr>
          <p:cNvSpPr/>
          <p:nvPr/>
        </p:nvSpPr>
        <p:spPr>
          <a:xfrm>
            <a:off x="7005918" y="4155395"/>
            <a:ext cx="4625842" cy="1323439"/>
          </a:xfrm>
          <a:prstGeom prst="rect">
            <a:avLst/>
          </a:prstGeom>
          <a:noFill/>
        </p:spPr>
        <p:txBody>
          <a:bodyPr wrap="square" lIns="91440" tIns="45720" rIns="91440" bIns="45720">
            <a:spAutoFit/>
          </a:bodyPr>
          <a:lstStyle/>
          <a:p>
            <a:pPr algn="ctr"/>
            <a:r>
              <a:rPr lang="es-ES" sz="2000" dirty="0">
                <a:ln w="0"/>
                <a:effectLst>
                  <a:outerShdw blurRad="38100" dist="19050" dir="2700000" algn="tl" rotWithShape="0">
                    <a:schemeClr val="dk1">
                      <a:alpha val="40000"/>
                    </a:schemeClr>
                  </a:outerShdw>
                </a:effectLst>
              </a:rPr>
              <a:t>Para comenzar el inicio temprano se pone en cero y para calcular el fin temprano se le suma el tiempo correspondiente a la tarea</a:t>
            </a:r>
            <a:endParaRPr lang="es-E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145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iagrama de red - Bryan Salazar López">
            <a:extLst>
              <a:ext uri="{FF2B5EF4-FFF2-40B4-BE49-F238E27FC236}">
                <a16:creationId xmlns:a16="http://schemas.microsoft.com/office/drawing/2014/main" id="{43E4D81A-9C21-4359-9F77-E9ADCD2E4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275250"/>
            <a:ext cx="10905066" cy="430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a 4">
            <a:extLst>
              <a:ext uri="{FF2B5EF4-FFF2-40B4-BE49-F238E27FC236}">
                <a16:creationId xmlns:a16="http://schemas.microsoft.com/office/drawing/2014/main" id="{968F9D08-5082-4085-B243-1375DF01FD25}"/>
              </a:ext>
            </a:extLst>
          </p:cNvPr>
          <p:cNvGraphicFramePr>
            <a:graphicFrameLocks noGrp="1"/>
          </p:cNvGraphicFramePr>
          <p:nvPr/>
        </p:nvGraphicFramePr>
        <p:xfrm>
          <a:off x="7981417" y="533570"/>
          <a:ext cx="3650343" cy="741680"/>
        </p:xfrm>
        <a:graphic>
          <a:graphicData uri="http://schemas.openxmlformats.org/drawingml/2006/table">
            <a:tbl>
              <a:tblPr firstRow="1" bandRow="1">
                <a:tableStyleId>{5C22544A-7EE6-4342-B048-85BDC9FD1C3A}</a:tableStyleId>
              </a:tblPr>
              <a:tblGrid>
                <a:gridCol w="1730103">
                  <a:extLst>
                    <a:ext uri="{9D8B030D-6E8A-4147-A177-3AD203B41FA5}">
                      <a16:colId xmlns:a16="http://schemas.microsoft.com/office/drawing/2014/main" val="4031563130"/>
                    </a:ext>
                  </a:extLst>
                </a:gridCol>
                <a:gridCol w="1920240">
                  <a:extLst>
                    <a:ext uri="{9D8B030D-6E8A-4147-A177-3AD203B41FA5}">
                      <a16:colId xmlns:a16="http://schemas.microsoft.com/office/drawing/2014/main" val="2237093618"/>
                    </a:ext>
                  </a:extLst>
                </a:gridCol>
              </a:tblGrid>
              <a:tr h="370840">
                <a:tc>
                  <a:txBody>
                    <a:bodyPr/>
                    <a:lstStyle/>
                    <a:p>
                      <a:r>
                        <a:rPr lang="es-NI" dirty="0"/>
                        <a:t>Inicio Temprano</a:t>
                      </a:r>
                    </a:p>
                  </a:txBody>
                  <a:tcPr/>
                </a:tc>
                <a:tc>
                  <a:txBody>
                    <a:bodyPr/>
                    <a:lstStyle/>
                    <a:p>
                      <a:r>
                        <a:rPr lang="es-NI" dirty="0"/>
                        <a:t>Fin temprano</a:t>
                      </a:r>
                    </a:p>
                  </a:txBody>
                  <a:tcPr/>
                </a:tc>
                <a:extLst>
                  <a:ext uri="{0D108BD9-81ED-4DB2-BD59-A6C34878D82A}">
                    <a16:rowId xmlns:a16="http://schemas.microsoft.com/office/drawing/2014/main" val="3436060984"/>
                  </a:ext>
                </a:extLst>
              </a:tr>
              <a:tr h="370840">
                <a:tc>
                  <a:txBody>
                    <a:bodyPr/>
                    <a:lstStyle/>
                    <a:p>
                      <a:r>
                        <a:rPr lang="es-NI" dirty="0"/>
                        <a:t>Inicio tardío</a:t>
                      </a:r>
                    </a:p>
                  </a:txBody>
                  <a:tcPr/>
                </a:tc>
                <a:tc>
                  <a:txBody>
                    <a:bodyPr/>
                    <a:lstStyle/>
                    <a:p>
                      <a:r>
                        <a:rPr lang="es-NI" dirty="0"/>
                        <a:t>Fin tardío</a:t>
                      </a:r>
                    </a:p>
                  </a:txBody>
                  <a:tcPr/>
                </a:tc>
                <a:extLst>
                  <a:ext uri="{0D108BD9-81ED-4DB2-BD59-A6C34878D82A}">
                    <a16:rowId xmlns:a16="http://schemas.microsoft.com/office/drawing/2014/main" val="1050811903"/>
                  </a:ext>
                </a:extLst>
              </a:tr>
            </a:tbl>
          </a:graphicData>
        </a:graphic>
      </p:graphicFrame>
      <p:graphicFrame>
        <p:nvGraphicFramePr>
          <p:cNvPr id="11" name="Tabla 4">
            <a:extLst>
              <a:ext uri="{FF2B5EF4-FFF2-40B4-BE49-F238E27FC236}">
                <a16:creationId xmlns:a16="http://schemas.microsoft.com/office/drawing/2014/main" id="{544C0C38-DFD7-4BF3-A018-80D5D3BE3E07}"/>
              </a:ext>
            </a:extLst>
          </p:cNvPr>
          <p:cNvGraphicFramePr>
            <a:graphicFrameLocks noGrp="1"/>
          </p:cNvGraphicFramePr>
          <p:nvPr>
            <p:extLst>
              <p:ext uri="{D42A27DB-BD31-4B8C-83A1-F6EECF244321}">
                <p14:modId xmlns:p14="http://schemas.microsoft.com/office/powerpoint/2010/main" val="1194738637"/>
              </p:ext>
            </p:extLst>
          </p:nvPr>
        </p:nvGraphicFramePr>
        <p:xfrm>
          <a:off x="643467" y="1554651"/>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31" name="Tabla 4">
            <a:extLst>
              <a:ext uri="{FF2B5EF4-FFF2-40B4-BE49-F238E27FC236}">
                <a16:creationId xmlns:a16="http://schemas.microsoft.com/office/drawing/2014/main" id="{D9D51B44-494B-41F7-9079-52FEB382E5F7}"/>
              </a:ext>
            </a:extLst>
          </p:cNvPr>
          <p:cNvGraphicFramePr>
            <a:graphicFrameLocks noGrp="1"/>
          </p:cNvGraphicFramePr>
          <p:nvPr/>
        </p:nvGraphicFramePr>
        <p:xfrm>
          <a:off x="650705" y="441106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sp>
        <p:nvSpPr>
          <p:cNvPr id="2" name="Rectángulo 1">
            <a:extLst>
              <a:ext uri="{FF2B5EF4-FFF2-40B4-BE49-F238E27FC236}">
                <a16:creationId xmlns:a16="http://schemas.microsoft.com/office/drawing/2014/main" id="{4095A10D-850C-4679-AE73-B3EBA30F5916}"/>
              </a:ext>
            </a:extLst>
          </p:cNvPr>
          <p:cNvSpPr/>
          <p:nvPr/>
        </p:nvSpPr>
        <p:spPr>
          <a:xfrm>
            <a:off x="6988564" y="4411062"/>
            <a:ext cx="4625842" cy="1938992"/>
          </a:xfrm>
          <a:prstGeom prst="rect">
            <a:avLst/>
          </a:prstGeom>
          <a:noFill/>
        </p:spPr>
        <p:txBody>
          <a:bodyPr wrap="square" lIns="91440" tIns="45720" rIns="91440" bIns="45720">
            <a:spAutoFit/>
          </a:bodyPr>
          <a:lstStyle/>
          <a:p>
            <a:pPr algn="ctr"/>
            <a:r>
              <a:rPr lang="es-ES" sz="2000" dirty="0">
                <a:ln w="0"/>
                <a:effectLst>
                  <a:outerShdw blurRad="38100" dist="19050" dir="2700000" algn="tl" rotWithShape="0">
                    <a:schemeClr val="dk1">
                      <a:alpha val="40000"/>
                    </a:schemeClr>
                  </a:outerShdw>
                </a:effectLst>
              </a:rPr>
              <a:t>Para el siguiente bloque de tareas, el inicio temprano es igual al fin temprano de la tarea anterior, y para calcular el nuevo fin temprano se le suma el tiempo de la tarea correspondiente, se hace esto hasta tener todos los inicios y fines tempranos</a:t>
            </a:r>
            <a:endParaRPr lang="es-ES" sz="20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10" name="Tabla 4">
            <a:extLst>
              <a:ext uri="{FF2B5EF4-FFF2-40B4-BE49-F238E27FC236}">
                <a16:creationId xmlns:a16="http://schemas.microsoft.com/office/drawing/2014/main" id="{6C892F15-5A45-4D09-B817-8CDD6450AB36}"/>
              </a:ext>
            </a:extLst>
          </p:cNvPr>
          <p:cNvGraphicFramePr>
            <a:graphicFrameLocks noGrp="1"/>
          </p:cNvGraphicFramePr>
          <p:nvPr>
            <p:extLst>
              <p:ext uri="{D42A27DB-BD31-4B8C-83A1-F6EECF244321}">
                <p14:modId xmlns:p14="http://schemas.microsoft.com/office/powerpoint/2010/main" val="734216806"/>
              </p:ext>
            </p:extLst>
          </p:nvPr>
        </p:nvGraphicFramePr>
        <p:xfrm>
          <a:off x="3042679" y="52343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06</a:t>
                      </a:r>
                    </a:p>
                  </a:txBody>
                  <a:tcPr/>
                </a:tc>
                <a:tc>
                  <a:txBody>
                    <a:bodyPr/>
                    <a:lstStyle/>
                    <a:p>
                      <a:r>
                        <a:rPr lang="es-NI" dirty="0"/>
                        <a:t>09</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2" name="Tabla 4">
            <a:extLst>
              <a:ext uri="{FF2B5EF4-FFF2-40B4-BE49-F238E27FC236}">
                <a16:creationId xmlns:a16="http://schemas.microsoft.com/office/drawing/2014/main" id="{45401E1D-B773-4361-BEB7-3858DB19E6C2}"/>
              </a:ext>
            </a:extLst>
          </p:cNvPr>
          <p:cNvGraphicFramePr>
            <a:graphicFrameLocks noGrp="1"/>
          </p:cNvGraphicFramePr>
          <p:nvPr>
            <p:extLst>
              <p:ext uri="{D42A27DB-BD31-4B8C-83A1-F6EECF244321}">
                <p14:modId xmlns:p14="http://schemas.microsoft.com/office/powerpoint/2010/main" val="2851367012"/>
              </p:ext>
            </p:extLst>
          </p:nvPr>
        </p:nvGraphicFramePr>
        <p:xfrm>
          <a:off x="3093022" y="5244183"/>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02</a:t>
                      </a:r>
                    </a:p>
                  </a:txBody>
                  <a:tcPr/>
                </a:tc>
                <a:tc>
                  <a:txBody>
                    <a:bodyPr/>
                    <a:lstStyle/>
                    <a:p>
                      <a:r>
                        <a:rPr lang="es-NI" dirty="0"/>
                        <a:t>05</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spTree>
    <p:extLst>
      <p:ext uri="{BB962C8B-B14F-4D97-AF65-F5344CB8AC3E}">
        <p14:creationId xmlns:p14="http://schemas.microsoft.com/office/powerpoint/2010/main" val="865472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iagrama de red - Bryan Salazar López">
            <a:extLst>
              <a:ext uri="{FF2B5EF4-FFF2-40B4-BE49-F238E27FC236}">
                <a16:creationId xmlns:a16="http://schemas.microsoft.com/office/drawing/2014/main" id="{43E4D81A-9C21-4359-9F77-E9ADCD2E4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275250"/>
            <a:ext cx="10905066" cy="430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a 4">
            <a:extLst>
              <a:ext uri="{FF2B5EF4-FFF2-40B4-BE49-F238E27FC236}">
                <a16:creationId xmlns:a16="http://schemas.microsoft.com/office/drawing/2014/main" id="{968F9D08-5082-4085-B243-1375DF01FD25}"/>
              </a:ext>
            </a:extLst>
          </p:cNvPr>
          <p:cNvGraphicFramePr>
            <a:graphicFrameLocks noGrp="1"/>
          </p:cNvGraphicFramePr>
          <p:nvPr>
            <p:extLst>
              <p:ext uri="{D42A27DB-BD31-4B8C-83A1-F6EECF244321}">
                <p14:modId xmlns:p14="http://schemas.microsoft.com/office/powerpoint/2010/main" val="244085849"/>
              </p:ext>
            </p:extLst>
          </p:nvPr>
        </p:nvGraphicFramePr>
        <p:xfrm>
          <a:off x="7981417" y="533570"/>
          <a:ext cx="3650343" cy="741680"/>
        </p:xfrm>
        <a:graphic>
          <a:graphicData uri="http://schemas.openxmlformats.org/drawingml/2006/table">
            <a:tbl>
              <a:tblPr firstRow="1" bandRow="1">
                <a:tableStyleId>{5C22544A-7EE6-4342-B048-85BDC9FD1C3A}</a:tableStyleId>
              </a:tblPr>
              <a:tblGrid>
                <a:gridCol w="1730103">
                  <a:extLst>
                    <a:ext uri="{9D8B030D-6E8A-4147-A177-3AD203B41FA5}">
                      <a16:colId xmlns:a16="http://schemas.microsoft.com/office/drawing/2014/main" val="4031563130"/>
                    </a:ext>
                  </a:extLst>
                </a:gridCol>
                <a:gridCol w="1920240">
                  <a:extLst>
                    <a:ext uri="{9D8B030D-6E8A-4147-A177-3AD203B41FA5}">
                      <a16:colId xmlns:a16="http://schemas.microsoft.com/office/drawing/2014/main" val="2237093618"/>
                    </a:ext>
                  </a:extLst>
                </a:gridCol>
              </a:tblGrid>
              <a:tr h="370840">
                <a:tc>
                  <a:txBody>
                    <a:bodyPr/>
                    <a:lstStyle/>
                    <a:p>
                      <a:r>
                        <a:rPr lang="es-NI" dirty="0"/>
                        <a:t>Inicio Temprano</a:t>
                      </a:r>
                    </a:p>
                  </a:txBody>
                  <a:tcPr/>
                </a:tc>
                <a:tc>
                  <a:txBody>
                    <a:bodyPr/>
                    <a:lstStyle/>
                    <a:p>
                      <a:r>
                        <a:rPr lang="es-NI" dirty="0"/>
                        <a:t>Fin temprano</a:t>
                      </a:r>
                    </a:p>
                  </a:txBody>
                  <a:tcPr/>
                </a:tc>
                <a:extLst>
                  <a:ext uri="{0D108BD9-81ED-4DB2-BD59-A6C34878D82A}">
                    <a16:rowId xmlns:a16="http://schemas.microsoft.com/office/drawing/2014/main" val="3436060984"/>
                  </a:ext>
                </a:extLst>
              </a:tr>
              <a:tr h="370840">
                <a:tc>
                  <a:txBody>
                    <a:bodyPr/>
                    <a:lstStyle/>
                    <a:p>
                      <a:r>
                        <a:rPr lang="es-NI" dirty="0"/>
                        <a:t>Inicio tardío</a:t>
                      </a:r>
                    </a:p>
                  </a:txBody>
                  <a:tcPr/>
                </a:tc>
                <a:tc>
                  <a:txBody>
                    <a:bodyPr/>
                    <a:lstStyle/>
                    <a:p>
                      <a:r>
                        <a:rPr lang="es-NI" dirty="0"/>
                        <a:t>Fin tardío</a:t>
                      </a:r>
                    </a:p>
                  </a:txBody>
                  <a:tcPr/>
                </a:tc>
                <a:extLst>
                  <a:ext uri="{0D108BD9-81ED-4DB2-BD59-A6C34878D82A}">
                    <a16:rowId xmlns:a16="http://schemas.microsoft.com/office/drawing/2014/main" val="1050811903"/>
                  </a:ext>
                </a:extLst>
              </a:tr>
            </a:tbl>
          </a:graphicData>
        </a:graphic>
      </p:graphicFrame>
      <p:graphicFrame>
        <p:nvGraphicFramePr>
          <p:cNvPr id="11" name="Tabla 4">
            <a:extLst>
              <a:ext uri="{FF2B5EF4-FFF2-40B4-BE49-F238E27FC236}">
                <a16:creationId xmlns:a16="http://schemas.microsoft.com/office/drawing/2014/main" id="{544C0C38-DFD7-4BF3-A018-80D5D3BE3E07}"/>
              </a:ext>
            </a:extLst>
          </p:cNvPr>
          <p:cNvGraphicFramePr>
            <a:graphicFrameLocks noGrp="1"/>
          </p:cNvGraphicFramePr>
          <p:nvPr>
            <p:extLst>
              <p:ext uri="{D42A27DB-BD31-4B8C-83A1-F6EECF244321}">
                <p14:modId xmlns:p14="http://schemas.microsoft.com/office/powerpoint/2010/main" val="465199263"/>
              </p:ext>
            </p:extLst>
          </p:nvPr>
        </p:nvGraphicFramePr>
        <p:xfrm>
          <a:off x="643467" y="1554651"/>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2" name="Tabla 4">
            <a:extLst>
              <a:ext uri="{FF2B5EF4-FFF2-40B4-BE49-F238E27FC236}">
                <a16:creationId xmlns:a16="http://schemas.microsoft.com/office/drawing/2014/main" id="{75EE51BB-09C2-43E7-97E1-50176C7B94D8}"/>
              </a:ext>
            </a:extLst>
          </p:cNvPr>
          <p:cNvGraphicFramePr>
            <a:graphicFrameLocks noGrp="1"/>
          </p:cNvGraphicFramePr>
          <p:nvPr>
            <p:extLst>
              <p:ext uri="{D42A27DB-BD31-4B8C-83A1-F6EECF244321}">
                <p14:modId xmlns:p14="http://schemas.microsoft.com/office/powerpoint/2010/main" val="4292005409"/>
              </p:ext>
            </p:extLst>
          </p:nvPr>
        </p:nvGraphicFramePr>
        <p:xfrm>
          <a:off x="650705" y="441106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3" name="Tabla 4">
            <a:extLst>
              <a:ext uri="{FF2B5EF4-FFF2-40B4-BE49-F238E27FC236}">
                <a16:creationId xmlns:a16="http://schemas.microsoft.com/office/drawing/2014/main" id="{EC697DF2-5BE2-4E57-B0F4-F9E675FEA3C0}"/>
              </a:ext>
            </a:extLst>
          </p:cNvPr>
          <p:cNvGraphicFramePr>
            <a:graphicFrameLocks noGrp="1"/>
          </p:cNvGraphicFramePr>
          <p:nvPr>
            <p:extLst>
              <p:ext uri="{D42A27DB-BD31-4B8C-83A1-F6EECF244321}">
                <p14:modId xmlns:p14="http://schemas.microsoft.com/office/powerpoint/2010/main" val="3250635726"/>
              </p:ext>
            </p:extLst>
          </p:nvPr>
        </p:nvGraphicFramePr>
        <p:xfrm>
          <a:off x="3042679" y="52343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06</a:t>
                      </a:r>
                    </a:p>
                  </a:txBody>
                  <a:tcPr/>
                </a:tc>
                <a:tc>
                  <a:txBody>
                    <a:bodyPr/>
                    <a:lstStyle/>
                    <a:p>
                      <a:r>
                        <a:rPr lang="es-NI" dirty="0"/>
                        <a:t>09</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4" name="Tabla 4">
            <a:extLst>
              <a:ext uri="{FF2B5EF4-FFF2-40B4-BE49-F238E27FC236}">
                <a16:creationId xmlns:a16="http://schemas.microsoft.com/office/drawing/2014/main" id="{490957A0-06AB-4F17-A7D8-F6A4684385DE}"/>
              </a:ext>
            </a:extLst>
          </p:cNvPr>
          <p:cNvGraphicFramePr>
            <a:graphicFrameLocks noGrp="1"/>
          </p:cNvGraphicFramePr>
          <p:nvPr>
            <p:extLst>
              <p:ext uri="{D42A27DB-BD31-4B8C-83A1-F6EECF244321}">
                <p14:modId xmlns:p14="http://schemas.microsoft.com/office/powerpoint/2010/main" val="4084238836"/>
              </p:ext>
            </p:extLst>
          </p:nvPr>
        </p:nvGraphicFramePr>
        <p:xfrm>
          <a:off x="5020020" y="506815"/>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09</a:t>
                      </a:r>
                    </a:p>
                  </a:txBody>
                  <a:tcPr/>
                </a:tc>
                <a:tc>
                  <a:txBody>
                    <a:bodyPr/>
                    <a:lstStyle/>
                    <a:p>
                      <a:r>
                        <a:rPr lang="es-NI" dirty="0"/>
                        <a:t>13</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5" name="Tabla 4">
            <a:extLst>
              <a:ext uri="{FF2B5EF4-FFF2-40B4-BE49-F238E27FC236}">
                <a16:creationId xmlns:a16="http://schemas.microsoft.com/office/drawing/2014/main" id="{483E6A3D-FD67-4A40-924E-EA1F9D6BE276}"/>
              </a:ext>
            </a:extLst>
          </p:cNvPr>
          <p:cNvGraphicFramePr>
            <a:graphicFrameLocks noGrp="1"/>
          </p:cNvGraphicFramePr>
          <p:nvPr>
            <p:extLst>
              <p:ext uri="{D42A27DB-BD31-4B8C-83A1-F6EECF244321}">
                <p14:modId xmlns:p14="http://schemas.microsoft.com/office/powerpoint/2010/main" val="454033022"/>
              </p:ext>
            </p:extLst>
          </p:nvPr>
        </p:nvGraphicFramePr>
        <p:xfrm>
          <a:off x="3093022" y="5244183"/>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02</a:t>
                      </a:r>
                    </a:p>
                  </a:txBody>
                  <a:tcPr/>
                </a:tc>
                <a:tc>
                  <a:txBody>
                    <a:bodyPr/>
                    <a:lstStyle/>
                    <a:p>
                      <a:r>
                        <a:rPr lang="es-NI" dirty="0"/>
                        <a:t>05</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6" name="Tabla 4">
            <a:extLst>
              <a:ext uri="{FF2B5EF4-FFF2-40B4-BE49-F238E27FC236}">
                <a16:creationId xmlns:a16="http://schemas.microsoft.com/office/drawing/2014/main" id="{13D93CF7-3EEA-44BB-887E-B3479F28617C}"/>
              </a:ext>
            </a:extLst>
          </p:cNvPr>
          <p:cNvGraphicFramePr>
            <a:graphicFrameLocks noGrp="1"/>
          </p:cNvGraphicFramePr>
          <p:nvPr>
            <p:extLst>
              <p:ext uri="{D42A27DB-BD31-4B8C-83A1-F6EECF244321}">
                <p14:modId xmlns:p14="http://schemas.microsoft.com/office/powerpoint/2010/main" val="1930234427"/>
              </p:ext>
            </p:extLst>
          </p:nvPr>
        </p:nvGraphicFramePr>
        <p:xfrm>
          <a:off x="4903632" y="5278798"/>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05</a:t>
                      </a:r>
                    </a:p>
                  </a:txBody>
                  <a:tcPr/>
                </a:tc>
                <a:tc>
                  <a:txBody>
                    <a:bodyPr/>
                    <a:lstStyle/>
                    <a:p>
                      <a:r>
                        <a:rPr lang="es-NI" dirty="0"/>
                        <a:t>08</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7" name="Tabla 4">
            <a:extLst>
              <a:ext uri="{FF2B5EF4-FFF2-40B4-BE49-F238E27FC236}">
                <a16:creationId xmlns:a16="http://schemas.microsoft.com/office/drawing/2014/main" id="{F8877448-A6EA-4DE9-8EA3-3F35E5332A0F}"/>
              </a:ext>
            </a:extLst>
          </p:cNvPr>
          <p:cNvGraphicFramePr>
            <a:graphicFrameLocks noGrp="1"/>
          </p:cNvGraphicFramePr>
          <p:nvPr>
            <p:extLst>
              <p:ext uri="{D42A27DB-BD31-4B8C-83A1-F6EECF244321}">
                <p14:modId xmlns:p14="http://schemas.microsoft.com/office/powerpoint/2010/main" val="289204435"/>
              </p:ext>
            </p:extLst>
          </p:nvPr>
        </p:nvGraphicFramePr>
        <p:xfrm>
          <a:off x="5553160" y="232572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13</a:t>
                      </a:r>
                    </a:p>
                  </a:txBody>
                  <a:tcPr/>
                </a:tc>
                <a:tc>
                  <a:txBody>
                    <a:bodyPr/>
                    <a:lstStyle/>
                    <a:p>
                      <a:r>
                        <a:rPr lang="es-NI" dirty="0"/>
                        <a:t>19</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8" name="Tabla 4">
            <a:extLst>
              <a:ext uri="{FF2B5EF4-FFF2-40B4-BE49-F238E27FC236}">
                <a16:creationId xmlns:a16="http://schemas.microsoft.com/office/drawing/2014/main" id="{58721C35-9BB2-48C4-ABF3-B9E7B6AB8062}"/>
              </a:ext>
            </a:extLst>
          </p:cNvPr>
          <p:cNvGraphicFramePr>
            <a:graphicFrameLocks noGrp="1"/>
          </p:cNvGraphicFramePr>
          <p:nvPr>
            <p:extLst>
              <p:ext uri="{D42A27DB-BD31-4B8C-83A1-F6EECF244321}">
                <p14:modId xmlns:p14="http://schemas.microsoft.com/office/powerpoint/2010/main" val="2074634361"/>
              </p:ext>
            </p:extLst>
          </p:nvPr>
        </p:nvGraphicFramePr>
        <p:xfrm>
          <a:off x="5603972" y="366938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08</a:t>
                      </a:r>
                    </a:p>
                  </a:txBody>
                  <a:tcPr/>
                </a:tc>
                <a:tc>
                  <a:txBody>
                    <a:bodyPr/>
                    <a:lstStyle/>
                    <a:p>
                      <a:r>
                        <a:rPr lang="es-NI" dirty="0"/>
                        <a:t>12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9" name="Tabla 4">
            <a:extLst>
              <a:ext uri="{FF2B5EF4-FFF2-40B4-BE49-F238E27FC236}">
                <a16:creationId xmlns:a16="http://schemas.microsoft.com/office/drawing/2014/main" id="{C89DAB0F-92FE-4F15-ABC4-3EA77844498E}"/>
              </a:ext>
            </a:extLst>
          </p:cNvPr>
          <p:cNvGraphicFramePr>
            <a:graphicFrameLocks noGrp="1"/>
          </p:cNvGraphicFramePr>
          <p:nvPr>
            <p:extLst>
              <p:ext uri="{D42A27DB-BD31-4B8C-83A1-F6EECF244321}">
                <p14:modId xmlns:p14="http://schemas.microsoft.com/office/powerpoint/2010/main" val="562695727"/>
              </p:ext>
            </p:extLst>
          </p:nvPr>
        </p:nvGraphicFramePr>
        <p:xfrm>
          <a:off x="8058819" y="2201806"/>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19</a:t>
                      </a:r>
                    </a:p>
                  </a:txBody>
                  <a:tcPr/>
                </a:tc>
                <a:tc>
                  <a:txBody>
                    <a:bodyPr/>
                    <a:lstStyle/>
                    <a:p>
                      <a:r>
                        <a:rPr lang="es-NI" dirty="0"/>
                        <a:t>20</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20" name="Tabla 4">
            <a:extLst>
              <a:ext uri="{FF2B5EF4-FFF2-40B4-BE49-F238E27FC236}">
                <a16:creationId xmlns:a16="http://schemas.microsoft.com/office/drawing/2014/main" id="{07ECB643-CEF0-43DE-80F1-CFACEBED9D78}"/>
              </a:ext>
            </a:extLst>
          </p:cNvPr>
          <p:cNvGraphicFramePr>
            <a:graphicFrameLocks noGrp="1"/>
          </p:cNvGraphicFramePr>
          <p:nvPr>
            <p:extLst>
              <p:ext uri="{D42A27DB-BD31-4B8C-83A1-F6EECF244321}">
                <p14:modId xmlns:p14="http://schemas.microsoft.com/office/powerpoint/2010/main" val="424163307"/>
              </p:ext>
            </p:extLst>
          </p:nvPr>
        </p:nvGraphicFramePr>
        <p:xfrm>
          <a:off x="9584226" y="2016930"/>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sp>
        <p:nvSpPr>
          <p:cNvPr id="31" name="Rectángulo 30">
            <a:extLst>
              <a:ext uri="{FF2B5EF4-FFF2-40B4-BE49-F238E27FC236}">
                <a16:creationId xmlns:a16="http://schemas.microsoft.com/office/drawing/2014/main" id="{4680B12B-0AA2-4250-A366-9B22C9BE3F5B}"/>
              </a:ext>
            </a:extLst>
          </p:cNvPr>
          <p:cNvSpPr/>
          <p:nvPr/>
        </p:nvSpPr>
        <p:spPr>
          <a:xfrm>
            <a:off x="6988564" y="4411062"/>
            <a:ext cx="4625842" cy="1631216"/>
          </a:xfrm>
          <a:prstGeom prst="rect">
            <a:avLst/>
          </a:prstGeom>
          <a:noFill/>
        </p:spPr>
        <p:txBody>
          <a:bodyPr wrap="square" lIns="91440" tIns="45720" rIns="91440" bIns="45720">
            <a:spAutoFit/>
          </a:bodyPr>
          <a:lstStyle/>
          <a:p>
            <a:pPr algn="ctr"/>
            <a:r>
              <a:rPr lang="es-ES" sz="2000" dirty="0">
                <a:ln w="0"/>
                <a:effectLst>
                  <a:outerShdw blurRad="38100" dist="19050" dir="2700000" algn="tl" rotWithShape="0">
                    <a:schemeClr val="dk1">
                      <a:alpha val="40000"/>
                    </a:schemeClr>
                  </a:outerShdw>
                </a:effectLst>
              </a:rPr>
              <a:t>En el caso de la tare “I” tiene dos inicios tempranos de dónde elegir, cuando vamos de izquierda a derecha se elije el mayor, si vamos de derecha a izquierda se elije el menor</a:t>
            </a:r>
            <a:endParaRPr lang="es-E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60556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iagrama de red - Bryan Salazar López">
            <a:extLst>
              <a:ext uri="{FF2B5EF4-FFF2-40B4-BE49-F238E27FC236}">
                <a16:creationId xmlns:a16="http://schemas.microsoft.com/office/drawing/2014/main" id="{43E4D81A-9C21-4359-9F77-E9ADCD2E4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275250"/>
            <a:ext cx="10905066" cy="430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a 4">
            <a:extLst>
              <a:ext uri="{FF2B5EF4-FFF2-40B4-BE49-F238E27FC236}">
                <a16:creationId xmlns:a16="http://schemas.microsoft.com/office/drawing/2014/main" id="{968F9D08-5082-4085-B243-1375DF01FD25}"/>
              </a:ext>
            </a:extLst>
          </p:cNvPr>
          <p:cNvGraphicFramePr>
            <a:graphicFrameLocks noGrp="1"/>
          </p:cNvGraphicFramePr>
          <p:nvPr/>
        </p:nvGraphicFramePr>
        <p:xfrm>
          <a:off x="7981417" y="533570"/>
          <a:ext cx="3650343" cy="741680"/>
        </p:xfrm>
        <a:graphic>
          <a:graphicData uri="http://schemas.openxmlformats.org/drawingml/2006/table">
            <a:tbl>
              <a:tblPr firstRow="1" bandRow="1">
                <a:tableStyleId>{5C22544A-7EE6-4342-B048-85BDC9FD1C3A}</a:tableStyleId>
              </a:tblPr>
              <a:tblGrid>
                <a:gridCol w="1730103">
                  <a:extLst>
                    <a:ext uri="{9D8B030D-6E8A-4147-A177-3AD203B41FA5}">
                      <a16:colId xmlns:a16="http://schemas.microsoft.com/office/drawing/2014/main" val="4031563130"/>
                    </a:ext>
                  </a:extLst>
                </a:gridCol>
                <a:gridCol w="1920240">
                  <a:extLst>
                    <a:ext uri="{9D8B030D-6E8A-4147-A177-3AD203B41FA5}">
                      <a16:colId xmlns:a16="http://schemas.microsoft.com/office/drawing/2014/main" val="2237093618"/>
                    </a:ext>
                  </a:extLst>
                </a:gridCol>
              </a:tblGrid>
              <a:tr h="370840">
                <a:tc>
                  <a:txBody>
                    <a:bodyPr/>
                    <a:lstStyle/>
                    <a:p>
                      <a:r>
                        <a:rPr lang="es-NI" dirty="0"/>
                        <a:t>Inicio Temprano</a:t>
                      </a:r>
                    </a:p>
                  </a:txBody>
                  <a:tcPr/>
                </a:tc>
                <a:tc>
                  <a:txBody>
                    <a:bodyPr/>
                    <a:lstStyle/>
                    <a:p>
                      <a:r>
                        <a:rPr lang="es-NI" dirty="0"/>
                        <a:t>Fin temprano</a:t>
                      </a:r>
                    </a:p>
                  </a:txBody>
                  <a:tcPr/>
                </a:tc>
                <a:extLst>
                  <a:ext uri="{0D108BD9-81ED-4DB2-BD59-A6C34878D82A}">
                    <a16:rowId xmlns:a16="http://schemas.microsoft.com/office/drawing/2014/main" val="3436060984"/>
                  </a:ext>
                </a:extLst>
              </a:tr>
              <a:tr h="370840">
                <a:tc>
                  <a:txBody>
                    <a:bodyPr/>
                    <a:lstStyle/>
                    <a:p>
                      <a:r>
                        <a:rPr lang="es-NI" dirty="0"/>
                        <a:t>Inicio tardío</a:t>
                      </a:r>
                    </a:p>
                  </a:txBody>
                  <a:tcPr/>
                </a:tc>
                <a:tc>
                  <a:txBody>
                    <a:bodyPr/>
                    <a:lstStyle/>
                    <a:p>
                      <a:r>
                        <a:rPr lang="es-NI" dirty="0"/>
                        <a:t>Fin tardío</a:t>
                      </a:r>
                    </a:p>
                  </a:txBody>
                  <a:tcPr/>
                </a:tc>
                <a:extLst>
                  <a:ext uri="{0D108BD9-81ED-4DB2-BD59-A6C34878D82A}">
                    <a16:rowId xmlns:a16="http://schemas.microsoft.com/office/drawing/2014/main" val="1050811903"/>
                  </a:ext>
                </a:extLst>
              </a:tr>
            </a:tbl>
          </a:graphicData>
        </a:graphic>
      </p:graphicFrame>
      <p:graphicFrame>
        <p:nvGraphicFramePr>
          <p:cNvPr id="11" name="Tabla 4">
            <a:extLst>
              <a:ext uri="{FF2B5EF4-FFF2-40B4-BE49-F238E27FC236}">
                <a16:creationId xmlns:a16="http://schemas.microsoft.com/office/drawing/2014/main" id="{544C0C38-DFD7-4BF3-A018-80D5D3BE3E07}"/>
              </a:ext>
            </a:extLst>
          </p:cNvPr>
          <p:cNvGraphicFramePr>
            <a:graphicFrameLocks noGrp="1"/>
          </p:cNvGraphicFramePr>
          <p:nvPr/>
        </p:nvGraphicFramePr>
        <p:xfrm>
          <a:off x="643467" y="1554651"/>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2" name="Tabla 4">
            <a:extLst>
              <a:ext uri="{FF2B5EF4-FFF2-40B4-BE49-F238E27FC236}">
                <a16:creationId xmlns:a16="http://schemas.microsoft.com/office/drawing/2014/main" id="{75EE51BB-09C2-43E7-97E1-50176C7B94D8}"/>
              </a:ext>
            </a:extLst>
          </p:cNvPr>
          <p:cNvGraphicFramePr>
            <a:graphicFrameLocks noGrp="1"/>
          </p:cNvGraphicFramePr>
          <p:nvPr/>
        </p:nvGraphicFramePr>
        <p:xfrm>
          <a:off x="650705" y="441106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3" name="Tabla 4">
            <a:extLst>
              <a:ext uri="{FF2B5EF4-FFF2-40B4-BE49-F238E27FC236}">
                <a16:creationId xmlns:a16="http://schemas.microsoft.com/office/drawing/2014/main" id="{EC697DF2-5BE2-4E57-B0F4-F9E675FEA3C0}"/>
              </a:ext>
            </a:extLst>
          </p:cNvPr>
          <p:cNvGraphicFramePr>
            <a:graphicFrameLocks noGrp="1"/>
          </p:cNvGraphicFramePr>
          <p:nvPr/>
        </p:nvGraphicFramePr>
        <p:xfrm>
          <a:off x="3042679" y="52343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06</a:t>
                      </a:r>
                    </a:p>
                  </a:txBody>
                  <a:tcPr/>
                </a:tc>
                <a:tc>
                  <a:txBody>
                    <a:bodyPr/>
                    <a:lstStyle/>
                    <a:p>
                      <a:r>
                        <a:rPr lang="es-NI" dirty="0"/>
                        <a:t>09</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4" name="Tabla 4">
            <a:extLst>
              <a:ext uri="{FF2B5EF4-FFF2-40B4-BE49-F238E27FC236}">
                <a16:creationId xmlns:a16="http://schemas.microsoft.com/office/drawing/2014/main" id="{490957A0-06AB-4F17-A7D8-F6A4684385DE}"/>
              </a:ext>
            </a:extLst>
          </p:cNvPr>
          <p:cNvGraphicFramePr>
            <a:graphicFrameLocks noGrp="1"/>
          </p:cNvGraphicFramePr>
          <p:nvPr>
            <p:extLst>
              <p:ext uri="{D42A27DB-BD31-4B8C-83A1-F6EECF244321}">
                <p14:modId xmlns:p14="http://schemas.microsoft.com/office/powerpoint/2010/main" val="2704571335"/>
              </p:ext>
            </p:extLst>
          </p:nvPr>
        </p:nvGraphicFramePr>
        <p:xfrm>
          <a:off x="5020020" y="506815"/>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09</a:t>
                      </a:r>
                    </a:p>
                  </a:txBody>
                  <a:tcPr/>
                </a:tc>
                <a:tc>
                  <a:txBody>
                    <a:bodyPr/>
                    <a:lstStyle/>
                    <a:p>
                      <a:r>
                        <a:rPr lang="es-NI" dirty="0"/>
                        <a:t>13</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5" name="Tabla 4">
            <a:extLst>
              <a:ext uri="{FF2B5EF4-FFF2-40B4-BE49-F238E27FC236}">
                <a16:creationId xmlns:a16="http://schemas.microsoft.com/office/drawing/2014/main" id="{483E6A3D-FD67-4A40-924E-EA1F9D6BE276}"/>
              </a:ext>
            </a:extLst>
          </p:cNvPr>
          <p:cNvGraphicFramePr>
            <a:graphicFrameLocks noGrp="1"/>
          </p:cNvGraphicFramePr>
          <p:nvPr/>
        </p:nvGraphicFramePr>
        <p:xfrm>
          <a:off x="3093022" y="5244183"/>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02</a:t>
                      </a:r>
                    </a:p>
                  </a:txBody>
                  <a:tcPr/>
                </a:tc>
                <a:tc>
                  <a:txBody>
                    <a:bodyPr/>
                    <a:lstStyle/>
                    <a:p>
                      <a:r>
                        <a:rPr lang="es-NI" dirty="0"/>
                        <a:t>05</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6" name="Tabla 4">
            <a:extLst>
              <a:ext uri="{FF2B5EF4-FFF2-40B4-BE49-F238E27FC236}">
                <a16:creationId xmlns:a16="http://schemas.microsoft.com/office/drawing/2014/main" id="{13D93CF7-3EEA-44BB-887E-B3479F28617C}"/>
              </a:ext>
            </a:extLst>
          </p:cNvPr>
          <p:cNvGraphicFramePr>
            <a:graphicFrameLocks noGrp="1"/>
          </p:cNvGraphicFramePr>
          <p:nvPr/>
        </p:nvGraphicFramePr>
        <p:xfrm>
          <a:off x="4903632" y="5278798"/>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05</a:t>
                      </a:r>
                    </a:p>
                  </a:txBody>
                  <a:tcPr/>
                </a:tc>
                <a:tc>
                  <a:txBody>
                    <a:bodyPr/>
                    <a:lstStyle/>
                    <a:p>
                      <a:r>
                        <a:rPr lang="es-NI" dirty="0"/>
                        <a:t>08</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7" name="Tabla 4">
            <a:extLst>
              <a:ext uri="{FF2B5EF4-FFF2-40B4-BE49-F238E27FC236}">
                <a16:creationId xmlns:a16="http://schemas.microsoft.com/office/drawing/2014/main" id="{F8877448-A6EA-4DE9-8EA3-3F35E5332A0F}"/>
              </a:ext>
            </a:extLst>
          </p:cNvPr>
          <p:cNvGraphicFramePr>
            <a:graphicFrameLocks noGrp="1"/>
          </p:cNvGraphicFramePr>
          <p:nvPr/>
        </p:nvGraphicFramePr>
        <p:xfrm>
          <a:off x="5553160" y="232572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13</a:t>
                      </a:r>
                    </a:p>
                  </a:txBody>
                  <a:tcPr/>
                </a:tc>
                <a:tc>
                  <a:txBody>
                    <a:bodyPr/>
                    <a:lstStyle/>
                    <a:p>
                      <a:r>
                        <a:rPr lang="es-NI" dirty="0"/>
                        <a:t>19</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8" name="Tabla 4">
            <a:extLst>
              <a:ext uri="{FF2B5EF4-FFF2-40B4-BE49-F238E27FC236}">
                <a16:creationId xmlns:a16="http://schemas.microsoft.com/office/drawing/2014/main" id="{58721C35-9BB2-48C4-ABF3-B9E7B6AB8062}"/>
              </a:ext>
            </a:extLst>
          </p:cNvPr>
          <p:cNvGraphicFramePr>
            <a:graphicFrameLocks noGrp="1"/>
          </p:cNvGraphicFramePr>
          <p:nvPr/>
        </p:nvGraphicFramePr>
        <p:xfrm>
          <a:off x="5603972" y="366938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08</a:t>
                      </a:r>
                    </a:p>
                  </a:txBody>
                  <a:tcPr/>
                </a:tc>
                <a:tc>
                  <a:txBody>
                    <a:bodyPr/>
                    <a:lstStyle/>
                    <a:p>
                      <a:r>
                        <a:rPr lang="es-NI" dirty="0"/>
                        <a:t>12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9" name="Tabla 4">
            <a:extLst>
              <a:ext uri="{FF2B5EF4-FFF2-40B4-BE49-F238E27FC236}">
                <a16:creationId xmlns:a16="http://schemas.microsoft.com/office/drawing/2014/main" id="{C89DAB0F-92FE-4F15-ABC4-3EA77844498E}"/>
              </a:ext>
            </a:extLst>
          </p:cNvPr>
          <p:cNvGraphicFramePr>
            <a:graphicFrameLocks noGrp="1"/>
          </p:cNvGraphicFramePr>
          <p:nvPr/>
        </p:nvGraphicFramePr>
        <p:xfrm>
          <a:off x="8058819" y="2201806"/>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19</a:t>
                      </a:r>
                    </a:p>
                  </a:txBody>
                  <a:tcPr/>
                </a:tc>
                <a:tc>
                  <a:txBody>
                    <a:bodyPr/>
                    <a:lstStyle/>
                    <a:p>
                      <a:r>
                        <a:rPr lang="es-NI" dirty="0"/>
                        <a:t>20</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20" name="Tabla 4">
            <a:extLst>
              <a:ext uri="{FF2B5EF4-FFF2-40B4-BE49-F238E27FC236}">
                <a16:creationId xmlns:a16="http://schemas.microsoft.com/office/drawing/2014/main" id="{07ECB643-CEF0-43DE-80F1-CFACEBED9D78}"/>
              </a:ext>
            </a:extLst>
          </p:cNvPr>
          <p:cNvGraphicFramePr>
            <a:graphicFrameLocks noGrp="1"/>
          </p:cNvGraphicFramePr>
          <p:nvPr>
            <p:extLst>
              <p:ext uri="{D42A27DB-BD31-4B8C-83A1-F6EECF244321}">
                <p14:modId xmlns:p14="http://schemas.microsoft.com/office/powerpoint/2010/main" val="2155553757"/>
              </p:ext>
            </p:extLst>
          </p:nvPr>
        </p:nvGraphicFramePr>
        <p:xfrm>
          <a:off x="9584226" y="2016930"/>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3436060984"/>
                  </a:ext>
                </a:extLst>
              </a:tr>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1050811903"/>
                  </a:ext>
                </a:extLst>
              </a:tr>
            </a:tbl>
          </a:graphicData>
        </a:graphic>
      </p:graphicFrame>
      <p:sp>
        <p:nvSpPr>
          <p:cNvPr id="31" name="Rectángulo 30">
            <a:extLst>
              <a:ext uri="{FF2B5EF4-FFF2-40B4-BE49-F238E27FC236}">
                <a16:creationId xmlns:a16="http://schemas.microsoft.com/office/drawing/2014/main" id="{4680B12B-0AA2-4250-A366-9B22C9BE3F5B}"/>
              </a:ext>
            </a:extLst>
          </p:cNvPr>
          <p:cNvSpPr/>
          <p:nvPr/>
        </p:nvSpPr>
        <p:spPr>
          <a:xfrm>
            <a:off x="6988564" y="4411062"/>
            <a:ext cx="4625842" cy="1938992"/>
          </a:xfrm>
          <a:prstGeom prst="rect">
            <a:avLst/>
          </a:prstGeom>
          <a:noFill/>
        </p:spPr>
        <p:txBody>
          <a:bodyPr wrap="square" lIns="91440" tIns="45720" rIns="91440" bIns="45720">
            <a:spAutoFit/>
          </a:bodyPr>
          <a:lstStyle/>
          <a:p>
            <a:pPr algn="ctr"/>
            <a:r>
              <a:rPr lang="es-ES" sz="2000" dirty="0">
                <a:ln w="0"/>
                <a:effectLst>
                  <a:outerShdw blurRad="38100" dist="19050" dir="2700000" algn="tl" rotWithShape="0">
                    <a:schemeClr val="dk1">
                      <a:alpha val="40000"/>
                    </a:schemeClr>
                  </a:outerShdw>
                </a:effectLst>
              </a:rPr>
              <a:t>Ahora calculamos el fin tardío e inicio tardío, iniciamos por la derecha colocando el primer fin tardío igual al fin temprano correspondiente y para calcular el primer inicio tardío se le resta el tiempo de la tarea</a:t>
            </a:r>
            <a:endParaRPr lang="es-E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52879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iagrama de red - Bryan Salazar López">
            <a:extLst>
              <a:ext uri="{FF2B5EF4-FFF2-40B4-BE49-F238E27FC236}">
                <a16:creationId xmlns:a16="http://schemas.microsoft.com/office/drawing/2014/main" id="{43E4D81A-9C21-4359-9F77-E9ADCD2E4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275250"/>
            <a:ext cx="10905066" cy="430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a 4">
            <a:extLst>
              <a:ext uri="{FF2B5EF4-FFF2-40B4-BE49-F238E27FC236}">
                <a16:creationId xmlns:a16="http://schemas.microsoft.com/office/drawing/2014/main" id="{968F9D08-5082-4085-B243-1375DF01FD25}"/>
              </a:ext>
            </a:extLst>
          </p:cNvPr>
          <p:cNvGraphicFramePr>
            <a:graphicFrameLocks noGrp="1"/>
          </p:cNvGraphicFramePr>
          <p:nvPr/>
        </p:nvGraphicFramePr>
        <p:xfrm>
          <a:off x="7981417" y="533570"/>
          <a:ext cx="3650343" cy="741680"/>
        </p:xfrm>
        <a:graphic>
          <a:graphicData uri="http://schemas.openxmlformats.org/drawingml/2006/table">
            <a:tbl>
              <a:tblPr firstRow="1" bandRow="1">
                <a:tableStyleId>{5C22544A-7EE6-4342-B048-85BDC9FD1C3A}</a:tableStyleId>
              </a:tblPr>
              <a:tblGrid>
                <a:gridCol w="1730103">
                  <a:extLst>
                    <a:ext uri="{9D8B030D-6E8A-4147-A177-3AD203B41FA5}">
                      <a16:colId xmlns:a16="http://schemas.microsoft.com/office/drawing/2014/main" val="4031563130"/>
                    </a:ext>
                  </a:extLst>
                </a:gridCol>
                <a:gridCol w="1920240">
                  <a:extLst>
                    <a:ext uri="{9D8B030D-6E8A-4147-A177-3AD203B41FA5}">
                      <a16:colId xmlns:a16="http://schemas.microsoft.com/office/drawing/2014/main" val="2237093618"/>
                    </a:ext>
                  </a:extLst>
                </a:gridCol>
              </a:tblGrid>
              <a:tr h="370840">
                <a:tc>
                  <a:txBody>
                    <a:bodyPr/>
                    <a:lstStyle/>
                    <a:p>
                      <a:r>
                        <a:rPr lang="es-NI" dirty="0"/>
                        <a:t>Inicio Temprano</a:t>
                      </a:r>
                    </a:p>
                  </a:txBody>
                  <a:tcPr/>
                </a:tc>
                <a:tc>
                  <a:txBody>
                    <a:bodyPr/>
                    <a:lstStyle/>
                    <a:p>
                      <a:r>
                        <a:rPr lang="es-NI" dirty="0"/>
                        <a:t>Fin temprano</a:t>
                      </a:r>
                    </a:p>
                  </a:txBody>
                  <a:tcPr/>
                </a:tc>
                <a:extLst>
                  <a:ext uri="{0D108BD9-81ED-4DB2-BD59-A6C34878D82A}">
                    <a16:rowId xmlns:a16="http://schemas.microsoft.com/office/drawing/2014/main" val="3436060984"/>
                  </a:ext>
                </a:extLst>
              </a:tr>
              <a:tr h="370840">
                <a:tc>
                  <a:txBody>
                    <a:bodyPr/>
                    <a:lstStyle/>
                    <a:p>
                      <a:r>
                        <a:rPr lang="es-NI" dirty="0"/>
                        <a:t>Inicio tardío</a:t>
                      </a:r>
                    </a:p>
                  </a:txBody>
                  <a:tcPr/>
                </a:tc>
                <a:tc>
                  <a:txBody>
                    <a:bodyPr/>
                    <a:lstStyle/>
                    <a:p>
                      <a:r>
                        <a:rPr lang="es-NI" dirty="0"/>
                        <a:t>Fin tardío</a:t>
                      </a:r>
                    </a:p>
                  </a:txBody>
                  <a:tcPr/>
                </a:tc>
                <a:extLst>
                  <a:ext uri="{0D108BD9-81ED-4DB2-BD59-A6C34878D82A}">
                    <a16:rowId xmlns:a16="http://schemas.microsoft.com/office/drawing/2014/main" val="1050811903"/>
                  </a:ext>
                </a:extLst>
              </a:tr>
            </a:tbl>
          </a:graphicData>
        </a:graphic>
      </p:graphicFrame>
      <p:graphicFrame>
        <p:nvGraphicFramePr>
          <p:cNvPr id="11" name="Tabla 4">
            <a:extLst>
              <a:ext uri="{FF2B5EF4-FFF2-40B4-BE49-F238E27FC236}">
                <a16:creationId xmlns:a16="http://schemas.microsoft.com/office/drawing/2014/main" id="{544C0C38-DFD7-4BF3-A018-80D5D3BE3E07}"/>
              </a:ext>
            </a:extLst>
          </p:cNvPr>
          <p:cNvGraphicFramePr>
            <a:graphicFrameLocks noGrp="1"/>
          </p:cNvGraphicFramePr>
          <p:nvPr/>
        </p:nvGraphicFramePr>
        <p:xfrm>
          <a:off x="643467" y="1554651"/>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2" name="Tabla 4">
            <a:extLst>
              <a:ext uri="{FF2B5EF4-FFF2-40B4-BE49-F238E27FC236}">
                <a16:creationId xmlns:a16="http://schemas.microsoft.com/office/drawing/2014/main" id="{75EE51BB-09C2-43E7-97E1-50176C7B94D8}"/>
              </a:ext>
            </a:extLst>
          </p:cNvPr>
          <p:cNvGraphicFramePr>
            <a:graphicFrameLocks noGrp="1"/>
          </p:cNvGraphicFramePr>
          <p:nvPr/>
        </p:nvGraphicFramePr>
        <p:xfrm>
          <a:off x="650705" y="441106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3" name="Tabla 4">
            <a:extLst>
              <a:ext uri="{FF2B5EF4-FFF2-40B4-BE49-F238E27FC236}">
                <a16:creationId xmlns:a16="http://schemas.microsoft.com/office/drawing/2014/main" id="{EC697DF2-5BE2-4E57-B0F4-F9E675FEA3C0}"/>
              </a:ext>
            </a:extLst>
          </p:cNvPr>
          <p:cNvGraphicFramePr>
            <a:graphicFrameLocks noGrp="1"/>
          </p:cNvGraphicFramePr>
          <p:nvPr/>
        </p:nvGraphicFramePr>
        <p:xfrm>
          <a:off x="3042679" y="52343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06</a:t>
                      </a:r>
                    </a:p>
                  </a:txBody>
                  <a:tcPr/>
                </a:tc>
                <a:tc>
                  <a:txBody>
                    <a:bodyPr/>
                    <a:lstStyle/>
                    <a:p>
                      <a:r>
                        <a:rPr lang="es-NI" dirty="0"/>
                        <a:t>09</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4" name="Tabla 4">
            <a:extLst>
              <a:ext uri="{FF2B5EF4-FFF2-40B4-BE49-F238E27FC236}">
                <a16:creationId xmlns:a16="http://schemas.microsoft.com/office/drawing/2014/main" id="{490957A0-06AB-4F17-A7D8-F6A4684385DE}"/>
              </a:ext>
            </a:extLst>
          </p:cNvPr>
          <p:cNvGraphicFramePr>
            <a:graphicFrameLocks noGrp="1"/>
          </p:cNvGraphicFramePr>
          <p:nvPr>
            <p:extLst>
              <p:ext uri="{D42A27DB-BD31-4B8C-83A1-F6EECF244321}">
                <p14:modId xmlns:p14="http://schemas.microsoft.com/office/powerpoint/2010/main" val="817647564"/>
              </p:ext>
            </p:extLst>
          </p:nvPr>
        </p:nvGraphicFramePr>
        <p:xfrm>
          <a:off x="5020020" y="506815"/>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09</a:t>
                      </a:r>
                    </a:p>
                  </a:txBody>
                  <a:tcPr/>
                </a:tc>
                <a:tc>
                  <a:txBody>
                    <a:bodyPr/>
                    <a:lstStyle/>
                    <a:p>
                      <a:r>
                        <a:rPr lang="es-NI" dirty="0"/>
                        <a:t>13</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5" name="Tabla 4">
            <a:extLst>
              <a:ext uri="{FF2B5EF4-FFF2-40B4-BE49-F238E27FC236}">
                <a16:creationId xmlns:a16="http://schemas.microsoft.com/office/drawing/2014/main" id="{483E6A3D-FD67-4A40-924E-EA1F9D6BE276}"/>
              </a:ext>
            </a:extLst>
          </p:cNvPr>
          <p:cNvGraphicFramePr>
            <a:graphicFrameLocks noGrp="1"/>
          </p:cNvGraphicFramePr>
          <p:nvPr/>
        </p:nvGraphicFramePr>
        <p:xfrm>
          <a:off x="3093022" y="5244183"/>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02</a:t>
                      </a:r>
                    </a:p>
                  </a:txBody>
                  <a:tcPr/>
                </a:tc>
                <a:tc>
                  <a:txBody>
                    <a:bodyPr/>
                    <a:lstStyle/>
                    <a:p>
                      <a:r>
                        <a:rPr lang="es-NI" dirty="0"/>
                        <a:t>05</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6" name="Tabla 4">
            <a:extLst>
              <a:ext uri="{FF2B5EF4-FFF2-40B4-BE49-F238E27FC236}">
                <a16:creationId xmlns:a16="http://schemas.microsoft.com/office/drawing/2014/main" id="{13D93CF7-3EEA-44BB-887E-B3479F28617C}"/>
              </a:ext>
            </a:extLst>
          </p:cNvPr>
          <p:cNvGraphicFramePr>
            <a:graphicFrameLocks noGrp="1"/>
          </p:cNvGraphicFramePr>
          <p:nvPr/>
        </p:nvGraphicFramePr>
        <p:xfrm>
          <a:off x="4903632" y="5278798"/>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05</a:t>
                      </a:r>
                    </a:p>
                  </a:txBody>
                  <a:tcPr/>
                </a:tc>
                <a:tc>
                  <a:txBody>
                    <a:bodyPr/>
                    <a:lstStyle/>
                    <a:p>
                      <a:r>
                        <a:rPr lang="es-NI" dirty="0"/>
                        <a:t>08</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7" name="Tabla 4">
            <a:extLst>
              <a:ext uri="{FF2B5EF4-FFF2-40B4-BE49-F238E27FC236}">
                <a16:creationId xmlns:a16="http://schemas.microsoft.com/office/drawing/2014/main" id="{F8877448-A6EA-4DE9-8EA3-3F35E5332A0F}"/>
              </a:ext>
            </a:extLst>
          </p:cNvPr>
          <p:cNvGraphicFramePr>
            <a:graphicFrameLocks noGrp="1"/>
          </p:cNvGraphicFramePr>
          <p:nvPr/>
        </p:nvGraphicFramePr>
        <p:xfrm>
          <a:off x="5553160" y="232572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13</a:t>
                      </a:r>
                    </a:p>
                  </a:txBody>
                  <a:tcPr/>
                </a:tc>
                <a:tc>
                  <a:txBody>
                    <a:bodyPr/>
                    <a:lstStyle/>
                    <a:p>
                      <a:r>
                        <a:rPr lang="es-NI" dirty="0"/>
                        <a:t>19</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8" name="Tabla 4">
            <a:extLst>
              <a:ext uri="{FF2B5EF4-FFF2-40B4-BE49-F238E27FC236}">
                <a16:creationId xmlns:a16="http://schemas.microsoft.com/office/drawing/2014/main" id="{58721C35-9BB2-48C4-ABF3-B9E7B6AB8062}"/>
              </a:ext>
            </a:extLst>
          </p:cNvPr>
          <p:cNvGraphicFramePr>
            <a:graphicFrameLocks noGrp="1"/>
          </p:cNvGraphicFramePr>
          <p:nvPr/>
        </p:nvGraphicFramePr>
        <p:xfrm>
          <a:off x="5603972" y="366938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08</a:t>
                      </a:r>
                    </a:p>
                  </a:txBody>
                  <a:tcPr/>
                </a:tc>
                <a:tc>
                  <a:txBody>
                    <a:bodyPr/>
                    <a:lstStyle/>
                    <a:p>
                      <a:r>
                        <a:rPr lang="es-NI" dirty="0"/>
                        <a:t>12</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00</a:t>
                      </a:r>
                    </a:p>
                  </a:txBody>
                  <a:tcPr/>
                </a:tc>
                <a:extLst>
                  <a:ext uri="{0D108BD9-81ED-4DB2-BD59-A6C34878D82A}">
                    <a16:rowId xmlns:a16="http://schemas.microsoft.com/office/drawing/2014/main" val="1050811903"/>
                  </a:ext>
                </a:extLst>
              </a:tr>
            </a:tbl>
          </a:graphicData>
        </a:graphic>
      </p:graphicFrame>
      <p:graphicFrame>
        <p:nvGraphicFramePr>
          <p:cNvPr id="19" name="Tabla 4">
            <a:extLst>
              <a:ext uri="{FF2B5EF4-FFF2-40B4-BE49-F238E27FC236}">
                <a16:creationId xmlns:a16="http://schemas.microsoft.com/office/drawing/2014/main" id="{C89DAB0F-92FE-4F15-ABC4-3EA77844498E}"/>
              </a:ext>
            </a:extLst>
          </p:cNvPr>
          <p:cNvGraphicFramePr>
            <a:graphicFrameLocks noGrp="1"/>
          </p:cNvGraphicFramePr>
          <p:nvPr>
            <p:extLst>
              <p:ext uri="{D42A27DB-BD31-4B8C-83A1-F6EECF244321}">
                <p14:modId xmlns:p14="http://schemas.microsoft.com/office/powerpoint/2010/main" val="958619094"/>
              </p:ext>
            </p:extLst>
          </p:nvPr>
        </p:nvGraphicFramePr>
        <p:xfrm>
          <a:off x="8058819" y="2201806"/>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19</a:t>
                      </a:r>
                    </a:p>
                  </a:txBody>
                  <a:tcPr/>
                </a:tc>
                <a:tc>
                  <a:txBody>
                    <a:bodyPr/>
                    <a:lstStyle/>
                    <a:p>
                      <a:r>
                        <a:rPr lang="es-NI" dirty="0"/>
                        <a:t>20</a:t>
                      </a:r>
                    </a:p>
                  </a:txBody>
                  <a:tcPr/>
                </a:tc>
                <a:extLst>
                  <a:ext uri="{0D108BD9-81ED-4DB2-BD59-A6C34878D82A}">
                    <a16:rowId xmlns:a16="http://schemas.microsoft.com/office/drawing/2014/main" val="3436060984"/>
                  </a:ext>
                </a:extLst>
              </a:tr>
              <a:tr h="370840">
                <a:tc>
                  <a:txBody>
                    <a:bodyPr/>
                    <a:lstStyle/>
                    <a:p>
                      <a:r>
                        <a:rPr lang="es-NI" dirty="0"/>
                        <a:t>19</a:t>
                      </a:r>
                    </a:p>
                  </a:txBody>
                  <a:tcPr/>
                </a:tc>
                <a:tc>
                  <a:txBody>
                    <a:bodyPr/>
                    <a:lstStyle/>
                    <a:p>
                      <a:r>
                        <a:rPr lang="es-NI" dirty="0"/>
                        <a:t>20</a:t>
                      </a:r>
                    </a:p>
                  </a:txBody>
                  <a:tcPr/>
                </a:tc>
                <a:extLst>
                  <a:ext uri="{0D108BD9-81ED-4DB2-BD59-A6C34878D82A}">
                    <a16:rowId xmlns:a16="http://schemas.microsoft.com/office/drawing/2014/main" val="1050811903"/>
                  </a:ext>
                </a:extLst>
              </a:tr>
            </a:tbl>
          </a:graphicData>
        </a:graphic>
      </p:graphicFrame>
      <p:graphicFrame>
        <p:nvGraphicFramePr>
          <p:cNvPr id="20" name="Tabla 4">
            <a:extLst>
              <a:ext uri="{FF2B5EF4-FFF2-40B4-BE49-F238E27FC236}">
                <a16:creationId xmlns:a16="http://schemas.microsoft.com/office/drawing/2014/main" id="{07ECB643-CEF0-43DE-80F1-CFACEBED9D78}"/>
              </a:ext>
            </a:extLst>
          </p:cNvPr>
          <p:cNvGraphicFramePr>
            <a:graphicFrameLocks noGrp="1"/>
          </p:cNvGraphicFramePr>
          <p:nvPr/>
        </p:nvGraphicFramePr>
        <p:xfrm>
          <a:off x="9584226" y="2016930"/>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3436060984"/>
                  </a:ext>
                </a:extLst>
              </a:tr>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1050811903"/>
                  </a:ext>
                </a:extLst>
              </a:tr>
            </a:tbl>
          </a:graphicData>
        </a:graphic>
      </p:graphicFrame>
      <p:sp>
        <p:nvSpPr>
          <p:cNvPr id="31" name="Rectángulo 30">
            <a:extLst>
              <a:ext uri="{FF2B5EF4-FFF2-40B4-BE49-F238E27FC236}">
                <a16:creationId xmlns:a16="http://schemas.microsoft.com/office/drawing/2014/main" id="{4680B12B-0AA2-4250-A366-9B22C9BE3F5B}"/>
              </a:ext>
            </a:extLst>
          </p:cNvPr>
          <p:cNvSpPr/>
          <p:nvPr/>
        </p:nvSpPr>
        <p:spPr>
          <a:xfrm>
            <a:off x="6988564" y="4411062"/>
            <a:ext cx="4625842" cy="1938992"/>
          </a:xfrm>
          <a:prstGeom prst="rect">
            <a:avLst/>
          </a:prstGeom>
          <a:noFill/>
        </p:spPr>
        <p:txBody>
          <a:bodyPr wrap="square" lIns="91440" tIns="45720" rIns="91440" bIns="45720">
            <a:spAutoFit/>
          </a:bodyPr>
          <a:lstStyle/>
          <a:p>
            <a:pPr algn="ctr"/>
            <a:r>
              <a:rPr lang="es-ES" sz="2000" dirty="0">
                <a:ln w="0"/>
                <a:effectLst>
                  <a:outerShdw blurRad="38100" dist="19050" dir="2700000" algn="tl" rotWithShape="0">
                    <a:schemeClr val="dk1">
                      <a:alpha val="40000"/>
                    </a:schemeClr>
                  </a:outerShdw>
                </a:effectLst>
              </a:rPr>
              <a:t>De aquí en adelante el fin tardío será igual al inicio tardío de la tarea anterior y el inicio tardío de la tarea actual será igual a la resta del fin tardío menos el tiempo de la tarea y se sigue hasta completar todos los inicios tardíos y fines tardíos</a:t>
            </a:r>
            <a:endParaRPr lang="es-E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56638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iagrama de red - Bryan Salazar López">
            <a:extLst>
              <a:ext uri="{FF2B5EF4-FFF2-40B4-BE49-F238E27FC236}">
                <a16:creationId xmlns:a16="http://schemas.microsoft.com/office/drawing/2014/main" id="{43E4D81A-9C21-4359-9F77-E9ADCD2E4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275250"/>
            <a:ext cx="10905066" cy="430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a 4">
            <a:extLst>
              <a:ext uri="{FF2B5EF4-FFF2-40B4-BE49-F238E27FC236}">
                <a16:creationId xmlns:a16="http://schemas.microsoft.com/office/drawing/2014/main" id="{968F9D08-5082-4085-B243-1375DF01FD25}"/>
              </a:ext>
            </a:extLst>
          </p:cNvPr>
          <p:cNvGraphicFramePr>
            <a:graphicFrameLocks noGrp="1"/>
          </p:cNvGraphicFramePr>
          <p:nvPr/>
        </p:nvGraphicFramePr>
        <p:xfrm>
          <a:off x="7981417" y="533570"/>
          <a:ext cx="3650343" cy="741680"/>
        </p:xfrm>
        <a:graphic>
          <a:graphicData uri="http://schemas.openxmlformats.org/drawingml/2006/table">
            <a:tbl>
              <a:tblPr firstRow="1" bandRow="1">
                <a:tableStyleId>{5C22544A-7EE6-4342-B048-85BDC9FD1C3A}</a:tableStyleId>
              </a:tblPr>
              <a:tblGrid>
                <a:gridCol w="1730103">
                  <a:extLst>
                    <a:ext uri="{9D8B030D-6E8A-4147-A177-3AD203B41FA5}">
                      <a16:colId xmlns:a16="http://schemas.microsoft.com/office/drawing/2014/main" val="4031563130"/>
                    </a:ext>
                  </a:extLst>
                </a:gridCol>
                <a:gridCol w="1920240">
                  <a:extLst>
                    <a:ext uri="{9D8B030D-6E8A-4147-A177-3AD203B41FA5}">
                      <a16:colId xmlns:a16="http://schemas.microsoft.com/office/drawing/2014/main" val="2237093618"/>
                    </a:ext>
                  </a:extLst>
                </a:gridCol>
              </a:tblGrid>
              <a:tr h="370840">
                <a:tc>
                  <a:txBody>
                    <a:bodyPr/>
                    <a:lstStyle/>
                    <a:p>
                      <a:r>
                        <a:rPr lang="es-NI" dirty="0"/>
                        <a:t>Inicio Temprano</a:t>
                      </a:r>
                    </a:p>
                  </a:txBody>
                  <a:tcPr/>
                </a:tc>
                <a:tc>
                  <a:txBody>
                    <a:bodyPr/>
                    <a:lstStyle/>
                    <a:p>
                      <a:r>
                        <a:rPr lang="es-NI" dirty="0"/>
                        <a:t>Fin temprano</a:t>
                      </a:r>
                    </a:p>
                  </a:txBody>
                  <a:tcPr/>
                </a:tc>
                <a:extLst>
                  <a:ext uri="{0D108BD9-81ED-4DB2-BD59-A6C34878D82A}">
                    <a16:rowId xmlns:a16="http://schemas.microsoft.com/office/drawing/2014/main" val="3436060984"/>
                  </a:ext>
                </a:extLst>
              </a:tr>
              <a:tr h="370840">
                <a:tc>
                  <a:txBody>
                    <a:bodyPr/>
                    <a:lstStyle/>
                    <a:p>
                      <a:r>
                        <a:rPr lang="es-NI" dirty="0"/>
                        <a:t>Inicio tardío</a:t>
                      </a:r>
                    </a:p>
                  </a:txBody>
                  <a:tcPr/>
                </a:tc>
                <a:tc>
                  <a:txBody>
                    <a:bodyPr/>
                    <a:lstStyle/>
                    <a:p>
                      <a:r>
                        <a:rPr lang="es-NI" dirty="0"/>
                        <a:t>Fin tardío</a:t>
                      </a:r>
                    </a:p>
                  </a:txBody>
                  <a:tcPr/>
                </a:tc>
                <a:extLst>
                  <a:ext uri="{0D108BD9-81ED-4DB2-BD59-A6C34878D82A}">
                    <a16:rowId xmlns:a16="http://schemas.microsoft.com/office/drawing/2014/main" val="1050811903"/>
                  </a:ext>
                </a:extLst>
              </a:tr>
            </a:tbl>
          </a:graphicData>
        </a:graphic>
      </p:graphicFrame>
      <p:graphicFrame>
        <p:nvGraphicFramePr>
          <p:cNvPr id="11" name="Tabla 4">
            <a:extLst>
              <a:ext uri="{FF2B5EF4-FFF2-40B4-BE49-F238E27FC236}">
                <a16:creationId xmlns:a16="http://schemas.microsoft.com/office/drawing/2014/main" id="{544C0C38-DFD7-4BF3-A018-80D5D3BE3E07}"/>
              </a:ext>
            </a:extLst>
          </p:cNvPr>
          <p:cNvGraphicFramePr>
            <a:graphicFrameLocks noGrp="1"/>
          </p:cNvGraphicFramePr>
          <p:nvPr/>
        </p:nvGraphicFramePr>
        <p:xfrm>
          <a:off x="643467" y="1554651"/>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1050811903"/>
                  </a:ext>
                </a:extLst>
              </a:tr>
            </a:tbl>
          </a:graphicData>
        </a:graphic>
      </p:graphicFrame>
      <p:graphicFrame>
        <p:nvGraphicFramePr>
          <p:cNvPr id="12" name="Tabla 4">
            <a:extLst>
              <a:ext uri="{FF2B5EF4-FFF2-40B4-BE49-F238E27FC236}">
                <a16:creationId xmlns:a16="http://schemas.microsoft.com/office/drawing/2014/main" id="{75EE51BB-09C2-43E7-97E1-50176C7B94D8}"/>
              </a:ext>
            </a:extLst>
          </p:cNvPr>
          <p:cNvGraphicFramePr>
            <a:graphicFrameLocks noGrp="1"/>
          </p:cNvGraphicFramePr>
          <p:nvPr/>
        </p:nvGraphicFramePr>
        <p:xfrm>
          <a:off x="650705" y="441106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02</a:t>
                      </a:r>
                    </a:p>
                  </a:txBody>
                  <a:tcPr/>
                </a:tc>
                <a:extLst>
                  <a:ext uri="{0D108BD9-81ED-4DB2-BD59-A6C34878D82A}">
                    <a16:rowId xmlns:a16="http://schemas.microsoft.com/office/drawing/2014/main" val="3436060984"/>
                  </a:ext>
                </a:extLst>
              </a:tr>
              <a:tr h="370840">
                <a:tc>
                  <a:txBody>
                    <a:bodyPr/>
                    <a:lstStyle/>
                    <a:p>
                      <a:r>
                        <a:rPr lang="es-NI" dirty="0"/>
                        <a:t>07</a:t>
                      </a:r>
                    </a:p>
                  </a:txBody>
                  <a:tcPr/>
                </a:tc>
                <a:tc>
                  <a:txBody>
                    <a:bodyPr/>
                    <a:lstStyle/>
                    <a:p>
                      <a:r>
                        <a:rPr lang="es-NI" dirty="0"/>
                        <a:t>09</a:t>
                      </a:r>
                    </a:p>
                  </a:txBody>
                  <a:tcPr/>
                </a:tc>
                <a:extLst>
                  <a:ext uri="{0D108BD9-81ED-4DB2-BD59-A6C34878D82A}">
                    <a16:rowId xmlns:a16="http://schemas.microsoft.com/office/drawing/2014/main" val="1050811903"/>
                  </a:ext>
                </a:extLst>
              </a:tr>
            </a:tbl>
          </a:graphicData>
        </a:graphic>
      </p:graphicFrame>
      <p:graphicFrame>
        <p:nvGraphicFramePr>
          <p:cNvPr id="13" name="Tabla 4">
            <a:extLst>
              <a:ext uri="{FF2B5EF4-FFF2-40B4-BE49-F238E27FC236}">
                <a16:creationId xmlns:a16="http://schemas.microsoft.com/office/drawing/2014/main" id="{EC697DF2-5BE2-4E57-B0F4-F9E675FEA3C0}"/>
              </a:ext>
            </a:extLst>
          </p:cNvPr>
          <p:cNvGraphicFramePr>
            <a:graphicFrameLocks noGrp="1"/>
          </p:cNvGraphicFramePr>
          <p:nvPr/>
        </p:nvGraphicFramePr>
        <p:xfrm>
          <a:off x="3042679" y="52343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06</a:t>
                      </a:r>
                    </a:p>
                  </a:txBody>
                  <a:tcPr/>
                </a:tc>
                <a:tc>
                  <a:txBody>
                    <a:bodyPr/>
                    <a:lstStyle/>
                    <a:p>
                      <a:r>
                        <a:rPr lang="es-NI" dirty="0"/>
                        <a:t>09</a:t>
                      </a:r>
                    </a:p>
                  </a:txBody>
                  <a:tcPr/>
                </a:tc>
                <a:extLst>
                  <a:ext uri="{0D108BD9-81ED-4DB2-BD59-A6C34878D82A}">
                    <a16:rowId xmlns:a16="http://schemas.microsoft.com/office/drawing/2014/main" val="3436060984"/>
                  </a:ext>
                </a:extLst>
              </a:tr>
              <a:tr h="370840">
                <a:tc>
                  <a:txBody>
                    <a:bodyPr/>
                    <a:lstStyle/>
                    <a:p>
                      <a:r>
                        <a:rPr lang="es-NI" dirty="0"/>
                        <a:t>06</a:t>
                      </a:r>
                    </a:p>
                  </a:txBody>
                  <a:tcPr/>
                </a:tc>
                <a:tc>
                  <a:txBody>
                    <a:bodyPr/>
                    <a:lstStyle/>
                    <a:p>
                      <a:r>
                        <a:rPr lang="es-NI" dirty="0"/>
                        <a:t>09</a:t>
                      </a:r>
                    </a:p>
                  </a:txBody>
                  <a:tcPr/>
                </a:tc>
                <a:extLst>
                  <a:ext uri="{0D108BD9-81ED-4DB2-BD59-A6C34878D82A}">
                    <a16:rowId xmlns:a16="http://schemas.microsoft.com/office/drawing/2014/main" val="1050811903"/>
                  </a:ext>
                </a:extLst>
              </a:tr>
            </a:tbl>
          </a:graphicData>
        </a:graphic>
      </p:graphicFrame>
      <p:graphicFrame>
        <p:nvGraphicFramePr>
          <p:cNvPr id="14" name="Tabla 4">
            <a:extLst>
              <a:ext uri="{FF2B5EF4-FFF2-40B4-BE49-F238E27FC236}">
                <a16:creationId xmlns:a16="http://schemas.microsoft.com/office/drawing/2014/main" id="{490957A0-06AB-4F17-A7D8-F6A4684385DE}"/>
              </a:ext>
            </a:extLst>
          </p:cNvPr>
          <p:cNvGraphicFramePr>
            <a:graphicFrameLocks noGrp="1"/>
          </p:cNvGraphicFramePr>
          <p:nvPr/>
        </p:nvGraphicFramePr>
        <p:xfrm>
          <a:off x="5020020" y="506815"/>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09</a:t>
                      </a:r>
                    </a:p>
                  </a:txBody>
                  <a:tcPr/>
                </a:tc>
                <a:tc>
                  <a:txBody>
                    <a:bodyPr/>
                    <a:lstStyle/>
                    <a:p>
                      <a:r>
                        <a:rPr lang="es-NI" dirty="0"/>
                        <a:t>13</a:t>
                      </a:r>
                    </a:p>
                  </a:txBody>
                  <a:tcPr/>
                </a:tc>
                <a:extLst>
                  <a:ext uri="{0D108BD9-81ED-4DB2-BD59-A6C34878D82A}">
                    <a16:rowId xmlns:a16="http://schemas.microsoft.com/office/drawing/2014/main" val="3436060984"/>
                  </a:ext>
                </a:extLst>
              </a:tr>
              <a:tr h="370840">
                <a:tc>
                  <a:txBody>
                    <a:bodyPr/>
                    <a:lstStyle/>
                    <a:p>
                      <a:r>
                        <a:rPr lang="es-NI" dirty="0"/>
                        <a:t>09</a:t>
                      </a:r>
                    </a:p>
                  </a:txBody>
                  <a:tcPr/>
                </a:tc>
                <a:tc>
                  <a:txBody>
                    <a:bodyPr/>
                    <a:lstStyle/>
                    <a:p>
                      <a:r>
                        <a:rPr lang="es-NI" dirty="0"/>
                        <a:t>13</a:t>
                      </a:r>
                    </a:p>
                  </a:txBody>
                  <a:tcPr/>
                </a:tc>
                <a:extLst>
                  <a:ext uri="{0D108BD9-81ED-4DB2-BD59-A6C34878D82A}">
                    <a16:rowId xmlns:a16="http://schemas.microsoft.com/office/drawing/2014/main" val="1050811903"/>
                  </a:ext>
                </a:extLst>
              </a:tr>
            </a:tbl>
          </a:graphicData>
        </a:graphic>
      </p:graphicFrame>
      <p:graphicFrame>
        <p:nvGraphicFramePr>
          <p:cNvPr id="15" name="Tabla 4">
            <a:extLst>
              <a:ext uri="{FF2B5EF4-FFF2-40B4-BE49-F238E27FC236}">
                <a16:creationId xmlns:a16="http://schemas.microsoft.com/office/drawing/2014/main" id="{483E6A3D-FD67-4A40-924E-EA1F9D6BE276}"/>
              </a:ext>
            </a:extLst>
          </p:cNvPr>
          <p:cNvGraphicFramePr>
            <a:graphicFrameLocks noGrp="1"/>
          </p:cNvGraphicFramePr>
          <p:nvPr/>
        </p:nvGraphicFramePr>
        <p:xfrm>
          <a:off x="3093022" y="5244183"/>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02</a:t>
                      </a:r>
                    </a:p>
                  </a:txBody>
                  <a:tcPr/>
                </a:tc>
                <a:tc>
                  <a:txBody>
                    <a:bodyPr/>
                    <a:lstStyle/>
                    <a:p>
                      <a:r>
                        <a:rPr lang="es-NI" dirty="0"/>
                        <a:t>05</a:t>
                      </a:r>
                    </a:p>
                  </a:txBody>
                  <a:tcPr/>
                </a:tc>
                <a:extLst>
                  <a:ext uri="{0D108BD9-81ED-4DB2-BD59-A6C34878D82A}">
                    <a16:rowId xmlns:a16="http://schemas.microsoft.com/office/drawing/2014/main" val="3436060984"/>
                  </a:ext>
                </a:extLst>
              </a:tr>
              <a:tr h="370840">
                <a:tc>
                  <a:txBody>
                    <a:bodyPr/>
                    <a:lstStyle/>
                    <a:p>
                      <a:r>
                        <a:rPr lang="es-NI" dirty="0"/>
                        <a:t>9</a:t>
                      </a:r>
                    </a:p>
                  </a:txBody>
                  <a:tcPr/>
                </a:tc>
                <a:tc>
                  <a:txBody>
                    <a:bodyPr/>
                    <a:lstStyle/>
                    <a:p>
                      <a:r>
                        <a:rPr lang="es-NI" dirty="0"/>
                        <a:t>12</a:t>
                      </a:r>
                    </a:p>
                  </a:txBody>
                  <a:tcPr/>
                </a:tc>
                <a:extLst>
                  <a:ext uri="{0D108BD9-81ED-4DB2-BD59-A6C34878D82A}">
                    <a16:rowId xmlns:a16="http://schemas.microsoft.com/office/drawing/2014/main" val="1050811903"/>
                  </a:ext>
                </a:extLst>
              </a:tr>
            </a:tbl>
          </a:graphicData>
        </a:graphic>
      </p:graphicFrame>
      <p:graphicFrame>
        <p:nvGraphicFramePr>
          <p:cNvPr id="16" name="Tabla 4">
            <a:extLst>
              <a:ext uri="{FF2B5EF4-FFF2-40B4-BE49-F238E27FC236}">
                <a16:creationId xmlns:a16="http://schemas.microsoft.com/office/drawing/2014/main" id="{13D93CF7-3EEA-44BB-887E-B3479F28617C}"/>
              </a:ext>
            </a:extLst>
          </p:cNvPr>
          <p:cNvGraphicFramePr>
            <a:graphicFrameLocks noGrp="1"/>
          </p:cNvGraphicFramePr>
          <p:nvPr/>
        </p:nvGraphicFramePr>
        <p:xfrm>
          <a:off x="4903632" y="5278798"/>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05</a:t>
                      </a:r>
                    </a:p>
                  </a:txBody>
                  <a:tcPr/>
                </a:tc>
                <a:tc>
                  <a:txBody>
                    <a:bodyPr/>
                    <a:lstStyle/>
                    <a:p>
                      <a:r>
                        <a:rPr lang="es-NI" dirty="0"/>
                        <a:t>08</a:t>
                      </a:r>
                    </a:p>
                  </a:txBody>
                  <a:tcPr/>
                </a:tc>
                <a:extLst>
                  <a:ext uri="{0D108BD9-81ED-4DB2-BD59-A6C34878D82A}">
                    <a16:rowId xmlns:a16="http://schemas.microsoft.com/office/drawing/2014/main" val="3436060984"/>
                  </a:ext>
                </a:extLst>
              </a:tr>
              <a:tr h="370840">
                <a:tc>
                  <a:txBody>
                    <a:bodyPr/>
                    <a:lstStyle/>
                    <a:p>
                      <a:r>
                        <a:rPr lang="es-NI" dirty="0"/>
                        <a:t>12</a:t>
                      </a:r>
                    </a:p>
                  </a:txBody>
                  <a:tcPr/>
                </a:tc>
                <a:tc>
                  <a:txBody>
                    <a:bodyPr/>
                    <a:lstStyle/>
                    <a:p>
                      <a:r>
                        <a:rPr lang="es-NI" dirty="0"/>
                        <a:t>15</a:t>
                      </a:r>
                    </a:p>
                  </a:txBody>
                  <a:tcPr/>
                </a:tc>
                <a:extLst>
                  <a:ext uri="{0D108BD9-81ED-4DB2-BD59-A6C34878D82A}">
                    <a16:rowId xmlns:a16="http://schemas.microsoft.com/office/drawing/2014/main" val="1050811903"/>
                  </a:ext>
                </a:extLst>
              </a:tr>
            </a:tbl>
          </a:graphicData>
        </a:graphic>
      </p:graphicFrame>
      <p:graphicFrame>
        <p:nvGraphicFramePr>
          <p:cNvPr id="17" name="Tabla 4">
            <a:extLst>
              <a:ext uri="{FF2B5EF4-FFF2-40B4-BE49-F238E27FC236}">
                <a16:creationId xmlns:a16="http://schemas.microsoft.com/office/drawing/2014/main" id="{F8877448-A6EA-4DE9-8EA3-3F35E5332A0F}"/>
              </a:ext>
            </a:extLst>
          </p:cNvPr>
          <p:cNvGraphicFramePr>
            <a:graphicFrameLocks noGrp="1"/>
          </p:cNvGraphicFramePr>
          <p:nvPr/>
        </p:nvGraphicFramePr>
        <p:xfrm>
          <a:off x="5553160" y="232572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13</a:t>
                      </a:r>
                    </a:p>
                  </a:txBody>
                  <a:tcPr/>
                </a:tc>
                <a:tc>
                  <a:txBody>
                    <a:bodyPr/>
                    <a:lstStyle/>
                    <a:p>
                      <a:r>
                        <a:rPr lang="es-NI" dirty="0"/>
                        <a:t>19</a:t>
                      </a:r>
                    </a:p>
                  </a:txBody>
                  <a:tcPr/>
                </a:tc>
                <a:extLst>
                  <a:ext uri="{0D108BD9-81ED-4DB2-BD59-A6C34878D82A}">
                    <a16:rowId xmlns:a16="http://schemas.microsoft.com/office/drawing/2014/main" val="3436060984"/>
                  </a:ext>
                </a:extLst>
              </a:tr>
              <a:tr h="370840">
                <a:tc>
                  <a:txBody>
                    <a:bodyPr/>
                    <a:lstStyle/>
                    <a:p>
                      <a:r>
                        <a:rPr lang="es-NI" dirty="0"/>
                        <a:t>13</a:t>
                      </a:r>
                    </a:p>
                  </a:txBody>
                  <a:tcPr/>
                </a:tc>
                <a:tc>
                  <a:txBody>
                    <a:bodyPr/>
                    <a:lstStyle/>
                    <a:p>
                      <a:r>
                        <a:rPr lang="es-NI" dirty="0"/>
                        <a:t>19</a:t>
                      </a:r>
                    </a:p>
                  </a:txBody>
                  <a:tcPr/>
                </a:tc>
                <a:extLst>
                  <a:ext uri="{0D108BD9-81ED-4DB2-BD59-A6C34878D82A}">
                    <a16:rowId xmlns:a16="http://schemas.microsoft.com/office/drawing/2014/main" val="1050811903"/>
                  </a:ext>
                </a:extLst>
              </a:tr>
            </a:tbl>
          </a:graphicData>
        </a:graphic>
      </p:graphicFrame>
      <p:graphicFrame>
        <p:nvGraphicFramePr>
          <p:cNvPr id="18" name="Tabla 4">
            <a:extLst>
              <a:ext uri="{FF2B5EF4-FFF2-40B4-BE49-F238E27FC236}">
                <a16:creationId xmlns:a16="http://schemas.microsoft.com/office/drawing/2014/main" id="{58721C35-9BB2-48C4-ABF3-B9E7B6AB8062}"/>
              </a:ext>
            </a:extLst>
          </p:cNvPr>
          <p:cNvGraphicFramePr>
            <a:graphicFrameLocks noGrp="1"/>
          </p:cNvGraphicFramePr>
          <p:nvPr/>
        </p:nvGraphicFramePr>
        <p:xfrm>
          <a:off x="5603972" y="366938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08</a:t>
                      </a:r>
                    </a:p>
                  </a:txBody>
                  <a:tcPr/>
                </a:tc>
                <a:tc>
                  <a:txBody>
                    <a:bodyPr/>
                    <a:lstStyle/>
                    <a:p>
                      <a:r>
                        <a:rPr lang="es-NI" dirty="0"/>
                        <a:t>12</a:t>
                      </a:r>
                    </a:p>
                  </a:txBody>
                  <a:tcPr/>
                </a:tc>
                <a:extLst>
                  <a:ext uri="{0D108BD9-81ED-4DB2-BD59-A6C34878D82A}">
                    <a16:rowId xmlns:a16="http://schemas.microsoft.com/office/drawing/2014/main" val="3436060984"/>
                  </a:ext>
                </a:extLst>
              </a:tr>
              <a:tr h="370840">
                <a:tc>
                  <a:txBody>
                    <a:bodyPr/>
                    <a:lstStyle/>
                    <a:p>
                      <a:r>
                        <a:rPr lang="es-NI" dirty="0"/>
                        <a:t>15</a:t>
                      </a:r>
                    </a:p>
                  </a:txBody>
                  <a:tcPr/>
                </a:tc>
                <a:tc>
                  <a:txBody>
                    <a:bodyPr/>
                    <a:lstStyle/>
                    <a:p>
                      <a:r>
                        <a:rPr lang="es-NI" dirty="0"/>
                        <a:t>19</a:t>
                      </a:r>
                    </a:p>
                  </a:txBody>
                  <a:tcPr/>
                </a:tc>
                <a:extLst>
                  <a:ext uri="{0D108BD9-81ED-4DB2-BD59-A6C34878D82A}">
                    <a16:rowId xmlns:a16="http://schemas.microsoft.com/office/drawing/2014/main" val="1050811903"/>
                  </a:ext>
                </a:extLst>
              </a:tr>
            </a:tbl>
          </a:graphicData>
        </a:graphic>
      </p:graphicFrame>
      <p:graphicFrame>
        <p:nvGraphicFramePr>
          <p:cNvPr id="19" name="Tabla 4">
            <a:extLst>
              <a:ext uri="{FF2B5EF4-FFF2-40B4-BE49-F238E27FC236}">
                <a16:creationId xmlns:a16="http://schemas.microsoft.com/office/drawing/2014/main" id="{C89DAB0F-92FE-4F15-ABC4-3EA77844498E}"/>
              </a:ext>
            </a:extLst>
          </p:cNvPr>
          <p:cNvGraphicFramePr>
            <a:graphicFrameLocks noGrp="1"/>
          </p:cNvGraphicFramePr>
          <p:nvPr/>
        </p:nvGraphicFramePr>
        <p:xfrm>
          <a:off x="8058819" y="2201806"/>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19</a:t>
                      </a:r>
                    </a:p>
                  </a:txBody>
                  <a:tcPr/>
                </a:tc>
                <a:tc>
                  <a:txBody>
                    <a:bodyPr/>
                    <a:lstStyle/>
                    <a:p>
                      <a:r>
                        <a:rPr lang="es-NI" dirty="0"/>
                        <a:t>20</a:t>
                      </a:r>
                    </a:p>
                  </a:txBody>
                  <a:tcPr/>
                </a:tc>
                <a:extLst>
                  <a:ext uri="{0D108BD9-81ED-4DB2-BD59-A6C34878D82A}">
                    <a16:rowId xmlns:a16="http://schemas.microsoft.com/office/drawing/2014/main" val="3436060984"/>
                  </a:ext>
                </a:extLst>
              </a:tr>
              <a:tr h="370840">
                <a:tc>
                  <a:txBody>
                    <a:bodyPr/>
                    <a:lstStyle/>
                    <a:p>
                      <a:r>
                        <a:rPr lang="es-NI" dirty="0"/>
                        <a:t>19</a:t>
                      </a:r>
                    </a:p>
                  </a:txBody>
                  <a:tcPr/>
                </a:tc>
                <a:tc>
                  <a:txBody>
                    <a:bodyPr/>
                    <a:lstStyle/>
                    <a:p>
                      <a:r>
                        <a:rPr lang="es-NI" dirty="0"/>
                        <a:t>20</a:t>
                      </a:r>
                    </a:p>
                  </a:txBody>
                  <a:tcPr/>
                </a:tc>
                <a:extLst>
                  <a:ext uri="{0D108BD9-81ED-4DB2-BD59-A6C34878D82A}">
                    <a16:rowId xmlns:a16="http://schemas.microsoft.com/office/drawing/2014/main" val="1050811903"/>
                  </a:ext>
                </a:extLst>
              </a:tr>
            </a:tbl>
          </a:graphicData>
        </a:graphic>
      </p:graphicFrame>
      <p:graphicFrame>
        <p:nvGraphicFramePr>
          <p:cNvPr id="20" name="Tabla 4">
            <a:extLst>
              <a:ext uri="{FF2B5EF4-FFF2-40B4-BE49-F238E27FC236}">
                <a16:creationId xmlns:a16="http://schemas.microsoft.com/office/drawing/2014/main" id="{07ECB643-CEF0-43DE-80F1-CFACEBED9D78}"/>
              </a:ext>
            </a:extLst>
          </p:cNvPr>
          <p:cNvGraphicFramePr>
            <a:graphicFrameLocks noGrp="1"/>
          </p:cNvGraphicFramePr>
          <p:nvPr/>
        </p:nvGraphicFramePr>
        <p:xfrm>
          <a:off x="9584226" y="2016930"/>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3436060984"/>
                  </a:ext>
                </a:extLst>
              </a:tr>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1050811903"/>
                  </a:ext>
                </a:extLst>
              </a:tr>
            </a:tbl>
          </a:graphicData>
        </a:graphic>
      </p:graphicFrame>
      <p:sp>
        <p:nvSpPr>
          <p:cNvPr id="31" name="Rectángulo 30">
            <a:extLst>
              <a:ext uri="{FF2B5EF4-FFF2-40B4-BE49-F238E27FC236}">
                <a16:creationId xmlns:a16="http://schemas.microsoft.com/office/drawing/2014/main" id="{F9ABE703-4F2D-4F92-A940-D759A14122A0}"/>
              </a:ext>
            </a:extLst>
          </p:cNvPr>
          <p:cNvSpPr/>
          <p:nvPr/>
        </p:nvSpPr>
        <p:spPr>
          <a:xfrm>
            <a:off x="6988564" y="4411062"/>
            <a:ext cx="4625842" cy="1631216"/>
          </a:xfrm>
          <a:prstGeom prst="rect">
            <a:avLst/>
          </a:prstGeom>
          <a:noFill/>
        </p:spPr>
        <p:txBody>
          <a:bodyPr wrap="square" lIns="91440" tIns="45720" rIns="91440" bIns="45720">
            <a:spAutoFit/>
          </a:bodyPr>
          <a:lstStyle/>
          <a:p>
            <a:pPr algn="ctr"/>
            <a:r>
              <a:rPr lang="es-ES" sz="2000" dirty="0">
                <a:ln w="0"/>
                <a:effectLst>
                  <a:outerShdw blurRad="38100" dist="19050" dir="2700000" algn="tl" rotWithShape="0">
                    <a:schemeClr val="dk1">
                      <a:alpha val="40000"/>
                    </a:schemeClr>
                  </a:outerShdw>
                </a:effectLst>
              </a:rPr>
              <a:t>Una vez que tenemos la tabla completa calculamos la holgura de cada tarea, para ello, se puede restar el inicio temprano con el inicio tardío, o el fin temprano con el fin tardío y ambos deben coincidir</a:t>
            </a:r>
            <a:endParaRPr lang="es-E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55180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descr="Diagrama de red - Bryan Salazar López">
            <a:extLst>
              <a:ext uri="{FF2B5EF4-FFF2-40B4-BE49-F238E27FC236}">
                <a16:creationId xmlns:a16="http://schemas.microsoft.com/office/drawing/2014/main" id="{43E4D81A-9C21-4359-9F77-E9ADCD2E4DD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275250"/>
            <a:ext cx="10905066" cy="4307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a 4">
            <a:extLst>
              <a:ext uri="{FF2B5EF4-FFF2-40B4-BE49-F238E27FC236}">
                <a16:creationId xmlns:a16="http://schemas.microsoft.com/office/drawing/2014/main" id="{968F9D08-5082-4085-B243-1375DF01FD25}"/>
              </a:ext>
            </a:extLst>
          </p:cNvPr>
          <p:cNvGraphicFramePr>
            <a:graphicFrameLocks noGrp="1"/>
          </p:cNvGraphicFramePr>
          <p:nvPr/>
        </p:nvGraphicFramePr>
        <p:xfrm>
          <a:off x="7981417" y="533570"/>
          <a:ext cx="3650343" cy="741680"/>
        </p:xfrm>
        <a:graphic>
          <a:graphicData uri="http://schemas.openxmlformats.org/drawingml/2006/table">
            <a:tbl>
              <a:tblPr firstRow="1" bandRow="1">
                <a:tableStyleId>{5C22544A-7EE6-4342-B048-85BDC9FD1C3A}</a:tableStyleId>
              </a:tblPr>
              <a:tblGrid>
                <a:gridCol w="1730103">
                  <a:extLst>
                    <a:ext uri="{9D8B030D-6E8A-4147-A177-3AD203B41FA5}">
                      <a16:colId xmlns:a16="http://schemas.microsoft.com/office/drawing/2014/main" val="4031563130"/>
                    </a:ext>
                  </a:extLst>
                </a:gridCol>
                <a:gridCol w="1920240">
                  <a:extLst>
                    <a:ext uri="{9D8B030D-6E8A-4147-A177-3AD203B41FA5}">
                      <a16:colId xmlns:a16="http://schemas.microsoft.com/office/drawing/2014/main" val="2237093618"/>
                    </a:ext>
                  </a:extLst>
                </a:gridCol>
              </a:tblGrid>
              <a:tr h="370840">
                <a:tc>
                  <a:txBody>
                    <a:bodyPr/>
                    <a:lstStyle/>
                    <a:p>
                      <a:r>
                        <a:rPr lang="es-NI" dirty="0"/>
                        <a:t>Inicio Temprano</a:t>
                      </a:r>
                    </a:p>
                  </a:txBody>
                  <a:tcPr/>
                </a:tc>
                <a:tc>
                  <a:txBody>
                    <a:bodyPr/>
                    <a:lstStyle/>
                    <a:p>
                      <a:r>
                        <a:rPr lang="es-NI" dirty="0"/>
                        <a:t>Fin temprano</a:t>
                      </a:r>
                    </a:p>
                  </a:txBody>
                  <a:tcPr/>
                </a:tc>
                <a:extLst>
                  <a:ext uri="{0D108BD9-81ED-4DB2-BD59-A6C34878D82A}">
                    <a16:rowId xmlns:a16="http://schemas.microsoft.com/office/drawing/2014/main" val="3436060984"/>
                  </a:ext>
                </a:extLst>
              </a:tr>
              <a:tr h="370840">
                <a:tc>
                  <a:txBody>
                    <a:bodyPr/>
                    <a:lstStyle/>
                    <a:p>
                      <a:r>
                        <a:rPr lang="es-NI" dirty="0"/>
                        <a:t>Inicio tardío</a:t>
                      </a:r>
                    </a:p>
                  </a:txBody>
                  <a:tcPr/>
                </a:tc>
                <a:tc>
                  <a:txBody>
                    <a:bodyPr/>
                    <a:lstStyle/>
                    <a:p>
                      <a:r>
                        <a:rPr lang="es-NI" dirty="0"/>
                        <a:t>Fin tardío</a:t>
                      </a:r>
                    </a:p>
                  </a:txBody>
                  <a:tcPr/>
                </a:tc>
                <a:extLst>
                  <a:ext uri="{0D108BD9-81ED-4DB2-BD59-A6C34878D82A}">
                    <a16:rowId xmlns:a16="http://schemas.microsoft.com/office/drawing/2014/main" val="1050811903"/>
                  </a:ext>
                </a:extLst>
              </a:tr>
            </a:tbl>
          </a:graphicData>
        </a:graphic>
      </p:graphicFrame>
      <p:graphicFrame>
        <p:nvGraphicFramePr>
          <p:cNvPr id="11" name="Tabla 4">
            <a:extLst>
              <a:ext uri="{FF2B5EF4-FFF2-40B4-BE49-F238E27FC236}">
                <a16:creationId xmlns:a16="http://schemas.microsoft.com/office/drawing/2014/main" id="{544C0C38-DFD7-4BF3-A018-80D5D3BE3E07}"/>
              </a:ext>
            </a:extLst>
          </p:cNvPr>
          <p:cNvGraphicFramePr>
            <a:graphicFrameLocks noGrp="1"/>
          </p:cNvGraphicFramePr>
          <p:nvPr/>
        </p:nvGraphicFramePr>
        <p:xfrm>
          <a:off x="643467" y="1554651"/>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3436060984"/>
                  </a:ext>
                </a:extLst>
              </a:tr>
              <a:tr h="370840">
                <a:tc>
                  <a:txBody>
                    <a:bodyPr/>
                    <a:lstStyle/>
                    <a:p>
                      <a:r>
                        <a:rPr lang="es-NI" dirty="0"/>
                        <a:t>00</a:t>
                      </a:r>
                    </a:p>
                  </a:txBody>
                  <a:tcPr/>
                </a:tc>
                <a:tc>
                  <a:txBody>
                    <a:bodyPr/>
                    <a:lstStyle/>
                    <a:p>
                      <a:r>
                        <a:rPr lang="es-NI" dirty="0"/>
                        <a:t>06</a:t>
                      </a:r>
                    </a:p>
                  </a:txBody>
                  <a:tcPr/>
                </a:tc>
                <a:extLst>
                  <a:ext uri="{0D108BD9-81ED-4DB2-BD59-A6C34878D82A}">
                    <a16:rowId xmlns:a16="http://schemas.microsoft.com/office/drawing/2014/main" val="1050811903"/>
                  </a:ext>
                </a:extLst>
              </a:tr>
            </a:tbl>
          </a:graphicData>
        </a:graphic>
      </p:graphicFrame>
      <p:graphicFrame>
        <p:nvGraphicFramePr>
          <p:cNvPr id="12" name="Tabla 4">
            <a:extLst>
              <a:ext uri="{FF2B5EF4-FFF2-40B4-BE49-F238E27FC236}">
                <a16:creationId xmlns:a16="http://schemas.microsoft.com/office/drawing/2014/main" id="{75EE51BB-09C2-43E7-97E1-50176C7B94D8}"/>
              </a:ext>
            </a:extLst>
          </p:cNvPr>
          <p:cNvGraphicFramePr>
            <a:graphicFrameLocks noGrp="1"/>
          </p:cNvGraphicFramePr>
          <p:nvPr/>
        </p:nvGraphicFramePr>
        <p:xfrm>
          <a:off x="650705" y="441106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00</a:t>
                      </a:r>
                    </a:p>
                  </a:txBody>
                  <a:tcPr/>
                </a:tc>
                <a:tc>
                  <a:txBody>
                    <a:bodyPr/>
                    <a:lstStyle/>
                    <a:p>
                      <a:r>
                        <a:rPr lang="es-NI" dirty="0"/>
                        <a:t>02</a:t>
                      </a:r>
                    </a:p>
                  </a:txBody>
                  <a:tcPr/>
                </a:tc>
                <a:extLst>
                  <a:ext uri="{0D108BD9-81ED-4DB2-BD59-A6C34878D82A}">
                    <a16:rowId xmlns:a16="http://schemas.microsoft.com/office/drawing/2014/main" val="3436060984"/>
                  </a:ext>
                </a:extLst>
              </a:tr>
              <a:tr h="370840">
                <a:tc>
                  <a:txBody>
                    <a:bodyPr/>
                    <a:lstStyle/>
                    <a:p>
                      <a:r>
                        <a:rPr lang="es-NI" dirty="0"/>
                        <a:t>07</a:t>
                      </a:r>
                    </a:p>
                  </a:txBody>
                  <a:tcPr/>
                </a:tc>
                <a:tc>
                  <a:txBody>
                    <a:bodyPr/>
                    <a:lstStyle/>
                    <a:p>
                      <a:r>
                        <a:rPr lang="es-NI" dirty="0"/>
                        <a:t>09</a:t>
                      </a:r>
                    </a:p>
                  </a:txBody>
                  <a:tcPr/>
                </a:tc>
                <a:extLst>
                  <a:ext uri="{0D108BD9-81ED-4DB2-BD59-A6C34878D82A}">
                    <a16:rowId xmlns:a16="http://schemas.microsoft.com/office/drawing/2014/main" val="1050811903"/>
                  </a:ext>
                </a:extLst>
              </a:tr>
            </a:tbl>
          </a:graphicData>
        </a:graphic>
      </p:graphicFrame>
      <p:graphicFrame>
        <p:nvGraphicFramePr>
          <p:cNvPr id="13" name="Tabla 4">
            <a:extLst>
              <a:ext uri="{FF2B5EF4-FFF2-40B4-BE49-F238E27FC236}">
                <a16:creationId xmlns:a16="http://schemas.microsoft.com/office/drawing/2014/main" id="{EC697DF2-5BE2-4E57-B0F4-F9E675FEA3C0}"/>
              </a:ext>
            </a:extLst>
          </p:cNvPr>
          <p:cNvGraphicFramePr>
            <a:graphicFrameLocks noGrp="1"/>
          </p:cNvGraphicFramePr>
          <p:nvPr/>
        </p:nvGraphicFramePr>
        <p:xfrm>
          <a:off x="3042679" y="52343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06</a:t>
                      </a:r>
                    </a:p>
                  </a:txBody>
                  <a:tcPr/>
                </a:tc>
                <a:tc>
                  <a:txBody>
                    <a:bodyPr/>
                    <a:lstStyle/>
                    <a:p>
                      <a:r>
                        <a:rPr lang="es-NI" dirty="0"/>
                        <a:t>09</a:t>
                      </a:r>
                    </a:p>
                  </a:txBody>
                  <a:tcPr/>
                </a:tc>
                <a:extLst>
                  <a:ext uri="{0D108BD9-81ED-4DB2-BD59-A6C34878D82A}">
                    <a16:rowId xmlns:a16="http://schemas.microsoft.com/office/drawing/2014/main" val="3436060984"/>
                  </a:ext>
                </a:extLst>
              </a:tr>
              <a:tr h="370840">
                <a:tc>
                  <a:txBody>
                    <a:bodyPr/>
                    <a:lstStyle/>
                    <a:p>
                      <a:r>
                        <a:rPr lang="es-NI" dirty="0"/>
                        <a:t>06</a:t>
                      </a:r>
                    </a:p>
                  </a:txBody>
                  <a:tcPr/>
                </a:tc>
                <a:tc>
                  <a:txBody>
                    <a:bodyPr/>
                    <a:lstStyle/>
                    <a:p>
                      <a:r>
                        <a:rPr lang="es-NI" dirty="0"/>
                        <a:t>09</a:t>
                      </a:r>
                    </a:p>
                  </a:txBody>
                  <a:tcPr/>
                </a:tc>
                <a:extLst>
                  <a:ext uri="{0D108BD9-81ED-4DB2-BD59-A6C34878D82A}">
                    <a16:rowId xmlns:a16="http://schemas.microsoft.com/office/drawing/2014/main" val="1050811903"/>
                  </a:ext>
                </a:extLst>
              </a:tr>
            </a:tbl>
          </a:graphicData>
        </a:graphic>
      </p:graphicFrame>
      <p:graphicFrame>
        <p:nvGraphicFramePr>
          <p:cNvPr id="14" name="Tabla 4">
            <a:extLst>
              <a:ext uri="{FF2B5EF4-FFF2-40B4-BE49-F238E27FC236}">
                <a16:creationId xmlns:a16="http://schemas.microsoft.com/office/drawing/2014/main" id="{490957A0-06AB-4F17-A7D8-F6A4684385DE}"/>
              </a:ext>
            </a:extLst>
          </p:cNvPr>
          <p:cNvGraphicFramePr>
            <a:graphicFrameLocks noGrp="1"/>
          </p:cNvGraphicFramePr>
          <p:nvPr/>
        </p:nvGraphicFramePr>
        <p:xfrm>
          <a:off x="5020020" y="506815"/>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09</a:t>
                      </a:r>
                    </a:p>
                  </a:txBody>
                  <a:tcPr/>
                </a:tc>
                <a:tc>
                  <a:txBody>
                    <a:bodyPr/>
                    <a:lstStyle/>
                    <a:p>
                      <a:r>
                        <a:rPr lang="es-NI" dirty="0"/>
                        <a:t>13</a:t>
                      </a:r>
                    </a:p>
                  </a:txBody>
                  <a:tcPr/>
                </a:tc>
                <a:extLst>
                  <a:ext uri="{0D108BD9-81ED-4DB2-BD59-A6C34878D82A}">
                    <a16:rowId xmlns:a16="http://schemas.microsoft.com/office/drawing/2014/main" val="3436060984"/>
                  </a:ext>
                </a:extLst>
              </a:tr>
              <a:tr h="370840">
                <a:tc>
                  <a:txBody>
                    <a:bodyPr/>
                    <a:lstStyle/>
                    <a:p>
                      <a:r>
                        <a:rPr lang="es-NI" dirty="0"/>
                        <a:t>09</a:t>
                      </a:r>
                    </a:p>
                  </a:txBody>
                  <a:tcPr/>
                </a:tc>
                <a:tc>
                  <a:txBody>
                    <a:bodyPr/>
                    <a:lstStyle/>
                    <a:p>
                      <a:r>
                        <a:rPr lang="es-NI" dirty="0"/>
                        <a:t>13</a:t>
                      </a:r>
                    </a:p>
                  </a:txBody>
                  <a:tcPr/>
                </a:tc>
                <a:extLst>
                  <a:ext uri="{0D108BD9-81ED-4DB2-BD59-A6C34878D82A}">
                    <a16:rowId xmlns:a16="http://schemas.microsoft.com/office/drawing/2014/main" val="1050811903"/>
                  </a:ext>
                </a:extLst>
              </a:tr>
            </a:tbl>
          </a:graphicData>
        </a:graphic>
      </p:graphicFrame>
      <p:graphicFrame>
        <p:nvGraphicFramePr>
          <p:cNvPr id="15" name="Tabla 4">
            <a:extLst>
              <a:ext uri="{FF2B5EF4-FFF2-40B4-BE49-F238E27FC236}">
                <a16:creationId xmlns:a16="http://schemas.microsoft.com/office/drawing/2014/main" id="{483E6A3D-FD67-4A40-924E-EA1F9D6BE276}"/>
              </a:ext>
            </a:extLst>
          </p:cNvPr>
          <p:cNvGraphicFramePr>
            <a:graphicFrameLocks noGrp="1"/>
          </p:cNvGraphicFramePr>
          <p:nvPr/>
        </p:nvGraphicFramePr>
        <p:xfrm>
          <a:off x="3093022" y="5244183"/>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02</a:t>
                      </a:r>
                    </a:p>
                  </a:txBody>
                  <a:tcPr/>
                </a:tc>
                <a:tc>
                  <a:txBody>
                    <a:bodyPr/>
                    <a:lstStyle/>
                    <a:p>
                      <a:r>
                        <a:rPr lang="es-NI" dirty="0"/>
                        <a:t>05</a:t>
                      </a:r>
                    </a:p>
                  </a:txBody>
                  <a:tcPr/>
                </a:tc>
                <a:extLst>
                  <a:ext uri="{0D108BD9-81ED-4DB2-BD59-A6C34878D82A}">
                    <a16:rowId xmlns:a16="http://schemas.microsoft.com/office/drawing/2014/main" val="3436060984"/>
                  </a:ext>
                </a:extLst>
              </a:tr>
              <a:tr h="370840">
                <a:tc>
                  <a:txBody>
                    <a:bodyPr/>
                    <a:lstStyle/>
                    <a:p>
                      <a:r>
                        <a:rPr lang="es-NI" dirty="0"/>
                        <a:t>9</a:t>
                      </a:r>
                    </a:p>
                  </a:txBody>
                  <a:tcPr/>
                </a:tc>
                <a:tc>
                  <a:txBody>
                    <a:bodyPr/>
                    <a:lstStyle/>
                    <a:p>
                      <a:r>
                        <a:rPr lang="es-NI" dirty="0"/>
                        <a:t>12</a:t>
                      </a:r>
                    </a:p>
                  </a:txBody>
                  <a:tcPr/>
                </a:tc>
                <a:extLst>
                  <a:ext uri="{0D108BD9-81ED-4DB2-BD59-A6C34878D82A}">
                    <a16:rowId xmlns:a16="http://schemas.microsoft.com/office/drawing/2014/main" val="1050811903"/>
                  </a:ext>
                </a:extLst>
              </a:tr>
            </a:tbl>
          </a:graphicData>
        </a:graphic>
      </p:graphicFrame>
      <p:graphicFrame>
        <p:nvGraphicFramePr>
          <p:cNvPr id="16" name="Tabla 4">
            <a:extLst>
              <a:ext uri="{FF2B5EF4-FFF2-40B4-BE49-F238E27FC236}">
                <a16:creationId xmlns:a16="http://schemas.microsoft.com/office/drawing/2014/main" id="{13D93CF7-3EEA-44BB-887E-B3479F28617C}"/>
              </a:ext>
            </a:extLst>
          </p:cNvPr>
          <p:cNvGraphicFramePr>
            <a:graphicFrameLocks noGrp="1"/>
          </p:cNvGraphicFramePr>
          <p:nvPr/>
        </p:nvGraphicFramePr>
        <p:xfrm>
          <a:off x="4903632" y="5278798"/>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05</a:t>
                      </a:r>
                    </a:p>
                  </a:txBody>
                  <a:tcPr/>
                </a:tc>
                <a:tc>
                  <a:txBody>
                    <a:bodyPr/>
                    <a:lstStyle/>
                    <a:p>
                      <a:r>
                        <a:rPr lang="es-NI" dirty="0"/>
                        <a:t>08</a:t>
                      </a:r>
                    </a:p>
                  </a:txBody>
                  <a:tcPr/>
                </a:tc>
                <a:extLst>
                  <a:ext uri="{0D108BD9-81ED-4DB2-BD59-A6C34878D82A}">
                    <a16:rowId xmlns:a16="http://schemas.microsoft.com/office/drawing/2014/main" val="3436060984"/>
                  </a:ext>
                </a:extLst>
              </a:tr>
              <a:tr h="370840">
                <a:tc>
                  <a:txBody>
                    <a:bodyPr/>
                    <a:lstStyle/>
                    <a:p>
                      <a:r>
                        <a:rPr lang="es-NI" dirty="0"/>
                        <a:t>12</a:t>
                      </a:r>
                    </a:p>
                  </a:txBody>
                  <a:tcPr/>
                </a:tc>
                <a:tc>
                  <a:txBody>
                    <a:bodyPr/>
                    <a:lstStyle/>
                    <a:p>
                      <a:r>
                        <a:rPr lang="es-NI" dirty="0"/>
                        <a:t>15</a:t>
                      </a:r>
                    </a:p>
                  </a:txBody>
                  <a:tcPr/>
                </a:tc>
                <a:extLst>
                  <a:ext uri="{0D108BD9-81ED-4DB2-BD59-A6C34878D82A}">
                    <a16:rowId xmlns:a16="http://schemas.microsoft.com/office/drawing/2014/main" val="1050811903"/>
                  </a:ext>
                </a:extLst>
              </a:tr>
            </a:tbl>
          </a:graphicData>
        </a:graphic>
      </p:graphicFrame>
      <p:graphicFrame>
        <p:nvGraphicFramePr>
          <p:cNvPr id="17" name="Tabla 4">
            <a:extLst>
              <a:ext uri="{FF2B5EF4-FFF2-40B4-BE49-F238E27FC236}">
                <a16:creationId xmlns:a16="http://schemas.microsoft.com/office/drawing/2014/main" id="{F8877448-A6EA-4DE9-8EA3-3F35E5332A0F}"/>
              </a:ext>
            </a:extLst>
          </p:cNvPr>
          <p:cNvGraphicFramePr>
            <a:graphicFrameLocks noGrp="1"/>
          </p:cNvGraphicFramePr>
          <p:nvPr/>
        </p:nvGraphicFramePr>
        <p:xfrm>
          <a:off x="5553160" y="232572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13</a:t>
                      </a:r>
                    </a:p>
                  </a:txBody>
                  <a:tcPr/>
                </a:tc>
                <a:tc>
                  <a:txBody>
                    <a:bodyPr/>
                    <a:lstStyle/>
                    <a:p>
                      <a:r>
                        <a:rPr lang="es-NI" dirty="0"/>
                        <a:t>19</a:t>
                      </a:r>
                    </a:p>
                  </a:txBody>
                  <a:tcPr/>
                </a:tc>
                <a:extLst>
                  <a:ext uri="{0D108BD9-81ED-4DB2-BD59-A6C34878D82A}">
                    <a16:rowId xmlns:a16="http://schemas.microsoft.com/office/drawing/2014/main" val="3436060984"/>
                  </a:ext>
                </a:extLst>
              </a:tr>
              <a:tr h="370840">
                <a:tc>
                  <a:txBody>
                    <a:bodyPr/>
                    <a:lstStyle/>
                    <a:p>
                      <a:r>
                        <a:rPr lang="es-NI" dirty="0"/>
                        <a:t>13</a:t>
                      </a:r>
                    </a:p>
                  </a:txBody>
                  <a:tcPr/>
                </a:tc>
                <a:tc>
                  <a:txBody>
                    <a:bodyPr/>
                    <a:lstStyle/>
                    <a:p>
                      <a:r>
                        <a:rPr lang="es-NI" dirty="0"/>
                        <a:t>19</a:t>
                      </a:r>
                    </a:p>
                  </a:txBody>
                  <a:tcPr/>
                </a:tc>
                <a:extLst>
                  <a:ext uri="{0D108BD9-81ED-4DB2-BD59-A6C34878D82A}">
                    <a16:rowId xmlns:a16="http://schemas.microsoft.com/office/drawing/2014/main" val="1050811903"/>
                  </a:ext>
                </a:extLst>
              </a:tr>
            </a:tbl>
          </a:graphicData>
        </a:graphic>
      </p:graphicFrame>
      <p:graphicFrame>
        <p:nvGraphicFramePr>
          <p:cNvPr id="18" name="Tabla 4">
            <a:extLst>
              <a:ext uri="{FF2B5EF4-FFF2-40B4-BE49-F238E27FC236}">
                <a16:creationId xmlns:a16="http://schemas.microsoft.com/office/drawing/2014/main" id="{58721C35-9BB2-48C4-ABF3-B9E7B6AB8062}"/>
              </a:ext>
            </a:extLst>
          </p:cNvPr>
          <p:cNvGraphicFramePr>
            <a:graphicFrameLocks noGrp="1"/>
          </p:cNvGraphicFramePr>
          <p:nvPr/>
        </p:nvGraphicFramePr>
        <p:xfrm>
          <a:off x="5603972" y="3669382"/>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08</a:t>
                      </a:r>
                    </a:p>
                  </a:txBody>
                  <a:tcPr/>
                </a:tc>
                <a:tc>
                  <a:txBody>
                    <a:bodyPr/>
                    <a:lstStyle/>
                    <a:p>
                      <a:r>
                        <a:rPr lang="es-NI" dirty="0"/>
                        <a:t>12</a:t>
                      </a:r>
                    </a:p>
                  </a:txBody>
                  <a:tcPr/>
                </a:tc>
                <a:extLst>
                  <a:ext uri="{0D108BD9-81ED-4DB2-BD59-A6C34878D82A}">
                    <a16:rowId xmlns:a16="http://schemas.microsoft.com/office/drawing/2014/main" val="3436060984"/>
                  </a:ext>
                </a:extLst>
              </a:tr>
              <a:tr h="370840">
                <a:tc>
                  <a:txBody>
                    <a:bodyPr/>
                    <a:lstStyle/>
                    <a:p>
                      <a:r>
                        <a:rPr lang="es-NI" dirty="0"/>
                        <a:t>15</a:t>
                      </a:r>
                    </a:p>
                  </a:txBody>
                  <a:tcPr/>
                </a:tc>
                <a:tc>
                  <a:txBody>
                    <a:bodyPr/>
                    <a:lstStyle/>
                    <a:p>
                      <a:r>
                        <a:rPr lang="es-NI" dirty="0"/>
                        <a:t>19</a:t>
                      </a:r>
                    </a:p>
                  </a:txBody>
                  <a:tcPr/>
                </a:tc>
                <a:extLst>
                  <a:ext uri="{0D108BD9-81ED-4DB2-BD59-A6C34878D82A}">
                    <a16:rowId xmlns:a16="http://schemas.microsoft.com/office/drawing/2014/main" val="1050811903"/>
                  </a:ext>
                </a:extLst>
              </a:tr>
            </a:tbl>
          </a:graphicData>
        </a:graphic>
      </p:graphicFrame>
      <p:graphicFrame>
        <p:nvGraphicFramePr>
          <p:cNvPr id="19" name="Tabla 4">
            <a:extLst>
              <a:ext uri="{FF2B5EF4-FFF2-40B4-BE49-F238E27FC236}">
                <a16:creationId xmlns:a16="http://schemas.microsoft.com/office/drawing/2014/main" id="{C89DAB0F-92FE-4F15-ABC4-3EA77844498E}"/>
              </a:ext>
            </a:extLst>
          </p:cNvPr>
          <p:cNvGraphicFramePr>
            <a:graphicFrameLocks noGrp="1"/>
          </p:cNvGraphicFramePr>
          <p:nvPr/>
        </p:nvGraphicFramePr>
        <p:xfrm>
          <a:off x="8058819" y="2201806"/>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19</a:t>
                      </a:r>
                    </a:p>
                  </a:txBody>
                  <a:tcPr/>
                </a:tc>
                <a:tc>
                  <a:txBody>
                    <a:bodyPr/>
                    <a:lstStyle/>
                    <a:p>
                      <a:r>
                        <a:rPr lang="es-NI" dirty="0"/>
                        <a:t>20</a:t>
                      </a:r>
                    </a:p>
                  </a:txBody>
                  <a:tcPr/>
                </a:tc>
                <a:extLst>
                  <a:ext uri="{0D108BD9-81ED-4DB2-BD59-A6C34878D82A}">
                    <a16:rowId xmlns:a16="http://schemas.microsoft.com/office/drawing/2014/main" val="3436060984"/>
                  </a:ext>
                </a:extLst>
              </a:tr>
              <a:tr h="370840">
                <a:tc>
                  <a:txBody>
                    <a:bodyPr/>
                    <a:lstStyle/>
                    <a:p>
                      <a:r>
                        <a:rPr lang="es-NI" dirty="0"/>
                        <a:t>19</a:t>
                      </a:r>
                    </a:p>
                  </a:txBody>
                  <a:tcPr/>
                </a:tc>
                <a:tc>
                  <a:txBody>
                    <a:bodyPr/>
                    <a:lstStyle/>
                    <a:p>
                      <a:r>
                        <a:rPr lang="es-NI" dirty="0"/>
                        <a:t>20</a:t>
                      </a:r>
                    </a:p>
                  </a:txBody>
                  <a:tcPr/>
                </a:tc>
                <a:extLst>
                  <a:ext uri="{0D108BD9-81ED-4DB2-BD59-A6C34878D82A}">
                    <a16:rowId xmlns:a16="http://schemas.microsoft.com/office/drawing/2014/main" val="1050811903"/>
                  </a:ext>
                </a:extLst>
              </a:tr>
            </a:tbl>
          </a:graphicData>
        </a:graphic>
      </p:graphicFrame>
      <p:graphicFrame>
        <p:nvGraphicFramePr>
          <p:cNvPr id="20" name="Tabla 4">
            <a:extLst>
              <a:ext uri="{FF2B5EF4-FFF2-40B4-BE49-F238E27FC236}">
                <a16:creationId xmlns:a16="http://schemas.microsoft.com/office/drawing/2014/main" id="{07ECB643-CEF0-43DE-80F1-CFACEBED9D78}"/>
              </a:ext>
            </a:extLst>
          </p:cNvPr>
          <p:cNvGraphicFramePr>
            <a:graphicFrameLocks noGrp="1"/>
          </p:cNvGraphicFramePr>
          <p:nvPr/>
        </p:nvGraphicFramePr>
        <p:xfrm>
          <a:off x="9584226" y="2016930"/>
          <a:ext cx="984055" cy="741680"/>
        </p:xfrm>
        <a:graphic>
          <a:graphicData uri="http://schemas.openxmlformats.org/drawingml/2006/table">
            <a:tbl>
              <a:tblPr firstRow="1" bandRow="1">
                <a:tableStyleId>{5C22544A-7EE6-4342-B048-85BDC9FD1C3A}</a:tableStyleId>
              </a:tblPr>
              <a:tblGrid>
                <a:gridCol w="466399">
                  <a:extLst>
                    <a:ext uri="{9D8B030D-6E8A-4147-A177-3AD203B41FA5}">
                      <a16:colId xmlns:a16="http://schemas.microsoft.com/office/drawing/2014/main" val="4031563130"/>
                    </a:ext>
                  </a:extLst>
                </a:gridCol>
                <a:gridCol w="517656">
                  <a:extLst>
                    <a:ext uri="{9D8B030D-6E8A-4147-A177-3AD203B41FA5}">
                      <a16:colId xmlns:a16="http://schemas.microsoft.com/office/drawing/2014/main" val="2237093618"/>
                    </a:ext>
                  </a:extLst>
                </a:gridCol>
              </a:tblGrid>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3436060984"/>
                  </a:ext>
                </a:extLst>
              </a:tr>
              <a:tr h="370840">
                <a:tc>
                  <a:txBody>
                    <a:bodyPr/>
                    <a:lstStyle/>
                    <a:p>
                      <a:r>
                        <a:rPr lang="es-NI" dirty="0"/>
                        <a:t>20</a:t>
                      </a:r>
                    </a:p>
                  </a:txBody>
                  <a:tcPr/>
                </a:tc>
                <a:tc>
                  <a:txBody>
                    <a:bodyPr/>
                    <a:lstStyle/>
                    <a:p>
                      <a:r>
                        <a:rPr lang="es-NI" dirty="0"/>
                        <a:t>22</a:t>
                      </a:r>
                    </a:p>
                  </a:txBody>
                  <a:tcPr/>
                </a:tc>
                <a:extLst>
                  <a:ext uri="{0D108BD9-81ED-4DB2-BD59-A6C34878D82A}">
                    <a16:rowId xmlns:a16="http://schemas.microsoft.com/office/drawing/2014/main" val="1050811903"/>
                  </a:ext>
                </a:extLst>
              </a:tr>
            </a:tbl>
          </a:graphicData>
        </a:graphic>
      </p:graphicFrame>
      <p:sp>
        <p:nvSpPr>
          <p:cNvPr id="6" name="Rectángulo 5">
            <a:extLst>
              <a:ext uri="{FF2B5EF4-FFF2-40B4-BE49-F238E27FC236}">
                <a16:creationId xmlns:a16="http://schemas.microsoft.com/office/drawing/2014/main" id="{5534C9E6-C416-4120-9292-2D480EEF6704}"/>
              </a:ext>
            </a:extLst>
          </p:cNvPr>
          <p:cNvSpPr/>
          <p:nvPr/>
        </p:nvSpPr>
        <p:spPr>
          <a:xfrm>
            <a:off x="791489" y="1151538"/>
            <a:ext cx="688009"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H=0</a:t>
            </a:r>
          </a:p>
        </p:txBody>
      </p:sp>
      <p:sp>
        <p:nvSpPr>
          <p:cNvPr id="22" name="Rectángulo 21">
            <a:extLst>
              <a:ext uri="{FF2B5EF4-FFF2-40B4-BE49-F238E27FC236}">
                <a16:creationId xmlns:a16="http://schemas.microsoft.com/office/drawing/2014/main" id="{A54F8653-4B72-4541-B8D8-711C1F19709E}"/>
              </a:ext>
            </a:extLst>
          </p:cNvPr>
          <p:cNvSpPr/>
          <p:nvPr/>
        </p:nvSpPr>
        <p:spPr>
          <a:xfrm>
            <a:off x="2271442" y="633162"/>
            <a:ext cx="688009"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H=0</a:t>
            </a:r>
          </a:p>
        </p:txBody>
      </p:sp>
      <p:sp>
        <p:nvSpPr>
          <p:cNvPr id="23" name="Rectángulo 22">
            <a:extLst>
              <a:ext uri="{FF2B5EF4-FFF2-40B4-BE49-F238E27FC236}">
                <a16:creationId xmlns:a16="http://schemas.microsoft.com/office/drawing/2014/main" id="{9A12986E-D945-4515-B232-399359A5F72C}"/>
              </a:ext>
            </a:extLst>
          </p:cNvPr>
          <p:cNvSpPr/>
          <p:nvPr/>
        </p:nvSpPr>
        <p:spPr>
          <a:xfrm>
            <a:off x="4327395" y="646823"/>
            <a:ext cx="688009"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H=0</a:t>
            </a:r>
          </a:p>
        </p:txBody>
      </p:sp>
      <p:sp>
        <p:nvSpPr>
          <p:cNvPr id="24" name="Rectángulo 23">
            <a:extLst>
              <a:ext uri="{FF2B5EF4-FFF2-40B4-BE49-F238E27FC236}">
                <a16:creationId xmlns:a16="http://schemas.microsoft.com/office/drawing/2014/main" id="{B6A68814-D020-4365-B759-0F2CC4548351}"/>
              </a:ext>
            </a:extLst>
          </p:cNvPr>
          <p:cNvSpPr/>
          <p:nvPr/>
        </p:nvSpPr>
        <p:spPr>
          <a:xfrm>
            <a:off x="791216" y="5105257"/>
            <a:ext cx="688010"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H=7</a:t>
            </a:r>
          </a:p>
        </p:txBody>
      </p:sp>
      <p:sp>
        <p:nvSpPr>
          <p:cNvPr id="25" name="Rectángulo 24">
            <a:extLst>
              <a:ext uri="{FF2B5EF4-FFF2-40B4-BE49-F238E27FC236}">
                <a16:creationId xmlns:a16="http://schemas.microsoft.com/office/drawing/2014/main" id="{6E86492A-8BA2-4470-8112-B4B7086E2D82}"/>
              </a:ext>
            </a:extLst>
          </p:cNvPr>
          <p:cNvSpPr/>
          <p:nvPr/>
        </p:nvSpPr>
        <p:spPr>
          <a:xfrm>
            <a:off x="2405013" y="5378672"/>
            <a:ext cx="688009"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H=7</a:t>
            </a:r>
          </a:p>
        </p:txBody>
      </p:sp>
      <p:sp>
        <p:nvSpPr>
          <p:cNvPr id="26" name="Rectángulo 25">
            <a:extLst>
              <a:ext uri="{FF2B5EF4-FFF2-40B4-BE49-F238E27FC236}">
                <a16:creationId xmlns:a16="http://schemas.microsoft.com/office/drawing/2014/main" id="{4102B076-DA86-4308-BA75-BC3967AF50F1}"/>
              </a:ext>
            </a:extLst>
          </p:cNvPr>
          <p:cNvSpPr/>
          <p:nvPr/>
        </p:nvSpPr>
        <p:spPr>
          <a:xfrm>
            <a:off x="4208823" y="5378672"/>
            <a:ext cx="688010"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H=7</a:t>
            </a:r>
          </a:p>
        </p:txBody>
      </p:sp>
      <p:sp>
        <p:nvSpPr>
          <p:cNvPr id="27" name="Rectángulo 26">
            <a:extLst>
              <a:ext uri="{FF2B5EF4-FFF2-40B4-BE49-F238E27FC236}">
                <a16:creationId xmlns:a16="http://schemas.microsoft.com/office/drawing/2014/main" id="{67D9138B-40E1-41E4-9E38-A8BDE76DDA2D}"/>
              </a:ext>
            </a:extLst>
          </p:cNvPr>
          <p:cNvSpPr/>
          <p:nvPr/>
        </p:nvSpPr>
        <p:spPr>
          <a:xfrm>
            <a:off x="4858352" y="2465729"/>
            <a:ext cx="688009"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H=0</a:t>
            </a:r>
          </a:p>
        </p:txBody>
      </p:sp>
      <p:sp>
        <p:nvSpPr>
          <p:cNvPr id="28" name="Rectángulo 27">
            <a:extLst>
              <a:ext uri="{FF2B5EF4-FFF2-40B4-BE49-F238E27FC236}">
                <a16:creationId xmlns:a16="http://schemas.microsoft.com/office/drawing/2014/main" id="{208CBDF1-7074-4F63-87E9-A4C6AB326B4E}"/>
              </a:ext>
            </a:extLst>
          </p:cNvPr>
          <p:cNvSpPr/>
          <p:nvPr/>
        </p:nvSpPr>
        <p:spPr>
          <a:xfrm>
            <a:off x="4865150" y="3796216"/>
            <a:ext cx="688010"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H=7</a:t>
            </a:r>
          </a:p>
        </p:txBody>
      </p:sp>
      <p:sp>
        <p:nvSpPr>
          <p:cNvPr id="29" name="Rectángulo 28">
            <a:extLst>
              <a:ext uri="{FF2B5EF4-FFF2-40B4-BE49-F238E27FC236}">
                <a16:creationId xmlns:a16="http://schemas.microsoft.com/office/drawing/2014/main" id="{C06B9170-1074-4111-814D-654E372DE2C6}"/>
              </a:ext>
            </a:extLst>
          </p:cNvPr>
          <p:cNvSpPr/>
          <p:nvPr/>
        </p:nvSpPr>
        <p:spPr>
          <a:xfrm>
            <a:off x="8206841" y="1744156"/>
            <a:ext cx="688009"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H=0</a:t>
            </a:r>
          </a:p>
        </p:txBody>
      </p:sp>
      <p:sp>
        <p:nvSpPr>
          <p:cNvPr id="30" name="Rectángulo 29">
            <a:extLst>
              <a:ext uri="{FF2B5EF4-FFF2-40B4-BE49-F238E27FC236}">
                <a16:creationId xmlns:a16="http://schemas.microsoft.com/office/drawing/2014/main" id="{544DE3D2-F4AB-4186-A48D-4F46657D0792}"/>
              </a:ext>
            </a:extLst>
          </p:cNvPr>
          <p:cNvSpPr/>
          <p:nvPr/>
        </p:nvSpPr>
        <p:spPr>
          <a:xfrm>
            <a:off x="9732248" y="1608330"/>
            <a:ext cx="688009" cy="461665"/>
          </a:xfrm>
          <a:prstGeom prst="rect">
            <a:avLst/>
          </a:prstGeom>
          <a:noFill/>
        </p:spPr>
        <p:txBody>
          <a:bodyPr wrap="none" lIns="91440" tIns="45720" rIns="91440" bIns="45720">
            <a:spAutoFit/>
          </a:bodyPr>
          <a:lstStyle/>
          <a:p>
            <a:pPr algn="ctr"/>
            <a:r>
              <a:rPr lang="es-ES" sz="2400" b="1" cap="none" spc="0" dirty="0">
                <a:ln w="0"/>
                <a:solidFill>
                  <a:schemeClr val="tx1"/>
                </a:solidFill>
                <a:effectLst>
                  <a:outerShdw blurRad="38100" dist="19050" dir="2700000" algn="tl" rotWithShape="0">
                    <a:schemeClr val="dk1">
                      <a:alpha val="40000"/>
                    </a:schemeClr>
                  </a:outerShdw>
                </a:effectLst>
              </a:rPr>
              <a:t>H=0</a:t>
            </a:r>
          </a:p>
        </p:txBody>
      </p:sp>
      <p:sp>
        <p:nvSpPr>
          <p:cNvPr id="31" name="Rectángulo 30">
            <a:extLst>
              <a:ext uri="{FF2B5EF4-FFF2-40B4-BE49-F238E27FC236}">
                <a16:creationId xmlns:a16="http://schemas.microsoft.com/office/drawing/2014/main" id="{27188B52-65FC-4B51-B674-5B31996CA92E}"/>
              </a:ext>
            </a:extLst>
          </p:cNvPr>
          <p:cNvSpPr/>
          <p:nvPr/>
        </p:nvSpPr>
        <p:spPr>
          <a:xfrm>
            <a:off x="6988564" y="4411062"/>
            <a:ext cx="4625842" cy="1323439"/>
          </a:xfrm>
          <a:prstGeom prst="rect">
            <a:avLst/>
          </a:prstGeom>
          <a:noFill/>
        </p:spPr>
        <p:txBody>
          <a:bodyPr wrap="square" lIns="91440" tIns="45720" rIns="91440" bIns="45720">
            <a:spAutoFit/>
          </a:bodyPr>
          <a:lstStyle/>
          <a:p>
            <a:pPr algn="ctr"/>
            <a:r>
              <a:rPr lang="es-ES" sz="2000" dirty="0">
                <a:ln w="0"/>
                <a:effectLst>
                  <a:outerShdw blurRad="38100" dist="19050" dir="2700000" algn="tl" rotWithShape="0">
                    <a:schemeClr val="dk1">
                      <a:alpha val="40000"/>
                    </a:schemeClr>
                  </a:outerShdw>
                </a:effectLst>
              </a:rPr>
              <a:t>La ruta crítica es el camino de las tareas cuya holgura es igual a cero</a:t>
            </a:r>
          </a:p>
          <a:p>
            <a:pPr algn="ctr"/>
            <a:endParaRPr lang="es-ES" sz="2000" b="0" cap="none" spc="0" dirty="0">
              <a:ln w="0"/>
              <a:solidFill>
                <a:schemeClr val="tx1"/>
              </a:solidFill>
              <a:effectLst>
                <a:outerShdw blurRad="38100" dist="19050" dir="2700000" algn="tl" rotWithShape="0">
                  <a:schemeClr val="dk1">
                    <a:alpha val="40000"/>
                  </a:schemeClr>
                </a:outerShdw>
              </a:effectLst>
            </a:endParaRPr>
          </a:p>
          <a:p>
            <a:pPr algn="ctr"/>
            <a:r>
              <a:rPr lang="es-ES" sz="2000" b="1" dirty="0">
                <a:ln w="0"/>
                <a:effectLst>
                  <a:outerShdw blurRad="38100" dist="19050" dir="2700000" algn="tl" rotWithShape="0">
                    <a:schemeClr val="dk1">
                      <a:alpha val="40000"/>
                    </a:schemeClr>
                  </a:outerShdw>
                </a:effectLst>
              </a:rPr>
              <a:t>A C E G I J</a:t>
            </a:r>
            <a:endParaRPr lang="es-ES" sz="20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409715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811</Words>
  <Application>Microsoft Office PowerPoint</Application>
  <PresentationFormat>Panorámica</PresentationFormat>
  <Paragraphs>288</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AntonioAguirre</cp:lastModifiedBy>
  <cp:revision>7</cp:revision>
  <dcterms:created xsi:type="dcterms:W3CDTF">2020-07-04T18:01:00Z</dcterms:created>
  <dcterms:modified xsi:type="dcterms:W3CDTF">2025-11-01T21:32:44Z</dcterms:modified>
</cp:coreProperties>
</file>