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F9D19-198D-4C42-9C82-98E135D4C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8E700-2B0B-4353-9430-0B89B98BA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34997-84BB-4FA2-AD28-175E1EE0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87D1A-D164-462F-B256-E38327EE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1B8A4D-623E-4240-AF3F-7003155F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8285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587AE-ECFB-4B58-81BD-4F2D29FE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90DB6-D9EA-4699-8385-B598F86DB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7C8609-9568-4762-AE5A-2C31CFB3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70569D-8A76-4124-933B-8D65C459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D40955-3844-4766-A3D7-D19B1035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4594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A3F69-F05E-4684-B908-140950A8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FCE0D6-C08E-4920-AC48-04598A807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B9FE7-409A-4C74-B091-482B5E3A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AC34BB-296B-451E-B7D8-57DE96D1C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CD4388-871E-44D2-9B89-5FF8A5E3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2350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003D5-CFA9-482E-9E24-34F2E792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D20E2B-9763-41F2-B1D2-0F74BFFC5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D7ECB8-3A95-411F-AA9F-13A1398E3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ADC262-0E74-4536-ACBC-C2D20FB26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8A3ABD-871B-49A4-81BF-3E5EC22A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A147F2-4A26-454E-8533-F6FE4520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2907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7F884-A5AE-4F38-A1E8-B6E8DD67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C1D18B-1869-48D7-8062-BDF65B1E1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2719E1-417B-4F24-862F-4F84DF52F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13D1B8-FA92-4FFA-A420-195AF661B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4467ED-2BDC-4198-BC5C-29CB0CAB2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468446-A31E-4728-9000-2E196FF2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6925D2-1177-47AD-9663-C12AEC59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4CF5F8-7B64-4C13-85CF-031E3971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6790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68F4-F90F-4BB6-AE43-52480C4B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8BF9E13-D2B9-4D26-8FED-CF362420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DFF60A-4C10-4EEF-9DE9-93A337BD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F63CB1-F4D5-4EC2-8A96-AEBBD7D3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2044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1E2A54-B740-4ECA-B16E-A8AB1199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59C723-BEF5-44CF-BB3C-BE0E244F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3F13D9-3BFC-4467-997B-AAD60488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1174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E9C31-1518-43FC-9F99-5C148224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8E656B-1390-4BD1-A6A9-5A12D9289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21FEF3-E24F-4F47-9D4B-5543974AE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1ECB03-7BE7-4DB3-81A2-4ABBC329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04592-1411-4F87-9A5A-9C2D7609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7CA3AE-5CCB-48D8-B247-D9B5930F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9945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47F08-371E-4C43-A679-91EEC3CC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B1CBA1-01D8-4F70-8BBB-D5877E13F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08776F-C09C-4C3C-8509-553C05F75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EA3ECD-418F-453C-8AFE-88F324B2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24D373-460D-4E2E-8417-55B040A0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0DE4C7-C196-4392-98FF-44FD0F4C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9601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25F9C-5111-4F50-8F77-D40A90BA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1EEB7A-9AFB-4217-BBD9-BA09239D3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8CE85-E8AB-4A02-96FD-34797174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4D95C-160E-4C40-B164-FAE3FD07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E1A872-1EEF-481F-ABC7-F394820C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4161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0D0497-5C18-4820-B808-D88D8A5BD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E698FD-846C-46B9-8840-BBC87F86A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A95F1-0541-4CC1-962D-672F30EA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3C58DA-4BF0-4D89-9A9C-C8896BC2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F4672E-5239-468C-8C7C-6B9B0203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3538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C87D47-BC32-4F9A-99A9-1DD898F9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F36C48-DE05-4E8A-87F8-A29968B14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AF7C24-AB31-4C56-BB6E-0CC632396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9246E-EED5-4615-A44D-D71047E9395B}" type="datetimeFigureOut">
              <a:rPr lang="es-NI" smtClean="0"/>
              <a:t>5/11/2020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6126EA-C0F7-491F-A039-5141FFF28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F68C54-864D-49DB-BFDD-291D971E0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CD8D3-D0D4-4B80-B14F-9372337B51E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079961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7" y="1890135"/>
            <a:ext cx="114742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La regresión lineal es un campo de estudio que enfatiza la </a:t>
            </a:r>
            <a:r>
              <a:rPr lang="es-ES" sz="2400" b="1" dirty="0"/>
              <a:t>relación estadística</a:t>
            </a:r>
            <a:r>
              <a:rPr lang="es-ES" sz="2400" dirty="0"/>
              <a:t> entre dos </a:t>
            </a:r>
            <a:r>
              <a:rPr lang="es-ES" sz="2400" b="1" dirty="0"/>
              <a:t>variables continuas</a:t>
            </a:r>
            <a:r>
              <a:rPr lang="es-ES" sz="2400" dirty="0"/>
              <a:t> conocidas como </a:t>
            </a:r>
            <a:r>
              <a:rPr lang="es-ES" sz="2400" b="1" dirty="0"/>
              <a:t>variables de predicción</a:t>
            </a:r>
            <a:r>
              <a:rPr lang="es-ES" sz="2400" dirty="0"/>
              <a:t> y </a:t>
            </a:r>
            <a:r>
              <a:rPr lang="es-ES" sz="2400" b="1" dirty="0"/>
              <a:t>respuesta</a:t>
            </a:r>
            <a:r>
              <a:rPr lang="es-ES" sz="2400" dirty="0"/>
              <a:t> . (Nota: cuando hay más de una variable predictora, se convierte en regresión lineal múltiple).</a:t>
            </a:r>
          </a:p>
          <a:p>
            <a:pPr algn="just"/>
            <a:endParaRPr lang="es-ES" sz="2400" dirty="0"/>
          </a:p>
          <a:p>
            <a:pPr marL="1071563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La variable predictora se denota con mayor frecuencia como </a:t>
            </a:r>
            <a:r>
              <a:rPr lang="es-ES" sz="2400" dirty="0">
                <a:solidFill>
                  <a:srgbClr val="FF0000"/>
                </a:solidFill>
              </a:rPr>
              <a:t>x</a:t>
            </a:r>
            <a:r>
              <a:rPr lang="es-ES" sz="2400" dirty="0"/>
              <a:t> y también se conoce como variable independiente.</a:t>
            </a:r>
          </a:p>
          <a:p>
            <a:pPr marL="1071563" indent="-285750" algn="just"/>
            <a:endParaRPr lang="es-ES" sz="2400" dirty="0"/>
          </a:p>
          <a:p>
            <a:pPr marL="1071563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La variable de respuesta se denota con mayor frecuencia como </a:t>
            </a:r>
            <a:r>
              <a:rPr lang="es-ES" sz="2400" dirty="0">
                <a:solidFill>
                  <a:srgbClr val="0066FF"/>
                </a:solidFill>
              </a:rPr>
              <a:t>y</a:t>
            </a:r>
            <a:r>
              <a:rPr lang="es-ES" sz="2400" dirty="0"/>
              <a:t> </a:t>
            </a:r>
            <a:r>
              <a:rPr lang="es-ES" sz="2400" dirty="0" err="1"/>
              <a:t>y</a:t>
            </a:r>
            <a:r>
              <a:rPr lang="es-ES" sz="2400" dirty="0"/>
              <a:t> también se conoce como variable dependiente</a:t>
            </a:r>
          </a:p>
        </p:txBody>
      </p:sp>
    </p:spTree>
    <p:extLst>
      <p:ext uri="{BB962C8B-B14F-4D97-AF65-F5344CB8AC3E}">
        <p14:creationId xmlns:p14="http://schemas.microsoft.com/office/powerpoint/2010/main" val="115762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7" y="1543294"/>
            <a:ext cx="114742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Un modelo de regresión es un modelo que permite describir como influye una variable X sobre otra variable Y . </a:t>
            </a:r>
          </a:p>
          <a:p>
            <a:pPr algn="just"/>
            <a:endParaRPr lang="es-ES" sz="2400" dirty="0"/>
          </a:p>
          <a:p>
            <a:pPr marL="1166813" algn="just"/>
            <a:r>
              <a:rPr lang="es-ES" sz="2400" dirty="0">
                <a:solidFill>
                  <a:srgbClr val="FF3300"/>
                </a:solidFill>
              </a:rPr>
              <a:t>X: Variable independiente o explicativa o exógena </a:t>
            </a:r>
          </a:p>
          <a:p>
            <a:pPr marL="1166813" algn="just"/>
            <a:r>
              <a:rPr lang="es-ES" sz="2400" dirty="0">
                <a:solidFill>
                  <a:srgbClr val="0066FF"/>
                </a:solidFill>
              </a:rPr>
              <a:t>Y: Variable dependiente o respuesta o endógena 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El objetivo es obtener estimaciones razonables de Y para distintos valores de X a partir de una muestra de n pares de valores (x1, y1), . . . ,(</a:t>
            </a:r>
            <a:r>
              <a:rPr lang="es-ES" sz="2400" dirty="0" err="1"/>
              <a:t>xn</a:t>
            </a:r>
            <a:r>
              <a:rPr lang="es-ES" sz="2400" dirty="0"/>
              <a:t>, </a:t>
            </a:r>
            <a:r>
              <a:rPr lang="es-ES" sz="2400" dirty="0" err="1"/>
              <a:t>yn</a:t>
            </a:r>
            <a:r>
              <a:rPr lang="es-E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1768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6" y="1351508"/>
            <a:ext cx="114742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Ejemplos</a:t>
            </a:r>
          </a:p>
          <a:p>
            <a:pPr algn="just"/>
            <a:endParaRPr lang="es-ES" sz="2400" dirty="0"/>
          </a:p>
          <a:p>
            <a:pPr marL="1071563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Estudiar como influye la </a:t>
            </a:r>
            <a:r>
              <a:rPr lang="es-ES" sz="2400" dirty="0">
                <a:solidFill>
                  <a:srgbClr val="FF3300"/>
                </a:solidFill>
              </a:rPr>
              <a:t>estatura del padre </a:t>
            </a:r>
            <a:r>
              <a:rPr lang="es-ES" sz="2400" dirty="0"/>
              <a:t>sobre la </a:t>
            </a:r>
            <a:r>
              <a:rPr lang="es-ES" sz="2400" dirty="0">
                <a:solidFill>
                  <a:srgbClr val="0066FF"/>
                </a:solidFill>
              </a:rPr>
              <a:t>estatura del hijo</a:t>
            </a:r>
            <a:r>
              <a:rPr lang="es-ES" sz="2400" dirty="0"/>
              <a:t>.</a:t>
            </a:r>
          </a:p>
          <a:p>
            <a:pPr marL="1071563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Estimar el </a:t>
            </a:r>
            <a:r>
              <a:rPr lang="es-ES" sz="2400" dirty="0">
                <a:solidFill>
                  <a:srgbClr val="0066FF"/>
                </a:solidFill>
              </a:rPr>
              <a:t>precio de una vivienda </a:t>
            </a:r>
            <a:r>
              <a:rPr lang="es-ES" sz="2400" dirty="0"/>
              <a:t>en función de su </a:t>
            </a:r>
            <a:r>
              <a:rPr lang="es-ES" sz="2400" dirty="0">
                <a:solidFill>
                  <a:srgbClr val="FF3300"/>
                </a:solidFill>
              </a:rPr>
              <a:t>superficie</a:t>
            </a:r>
            <a:r>
              <a:rPr lang="es-ES" sz="2400" dirty="0"/>
              <a:t>.</a:t>
            </a:r>
          </a:p>
          <a:p>
            <a:pPr marL="1071563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Predecir la </a:t>
            </a:r>
            <a:r>
              <a:rPr lang="es-ES" sz="2400" dirty="0">
                <a:solidFill>
                  <a:srgbClr val="0066FF"/>
                </a:solidFill>
              </a:rPr>
              <a:t>tasa de paro </a:t>
            </a:r>
            <a:r>
              <a:rPr lang="es-ES" sz="2400" dirty="0"/>
              <a:t>para cada </a:t>
            </a:r>
            <a:r>
              <a:rPr lang="es-ES" sz="2400" dirty="0">
                <a:solidFill>
                  <a:srgbClr val="FF3300"/>
                </a:solidFill>
              </a:rPr>
              <a:t>edad</a:t>
            </a:r>
            <a:r>
              <a:rPr lang="es-ES" sz="2400" dirty="0"/>
              <a:t>.</a:t>
            </a:r>
          </a:p>
          <a:p>
            <a:pPr marL="1071563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Aproximar la </a:t>
            </a:r>
            <a:r>
              <a:rPr lang="es-ES" sz="2400" dirty="0">
                <a:solidFill>
                  <a:srgbClr val="0066FF"/>
                </a:solidFill>
              </a:rPr>
              <a:t>calificación obtenida en una materia</a:t>
            </a:r>
            <a:r>
              <a:rPr lang="es-ES" sz="2400" dirty="0"/>
              <a:t> según el </a:t>
            </a:r>
            <a:r>
              <a:rPr lang="es-ES" sz="2400" dirty="0">
                <a:solidFill>
                  <a:srgbClr val="FF3300"/>
                </a:solidFill>
              </a:rPr>
              <a:t>número de horas de estudio semanal</a:t>
            </a:r>
            <a:r>
              <a:rPr lang="es-ES" sz="2400" dirty="0"/>
              <a:t>.</a:t>
            </a:r>
          </a:p>
          <a:p>
            <a:pPr marL="1071563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Prever el tiempo de computación de un programa en función de la </a:t>
            </a:r>
            <a:r>
              <a:rPr lang="es-ES" sz="2400" dirty="0">
                <a:solidFill>
                  <a:srgbClr val="FF3300"/>
                </a:solidFill>
              </a:rPr>
              <a:t>velocidad del procesador</a:t>
            </a:r>
            <a:r>
              <a:rPr lang="es-E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055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7" y="1335742"/>
            <a:ext cx="1147424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Tipos de relación</a:t>
            </a:r>
          </a:p>
          <a:p>
            <a:pPr algn="just"/>
            <a:endParaRPr lang="es-ES" sz="2400" u="sng" dirty="0"/>
          </a:p>
          <a:p>
            <a:pPr algn="just"/>
            <a:r>
              <a:rPr lang="es-ES" sz="2400" u="sng" dirty="0"/>
              <a:t>Determinista</a:t>
            </a:r>
            <a:r>
              <a:rPr lang="es-ES" sz="2400" dirty="0"/>
              <a:t>: Conocido el valor de X, el valor de Y queda</a:t>
            </a:r>
          </a:p>
          <a:p>
            <a:pPr algn="just"/>
            <a:r>
              <a:rPr lang="es-ES" sz="2400" dirty="0"/>
              <a:t>perfectamente establecido. Son del tipo:</a:t>
            </a:r>
          </a:p>
          <a:p>
            <a:pPr algn="just"/>
            <a:endParaRPr lang="es-ES" sz="2400" dirty="0"/>
          </a:p>
          <a:p>
            <a:pPr algn="ctr"/>
            <a:r>
              <a:rPr lang="es-ES" sz="2400" dirty="0"/>
              <a:t>y = f (x)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Ejemplo: La relación existente entre la temperatura en grados</a:t>
            </a:r>
          </a:p>
          <a:p>
            <a:pPr algn="just"/>
            <a:r>
              <a:rPr lang="es-ES" sz="2400" dirty="0"/>
              <a:t>centígrados (X) y grados Fahrenheit (Y ) es:</a:t>
            </a:r>
          </a:p>
          <a:p>
            <a:pPr algn="just"/>
            <a:endParaRPr lang="es-ES" sz="2400" dirty="0"/>
          </a:p>
          <a:p>
            <a:pPr algn="ctr"/>
            <a:r>
              <a:rPr lang="es-ES" sz="2400" dirty="0"/>
              <a:t>y = 1,8x + 32</a:t>
            </a:r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36079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7" y="1335742"/>
            <a:ext cx="1147424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Tipos de relación</a:t>
            </a:r>
          </a:p>
          <a:p>
            <a:pPr algn="just"/>
            <a:endParaRPr lang="es-ES" sz="2400" u="sng" dirty="0"/>
          </a:p>
          <a:p>
            <a:pPr algn="just"/>
            <a:r>
              <a:rPr lang="es-ES" sz="2400" u="sng" dirty="0"/>
              <a:t>No determinista</a:t>
            </a:r>
            <a:r>
              <a:rPr lang="es-ES" sz="2400" dirty="0"/>
              <a:t>: Conocido el valor de X, el valor de Y no queda</a:t>
            </a:r>
          </a:p>
          <a:p>
            <a:pPr algn="just"/>
            <a:r>
              <a:rPr lang="es-ES" sz="2400" dirty="0"/>
              <a:t>perfectamente establecido. Son del tipo:</a:t>
            </a:r>
          </a:p>
          <a:p>
            <a:pPr algn="just"/>
            <a:endParaRPr lang="es-ES" sz="2400" dirty="0"/>
          </a:p>
          <a:p>
            <a:pPr algn="ctr"/>
            <a:r>
              <a:rPr lang="es-ES" sz="2400" dirty="0"/>
              <a:t>y = f (x) + u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donde u es una perturbación desconocida (variable aleatoria).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Ejemplo: Se tiene una muestra del volumen de producción (X) y el</a:t>
            </a:r>
          </a:p>
          <a:p>
            <a:pPr algn="just"/>
            <a:r>
              <a:rPr lang="es-ES" sz="2400" dirty="0"/>
              <a:t>costo total (Y ) asociado a un producto en un grupo de empresas.</a:t>
            </a:r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95304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6" y="1335742"/>
            <a:ext cx="1147424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Tipos de relación</a:t>
            </a:r>
          </a:p>
          <a:p>
            <a:pPr algn="just"/>
            <a:endParaRPr lang="es-ES" sz="2400" u="sng" dirty="0"/>
          </a:p>
          <a:p>
            <a:pPr algn="just"/>
            <a:r>
              <a:rPr lang="es-ES" sz="2400" u="sng" dirty="0"/>
              <a:t>Lineal</a:t>
            </a:r>
            <a:r>
              <a:rPr lang="es-ES" sz="2400" dirty="0"/>
              <a:t>: Cuando la función f (x) es lineal,</a:t>
            </a:r>
          </a:p>
          <a:p>
            <a:pPr algn="just"/>
            <a:endParaRPr lang="es-ES" sz="2400" dirty="0"/>
          </a:p>
          <a:p>
            <a:pPr algn="ctr"/>
            <a:r>
              <a:rPr lang="es-ES" sz="2400" dirty="0"/>
              <a:t>f (x) = </a:t>
            </a:r>
            <a:r>
              <a:rPr lang="el-GR" sz="2400" dirty="0"/>
              <a:t>β</a:t>
            </a:r>
            <a:r>
              <a:rPr lang="el-GR" sz="2400" baseline="-25000" dirty="0"/>
              <a:t>0</a:t>
            </a:r>
            <a:r>
              <a:rPr lang="el-GR" sz="2400" dirty="0"/>
              <a:t> + β</a:t>
            </a:r>
            <a:r>
              <a:rPr lang="el-GR" sz="2400" baseline="-25000" dirty="0"/>
              <a:t>1</a:t>
            </a:r>
            <a:r>
              <a:rPr lang="es-ES" sz="2400" dirty="0"/>
              <a:t>x</a:t>
            </a:r>
          </a:p>
          <a:p>
            <a:pPr algn="ctr"/>
            <a:endParaRPr lang="es-ES" sz="2400" dirty="0"/>
          </a:p>
          <a:p>
            <a:pPr marL="1876425" algn="ctr"/>
            <a:endParaRPr lang="es-ES" sz="2400" dirty="0"/>
          </a:p>
          <a:p>
            <a:pPr marL="1876425" algn="just"/>
            <a:r>
              <a:rPr lang="es-ES" sz="2400" dirty="0"/>
              <a:t>Si </a:t>
            </a:r>
            <a:r>
              <a:rPr lang="el-GR" sz="2400" dirty="0"/>
              <a:t>β</a:t>
            </a:r>
            <a:r>
              <a:rPr lang="el-GR" sz="2400" baseline="-25000" dirty="0"/>
              <a:t>1</a:t>
            </a:r>
            <a:r>
              <a:rPr lang="el-GR" sz="2400" dirty="0"/>
              <a:t> &gt; 0 </a:t>
            </a:r>
            <a:r>
              <a:rPr lang="es-ES" sz="2400" dirty="0"/>
              <a:t>hay relación lineal positiva.</a:t>
            </a:r>
          </a:p>
          <a:p>
            <a:pPr marL="1876425" algn="just"/>
            <a:r>
              <a:rPr lang="es-ES" sz="2400" dirty="0"/>
              <a:t>Si </a:t>
            </a:r>
            <a:r>
              <a:rPr lang="el-GR" sz="2400" dirty="0"/>
              <a:t>β</a:t>
            </a:r>
            <a:r>
              <a:rPr lang="el-GR" sz="2400" baseline="-25000" dirty="0"/>
              <a:t>1</a:t>
            </a:r>
            <a:r>
              <a:rPr lang="el-GR" sz="2400" dirty="0"/>
              <a:t> &lt; 0 </a:t>
            </a:r>
            <a:r>
              <a:rPr lang="es-ES" sz="2400" dirty="0"/>
              <a:t>hay relación lineal negativa.</a:t>
            </a:r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43412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1846278" y="253632"/>
            <a:ext cx="8499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6" y="1335742"/>
            <a:ext cx="114742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Tipos de relación</a:t>
            </a:r>
          </a:p>
          <a:p>
            <a:pPr algn="just"/>
            <a:endParaRPr lang="es-ES" sz="2400" u="sng" dirty="0"/>
          </a:p>
          <a:p>
            <a:pPr algn="just"/>
            <a:r>
              <a:rPr lang="es-ES" sz="2400" u="sng" dirty="0"/>
              <a:t>No lineal</a:t>
            </a:r>
            <a:r>
              <a:rPr lang="es-ES" sz="2400" dirty="0"/>
              <a:t>: Cuando la función f(x) no es lineal. Por ejemplo,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f (x) = log(x)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f (x) = x</a:t>
            </a:r>
            <a:r>
              <a:rPr lang="es-ES" sz="2400" baseline="30000" dirty="0"/>
              <a:t>2</a:t>
            </a:r>
            <a:r>
              <a:rPr lang="es-ES" sz="2400" dirty="0"/>
              <a:t> + 3, . . 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u="sng" dirty="0"/>
              <a:t>Ausencia de relación</a:t>
            </a:r>
            <a:r>
              <a:rPr lang="es-ES" sz="2400" dirty="0"/>
              <a:t>: Cuando f (x) = 0</a:t>
            </a:r>
          </a:p>
        </p:txBody>
      </p:sp>
    </p:spTree>
    <p:extLst>
      <p:ext uri="{BB962C8B-B14F-4D97-AF65-F5344CB8AC3E}">
        <p14:creationId xmlns:p14="http://schemas.microsoft.com/office/powerpoint/2010/main" val="301754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6E5A40-1E1C-4045-B5BF-54DCA746B13C}"/>
              </a:ext>
            </a:extLst>
          </p:cNvPr>
          <p:cNvSpPr txBox="1"/>
          <p:nvPr/>
        </p:nvSpPr>
        <p:spPr>
          <a:xfrm>
            <a:off x="358876" y="1335742"/>
            <a:ext cx="11474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Los datos de la producción de trigo en toneladas y el precio del kilo de harina en córdobas en la década de los 2000 en Nicaragua fueron:</a:t>
            </a:r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C1E0B6-6553-4736-A4CA-09FA62CF1FD0}"/>
              </a:ext>
            </a:extLst>
          </p:cNvPr>
          <p:cNvSpPr/>
          <p:nvPr/>
        </p:nvSpPr>
        <p:spPr>
          <a:xfrm>
            <a:off x="2799693" y="2275958"/>
            <a:ext cx="65926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Producción de trigo	30 28 32 25 25 25 22 24 35 40</a:t>
            </a:r>
          </a:p>
          <a:p>
            <a:pPr algn="just"/>
            <a:r>
              <a:rPr lang="es-ES" dirty="0"/>
              <a:t>Precio de la harina	25 30 27 40 42 40 50 45 30 25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220836" y="3008988"/>
            <a:ext cx="562817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Solución: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Lo primero que debemos hacer es identificar cuál es la </a:t>
            </a:r>
            <a:r>
              <a:rPr lang="es-ES" dirty="0">
                <a:solidFill>
                  <a:srgbClr val="0066FF"/>
                </a:solidFill>
              </a:rPr>
              <a:t>variable dependiente (Y) </a:t>
            </a:r>
            <a:r>
              <a:rPr lang="es-ES" dirty="0"/>
              <a:t>y la </a:t>
            </a:r>
            <a:r>
              <a:rPr lang="es-ES" dirty="0">
                <a:solidFill>
                  <a:srgbClr val="FF3300"/>
                </a:solidFill>
              </a:rPr>
              <a:t>variable independiente (X)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En este caso la variable independiente es la </a:t>
            </a:r>
            <a:r>
              <a:rPr lang="es-ES" dirty="0">
                <a:solidFill>
                  <a:srgbClr val="FF3300"/>
                </a:solidFill>
              </a:rPr>
              <a:t>producción de trigo</a:t>
            </a:r>
            <a:r>
              <a:rPr lang="es-ES" dirty="0"/>
              <a:t>, pues dependiendo de la producción varía el precio de la harina, cuando se produce más trigo la harina es más barata y es más cara cuando la producción de trigo baja. Entonces, la variable dependiente es el </a:t>
            </a:r>
            <a:r>
              <a:rPr lang="es-ES" dirty="0">
                <a:solidFill>
                  <a:srgbClr val="0066FF"/>
                </a:solidFill>
              </a:rPr>
              <a:t>precio de la harina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69A307-0085-46D4-82FA-31F926E1604C}"/>
              </a:ext>
            </a:extLst>
          </p:cNvPr>
          <p:cNvSpPr/>
          <p:nvPr/>
        </p:nvSpPr>
        <p:spPr>
          <a:xfrm>
            <a:off x="6095998" y="3613691"/>
            <a:ext cx="56281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Dividiremos el problema en tres fases para que sea más sencilla su solución</a:t>
            </a:r>
          </a:p>
          <a:p>
            <a:pPr algn="just"/>
            <a:endParaRPr lang="es-ES" dirty="0"/>
          </a:p>
          <a:p>
            <a:pPr marL="268288" algn="just"/>
            <a:r>
              <a:rPr lang="es-ES" dirty="0"/>
              <a:t>Fase 1: Encontrar la Covarianza </a:t>
            </a:r>
            <a:r>
              <a:rPr lang="es-ES" dirty="0" err="1"/>
              <a:t>S</a:t>
            </a:r>
            <a:r>
              <a:rPr lang="es-ES" baseline="-25000" dirty="0" err="1"/>
              <a:t>x,y</a:t>
            </a:r>
            <a:endParaRPr lang="es-ES" baseline="-25000" dirty="0"/>
          </a:p>
          <a:p>
            <a:pPr marL="268288" algn="just"/>
            <a:r>
              <a:rPr lang="es-ES" dirty="0"/>
              <a:t>Fase 2: Encontrar la Correlación </a:t>
            </a:r>
            <a:r>
              <a:rPr lang="el-GR" dirty="0"/>
              <a:t>ρ</a:t>
            </a:r>
            <a:r>
              <a:rPr lang="es-NI" baseline="-25000" dirty="0" err="1"/>
              <a:t>x,y</a:t>
            </a:r>
            <a:endParaRPr lang="es-ES" baseline="-25000" dirty="0"/>
          </a:p>
          <a:p>
            <a:pPr marL="268288" algn="just"/>
            <a:r>
              <a:rPr lang="es-ES" dirty="0"/>
              <a:t>Fase 3: Encontrar </a:t>
            </a:r>
            <a:r>
              <a:rPr lang="el-GR" dirty="0"/>
              <a:t>β</a:t>
            </a:r>
            <a:r>
              <a:rPr lang="es-NI" baseline="-25000" dirty="0"/>
              <a:t>0</a:t>
            </a:r>
            <a:r>
              <a:rPr lang="es-NI" dirty="0"/>
              <a:t> y </a:t>
            </a:r>
            <a:r>
              <a:rPr lang="el-GR" dirty="0"/>
              <a:t>β</a:t>
            </a:r>
            <a:r>
              <a:rPr lang="es-NI" baseline="-25000" dirty="0"/>
              <a:t>1</a:t>
            </a:r>
            <a:endParaRPr lang="es-ES" baseline="-25000" dirty="0"/>
          </a:p>
          <a:p>
            <a:pPr algn="just"/>
            <a:endParaRPr lang="es-ES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938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0" y="1084629"/>
            <a:ext cx="117503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Fase 1: Encontrar la Covarianza </a:t>
            </a:r>
            <a:r>
              <a:rPr lang="es-ES" sz="2400" b="1" dirty="0" err="1"/>
              <a:t>S</a:t>
            </a:r>
            <a:r>
              <a:rPr lang="es-ES" sz="2400" b="1" baseline="-25000" dirty="0" err="1"/>
              <a:t>x,y</a:t>
            </a:r>
            <a:endParaRPr lang="es-ES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DCA6DFA-F8E2-4DDC-B9BB-60456ABFFCD9}"/>
                  </a:ext>
                </a:extLst>
              </p:cNvPr>
              <p:cNvSpPr txBox="1"/>
              <p:nvPr/>
            </p:nvSpPr>
            <p:spPr>
              <a:xfrm>
                <a:off x="-115966" y="1546294"/>
                <a:ext cx="5628171" cy="1249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s-NI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NI" sz="2800" i="1" smtClean="0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NI" sz="2800" i="1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NI" sz="2800" i="1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NI" sz="2800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NI" sz="2800" i="1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NI" sz="2800" i="1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NI" sz="2800" i="1" smtClean="0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NI" sz="2800" i="1" smtClean="0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NI" sz="2800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NI" sz="2800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s-NI" sz="28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NI" sz="2800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NI" sz="2800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mr>
                                  </m:m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s-NI" sz="2800" dirty="0"/>
                                <m:t> </m:t>
                              </m:r>
                            </m:e>
                          </m:nary>
                        </m:num>
                        <m:den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DCA6DFA-F8E2-4DDC-B9BB-60456ABF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966" y="1546294"/>
                <a:ext cx="5628171" cy="12493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C4C236F6-9742-4BF8-A5AB-92E9AE124855}"/>
              </a:ext>
            </a:extLst>
          </p:cNvPr>
          <p:cNvSpPr/>
          <p:nvPr/>
        </p:nvSpPr>
        <p:spPr>
          <a:xfrm>
            <a:off x="246995" y="3046728"/>
            <a:ext cx="56281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dirty="0"/>
              <a:t>Como vemos para encontrar </a:t>
            </a:r>
            <a:r>
              <a:rPr lang="es-NI" dirty="0" err="1"/>
              <a:t>S</a:t>
            </a:r>
            <a:r>
              <a:rPr lang="es-NI" baseline="-25000" dirty="0" err="1"/>
              <a:t>x,y</a:t>
            </a:r>
            <a:r>
              <a:rPr lang="es-NI" baseline="-25000" dirty="0"/>
              <a:t> </a:t>
            </a:r>
            <a:r>
              <a:rPr lang="es-NI" dirty="0"/>
              <a:t>es necesario calcular antes la media aritmética de x y la media de y, lo calculamos como hacíamos en estadística descriptiva, sumando todos sus valores y dividiendo entre el número total de valores </a:t>
            </a:r>
            <a:endParaRPr lang="es-ES" baseline="-25000" dirty="0"/>
          </a:p>
          <a:p>
            <a:pPr algn="just"/>
            <a:endParaRPr lang="es-ES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F97BDE4E-FD1D-445C-A4F6-78CF2DAD1CA7}"/>
                  </a:ext>
                </a:extLst>
              </p:cNvPr>
              <p:cNvSpPr/>
              <p:nvPr/>
            </p:nvSpPr>
            <p:spPr>
              <a:xfrm>
                <a:off x="40795" y="4985270"/>
                <a:ext cx="6055205" cy="6528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NI" sz="160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sz="16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NI" sz="160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600" dirty="0"/>
                  <a:t>= (30+28+32+25+25+25+22+24+35+40) /10 = </a:t>
                </a:r>
                <a:r>
                  <a:rPr lang="es-ES" sz="1600" dirty="0">
                    <a:solidFill>
                      <a:srgbClr val="FF3300"/>
                    </a:solidFill>
                  </a:rPr>
                  <a:t>28.6</a:t>
                </a:r>
              </a:p>
              <a:p>
                <a:pPr algn="just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NI" sz="16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acc>
                            <m:accPr>
                              <m:chr m:val="̅"/>
                              <m:ctrlPr>
                                <a:rPr lang="es-NI" sz="160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NI" sz="16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mr>
                    </m:m>
                  </m:oMath>
                </a14:m>
                <a:r>
                  <a:rPr lang="es-ES" sz="1600" dirty="0"/>
                  <a:t>= (25+30+27+40+42+40+50+45+30+25) /10 = </a:t>
                </a:r>
                <a:r>
                  <a:rPr lang="es-ES" sz="1600" dirty="0">
                    <a:solidFill>
                      <a:srgbClr val="0066FF"/>
                    </a:solidFill>
                  </a:rPr>
                  <a:t>35.4</a:t>
                </a: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F97BDE4E-FD1D-445C-A4F6-78CF2DAD1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5" y="4985270"/>
                <a:ext cx="6055205" cy="652871"/>
              </a:xfrm>
              <a:prstGeom prst="rect">
                <a:avLst/>
              </a:prstGeom>
              <a:blipFill>
                <a:blip r:embed="rId3"/>
                <a:stretch>
                  <a:fillRect t="-2804" b="-4673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72481088-EE20-464D-868F-E58C4FC3324D}"/>
              </a:ext>
            </a:extLst>
          </p:cNvPr>
          <p:cNvSpPr/>
          <p:nvPr/>
        </p:nvSpPr>
        <p:spPr>
          <a:xfrm>
            <a:off x="246994" y="5816266"/>
            <a:ext cx="56281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dirty="0"/>
              <a:t>Ya que hemos calculado las medias dividiremos la fórmula en pasos más pequeños para resolverlo de un modo más simple</a:t>
            </a:r>
            <a:endParaRPr lang="es-ES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5ACEA17-19B7-491C-A057-256789C1EB55}"/>
                  </a:ext>
                </a:extLst>
              </p:cNvPr>
              <p:cNvSpPr/>
              <p:nvPr/>
            </p:nvSpPr>
            <p:spPr>
              <a:xfrm>
                <a:off x="6302200" y="1595790"/>
                <a:ext cx="5628171" cy="5262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chemeClr val="tx1"/>
                    </a:solidFill>
                  </a:rPr>
                  <a:t>A continuación:</a:t>
                </a:r>
              </a:p>
              <a:p>
                <a:pPr algn="just"/>
                <a:endParaRPr lang="es-ES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Font typeface="+mj-lt"/>
                  <a:buAutoNum type="alphaLcParenR"/>
                </a:pPr>
                <a:r>
                  <a:rPr lang="es-ES" dirty="0">
                    <a:solidFill>
                      <a:schemeClr val="tx1"/>
                    </a:solidFill>
                  </a:rPr>
                  <a:t>Agregaremos la columna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NI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s-ES" dirty="0">
                    <a:solidFill>
                      <a:srgbClr val="FF3300"/>
                    </a:solidFill>
                  </a:rPr>
                  <a:t> </a:t>
                </a:r>
                <a:r>
                  <a:rPr lang="es-ES" dirty="0">
                    <a:solidFill>
                      <a:schemeClr val="tx1"/>
                    </a:solidFill>
                  </a:rPr>
                  <a:t>a la tabla, en la cual a cada valor de </a:t>
                </a:r>
                <a:r>
                  <a:rPr lang="es-ES" dirty="0">
                    <a:solidFill>
                      <a:srgbClr val="FF3300"/>
                    </a:solidFill>
                  </a:rPr>
                  <a:t>x</a:t>
                </a:r>
                <a:r>
                  <a:rPr lang="es-ES" dirty="0">
                    <a:solidFill>
                      <a:schemeClr val="tx1"/>
                    </a:solidFill>
                  </a:rPr>
                  <a:t> le restaremos su media </a:t>
                </a:r>
              </a:p>
              <a:p>
                <a:pPr marL="342900" indent="-342900" algn="just">
                  <a:buFont typeface="+mj-lt"/>
                  <a:buAutoNum type="alphaLcParenR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/>
                </a:pPr>
                <a:r>
                  <a:rPr lang="es-ES" dirty="0"/>
                  <a:t>Agregaremos la columna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sSub>
                            <m:sSubPr>
                              <m:ctrlP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NI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mr>
                    </m:m>
                    <m:r>
                      <a:rPr lang="es-NI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a la tabla, en la cual a cada valor de </a:t>
                </a:r>
                <a:r>
                  <a:rPr lang="es-ES" dirty="0">
                    <a:solidFill>
                      <a:srgbClr val="0066FF"/>
                    </a:solidFill>
                  </a:rPr>
                  <a:t>y</a:t>
                </a:r>
                <a:r>
                  <a:rPr lang="es-ES" dirty="0"/>
                  <a:t> le restaremos su media</a:t>
                </a:r>
              </a:p>
              <a:p>
                <a:pPr algn="just"/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r>
                  <a:rPr lang="es-ES" dirty="0"/>
                  <a:t>Agregaremos la columna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NI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NI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NI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s-ES" dirty="0"/>
                  <a:t>a la tabla, en la cual Multiplicaremos los valores de las dos columnas agregadas antes.</a:t>
                </a:r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r>
                  <a:rPr lang="es-ES" dirty="0"/>
                  <a:t>Encontramos </a:t>
                </a:r>
                <a:r>
                  <a:rPr lang="es-ES" dirty="0" err="1"/>
                  <a:t>S</a:t>
                </a:r>
                <a:r>
                  <a:rPr lang="es-ES" baseline="-25000" dirty="0" err="1"/>
                  <a:t>x,y</a:t>
                </a:r>
                <a:r>
                  <a:rPr lang="es-ES" baseline="-25000" dirty="0"/>
                  <a:t> </a:t>
                </a:r>
                <a:r>
                  <a:rPr lang="es-ES" dirty="0"/>
                  <a:t>dividiendo el resultado de la suma de la última columna que agregamos entre el total de observaciones – 1 (9 en este caso)</a:t>
                </a:r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5ACEA17-19B7-491C-A057-256789C1E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200" y="1595790"/>
                <a:ext cx="5628171" cy="5262210"/>
              </a:xfrm>
              <a:prstGeom prst="rect">
                <a:avLst/>
              </a:prstGeom>
              <a:blipFill>
                <a:blip r:embed="rId4"/>
                <a:stretch>
                  <a:fillRect l="-1192" t="-695" r="-867" b="-92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74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0" y="1084629"/>
            <a:ext cx="117503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Fase 1: Encontrar la Covarianza </a:t>
            </a:r>
            <a:r>
              <a:rPr lang="es-ES" sz="2400" b="1" dirty="0" err="1"/>
              <a:t>S</a:t>
            </a:r>
            <a:r>
              <a:rPr lang="es-ES" sz="2400" b="1" baseline="-25000" dirty="0" err="1"/>
              <a:t>x,y</a:t>
            </a:r>
            <a:endParaRPr lang="es-ES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5ACEA17-19B7-491C-A057-256789C1EB55}"/>
                  </a:ext>
                </a:extLst>
              </p:cNvPr>
              <p:cNvSpPr/>
              <p:nvPr/>
            </p:nvSpPr>
            <p:spPr>
              <a:xfrm>
                <a:off x="261629" y="1706039"/>
                <a:ext cx="5329546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+mj-lt"/>
                  <a:buAutoNum type="alphaLcParenR"/>
                </a:pPr>
                <a:r>
                  <a:rPr lang="es-ES" dirty="0">
                    <a:solidFill>
                      <a:schemeClr val="tx1"/>
                    </a:solidFill>
                  </a:rPr>
                  <a:t>Agregaremos la columna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NI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s-ES" dirty="0">
                    <a:solidFill>
                      <a:srgbClr val="FF3300"/>
                    </a:solidFill>
                  </a:rPr>
                  <a:t> </a:t>
                </a:r>
                <a:r>
                  <a:rPr lang="es-ES" dirty="0">
                    <a:solidFill>
                      <a:schemeClr val="tx1"/>
                    </a:solidFill>
                  </a:rPr>
                  <a:t>a la tabla, en la cual a cada valor de </a:t>
                </a:r>
                <a:r>
                  <a:rPr lang="es-ES" dirty="0">
                    <a:solidFill>
                      <a:srgbClr val="FF3300"/>
                    </a:solidFill>
                  </a:rPr>
                  <a:t>x</a:t>
                </a:r>
                <a:r>
                  <a:rPr lang="es-ES" dirty="0">
                    <a:solidFill>
                      <a:schemeClr val="tx1"/>
                    </a:solidFill>
                  </a:rPr>
                  <a:t> le restaremos su media</a:t>
                </a: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5ACEA17-19B7-491C-A057-256789C1E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29" y="1706039"/>
                <a:ext cx="5329546" cy="923330"/>
              </a:xfrm>
              <a:prstGeom prst="rect">
                <a:avLst/>
              </a:prstGeom>
              <a:blipFill>
                <a:blip r:embed="rId2"/>
                <a:stretch>
                  <a:fillRect l="-1030" t="-3974" r="-915" b="-993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a 12">
                <a:extLst>
                  <a:ext uri="{FF2B5EF4-FFF2-40B4-BE49-F238E27FC236}">
                    <a16:creationId xmlns:a16="http://schemas.microsoft.com/office/drawing/2014/main" id="{29BB6891-F7D0-4272-A82C-13F85C71B7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08031"/>
                  </p:ext>
                </p:extLst>
              </p:nvPr>
            </p:nvGraphicFramePr>
            <p:xfrm>
              <a:off x="1580614" y="2808685"/>
              <a:ext cx="3372385" cy="350897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167033">
                      <a:extLst>
                        <a:ext uri="{9D8B030D-6E8A-4147-A177-3AD203B41FA5}">
                          <a16:colId xmlns:a16="http://schemas.microsoft.com/office/drawing/2014/main" val="1070899291"/>
                        </a:ext>
                      </a:extLst>
                    </a:gridCol>
                    <a:gridCol w="1304332">
                      <a:extLst>
                        <a:ext uri="{9D8B030D-6E8A-4147-A177-3AD203B41FA5}">
                          <a16:colId xmlns:a16="http://schemas.microsoft.com/office/drawing/2014/main" val="2885895267"/>
                        </a:ext>
                      </a:extLst>
                    </a:gridCol>
                    <a:gridCol w="901020">
                      <a:extLst>
                        <a:ext uri="{9D8B030D-6E8A-4147-A177-3AD203B41FA5}">
                          <a16:colId xmlns:a16="http://schemas.microsoft.com/office/drawing/2014/main" val="340908646"/>
                        </a:ext>
                      </a:extLst>
                    </a:gridCol>
                  </a:tblGrid>
                  <a:tr h="51115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Trigo (x)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Harina(y) 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NI" sz="1600" b="1" i="1" smtClean="0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s-NI" sz="1600" b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r>
                            <a:rPr lang="es-ES" sz="1600" b="1" dirty="0">
                              <a:solidFill>
                                <a:srgbClr val="FF3300"/>
                              </a:solidFill>
                            </a:rPr>
                            <a:t>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92292368"/>
                      </a:ext>
                    </a:extLst>
                  </a:tr>
                  <a:tr h="260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826413879"/>
                      </a:ext>
                    </a:extLst>
                  </a:tr>
                  <a:tr h="39719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314148976"/>
                      </a:ext>
                    </a:extLst>
                  </a:tr>
                  <a:tr h="260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32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53218315"/>
                      </a:ext>
                    </a:extLst>
                  </a:tr>
                  <a:tr h="29431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153993375"/>
                      </a:ext>
                    </a:extLst>
                  </a:tr>
                  <a:tr h="35444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60743411"/>
                      </a:ext>
                    </a:extLst>
                  </a:tr>
                  <a:tr h="30821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846654881"/>
                      </a:ext>
                    </a:extLst>
                  </a:tr>
                  <a:tr h="31608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435886339"/>
                      </a:ext>
                    </a:extLst>
                  </a:tr>
                  <a:tr h="29280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3190401"/>
                      </a:ext>
                    </a:extLst>
                  </a:tr>
                  <a:tr h="260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6256327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025029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a 12">
                <a:extLst>
                  <a:ext uri="{FF2B5EF4-FFF2-40B4-BE49-F238E27FC236}">
                    <a16:creationId xmlns:a16="http://schemas.microsoft.com/office/drawing/2014/main" id="{29BB6891-F7D0-4272-A82C-13F85C71B7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08031"/>
                  </p:ext>
                </p:extLst>
              </p:nvPr>
            </p:nvGraphicFramePr>
            <p:xfrm>
              <a:off x="1580614" y="2808685"/>
              <a:ext cx="3372385" cy="350897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167033">
                      <a:extLst>
                        <a:ext uri="{9D8B030D-6E8A-4147-A177-3AD203B41FA5}">
                          <a16:colId xmlns:a16="http://schemas.microsoft.com/office/drawing/2014/main" val="1070899291"/>
                        </a:ext>
                      </a:extLst>
                    </a:gridCol>
                    <a:gridCol w="1304332">
                      <a:extLst>
                        <a:ext uri="{9D8B030D-6E8A-4147-A177-3AD203B41FA5}">
                          <a16:colId xmlns:a16="http://schemas.microsoft.com/office/drawing/2014/main" val="2885895267"/>
                        </a:ext>
                      </a:extLst>
                    </a:gridCol>
                    <a:gridCol w="901020">
                      <a:extLst>
                        <a:ext uri="{9D8B030D-6E8A-4147-A177-3AD203B41FA5}">
                          <a16:colId xmlns:a16="http://schemas.microsoft.com/office/drawing/2014/main" val="340908646"/>
                        </a:ext>
                      </a:extLst>
                    </a:gridCol>
                  </a:tblGrid>
                  <a:tr h="51115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Trigo (x)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Harina(y) 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3"/>
                          <a:stretch>
                            <a:fillRect l="-275000" t="-1190" r="-1351" b="-610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292368"/>
                      </a:ext>
                    </a:extLst>
                  </a:tr>
                  <a:tr h="260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826413879"/>
                      </a:ext>
                    </a:extLst>
                  </a:tr>
                  <a:tr h="39719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314148976"/>
                      </a:ext>
                    </a:extLst>
                  </a:tr>
                  <a:tr h="260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32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53218315"/>
                      </a:ext>
                    </a:extLst>
                  </a:tr>
                  <a:tr h="29431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153993375"/>
                      </a:ext>
                    </a:extLst>
                  </a:tr>
                  <a:tr h="35444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60743411"/>
                      </a:ext>
                    </a:extLst>
                  </a:tr>
                  <a:tr h="30821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846654881"/>
                      </a:ext>
                    </a:extLst>
                  </a:tr>
                  <a:tr h="31608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435886339"/>
                      </a:ext>
                    </a:extLst>
                  </a:tr>
                  <a:tr h="29280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3190401"/>
                      </a:ext>
                    </a:extLst>
                  </a:tr>
                  <a:tr h="260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62563272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025029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1BE9B451-9757-4F79-8357-DE92936933E8}"/>
                  </a:ext>
                </a:extLst>
              </p:cNvPr>
              <p:cNvSpPr/>
              <p:nvPr/>
            </p:nvSpPr>
            <p:spPr>
              <a:xfrm>
                <a:off x="6302200" y="1706039"/>
                <a:ext cx="5628171" cy="999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+mj-lt"/>
                  <a:buAutoNum type="alphaLcParenR" startAt="2"/>
                </a:pPr>
                <a:r>
                  <a:rPr lang="es-ES" dirty="0"/>
                  <a:t>Agregaremos la columna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sSub>
                            <m:sSubPr>
                              <m:ctrlP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NI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mr>
                    </m:m>
                    <m:r>
                      <a:rPr lang="es-NI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a la tabla, en la cual a cada valor de </a:t>
                </a:r>
                <a:r>
                  <a:rPr lang="es-ES" dirty="0">
                    <a:solidFill>
                      <a:srgbClr val="0066FF"/>
                    </a:solidFill>
                  </a:rPr>
                  <a:t>y</a:t>
                </a:r>
                <a:r>
                  <a:rPr lang="es-ES" dirty="0"/>
                  <a:t> le restaremos su media</a:t>
                </a:r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1BE9B451-9757-4F79-8357-DE92936933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200" y="1706039"/>
                <a:ext cx="5628171" cy="999889"/>
              </a:xfrm>
              <a:prstGeom prst="rect">
                <a:avLst/>
              </a:prstGeom>
              <a:blipFill>
                <a:blip r:embed="rId4"/>
                <a:stretch>
                  <a:fillRect l="-975" t="-610" r="-867" b="-9146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A2C0A2C4-F4F9-467F-9BD8-D394F970C0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527632"/>
                  </p:ext>
                </p:extLst>
              </p:nvPr>
            </p:nvGraphicFramePr>
            <p:xfrm>
              <a:off x="7422807" y="2865673"/>
              <a:ext cx="4327525" cy="373869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346477">
                      <a:extLst>
                        <a:ext uri="{9D8B030D-6E8A-4147-A177-3AD203B41FA5}">
                          <a16:colId xmlns:a16="http://schemas.microsoft.com/office/drawing/2014/main" val="2442589678"/>
                        </a:ext>
                      </a:extLst>
                    </a:gridCol>
                    <a:gridCol w="1231966">
                      <a:extLst>
                        <a:ext uri="{9D8B030D-6E8A-4147-A177-3AD203B41FA5}">
                          <a16:colId xmlns:a16="http://schemas.microsoft.com/office/drawing/2014/main" val="2860243266"/>
                        </a:ext>
                      </a:extLst>
                    </a:gridCol>
                    <a:gridCol w="873572">
                      <a:extLst>
                        <a:ext uri="{9D8B030D-6E8A-4147-A177-3AD203B41FA5}">
                          <a16:colId xmlns:a16="http://schemas.microsoft.com/office/drawing/2014/main" val="2075313678"/>
                        </a:ext>
                      </a:extLst>
                    </a:gridCol>
                    <a:gridCol w="875510">
                      <a:extLst>
                        <a:ext uri="{9D8B030D-6E8A-4147-A177-3AD203B41FA5}">
                          <a16:colId xmlns:a16="http://schemas.microsoft.com/office/drawing/2014/main" val="924019694"/>
                        </a:ext>
                      </a:extLst>
                    </a:gridCol>
                  </a:tblGrid>
                  <a:tr h="44403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Trigo (x)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Harina(y) 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NI" sz="1600" b="1" i="1" smtClean="0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s-NI" sz="1600" b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r>
                            <a:rPr lang="es-ES" sz="1600" b="1" dirty="0">
                              <a:solidFill>
                                <a:srgbClr val="FF3300"/>
                              </a:solidFill>
                            </a:rPr>
                            <a:t>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600" b="1" i="1" smtClean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s-NI" sz="1600" b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  <m:r>
                                  <a:rPr lang="es-NI" sz="1600" b="1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353634298"/>
                      </a:ext>
                    </a:extLst>
                  </a:tr>
                  <a:tr h="37870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89361263"/>
                      </a:ext>
                    </a:extLst>
                  </a:tr>
                  <a:tr h="3521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77908065"/>
                      </a:ext>
                    </a:extLst>
                  </a:tr>
                  <a:tr h="33859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-8.4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808890422"/>
                      </a:ext>
                    </a:extLst>
                  </a:tr>
                  <a:tr h="29531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965334782"/>
                      </a:ext>
                    </a:extLst>
                  </a:tr>
                  <a:tr h="31150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6.6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191811275"/>
                      </a:ext>
                    </a:extLst>
                  </a:tr>
                  <a:tr h="32505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336554692"/>
                      </a:ext>
                    </a:extLst>
                  </a:tr>
                  <a:tr h="34124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14.6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672590699"/>
                      </a:ext>
                    </a:extLst>
                  </a:tr>
                  <a:tr h="33594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9.6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036121034"/>
                      </a:ext>
                    </a:extLst>
                  </a:tr>
                  <a:tr h="30061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848240527"/>
                      </a:ext>
                    </a:extLst>
                  </a:tr>
                  <a:tr h="31554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412067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A2C0A2C4-F4F9-467F-9BD8-D394F970C0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527632"/>
                  </p:ext>
                </p:extLst>
              </p:nvPr>
            </p:nvGraphicFramePr>
            <p:xfrm>
              <a:off x="7422807" y="2865673"/>
              <a:ext cx="4327525" cy="373869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346477">
                      <a:extLst>
                        <a:ext uri="{9D8B030D-6E8A-4147-A177-3AD203B41FA5}">
                          <a16:colId xmlns:a16="http://schemas.microsoft.com/office/drawing/2014/main" val="2442589678"/>
                        </a:ext>
                      </a:extLst>
                    </a:gridCol>
                    <a:gridCol w="1231966">
                      <a:extLst>
                        <a:ext uri="{9D8B030D-6E8A-4147-A177-3AD203B41FA5}">
                          <a16:colId xmlns:a16="http://schemas.microsoft.com/office/drawing/2014/main" val="2860243266"/>
                        </a:ext>
                      </a:extLst>
                    </a:gridCol>
                    <a:gridCol w="873572">
                      <a:extLst>
                        <a:ext uri="{9D8B030D-6E8A-4147-A177-3AD203B41FA5}">
                          <a16:colId xmlns:a16="http://schemas.microsoft.com/office/drawing/2014/main" val="2075313678"/>
                        </a:ext>
                      </a:extLst>
                    </a:gridCol>
                    <a:gridCol w="875510">
                      <a:extLst>
                        <a:ext uri="{9D8B030D-6E8A-4147-A177-3AD203B41FA5}">
                          <a16:colId xmlns:a16="http://schemas.microsoft.com/office/drawing/2014/main" val="924019694"/>
                        </a:ext>
                      </a:extLst>
                    </a:gridCol>
                  </a:tblGrid>
                  <a:tr h="44403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Trigo (x)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Harina(y) 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5"/>
                          <a:stretch>
                            <a:fillRect l="-297203" t="-1370" r="-102098" b="-768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5"/>
                          <a:stretch>
                            <a:fillRect l="-394444" t="-1370" r="-1389" b="-768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34298"/>
                      </a:ext>
                    </a:extLst>
                  </a:tr>
                  <a:tr h="37870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89361263"/>
                      </a:ext>
                    </a:extLst>
                  </a:tr>
                  <a:tr h="3521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77908065"/>
                      </a:ext>
                    </a:extLst>
                  </a:tr>
                  <a:tr h="33859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-8.4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808890422"/>
                      </a:ext>
                    </a:extLst>
                  </a:tr>
                  <a:tr h="29531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965334782"/>
                      </a:ext>
                    </a:extLst>
                  </a:tr>
                  <a:tr h="31150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6.6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191811275"/>
                      </a:ext>
                    </a:extLst>
                  </a:tr>
                  <a:tr h="32505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336554692"/>
                      </a:ext>
                    </a:extLst>
                  </a:tr>
                  <a:tr h="34124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14.6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672590699"/>
                      </a:ext>
                    </a:extLst>
                  </a:tr>
                  <a:tr h="33594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9.6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036121034"/>
                      </a:ext>
                    </a:extLst>
                  </a:tr>
                  <a:tr h="30061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848240527"/>
                      </a:ext>
                    </a:extLst>
                  </a:tr>
                  <a:tr h="31554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412067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EDB3588E-7F56-4D77-996F-25EE6A84016B}"/>
                  </a:ext>
                </a:extLst>
              </p:cNvPr>
              <p:cNvSpPr/>
              <p:nvPr/>
            </p:nvSpPr>
            <p:spPr>
              <a:xfrm>
                <a:off x="3306255" y="2299635"/>
                <a:ext cx="115144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NI" sz="160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sz="16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NI" sz="160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600" dirty="0">
                    <a:solidFill>
                      <a:srgbClr val="FF3300"/>
                    </a:solidFill>
                  </a:rPr>
                  <a:t>= 28.6</a:t>
                </a: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EDB3588E-7F56-4D77-996F-25EE6A840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5" y="2299635"/>
                <a:ext cx="1151446" cy="338554"/>
              </a:xfrm>
              <a:prstGeom prst="rect">
                <a:avLst/>
              </a:prstGeom>
              <a:blipFill>
                <a:blip r:embed="rId6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235A3500-A145-4FA9-8B91-40CA1F396480}"/>
                  </a:ext>
                </a:extLst>
              </p:cNvPr>
              <p:cNvSpPr/>
              <p:nvPr/>
            </p:nvSpPr>
            <p:spPr>
              <a:xfrm>
                <a:off x="7502327" y="2327146"/>
                <a:ext cx="1151446" cy="406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NI" sz="16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acc>
                            <m:accPr>
                              <m:chr m:val="̅"/>
                              <m:ctrlPr>
                                <a:rPr lang="es-NI" sz="160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NI" sz="16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mr>
                    </m:m>
                  </m:oMath>
                </a14:m>
                <a:r>
                  <a:rPr lang="es-ES" sz="1600" dirty="0">
                    <a:solidFill>
                      <a:srgbClr val="0066FF"/>
                    </a:solidFill>
                  </a:rPr>
                  <a:t>= 35.4</a:t>
                </a: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235A3500-A145-4FA9-8B91-40CA1F396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327" y="2327146"/>
                <a:ext cx="1151446" cy="406650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791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0" y="1084629"/>
            <a:ext cx="117503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Fase 1: Encontrar la Covarianza </a:t>
            </a:r>
            <a:r>
              <a:rPr lang="es-ES" sz="2400" b="1" dirty="0" err="1"/>
              <a:t>S</a:t>
            </a:r>
            <a:r>
              <a:rPr lang="es-ES" sz="2400" b="1" baseline="-25000" dirty="0" err="1"/>
              <a:t>x,y</a:t>
            </a:r>
            <a:endParaRPr lang="es-ES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5ACEA17-19B7-491C-A057-256789C1EB55}"/>
                  </a:ext>
                </a:extLst>
              </p:cNvPr>
              <p:cNvSpPr/>
              <p:nvPr/>
            </p:nvSpPr>
            <p:spPr>
              <a:xfrm>
                <a:off x="261629" y="1591739"/>
                <a:ext cx="11709540" cy="51548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+mj-lt"/>
                  <a:buAutoNum type="alphaLcParenR" startAt="3"/>
                </a:pPr>
                <a:r>
                  <a:rPr lang="es-ES" dirty="0"/>
                  <a:t>Agregaremos la columna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NI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NI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NI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NI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s-ES" dirty="0"/>
                  <a:t>a la tabla, en la cual Multiplicaremos los valores de las dos columnas agregadas antes.</a:t>
                </a:r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endParaRPr lang="es-ES" dirty="0"/>
              </a:p>
              <a:p>
                <a:pPr marL="342900" indent="-342900" algn="just">
                  <a:buFont typeface="+mj-lt"/>
                  <a:buAutoNum type="alphaLcParenR" startAt="3"/>
                </a:pPr>
                <a:r>
                  <a:rPr lang="es-ES" dirty="0"/>
                  <a:t>Encontramos </a:t>
                </a:r>
                <a:r>
                  <a:rPr lang="es-ES" dirty="0" err="1"/>
                  <a:t>S</a:t>
                </a:r>
                <a:r>
                  <a:rPr lang="es-ES" baseline="-25000" dirty="0" err="1"/>
                  <a:t>x,y</a:t>
                </a:r>
                <a:r>
                  <a:rPr lang="es-ES" baseline="-25000" dirty="0"/>
                  <a:t> </a:t>
                </a:r>
                <a:r>
                  <a:rPr lang="es-ES" dirty="0"/>
                  <a:t>dividiendo el resultado de la suma de la última columna que agregamos entre el total de observaciones – 1 (9 en este caso) </a:t>
                </a:r>
              </a:p>
              <a:p>
                <a:pPr algn="ctr"/>
                <a:r>
                  <a:rPr lang="es-ES" b="1" dirty="0" err="1"/>
                  <a:t>S</a:t>
                </a:r>
                <a:r>
                  <a:rPr lang="es-ES" b="1" baseline="-25000" dirty="0" err="1"/>
                  <a:t>x,y</a:t>
                </a:r>
                <a:r>
                  <a:rPr lang="es-ES" b="1" baseline="-25000" dirty="0"/>
                  <a:t> </a:t>
                </a:r>
                <a:r>
                  <a:rPr lang="es-ES" b="1" dirty="0"/>
                  <a:t>= - 390.4 / 9 = - 43.37777778</a:t>
                </a: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5ACEA17-19B7-491C-A057-256789C1E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29" y="1591739"/>
                <a:ext cx="11709540" cy="5154873"/>
              </a:xfrm>
              <a:prstGeom prst="rect">
                <a:avLst/>
              </a:prstGeom>
              <a:blipFill>
                <a:blip r:embed="rId2"/>
                <a:stretch>
                  <a:fillRect l="-469" r="-416" b="-946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11C08DF8-3CE9-4613-8484-199CC43184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651987"/>
                  </p:ext>
                </p:extLst>
              </p:nvPr>
            </p:nvGraphicFramePr>
            <p:xfrm>
              <a:off x="612518" y="2476704"/>
              <a:ext cx="6084845" cy="310794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052838">
                      <a:extLst>
                        <a:ext uri="{9D8B030D-6E8A-4147-A177-3AD203B41FA5}">
                          <a16:colId xmlns:a16="http://schemas.microsoft.com/office/drawing/2014/main" val="396667794"/>
                        </a:ext>
                      </a:extLst>
                    </a:gridCol>
                    <a:gridCol w="1300266">
                      <a:extLst>
                        <a:ext uri="{9D8B030D-6E8A-4147-A177-3AD203B41FA5}">
                          <a16:colId xmlns:a16="http://schemas.microsoft.com/office/drawing/2014/main" val="90978620"/>
                        </a:ext>
                      </a:extLst>
                    </a:gridCol>
                    <a:gridCol w="1062681">
                      <a:extLst>
                        <a:ext uri="{9D8B030D-6E8A-4147-A177-3AD203B41FA5}">
                          <a16:colId xmlns:a16="http://schemas.microsoft.com/office/drawing/2014/main" val="3984012991"/>
                        </a:ext>
                      </a:extLst>
                    </a:gridCol>
                    <a:gridCol w="803189">
                      <a:extLst>
                        <a:ext uri="{9D8B030D-6E8A-4147-A177-3AD203B41FA5}">
                          <a16:colId xmlns:a16="http://schemas.microsoft.com/office/drawing/2014/main" val="3632255781"/>
                        </a:ext>
                      </a:extLst>
                    </a:gridCol>
                    <a:gridCol w="1865871">
                      <a:extLst>
                        <a:ext uri="{9D8B030D-6E8A-4147-A177-3AD203B41FA5}">
                          <a16:colId xmlns:a16="http://schemas.microsoft.com/office/drawing/2014/main" val="2719568080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Trigo (x)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Harina (y)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NI" sz="1600" b="1" i="1" smtClean="0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s-NI" sz="1600" b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r>
                            <a:rPr lang="es-ES" sz="1600" b="1" dirty="0">
                              <a:solidFill>
                                <a:srgbClr val="FF3300"/>
                              </a:solidFill>
                            </a:rPr>
                            <a:t>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600" b="1" i="1" smtClean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s-NI" sz="1600" b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  <m:r>
                                  <a:rPr lang="es-NI" sz="1600" b="1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NI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s-NI" sz="1600" b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s-NI" sz="16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NI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s-NI" sz="1600" b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s-NI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4090632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-14.56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81860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3.24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60155567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-8.4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-28.56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94750699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-16.56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16765803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6.6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-23.76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64899783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-16.56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03173514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14.6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-96.36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04945053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9.6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-44.16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7765468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-34.56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5205939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-118.56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7099665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b="1" u="none" strike="noStrike" dirty="0">
                              <a:effectLst/>
                            </a:rPr>
                            <a:t>-390.4</a:t>
                          </a:r>
                          <a:endParaRPr lang="es-NI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526938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11C08DF8-3CE9-4613-8484-199CC43184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651987"/>
                  </p:ext>
                </p:extLst>
              </p:nvPr>
            </p:nvGraphicFramePr>
            <p:xfrm>
              <a:off x="612518" y="2476704"/>
              <a:ext cx="6084845" cy="310794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052838">
                      <a:extLst>
                        <a:ext uri="{9D8B030D-6E8A-4147-A177-3AD203B41FA5}">
                          <a16:colId xmlns:a16="http://schemas.microsoft.com/office/drawing/2014/main" val="396667794"/>
                        </a:ext>
                      </a:extLst>
                    </a:gridCol>
                    <a:gridCol w="1300266">
                      <a:extLst>
                        <a:ext uri="{9D8B030D-6E8A-4147-A177-3AD203B41FA5}">
                          <a16:colId xmlns:a16="http://schemas.microsoft.com/office/drawing/2014/main" val="90978620"/>
                        </a:ext>
                      </a:extLst>
                    </a:gridCol>
                    <a:gridCol w="1062681">
                      <a:extLst>
                        <a:ext uri="{9D8B030D-6E8A-4147-A177-3AD203B41FA5}">
                          <a16:colId xmlns:a16="http://schemas.microsoft.com/office/drawing/2014/main" val="3984012991"/>
                        </a:ext>
                      </a:extLst>
                    </a:gridCol>
                    <a:gridCol w="803189">
                      <a:extLst>
                        <a:ext uri="{9D8B030D-6E8A-4147-A177-3AD203B41FA5}">
                          <a16:colId xmlns:a16="http://schemas.microsoft.com/office/drawing/2014/main" val="3632255781"/>
                        </a:ext>
                      </a:extLst>
                    </a:gridCol>
                    <a:gridCol w="1865871">
                      <a:extLst>
                        <a:ext uri="{9D8B030D-6E8A-4147-A177-3AD203B41FA5}">
                          <a16:colId xmlns:a16="http://schemas.microsoft.com/office/drawing/2014/main" val="2719568080"/>
                        </a:ext>
                      </a:extLst>
                    </a:gridCol>
                  </a:tblGrid>
                  <a:tr h="320929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Trigo (x)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Harina (y)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3"/>
                          <a:stretch>
                            <a:fillRect l="-221143" t="-1887" r="-251429" b="-9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3"/>
                          <a:stretch>
                            <a:fillRect l="-425758" t="-1887" r="-233333" b="-9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3"/>
                          <a:stretch>
                            <a:fillRect l="-226797" t="-1887" r="-654" b="-9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0906328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-14.56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818601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3.24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60155567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-8.4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-28.56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94750699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-16.56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16765803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6.6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-23.76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64899783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-16.56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031735146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14.6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-96.36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04945053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9.6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-44.16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77654685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-34.56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520593909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u="none" strike="noStrike">
                              <a:effectLst/>
                            </a:rPr>
                            <a:t>-118.56</a:t>
                          </a:r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70996658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s-NI" sz="1600" b="1" u="none" strike="noStrike" dirty="0">
                              <a:effectLst/>
                            </a:rPr>
                            <a:t>-390.4</a:t>
                          </a:r>
                          <a:endParaRPr lang="es-NI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526938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71B2ACD-E036-4DE7-AA65-5EB809F141E8}"/>
                  </a:ext>
                </a:extLst>
              </p:cNvPr>
              <p:cNvSpPr/>
              <p:nvPr/>
            </p:nvSpPr>
            <p:spPr>
              <a:xfrm>
                <a:off x="7385943" y="3296885"/>
                <a:ext cx="4094686" cy="14675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i="1" dirty="0">
                    <a:latin typeface="Cambria Math" panose="02040503050406030204" pitchFamily="18" charset="0"/>
                  </a:rPr>
                  <a:t>Sumamos los valores de la columna agregada recientemente y obtendremos</a:t>
                </a:r>
              </a:p>
              <a:p>
                <a:endParaRPr lang="es-NI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NI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NI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NI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NI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NI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s-NI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NI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d>
                        <m:r>
                          <m:rPr>
                            <m:nor/>
                          </m:rPr>
                          <a:rPr lang="es-NI" dirty="0"/>
                          <m:t> </m:t>
                        </m:r>
                      </m:e>
                    </m:nary>
                  </m:oMath>
                </a14:m>
                <a:r>
                  <a:rPr lang="es-NI" dirty="0"/>
                  <a:t>= -390.4</a:t>
                </a: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71B2ACD-E036-4DE7-AA65-5EB809F14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943" y="3296885"/>
                <a:ext cx="4094686" cy="1467581"/>
              </a:xfrm>
              <a:prstGeom prst="rect">
                <a:avLst/>
              </a:prstGeom>
              <a:blipFill>
                <a:blip r:embed="rId4"/>
                <a:stretch>
                  <a:fillRect l="-1341" t="-2905" r="-134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78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2847833" y="1104733"/>
            <a:ext cx="6496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Fase 2: Encontrar la Correlación </a:t>
            </a:r>
            <a:r>
              <a:rPr lang="es-ES" sz="2400" b="1" dirty="0" err="1"/>
              <a:t>ρ</a:t>
            </a:r>
            <a:r>
              <a:rPr lang="es-ES" sz="2400" b="1" baseline="-25000" dirty="0" err="1"/>
              <a:t>x,y</a:t>
            </a:r>
            <a:endParaRPr lang="es-ES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D4BEFC0-9F71-4BB6-B334-DC1B354DE158}"/>
                  </a:ext>
                </a:extLst>
              </p:cNvPr>
              <p:cNvSpPr txBox="1"/>
              <p:nvPr/>
            </p:nvSpPr>
            <p:spPr>
              <a:xfrm>
                <a:off x="736978" y="1719618"/>
                <a:ext cx="2910925" cy="1367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4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NI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4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NI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NI" sz="4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NI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sz="4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NI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NI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NI" sz="4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NI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D4BEFC0-9F71-4BB6-B334-DC1B354DE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78" y="1719618"/>
                <a:ext cx="2910925" cy="1367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8858195-6B9A-41F9-984A-D283B1E30712}"/>
                  </a:ext>
                </a:extLst>
              </p:cNvPr>
              <p:cNvSpPr txBox="1"/>
              <p:nvPr/>
            </p:nvSpPr>
            <p:spPr>
              <a:xfrm>
                <a:off x="386415" y="3732517"/>
                <a:ext cx="3355086" cy="1273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NI" sz="2800" b="0" i="1" baseline="-250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NI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NI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NI" sz="280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NI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NI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NI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NI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NI" sz="28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NI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NI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NI" sz="28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NI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8858195-6B9A-41F9-984A-D283B1E30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15" y="3732517"/>
                <a:ext cx="3355086" cy="1273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BBFB79A-D3F7-40F6-AF4A-4901EF0544E8}"/>
                  </a:ext>
                </a:extLst>
              </p:cNvPr>
              <p:cNvSpPr txBox="1"/>
              <p:nvPr/>
            </p:nvSpPr>
            <p:spPr>
              <a:xfrm>
                <a:off x="569254" y="5296831"/>
                <a:ext cx="3246372" cy="876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NI" sz="28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s-NI" sz="28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s-NI" sz="28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NI" sz="2800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NI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NI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s-NI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s-NI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NI" sz="280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NI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s-NI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NI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NI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NI" sz="28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NI" sz="28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s-NI" sz="28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NI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NI" sz="28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s-NI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s-NI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NI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endParaRPr lang="es-NI" sz="2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BBFB79A-D3F7-40F6-AF4A-4901EF054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54" y="5296831"/>
                <a:ext cx="3246372" cy="876843"/>
              </a:xfrm>
              <a:prstGeom prst="rect">
                <a:avLst/>
              </a:prstGeom>
              <a:blipFill>
                <a:blip r:embed="rId4"/>
                <a:stretch>
                  <a:fillRect l="-6567" b="-9028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id="{55EF760C-784D-4D79-8671-4EDC88C23783}"/>
              </a:ext>
            </a:extLst>
          </p:cNvPr>
          <p:cNvSpPr/>
          <p:nvPr/>
        </p:nvSpPr>
        <p:spPr>
          <a:xfrm>
            <a:off x="3890946" y="1719618"/>
            <a:ext cx="79826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dirty="0"/>
              <a:t>Como podemos ver, para calcular la correlación necesitamos de la covarianza, de la </a:t>
            </a:r>
            <a:r>
              <a:rPr lang="es-NI" dirty="0">
                <a:solidFill>
                  <a:srgbClr val="FF3300"/>
                </a:solidFill>
              </a:rPr>
              <a:t>varianza de x </a:t>
            </a:r>
            <a:r>
              <a:rPr lang="es-NI" dirty="0"/>
              <a:t>y </a:t>
            </a:r>
            <a:r>
              <a:rPr lang="es-NI" dirty="0">
                <a:solidFill>
                  <a:srgbClr val="0066FF"/>
                </a:solidFill>
              </a:rPr>
              <a:t>la varianza de y</a:t>
            </a:r>
            <a:r>
              <a:rPr lang="es-NI" dirty="0"/>
              <a:t>, ya hemos calculado la covarianza en la fase uno, entonces es necesario calcular la </a:t>
            </a:r>
            <a:r>
              <a:rPr lang="es-NI" dirty="0">
                <a:solidFill>
                  <a:srgbClr val="FF3300"/>
                </a:solidFill>
              </a:rPr>
              <a:t>varianza de x </a:t>
            </a:r>
            <a:r>
              <a:rPr lang="es-NI" dirty="0"/>
              <a:t>y </a:t>
            </a:r>
            <a:r>
              <a:rPr lang="es-NI" dirty="0">
                <a:solidFill>
                  <a:srgbClr val="0066FF"/>
                </a:solidFill>
              </a:rPr>
              <a:t>la varianza de y</a:t>
            </a:r>
            <a:endParaRPr lang="es-ES" baseline="-250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423C0A7F-5D11-4000-AA60-B4D3F7B276BD}"/>
                  </a:ext>
                </a:extLst>
              </p:cNvPr>
              <p:cNvSpPr/>
              <p:nvPr/>
            </p:nvSpPr>
            <p:spPr>
              <a:xfrm>
                <a:off x="3890946" y="3554936"/>
                <a:ext cx="7982605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dirty="0"/>
                  <a:t>Calcular la varianza tanto de x como de y requiere de la misma fórmula, sólo variaremos los datos. Como ya tenemos en dos columnas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NI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s-NI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NI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NI" dirty="0"/>
                  <a:t> respectivamente, ahora sólo resta agregar dos columnas nuevas que contendrán</a:t>
                </a:r>
              </a:p>
              <a:p>
                <a:pPr algn="just"/>
                <a:endParaRPr lang="es-NI" dirty="0"/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NI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N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NI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NI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NI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NI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NI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NI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NI" dirty="0"/>
                  <a:t> = los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NI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s-NI" dirty="0"/>
                  <a:t>  elevados al cuadrado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NI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N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NI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NI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NI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NI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NI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NI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NI" dirty="0"/>
                  <a:t> = los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NI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NI" dirty="0"/>
                  <a:t>  elevados al cuadrado</a:t>
                </a:r>
              </a:p>
              <a:p>
                <a:pPr algn="just"/>
                <a:endParaRPr lang="es-NI" dirty="0"/>
              </a:p>
              <a:p>
                <a:pPr algn="just"/>
                <a:r>
                  <a:rPr lang="es-NI" dirty="0"/>
                  <a:t>Sumamos cada columna, dividimos entre 9 (el total de casos -1) y sacamos raíz cuadrada en cada caso</a:t>
                </a: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423C0A7F-5D11-4000-AA60-B4D3F7B27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946" y="3554936"/>
                <a:ext cx="7982605" cy="2862322"/>
              </a:xfrm>
              <a:prstGeom prst="rect">
                <a:avLst/>
              </a:prstGeom>
              <a:blipFill>
                <a:blip r:embed="rId5"/>
                <a:stretch>
                  <a:fillRect l="-611" t="-1064" r="-611" b="-234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76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2847833" y="1104733"/>
            <a:ext cx="6496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Fase 2: Encontrar la Correlación </a:t>
            </a:r>
            <a:r>
              <a:rPr lang="es-ES" sz="2400" b="1" dirty="0" err="1"/>
              <a:t>ρ</a:t>
            </a:r>
            <a:r>
              <a:rPr lang="es-ES" sz="2400" b="1" baseline="-25000" dirty="0" err="1"/>
              <a:t>x,y</a:t>
            </a:r>
            <a:endParaRPr lang="es-ES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19A012F5-FD9B-435E-A2CE-DE7C312A73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0271509"/>
                  </p:ext>
                </p:extLst>
              </p:nvPr>
            </p:nvGraphicFramePr>
            <p:xfrm>
              <a:off x="220836" y="1866665"/>
              <a:ext cx="8161361" cy="310794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052838">
                      <a:extLst>
                        <a:ext uri="{9D8B030D-6E8A-4147-A177-3AD203B41FA5}">
                          <a16:colId xmlns:a16="http://schemas.microsoft.com/office/drawing/2014/main" val="396667794"/>
                        </a:ext>
                      </a:extLst>
                    </a:gridCol>
                    <a:gridCol w="1300266">
                      <a:extLst>
                        <a:ext uri="{9D8B030D-6E8A-4147-A177-3AD203B41FA5}">
                          <a16:colId xmlns:a16="http://schemas.microsoft.com/office/drawing/2014/main" val="90978620"/>
                        </a:ext>
                      </a:extLst>
                    </a:gridCol>
                    <a:gridCol w="1062681">
                      <a:extLst>
                        <a:ext uri="{9D8B030D-6E8A-4147-A177-3AD203B41FA5}">
                          <a16:colId xmlns:a16="http://schemas.microsoft.com/office/drawing/2014/main" val="3984012991"/>
                        </a:ext>
                      </a:extLst>
                    </a:gridCol>
                    <a:gridCol w="803189">
                      <a:extLst>
                        <a:ext uri="{9D8B030D-6E8A-4147-A177-3AD203B41FA5}">
                          <a16:colId xmlns:a16="http://schemas.microsoft.com/office/drawing/2014/main" val="3632255781"/>
                        </a:ext>
                      </a:extLst>
                    </a:gridCol>
                    <a:gridCol w="1869559">
                      <a:extLst>
                        <a:ext uri="{9D8B030D-6E8A-4147-A177-3AD203B41FA5}">
                          <a16:colId xmlns:a16="http://schemas.microsoft.com/office/drawing/2014/main" val="2719568080"/>
                        </a:ext>
                      </a:extLst>
                    </a:gridCol>
                    <a:gridCol w="1009934">
                      <a:extLst>
                        <a:ext uri="{9D8B030D-6E8A-4147-A177-3AD203B41FA5}">
                          <a16:colId xmlns:a16="http://schemas.microsoft.com/office/drawing/2014/main" val="116178544"/>
                        </a:ext>
                      </a:extLst>
                    </a:gridCol>
                    <a:gridCol w="1062894">
                      <a:extLst>
                        <a:ext uri="{9D8B030D-6E8A-4147-A177-3AD203B41FA5}">
                          <a16:colId xmlns:a16="http://schemas.microsoft.com/office/drawing/2014/main" val="3181665947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Trigo (x)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Harina (y)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NI" sz="1600" b="1" i="1" smtClean="0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s-NI" sz="1600" b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r>
                            <a:rPr lang="es-ES" sz="1600" b="1" dirty="0">
                              <a:solidFill>
                                <a:srgbClr val="FF3300"/>
                              </a:solidFill>
                              <a:latin typeface="+mn-lt"/>
                            </a:rPr>
                            <a:t>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600" b="1" i="1" smtClean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s-NI" sz="1600" b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  <m:r>
                                  <a:rPr lang="es-NI" sz="1600" b="1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NI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s-NI" sz="1600" b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s-NI" sz="16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NI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NI" sz="1600" b="1" i="1">
                                            <a:solidFill>
                                              <a:srgbClr val="FF33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s-NI" sz="1600" b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NI" sz="1600" b="1" i="1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s-NI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NI" sz="1600" b="1" i="1" smtClean="0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NI" sz="1600" b="1" i="1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NI" sz="1600" b="1" i="1">
                                              <a:solidFill>
                                                <a:srgbClr val="FF33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FF33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s-NI" sz="1600" b="1" i="1">
                                              <a:solidFill>
                                                <a:srgbClr val="FF33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s-NI" sz="1600" b="1">
                                          <a:solidFill>
                                            <a:srgbClr val="FF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NI" sz="1600" b="1" i="1">
                                              <a:solidFill>
                                                <a:srgbClr val="FF33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NI" sz="1600" b="1" i="1">
                                              <a:solidFill>
                                                <a:srgbClr val="FF33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NI" sz="1600" b="1" i="1">
                                      <a:solidFill>
                                        <a:srgbClr val="FF3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s-NI" sz="1600" b="1" dirty="0">
                              <a:solidFill>
                                <a:srgbClr val="FF3300"/>
                              </a:solidFill>
                              <a:latin typeface="+mn-lt"/>
                            </a:rPr>
                            <a:t> 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NI" sz="1600" b="1" i="1" smtClean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NI" sz="1600" b="1" i="1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NI" sz="1600" b="1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NI" sz="1600" b="1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s-NI" sz="1600" b="1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es-NI" sz="1600" b="1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NI" sz="1600" b="1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NI" sz="1600" b="1" i="1">
                                                <a:solidFill>
                                                  <a:srgbClr val="0066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s-NI" sz="1600" b="1" i="1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4090632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-14.56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108.16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81860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3.24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0.36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29.16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60155567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-8.4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-28.56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11.56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70.56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94750699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-16.56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21.16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16765803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6.6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-23.76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43.56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64899783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-16.56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21.16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03173514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14.6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-96.36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43.56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213.16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04945053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9.6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-44.16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21.16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92.16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7765468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-34.56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40.96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29.16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5205939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-118.56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129.96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108.16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7099665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effectLst/>
                              <a:latin typeface="+mn-lt"/>
                            </a:rPr>
                            <a:t>-390.4</a:t>
                          </a:r>
                          <a:endParaRPr lang="es-NI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288.4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736.4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526938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19A012F5-FD9B-435E-A2CE-DE7C312A73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0271509"/>
                  </p:ext>
                </p:extLst>
              </p:nvPr>
            </p:nvGraphicFramePr>
            <p:xfrm>
              <a:off x="220836" y="1866665"/>
              <a:ext cx="8161361" cy="310794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052838">
                      <a:extLst>
                        <a:ext uri="{9D8B030D-6E8A-4147-A177-3AD203B41FA5}">
                          <a16:colId xmlns:a16="http://schemas.microsoft.com/office/drawing/2014/main" val="396667794"/>
                        </a:ext>
                      </a:extLst>
                    </a:gridCol>
                    <a:gridCol w="1300266">
                      <a:extLst>
                        <a:ext uri="{9D8B030D-6E8A-4147-A177-3AD203B41FA5}">
                          <a16:colId xmlns:a16="http://schemas.microsoft.com/office/drawing/2014/main" val="90978620"/>
                        </a:ext>
                      </a:extLst>
                    </a:gridCol>
                    <a:gridCol w="1062681">
                      <a:extLst>
                        <a:ext uri="{9D8B030D-6E8A-4147-A177-3AD203B41FA5}">
                          <a16:colId xmlns:a16="http://schemas.microsoft.com/office/drawing/2014/main" val="3984012991"/>
                        </a:ext>
                      </a:extLst>
                    </a:gridCol>
                    <a:gridCol w="803189">
                      <a:extLst>
                        <a:ext uri="{9D8B030D-6E8A-4147-A177-3AD203B41FA5}">
                          <a16:colId xmlns:a16="http://schemas.microsoft.com/office/drawing/2014/main" val="3632255781"/>
                        </a:ext>
                      </a:extLst>
                    </a:gridCol>
                    <a:gridCol w="1869559">
                      <a:extLst>
                        <a:ext uri="{9D8B030D-6E8A-4147-A177-3AD203B41FA5}">
                          <a16:colId xmlns:a16="http://schemas.microsoft.com/office/drawing/2014/main" val="2719568080"/>
                        </a:ext>
                      </a:extLst>
                    </a:gridCol>
                    <a:gridCol w="1009934">
                      <a:extLst>
                        <a:ext uri="{9D8B030D-6E8A-4147-A177-3AD203B41FA5}">
                          <a16:colId xmlns:a16="http://schemas.microsoft.com/office/drawing/2014/main" val="116178544"/>
                        </a:ext>
                      </a:extLst>
                    </a:gridCol>
                    <a:gridCol w="1062894">
                      <a:extLst>
                        <a:ext uri="{9D8B030D-6E8A-4147-A177-3AD203B41FA5}">
                          <a16:colId xmlns:a16="http://schemas.microsoft.com/office/drawing/2014/main" val="3181665947"/>
                        </a:ext>
                      </a:extLst>
                    </a:gridCol>
                  </a:tblGrid>
                  <a:tr h="320929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Trigo (x)</a:t>
                          </a:r>
                          <a:endParaRPr lang="es-NI" sz="1600" b="1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Harina (y)</a:t>
                          </a:r>
                          <a:endParaRPr lang="es-NI" sz="1600" b="1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221143" t="-1887" r="-446286" b="-9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425758" t="-1887" r="-491667" b="-9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226059" t="-1887" r="-111401" b="-9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606667" t="-1887" r="-107273" b="-9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NI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666286" t="-1887" r="-1143" b="-9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0906328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-14.56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108.16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818601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28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-0.6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3.24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0.36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29.16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60155567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27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-8.4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-28.56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11.56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70.56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94750699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-16.56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21.16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16765803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42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6.6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-23.76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43.56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64899783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-3.6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-16.56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21.16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031735146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22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50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-6.6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14.6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-96.36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43.56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213.16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04945053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45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-4.6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9.6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-44.16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21.16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92.16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77654685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35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30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6.4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-5.4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-34.56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40.96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29.16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520593909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25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11.4</a:t>
                          </a:r>
                          <a:endParaRPr lang="es-NI" sz="1600" b="0" i="0" u="none" strike="noStrike" dirty="0">
                            <a:solidFill>
                              <a:srgbClr val="FF33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-10.4</a:t>
                          </a:r>
                          <a:endParaRPr lang="es-NI" sz="1600" b="0" i="0" u="none" strike="noStrike" dirty="0">
                            <a:solidFill>
                              <a:srgbClr val="0066F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u="none" strike="noStrike" dirty="0">
                              <a:effectLst/>
                              <a:latin typeface="+mn-lt"/>
                            </a:rPr>
                            <a:t>-118.56</a:t>
                          </a:r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129.96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0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108.16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970996658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NI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u="none" strike="noStrike" dirty="0">
                              <a:effectLst/>
                              <a:latin typeface="+mn-lt"/>
                            </a:rPr>
                            <a:t>-390.4</a:t>
                          </a:r>
                          <a:endParaRPr lang="es-NI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i="0" u="none" strike="noStrike" dirty="0">
                              <a:solidFill>
                                <a:srgbClr val="FF3300"/>
                              </a:solidFill>
                              <a:effectLst/>
                              <a:latin typeface="+mn-lt"/>
                            </a:rPr>
                            <a:t>288.4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NI" sz="1600" b="1" i="0" u="none" strike="noStrike" dirty="0">
                              <a:solidFill>
                                <a:srgbClr val="0066FF"/>
                              </a:solidFill>
                              <a:effectLst/>
                              <a:latin typeface="+mn-lt"/>
                            </a:rPr>
                            <a:t>736.4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526938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7954404-ADDD-47DE-BE7D-47B39B042678}"/>
                  </a:ext>
                </a:extLst>
              </p:cNvPr>
              <p:cNvSpPr txBox="1"/>
              <p:nvPr/>
            </p:nvSpPr>
            <p:spPr>
              <a:xfrm>
                <a:off x="8520481" y="1875028"/>
                <a:ext cx="3230693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NI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NI" sz="2800" b="0" i="1" baseline="-250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NI" sz="2800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NI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NI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NI" sz="2800" b="0" i="1" smtClean="0">
                                <a:latin typeface="Cambria Math" panose="02040503050406030204" pitchFamily="18" charset="0"/>
                              </a:rPr>
                              <m:t>288.4</m:t>
                            </m:r>
                          </m:num>
                          <m:den>
                            <m:r>
                              <a:rPr lang="es-NI" sz="2800" b="0" i="0" smtClean="0">
                                <a:latin typeface="Cambria Math" panose="02040503050406030204" pitchFamily="18" charset="0"/>
                              </a:rPr>
                              <m:t>10 </m:t>
                            </m:r>
                            <m:r>
                              <a:rPr lang="es-NI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r>
                  <a:rPr lang="es-NI" sz="2800" dirty="0"/>
                  <a:t> =5.661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7954404-ADDD-47DE-BE7D-47B39B04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481" y="1875028"/>
                <a:ext cx="3230693" cy="876843"/>
              </a:xfrm>
              <a:prstGeom prst="rect">
                <a:avLst/>
              </a:prstGeom>
              <a:blipFill>
                <a:blip r:embed="rId3"/>
                <a:stretch>
                  <a:fillRect r="-5660" b="-699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94434FA-D00D-40B6-AD58-AB6380440D6C}"/>
                  </a:ext>
                </a:extLst>
              </p:cNvPr>
              <p:cNvSpPr txBox="1"/>
              <p:nvPr/>
            </p:nvSpPr>
            <p:spPr>
              <a:xfrm>
                <a:off x="8621433" y="3420637"/>
                <a:ext cx="3246372" cy="876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NI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s-NI" sz="28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s-NI" sz="28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NI" sz="2800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NI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NI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NI" sz="2800" b="0" i="1" smtClean="0">
                                <a:latin typeface="Cambria Math" panose="02040503050406030204" pitchFamily="18" charset="0"/>
                              </a:rPr>
                              <m:t>736.4</m:t>
                            </m:r>
                          </m:num>
                          <m:den>
                            <m:r>
                              <a:rPr lang="es-NI" sz="2800" b="0" i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s-NI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r>
                  <a:rPr lang="es-NI" sz="2000" dirty="0"/>
                  <a:t> = 9.0456</a:t>
                </a: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94434FA-D00D-40B6-AD58-AB6380440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433" y="3420637"/>
                <a:ext cx="3246372" cy="876843"/>
              </a:xfrm>
              <a:prstGeom prst="rect">
                <a:avLst/>
              </a:prstGeom>
              <a:blipFill>
                <a:blip r:embed="rId4"/>
                <a:stretch>
                  <a:fillRect l="-6567" b="-1389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2D4E636-DEAF-45E2-96BE-4C26466785FA}"/>
                  </a:ext>
                </a:extLst>
              </p:cNvPr>
              <p:cNvSpPr txBox="1"/>
              <p:nvPr/>
            </p:nvSpPr>
            <p:spPr>
              <a:xfrm>
                <a:off x="6165477" y="5379966"/>
                <a:ext cx="5805692" cy="770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s-NI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s-NI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NI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s-NI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NI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s-E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43.37777778</m:t>
                        </m:r>
                      </m:num>
                      <m:den>
                        <m:r>
                          <a:rPr lang="es-NI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NI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5.661</m:t>
                        </m:r>
                        <m:r>
                          <a:rPr lang="es-NI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s-NI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NI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9.0456</m:t>
                        </m:r>
                        <m:r>
                          <m:rPr>
                            <m:nor/>
                          </m:rPr>
                          <a:rPr lang="es-NI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NI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 </a:t>
                </a:r>
                <a:r>
                  <a:rPr lang="es-NI" sz="28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-0.8471402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2D4E636-DEAF-45E2-96BE-4C2646678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477" y="5379966"/>
                <a:ext cx="5805692" cy="770083"/>
              </a:xfrm>
              <a:prstGeom prst="rect">
                <a:avLst/>
              </a:prstGeom>
              <a:blipFill>
                <a:blip r:embed="rId5"/>
                <a:stretch>
                  <a:fillRect r="-2623" b="-3175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A46A8DBE-9E43-454E-A0D2-CEF6E20D62BB}"/>
              </a:ext>
            </a:extLst>
          </p:cNvPr>
          <p:cNvSpPr/>
          <p:nvPr/>
        </p:nvSpPr>
        <p:spPr>
          <a:xfrm>
            <a:off x="522123" y="5474858"/>
            <a:ext cx="4651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dirty="0"/>
              <a:t>Ahora que calculamos todas las varianzas sustituimos los valores en la fórmula de la correlación y resolvemos</a:t>
            </a:r>
          </a:p>
        </p:txBody>
      </p:sp>
    </p:spTree>
    <p:extLst>
      <p:ext uri="{BB962C8B-B14F-4D97-AF65-F5344CB8AC3E}">
        <p14:creationId xmlns:p14="http://schemas.microsoft.com/office/powerpoint/2010/main" val="381573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2847833" y="1104733"/>
            <a:ext cx="6496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/>
              <a:t>Fase 3: </a:t>
            </a:r>
            <a:r>
              <a:rPr lang="es-ES" sz="2400" b="1" dirty="0"/>
              <a:t>Encontrar </a:t>
            </a:r>
            <a:r>
              <a:rPr lang="el-GR" sz="2400" b="1" dirty="0"/>
              <a:t>β</a:t>
            </a:r>
            <a:r>
              <a:rPr lang="el-GR" sz="2400" b="1" baseline="-25000" dirty="0"/>
              <a:t>0</a:t>
            </a:r>
            <a:r>
              <a:rPr lang="el-GR" sz="2400" b="1" dirty="0"/>
              <a:t> </a:t>
            </a:r>
            <a:r>
              <a:rPr lang="es-ES" sz="2400" b="1" dirty="0"/>
              <a:t>y </a:t>
            </a:r>
            <a:r>
              <a:rPr lang="el-GR" sz="2400" b="1" dirty="0"/>
              <a:t>β</a:t>
            </a:r>
            <a:r>
              <a:rPr lang="el-GR" sz="2400" b="1" baseline="-250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5B7294-20E2-4E4C-91EB-FAA7C734AF28}"/>
                  </a:ext>
                </a:extLst>
              </p:cNvPr>
              <p:cNvSpPr txBox="1"/>
              <p:nvPr/>
            </p:nvSpPr>
            <p:spPr>
              <a:xfrm>
                <a:off x="1182073" y="2206210"/>
                <a:ext cx="21458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NI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NI" sz="28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NI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s-NI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NI" sz="28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5B7294-20E2-4E4C-91EB-FAA7C734A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73" y="2206210"/>
                <a:ext cx="214584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8CC60F0-0617-4861-A6BF-D4EA921F2F76}"/>
                  </a:ext>
                </a:extLst>
              </p:cNvPr>
              <p:cNvSpPr txBox="1"/>
              <p:nvPr/>
            </p:nvSpPr>
            <p:spPr>
              <a:xfrm>
                <a:off x="6949578" y="1949055"/>
                <a:ext cx="4111510" cy="945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s-NI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NI" sz="2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NI" sz="2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s-NI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NI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NI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NI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NI" sz="28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NI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NI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NI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NI" sz="28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8CC60F0-0617-4861-A6BF-D4EA921F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578" y="1949055"/>
                <a:ext cx="4111510" cy="9451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8FC7588-1439-4D5E-8734-61B16A73E34B}"/>
                  </a:ext>
                </a:extLst>
              </p:cNvPr>
              <p:cNvSpPr/>
              <p:nvPr/>
            </p:nvSpPr>
            <p:spPr>
              <a:xfrm>
                <a:off x="220836" y="3758678"/>
                <a:ext cx="5596640" cy="1830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dirty="0"/>
                  <a:t>Para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NI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NI" dirty="0"/>
                  <a:t> necesitaremos 3 elementos y ya conocemos dos de ellos,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NI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acc>
                            <m:accPr>
                              <m:chr m:val="̅"/>
                              <m:ctrlP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NI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mr>
                    </m:m>
                  </m:oMath>
                </a14:m>
                <a:r>
                  <a:rPr lang="es-ES" dirty="0">
                    <a:solidFill>
                      <a:srgbClr val="0066FF"/>
                    </a:solidFill>
                  </a:rPr>
                  <a:t>= 35.4 </a:t>
                </a:r>
                <a:r>
                  <a:rPr lang="es-ES" dirty="0"/>
                  <a:t>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NI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NI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>
                    <a:solidFill>
                      <a:srgbClr val="FF3300"/>
                    </a:solidFill>
                  </a:rPr>
                  <a:t>= 28.6 </a:t>
                </a:r>
                <a:r>
                  <a:rPr lang="es-ES" dirty="0"/>
                  <a:t>fueron calculados en la fase 1, sin embargo falta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NI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NI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ES" dirty="0">
                    <a:solidFill>
                      <a:srgbClr val="FF3300"/>
                    </a:solidFill>
                  </a:rPr>
                  <a:t> </a:t>
                </a:r>
                <a:r>
                  <a:rPr lang="es-ES" dirty="0"/>
                  <a:t>por lo cual vamos a trabajar antes con la segunda fórmula</a:t>
                </a:r>
              </a:p>
              <a:p>
                <a:pPr algn="just"/>
                <a:endParaRPr lang="es-NI" dirty="0"/>
              </a:p>
            </p:txBody>
          </p:sp>
        </mc:Choice>
        <mc:Fallback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8FC7588-1439-4D5E-8734-61B16A73E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36" y="3758678"/>
                <a:ext cx="5596640" cy="1830886"/>
              </a:xfrm>
              <a:prstGeom prst="rect">
                <a:avLst/>
              </a:prstGeom>
              <a:blipFill>
                <a:blip r:embed="rId4"/>
                <a:stretch>
                  <a:fillRect l="-871" t="-2000" r="-98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199C904C-3DE8-4E08-8EA7-DEEB9E90977B}"/>
                  </a:ext>
                </a:extLst>
              </p:cNvPr>
              <p:cNvSpPr/>
              <p:nvPr/>
            </p:nvSpPr>
            <p:spPr>
              <a:xfrm>
                <a:off x="6207013" y="3758678"/>
                <a:ext cx="5596640" cy="29395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dirty="0"/>
                  <a:t>Aunque la fórmula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NI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NI" dirty="0"/>
                  <a:t> a primera vista puede resultar imponente, lo cierto es que ya casi la tenemos resuelta pues en la fase 1 encontramos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NI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NI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NI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NI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NI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s-NI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NI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NI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d>
                        <m:r>
                          <m:rPr>
                            <m:nor/>
                          </m:rPr>
                          <a:rPr lang="es-NI" dirty="0"/>
                          <m:t> </m:t>
                        </m:r>
                      </m:e>
                    </m:nary>
                  </m:oMath>
                </a14:m>
                <a:r>
                  <a:rPr lang="es-NI" dirty="0"/>
                  <a:t>= -390.4</a:t>
                </a:r>
              </a:p>
              <a:p>
                <a:pPr algn="just"/>
                <a:endParaRPr lang="es-NI" dirty="0"/>
              </a:p>
              <a:p>
                <a:pPr algn="just"/>
                <a:r>
                  <a:rPr lang="es-NI" dirty="0"/>
                  <a:t>Y en la fase 2 encontramos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NI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NI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NI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NI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NI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NI" i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NI" i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NI" i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NI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NI" i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NI" i="1">
                                        <a:solidFill>
                                          <a:srgbClr val="FF3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s-NI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ES" dirty="0"/>
                  <a:t> = 288.4</a:t>
                </a:r>
              </a:p>
              <a:p>
                <a:pPr algn="just"/>
                <a:endParaRPr lang="es-ES" dirty="0"/>
              </a:p>
              <a:p>
                <a:pPr algn="just"/>
                <a:r>
                  <a:rPr lang="es-ES" dirty="0"/>
                  <a:t>Por tanto para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N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NI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NI" dirty="0"/>
                  <a:t> sólo queda dividir</a:t>
                </a:r>
              </a:p>
            </p:txBody>
          </p:sp>
        </mc:Choice>
        <mc:Fallback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199C904C-3DE8-4E08-8EA7-DEEB9E909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013" y="3758678"/>
                <a:ext cx="5596640" cy="2939587"/>
              </a:xfrm>
              <a:prstGeom prst="rect">
                <a:avLst/>
              </a:prstGeom>
              <a:blipFill>
                <a:blip r:embed="rId5"/>
                <a:stretch>
                  <a:fillRect l="-871" t="-1245" r="-980" b="-2282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250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E8842-603B-45B4-ACC9-DE145FEE4D4D}"/>
              </a:ext>
            </a:extLst>
          </p:cNvPr>
          <p:cNvSpPr/>
          <p:nvPr/>
        </p:nvSpPr>
        <p:spPr>
          <a:xfrm>
            <a:off x="220836" y="253632"/>
            <a:ext cx="117503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Ejemplo: Regresión Lineal Simple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9C309-BABE-46EA-AFF9-F681BD997A75}"/>
              </a:ext>
            </a:extLst>
          </p:cNvPr>
          <p:cNvSpPr/>
          <p:nvPr/>
        </p:nvSpPr>
        <p:spPr>
          <a:xfrm>
            <a:off x="2847833" y="1104733"/>
            <a:ext cx="6496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/>
              <a:t>Fase 3: </a:t>
            </a:r>
            <a:r>
              <a:rPr lang="es-ES" sz="2400" b="1" dirty="0"/>
              <a:t>Encontrar </a:t>
            </a:r>
            <a:r>
              <a:rPr lang="el-GR" sz="2400" b="1" dirty="0"/>
              <a:t>β</a:t>
            </a:r>
            <a:r>
              <a:rPr lang="el-GR" sz="2400" b="1" baseline="-25000" dirty="0"/>
              <a:t>0</a:t>
            </a:r>
            <a:r>
              <a:rPr lang="el-GR" sz="2400" b="1" dirty="0"/>
              <a:t> </a:t>
            </a:r>
            <a:r>
              <a:rPr lang="es-ES" sz="2400" b="1" dirty="0"/>
              <a:t>y </a:t>
            </a:r>
            <a:r>
              <a:rPr lang="el-GR" sz="2400" b="1" dirty="0"/>
              <a:t>β</a:t>
            </a:r>
            <a:r>
              <a:rPr lang="el-GR" sz="2400" b="1" baseline="-250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5B7294-20E2-4E4C-91EB-FAA7C734AF28}"/>
                  </a:ext>
                </a:extLst>
              </p:cNvPr>
              <p:cNvSpPr txBox="1"/>
              <p:nvPr/>
            </p:nvSpPr>
            <p:spPr>
              <a:xfrm>
                <a:off x="6495051" y="2143730"/>
                <a:ext cx="50654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28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NI" sz="28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NI" sz="28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sz="2800" dirty="0">
                        <a:solidFill>
                          <a:srgbClr val="0066FF"/>
                        </a:solidFill>
                      </a:rPr>
                      <m:t>35.4</m:t>
                    </m:r>
                    <m:r>
                      <a:rPr lang="es-NI" sz="28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NI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s-NI" sz="2800" dirty="0"/>
                          <m:t>-1.3537</m:t>
                        </m:r>
                      </m:e>
                    </m:d>
                  </m:oMath>
                </a14:m>
                <a:r>
                  <a:rPr lang="es-NI" sz="2800" dirty="0"/>
                  <a:t> (</a:t>
                </a:r>
                <a:r>
                  <a:rPr lang="es-ES" sz="2800" dirty="0">
                    <a:solidFill>
                      <a:srgbClr val="FF3300"/>
                    </a:solidFill>
                  </a:rPr>
                  <a:t>28.6</a:t>
                </a:r>
                <a:r>
                  <a:rPr lang="es-NI" sz="2800" dirty="0"/>
                  <a:t>)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5B7294-20E2-4E4C-91EB-FAA7C734A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051" y="2143730"/>
                <a:ext cx="5065489" cy="430887"/>
              </a:xfrm>
              <a:prstGeom prst="rect">
                <a:avLst/>
              </a:prstGeom>
              <a:blipFill>
                <a:blip r:embed="rId2"/>
                <a:stretch>
                  <a:fillRect t="-27143" r="-3249" b="-4857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8CC60F0-0617-4861-A6BF-D4EA921F2F76}"/>
                  </a:ext>
                </a:extLst>
              </p:cNvPr>
              <p:cNvSpPr txBox="1"/>
              <p:nvPr/>
            </p:nvSpPr>
            <p:spPr>
              <a:xfrm>
                <a:off x="1091623" y="2207209"/>
                <a:ext cx="4256614" cy="7348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28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NI" sz="28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NI" sz="28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NI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NI" sz="2800" dirty="0"/>
                          <m:t>-390.4 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sz="2800" dirty="0"/>
                          <m:t>288.4 </m:t>
                        </m:r>
                      </m:den>
                    </m:f>
                  </m:oMath>
                </a14:m>
                <a:r>
                  <a:rPr lang="es-NI" sz="2800" dirty="0"/>
                  <a:t> = -1.3537 </a:t>
                </a: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8CC60F0-0617-4861-A6BF-D4EA921F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623" y="2207209"/>
                <a:ext cx="4256614" cy="734817"/>
              </a:xfrm>
              <a:prstGeom prst="rect">
                <a:avLst/>
              </a:prstGeom>
              <a:blipFill>
                <a:blip r:embed="rId3"/>
                <a:stretch>
                  <a:fillRect r="-4298" b="-1074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2046538-4FFA-4054-8BAD-9F9A86F467AC}"/>
                  </a:ext>
                </a:extLst>
              </p:cNvPr>
              <p:cNvSpPr txBox="1"/>
              <p:nvPr/>
            </p:nvSpPr>
            <p:spPr>
              <a:xfrm>
                <a:off x="6495051" y="2855856"/>
                <a:ext cx="222426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NI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NI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2800" i="1" dirty="0">
                          <a:solidFill>
                            <a:schemeClr val="tx1"/>
                          </a:solidFill>
                        </a:rPr>
                        <m:t>74.115</m:t>
                      </m:r>
                    </m:oMath>
                  </m:oMathPara>
                </a14:m>
                <a:endParaRPr lang="es-NI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2046538-4FFA-4054-8BAD-9F9A86F46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051" y="2855856"/>
                <a:ext cx="222426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BA2A6173-254D-49C8-9881-F4C3CC3D6586}"/>
              </a:ext>
            </a:extLst>
          </p:cNvPr>
          <p:cNvSpPr/>
          <p:nvPr/>
        </p:nvSpPr>
        <p:spPr>
          <a:xfrm>
            <a:off x="909145" y="3714368"/>
            <a:ext cx="103737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NI" dirty="0"/>
              <a:t>Acabadas las operaciones yo puedo formar mi ecuación lineal de predicción de la forma f (x) = </a:t>
            </a:r>
            <a:r>
              <a:rPr lang="el-GR" dirty="0"/>
              <a:t>β0 + β1</a:t>
            </a:r>
            <a:r>
              <a:rPr lang="es-NI" dirty="0"/>
              <a:t>x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7456FC-1829-4E00-B05E-A8A3BC54FB0A}"/>
              </a:ext>
            </a:extLst>
          </p:cNvPr>
          <p:cNvSpPr/>
          <p:nvPr/>
        </p:nvSpPr>
        <p:spPr>
          <a:xfrm>
            <a:off x="4075361" y="4519303"/>
            <a:ext cx="4041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sz="2400" b="1" dirty="0"/>
              <a:t>y = 74.115 - 1.3537 x 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8C40444-EAF6-427F-A305-C4BE164C0DBB}"/>
              </a:ext>
            </a:extLst>
          </p:cNvPr>
          <p:cNvSpPr/>
          <p:nvPr/>
        </p:nvSpPr>
        <p:spPr>
          <a:xfrm>
            <a:off x="420414" y="5462262"/>
            <a:ext cx="115507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dirty="0"/>
              <a:t>Entonces, si queremos predecir el precio de la harina, debemos colocar en x el valor de la producción de trigo, al resolver la ecuación tendremos nuestra predicción del futuro precio de la harina</a:t>
            </a:r>
          </a:p>
        </p:txBody>
      </p:sp>
    </p:spTree>
    <p:extLst>
      <p:ext uri="{BB962C8B-B14F-4D97-AF65-F5344CB8AC3E}">
        <p14:creationId xmlns:p14="http://schemas.microsoft.com/office/powerpoint/2010/main" val="25790102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icrosu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1708</Words>
  <Application>Microsoft Office PowerPoint</Application>
  <PresentationFormat>Panorámica</PresentationFormat>
  <Paragraphs>371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Consolas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31</cp:revision>
  <dcterms:created xsi:type="dcterms:W3CDTF">2020-11-04T15:43:25Z</dcterms:created>
  <dcterms:modified xsi:type="dcterms:W3CDTF">2020-11-05T14:13:29Z</dcterms:modified>
</cp:coreProperties>
</file>